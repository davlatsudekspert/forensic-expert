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FOB zaharlanishi ham pestitsid, ham jangovar agent muammosi sifatida o‘rganiladi? 2) Qaysi ikki asosiy o‘lim sababini eslaysiz? Doskaga chizish: FOB → AChE ingibitsiyasi → atsetilxolin to‘planishi → xolinergik inqiroz zanjiri. Tipik xato: FOB va karbamatlarni bir xil mexanizm deb aralashtirish; talabalar bu slaydda faqat FOB haqida gapirilishini unutmasin.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manbalar turlicha raqam beradi? 2) Taqiqlash chora sifatida qanday samara berdi? Doskaga chizish: 2007 va 2017 yillar uchun o‘lim kamayishini ko‘rsatuvchi oddiy vaqt chizig‘i. Tipik xato: bitta raqamni jahon uchun yagona haqiqat deb yozib olish; har bir raqam qamrovi (barcha pestitsid yoki faqat FOB) va yiliga bog‘liq.</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G‘arbda letallik bunchalik past? 2) Ventilyatsiyadagi bemorlarda yuqori o‘lim nimani anglatadi: usul sababmi yoki og‘irlik belgisimi? Doskaga chizish: uch ustunli oddiy taqqoslash chizig‘i (rivojlanayotgan / ayrim pestitsid / G‘arb). Tipik xato: 10–20% va 50–70% ni bitta ko‘rsatkich deb olish; ikkinchisi faqat ayrim pestitsidlarga tegishli.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savoli: nima uchun bir xil zaharlanishda letallik G‘arbda 0,3% dan kam, rivojlanayotgan mamlakatlarda esa 10–20%? Doskada chizish: ‘letallik sabablari’ ro‘yxatini 4 ustunli ro‘yxat ko‘rinishida yozdiring (zahar, masofa, xodim, antidot). Tipik xato: letallikni faqat zaharning toksikligi bilan izohlash; manbada sabablar ko‘p omilli deyilgan.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savollari: (1) bu bemorda xavfni oshirgan omillar qaysilar (masofa, kadr, antidot)? (2) qabulda birinchi qadam nima (ABC: nafas yo‘li, nafas, qon aylanishi)? Doskada chizish: bemorning yo‘li – zahar ichishdan qabul bo‘limigacha – vaqt chizig‘i. Tipik xato: oshqozonni yuvishdan boshlash; avval bemorni barqarorlashtirish kerak.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FOB guruhlarini sanab bering; nima uchun FOB hayotimizda keng uchraydi? Doskada chizish: FOB uchun umumiy ‘guruhlar’ daraxti (4 shox) va uning yonida qo‘llanish joylari (dala, uy, dam olish). Tipik xato: FOB faqat qishloq xo‘jaligi zahari deb o‘ylash; manbada turmush va dam olish sharoitlari ham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pestitsid va asab agenti belgilari o‘xshash? 2) Kirish yo‘li zaharlanish tezligiga qanday ta’sir qiladi? Doskada: ikki ustunli ro‘yxat chizing (pestitsidlar | asab agentlari) va ularga umumiy mexanizmni yozing. Tipik xato: asab agentlari va pestitsidlarning mexanizmi har xil deb o‘ylash. Aslida mexanizm umumiy, zaharlilik darajasi va kirish yo‘li farq qiladi.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ACh yig‘ilishi miozis va bradikardiyaga olib keladi? 2) Qaysi belgilar muskarin, qaysilari nikotin ta’siriga mansub? Doskada: zanjir sxemasini tugunma-tugun chizing va har tugunga bitta belgi yozing. Tipik xato: ingibitsiyalanadigan narsa ACh deb o‘ylash. Aslida ingibitsiyalanadigan narsa fermentning o‘zi (AChE).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atropin faqat simptomatik davo hisoblanadi? 2) Qarish (aging) oksim samarasini qanday cheklaydi? Doskada: AChE holatlari sxemasini chizing (ingibitsiyalangan → tiklangan yoki qarigan). Tipik xato: atropin fermentni tiklaydi deb o‘ylash. Eslatma: manbalar oksimlar bo‘yicha bir fikrda emas, shuni talabalarga ochiq ayting.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oksim somanda deyarli foydasiz? 2) Qarishgacha o‘tgan vaqt davolash taktikasiga qanday ta’sir qiladi? Doskada chizish: AChE → ingibitorlangan (EP) → ikki yo‘l: spontan reaktivatsiya (E) yoki qarish (EA). Tipik xato: qarish va spontan reaktivatsiyani bir narsa deb o‘ylash; ular qarama-qarshi jarayonlar.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Bitta talabani chaqirib javob so‘rang, keyin guruh to‘ldirsin. Muhokama: letallik ko‘rsatkichi nima uchun mamlakatlar o‘rtasida farq qiladi? Doskada chizish: mexanizm zanjiri FOB → AChE bloklanishi → atsetilxolin to‘planishi → xolinergik krizis. Tipik xato: letallikni faqat zahar toksikligiga bog‘lash; transport, kadr va antidot yetishmasligi ham ahamiyatli.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VX belgilari kechikib boshlanadi? 2) Lipofil FOB (masalan, fention) bemorni kuzatishga qanday ta’sir qiladi? Doskada chizish: kirish yo‘li → qonga o‘tish → AChE ingibitsiyasi → belgilar boshlanishi. Tipik xato: barcha FOB bir xil tezlikda va bir xil yo‘l bilan ta’sir qiladi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tion ichilgan zahot belgilar bo‘lmasligi mumkin? 2) Yog‘da eruvchanlik davolash muddatiga qanday ta’sir qiladi? Doskada: 5 bosqichli zanjirni chizdiring va har bosqichga bitta xavfni yozdiring. Tipik xato: tion bilan okson bir xil faol modda deb o‘ylash; ular farqli: tion – pro-zahar, okson – faol shakl.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Bemorni kuzatuvsiz uyga jo‘natish qanday oqibat beradi? 2) Qaytalanishda qaysi belgilarga e’tibor beriladi (bo‘yin fleksiyasi zaifligi, nafas)? Doskada: soatlar bo‘yicha kuzatuv jadvalini (0–6 soat, keyin 2–3 soatda) chizdiring. Tipik xato: belgilar yo‘qligidan zaharlanish yo‘q degan xulosa chiqarish.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atropin to‘liq davo emas? 2) Qaysi belgilar bo‘yicha atropin yetarliligi baholanadi? Doskada: ikki ustunli jadval (muskarin | nikotin) chizdirib, bemorning belgilarini guruhlatish. Tipik xato: bradikardiyani doimiy belgi deb hisoblash va tez yurak urishida atropinni to‘xtatish. Eslatma: belgilarni muskarin/nikotin guruhlarga taqsimlash umumiy farmakologik bilimga tayanadi, matnlarda barcha belgilar uchun alohida ko‘rsatilmagan.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aynan shu beshta belgi kundalik baholash uchun tanlangan? 2) Yurak urishi tez bo‘lsa, atropinni rad etish to‘g‘rimi? Doskada: besh belgini ketma-ket chizib, yonida ‘har doim emas’ degan belgini bradikardiyaga qo‘ying. Tipik xato: talabalar bradikardiyani majburiy belgi deb o‘ylaydi, holbuki normal yoki tez puls ham uchraydi.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dastlabki yengil baho xavfli? 2) ‘Bemorni davolang, zaharni emas’ qoidasi amalda nimani anglatadi? Doskada: ‘yengil → og‘ir’ o‘qini chizib, yonida ‘qayta baholash’ deb yozing. Tipik xato: talabalar laboratoriya tasdig‘ini kutib davoni kechiktiradi. Eslatma: POP shkalasining to‘liq nomi manbada ochilmagan, shuning uchun qisqartma shundayligicha berildi.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bo‘yin zaifligi eng qulay erta tekshiruv belgisi? 2) Qaysi bemorlarni tez-tez kuzatish kerak? Doskada: 5 bosqichli zanjirni chizing va 1-bosqichni qizil bilan belgilang. Tipik xato: sxemadagi tartib qat’iy deb o‘ylash — manbada faqat bo‘yin zaifligi birinchi belgi, qolganlari ‘keyingi belgilar’ deb sanalgan, aniq tartib berilmagan.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ikki belgi atropin berishga yetarli? 2) Nega bradikardiya yo‘qligi atropinni rad etish sababi emas? Doskada: besh belgini ustun qilib yozing, ikkita asosiy belgini (miyoz, ter) belgilang. Tipik xato: talabalar bradikardiyani majburiy belgi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Bo‘yin zaifligi bo‘lgan hamma bemorda to‘liq oraliq sindrom rivojlanadimi? 2) Intubatsiya uchun qaysi ko‘rsatkichlarni kuzatasiz? Doskada: oraliq sindrom belgilarining ketma-ketligini strelka bilan chizing. Tipik xato: zaiflikni ahamiyatsiz deb ko‘rib, kuzatuvni kamaytirish.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bemor chap yonga, boshi past yotqiziladi? 2) Guedel naychasi yaxshi ishlasa ham nega ET naycha kerak? Doskada: besh qadamli zanjirni chizing. Tipik xato: kislorod yo‘qligi sababli atropinni kechiktirish; atropin kislorodlanishni yaxshilaydi.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dozani ikki hissa oshiramiz, oldingisini takrorlamaymiz? 2) Besh belgi qaysilar (miozis, terlash, o‘pkada havo o‘tishi, bradikardiya, gipotenziya) va qaysi uchtasi eng muhim (o‘pka, puls, bosim)? Doskada: zanjirni chizing va har bosqichga vaqtni yozing. Infuziya: yuklash dozasining 10–20% soatiga, manbada 30 mg dan ko‘p yuklashda kamroq. Tipik xato: qorachiq kengaymaguncha atropinni davom ettirish; qorachiq kech kengayadi, bemor qorachiqdan o‘lmaydi.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Chalkash va isitmali bemorda atropin ko‘pligini boshqa sabablardan (alkogol abstinensiyasi) qanday ajratamiz? 2) Nega faol sovitish ustuvor? Doskada: jadvalni chizing, qatorlarni talabalar bilan to‘ldiring. Tipik xato: faqat yurak urishi yoki qorachiqqa qarab atropinni to‘xtatish yoki oshirish; manbaga ko‘ra bu ikki belgi ishonchli emas. Taxikardiya (tez yurak urishi) atropinga qarshi ko‘rsatma emas. Qo‘zg‘algan bemorni bog‘lash issiqlikni oshirib, yurak to‘xtashiga olib kelishi mumkin; diazepam afzal.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atropin bor-u oksim ham kerak (nikotin va muskarin ta’siri)? 2) Kech boshlangan oksim nega kam foyda beradi (qarish)? Doskada: AChE → ingibirlangan AChE → qarigan AChE yoki qayta faollangan AChE sxemasini chizing. Eddleston protokolida JSST dozasi: pralidoksim 30 mg/kg yuklash 10–20 daq, so‘ng 8–10 mg/kg/soat; juda tez yuborilsa qusish, taxikardiya, gipertenziya. Tipik xato: oksimni mustaqil davo deb o‘ylash; manbaga ko‘ra u butun davo kompleksining bir qismi, atropin va reanimatsiyani almashtirmaydi.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dekontaminatsiya qabul qilingan zahoti emas, barqarorlashgandan keyin qilinadi? 2) Qaysi bemorda me’da yuvish xavfli? Doskada: qaror daraxtini chizing (barqarormi? intubatsiyami? 1–2 soat ichidami?). Tipik xato: talaba ipekak bilan qusdirishni birinchi yordam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Atropin toksikligini boshqa sabablardan (spirtdan chiqish, pnevmoniya) qanday ajratamiz? 2) Nega haloperidol o‘rniga diazepam tanlanadi? Doskada: atropin toksikligi belgilarini ro‘yxat qilib chizing. Tipik xato: talaba taxikardiyani atropinni to‘xtatish uchun yagona asos deb biladi.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gipovolemiya sepsisga o‘xshab ketishi mumkin? 2) Nega ventilyatsiyadagi bemorlarda o‘lim yuqori? Doskada: zanjirni o‘zingiz davom ettirib, har bosqichga bitta davo chorasini yozing. Tipik xato: talaba o‘limni faqat fermentning to‘silishi bilan tushuntiradi, ikkilamchi gipovolemiyani unutadi.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fosfororganik birikmalar (FOB) bilan zaharlanishda gipotenziya sepsisga o‘xshab ko‘rinadi? Suyuqlik yo‘qotilishi qaysi yo‘llar bilan bo‘ladi? Doskada: suyuqlik yo‘qotilishidan prerenal buyrak yetishmasligigacha bo‘lgan zanjirni chizing. Tipik xato: shok va oliguriyani darhol sepsis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autopsiyada o‘pka va buyrak topilmalari qanday o‘lim mexanizmiga ishora qiladi? Aspiratsiya prognozga qanday ta’sir qiladi? Doskada: o‘pka va buyrak topilmalarini ikki ustunli jadvalga yozing. Tipik xato: faqat zaharni aniqlashga e’tibor berib, o‘lim mexanizmini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Talabalardan javobni avval yozma, so‘ng og‘zaki so‘rang. Muhokama: nima uchun mexanik ventilyatsiya olganlarda o‘lim yuqori bo‘lishi mumkin? Doskada: o‘lim sabablarini ketma-ketlikda yozing (nafas yetishmovchiligi, yurak to‘xtashi, sepsis, shok). Tipik xato: ventilyatsiyani sababchi deb hisoblash, aslida u og‘ir holat belgisi ham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CRP oshishi har doim infeksiya degani emas? 2) Asos tanqisligi to‘qima perfuziyasi haqida nimani ko‘rsatadi? Doskada: markerlar → sabab (gipovolemiya → gipoperfuziya → ishemiya) zanjirini chizing. Tipik xato: BChE past bo‘lsa, prognoz yomon deb o‘ylash; manbaga ko‘ra u diagnostik qiymatga ega xolos.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Albumin pasayishi sabab yoki oqibatmi? 2) Nega albumin va CRP o‘rtasida teskari bog‘liqlik bor? Doskada: uch guruh uchun o‘lim ustunli diagrammasini chizing. Tipik xato: bog‘liqlikni sabab deb talqin qilish. Manbaga ko‘ra, o‘lgan bemorlar guruhi 19,8% edi, ular yoshi katta va ko‘proq OFB ichgan.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BChE pasayishi faqat ingibitsiyani anglatmaydi? 2) Oldingi qiymat noma’lum bo‘lsa, xulosa qanday cheklanadi? Doskada: flow sxemani o‘zlari chizsin. Tipik xato: BChE va AChE ni bir xil deb olish (BChE – plazma, AChE – eritrotsit va sinaps). Eslatma: annotatsiyada serum xolinesterazasi diagnostik qiymatga ega emas deyilgan, matnda esa diagnostik qiymati tilga olinadi. Bu farqni talabalar bilan muhokama qiling.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savollari: 1) Gipovolemiya va to‘qima gipoksiyasi laktat hamda CRP (C-reaktiv oqsil) ko‘rsatkichlarini qanday o‘zgartiradi? 2) Nima uchun oksimlar bu holatda asosiy yechim emas? Doskada chizish: zanjir ’zahar → atsetilxolin ko‘payishi → suyuqlik yo‘qotilishi → gipovolemiya → atsidoz → davo‘. Tipik xato: bitta holatni umumiy qoida deb qabul qilish. Bu yakka klinik hisobot, katta tadqiqot emas.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savollari: 1) ABC, atropin, nafas himoyasi va suyuqlik terapiyasi ketma-ketligini qanday tartiblaysiz? 2) Nima uchun qat’iy kuzatuv o‘limni kamaytirishi mumkin? Doskada chizish: 5 ta asosiy xulosa va o‘lim sabablari ro‘yxati. Tipik xato: oksim yoki laboratoriya (xolinesteraza) natijasini kutib, favqulodda davoni kechiktirish. Davo klinik belgilarga qarab boshlanadi.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FOB bilan zaharlanishning xususiyatlari. O’limga olib kelgan zaharlanishlar xarakteristikasi.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Mavzuga kirish: FOB va o‘lim muammosi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Fosfororganik birikmalar (FOB) eng samarali insektitsidlar qatoriga kiradi. Ular qishloq xo‘jaligida va maishiy sohada keng ishlatiladi.</a:t>
            </a:r>
          </a:p>
          <a:p>
            <a:pPr>
              <a:spcAft>
                <a:spcPts val="1200"/>
              </a:spcAft>
            </a:pPr>
            <a:r>
              <a:rPr sz="2200">
                <a:solidFill>
                  <a:srgbClr val="1F2937"/>
                </a:solidFill>
                <a:latin typeface="Calibri"/>
              </a:rPr>
              <a:t>▸  Ayni birikmalar asab agenti sifatida ham qo‘llangan: Suriya fuqarolar urushida (2013 yildan) va 2017–2018 yillardagi suiqasdlarda.</a:t>
            </a:r>
          </a:p>
          <a:p>
            <a:pPr>
              <a:spcAft>
                <a:spcPts val="1200"/>
              </a:spcAft>
            </a:pPr>
            <a:r>
              <a:rPr sz="2200">
                <a:solidFill>
                  <a:srgbClr val="1F2937"/>
                </a:solidFill>
                <a:latin typeface="Calibri"/>
              </a:rPr>
              <a:t>▸  Asosiy mexanizm: FOB atsetilxolinesteraza (AChE) fermentiga bog‘lanib, uni ingibirlaydi va xolinergik inqirozni keltirib chiqaradi.</a:t>
            </a:r>
          </a:p>
          <a:p>
            <a:pPr>
              <a:spcAft>
                <a:spcPts val="1200"/>
              </a:spcAft>
            </a:pPr>
            <a:r>
              <a:rPr sz="2200">
                <a:solidFill>
                  <a:srgbClr val="1F2937"/>
                </a:solidFill>
                <a:latin typeface="Calibri"/>
              </a:rPr>
              <a:t>▸  Osiyoda pestitsid o‘limlarining ko‘pchiligi FOB hissasiga to‘g‘ri keladi. Kasalxonada o‘limning keng tarqalgan sababi nafas yetishmovchiligi, so‘ng yurak to‘xtashi.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Ramadori et al., Organophosphorus Poisoning: Acute Respiratory Distress Syndrome, betlar: PMID 37047631; Worek et al., Organophosphorus compounds and oximes: a critical review, betlar: PMID 32506210; Eddleston et al., Early management after self-poisoning with an organophosphorus or carbamate pesticide – a treatment protocol for junior doctors, betlar: PMID 15566582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Epidemiologiya: jahon ko‘rsatkichlari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Yiliga 3 milliondan ortiq og‘ir o‘tkir zaharlanish bo‘lishi taxmin qilinadi; ro‘yxatga olinmagan holatlar undan ham ko‘p.</a:t>
            </a:r>
          </a:p>
          <a:p>
            <a:pPr>
              <a:spcAft>
                <a:spcPts val="800"/>
              </a:spcAft>
            </a:pPr>
            <a:r>
              <a:rPr sz="1800">
                <a:solidFill>
                  <a:srgbClr val="1F2937"/>
                </a:solidFill>
                <a:latin typeface="Calibri"/>
              </a:rPr>
              <a:t>▸  Diqqat: 300 000 — barcha pestitsidlar, 110 000 — faqat FOB; bu raqamlarni aralashtirmang.</a:t>
            </a:r>
          </a:p>
          <a:p>
            <a:pPr>
              <a:spcAft>
                <a:spcPts val="800"/>
              </a:spcAft>
            </a:pPr>
            <a:r>
              <a:rPr sz="1800">
                <a:solidFill>
                  <a:srgbClr val="1F2937"/>
                </a:solidFill>
                <a:latin typeface="Calibri"/>
              </a:rPr>
              <a:t>▸  I sinf pestitsidlar (paration, mevinfos) taqiqlangach, FOB bilan o‘z-o‘ziga zaharlanishdan o‘lim kamaygan.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00080"/>
                <a:gridCol w="2250202"/>
                <a:gridCol w="2137692"/>
              </a:tblGrid>
              <a:tr h="411480">
                <a:tc>
                  <a:txBody>
                    <a:bodyPr/>
                    <a:lstStyle/>
                    <a:p>
                      <a:r>
                        <a:rPr sz="1300" b="1">
                          <a:solidFill>
                            <a:srgbClr val="FFFFFF"/>
                          </a:solidFill>
                        </a:rPr>
                        <a:t>Manba</a:t>
                      </a:r>
                    </a:p>
                  </a:txBody>
                  <a:tcPr marL="73152" marR="73152" marT="36576" marB="36576">
                    <a:solidFill>
                      <a:srgbClr val="0B1F3A"/>
                    </a:solidFill>
                  </a:tcPr>
                </a:tc>
                <a:tc>
                  <a:txBody>
                    <a:bodyPr/>
                    <a:lstStyle/>
                    <a:p>
                      <a:r>
                        <a:rPr sz="1300" b="1">
                          <a:solidFill>
                            <a:srgbClr val="FFFFFF"/>
                          </a:solidFill>
                        </a:rPr>
                        <a:t>Baho</a:t>
                      </a:r>
                    </a:p>
                  </a:txBody>
                  <a:tcPr marL="73152" marR="73152" marT="36576" marB="36576">
                    <a:solidFill>
                      <a:srgbClr val="0B1F3A"/>
                    </a:solidFill>
                  </a:tcPr>
                </a:tc>
                <a:tc>
                  <a:txBody>
                    <a:bodyPr/>
                    <a:lstStyle/>
                    <a:p>
                      <a:r>
                        <a:rPr sz="1300" b="1">
                          <a:solidFill>
                            <a:srgbClr val="FFFFFF"/>
                          </a:solidFill>
                        </a:rPr>
                        <a:t>Tavsif</a:t>
                      </a:r>
                    </a:p>
                  </a:txBody>
                  <a:tcPr marL="73152" marR="73152" marT="36576" marB="36576">
                    <a:solidFill>
                      <a:srgbClr val="0B1F3A"/>
                    </a:solidFill>
                  </a:tcPr>
                </a:tc>
              </a:tr>
              <a:tr h="411480">
                <a:tc>
                  <a:txBody>
                    <a:bodyPr/>
                    <a:lstStyle/>
                    <a:p>
                      <a:r>
                        <a:rPr sz="1200" b="0">
                          <a:solidFill>
                            <a:srgbClr val="1F2937"/>
                          </a:solidFill>
                        </a:rPr>
                        <a:t>Eddleston, 2004</a:t>
                      </a:r>
                    </a:p>
                  </a:txBody>
                  <a:tcPr marL="73152" marR="73152" marT="36576" marB="36576">
                    <a:solidFill>
                      <a:srgbClr val="E8EEF6"/>
                    </a:solidFill>
                  </a:tcPr>
                </a:tc>
                <a:tc>
                  <a:txBody>
                    <a:bodyPr/>
                    <a:lstStyle/>
                    <a:p>
                      <a:r>
                        <a:rPr sz="1200" b="0">
                          <a:solidFill>
                            <a:srgbClr val="1F2937"/>
                          </a:solidFill>
                        </a:rPr>
                        <a:t>~300 000 o‘lim/yil</a:t>
                      </a:r>
                    </a:p>
                  </a:txBody>
                  <a:tcPr marL="73152" marR="73152" marT="36576" marB="36576">
                    <a:solidFill>
                      <a:srgbClr val="E8EEF6"/>
                    </a:solidFill>
                  </a:tcPr>
                </a:tc>
                <a:tc>
                  <a:txBody>
                    <a:bodyPr/>
                    <a:lstStyle/>
                    <a:p>
                      <a:r>
                        <a:rPr sz="1200" b="0">
                          <a:solidFill>
                            <a:srgbClr val="1F2937"/>
                          </a:solidFill>
                        </a:rPr>
                        <a:t>Pestitsid bilan o‘z-o‘ziga zaharlanish</a:t>
                      </a:r>
                    </a:p>
                  </a:txBody>
                  <a:tcPr marL="73152" marR="73152" marT="36576" marB="36576">
                    <a:solidFill>
                      <a:srgbClr val="E8EEF6"/>
                    </a:solidFill>
                  </a:tcPr>
                </a:tc>
              </a:tr>
              <a:tr h="411480">
                <a:tc>
                  <a:txBody>
                    <a:bodyPr/>
                    <a:lstStyle/>
                    <a:p>
                      <a:r>
                        <a:rPr sz="1200" b="0">
                          <a:solidFill>
                            <a:srgbClr val="1F2937"/>
                          </a:solidFill>
                        </a:rPr>
                        <a:t>Ramadori, 2023</a:t>
                      </a:r>
                    </a:p>
                  </a:txBody>
                  <a:tcPr marL="73152" marR="73152" marT="36576" marB="36576">
                    <a:solidFill>
                      <a:srgbClr val="FFFFFF"/>
                    </a:solidFill>
                  </a:tcPr>
                </a:tc>
                <a:tc>
                  <a:txBody>
                    <a:bodyPr/>
                    <a:lstStyle/>
                    <a:p>
                      <a:r>
                        <a:rPr sz="1200" b="0">
                          <a:solidFill>
                            <a:srgbClr val="1F2937"/>
                          </a:solidFill>
                        </a:rPr>
                        <a:t>200 000–350 000 o‘lim/yil</a:t>
                      </a:r>
                    </a:p>
                  </a:txBody>
                  <a:tcPr marL="73152" marR="73152" marT="36576" marB="36576">
                    <a:solidFill>
                      <a:srgbClr val="FFFFFF"/>
                    </a:solidFill>
                  </a:tcPr>
                </a:tc>
                <a:tc>
                  <a:txBody>
                    <a:bodyPr/>
                    <a:lstStyle/>
                    <a:p>
                      <a:r>
                        <a:rPr sz="1200" b="0">
                          <a:solidFill>
                            <a:srgbClr val="1F2937"/>
                          </a:solidFill>
                        </a:rPr>
                        <a:t>Tasodifiy va qasddan zaharlanish</a:t>
                      </a:r>
                    </a:p>
                  </a:txBody>
                  <a:tcPr marL="73152" marR="73152" marT="36576" marB="36576">
                    <a:solidFill>
                      <a:srgbClr val="FFFFFF"/>
                    </a:solidFill>
                  </a:tcPr>
                </a:tc>
              </a:tr>
              <a:tr h="411480">
                <a:tc>
                  <a:txBody>
                    <a:bodyPr/>
                    <a:lstStyle/>
                    <a:p>
                      <a:r>
                        <a:rPr sz="1200" b="0">
                          <a:solidFill>
                            <a:srgbClr val="1F2937"/>
                          </a:solidFill>
                        </a:rPr>
                        <a:t>Worek, 2020</a:t>
                      </a:r>
                    </a:p>
                  </a:txBody>
                  <a:tcPr marL="73152" marR="73152" marT="36576" marB="36576">
                    <a:solidFill>
                      <a:srgbClr val="E8EEF6"/>
                    </a:solidFill>
                  </a:tcPr>
                </a:tc>
                <a:tc>
                  <a:txBody>
                    <a:bodyPr/>
                    <a:lstStyle/>
                    <a:p>
                      <a:r>
                        <a:rPr sz="1200" b="0">
                          <a:solidFill>
                            <a:srgbClr val="1F2937"/>
                          </a:solidFill>
                        </a:rPr>
                        <a:t>258 000 dan ortiq (2007) → ~110 000 (2017)</a:t>
                      </a:r>
                    </a:p>
                  </a:txBody>
                  <a:tcPr marL="73152" marR="73152" marT="36576" marB="36576">
                    <a:solidFill>
                      <a:srgbClr val="E8EEF6"/>
                    </a:solidFill>
                  </a:tcPr>
                </a:tc>
                <a:tc>
                  <a:txBody>
                    <a:bodyPr/>
                    <a:lstStyle/>
                    <a:p>
                      <a:r>
                        <a:rPr sz="1200" b="0">
                          <a:solidFill>
                            <a:srgbClr val="1F2937"/>
                          </a:solidFill>
                        </a:rPr>
                        <a:t>FOB bilan o‘z-o‘ziga zaharlanish</a:t>
                      </a:r>
                    </a:p>
                  </a:txBody>
                  <a:tcPr marL="73152" marR="73152" marT="36576" marB="36576">
                    <a:solidFill>
                      <a:srgbClr val="E8EEF6"/>
                    </a:solidFill>
                  </a:tcPr>
                </a:tc>
              </a:tr>
              <a:tr h="411480">
                <a:tc>
                  <a:txBody>
                    <a:bodyPr/>
                    <a:lstStyle/>
                    <a:p>
                      <a:r>
                        <a:rPr sz="1200" b="0">
                          <a:solidFill>
                            <a:srgbClr val="1F2937"/>
                          </a:solidFill>
                        </a:rPr>
                        <a:t>Worek, 2020</a:t>
                      </a:r>
                    </a:p>
                  </a:txBody>
                  <a:tcPr marL="73152" marR="73152" marT="36576" marB="36576">
                    <a:solidFill>
                      <a:srgbClr val="FFFFFF"/>
                    </a:solidFill>
                  </a:tcPr>
                </a:tc>
                <a:tc>
                  <a:txBody>
                    <a:bodyPr/>
                    <a:lstStyle/>
                    <a:p>
                      <a:r>
                        <a:rPr sz="1200" b="0">
                          <a:solidFill>
                            <a:srgbClr val="1F2937"/>
                          </a:solidFill>
                        </a:rPr>
                        <a:t>100 000 dan ortiq o‘lim/yil</a:t>
                      </a:r>
                    </a:p>
                  </a:txBody>
                  <a:tcPr marL="73152" marR="73152" marT="36576" marB="36576">
                    <a:solidFill>
                      <a:srgbClr val="FFFFFF"/>
                    </a:solidFill>
                  </a:tcPr>
                </a:tc>
                <a:tc>
                  <a:txBody>
                    <a:bodyPr/>
                    <a:lstStyle/>
                    <a:p>
                      <a:r>
                        <a:rPr sz="1200" b="0">
                          <a:solidFill>
                            <a:srgbClr val="1F2937"/>
                          </a:solidFill>
                        </a:rPr>
                        <a:t>Pestitsid bilan o‘z-o‘ziga zaharlanish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Yillik o‘lim baholari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Ramadori et al., Organophosphorus Poisoning: Acute Respiratory Distress Syndrome, betlar: PMID 37047631; Worek et al., Organophosphorus compounds and oximes: a critical review, betlar: PMID 32506210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Letallik: rivojlanayotgan va G‘arb mamlakatlari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Letallik yuqori bo‘lishining sabablari: zaharli moddalar, uzoq transport, shifokor va antidotlar yetishmasligi.</a:t>
            </a:r>
          </a:p>
          <a:p>
            <a:pPr>
              <a:spcAft>
                <a:spcPts val="800"/>
              </a:spcAft>
            </a:pPr>
            <a:r>
              <a:rPr sz="1800">
                <a:solidFill>
                  <a:srgbClr val="1F2937"/>
                </a:solidFill>
                <a:latin typeface="Calibri"/>
              </a:rPr>
              <a:t>▸  Sun’iy ventilyatsiyadagi bemorlarda o‘lim 50% dan oshishi mumkin.</a:t>
            </a:r>
          </a:p>
          <a:p>
            <a:pPr>
              <a:spcAft>
                <a:spcPts val="800"/>
              </a:spcAft>
            </a:pPr>
            <a:r>
              <a:rPr sz="1800">
                <a:solidFill>
                  <a:srgbClr val="1F2937"/>
                </a:solidFill>
                <a:latin typeface="Calibri"/>
              </a:rPr>
              <a:t>▸  Diqqat: letallik (o‘lganlar ulushi) ≠ o‘limlar soni; bular turli ko‘rsatkichlar.</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854225"/>
                <a:gridCol w="1098800"/>
                <a:gridCol w="2334950"/>
              </a:tblGrid>
              <a:tr h="411480">
                <a:tc>
                  <a:txBody>
                    <a:bodyPr/>
                    <a:lstStyle/>
                    <a:p>
                      <a:r>
                        <a:rPr sz="1300" b="1">
                          <a:solidFill>
                            <a:srgbClr val="FFFFFF"/>
                          </a:solidFill>
                        </a:rPr>
                        <a:t>Hudud</a:t>
                      </a:r>
                    </a:p>
                  </a:txBody>
                  <a:tcPr marL="73152" marR="73152" marT="36576" marB="36576">
                    <a:solidFill>
                      <a:srgbClr val="0B1F3A"/>
                    </a:solidFill>
                  </a:tcPr>
                </a:tc>
                <a:tc>
                  <a:txBody>
                    <a:bodyPr/>
                    <a:lstStyle/>
                    <a:p>
                      <a:r>
                        <a:rPr sz="1300" b="1">
                          <a:solidFill>
                            <a:srgbClr val="FFFFFF"/>
                          </a:solidFill>
                        </a:rPr>
                        <a:t>Letallik</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Rivojlanayotgan mamlakatlar</a:t>
                      </a:r>
                    </a:p>
                  </a:txBody>
                  <a:tcPr marL="73152" marR="73152" marT="36576" marB="36576">
                    <a:solidFill>
                      <a:srgbClr val="E8EEF6"/>
                    </a:solidFill>
                  </a:tcPr>
                </a:tc>
                <a:tc>
                  <a:txBody>
                    <a:bodyPr/>
                    <a:lstStyle/>
                    <a:p>
                      <a:r>
                        <a:rPr sz="1200" b="0">
                          <a:solidFill>
                            <a:srgbClr val="1F2937"/>
                          </a:solidFill>
                        </a:rPr>
                        <a:t>10–20%</a:t>
                      </a:r>
                    </a:p>
                  </a:txBody>
                  <a:tcPr marL="73152" marR="73152" marT="36576" marB="36576">
                    <a:solidFill>
                      <a:srgbClr val="E8EEF6"/>
                    </a:solidFill>
                  </a:tcPr>
                </a:tc>
                <a:tc>
                  <a:txBody>
                    <a:bodyPr/>
                    <a:lstStyle/>
                    <a:p>
                      <a:r>
                        <a:rPr sz="1200" b="0">
                          <a:solidFill>
                            <a:srgbClr val="1F2937"/>
                          </a:solidFill>
                        </a:rPr>
                        <a:t>O‘z joniga qasd qilishda odatiy</a:t>
                      </a:r>
                    </a:p>
                  </a:txBody>
                  <a:tcPr marL="73152" marR="73152" marT="36576" marB="36576">
                    <a:solidFill>
                      <a:srgbClr val="E8EEF6"/>
                    </a:solidFill>
                  </a:tcPr>
                </a:tc>
              </a:tr>
              <a:tr h="411480">
                <a:tc>
                  <a:txBody>
                    <a:bodyPr/>
                    <a:lstStyle/>
                    <a:p>
                      <a:r>
                        <a:rPr sz="1200" b="0">
                          <a:solidFill>
                            <a:srgbClr val="1F2937"/>
                          </a:solidFill>
                        </a:rPr>
                        <a:t>Ayrim pestitsidlar</a:t>
                      </a:r>
                    </a:p>
                  </a:txBody>
                  <a:tcPr marL="73152" marR="73152" marT="36576" marB="36576">
                    <a:solidFill>
                      <a:srgbClr val="FFFFFF"/>
                    </a:solidFill>
                  </a:tcPr>
                </a:tc>
                <a:tc>
                  <a:txBody>
                    <a:bodyPr/>
                    <a:lstStyle/>
                    <a:p>
                      <a:r>
                        <a:rPr sz="1200" b="0">
                          <a:solidFill>
                            <a:srgbClr val="1F2937"/>
                          </a:solidFill>
                        </a:rPr>
                        <a:t>50–70% gacha</a:t>
                      </a:r>
                    </a:p>
                  </a:txBody>
                  <a:tcPr marL="73152" marR="73152" marT="36576" marB="36576">
                    <a:solidFill>
                      <a:srgbClr val="FFFFFF"/>
                    </a:solidFill>
                  </a:tcPr>
                </a:tc>
                <a:tc>
                  <a:txBody>
                    <a:bodyPr/>
                    <a:lstStyle/>
                    <a:p>
                      <a:r>
                        <a:rPr sz="1200" b="0">
                          <a:solidFill>
                            <a:srgbClr val="1F2937"/>
                          </a:solidFill>
                        </a:rPr>
                        <a:t>Alohida yuqori zaharli preparatlar</a:t>
                      </a:r>
                    </a:p>
                  </a:txBody>
                  <a:tcPr marL="73152" marR="73152" marT="36576" marB="36576">
                    <a:solidFill>
                      <a:srgbClr val="FFFFFF"/>
                    </a:solidFill>
                  </a:tcPr>
                </a:tc>
              </a:tr>
              <a:tr h="411480">
                <a:tc>
                  <a:txBody>
                    <a:bodyPr/>
                    <a:lstStyle/>
                    <a:p>
                      <a:r>
                        <a:rPr sz="1200" b="0">
                          <a:solidFill>
                            <a:srgbClr val="1F2937"/>
                          </a:solidFill>
                        </a:rPr>
                        <a:t>G‘arb mamlakatlari</a:t>
                      </a:r>
                    </a:p>
                  </a:txBody>
                  <a:tcPr marL="73152" marR="73152" marT="36576" marB="36576">
                    <a:solidFill>
                      <a:srgbClr val="E8EEF6"/>
                    </a:solidFill>
                  </a:tcPr>
                </a:tc>
                <a:tc>
                  <a:txBody>
                    <a:bodyPr/>
                    <a:lstStyle/>
                    <a:p>
                      <a:r>
                        <a:rPr sz="1200" b="0">
                          <a:solidFill>
                            <a:srgbClr val="1F2937"/>
                          </a:solidFill>
                        </a:rPr>
                        <a:t>0,3% dan kam</a:t>
                      </a:r>
                    </a:p>
                  </a:txBody>
                  <a:tcPr marL="73152" marR="73152" marT="36576" marB="36576">
                    <a:solidFill>
                      <a:srgbClr val="E8EEF6"/>
                    </a:solidFill>
                  </a:tcPr>
                </a:tc>
                <a:tc>
                  <a:txBody>
                    <a:bodyPr/>
                    <a:lstStyle/>
                    <a:p>
                      <a:r>
                        <a:rPr sz="1200" b="0">
                          <a:solidFill>
                            <a:srgbClr val="1F2937"/>
                          </a:solidFill>
                        </a:rPr>
                        <a:t>Barcha sabablardan zaharlanishda</a:t>
                      </a:r>
                    </a:p>
                  </a:txBody>
                  <a:tcPr marL="73152" marR="73152" marT="36576" marB="36576">
                    <a:solidFill>
                      <a:srgbClr val="E8EEF6"/>
                    </a:solidFill>
                  </a:tcPr>
                </a:tc>
              </a:tr>
              <a:tr h="411480">
                <a:tc>
                  <a:txBody>
                    <a:bodyPr/>
                    <a:lstStyle/>
                    <a:p>
                      <a:r>
                        <a:rPr sz="1200" b="0">
                          <a:solidFill>
                            <a:srgbClr val="1F2937"/>
                          </a:solidFill>
                        </a:rPr>
                        <a:t>Kasalxonadagi o‘tkir FOB</a:t>
                      </a:r>
                    </a:p>
                  </a:txBody>
                  <a:tcPr marL="73152" marR="73152" marT="36576" marB="36576">
                    <a:solidFill>
                      <a:srgbClr val="FFFFFF"/>
                    </a:solidFill>
                  </a:tcPr>
                </a:tc>
                <a:tc>
                  <a:txBody>
                    <a:bodyPr/>
                    <a:lstStyle/>
                    <a:p>
                      <a:r>
                        <a:rPr sz="1200" b="0">
                          <a:solidFill>
                            <a:srgbClr val="1F2937"/>
                          </a:solidFill>
                        </a:rPr>
                        <a:t>15–23%</a:t>
                      </a:r>
                    </a:p>
                  </a:txBody>
                  <a:tcPr marL="73152" marR="73152" marT="36576" marB="36576">
                    <a:solidFill>
                      <a:srgbClr val="FFFFFF"/>
                    </a:solidFill>
                  </a:tcPr>
                </a:tc>
                <a:tc>
                  <a:txBody>
                    <a:bodyPr/>
                    <a:lstStyle/>
                    <a:p>
                      <a:r>
                        <a:rPr sz="1200" b="0">
                          <a:solidFill>
                            <a:srgbClr val="1F2937"/>
                          </a:solidFill>
                        </a:rPr>
                        <a:t>Hindistonda yaqinda 33% 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Letallik taqqoslanishi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Eddleston et al., Early management after self-poisoning with an organophosphorus or carbamate pesticide – a treatment protocol for junior doctors, betlar: PMID 15566582; Ramadori et al., Organophosphorus Poisoning: Acute Respiratory Distress Syndrome, betlar: PMID 37047631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Yuqori letallik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Rivojlanayotgan mamlakatlarda o‘z-o‘zini zaharlashda letallik odatda 10–20%, ayrim pestitsidlarda esa 50–70% gacha yetadi.</a:t>
            </a:r>
          </a:p>
          <a:p>
            <a:pPr>
              <a:spcAft>
                <a:spcPts val="1200"/>
              </a:spcAft>
            </a:pPr>
            <a:r>
              <a:rPr sz="2200">
                <a:solidFill>
                  <a:srgbClr val="1F2937"/>
                </a:solidFill>
                <a:latin typeface="Calibri"/>
              </a:rPr>
              <a:t>▸  G‘arb mamlakatlarida barcha sabablar bo‘yicha o‘z-o‘zini zaharlashdagi letallik 0,3% dan kam. Farq juda katta.</a:t>
            </a:r>
          </a:p>
          <a:p>
            <a:pPr>
              <a:spcAft>
                <a:spcPts val="1200"/>
              </a:spcAft>
            </a:pPr>
            <a:r>
              <a:rPr sz="2200">
                <a:solidFill>
                  <a:srgbClr val="1F2937"/>
                </a:solidFill>
                <a:latin typeface="Calibri"/>
              </a:rPr>
              <a:t>▸  Sabablar ko‘p omilli: mahalliy zaharlarning yuqori toksikligi, bemorni kasalxonaga olib borishdagi uzoq masofa va tibbiyot xodimlarining kamligi.</a:t>
            </a:r>
          </a:p>
          <a:p>
            <a:pPr>
              <a:spcAft>
                <a:spcPts val="1200"/>
              </a:spcAft>
            </a:pPr>
            <a:r>
              <a:rPr sz="2200">
                <a:solidFill>
                  <a:srgbClr val="1F2937"/>
                </a:solidFill>
                <a:latin typeface="Calibri"/>
              </a:rPr>
              <a:t>▸  Jihozlar, antidotlar va xodimlarni o‘qitish yetishmaydi. Davolash protokollarini tuzish uchun isbotlangan usullar ham kam.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Eddleston et al., Early management after self-poisoning with an organophosphorus or carbamate pesticide – a treatment protocol for junior doctors, betlar: PMID 15566582; DOI 10.1186/cc2953 (Introduction)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olis qishloqdagi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qishloqda FOB (fosfororganik birikmalar) ichgan bemor kasalxonaga uzoq yo‘l bilan keltirildi. U terga botgan, qorachiqlari nuqtadek, nafasi og‘ir.</a:t>
            </a:r>
          </a:p>
          <a:p>
            <a:pPr>
              <a:spcAft>
                <a:spcPts val="1200"/>
              </a:spcAft>
            </a:pPr>
            <a:r>
              <a:rPr sz="2200">
                <a:solidFill>
                  <a:srgbClr val="1F2937"/>
                </a:solidFill>
                <a:latin typeface="Calibri"/>
              </a:rPr>
              <a:t>▸  Zaharlanishlarning ko‘pi kasalxonadan uzoqda yuz beradi. U yerda tashxis usullari osonlik bilan topilmaydi.</a:t>
            </a:r>
          </a:p>
          <a:p>
            <a:pPr>
              <a:spcAft>
                <a:spcPts val="1200"/>
              </a:spcAft>
            </a:pPr>
            <a:r>
              <a:rPr sz="2200">
                <a:solidFill>
                  <a:srgbClr val="1F2937"/>
                </a:solidFill>
                <a:latin typeface="Calibri"/>
              </a:rPr>
              <a:t>▸  Ayrim ma‘lumotlarga ko‘ra, rivojlanayotgan mamlakatlarda bemorlar qabuldan keyin tez orada o‘ladi. Shuning uchun dastlabki barqarorlashtirish muhim.</a:t>
            </a:r>
          </a:p>
          <a:p>
            <a:pPr>
              <a:spcAft>
                <a:spcPts val="1200"/>
              </a:spcAft>
            </a:pPr>
            <a:r>
              <a:rPr sz="2200">
                <a:solidFill>
                  <a:srgbClr val="1F2937"/>
                </a:solidFill>
                <a:latin typeface="Calibri"/>
              </a:rPr>
              <a:t>▸  Savol: o‘lim xavfini oshirgan omillarni sanang. Qabul bo‘limida birinchi navbatda nimani tekshirasiz (nafas yo‘li, nafas, qon aylanishi)?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Eddleston et al., Early management after self-poisoning with an organophosphorus or carbamate pesticide – a treatment protocol for junior doctors, betlar: PMID 15566582; DOI 10.1186/cc2953 (Does the patient require atropine?), PMID 15566582; DOI 10.1186/cc2953 (Introduction), PMID 15566582; DOI 10.1186/cc2953 (Initial assessment of the unconscious patient); Ramadori et al., Organophosphorus Poisoning: Acute Respiratory Distress Syndrome, betlar: PMID 37047631; DOI 10.3390/ijms24076658 (2. Organophosphorus Compounds as Insecticides and as Nerve Agents)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FOB guruhlari va qo‘llanilishi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FOB (fosfororganik birikmalar) guruhlari: fosfatlar, fosfonatlar, fosfinatlar va fosforotioatlar. Ular tuzilishi va toksikligi bo‘yicha juda xilma-xil.</a:t>
            </a:r>
          </a:p>
          <a:p>
            <a:pPr>
              <a:spcAft>
                <a:spcPts val="1200"/>
              </a:spcAft>
            </a:pPr>
            <a:r>
              <a:rPr sz="2200">
                <a:solidFill>
                  <a:srgbClr val="1F2937"/>
                </a:solidFill>
                <a:latin typeface="Calibri"/>
              </a:rPr>
              <a:t>▸  Qishloq xo‘jaligida pestitsidlar hosilni hasharot, kana, nematoda, zamburug‘, kemiruvchi, qush va begona o‘tlardan himoya qiladi.</a:t>
            </a:r>
          </a:p>
          <a:p>
            <a:pPr>
              <a:spcAft>
                <a:spcPts val="1200"/>
              </a:spcAft>
            </a:pPr>
            <a:r>
              <a:rPr sz="2200">
                <a:solidFill>
                  <a:srgbClr val="1F2937"/>
                </a:solidFill>
                <a:latin typeface="Calibri"/>
              </a:rPr>
              <a:t>▸  Pestitsidlar turmush va dam olish sharoitlarida ham ishlatiladi. Qo‘llanish faqat rivojlanayotgan emas, rivojlangan mamlakatlarga ham yoyilgan.</a:t>
            </a:r>
          </a:p>
          <a:p>
            <a:pPr>
              <a:spcAft>
                <a:spcPts val="1200"/>
              </a:spcAft>
            </a:pPr>
            <a:r>
              <a:rPr sz="2200">
                <a:solidFill>
                  <a:srgbClr val="1F2937"/>
                </a:solidFill>
                <a:latin typeface="Calibri"/>
              </a:rPr>
              <a:t>▸  FOB bilan zaharlanish ular joriy etilgan 1950-yillar boshidan qayd etilgan. Holatlar tez-tez uchrab, ijtimoiy ofat darajasiga yetgan.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Worek et al., Organophosphorus compounds and oximes: a critical review, betlar: PMID 32506210; DOI 10.1007/s00204-020-02797-0 (The threat); Ramadori et al., Organophosphorus Poisoning: Acute Respiratory Distress Syndrome, betlar: PMID 37047631; DOI 10.3390/ijms24076658 (1. Introduction), PMID 37047631; DOI 10.3390/ijms24076658 (2. Organophosphorus Compounds as Insecticides and as Nerve Agents)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Pestitsidlar va asab agentlari: umumiy mexanizm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Fosfororganik birikmalar (FOB) samarali insektitsidlar tarkibiga kiradi, ayrimlari esa harbiy asab agentidir.</a:t>
            </a:r>
          </a:p>
          <a:p>
            <a:pPr>
              <a:spcAft>
                <a:spcPts val="1200"/>
              </a:spcAft>
            </a:pPr>
            <a:r>
              <a:rPr sz="2200">
                <a:solidFill>
                  <a:srgbClr val="1F2937"/>
                </a:solidFill>
                <a:latin typeface="Calibri"/>
              </a:rPr>
              <a:t>▸  Sarin, VX kabi asab agentlari ham, pestitsidlar ham atsetilxolinesterazani (AChE) ingibitsiyalaydi. Zaharlilik darajasi birikma tuzilishiga bog‘liq.</a:t>
            </a:r>
          </a:p>
          <a:p>
            <a:pPr>
              <a:spcAft>
                <a:spcPts val="1200"/>
              </a:spcAft>
            </a:pPr>
            <a:r>
              <a:rPr sz="2200">
                <a:solidFill>
                  <a:srgbClr val="1F2937"/>
                </a:solidFill>
                <a:latin typeface="Calibri"/>
              </a:rPr>
              <a:t>▸  FOB Matsumoto (1994) va Tokio (1995) teraktlarida, Iroq va Suriyada qurol sifatida, Kuala-Lumpur va Salisberidagi suiqasdlarda ishlatilgan.</a:t>
            </a:r>
          </a:p>
          <a:p>
            <a:pPr>
              <a:spcAft>
                <a:spcPts val="1200"/>
              </a:spcAft>
            </a:pPr>
            <a:r>
              <a:rPr sz="2200">
                <a:solidFill>
                  <a:srgbClr val="1F2937"/>
                </a:solidFill>
                <a:latin typeface="Calibri"/>
              </a:rPr>
              <a:t>▸  Sarin shilliq qavat orqali tez ta’sir qiladi, VX teri orqali kechikib. O‘z joniga qasd qilishda pestitsid asosan og‘iz orqali kiradi.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Ramadori et al., Organophosphorus Poisoning: Acute Respiratory Distress Syndrome, betlar: PMID 37047631; Worek et al., Organophosphorus compounds and oximes: a critical review, betlar: PMID 32506210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Ta’sir mexanizmi: AChE ingibitsiyasi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FOB atsetilxolinesteraza (AChE) faol markazidagi seringa kovalent bog‘lanadi.</a:t>
            </a:r>
          </a:p>
          <a:p>
            <a:pPr>
              <a:spcAft>
                <a:spcPts val="800"/>
              </a:spcAft>
            </a:pPr>
            <a:r>
              <a:rPr sz="1800">
                <a:solidFill>
                  <a:srgbClr val="1F2937"/>
                </a:solidFill>
                <a:latin typeface="Calibri"/>
              </a:rPr>
              <a:t>▸  Atsetilxolin (ACh) parchalanmasa, signal uzatilishi davom etadi va asab funksiyasi ortiqcha faollashadi.</a:t>
            </a:r>
          </a:p>
          <a:p>
            <a:pPr>
              <a:spcAft>
                <a:spcPts val="800"/>
              </a:spcAft>
            </a:pPr>
            <a:r>
              <a:rPr sz="1800">
                <a:solidFill>
                  <a:srgbClr val="1F2937"/>
                </a:solidFill>
                <a:latin typeface="Calibri"/>
              </a:rPr>
              <a:t>▸  Belgilar: miozis, so‘lak va ter ajralishi, bradikardiya, fassikulyatsiya, hushni yo‘qotish.</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FOB AChE serinini bloklaydi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AChE faolligi pasayadi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Atsetilxolin (ACh) yig‘iladi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Sinaps o‘ta qo‘zg‘aladi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Muskarin va nikotin belgilari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Xolinergik kriz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Worek et al., Organophosphorus compounds and oximes: a critical review, betlar: PMID 32506210; Ramadori et al., Organophosphorus Poisoning: Acute Respiratory Distress Syndrome, betlar: PMID 37047631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Ingibitsiya qaytmasligi va ferment tiklanishi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Ramadori fikricha, ingibitsiya amalda qaytmas. U zaharni fermentdan ajratadigan dori yo‘q deb hisoblaydi.</a:t>
            </a:r>
          </a:p>
          <a:p>
            <a:pPr>
              <a:spcAft>
                <a:spcPts val="1200"/>
              </a:spcAft>
            </a:pPr>
            <a:r>
              <a:rPr sz="2200">
                <a:solidFill>
                  <a:srgbClr val="1F2937"/>
                </a:solidFill>
                <a:latin typeface="Calibri"/>
              </a:rPr>
              <a:t>▸  Normal holat jigarda, suyak iligida va ayniqsa sinapslarda yangi ferment sintezlanishi bilan tiklanadi. ACh ortiqchaligi haftalar davom etishi mumkin.</a:t>
            </a:r>
          </a:p>
          <a:p>
            <a:pPr>
              <a:spcAft>
                <a:spcPts val="1200"/>
              </a:spcAft>
            </a:pPr>
            <a:r>
              <a:rPr sz="2200">
                <a:solidFill>
                  <a:srgbClr val="1F2937"/>
                </a:solidFill>
                <a:latin typeface="Calibri"/>
              </a:rPr>
              <a:t>▸  Diqqat: atropin reaktivator emas. U fermentni tiklamaydi, faqat muskarin belgilarini bosadi va nikotin ta’sirini to‘smaydi.</a:t>
            </a:r>
          </a:p>
          <a:p>
            <a:pPr>
              <a:spcAft>
                <a:spcPts val="1200"/>
              </a:spcAft>
            </a:pPr>
            <a:r>
              <a:rPr sz="2200">
                <a:solidFill>
                  <a:srgbClr val="1F2937"/>
                </a:solidFill>
                <a:latin typeface="Calibri"/>
              </a:rPr>
              <a:t>▸  Oksimlar fosfil qoldig‘ini fermentdan olib tashlashi kerak. Qarigan AChE ni tiklay olmaydi, odamdagi pestitsid zaharlanishida foydasi munozarali.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Ramadori et al., Organophosphorus Poisoning: Acute Respiratory Distress Syndrome, betlar: PMID 37047631; Worek et al., Organophosphorus compounds and oximes: a critical review, betlar: PMID 32506210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“Qarish” (aging) va spontan reaktivatsiya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FOB (fosfororganik birikma) bilan bloklangan atsetilxolinesteraza (AChE) tiklanishi yoki qarishi mumkin.</a:t>
            </a:r>
          </a:p>
          <a:p>
            <a:pPr>
              <a:spcAft>
                <a:spcPts val="800"/>
              </a:spcAft>
            </a:pPr>
            <a:r>
              <a:rPr sz="1800">
                <a:solidFill>
                  <a:srgbClr val="1F2937"/>
                </a:solidFill>
                <a:latin typeface="Calibri"/>
              </a:rPr>
              <a:t>▸  Pralidoksim (2-PAM) va obidoksim qarigan AChE ni tiklay olmaydi.</a:t>
            </a:r>
          </a:p>
          <a:p>
            <a:pPr>
              <a:spcAft>
                <a:spcPts val="800"/>
              </a:spcAft>
            </a:pPr>
            <a:r>
              <a:rPr sz="1800">
                <a:solidFill>
                  <a:srgbClr val="1F2937"/>
                </a:solidFill>
                <a:latin typeface="Calibri"/>
              </a:rPr>
              <a:t>▸  Somanda oksim samarasiz; dimetil-FOB (malation, dimetoat)da spontan reaktivatsiya oksimga yordam beradi.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397970"/>
                <a:gridCol w="2066564"/>
                <a:gridCol w="1823439"/>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Kinetika</a:t>
                      </a:r>
                    </a:p>
                  </a:txBody>
                  <a:tcPr marL="73152" marR="73152" marT="36576" marB="36576">
                    <a:solidFill>
                      <a:srgbClr val="0B1F3A"/>
                    </a:solidFill>
                  </a:tcPr>
                </a:tc>
                <a:tc>
                  <a:txBody>
                    <a:bodyPr/>
                    <a:lstStyle/>
                    <a:p>
                      <a:r>
                        <a:rPr sz="1300" b="1">
                          <a:solidFill>
                            <a:srgbClr val="FFFFFF"/>
                          </a:solidFill>
                        </a:rPr>
                        <a:t>Oqibati</a:t>
                      </a:r>
                    </a:p>
                  </a:txBody>
                  <a:tcPr marL="73152" marR="73152" marT="36576" marB="36576">
                    <a:solidFill>
                      <a:srgbClr val="0B1F3A"/>
                    </a:solidFill>
                  </a:tcPr>
                </a:tc>
              </a:tr>
              <a:tr h="411480">
                <a:tc>
                  <a:txBody>
                    <a:bodyPr/>
                    <a:lstStyle/>
                    <a:p>
                      <a:r>
                        <a:rPr sz="1200" b="0">
                          <a:solidFill>
                            <a:srgbClr val="1F2937"/>
                          </a:solidFill>
                        </a:rPr>
                        <a:t>Soman</a:t>
                      </a:r>
                    </a:p>
                  </a:txBody>
                  <a:tcPr marL="73152" marR="73152" marT="36576" marB="36576">
                    <a:solidFill>
                      <a:srgbClr val="E8EEF6"/>
                    </a:solidFill>
                  </a:tcPr>
                </a:tc>
                <a:tc>
                  <a:txBody>
                    <a:bodyPr/>
                    <a:lstStyle/>
                    <a:p>
                      <a:r>
                        <a:rPr sz="1200" b="0">
                          <a:solidFill>
                            <a:srgbClr val="1F2937"/>
                          </a:solidFill>
                        </a:rPr>
                        <a:t>Qarish yarim davri ~2 daqiqa</a:t>
                      </a:r>
                    </a:p>
                  </a:txBody>
                  <a:tcPr marL="73152" marR="73152" marT="36576" marB="36576">
                    <a:solidFill>
                      <a:srgbClr val="E8EEF6"/>
                    </a:solidFill>
                  </a:tcPr>
                </a:tc>
                <a:tc>
                  <a:txBody>
                    <a:bodyPr/>
                    <a:lstStyle/>
                    <a:p>
                      <a:r>
                        <a:rPr sz="1200" b="0">
                          <a:solidFill>
                            <a:srgbClr val="1F2937"/>
                          </a:solidFill>
                        </a:rPr>
                        <a:t>Oksim samarasiz (qarigan AChE)</a:t>
                      </a:r>
                    </a:p>
                  </a:txBody>
                  <a:tcPr marL="73152" marR="73152" marT="36576" marB="36576">
                    <a:solidFill>
                      <a:srgbClr val="E8EEF6"/>
                    </a:solidFill>
                  </a:tcPr>
                </a:tc>
              </a:tr>
              <a:tr h="411480">
                <a:tc>
                  <a:txBody>
                    <a:bodyPr/>
                    <a:lstStyle/>
                    <a:p>
                      <a:r>
                        <a:rPr sz="1200" b="0">
                          <a:solidFill>
                            <a:srgbClr val="1F2937"/>
                          </a:solidFill>
                        </a:rPr>
                        <a:t>VR (Rossiya VX)</a:t>
                      </a:r>
                    </a:p>
                  </a:txBody>
                  <a:tcPr marL="73152" marR="73152" marT="36576" marB="36576">
                    <a:solidFill>
                      <a:srgbClr val="FFFFFF"/>
                    </a:solidFill>
                  </a:tcPr>
                </a:tc>
                <a:tc>
                  <a:txBody>
                    <a:bodyPr/>
                    <a:lstStyle/>
                    <a:p>
                      <a:r>
                        <a:rPr sz="1200" b="0">
                          <a:solidFill>
                            <a:srgbClr val="1F2937"/>
                          </a:solidFill>
                        </a:rPr>
                        <a:t>Qarish yarim davri ~140 soat</a:t>
                      </a:r>
                    </a:p>
                  </a:txBody>
                  <a:tcPr marL="73152" marR="73152" marT="36576" marB="36576">
                    <a:solidFill>
                      <a:srgbClr val="FFFFFF"/>
                    </a:solidFill>
                  </a:tcPr>
                </a:tc>
                <a:tc>
                  <a:txBody>
                    <a:bodyPr/>
                    <a:lstStyle/>
                    <a:p>
                      <a:r>
                        <a:rPr sz="1200" b="0">
                          <a:solidFill>
                            <a:srgbClr val="1F2937"/>
                          </a:solidFill>
                        </a:rPr>
                        <a:t>Qarish juda sekin</a:t>
                      </a:r>
                    </a:p>
                  </a:txBody>
                  <a:tcPr marL="73152" marR="73152" marT="36576" marB="36576">
                    <a:solidFill>
                      <a:srgbClr val="FFFFFF"/>
                    </a:solidFill>
                  </a:tcPr>
                </a:tc>
              </a:tr>
              <a:tr h="411480">
                <a:tc>
                  <a:txBody>
                    <a:bodyPr/>
                    <a:lstStyle/>
                    <a:p>
                      <a:r>
                        <a:rPr sz="1200" b="0">
                          <a:solidFill>
                            <a:srgbClr val="1F2937"/>
                          </a:solidFill>
                        </a:rPr>
                        <a:t>G-agentlar</a:t>
                      </a:r>
                    </a:p>
                  </a:txBody>
                  <a:tcPr marL="73152" marR="73152" marT="36576" marB="36576">
                    <a:solidFill>
                      <a:srgbClr val="E8EEF6"/>
                    </a:solidFill>
                  </a:tcPr>
                </a:tc>
                <a:tc>
                  <a:txBody>
                    <a:bodyPr/>
                    <a:lstStyle/>
                    <a:p>
                      <a:r>
                        <a:rPr sz="1200" b="0">
                          <a:solidFill>
                            <a:srgbClr val="1F2937"/>
                          </a:solidFill>
                        </a:rPr>
                        <a:t>Spontan reaktivatsiya e’tiborsiz</a:t>
                      </a:r>
                    </a:p>
                  </a:txBody>
                  <a:tcPr marL="73152" marR="73152" marT="36576" marB="36576">
                    <a:solidFill>
                      <a:srgbClr val="E8EEF6"/>
                    </a:solidFill>
                  </a:tcPr>
                </a:tc>
                <a:tc>
                  <a:txBody>
                    <a:bodyPr/>
                    <a:lstStyle/>
                    <a:p>
                      <a:r>
                        <a:rPr sz="1200" b="0">
                          <a:solidFill>
                            <a:srgbClr val="1F2937"/>
                          </a:solidFill>
                        </a:rPr>
                        <a:t>O‘zi tiklanmaydi</a:t>
                      </a:r>
                    </a:p>
                  </a:txBody>
                  <a:tcPr marL="73152" marR="73152" marT="36576" marB="36576">
                    <a:solidFill>
                      <a:srgbClr val="E8EEF6"/>
                    </a:solidFill>
                  </a:tcPr>
                </a:tc>
              </a:tr>
              <a:tr h="411480">
                <a:tc>
                  <a:txBody>
                    <a:bodyPr/>
                    <a:lstStyle/>
                    <a:p>
                      <a:r>
                        <a:rPr sz="1200" b="0">
                          <a:solidFill>
                            <a:srgbClr val="1F2937"/>
                          </a:solidFill>
                        </a:rPr>
                        <a:t>Malaoksan (dimetil-FOB)</a:t>
                      </a:r>
                    </a:p>
                  </a:txBody>
                  <a:tcPr marL="73152" marR="73152" marT="36576" marB="36576">
                    <a:solidFill>
                      <a:srgbClr val="FFFFFF"/>
                    </a:solidFill>
                  </a:tcPr>
                </a:tc>
                <a:tc>
                  <a:txBody>
                    <a:bodyPr/>
                    <a:lstStyle/>
                    <a:p>
                      <a:r>
                        <a:rPr sz="1200" b="0">
                          <a:solidFill>
                            <a:srgbClr val="1F2937"/>
                          </a:solidFill>
                        </a:rPr>
                        <a:t>Reaktivatsiya yarim davri 0,7 soat</a:t>
                      </a:r>
                    </a:p>
                  </a:txBody>
                  <a:tcPr marL="73152" marR="73152" marT="36576" marB="36576">
                    <a:solidFill>
                      <a:srgbClr val="FFFFFF"/>
                    </a:solidFill>
                  </a:tcPr>
                </a:tc>
                <a:tc>
                  <a:txBody>
                    <a:bodyPr/>
                    <a:lstStyle/>
                    <a:p>
                      <a:r>
                        <a:rPr sz="1200" b="0">
                          <a:solidFill>
                            <a:srgbClr val="1F2937"/>
                          </a:solidFill>
                        </a:rPr>
                        <a:t>Oksim ta’siriga yordam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Qarish va tiklanish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Worek et al., Organophosphorus compounds and oximes: a critical review, betlar: PMID 32506210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mexanizm va epidemiologiya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FOB AChE ni qanday bloklaydi va nega somanda “qarish” oksim ta’sirini yo‘qqa chiqaradi?</a:t>
            </a:r>
          </a:p>
          <a:p>
            <a:pPr>
              <a:spcAft>
                <a:spcPts val="1200"/>
              </a:spcAft>
            </a:pPr>
            <a:r>
              <a:rPr sz="2200">
                <a:solidFill>
                  <a:srgbClr val="1F2937"/>
                </a:solidFill>
                <a:latin typeface="Calibri"/>
              </a:rPr>
              <a:t>▸  Talaba javobi: FOB AChE faol markaziga kovalent bog‘lanadi. Soman bloklagan ferment ~2 daqiqada qariydi, oksim uni tiklay olmaydi.</a:t>
            </a:r>
          </a:p>
          <a:p>
            <a:pPr>
              <a:spcAft>
                <a:spcPts val="1200"/>
              </a:spcAft>
            </a:pPr>
            <a:r>
              <a:rPr sz="2200">
                <a:solidFill>
                  <a:srgbClr val="1F2937"/>
                </a:solidFill>
                <a:latin typeface="Calibri"/>
              </a:rPr>
              <a:t>▸  Rivojlanayotgan mamlakatlarda o‘z-o‘zini pestitsid bilan zaharlashda letallik odatda 10–20%, ayrim pestitsidlarda 50–70% gacha.</a:t>
            </a:r>
          </a:p>
          <a:p>
            <a:pPr>
              <a:spcAft>
                <a:spcPts val="1200"/>
              </a:spcAft>
            </a:pPr>
            <a:r>
              <a:rPr sz="2200">
                <a:solidFill>
                  <a:srgbClr val="1F2937"/>
                </a:solidFill>
                <a:latin typeface="Calibri"/>
              </a:rPr>
              <a:t>▸  Diqqat: qarish (aging) ≠ spontan reaktivatsiya. Birida ferment oksimga bo‘ysunmaydi, ikkinchisida o‘zi tiklanadi.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Worek et al., Organophosphorus compounds and oximes: a critical review, betlar: PMID 32506210; Eddleston et al., Early management after self-poisoning with an organophosphorus or carbamate pesticide – a treatment protocol for junior doctors, betlar: PMID 15566582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kirish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Bug‘ bosimi (25 °C): sarin 2,9 mmHg, VX 0,0007 mmHg. VX lipofil va teri orqali xavfli.</a:t>
            </a:r>
          </a:p>
          <a:p>
            <a:pPr>
              <a:spcAft>
                <a:spcPts val="800"/>
              </a:spcAft>
            </a:pPr>
            <a:r>
              <a:rPr sz="1800">
                <a:solidFill>
                  <a:srgbClr val="1F2937"/>
                </a:solidFill>
                <a:latin typeface="Calibri"/>
              </a:rPr>
              <a:t>▸  Og‘iz orqali: P450 oksonga aylantiradi, paraoksonaza (PON1) zararsizlaydi, lipofillik yog‘da ushlaydi.</a:t>
            </a:r>
          </a:p>
          <a:p>
            <a:pPr>
              <a:spcAft>
                <a:spcPts val="800"/>
              </a:spcAft>
            </a:pPr>
            <a:r>
              <a:rPr sz="1800">
                <a:solidFill>
                  <a:srgbClr val="1F2937"/>
                </a:solidFill>
                <a:latin typeface="Calibri"/>
              </a:rPr>
              <a:t>▸  VX teri orqali: qondagi maksimum 2–4 soatda (hayvonlarda); sarinning yarim chiqarilishi &lt;60 daqiqa.</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74525"/>
                <a:gridCol w="1938924"/>
                <a:gridCol w="1674525"/>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Kirish yo‘li</a:t>
                      </a:r>
                    </a:p>
                  </a:txBody>
                  <a:tcPr marL="73152" marR="73152" marT="36576" marB="36576">
                    <a:solidFill>
                      <a:srgbClr val="0B1F3A"/>
                    </a:solidFill>
                  </a:tcPr>
                </a:tc>
                <a:tc>
                  <a:txBody>
                    <a:bodyPr/>
                    <a:lstStyle/>
                    <a:p>
                      <a:r>
                        <a:rPr sz="1300" b="1">
                          <a:solidFill>
                            <a:srgbClr val="FFFFFF"/>
                          </a:solidFill>
                        </a:rPr>
                        <a:t>Boshlanishi</a:t>
                      </a:r>
                    </a:p>
                  </a:txBody>
                  <a:tcPr marL="73152" marR="73152" marT="36576" marB="36576">
                    <a:solidFill>
                      <a:srgbClr val="0B1F3A"/>
                    </a:solidFill>
                  </a:tcPr>
                </a:tc>
              </a:tr>
              <a:tr h="411480">
                <a:tc>
                  <a:txBody>
                    <a:bodyPr/>
                    <a:lstStyle/>
                    <a:p>
                      <a:r>
                        <a:rPr sz="1200" b="0">
                          <a:solidFill>
                            <a:srgbClr val="1F2937"/>
                          </a:solidFill>
                        </a:rPr>
                        <a:t>Sarin</a:t>
                      </a:r>
                    </a:p>
                  </a:txBody>
                  <a:tcPr marL="73152" marR="73152" marT="36576" marB="36576">
                    <a:solidFill>
                      <a:srgbClr val="E8EEF6"/>
                    </a:solidFill>
                  </a:tcPr>
                </a:tc>
                <a:tc>
                  <a:txBody>
                    <a:bodyPr/>
                    <a:lstStyle/>
                    <a:p>
                      <a:r>
                        <a:rPr sz="1200" b="0">
                          <a:solidFill>
                            <a:srgbClr val="1F2937"/>
                          </a:solidFill>
                        </a:rPr>
                        <a:t>Nafas, shilliq qavat</a:t>
                      </a:r>
                    </a:p>
                  </a:txBody>
                  <a:tcPr marL="73152" marR="73152" marT="36576" marB="36576">
                    <a:solidFill>
                      <a:srgbClr val="E8EEF6"/>
                    </a:solidFill>
                  </a:tcPr>
                </a:tc>
                <a:tc>
                  <a:txBody>
                    <a:bodyPr/>
                    <a:lstStyle/>
                    <a:p>
                      <a:r>
                        <a:rPr sz="1200" b="0">
                          <a:solidFill>
                            <a:srgbClr val="1F2937"/>
                          </a:solidFill>
                        </a:rPr>
                        <a:t>Tez (daqiqalar)</a:t>
                      </a:r>
                    </a:p>
                  </a:txBody>
                  <a:tcPr marL="73152" marR="73152" marT="36576" marB="36576">
                    <a:solidFill>
                      <a:srgbClr val="E8EEF6"/>
                    </a:solidFill>
                  </a:tcPr>
                </a:tc>
              </a:tr>
              <a:tr h="411480">
                <a:tc>
                  <a:txBody>
                    <a:bodyPr/>
                    <a:lstStyle/>
                    <a:p>
                      <a:r>
                        <a:rPr sz="1200" b="0">
                          <a:solidFill>
                            <a:srgbClr val="1F2937"/>
                          </a:solidFill>
                        </a:rPr>
                        <a:t>VX</a:t>
                      </a:r>
                    </a:p>
                  </a:txBody>
                  <a:tcPr marL="73152" marR="73152" marT="36576" marB="36576">
                    <a:solidFill>
                      <a:srgbClr val="FFFFFF"/>
                    </a:solidFill>
                  </a:tcPr>
                </a:tc>
                <a:tc>
                  <a:txBody>
                    <a:bodyPr/>
                    <a:lstStyle/>
                    <a:p>
                      <a:r>
                        <a:rPr sz="1200" b="0">
                          <a:solidFill>
                            <a:srgbClr val="1F2937"/>
                          </a:solidFill>
                        </a:rPr>
                        <a:t>Teri orqali</a:t>
                      </a:r>
                    </a:p>
                  </a:txBody>
                  <a:tcPr marL="73152" marR="73152" marT="36576" marB="36576">
                    <a:solidFill>
                      <a:srgbClr val="FFFFFF"/>
                    </a:solidFill>
                  </a:tcPr>
                </a:tc>
                <a:tc>
                  <a:txBody>
                    <a:bodyPr/>
                    <a:lstStyle/>
                    <a:p>
                      <a:r>
                        <a:rPr sz="1200" b="0">
                          <a:solidFill>
                            <a:srgbClr val="1F2937"/>
                          </a:solidFill>
                        </a:rPr>
                        <a:t>Kechikkan (soatlar)</a:t>
                      </a:r>
                    </a:p>
                  </a:txBody>
                  <a:tcPr marL="73152" marR="73152" marT="36576" marB="36576">
                    <a:solidFill>
                      <a:srgbClr val="FFFFFF"/>
                    </a:solidFill>
                  </a:tcPr>
                </a:tc>
              </a:tr>
              <a:tr h="411480">
                <a:tc>
                  <a:txBody>
                    <a:bodyPr/>
                    <a:lstStyle/>
                    <a:p>
                      <a:r>
                        <a:rPr sz="1200" b="0">
                          <a:solidFill>
                            <a:srgbClr val="1F2937"/>
                          </a:solidFill>
                        </a:rPr>
                        <a:t>Diazinon (paration)</a:t>
                      </a:r>
                    </a:p>
                  </a:txBody>
                  <a:tcPr marL="73152" marR="73152" marT="36576" marB="36576">
                    <a:solidFill>
                      <a:srgbClr val="E8EEF6"/>
                    </a:solidFill>
                  </a:tcPr>
                </a:tc>
                <a:tc>
                  <a:txBody>
                    <a:bodyPr/>
                    <a:lstStyle/>
                    <a:p>
                      <a:r>
                        <a:rPr sz="1200" b="0">
                          <a:solidFill>
                            <a:srgbClr val="1F2937"/>
                          </a:solidFill>
                        </a:rPr>
                        <a:t>Og‘iz orqali (suitsid)</a:t>
                      </a:r>
                    </a:p>
                  </a:txBody>
                  <a:tcPr marL="73152" marR="73152" marT="36576" marB="36576">
                    <a:solidFill>
                      <a:srgbClr val="E8EEF6"/>
                    </a:solidFill>
                  </a:tcPr>
                </a:tc>
                <a:tc>
                  <a:txBody>
                    <a:bodyPr/>
                    <a:lstStyle/>
                    <a:p>
                      <a:r>
                        <a:rPr sz="1200" b="0">
                          <a:solidFill>
                            <a:srgbClr val="1F2937"/>
                          </a:solidFill>
                        </a:rPr>
                        <a:t>Tez (daqiqalar)</a:t>
                      </a:r>
                    </a:p>
                  </a:txBody>
                  <a:tcPr marL="73152" marR="73152" marT="36576" marB="36576">
                    <a:solidFill>
                      <a:srgbClr val="E8EEF6"/>
                    </a:solidFill>
                  </a:tcPr>
                </a:tc>
              </a:tr>
              <a:tr h="411480">
                <a:tc>
                  <a:txBody>
                    <a:bodyPr/>
                    <a:lstStyle/>
                    <a:p>
                      <a:r>
                        <a:rPr sz="1200" b="0">
                          <a:solidFill>
                            <a:srgbClr val="1F2937"/>
                          </a:solidFill>
                        </a:rPr>
                        <a:t>Malation, dimetoat</a:t>
                      </a:r>
                    </a:p>
                  </a:txBody>
                  <a:tcPr marL="73152" marR="73152" marT="36576" marB="36576">
                    <a:solidFill>
                      <a:srgbClr val="FFFFFF"/>
                    </a:solidFill>
                  </a:tcPr>
                </a:tc>
                <a:tc>
                  <a:txBody>
                    <a:bodyPr/>
                    <a:lstStyle/>
                    <a:p>
                      <a:r>
                        <a:rPr sz="1200" b="0">
                          <a:solidFill>
                            <a:srgbClr val="1F2937"/>
                          </a:solidFill>
                        </a:rPr>
                        <a:t>Og‘iz orqali (suitsid)</a:t>
                      </a:r>
                    </a:p>
                  </a:txBody>
                  <a:tcPr marL="73152" marR="73152" marT="36576" marB="36576">
                    <a:solidFill>
                      <a:srgbClr val="FFFFFF"/>
                    </a:solidFill>
                  </a:tcPr>
                </a:tc>
                <a:tc>
                  <a:txBody>
                    <a:bodyPr/>
                    <a:lstStyle/>
                    <a:p>
                      <a:r>
                        <a:rPr sz="1200" b="0">
                          <a:solidFill>
                            <a:srgbClr val="1F2937"/>
                          </a:solidFill>
                        </a:rPr>
                        <a:t>Kechikkan (soatlar)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Kirish yo‘li va boshlanishi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Worek et al., Organophosphorus compounds and oximes: a critical review, betlar: PMID 32506210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Tionlar: oksonga aylanish va yog‘da to‘planish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Tion (pro-zahar) turidagi fosfororganik birikma (FOB) o‘zi faol emas; faol oksonga aylanib toksik bo‘ladi.</a:t>
            </a:r>
          </a:p>
          <a:p>
            <a:pPr>
              <a:spcAft>
                <a:spcPts val="800"/>
              </a:spcAft>
            </a:pPr>
            <a:r>
              <a:rPr sz="1800">
                <a:solidFill>
                  <a:srgbClr val="1F2937"/>
                </a:solidFill>
                <a:latin typeface="Calibri"/>
              </a:rPr>
              <a:t>▸  Tionning oksonga aylanishi sitoxrom P450 fermenti orqali ketadi va zahar ta’sirining tezligiga ta’sir qiladi.</a:t>
            </a:r>
          </a:p>
          <a:p>
            <a:pPr>
              <a:spcAft>
                <a:spcPts val="800"/>
              </a:spcAft>
            </a:pPr>
            <a:r>
              <a:rPr sz="1800">
                <a:solidFill>
                  <a:srgbClr val="1F2937"/>
                </a:solidFill>
                <a:latin typeface="Calibri"/>
              </a:rPr>
              <a:t>▸  Fention kabi yog‘da eruvchi FOB yog‘ depolaridan kunlar, hatto haftalar davomida qonga sekin chiqadi.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Tion FOB og‘iz orqali ichiladi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Yog‘ depolarida to‘planadi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P450 orqali faol oksonga o‘tadi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Xolinesteraza (AChE) to‘silishi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Yog‘dan chiqib, belgilar qaytadi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Tion FOB: zaharlanish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Eddleston et al., Early management after self-poisoning with an organophosphorus or carbamate pesticide – a treatment protocol for junior doctors, betlar: PMID 15566582; Worek et al., Organophosphorus compounds and oximes: a critical review, betlar: PMID 32506210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fention ichgan bemor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bemor fention ichgach ko‘p o‘tmay keldi; miyoz va terlash yo‘q, o‘pka tiniq, xolinergik belgilar hali ko‘rinmaydi.</a:t>
            </a:r>
          </a:p>
          <a:p>
            <a:pPr>
              <a:spcAft>
                <a:spcPts val="1200"/>
              </a:spcAft>
            </a:pPr>
            <a:r>
              <a:rPr sz="2200">
                <a:solidFill>
                  <a:srgbClr val="1F2937"/>
                </a:solidFill>
                <a:latin typeface="Calibri"/>
              </a:rPr>
              <a:t>▸  Diqqat: belgisizlik ≠ xavfsizlik. Tion faollashishi va fention yog‘dan chiqishi bilan belgilar keyin paydo bo‘lishi mumkin.</a:t>
            </a:r>
          </a:p>
          <a:p>
            <a:pPr>
              <a:spcAft>
                <a:spcPts val="1200"/>
              </a:spcAft>
            </a:pPr>
            <a:r>
              <a:rPr sz="2200">
                <a:solidFill>
                  <a:srgbClr val="1F2937"/>
                </a:solidFill>
                <a:latin typeface="Calibri"/>
              </a:rPr>
              <a:t>▸  Belgilar bo‘lmasa atropin hozir kerak emas, ammo puxta kuzatuv shart; barqarorlashgach dastlabki 6 soat kamida soatiga bir marta ko‘rik.</a:t>
            </a:r>
          </a:p>
          <a:p>
            <a:pPr>
              <a:spcAft>
                <a:spcPts val="1200"/>
              </a:spcAft>
            </a:pPr>
            <a:r>
              <a:rPr sz="2200">
                <a:solidFill>
                  <a:srgbClr val="1F2937"/>
                </a:solidFill>
                <a:latin typeface="Calibri"/>
              </a:rPr>
              <a:t>▸  Savol: nega dastlabki “yengil” ko‘rinish aldamchi bo‘lishi mumkin va fention bilan qaytalanish xavfi nima uchun yuqori?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Eddleston et al., Early management after self-poisoning with an organophosphorus or carbamate pesticide – a treatment protocol for junior doctors, betlar: PMID 15566582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Xolinergik sindrom: muskarin va nikotin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Atsetilxolin parchalanmay qoladi; muskarin va nikotin retseptorlari haddan tashqari qo‘zg‘aladi.</a:t>
            </a:r>
          </a:p>
          <a:p>
            <a:pPr>
              <a:spcAft>
                <a:spcPts val="800"/>
              </a:spcAft>
            </a:pPr>
            <a:r>
              <a:rPr sz="1800">
                <a:solidFill>
                  <a:srgbClr val="1F2937"/>
                </a:solidFill>
                <a:latin typeface="Calibri"/>
              </a:rPr>
              <a:t>▸  Nikotin retseptorlari orqali xavfli periferik nafas bloki rivojlanishi mumkin; atropin buni bartaraf eta olmaydi.</a:t>
            </a:r>
          </a:p>
          <a:p>
            <a:pPr>
              <a:spcAft>
                <a:spcPts val="800"/>
              </a:spcAft>
            </a:pPr>
            <a:r>
              <a:rPr sz="1800">
                <a:solidFill>
                  <a:srgbClr val="1F2937"/>
                </a:solidFill>
                <a:latin typeface="Calibri"/>
              </a:rPr>
              <a:t>▸  Diqqat: bradikardiya majburiy emas; yurak urishi normal yoki hatto tez bo‘lishi ham mumkin.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19368"/>
                <a:gridCol w="2484711"/>
                <a:gridCol w="1783895"/>
              </a:tblGrid>
              <a:tr h="411480">
                <a:tc>
                  <a:txBody>
                    <a:bodyPr/>
                    <a:lstStyle/>
                    <a:p>
                      <a:r>
                        <a:rPr sz="1300" b="1">
                          <a:solidFill>
                            <a:srgbClr val="FFFFFF"/>
                          </a:solidFill>
                        </a:rPr>
                        <a:t>Reseptor</a:t>
                      </a:r>
                    </a:p>
                  </a:txBody>
                  <a:tcPr marL="73152" marR="73152" marT="36576" marB="36576">
                    <a:solidFill>
                      <a:srgbClr val="0B1F3A"/>
                    </a:solidFill>
                  </a:tcPr>
                </a:tc>
                <a:tc>
                  <a:txBody>
                    <a:bodyPr/>
                    <a:lstStyle/>
                    <a:p>
                      <a:r>
                        <a:rPr sz="1300" b="1">
                          <a:solidFill>
                            <a:srgbClr val="FFFFFF"/>
                          </a:solidFill>
                        </a:rPr>
                        <a:t>Belgilar</a:t>
                      </a:r>
                    </a:p>
                  </a:txBody>
                  <a:tcPr marL="73152" marR="73152" marT="36576" marB="36576">
                    <a:solidFill>
                      <a:srgbClr val="0B1F3A"/>
                    </a:solidFill>
                  </a:tcPr>
                </a:tc>
                <a:tc>
                  <a:txBody>
                    <a:bodyPr/>
                    <a:lstStyle/>
                    <a:p>
                      <a:r>
                        <a:rPr sz="1300" b="1">
                          <a:solidFill>
                            <a:srgbClr val="FFFFFF"/>
                          </a:solidFill>
                        </a:rPr>
                        <a:t>Atropin</a:t>
                      </a:r>
                    </a:p>
                  </a:txBody>
                  <a:tcPr marL="73152" marR="73152" marT="36576" marB="36576">
                    <a:solidFill>
                      <a:srgbClr val="0B1F3A"/>
                    </a:solidFill>
                  </a:tcPr>
                </a:tc>
              </a:tr>
              <a:tr h="411480">
                <a:tc>
                  <a:txBody>
                    <a:bodyPr/>
                    <a:lstStyle/>
                    <a:p>
                      <a:r>
                        <a:rPr sz="1200" b="0">
                          <a:solidFill>
                            <a:srgbClr val="1F2937"/>
                          </a:solidFill>
                        </a:rPr>
                        <a:t>Muskarin</a:t>
                      </a:r>
                    </a:p>
                  </a:txBody>
                  <a:tcPr marL="73152" marR="73152" marT="36576" marB="36576">
                    <a:solidFill>
                      <a:srgbClr val="E8EEF6"/>
                    </a:solidFill>
                  </a:tcPr>
                </a:tc>
                <a:tc>
                  <a:txBody>
                    <a:bodyPr/>
                    <a:lstStyle/>
                    <a:p>
                      <a:r>
                        <a:rPr sz="1200" b="0">
                          <a:solidFill>
                            <a:srgbClr val="1F2937"/>
                          </a:solidFill>
                        </a:rPr>
                        <a:t>Bronxoreya, bronxospazm, bradikardiya</a:t>
                      </a:r>
                    </a:p>
                  </a:txBody>
                  <a:tcPr marL="73152" marR="73152" marT="36576" marB="36576">
                    <a:solidFill>
                      <a:srgbClr val="E8EEF6"/>
                    </a:solidFill>
                  </a:tcPr>
                </a:tc>
                <a:tc>
                  <a:txBody>
                    <a:bodyPr/>
                    <a:lstStyle/>
                    <a:p>
                      <a:r>
                        <a:rPr sz="1200" b="0">
                          <a:solidFill>
                            <a:srgbClr val="1F2937"/>
                          </a:solidFill>
                        </a:rPr>
                        <a:t>Kamaytiradi</a:t>
                      </a:r>
                    </a:p>
                  </a:txBody>
                  <a:tcPr marL="73152" marR="73152" marT="36576" marB="36576">
                    <a:solidFill>
                      <a:srgbClr val="E8EEF6"/>
                    </a:solidFill>
                  </a:tcPr>
                </a:tc>
              </a:tr>
              <a:tr h="411480">
                <a:tc>
                  <a:txBody>
                    <a:bodyPr/>
                    <a:lstStyle/>
                    <a:p>
                      <a:r>
                        <a:rPr sz="1200" b="0">
                          <a:solidFill>
                            <a:srgbClr val="1F2937"/>
                          </a:solidFill>
                        </a:rPr>
                        <a:t>Muskarin</a:t>
                      </a:r>
                    </a:p>
                  </a:txBody>
                  <a:tcPr marL="73152" marR="73152" marT="36576" marB="36576">
                    <a:solidFill>
                      <a:srgbClr val="FFFFFF"/>
                    </a:solidFill>
                  </a:tcPr>
                </a:tc>
                <a:tc>
                  <a:txBody>
                    <a:bodyPr/>
                    <a:lstStyle/>
                    <a:p>
                      <a:r>
                        <a:rPr sz="1200" b="0">
                          <a:solidFill>
                            <a:srgbClr val="1F2937"/>
                          </a:solidFill>
                        </a:rPr>
                        <a:t>Miyoz, so‘lak oqishi, terlash</a:t>
                      </a:r>
                    </a:p>
                  </a:txBody>
                  <a:tcPr marL="73152" marR="73152" marT="36576" marB="36576">
                    <a:solidFill>
                      <a:srgbClr val="FFFFFF"/>
                    </a:solidFill>
                  </a:tcPr>
                </a:tc>
                <a:tc>
                  <a:txBody>
                    <a:bodyPr/>
                    <a:lstStyle/>
                    <a:p>
                      <a:r>
                        <a:rPr sz="1200" b="0">
                          <a:solidFill>
                            <a:srgbClr val="1F2937"/>
                          </a:solidFill>
                        </a:rPr>
                        <a:t>Miyoz kech kengayishi mumkin</a:t>
                      </a:r>
                    </a:p>
                  </a:txBody>
                  <a:tcPr marL="73152" marR="73152" marT="36576" marB="36576">
                    <a:solidFill>
                      <a:srgbClr val="FFFFFF"/>
                    </a:solidFill>
                  </a:tcPr>
                </a:tc>
              </a:tr>
              <a:tr h="411480">
                <a:tc>
                  <a:txBody>
                    <a:bodyPr/>
                    <a:lstStyle/>
                    <a:p>
                      <a:r>
                        <a:rPr sz="1200" b="0">
                          <a:solidFill>
                            <a:srgbClr val="1F2937"/>
                          </a:solidFill>
                        </a:rPr>
                        <a:t>Nikotin</a:t>
                      </a:r>
                    </a:p>
                  </a:txBody>
                  <a:tcPr marL="73152" marR="73152" marT="36576" marB="36576">
                    <a:solidFill>
                      <a:srgbClr val="E8EEF6"/>
                    </a:solidFill>
                  </a:tcPr>
                </a:tc>
                <a:tc>
                  <a:txBody>
                    <a:bodyPr/>
                    <a:lstStyle/>
                    <a:p>
                      <a:r>
                        <a:rPr sz="1200" b="0">
                          <a:solidFill>
                            <a:srgbClr val="1F2937"/>
                          </a:solidFill>
                        </a:rPr>
                        <a:t>Fassikulyatsiya, mushak zaifligi, falaj</a:t>
                      </a:r>
                    </a:p>
                  </a:txBody>
                  <a:tcPr marL="73152" marR="73152" marT="36576" marB="36576">
                    <a:solidFill>
                      <a:srgbClr val="E8EEF6"/>
                    </a:solidFill>
                  </a:tcPr>
                </a:tc>
                <a:tc>
                  <a:txBody>
                    <a:bodyPr/>
                    <a:lstStyle/>
                    <a:p>
                      <a:r>
                        <a:rPr sz="1200" b="0">
                          <a:solidFill>
                            <a:srgbClr val="1F2937"/>
                          </a:solidFill>
                        </a:rPr>
                        <a:t>Ta’sir qilmaydi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Xolinergik sindrom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Ramadori et al., Organophosphorus Poisoning: Acute Respiratory Distress Syndrome, betlar: PMID 37047631; Worek et al., Organophosphorus compounds and oximes: a critical review, betlar: PMID 32506210; Eddleston et al., Early management after self-poisoning with an organophosphorus or carbamate pesticide – a treatment protocol for junior doctors, betlar: PMID 15566582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Besh asosiy klinik belgi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Kundalik baholashda besh belgi: miyoz, ko‘p terlash, o‘pkaga havo kirishi yomonlashuvi, bradikardiya, gipotenziya.</a:t>
            </a:r>
          </a:p>
          <a:p>
            <a:pPr>
              <a:spcAft>
                <a:spcPts val="800"/>
              </a:spcAft>
            </a:pPr>
            <a:r>
              <a:rPr sz="1800">
                <a:solidFill>
                  <a:srgbClr val="1F2937"/>
                </a:solidFill>
                <a:latin typeface="Calibri"/>
              </a:rPr>
              <a:t>▸  Og‘ir bemor terga botgan, qorachig‘i nuqtadek; miyoz va ter atropin kerakligini bildiradi.</a:t>
            </a:r>
          </a:p>
          <a:p>
            <a:pPr>
              <a:spcAft>
                <a:spcPts val="800"/>
              </a:spcAft>
            </a:pPr>
            <a:r>
              <a:rPr sz="1800">
                <a:solidFill>
                  <a:srgbClr val="1F2937"/>
                </a:solidFill>
                <a:latin typeface="Calibri"/>
              </a:rPr>
              <a:t>▸  Diqqat: bradikardiya ≠ majburiy belgi. Yurak urishi normal yoki tez ham bo‘lishi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Miyoz (nuqtadek qorachiq)</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Ko‘p terlash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Bronxoreya, bronxospazm</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Bradikardiya (har doim emas)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Gipotenziya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Kolinergik sindromning 5 belgisi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Eddleston et al., Early management after self-poisoning with an organophosphorus or carbamate pesticide – a treatment protocol for junior doctors, betlar: PMID 15566582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Og‘irlik baholash va beqarorlik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Zaharlangan bemorlar beqaror: yengil zaharlanish ham tez og‘ir holatga o‘tib, kasal ahvoli keskin yomonlashishi mumkin.</a:t>
            </a:r>
          </a:p>
          <a:p>
            <a:pPr>
              <a:spcAft>
                <a:spcPts val="1200"/>
              </a:spcAft>
            </a:pPr>
            <a:r>
              <a:rPr sz="2200">
                <a:solidFill>
                  <a:srgbClr val="1F2937"/>
                </a:solidFill>
                <a:latin typeface="Calibri"/>
              </a:rPr>
              <a:t>▸  Mualliflar tasdiqlanmagan og‘irlik shkalalaridan foydalanmagan. Dastlabki ‘yengil’ ball shifokorni xotirjam qilib qo‘yishi mumkin; xalqaro IPCS/EC/EAPCCT shkalasi faqat retrospektiv qo‘llanadi.</a:t>
            </a:r>
          </a:p>
          <a:p>
            <a:pPr>
              <a:spcAft>
                <a:spcPts val="1200"/>
              </a:spcAft>
            </a:pPr>
            <a:r>
              <a:rPr sz="2200">
                <a:solidFill>
                  <a:srgbClr val="1F2937"/>
                </a:solidFill>
                <a:latin typeface="Calibri"/>
              </a:rPr>
              <a:t>▸  POP shkalasi og‘irlikni faqat klinik simptomlarga qarab darajalaydi va hozir ham amalda yaroqli hisoblanadi.</a:t>
            </a:r>
          </a:p>
          <a:p>
            <a:pPr>
              <a:spcAft>
                <a:spcPts val="1200"/>
              </a:spcAft>
            </a:pPr>
            <a:r>
              <a:rPr sz="2200">
                <a:solidFill>
                  <a:srgbClr val="1F2937"/>
                </a:solidFill>
                <a:latin typeface="Calibri"/>
              </a:rPr>
              <a:t>▸  Markaziy qoida: shoshilinch davo klinik belgilarga qarab tanlanadi, qabul qilingan zahar nomiga emas; tahlillar palatada bajarilmaydi.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Eddleston et al., Early management after self-poisoning with an organophosphorus or carbamate pesticide – a treatment protocol for junior doctors, betlar: PMID 15566582; Ramadori et al., Organophosphorus Poisoning: Acute Respiratory Distress Syndrome, betlar: PMID 37047631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Oraliq sindrom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Erta belgi: bo‘yin bukuvchilar zaifligi — bemor boshini yostiqdan ko‘tarishda qiynaladi.</a:t>
            </a:r>
          </a:p>
          <a:p>
            <a:pPr>
              <a:spcAft>
                <a:spcPts val="800"/>
              </a:spcAft>
            </a:pPr>
            <a:r>
              <a:rPr sz="1800">
                <a:solidFill>
                  <a:srgbClr val="1F2937"/>
                </a:solidFill>
                <a:latin typeface="Calibri"/>
              </a:rPr>
              <a:t>▸  Keyin nafas mushaklari ishga tushadi, kranial nervlar falaji; proksimal zaiflik, distal kuch saqlanadi.</a:t>
            </a:r>
          </a:p>
          <a:p>
            <a:pPr>
              <a:spcAft>
                <a:spcPts val="800"/>
              </a:spcAft>
            </a:pPr>
            <a:r>
              <a:rPr sz="1800">
                <a:solidFill>
                  <a:srgbClr val="1F2937"/>
                </a:solidFill>
                <a:latin typeface="Calibri"/>
              </a:rPr>
              <a:t>▸  Bo‘yin zaifligi bor hamma bemorda to‘liq sindrom bo‘lmaydi, lekin ular xavf ostida — muntazam kuzating.</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Bo‘yin bukuvchilar zaifligi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Yordamchi nafas mushaklari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Burun qanoti, taxipnoe, ter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Kranial nerv falaji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Proksimal zaiflik</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Oraliq sindrom belgilarining kechishi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Eddleston et al., Early management after self-poisoning with an organophosphorus or carbamate pesticide – a treatment protocol for junior doctors, betlar: PMID 15566582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klinika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bemor terga botgan, qorachiqlari nina uchidek, nafasi og‘ir va xirillaydi. Unga atropin kerakmi?</a:t>
            </a:r>
          </a:p>
          <a:p>
            <a:pPr>
              <a:spcAft>
                <a:spcPts val="1200"/>
              </a:spcAft>
            </a:pPr>
            <a:r>
              <a:rPr sz="2200">
                <a:solidFill>
                  <a:srgbClr val="1F2937"/>
                </a:solidFill>
                <a:latin typeface="Calibri"/>
              </a:rPr>
              <a:t>▸  Javob: ha. Nina uchidek qorachiq (miyoz) va ko‘p ter fosfororganik birikma (FOB) yoki karbamatni ko‘rsatadi, atropin kerak.</a:t>
            </a:r>
          </a:p>
          <a:p>
            <a:pPr>
              <a:spcAft>
                <a:spcPts val="1200"/>
              </a:spcAft>
            </a:pPr>
            <a:r>
              <a:rPr sz="2200">
                <a:solidFill>
                  <a:srgbClr val="1F2937"/>
                </a:solidFill>
                <a:latin typeface="Calibri"/>
              </a:rPr>
              <a:t>▸  Atropin kerakligini baholashda beshta belgi: miyoz, ter, bronxoreya va bronxospazm, bradikardiya, gipotenziya.</a:t>
            </a:r>
          </a:p>
          <a:p>
            <a:pPr>
              <a:spcAft>
                <a:spcPts val="1200"/>
              </a:spcAft>
            </a:pPr>
            <a:r>
              <a:rPr sz="2200">
                <a:solidFill>
                  <a:srgbClr val="1F2937"/>
                </a:solidFill>
                <a:latin typeface="Calibri"/>
              </a:rPr>
              <a:t>▸  Diqqat: yurak urishi sekinlashishi mumkin, lekin normal yoki tez bo‘lishi ham ko‘p uchraydi. Bradikardiyani shart deb kutmang.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Eddleston et al., Early management after self-poisoning with an organophosphorus or carbamate pesticide – a treatment protocol for junior doctors, betlar: PMID 15566582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bo‘yin zaifligi bo‘lgan bemor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FOB bilan zaharlangan bemor dastlabki yordamdan keyin boshini yostiqdan ko‘tara olmayapti. Qanday xavf bor?</a:t>
            </a:r>
          </a:p>
          <a:p>
            <a:pPr>
              <a:spcAft>
                <a:spcPts val="1200"/>
              </a:spcAft>
            </a:pPr>
            <a:r>
              <a:rPr sz="2200">
                <a:solidFill>
                  <a:srgbClr val="1F2937"/>
                </a:solidFill>
                <a:latin typeface="Calibri"/>
              </a:rPr>
              <a:t>▸  Bo‘yin bukuvchilar zaifligi oraliq sindromning erta belgisi. Keyin yordamchi nafas mushaklari, burun qanotlari kengayishi, tez nafas, ter, bosh miya nervlari falajligi qo‘shiladi.</a:t>
            </a:r>
          </a:p>
          <a:p>
            <a:pPr>
              <a:spcAft>
                <a:spcPts val="1200"/>
              </a:spcAft>
            </a:pPr>
            <a:r>
              <a:rPr sz="2200">
                <a:solidFill>
                  <a:srgbClr val="1F2937"/>
                </a:solidFill>
                <a:latin typeface="Calibri"/>
              </a:rPr>
              <a:t>▸  Qo‘l-oyoqda proksimal mushaklar zaiflashadi, distal mushak kuchi saqlanadi. Bu bemor nafas yetishmovchiligi xavfida ekanini bildiradi.</a:t>
            </a:r>
          </a:p>
          <a:p>
            <a:pPr>
              <a:spcAft>
                <a:spcPts val="1200"/>
              </a:spcAft>
            </a:pPr>
            <a:r>
              <a:rPr sz="2200">
                <a:solidFill>
                  <a:srgbClr val="1F2937"/>
                </a:solidFill>
                <a:latin typeface="Calibri"/>
              </a:rPr>
              <a:t>▸  Harakat: bemorni muntazam kuzating, nafas hajmi va qon gazlarini o‘lchang. Kelishilgan chegarada profilaktik sedatsiya va intubatsiya qiling.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Eddleston et al., Early management after self-poisoning with an organophosphorus or carbamate pesticide – a treatment protocol for junior doctors, betlar: PMID 15566582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Dastlabki yordam: ABC va himoya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Imkon bo‘lsa yuqori oqimli kislorod bering. Havo yo‘li Guedel naychasi bilan ochiq tursin.</a:t>
            </a:r>
          </a:p>
          <a:p>
            <a:pPr>
              <a:spcAft>
                <a:spcPts val="800"/>
              </a:spcAft>
            </a:pPr>
            <a:r>
              <a:rPr sz="1800">
                <a:solidFill>
                  <a:srgbClr val="1F2937"/>
                </a:solidFill>
                <a:latin typeface="Calibri"/>
              </a:rPr>
              <a:t>▸  Chap yon holat, bosh past: aspiratsiya xavfi kamayadi. Tutqanoq bo‘lsa darhol tomir ichiga diazepam bering.</a:t>
            </a:r>
          </a:p>
          <a:p>
            <a:pPr>
              <a:spcAft>
                <a:spcPts val="800"/>
              </a:spcAft>
            </a:pPr>
            <a:r>
              <a:rPr sz="1800">
                <a:solidFill>
                  <a:srgbClr val="1F2937"/>
                </a:solidFill>
                <a:latin typeface="Calibri"/>
              </a:rPr>
              <a:t>▸  Hushsiz bemorga endotraxeal (ET) naycha qo‘ying; o‘limning ko‘pi nafas yetishmovchiligidan.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ABC tekshiruvi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Kislorod, Guedel yo‘li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Chap yon holat, bosh pastda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Tutqanoqda tomirga diazepam</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Glazgo shkalasi + pulsoksimetr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Dastlabki yordam tartibi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Eddleston et al., Early management after self-poisoning with an organophosphorus or carbamate pesticide – a treatment protocol for junior doctors, betlar: PMID 15566582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Atropin: yuklash va titrlash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Hushsiz bemorga 1,8–3 mg atropin tez vena ichiga, tez oqayotgan tomchi tizimiga yuboriladi.</a:t>
            </a:r>
          </a:p>
          <a:p>
            <a:pPr>
              <a:spcAft>
                <a:spcPts val="800"/>
              </a:spcAft>
            </a:pPr>
            <a:r>
              <a:rPr sz="1800">
                <a:solidFill>
                  <a:srgbClr val="1F2937"/>
                </a:solidFill>
                <a:latin typeface="Calibri"/>
              </a:rPr>
              <a:t>▸  3–5 daqiqadan so‘ng belgilar baholanadi. Maqsad: toza o‘pka, puls &gt;80/daq, sistolik bosim &gt;80 mm sim. ust.</a:t>
            </a:r>
          </a:p>
          <a:p>
            <a:pPr>
              <a:spcAft>
                <a:spcPts val="800"/>
              </a:spcAft>
            </a:pPr>
            <a:r>
              <a:rPr sz="1800">
                <a:solidFill>
                  <a:srgbClr val="1F2937"/>
                </a:solidFill>
                <a:latin typeface="Calibri"/>
              </a:rPr>
              <a:t>▸  Diqqat: javob bo‘lmasa oldingi dozani takrorlamang, ikki hissa oshiring; so‘ng infuziyaga o‘ting.</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Atropin 1,8–3 mg vena ichiga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3–5 daqiqada 5 belgini baholash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Javob yo‘q: doza ×2</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Atropinizatsiya erishildi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Infuziya: 10–20%/soat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Atropinizatsiya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Eddleston et al., Early management after self-poisoning with an organophosphorus or carbamate pesticide – a treatment protocol for junior doctors, betlar: PMID 15566582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Atropin toksikligi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Ortiqcha atropin: qo‘zg‘alish, chalkashlik, siydik tutilishi, gipertermiya, ichak parezi va taxikardiya.</a:t>
            </a:r>
          </a:p>
          <a:p>
            <a:pPr>
              <a:spcAft>
                <a:spcPts val="800"/>
              </a:spcAft>
            </a:pPr>
            <a:r>
              <a:rPr sz="1800">
                <a:solidFill>
                  <a:srgbClr val="1F2937"/>
                </a:solidFill>
                <a:latin typeface="Calibri"/>
              </a:rPr>
              <a:t>▸  Uch belgi (chalkashlik, isitma, ichak tovushi yo‘q) birga bo‘lsa, infuziya to‘xtatiladi va 30 daqiqada qayta ko‘riladi. (?)</a:t>
            </a:r>
          </a:p>
          <a:p>
            <a:pPr>
              <a:spcAft>
                <a:spcPts val="800"/>
              </a:spcAft>
            </a:pPr>
            <a:r>
              <a:rPr sz="1800">
                <a:solidFill>
                  <a:srgbClr val="1F2937"/>
                </a:solidFill>
                <a:latin typeface="Calibri"/>
              </a:rPr>
              <a:t>▸  Belgilar o‘tgach infuziya oldingi tezlikning 70–80% ida qayta boshlanadi; isitma faol sovitiladi.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244229"/>
                <a:gridCol w="1944108"/>
                <a:gridCol w="209963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Atropin ko‘p</a:t>
                      </a:r>
                    </a:p>
                  </a:txBody>
                  <a:tcPr marL="73152" marR="73152" marT="36576" marB="36576">
                    <a:solidFill>
                      <a:srgbClr val="0B1F3A"/>
                    </a:solidFill>
                  </a:tcPr>
                </a:tc>
                <a:tc>
                  <a:txBody>
                    <a:bodyPr/>
                    <a:lstStyle/>
                    <a:p>
                      <a:r>
                        <a:rPr sz="1300" b="1">
                          <a:solidFill>
                            <a:srgbClr val="FFFFFF"/>
                          </a:solidFill>
                        </a:rPr>
                        <a:t>FOB ta’siri</a:t>
                      </a:r>
                    </a:p>
                  </a:txBody>
                  <a:tcPr marL="73152" marR="73152" marT="36576" marB="36576">
                    <a:solidFill>
                      <a:srgbClr val="0B1F3A"/>
                    </a:solidFill>
                  </a:tcPr>
                </a:tc>
              </a:tr>
              <a:tr h="411480">
                <a:tc>
                  <a:txBody>
                    <a:bodyPr/>
                    <a:lstStyle/>
                    <a:p>
                      <a:r>
                        <a:rPr sz="1200" b="0">
                          <a:solidFill>
                            <a:srgbClr val="1F2937"/>
                          </a:solidFill>
                        </a:rPr>
                        <a:t>Ichak</a:t>
                      </a:r>
                    </a:p>
                  </a:txBody>
                  <a:tcPr marL="73152" marR="73152" marT="36576" marB="36576">
                    <a:solidFill>
                      <a:srgbClr val="E8EEF6"/>
                    </a:solidFill>
                  </a:tcPr>
                </a:tc>
                <a:tc>
                  <a:txBody>
                    <a:bodyPr/>
                    <a:lstStyle/>
                    <a:p>
                      <a:r>
                        <a:rPr sz="1200" b="0">
                          <a:solidFill>
                            <a:srgbClr val="1F2937"/>
                          </a:solidFill>
                        </a:rPr>
                        <a:t>Ichak parezi, tovush yo‘q</a:t>
                      </a:r>
                    </a:p>
                  </a:txBody>
                  <a:tcPr marL="73152" marR="73152" marT="36576" marB="36576">
                    <a:solidFill>
                      <a:srgbClr val="E8EEF6"/>
                    </a:solidFill>
                  </a:tcPr>
                </a:tc>
                <a:tc>
                  <a:txBody>
                    <a:bodyPr/>
                    <a:lstStyle/>
                    <a:p>
                      <a:r>
                        <a:rPr sz="1200" b="0">
                          <a:solidFill>
                            <a:srgbClr val="1F2937"/>
                          </a:solidFill>
                        </a:rPr>
                        <a:t>Diareya, qusish</a:t>
                      </a:r>
                    </a:p>
                  </a:txBody>
                  <a:tcPr marL="73152" marR="73152" marT="36576" marB="36576">
                    <a:solidFill>
                      <a:srgbClr val="E8EEF6"/>
                    </a:solidFill>
                  </a:tcPr>
                </a:tc>
              </a:tr>
              <a:tr h="411480">
                <a:tc>
                  <a:txBody>
                    <a:bodyPr/>
                    <a:lstStyle/>
                    <a:p>
                      <a:r>
                        <a:rPr sz="1200" b="0">
                          <a:solidFill>
                            <a:srgbClr val="1F2937"/>
                          </a:solidFill>
                        </a:rPr>
                        <a:t>Ter</a:t>
                      </a:r>
                    </a:p>
                  </a:txBody>
                  <a:tcPr marL="73152" marR="73152" marT="36576" marB="36576">
                    <a:solidFill>
                      <a:srgbClr val="FFFFFF"/>
                    </a:solidFill>
                  </a:tcPr>
                </a:tc>
                <a:tc>
                  <a:txBody>
                    <a:bodyPr/>
                    <a:lstStyle/>
                    <a:p>
                      <a:r>
                        <a:rPr sz="1200" b="0">
                          <a:solidFill>
                            <a:srgbClr val="1F2937"/>
                          </a:solidFill>
                        </a:rPr>
                        <a:t>Terlash to‘xtaydi</a:t>
                      </a:r>
                    </a:p>
                  </a:txBody>
                  <a:tcPr marL="73152" marR="73152" marT="36576" marB="36576">
                    <a:solidFill>
                      <a:srgbClr val="FFFFFF"/>
                    </a:solidFill>
                  </a:tcPr>
                </a:tc>
                <a:tc>
                  <a:txBody>
                    <a:bodyPr/>
                    <a:lstStyle/>
                    <a:p>
                      <a:r>
                        <a:rPr sz="1200" b="0">
                          <a:solidFill>
                            <a:srgbClr val="1F2937"/>
                          </a:solidFill>
                        </a:rPr>
                        <a:t>Ko‘p terlash</a:t>
                      </a:r>
                    </a:p>
                  </a:txBody>
                  <a:tcPr marL="73152" marR="73152" marT="36576" marB="36576">
                    <a:solidFill>
                      <a:srgbClr val="FFFFFF"/>
                    </a:solidFill>
                  </a:tcPr>
                </a:tc>
              </a:tr>
              <a:tr h="411480">
                <a:tc>
                  <a:txBody>
                    <a:bodyPr/>
                    <a:lstStyle/>
                    <a:p>
                      <a:r>
                        <a:rPr sz="1200" b="0">
                          <a:solidFill>
                            <a:srgbClr val="1F2937"/>
                          </a:solidFill>
                        </a:rPr>
                        <a:t>Ong</a:t>
                      </a:r>
                    </a:p>
                  </a:txBody>
                  <a:tcPr marL="73152" marR="73152" marT="36576" marB="36576">
                    <a:solidFill>
                      <a:srgbClr val="E8EEF6"/>
                    </a:solidFill>
                  </a:tcPr>
                </a:tc>
                <a:tc>
                  <a:txBody>
                    <a:bodyPr/>
                    <a:lstStyle/>
                    <a:p>
                      <a:r>
                        <a:rPr sz="1200" b="0">
                          <a:solidFill>
                            <a:srgbClr val="1F2937"/>
                          </a:solidFill>
                        </a:rPr>
                        <a:t>Qo‘zg‘alish, chalkashlik</a:t>
                      </a:r>
                    </a:p>
                  </a:txBody>
                  <a:tcPr marL="73152" marR="73152" marT="36576" marB="36576">
                    <a:solidFill>
                      <a:srgbClr val="E8EEF6"/>
                    </a:solidFill>
                  </a:tcPr>
                </a:tc>
                <a:tc>
                  <a:txBody>
                    <a:bodyPr/>
                    <a:lstStyle/>
                    <a:p>
                      <a:r>
                        <a:rPr sz="1200" b="0">
                          <a:solidFill>
                            <a:srgbClr val="1F2937"/>
                          </a:solidFill>
                        </a:rPr>
                        <a:t>Hushni yo‘qotish</a:t>
                      </a:r>
                    </a:p>
                  </a:txBody>
                  <a:tcPr marL="73152" marR="73152" marT="36576" marB="36576">
                    <a:solidFill>
                      <a:srgbClr val="E8EEF6"/>
                    </a:solidFill>
                  </a:tcPr>
                </a:tc>
              </a:tr>
              <a:tr h="411480">
                <a:tc>
                  <a:txBody>
                    <a:bodyPr/>
                    <a:lstStyle/>
                    <a:p>
                      <a:r>
                        <a:rPr sz="1200" b="0">
                          <a:solidFill>
                            <a:srgbClr val="1F2937"/>
                          </a:solidFill>
                        </a:rPr>
                        <a:t>Yurak</a:t>
                      </a:r>
                    </a:p>
                  </a:txBody>
                  <a:tcPr marL="73152" marR="73152" marT="36576" marB="36576">
                    <a:solidFill>
                      <a:srgbClr val="FFFFFF"/>
                    </a:solidFill>
                  </a:tcPr>
                </a:tc>
                <a:tc>
                  <a:txBody>
                    <a:bodyPr/>
                    <a:lstStyle/>
                    <a:p>
                      <a:r>
                        <a:rPr sz="1200" b="0">
                          <a:solidFill>
                            <a:srgbClr val="1F2937"/>
                          </a:solidFill>
                        </a:rPr>
                        <a:t>Taxikardiya</a:t>
                      </a:r>
                    </a:p>
                  </a:txBody>
                  <a:tcPr marL="73152" marR="73152" marT="36576" marB="36576">
                    <a:solidFill>
                      <a:srgbClr val="FFFFFF"/>
                    </a:solidFill>
                  </a:tcPr>
                </a:tc>
                <a:tc>
                  <a:txBody>
                    <a:bodyPr/>
                    <a:lstStyle/>
                    <a:p>
                      <a:r>
                        <a:rPr sz="1200" b="0">
                          <a:solidFill>
                            <a:srgbClr val="1F2937"/>
                          </a:solidFill>
                        </a:rPr>
                        <a:t>Bradikardiya, ba’zan normal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Atropin ko‘pligi va FOB ta’siri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Eddleston et al., Early management after self-poisoning with an organophosphorus or carbamate pesticide – a treatment protocol for junior doctors, betlar: PMID 15566582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Oksimlar: foydasi va cheklovlari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Pralidoksim va obidoksim FOB bilan ingibirlangan atsetilxolinesterazani (AChE) qayta faollaydi.</a:t>
            </a:r>
          </a:p>
          <a:p>
            <a:pPr>
              <a:spcAft>
                <a:spcPts val="800"/>
              </a:spcAft>
            </a:pPr>
            <a:r>
              <a:rPr sz="1800">
                <a:solidFill>
                  <a:srgbClr val="1F2937"/>
                </a:solidFill>
                <a:latin typeface="Calibri"/>
              </a:rPr>
              <a:t>▸  Atropin faqat muskarin belgilarini bosadi; nikotin retseptorlaridagi nafas bloki uchun oksim kerak.</a:t>
            </a:r>
          </a:p>
          <a:p>
            <a:pPr>
              <a:spcAft>
                <a:spcPts val="800"/>
              </a:spcAft>
            </a:pPr>
            <a:r>
              <a:rPr sz="1800">
                <a:solidFill>
                  <a:srgbClr val="1F2937"/>
                </a:solidFill>
                <a:latin typeface="Calibri"/>
              </a:rPr>
              <a:t>▸  Foydasi bahsli: FOB turi, zahar yuki, boshlash vaqti va doza cheklaydi; karbamatda tavsiya yo‘q.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552815"/>
                <a:gridCol w="2735159"/>
              </a:tblGrid>
              <a:tr h="411480">
                <a:tc>
                  <a:txBody>
                    <a:bodyPr/>
                    <a:lstStyle/>
                    <a:p>
                      <a:r>
                        <a:rPr sz="1400" b="1">
                          <a:solidFill>
                            <a:srgbClr val="FFFFFF"/>
                          </a:solidFill>
                        </a:rPr>
                        <a:t>Cheklov</a:t>
                      </a:r>
                    </a:p>
                  </a:txBody>
                  <a:tcPr marL="73152" marR="73152" marT="36576" marB="36576">
                    <a:solidFill>
                      <a:srgbClr val="0B1F3A"/>
                    </a:solidFill>
                  </a:tcPr>
                </a:tc>
                <a:tc>
                  <a:txBody>
                    <a:bodyPr/>
                    <a:lstStyle/>
                    <a:p>
                      <a:r>
                        <a:rPr sz="1400" b="1">
                          <a:solidFill>
                            <a:srgbClr val="FFFFFF"/>
                          </a:solidFill>
                        </a:rPr>
                        <a:t>Oqibat</a:t>
                      </a:r>
                    </a:p>
                  </a:txBody>
                  <a:tcPr marL="73152" marR="73152" marT="36576" marB="36576">
                    <a:solidFill>
                      <a:srgbClr val="0B1F3A"/>
                    </a:solidFill>
                  </a:tcPr>
                </a:tc>
              </a:tr>
              <a:tr h="411480">
                <a:tc>
                  <a:txBody>
                    <a:bodyPr/>
                    <a:lstStyle/>
                    <a:p>
                      <a:r>
                        <a:rPr sz="1300" b="0">
                          <a:solidFill>
                            <a:srgbClr val="1F2937"/>
                          </a:solidFill>
                        </a:rPr>
                        <a:t>Mega-doza zaharlanish</a:t>
                      </a:r>
                    </a:p>
                  </a:txBody>
                  <a:tcPr marL="73152" marR="73152" marT="36576" marB="36576">
                    <a:solidFill>
                      <a:srgbClr val="E8EEF6"/>
                    </a:solidFill>
                  </a:tcPr>
                </a:tc>
                <a:tc>
                  <a:txBody>
                    <a:bodyPr/>
                    <a:lstStyle/>
                    <a:p>
                      <a:r>
                        <a:rPr sz="1300" b="0">
                          <a:solidFill>
                            <a:srgbClr val="1F2937"/>
                          </a:solidFill>
                        </a:rPr>
                        <a:t>Sof reaktivatsiya juda kam</a:t>
                      </a:r>
                    </a:p>
                  </a:txBody>
                  <a:tcPr marL="73152" marR="73152" marT="36576" marB="36576">
                    <a:solidFill>
                      <a:srgbClr val="E8EEF6"/>
                    </a:solidFill>
                  </a:tcPr>
                </a:tc>
              </a:tr>
              <a:tr h="411480">
                <a:tc>
                  <a:txBody>
                    <a:bodyPr/>
                    <a:lstStyle/>
                    <a:p>
                      <a:r>
                        <a:rPr sz="1300" b="0">
                          <a:solidFill>
                            <a:srgbClr val="1F2937"/>
                          </a:solidFill>
                        </a:rPr>
                        <a:t>Kech boshlash</a:t>
                      </a:r>
                    </a:p>
                  </a:txBody>
                  <a:tcPr marL="73152" marR="73152" marT="36576" marB="36576">
                    <a:solidFill>
                      <a:srgbClr val="FFFFFF"/>
                    </a:solidFill>
                  </a:tcPr>
                </a:tc>
                <a:tc>
                  <a:txBody>
                    <a:bodyPr/>
                    <a:lstStyle/>
                    <a:p>
                      <a:r>
                        <a:rPr sz="1300" b="0">
                          <a:solidFill>
                            <a:srgbClr val="1F2937"/>
                          </a:solidFill>
                        </a:rPr>
                        <a:t>AChE qarigan, oksim ta’sirsiz</a:t>
                      </a:r>
                    </a:p>
                  </a:txBody>
                  <a:tcPr marL="73152" marR="73152" marT="36576" marB="36576">
                    <a:solidFill>
                      <a:srgbClr val="FFFFFF"/>
                    </a:solidFill>
                  </a:tcPr>
                </a:tc>
              </a:tr>
              <a:tr h="411480">
                <a:tc>
                  <a:txBody>
                    <a:bodyPr/>
                    <a:lstStyle/>
                    <a:p>
                      <a:r>
                        <a:rPr sz="1300" b="0">
                          <a:solidFill>
                            <a:srgbClr val="1F2937"/>
                          </a:solidFill>
                        </a:rPr>
                        <a:t>Reaktivatsiyaga chidamli FOB</a:t>
                      </a:r>
                    </a:p>
                  </a:txBody>
                  <a:tcPr marL="73152" marR="73152" marT="36576" marB="36576">
                    <a:solidFill>
                      <a:srgbClr val="E8EEF6"/>
                    </a:solidFill>
                  </a:tcPr>
                </a:tc>
                <a:tc>
                  <a:txBody>
                    <a:bodyPr/>
                    <a:lstStyle/>
                    <a:p>
                      <a:r>
                        <a:rPr sz="1300" b="0">
                          <a:solidFill>
                            <a:srgbClr val="1F2937"/>
                          </a:solidFill>
                        </a:rPr>
                        <a:t>Soman: tez qarish, ta’sir yo‘q</a:t>
                      </a:r>
                    </a:p>
                  </a:txBody>
                  <a:tcPr marL="73152" marR="73152" marT="36576" marB="36576">
                    <a:solidFill>
                      <a:srgbClr val="E8EEF6"/>
                    </a:solidFill>
                  </a:tcPr>
                </a:tc>
              </a:tr>
              <a:tr h="411480">
                <a:tc>
                  <a:txBody>
                    <a:bodyPr/>
                    <a:lstStyle/>
                    <a:p>
                      <a:r>
                        <a:rPr sz="1300" b="0">
                          <a:solidFill>
                            <a:srgbClr val="1F2937"/>
                          </a:solidFill>
                        </a:rPr>
                        <a:t>Karbamatlar</a:t>
                      </a:r>
                    </a:p>
                  </a:txBody>
                  <a:tcPr marL="73152" marR="73152" marT="36576" marB="36576">
                    <a:solidFill>
                      <a:srgbClr val="FFFFFF"/>
                    </a:solidFill>
                  </a:tcPr>
                </a:tc>
                <a:tc>
                  <a:txBody>
                    <a:bodyPr/>
                    <a:lstStyle/>
                    <a:p>
                      <a:r>
                        <a:rPr sz="1300" b="0">
                          <a:solidFill>
                            <a:srgbClr val="1F2937"/>
                          </a:solidFill>
                        </a:rPr>
                        <a:t>Oksimlar tavsiya etilmaydi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Oksim samarasini cheklovchi omillar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Worek et al., Organophosphorus compounds and oximes: a critical review, betlar: PMID 32506210; Eddleston et al., Early management after self-poisoning with an organophosphorus or carbamate pesticide – a treatment protocol for junior doctors, betlar: PMID 15566582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Dekontaminatsiya va qo‘shimcha yordam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FOB (fosfororganik birikmalar) bilan zaharlanganda me’da dekontaminatsiyasi bemor barqarorlashgach va kerak bo‘lsa intubatsiya qilingach o‘ylanadi; qabul qilingan zahoti qilinmaydi.</a:t>
            </a:r>
          </a:p>
          <a:p>
            <a:pPr>
              <a:spcAft>
                <a:spcPts val="1200"/>
              </a:spcAft>
            </a:pPr>
            <a:r>
              <a:rPr sz="2000">
                <a:solidFill>
                  <a:srgbClr val="1F2937"/>
                </a:solidFill>
                <a:latin typeface="Calibri"/>
              </a:rPr>
              <a:t>▸  Me’da yuvish faqat juda zaharli pestitsid ichilib, bemor 1–2 soat ichida kelganda ko‘riladi. Bemor rozi bo‘lgan tinch yoki intubatsiya qilingan bo‘lishi kerak.</a:t>
            </a:r>
          </a:p>
          <a:p>
            <a:pPr>
              <a:spcAft>
                <a:spcPts val="1200"/>
              </a:spcAft>
            </a:pPr>
            <a:r>
              <a:rPr sz="2000">
                <a:solidFill>
                  <a:srgbClr val="1F2937"/>
                </a:solidFill>
                <a:latin typeface="Calibri"/>
              </a:rPr>
              <a:t>▸  Ipekak pestitsidlar bilan zaharlanishda kontrendikatsiya. Faol ko‘mir va me’da yuvishning samarasi noma’lum; ko‘mirning klinik foydasi isbotlanmagan.</a:t>
            </a:r>
          </a:p>
          <a:p>
            <a:pPr>
              <a:spcAft>
                <a:spcPts val="1200"/>
              </a:spcAft>
            </a:pPr>
            <a:r>
              <a:rPr sz="2000">
                <a:solidFill>
                  <a:srgbClr val="1F2937"/>
                </a:solidFill>
                <a:latin typeface="Calibri"/>
              </a:rPr>
              <a:t>▸  Diqqat: qo‘zg‘algan yoki intubatsiyasiz uyqusirayotgan bemorda me’da yuvish og‘ir asoratlarga, hatto o‘limga olib kelishi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Eddleston et al., Early management after self-poisoning with an organophosphorus or carbamate pesticide – a treatment protocol for junior doctors, betlar: PMID 15566582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gipertermiya va qo‘zg‘alish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FOB bilan zaharlangan bemorga atropin infuziyasi boshlangan. U qo‘zg‘algan, isitmasi bor, ichak tovushlari eshitilmaydi.</a:t>
            </a:r>
          </a:p>
          <a:p>
            <a:pPr>
              <a:spcAft>
                <a:spcPts val="1200"/>
              </a:spcAft>
            </a:pPr>
            <a:r>
              <a:rPr sz="2000">
                <a:solidFill>
                  <a:srgbClr val="1F2937"/>
                </a:solidFill>
                <a:latin typeface="Calibri"/>
              </a:rPr>
              <a:t>▸  Chalkashlik va isitma ichak tovushlarisiz bo‘lsa, atropin toksikligi gumon qilinadi. Infuziya to‘xtatiladi, 30 daqiqadan keyin qayta baholanadi, so‘ng avvalgi tezlikning 70–80% idan qayta boshlanadi.</a:t>
            </a:r>
          </a:p>
          <a:p>
            <a:pPr>
              <a:spcAft>
                <a:spcPts val="1200"/>
              </a:spcAft>
            </a:pPr>
            <a:r>
              <a:rPr sz="2000">
                <a:solidFill>
                  <a:srgbClr val="1F2937"/>
                </a:solidFill>
                <a:latin typeface="Calibri"/>
              </a:rPr>
              <a:t>▸  Qo‘zg‘alishda diazepam 10 mg sekin vena ichiga beriladi, sutkasiga 30–40 mg gacha. Isitmada ventilyator oqimi va nam sochiq bilan faol sovutiladi.</a:t>
            </a:r>
          </a:p>
          <a:p>
            <a:pPr>
              <a:spcAft>
                <a:spcPts val="1200"/>
              </a:spcAft>
            </a:pPr>
            <a:r>
              <a:rPr sz="2000">
                <a:solidFill>
                  <a:srgbClr val="1F2937"/>
                </a:solidFill>
                <a:latin typeface="Calibri"/>
              </a:rPr>
              <a:t>▸  Savol: nega qo‘zg‘algan bemorni karavotga bog‘lab qo‘yish xavfli? Javob: u qarshilik qilib issiqlik hosil qiladi va gipertermik yurak to‘xtashi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Eddleston et al., Early management after self-poisoning with an organophosphorus or carbamate pesticide – a treatment protocol for junior doctors, betlar: PMID 15566582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sabablari: nafas va yurak yetishmovchiligi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Eng ko‘p o‘lim sababi — nafas yetishmovchiligi, undan keyin yurak to‘xtashi, sepsis va gipovolemik shok.</a:t>
            </a:r>
          </a:p>
          <a:p>
            <a:pPr>
              <a:spcAft>
                <a:spcPts val="800"/>
              </a:spcAft>
            </a:pPr>
            <a:r>
              <a:rPr sz="1800">
                <a:solidFill>
                  <a:srgbClr val="1F2937"/>
                </a:solidFill>
                <a:latin typeface="Calibri"/>
              </a:rPr>
              <a:t>▸  Autopsiyada o‘pkada interstitsial shish va qon quyilishi, buyrakda o‘tkir tubulyar nekroz topiladi.</a:t>
            </a:r>
          </a:p>
          <a:p>
            <a:pPr>
              <a:spcAft>
                <a:spcPts val="800"/>
              </a:spcAft>
            </a:pPr>
            <a:r>
              <a:rPr sz="1800">
                <a:solidFill>
                  <a:srgbClr val="1F2937"/>
                </a:solidFill>
                <a:latin typeface="Calibri"/>
              </a:rPr>
              <a:t>▸  Shifoxonadagi o‘lim 15–23%, Hindistonda 33%; ventilyatsiyadagi bemorlarda 50% dan oshishi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Atsetilxolinesteraza bloki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Xolinergik krizis</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Gipovolemiya, o‘pka shishi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O‘tkir nafas distressi (ARDS)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Yurak to‘xtashi → o‘lim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O‘limga olib boruvchi zanjir</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Ramadori et al., Organophosphorus Poisoning: Acute Respiratory Distress Syndrome, betlar: PMID 37047631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Gipovolemiya va dehidratatsiya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Bezlar giperseksiyasi, qusish, diareya va siydik yo‘qotilishi suyuqlikni tez kamaytiradi.</a:t>
            </a:r>
          </a:p>
          <a:p>
            <a:pPr>
              <a:spcAft>
                <a:spcPts val="800"/>
              </a:spcAft>
            </a:pPr>
            <a:r>
              <a:rPr sz="1800">
                <a:solidFill>
                  <a:srgbClr val="1F2937"/>
                </a:solidFill>
                <a:latin typeface="Calibri"/>
              </a:rPr>
              <a:t>▸  Gipotenziya gipovolemik shokka o‘tishi mumkin; oliguriya va bradikardiya sepsisga o‘xshab ketadi.</a:t>
            </a:r>
          </a:p>
          <a:p>
            <a:pPr>
              <a:spcAft>
                <a:spcPts val="800"/>
              </a:spcAft>
            </a:pPr>
            <a:r>
              <a:rPr sz="1800">
                <a:solidFill>
                  <a:srgbClr val="1F2937"/>
                </a:solidFill>
                <a:latin typeface="Calibri"/>
              </a:rPr>
              <a:t>▸  Diqqat: shok ≠ sepsis. Yallig‘lanish belgilari ko‘pincha to‘qima gipoperfuziyasi oqibati.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Suyuqlik yo‘qotilishi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Gipovolemiya, gipotenziya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Oliguriya, shok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 gipoperfuziyasi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Prerenal buyrak yetishmasligi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Suyuqlik yo‘qotilishi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Ramadori et al., Organophosphorus Poisoning: Acute Respiratory Distress Syndrome, betlar: PMID 37047631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Autopsiya topilmalari: o‘pka va buyrak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Dastlabki 24 soatda o‘lganlar o‘pkasida interstitsial shish va qon quyilish topilgan.</a:t>
            </a:r>
          </a:p>
          <a:p>
            <a:pPr>
              <a:spcAft>
                <a:spcPts val="800"/>
              </a:spcAft>
            </a:pPr>
            <a:r>
              <a:rPr sz="1800">
                <a:solidFill>
                  <a:srgbClr val="1F2937"/>
                </a:solidFill>
                <a:latin typeface="Calibri"/>
              </a:rPr>
              <a:t>▸  Bu o‘zgarishlar o‘tkir respirator distress sindromi (ARDS) ga o‘xshaydi; buyrakda tubulyar nekroz bor.</a:t>
            </a:r>
          </a:p>
          <a:p>
            <a:pPr>
              <a:spcAft>
                <a:spcPts val="800"/>
              </a:spcAft>
            </a:pPr>
            <a:r>
              <a:rPr sz="1800">
                <a:solidFill>
                  <a:srgbClr val="1F2937"/>
                </a:solidFill>
                <a:latin typeface="Calibri"/>
              </a:rPr>
              <a:t>▸  Autopsiya asosan zaharni aniqlash uchun o‘tkaziladi, o‘lim mexanizmi kam o‘rganiladi.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351371"/>
                <a:gridCol w="1938924"/>
                <a:gridCol w="1997679"/>
              </a:tblGrid>
              <a:tr h="411480">
                <a:tc>
                  <a:txBody>
                    <a:bodyPr/>
                    <a:lstStyle/>
                    <a:p>
                      <a:r>
                        <a:rPr sz="1300" b="1">
                          <a:solidFill>
                            <a:srgbClr val="FFFFFF"/>
                          </a:solidFill>
                        </a:rPr>
                        <a:t>A’zo / holat</a:t>
                      </a:r>
                    </a:p>
                  </a:txBody>
                  <a:tcPr marL="73152" marR="73152" marT="36576" marB="36576">
                    <a:solidFill>
                      <a:srgbClr val="0B1F3A"/>
                    </a:solidFill>
                  </a:tcPr>
                </a:tc>
                <a:tc>
                  <a:txBody>
                    <a:bodyPr/>
                    <a:lstStyle/>
                    <a:p>
                      <a:r>
                        <a:rPr sz="1300" b="1">
                          <a:solidFill>
                            <a:srgbClr val="FFFFFF"/>
                          </a:solidFill>
                        </a:rPr>
                        <a:t>Topilma</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O‘pka (24 soat ichida)</a:t>
                      </a:r>
                    </a:p>
                  </a:txBody>
                  <a:tcPr marL="73152" marR="73152" marT="36576" marB="36576">
                    <a:solidFill>
                      <a:srgbClr val="E8EEF6"/>
                    </a:solidFill>
                  </a:tcPr>
                </a:tc>
                <a:tc>
                  <a:txBody>
                    <a:bodyPr/>
                    <a:lstStyle/>
                    <a:p>
                      <a:r>
                        <a:rPr sz="1200" b="0">
                          <a:solidFill>
                            <a:srgbClr val="1F2937"/>
                          </a:solidFill>
                        </a:rPr>
                        <a:t>Interstitsial shish, qon quyilish</a:t>
                      </a:r>
                    </a:p>
                  </a:txBody>
                  <a:tcPr marL="73152" marR="73152" marT="36576" marB="36576">
                    <a:solidFill>
                      <a:srgbClr val="E8EEF6"/>
                    </a:solidFill>
                  </a:tcPr>
                </a:tc>
                <a:tc>
                  <a:txBody>
                    <a:bodyPr/>
                    <a:lstStyle/>
                    <a:p>
                      <a:r>
                        <a:rPr sz="1200" b="0">
                          <a:solidFill>
                            <a:srgbClr val="1F2937"/>
                          </a:solidFill>
                        </a:rPr>
                        <a:t>ARDS dagi o‘zgarishlarga o‘xshaydi</a:t>
                      </a:r>
                    </a:p>
                  </a:txBody>
                  <a:tcPr marL="73152" marR="73152" marT="36576" marB="36576">
                    <a:solidFill>
                      <a:srgbClr val="E8EEF6"/>
                    </a:solidFill>
                  </a:tcPr>
                </a:tc>
              </a:tr>
              <a:tr h="411480">
                <a:tc>
                  <a:txBody>
                    <a:bodyPr/>
                    <a:lstStyle/>
                    <a:p>
                      <a:r>
                        <a:rPr sz="1200" b="0">
                          <a:solidFill>
                            <a:srgbClr val="1F2937"/>
                          </a:solidFill>
                        </a:rPr>
                        <a:t>Buyrak</a:t>
                      </a:r>
                    </a:p>
                  </a:txBody>
                  <a:tcPr marL="73152" marR="73152" marT="36576" marB="36576">
                    <a:solidFill>
                      <a:srgbClr val="FFFFFF"/>
                    </a:solidFill>
                  </a:tcPr>
                </a:tc>
                <a:tc>
                  <a:txBody>
                    <a:bodyPr/>
                    <a:lstStyle/>
                    <a:p>
                      <a:r>
                        <a:rPr sz="1200" b="0">
                          <a:solidFill>
                            <a:srgbClr val="1F2937"/>
                          </a:solidFill>
                        </a:rPr>
                        <a:t>O‘tkir tubulyar nekroz</a:t>
                      </a:r>
                    </a:p>
                  </a:txBody>
                  <a:tcPr marL="73152" marR="73152" marT="36576" marB="36576">
                    <a:solidFill>
                      <a:srgbClr val="FFFFFF"/>
                    </a:solidFill>
                  </a:tcPr>
                </a:tc>
                <a:tc>
                  <a:txBody>
                    <a:bodyPr/>
                    <a:lstStyle/>
                    <a:p>
                      <a:r>
                        <a:rPr sz="1200" b="0">
                          <a:solidFill>
                            <a:srgbClr val="1F2937"/>
                          </a:solidFill>
                        </a:rPr>
                        <a:t>Prerenal shikastlanish belgisi</a:t>
                      </a:r>
                    </a:p>
                  </a:txBody>
                  <a:tcPr marL="73152" marR="73152" marT="36576" marB="36576">
                    <a:solidFill>
                      <a:srgbClr val="FFFFFF"/>
                    </a:solidFill>
                  </a:tcPr>
                </a:tc>
              </a:tr>
              <a:tr h="411480">
                <a:tc>
                  <a:txBody>
                    <a:bodyPr/>
                    <a:lstStyle/>
                    <a:p>
                      <a:r>
                        <a:rPr sz="1200" b="0">
                          <a:solidFill>
                            <a:srgbClr val="1F2937"/>
                          </a:solidFill>
                        </a:rPr>
                        <a:t>Mini-cho‘chqa tajribasi</a:t>
                      </a:r>
                    </a:p>
                  </a:txBody>
                  <a:tcPr marL="73152" marR="73152" marT="36576" marB="36576">
                    <a:solidFill>
                      <a:srgbClr val="E8EEF6"/>
                    </a:solidFill>
                  </a:tcPr>
                </a:tc>
                <a:tc>
                  <a:txBody>
                    <a:bodyPr/>
                    <a:lstStyle/>
                    <a:p>
                      <a:r>
                        <a:rPr sz="1200" b="0">
                          <a:solidFill>
                            <a:srgbClr val="1F2937"/>
                          </a:solidFill>
                        </a:rPr>
                        <a:t>O‘xshash gistologik o‘zgarishlar</a:t>
                      </a:r>
                    </a:p>
                  </a:txBody>
                  <a:tcPr marL="73152" marR="73152" marT="36576" marB="36576">
                    <a:solidFill>
                      <a:srgbClr val="E8EEF6"/>
                    </a:solidFill>
                  </a:tcPr>
                </a:tc>
                <a:tc>
                  <a:txBody>
                    <a:bodyPr/>
                    <a:lstStyle/>
                    <a:p>
                      <a:r>
                        <a:rPr sz="1200" b="0">
                          <a:solidFill>
                            <a:srgbClr val="1F2937"/>
                          </a:solidFill>
                        </a:rPr>
                        <a:t>Aspiratsiyani taqlid qiladi</a:t>
                      </a:r>
                    </a:p>
                  </a:txBody>
                  <a:tcPr marL="73152" marR="73152" marT="36576" marB="36576">
                    <a:solidFill>
                      <a:srgbClr val="E8EEF6"/>
                    </a:solidFill>
                  </a:tcPr>
                </a:tc>
              </a:tr>
              <a:tr h="411480">
                <a:tc>
                  <a:txBody>
                    <a:bodyPr/>
                    <a:lstStyle/>
                    <a:p>
                      <a:r>
                        <a:rPr sz="1200" b="0">
                          <a:solidFill>
                            <a:srgbClr val="1F2937"/>
                          </a:solidFill>
                        </a:rPr>
                        <a:t>Aspiratsiya oqibati</a:t>
                      </a:r>
                    </a:p>
                  </a:txBody>
                  <a:tcPr marL="73152" marR="73152" marT="36576" marB="36576">
                    <a:solidFill>
                      <a:srgbClr val="FFFFFF"/>
                    </a:solidFill>
                  </a:tcPr>
                </a:tc>
                <a:tc>
                  <a:txBody>
                    <a:bodyPr/>
                    <a:lstStyle/>
                    <a:p>
                      <a:r>
                        <a:rPr sz="1200" b="0">
                          <a:solidFill>
                            <a:srgbClr val="1F2937"/>
                          </a:solidFill>
                        </a:rPr>
                        <a:t>Yotish va o‘lim ko‘payadi</a:t>
                      </a:r>
                    </a:p>
                  </a:txBody>
                  <a:tcPr marL="73152" marR="73152" marT="36576" marB="36576">
                    <a:solidFill>
                      <a:srgbClr val="FFFFFF"/>
                    </a:solidFill>
                  </a:tcPr>
                </a:tc>
                <a:tc>
                  <a:txBody>
                    <a:bodyPr/>
                    <a:lstStyle/>
                    <a:p>
                      <a:r>
                        <a:rPr sz="1200" b="0">
                          <a:solidFill>
                            <a:srgbClr val="1F2937"/>
                          </a:solidFill>
                        </a:rPr>
                        <a:t>Oxirgi 25 yilda yutuq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Autopsiya topilmalari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Ramadori et al., Organophosphorus Poisoning: Acute Respiratory Distress Syndrome, betlar: PMID 37047631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o‘lim mexanizmlari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fosfororganik birikmalar (FOB) bilan zaharlangan kasalxonadagi bemorlarda eng ko‘p tilga olingan o‘lim sababi nima?</a:t>
            </a:r>
          </a:p>
          <a:p>
            <a:pPr>
              <a:spcAft>
                <a:spcPts val="1200"/>
              </a:spcAft>
            </a:pPr>
            <a:r>
              <a:rPr sz="2200">
                <a:solidFill>
                  <a:srgbClr val="1F2937"/>
                </a:solidFill>
                <a:latin typeface="Calibri"/>
              </a:rPr>
              <a:t>▸  Javob: nafas yetishmovchiligi, undan keyin yurak to‘xtashi, sepsis va gipovolemik shok.</a:t>
            </a:r>
          </a:p>
          <a:p>
            <a:pPr>
              <a:spcAft>
                <a:spcPts val="1200"/>
              </a:spcAft>
            </a:pPr>
            <a:r>
              <a:rPr sz="2200">
                <a:solidFill>
                  <a:srgbClr val="1F2937"/>
                </a:solidFill>
                <a:latin typeface="Calibri"/>
              </a:rPr>
              <a:t>▸  Savol: o‘pkada qanday autopsiya topilmasi uchraydi? Javob: interstitsial shish va qon quyilish, ARDS ga o‘xshash.</a:t>
            </a:r>
          </a:p>
          <a:p>
            <a:pPr>
              <a:spcAft>
                <a:spcPts val="1200"/>
              </a:spcAft>
            </a:pPr>
            <a:r>
              <a:rPr sz="2200">
                <a:solidFill>
                  <a:srgbClr val="1F2937"/>
                </a:solidFill>
                <a:latin typeface="Calibri"/>
              </a:rPr>
              <a:t>▸  Diqqat: ventilyatsiya olgan bemorlarda o‘lim 50% dan oshishi mumkin; xlorpirifos zaharlanishida u xavf omili bo‘lgan.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Ramadori et al., Organophosphorus Poisoning: Acute Respiratory Distress Syndrome, betlar: PMID 37047631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Prognostik markerlar: albumin, CRP, laktat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Gipoalbuminemiya, ayniqsa C-reaktiv oqsil (CRP) oshishi bilan birga, yomon prognoz belgisi hisoblanadi.</a:t>
            </a:r>
          </a:p>
          <a:p>
            <a:pPr>
              <a:spcAft>
                <a:spcPts val="800"/>
              </a:spcAft>
            </a:pPr>
            <a:r>
              <a:rPr sz="1800">
                <a:solidFill>
                  <a:srgbClr val="1F2937"/>
                </a:solidFill>
                <a:latin typeface="Calibri"/>
              </a:rPr>
              <a:t>▸  Laktat, qon pH, asos tanqisligi va APACHE II (kasallik og‘irligi shkalasi) ballari yomon omillar bo‘ldi.</a:t>
            </a:r>
          </a:p>
          <a:p>
            <a:pPr>
              <a:spcAft>
                <a:spcPts val="800"/>
              </a:spcAft>
            </a:pPr>
            <a:r>
              <a:rPr sz="1800">
                <a:solidFill>
                  <a:srgbClr val="1F2937"/>
                </a:solidFill>
                <a:latin typeface="Calibri"/>
              </a:rPr>
              <a:t>▸  Diqqat: BChE (butirilxolinesteraza) prognostik marker emas, u asosan diagnostik qiymatga ega.</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061413"/>
                <a:gridCol w="3226561"/>
              </a:tblGrid>
              <a:tr h="411480">
                <a:tc>
                  <a:txBody>
                    <a:bodyPr/>
                    <a:lstStyle/>
                    <a:p>
                      <a:r>
                        <a:rPr sz="1400" b="1">
                          <a:solidFill>
                            <a:srgbClr val="FFFFFF"/>
                          </a:solidFill>
                        </a:rPr>
                        <a:t>Belgi</a:t>
                      </a:r>
                    </a:p>
                  </a:txBody>
                  <a:tcPr marL="73152" marR="73152" marT="36576" marB="36576">
                    <a:solidFill>
                      <a:srgbClr val="0B1F3A"/>
                    </a:solidFill>
                  </a:tcPr>
                </a:tc>
                <a:tc>
                  <a:txBody>
                    <a:bodyPr/>
                    <a:lstStyle/>
                    <a:p>
                      <a:r>
                        <a:rPr sz="1400" b="1">
                          <a:solidFill>
                            <a:srgbClr val="FFFFFF"/>
                          </a:solidFill>
                        </a:rPr>
                        <a:t>Ma’nosi</a:t>
                      </a:r>
                    </a:p>
                  </a:txBody>
                  <a:tcPr marL="73152" marR="73152" marT="36576" marB="36576">
                    <a:solidFill>
                      <a:srgbClr val="0B1F3A"/>
                    </a:solidFill>
                  </a:tcPr>
                </a:tc>
              </a:tr>
              <a:tr h="411480">
                <a:tc>
                  <a:txBody>
                    <a:bodyPr/>
                    <a:lstStyle/>
                    <a:p>
                      <a:r>
                        <a:rPr sz="1300" b="0">
                          <a:solidFill>
                            <a:srgbClr val="1F2937"/>
                          </a:solidFill>
                        </a:rPr>
                        <a:t>Albumin pasayishi</a:t>
                      </a:r>
                    </a:p>
                  </a:txBody>
                  <a:tcPr marL="73152" marR="73152" marT="36576" marB="36576">
                    <a:solidFill>
                      <a:srgbClr val="E8EEF6"/>
                    </a:solidFill>
                  </a:tcPr>
                </a:tc>
                <a:tc>
                  <a:txBody>
                    <a:bodyPr/>
                    <a:lstStyle/>
                    <a:p>
                      <a:r>
                        <a:rPr sz="1300" b="0">
                          <a:solidFill>
                            <a:srgbClr val="1F2937"/>
                          </a:solidFill>
                        </a:rPr>
                        <a:t>Yomon prognoz; CRP ↑ bilan kuchayadi</a:t>
                      </a:r>
                    </a:p>
                  </a:txBody>
                  <a:tcPr marL="73152" marR="73152" marT="36576" marB="36576">
                    <a:solidFill>
                      <a:srgbClr val="E8EEF6"/>
                    </a:solidFill>
                  </a:tcPr>
                </a:tc>
              </a:tr>
              <a:tr h="411480">
                <a:tc>
                  <a:txBody>
                    <a:bodyPr/>
                    <a:lstStyle/>
                    <a:p>
                      <a:r>
                        <a:rPr sz="1300" b="0">
                          <a:solidFill>
                            <a:srgbClr val="1F2937"/>
                          </a:solidFill>
                        </a:rPr>
                        <a:t>CRP oshishi</a:t>
                      </a:r>
                    </a:p>
                  </a:txBody>
                  <a:tcPr marL="73152" marR="73152" marT="36576" marB="36576">
                    <a:solidFill>
                      <a:srgbClr val="FFFFFF"/>
                    </a:solidFill>
                  </a:tcPr>
                </a:tc>
                <a:tc>
                  <a:txBody>
                    <a:bodyPr/>
                    <a:lstStyle/>
                    <a:p>
                      <a:r>
                        <a:rPr sz="1300" b="0">
                          <a:solidFill>
                            <a:srgbClr val="1F2937"/>
                          </a:solidFill>
                        </a:rPr>
                        <a:t>Tizimli ishemiya belgisi</a:t>
                      </a:r>
                    </a:p>
                  </a:txBody>
                  <a:tcPr marL="73152" marR="73152" marT="36576" marB="36576">
                    <a:solidFill>
                      <a:srgbClr val="FFFFFF"/>
                    </a:solidFill>
                  </a:tcPr>
                </a:tc>
              </a:tr>
              <a:tr h="411480">
                <a:tc>
                  <a:txBody>
                    <a:bodyPr/>
                    <a:lstStyle/>
                    <a:p>
                      <a:r>
                        <a:rPr sz="1300" b="0">
                          <a:solidFill>
                            <a:srgbClr val="1F2937"/>
                          </a:solidFill>
                        </a:rPr>
                        <a:t>Laktat, asos tanqisligi</a:t>
                      </a:r>
                    </a:p>
                  </a:txBody>
                  <a:tcPr marL="73152" marR="73152" marT="36576" marB="36576">
                    <a:solidFill>
                      <a:srgbClr val="E8EEF6"/>
                    </a:solidFill>
                  </a:tcPr>
                </a:tc>
                <a:tc>
                  <a:txBody>
                    <a:bodyPr/>
                    <a:lstStyle/>
                    <a:p>
                      <a:r>
                        <a:rPr sz="1300" b="0">
                          <a:solidFill>
                            <a:srgbClr val="1F2937"/>
                          </a:solidFill>
                        </a:rPr>
                        <a:t>To‘qima gipoperfuziyasi, o‘lim xavfi</a:t>
                      </a:r>
                    </a:p>
                  </a:txBody>
                  <a:tcPr marL="73152" marR="73152" marT="36576" marB="36576">
                    <a:solidFill>
                      <a:srgbClr val="E8EEF6"/>
                    </a:solidFill>
                  </a:tcPr>
                </a:tc>
              </a:tr>
              <a:tr h="411480">
                <a:tc>
                  <a:txBody>
                    <a:bodyPr/>
                    <a:lstStyle/>
                    <a:p>
                      <a:r>
                        <a:rPr sz="1300" b="0">
                          <a:solidFill>
                            <a:srgbClr val="1F2937"/>
                          </a:solidFill>
                        </a:rPr>
                        <a:t>BChE</a:t>
                      </a:r>
                    </a:p>
                  </a:txBody>
                  <a:tcPr marL="73152" marR="73152" marT="36576" marB="36576">
                    <a:solidFill>
                      <a:srgbClr val="FFFFFF"/>
                    </a:solidFill>
                  </a:tcPr>
                </a:tc>
                <a:tc>
                  <a:txBody>
                    <a:bodyPr/>
                    <a:lstStyle/>
                    <a:p>
                      <a:r>
                        <a:rPr sz="1300" b="0">
                          <a:solidFill>
                            <a:srgbClr val="1F2937"/>
                          </a:solidFill>
                        </a:rPr>
                        <a:t>Asosan diagnostik, prognostik emas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Prognostik markerlar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Ramadori et al., Organophosphorus Poisoning: Acute Respiratory Distress Syndrome, betlar: PMID 37047631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Noh tadqiqoti: gipoalbuminemiya va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217 bemor (&gt;18 yosh, 24 soat ichida kelgan) tahlil qilindi; 40 tasida albumin 35 g/L dan past edi.</a:t>
            </a:r>
          </a:p>
          <a:p>
            <a:pPr>
              <a:spcAft>
                <a:spcPts val="800"/>
              </a:spcAft>
            </a:pPr>
            <a:r>
              <a:rPr sz="1800">
                <a:solidFill>
                  <a:srgbClr val="1F2937"/>
                </a:solidFill>
                <a:latin typeface="Calibri"/>
              </a:rPr>
              <a:t>▸  Gipoalbuminemiyada nafas yetishmovchiligi 100%, buyrak yetishmovchiligi 25%, gipotenziya 55% kuzatildi.</a:t>
            </a:r>
          </a:p>
          <a:p>
            <a:pPr>
              <a:spcAft>
                <a:spcPts val="800"/>
              </a:spcAft>
            </a:pPr>
            <a:r>
              <a:rPr sz="1800">
                <a:solidFill>
                  <a:srgbClr val="1F2937"/>
                </a:solidFill>
                <a:latin typeface="Calibri"/>
              </a:rPr>
              <a:t>▸  Mualliflar gipoalbuminemiya sababini topa olmadi; ovqatlanishning keskin kamayishi mumkin.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762658"/>
                <a:gridCol w="1866344"/>
                <a:gridCol w="1658972"/>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Yurak to‘xt.</a:t>
                      </a:r>
                    </a:p>
                  </a:txBody>
                  <a:tcPr marL="73152" marR="73152" marT="36576" marB="36576">
                    <a:solidFill>
                      <a:srgbClr val="0B1F3A"/>
                    </a:solidFill>
                  </a:tcPr>
                </a:tc>
                <a:tc>
                  <a:txBody>
                    <a:bodyPr/>
                    <a:lstStyle/>
                    <a:p>
                      <a:r>
                        <a:rPr sz="1300" b="1">
                          <a:solidFill>
                            <a:srgbClr val="FFFFFF"/>
                          </a:solidFill>
                        </a:rPr>
                        <a:t>O‘lim</a:t>
                      </a:r>
                    </a:p>
                  </a:txBody>
                  <a:tcPr marL="73152" marR="73152" marT="36576" marB="36576">
                    <a:solidFill>
                      <a:srgbClr val="0B1F3A"/>
                    </a:solidFill>
                  </a:tcPr>
                </a:tc>
              </a:tr>
              <a:tr h="411480">
                <a:tc>
                  <a:txBody>
                    <a:bodyPr/>
                    <a:lstStyle/>
                    <a:p>
                      <a:r>
                        <a:rPr sz="1200" b="0">
                          <a:solidFill>
                            <a:srgbClr val="1F2937"/>
                          </a:solidFill>
                        </a:rPr>
                        <a:t>Gipoalbuminemiya</a:t>
                      </a:r>
                    </a:p>
                  </a:txBody>
                  <a:tcPr marL="73152" marR="73152" marT="36576" marB="36576">
                    <a:solidFill>
                      <a:srgbClr val="E8EEF6"/>
                    </a:solidFill>
                  </a:tcPr>
                </a:tc>
                <a:tc>
                  <a:txBody>
                    <a:bodyPr/>
                    <a:lstStyle/>
                    <a:p>
                      <a:r>
                        <a:rPr sz="1200" b="0">
                          <a:solidFill>
                            <a:srgbClr val="1F2937"/>
                          </a:solidFill>
                        </a:rPr>
                        <a:t>32,5%</a:t>
                      </a:r>
                    </a:p>
                  </a:txBody>
                  <a:tcPr marL="73152" marR="73152" marT="36576" marB="36576">
                    <a:solidFill>
                      <a:srgbClr val="E8EEF6"/>
                    </a:solidFill>
                  </a:tcPr>
                </a:tc>
                <a:tc>
                  <a:txBody>
                    <a:bodyPr/>
                    <a:lstStyle/>
                    <a:p>
                      <a:r>
                        <a:rPr sz="1200" b="0">
                          <a:solidFill>
                            <a:srgbClr val="1F2937"/>
                          </a:solidFill>
                        </a:rPr>
                        <a:t>45%</a:t>
                      </a:r>
                    </a:p>
                  </a:txBody>
                  <a:tcPr marL="73152" marR="73152" marT="36576" marB="36576">
                    <a:solidFill>
                      <a:srgbClr val="E8EEF6"/>
                    </a:solidFill>
                  </a:tcPr>
                </a:tc>
              </a:tr>
              <a:tr h="411480">
                <a:tc>
                  <a:txBody>
                    <a:bodyPr/>
                    <a:lstStyle/>
                    <a:p>
                      <a:r>
                        <a:rPr sz="1200" b="0">
                          <a:solidFill>
                            <a:srgbClr val="1F2937"/>
                          </a:solidFill>
                        </a:rPr>
                        <a:t>Normoalbuminemiya</a:t>
                      </a:r>
                    </a:p>
                  </a:txBody>
                  <a:tcPr marL="73152" marR="73152" marT="36576" marB="36576">
                    <a:solidFill>
                      <a:srgbClr val="FFFFFF"/>
                    </a:solidFill>
                  </a:tcPr>
                </a:tc>
                <a:tc>
                  <a:txBody>
                    <a:bodyPr/>
                    <a:lstStyle/>
                    <a:p>
                      <a:r>
                        <a:rPr sz="1200" b="0">
                          <a:solidFill>
                            <a:srgbClr val="1F2937"/>
                          </a:solidFill>
                        </a:rPr>
                        <a:t>14,3%</a:t>
                      </a:r>
                    </a:p>
                  </a:txBody>
                  <a:tcPr marL="73152" marR="73152" marT="36576" marB="36576">
                    <a:solidFill>
                      <a:srgbClr val="FFFFFF"/>
                    </a:solidFill>
                  </a:tcPr>
                </a:tc>
                <a:tc>
                  <a:txBody>
                    <a:bodyPr/>
                    <a:lstStyle/>
                    <a:p>
                      <a:r>
                        <a:rPr sz="1200" b="0">
                          <a:solidFill>
                            <a:srgbClr val="1F2937"/>
                          </a:solidFill>
                        </a:rPr>
                        <a:t>15,8%</a:t>
                      </a:r>
                    </a:p>
                  </a:txBody>
                  <a:tcPr marL="73152" marR="73152" marT="36576" marB="36576">
                    <a:solidFill>
                      <a:srgbClr val="FFFFFF"/>
                    </a:solidFill>
                  </a:tcPr>
                </a:tc>
              </a:tr>
              <a:tr h="411480">
                <a:tc>
                  <a:txBody>
                    <a:bodyPr/>
                    <a:lstStyle/>
                    <a:p>
                      <a:r>
                        <a:rPr sz="1200" b="0">
                          <a:solidFill>
                            <a:srgbClr val="1F2937"/>
                          </a:solidFill>
                        </a:rPr>
                        <a:t>Giperalbuminemiya</a:t>
                      </a:r>
                    </a:p>
                  </a:txBody>
                  <a:tcPr marL="73152" marR="73152" marT="36576" marB="36576">
                    <a:solidFill>
                      <a:srgbClr val="E8EEF6"/>
                    </a:solidFill>
                  </a:tcPr>
                </a:tc>
                <a:tc>
                  <a:txBody>
                    <a:bodyPr/>
                    <a:lstStyle/>
                    <a:p>
                      <a:r>
                        <a:rPr sz="1200" b="0">
                          <a:solidFill>
                            <a:srgbClr val="1F2937"/>
                          </a:solidFill>
                        </a:rPr>
                        <a:t>9,1%</a:t>
                      </a:r>
                    </a:p>
                  </a:txBody>
                  <a:tcPr marL="73152" marR="73152" marT="36576" marB="36576">
                    <a:solidFill>
                      <a:srgbClr val="E8EEF6"/>
                    </a:solidFill>
                  </a:tcPr>
                </a:tc>
                <a:tc>
                  <a:txBody>
                    <a:bodyPr/>
                    <a:lstStyle/>
                    <a:p>
                      <a:r>
                        <a:rPr sz="1200" b="0">
                          <a:solidFill>
                            <a:srgbClr val="1F2937"/>
                          </a:solidFill>
                        </a:rPr>
                        <a:t>9,1%</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Guruhlar bo‘yicha natija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Ramadori et al., Organophosphorus Poisoning: Acute Respiratory Distress Syndrome, betlar: PMID 37047631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BChE va AChE qiymati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Faollik Ellman usulining o‘zgartirilgan shaklida o‘lchanadi; BChE yarim yemirilish davri ~24 soat.</a:t>
            </a:r>
          </a:p>
          <a:p>
            <a:pPr>
              <a:spcAft>
                <a:spcPts val="800"/>
              </a:spcAft>
            </a:pPr>
            <a:r>
              <a:rPr sz="1800">
                <a:solidFill>
                  <a:srgbClr val="1F2937"/>
                </a:solidFill>
                <a:latin typeface="Calibri"/>
              </a:rPr>
              <a:t>▸  Individual farqlar katta; yakuniy xulosa uchun zaharlanishdan oldingi qiymat zarur.</a:t>
            </a:r>
          </a:p>
          <a:p>
            <a:pPr>
              <a:spcAft>
                <a:spcPts val="800"/>
              </a:spcAft>
            </a:pPr>
            <a:r>
              <a:rPr sz="1800">
                <a:solidFill>
                  <a:srgbClr val="1F2937"/>
                </a:solidFill>
                <a:latin typeface="Calibri"/>
              </a:rPr>
              <a:t>▸  Diqqat: BChE va AChE faolligi xolinergik sinapslar ishtirokining miqdoriga mos kelmadi, prognoz belgisi emas.</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BChE faolligi me’yordan past</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Ferment ingibitsiyasi mumkin</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Yoki jigarda sintez kamaygan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Avvalgi qiymat bilan solishtir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Faqat diagnostik qiymat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BChE pasayganda mantiq</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Ramadori et al., Organophosphorus Poisoning: Acute Respiratory Distress Syndrome, betlar: PMID 37047631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og‘ir atsidozli bemor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bemor taxminan 200 ml dixlorvos (DDVP, fosfororganik insektitsid) ichgan. Og‘ir atsidoz rivojlangan, zardobdagi albumin 1 g/dL gacha tushgan.</a:t>
            </a:r>
          </a:p>
          <a:p>
            <a:pPr>
              <a:spcAft>
                <a:spcPts val="1200"/>
              </a:spcAft>
            </a:pPr>
            <a:r>
              <a:rPr sz="2200">
                <a:solidFill>
                  <a:srgbClr val="1F2937"/>
                </a:solidFill>
                <a:latin typeface="Calibri"/>
              </a:rPr>
              <a:t>▸  Davo: 125 g albumin, 6,5 litr suyuqlik va natriy bikarbonat infuziya qilingan. Bu holat muvaffaqiyatli deb tavsiflangan.</a:t>
            </a:r>
          </a:p>
          <a:p>
            <a:pPr>
              <a:spcAft>
                <a:spcPts val="1200"/>
              </a:spcAft>
            </a:pPr>
            <a:r>
              <a:rPr sz="2200">
                <a:solidFill>
                  <a:srgbClr val="1F2937"/>
                </a:solidFill>
                <a:latin typeface="Calibri"/>
              </a:rPr>
              <a:t>▸  Muallif talqini: albumin pasayishi uzoq davom etgan gipovolemiyadan bo‘lgan bo‘lishi mumkin. Shuning uchun hajmni tiklash asosiy edi.</a:t>
            </a:r>
          </a:p>
          <a:p>
            <a:pPr>
              <a:spcAft>
                <a:spcPts val="1200"/>
              </a:spcAft>
            </a:pPr>
            <a:r>
              <a:rPr sz="2200">
                <a:solidFill>
                  <a:srgbClr val="1F2937"/>
                </a:solidFill>
                <a:latin typeface="Calibri"/>
              </a:rPr>
              <a:t>▸  Savol: nima uchun faqat zaharga qarshi emas, hajm va albuminni tiklash ham hayotni saqlab qolishi mumkin? Muhokama qiling.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Ramadori et al., Organophosphorus Poisoning: Acute Respiratory Distress Syndrome, betlar: PMID 37047631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bemorni davolang, zahar emas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Boshlang‘ich davo standart ABC (nafas yo‘li, nafas, qon aylanishi) bilan boshlanadi. O‘limning ko‘pi nafas yetishmovchiligidan bo‘lgani uchun nafas himoyasi va ventilyatsiya muhim.</a:t>
            </a:r>
          </a:p>
          <a:p>
            <a:pPr>
              <a:spcAft>
                <a:spcPts val="1200"/>
              </a:spcAft>
            </a:pPr>
            <a:r>
              <a:rPr sz="2000">
                <a:solidFill>
                  <a:srgbClr val="1F2937"/>
                </a:solidFill>
                <a:latin typeface="Calibri"/>
              </a:rPr>
              <a:t>▸  Atropin har bemorga individual dozada beriladi. Oshqozonni tozalash faqat bemor to‘liq barqarorlashgach o‘tkaziladi, qabul qilinishi bilanoq emas.</a:t>
            </a:r>
          </a:p>
          <a:p>
            <a:pPr>
              <a:spcAft>
                <a:spcPts val="1200"/>
              </a:spcAft>
            </a:pPr>
            <a:r>
              <a:rPr sz="2000">
                <a:solidFill>
                  <a:srgbClr val="1F2937"/>
                </a:solidFill>
                <a:latin typeface="Calibri"/>
              </a:rPr>
              <a:t>▸  Gipovolemiya, gipoalbuminemiya, yuqori laktat va CRP ikkilamchi omillardir. Ularni to‘g‘rilash natijaga ta’sir qilishi mumkin: “zaharni emas, bemorni davolang”.</a:t>
            </a:r>
          </a:p>
          <a:p>
            <a:pPr>
              <a:spcAft>
                <a:spcPts val="1200"/>
              </a:spcAft>
            </a:pPr>
            <a:r>
              <a:rPr sz="2000">
                <a:solidFill>
                  <a:srgbClr val="1F2937"/>
                </a:solidFill>
                <a:latin typeface="Calibri"/>
              </a:rPr>
              <a:t>▸  Statsionarda o‘lim 15–23%, ventilyatsiyadagilarda 50% dan yuqori bo‘lishi mumkin. Sabablari: nafas yetishmovchiligi, so‘ng yurak to‘xtashi, sepsis, gipovolemik shok.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Eddleston et al., Early management after self-poisoning with an organophosphorus or carbamate pesticide – a treatment protocol for junior doctors, betlar: PMID 15566582; Ramadori et al., Organophosphorus Poisoning: Acute Respiratory Distress Syndrome, betlar: PMID 37047631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Rivojlanayotgan mamlakatlarda o‘z joniga qasd qilib zaharlanishda o‘lim ko‘pincha 10–20%, ayrim pestitsidlarda esa 50–70% bo‘ladi. G‘arb mamlakatlarida barcha sabablar bo‘yicha bu ko‘rsatkich 0,3% dan past.</a:t>
            </a:r>
          </a:p>
          <a:p>
            <a:pPr>
              <a:spcAft>
                <a:spcPts val="1200"/>
              </a:spcAft>
            </a:pPr>
            <a:r>
              <a:rPr sz="1800">
                <a:solidFill>
                  <a:srgbClr val="1F2937"/>
                </a:solidFill>
                <a:latin typeface="Calibri"/>
              </a:rPr>
              <a:t>▸  Eslab qolish usuli: FOB (fosfororganik birikmalar) bilan zaharlanishda “beshta belgi” tekshiriladi. Ular: mioz, ter, o‘pkaga havo kirishining yomonlashuvi, bradikardiya va gipotenziya. Ko‘z qorachig‘i nuqtadek va bemor terga botgan bo‘lsa, atropin beriladi.</a:t>
            </a:r>
          </a:p>
          <a:p>
            <a:pPr>
              <a:spcAft>
                <a:spcPts val="1200"/>
              </a:spcAft>
            </a:pPr>
            <a:r>
              <a:rPr sz="1800">
                <a:solidFill>
                  <a:srgbClr val="1F2937"/>
                </a:solidFill>
                <a:latin typeface="Calibri"/>
              </a:rPr>
              <a:t>▸  Hodisa tahlili: yog‘da eruvchan FOB (masalan, fention) yog‘ to‘qimasidan kunlar va hatto haftalar davomida qonga chiqadi. Shuning uchun bemor yaxshilangandan keyin ham xolinergik inqiroz to‘satdan qaytishi mumkin.</a:t>
            </a:r>
          </a:p>
          <a:p>
            <a:pPr>
              <a:spcAft>
                <a:spcPts val="1200"/>
              </a:spcAft>
            </a:pPr>
            <a:r>
              <a:rPr sz="1800">
                <a:solidFill>
                  <a:srgbClr val="1F2937"/>
                </a:solidFill>
                <a:latin typeface="Calibri"/>
              </a:rPr>
              <a:t>▸  Noh va hamkasblarining tadqiqotida (217 bemor) o‘lim gipoalbuminemiya guruhida 45%, normoalbuminemiyada 15,8%, giperalbuminemiyada 9,1% bo‘lgan. Past albumin yomon prognoz belgisidir.</a:t>
            </a:r>
          </a:p>
          <a:p>
            <a:pPr>
              <a:spcAft>
                <a:spcPts val="1200"/>
              </a:spcAft>
            </a:pPr>
            <a:r>
              <a:rPr sz="1800">
                <a:solidFill>
                  <a:srgbClr val="1F2937"/>
                </a:solidFill>
                <a:latin typeface="Calibri"/>
              </a:rPr>
              <a:t>▸  Juda zaharli I sinf pestitsidlar (parathion, mevinphos) taqiqlanishi tufayli FOB bilan o‘z joniga qasd qilishdan o‘lim taxminan 258 000 (2007) dan ~110 000 (2017) gacha kamaygan. Bu hali ham juda katta raqam.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22 ta test savoli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Bemorning ko‘z qorachig‘i nuqtadek torayган, badani ter bilan qoplangan, bronxoreya bor. Bu manzaraning asosiy sababi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Atsetilxolinning sinapsga yetarlicha ajralib chiqmasligi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Xolinergik retseptorlarning bevosita to‘liq bloklanishi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Atsetilxolinesterazaning bloklanishi, atsetilxolin to‘planishi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Atsetilxolinesterazaning haddan tashqari faollashuvi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rivojlanayotgan mamlakatda pestitsid bilan o‘z-o‘zini zaharlash holatlarida o‘rtacha letallikni baholamoqda. Manbaga ko‘ra, odatiy ko‘rsatkich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Taxminan 10–20 foiz</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Taxminan 0,3 foizdan kam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Taxminan 50–70 foiz</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Taxminan 1–2 foiz</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Olis qishloqda bemor FOB ichgan. Yaqin atrofda shifokor kam, antidot yo‘q, kasalxonaga yo‘l uzoq. Manbaga ko‘ra, quyidagilardan qaysi biri yuqori letallik sababi hisoblanmaydi?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Mahalliy zaharlarning yuqori toksikligi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Bemorlarni uzoq masofaga tashishdagi qiyinchilik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Antidotlar va tayyorgarlikning yetishmasligi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Bemorlarga nisbatan shifokorlarning ortiqchaligi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2007 yildan 2017 yilgacha FOB bilan o‘z-o‘zini zaharlashdan jahon bo‘yicha o‘lim kamayishiga qaysi chora hissa qo‘shgan?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Barcha pestitsidlar ishlatilishining to‘liq to‘xtatilishi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Paration kabi yuqori toksik I sinf pestitsidlarni taqiqlash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Pralidoksimni barcha davlatlarda majburiy qo‘llash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Qishloqlarda reanimatsiya bo‘limlarini ommaviy ochish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Fosfororganik birikmalar (FOB) kimyoviy guruhlarini qaysi qator to‘g‘ri sanaydi?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Piretroidlar, neonikotinoidlar, avermektinlar, triazinlar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Xlororganik birikmalar, kumarinlar, triazollar, fenoksilar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Fosfatlar, fosfonatlar, fosfinatlar, fosforotioatlar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Bipiridillar, ditiokarbamatlar, strobilurinlar, glifosatlar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soman bilan zaharlangan, oksim bilan davo kech boshlandi. Oksim nega samarasiz bo‘lishi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Oksim atropinning muskarin retseptoriga ta’sirini bloklaydi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Soman AChE bilan qaytar va zaif bog‘lanish hosil qiladi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Ingibitsiyalangan AChE tez “qarib”, oksim tiklay olmaydi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Soman faqat BChE ni ingibitsiyalaydi, AChE ga ta’sir qilmaydi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Terisiga tushgan, o‘ta kam uchuvchan va lipofil VX bilan zaharlanishda toksik belgilar qachon boshlanadi?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Kechikib, bir necha soatdan keyin boshlanadi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Bir necha daqiqada, shilliq pardalar orqali boshlanadi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Hech qanday o‘tkir belgi bo‘lmaydi, faqat surunkali ta’sir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og‘iz orqali kirganda boshlanadi, teri orqali kirmaydi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Tion guruhidagi FOB ichgan bemorda dastlab xolinergik belgilar yo‘q edi, keyin paydo bo‘ldi. Buning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Tion qonda atropin bilan birikib, faolsizlanadi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Tion butirilxolinesterazani to‘g‘ridan-to‘g‘ri faollashtiradi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Oksim ta’sirida AChE yangidan sintezlanib ketadi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Tion sitoxrom P450 orqali faol oksonga aylanadi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FOB atsetilxolinesterazani ingibitsiyalagandan keyin, sinapslarda xolinergik belgilar haftalab saqlanishi asosan nimaga bog‘liq?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Jigarda atsetilxolin sintezi kuchayib ketishiga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Yangi AChE yetarlicha sintezlanguncha ACh ortiqcha qolishiga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 zardobida albumin miqdori oshib ketishiga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Atropinning ortiqcha dozada berilganiga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ter bilan qoplangan, qorachiqlari nuqtadek, nafasi og‘ir; pestitsid keng tarqalgan hududda. Qanday qaror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Avval xolinesteraza faolligi tahlili natijasini kutish kerak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Avval oshqozonni yuvib, so‘ng davoni tanlashga o‘tish kerak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Darhol atropin berish kerak, bu belgilar yetarli asos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Atropin bermasdan, faqat qisqa muddat kuzatuvda qoldirish kerak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FOB ichgan bemor shifoxonaga keldi. Dastlabki ko‘rikda alomatlari kam, ball bo‘yicha “yengil” deb baholandi. Eng to‘g‘ri qaror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Yengil holat deb hisoblab, kuzatuvni to‘xtatish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Bir marta baholab, qayta tekshiruvni kechiktirish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Tez og‘irlashishi mumkinligi uchun kuzatuvni davom ettirish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Tasdiqlangan shkala natijasiga to‘liq tayanib qolish</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FOB bilan zaharlangan bemor boshini yostiqdan ko‘tarishga qiynalmoqda. Bu holat birinchi navbatda nimani ko‘rsatishi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Oraliq sindrom rivojlanish xavfini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Atropin yetarli yuklanganini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Atropin toksikligi tugaganini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Qorachiqlar normaga qaytganini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Hushsiz FOB bemori kelganda ABC tekshirilib, kislorod berildi. Aspiratsiya xavfini kamaytirish uchun bemorni qaysi holatga yotqizish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Chalqancha, boshi baland holatda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Qorni bilan, yuzi pastga qaratib</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O‘tirgan, tanasi oldinga engashgan holatda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Chap yon bilan, ideal holda boshi pastga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Atropin yuklangandan 3–5 daqiqa o‘tdi, lekin besh ko‘rsatkich bo‘yicha izchil yaxshilanish yo‘q. Keyingi to‘g‘ri qadam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Boshlang‘ich dozani aynan o‘sha miqdorda takrorlash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Atropin dozasini ikki barobar oshirish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Atropinni to‘xtatib, bemorni kuzatishga o‘tish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Atropin o‘rniga faqat diazepam berish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Atropin infuziyasi olayotgan bemorda chalkashlik, isitma va ichak shovqinlarining yo‘qligi aniqlandi. Birinchi navbatda nima qilinadi?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Infuziya tezligini yanada oshirish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Qo‘shimcha atropin bolusini yuborish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Infuziyani to‘xtatib, 30 daqiqadan keyin qayta baholash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yurak urishiga qarab dozani oshirish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FOB bilan zaharlangan hushsiz bemorda tutqanoq boshlandi. Dastlabki yordam protokoliga ko‘ra qaysi harakat darhol qilinadi?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Vena ichiga diazepam yuborish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Oshqozonni darhol yuvish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Ipekakuana bilan qusdirish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Oksimni bolus qilib tez yuborish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Hushsiz, intubatsiya qilinmagan bemor FOB bilan zaharlangan. Dekontaminatsiya haqida qaysi qaror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Darhol oshqozonni yuvib, keyin bemorni barqarorlashtirish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Avval bemorni barqarorlashtirib, zarur bo‘lsa intubatsiya qilish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Ipekak berib, qusishni chaqirib oshqozonni bo‘shatish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faollangan ko‘mir berib, boshqa chora ko‘rmaslik</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FOB bilan zaharlangan bemor qattiq qo‘zg‘algan va tana harorati baland. Qaysi usul to‘g‘ri tanlov?</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Bemorni to‘shakka mahkam bog‘lab qo‘yish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Galoperidolni yuqori dozada vena ichiga berish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Diazepamni sekin vena ichiga berib, bemorni sovitish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Atropin infuzi tezligini darrov oshirish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Kasalxonaga yotqizilgan FOB bilan zaharlangan bemorlarda eng ko‘p uchraydigan o‘lim sababi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Nafas yetishmovchiligi, keyin yurak to‘xtashi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Birlamchi jigar yetishmovchiligi va koma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Miokard infarkti va bosh miya shishi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o‘tkir buyrak yetishmovchiligi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Bemorda qayt qilish, ich ketishi, ter va bronx sekretsiyasi ko‘p, siydik kam, bosim past, yurak sekin urmoqda. Atropindan keyingi birinchi davo yo‘nalishi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diuretiklar berib, suyuqlikni cheklash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antibiotiklar boshlab, sepsisni davolash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oksimlar dozasini oshirib, AChE ni tiklash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Albumin va suyuqlik infuzi bilan hajmni tiklash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21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200 ml diklorvos ichgan, og‘ir atsidoz bor, qon albumini 1 g/dL gacha tushgan. Qaysi muolaja muvaffaqiyatli qo‘llangan?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yangi muzlatilgan plazma va oksimlar berish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gemodializ va yuqori dozali antibiotik berish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Albumin, suyuqlik va natriy bikarbonat infuzi qilish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mexanik ventilyatsiya va diuretik qo‘llash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22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83</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Kasalxonaga tushgan FOB bilan zaharlangan bemorda yuqori CRP va past albumin aniqlandi. Bu natijalarni qanday sharhlash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sepsis belgisi, shuning uchun antibiotik shart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jigarning birlamchi yetishmovchiligi belgisi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To‘qima ishemiyasi va gipovolemiya belgisi sifatida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atsetilxolin ko‘pligining bevosita natijasi</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Atsetilxolinesterazaning bloklanishi, atsetilxolin to‘planishi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Fosfororganik birikmalar (FOB) atsetilxolinesterazaning serin qoldig‘iga kovalent bog‘lanib, uni ingibitsiya qiladi. Atsetilxolin parchalanmaydi va signal uzatilishi davom etadi. Shundan xolinergik krizis kelib chiqadi: miyoz, ko‘p terlash, bronxoreya va bronxospazm. Variantlar A va D mexanizmga teskari. B retseptorlar bloklanishini ko‘rsatadi, bu atropin ta’siriga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Ramadori et al., Organophosphorus Poisoning: Acute Respiratory Distress Syndrome, PMID 37047631-bet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Taxminan 10–20 foiz</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Rivojlanayotgan mamlakatlarda o‘z-o‘zini zaharlashdagi letallik odatda 10–20 foiz. Ayrim pestitsidlarda u 50–70 foizgacha yetadi, lekin bu odatiy emas. G‘arb mamlakatlarida barcha sabablar bo‘yicha letallik 0,3 foizdan kam.</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Eddleston et al., Early management after self-poisoning with an organophosphorus or carbamate pesticide – a treatment protocol for junior doctors, PMID 15566582-bet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Bemorlarga nisbatan shifokorlarning ortiqchaligi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Manbada yuqori letallik sabablari ko‘p omilli deyilgan. Ular: mahalliy zaharlarning yuqori toksikligi, bemorni uzoq masofaga tashishdagi qiyinchiliklar, bemorlar soniga nisbatan sog‘liqni saqlash xodimlarining kamligi, vosita, antidot va tayyorgarlik yetishmasligi. Shifokorlarning ortiqchaligi esa sabab emas, aksincha ularning yetishmasligi sabab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Eddleston et al., Early management after self-poisoning with an organophosphorus or carbamate pesticide – a treatment protocol for junior doctors, PMID 15566582-bet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Paration kabi yuqori toksik I sinf pestitsidlarni taqiqlash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Parathion va mevinphos kabi yuqori toksik I sinf pestitsidlarning taqiqlanishi yillik o‘limni 2007 yildagi taxminan 258 000 dan ortiq holatdan 2017 yilda taxminan 110 000 ga tushirishga hissa qo‘shgan. Bu raqam hanuzgacha juda yuqori. Boshqa variantlar manbada ko‘rsatilmagan.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Worek et al., Organophosphorus compounds and oximes: a critical review, PMID 32506210-bet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Fosfatlar, fosfonatlar, fosfinatlar, fosforotioatlar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Fosforning organik kimyosi bo‘yicha uzoq yillik tadqiqotlar fosfatlar, fosfonatlar, fosfinatlar va fosforotioatlar guruhlarining paydo bo‘lishiga olib kelgan. Ularning ayrimlari pestitsid, ayrimlari jangovar asab agenti sifatida ishlatilgan. Boshqa qatorlardagi birikmalar FOB guruhiga kirmaydi.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Worek et al., Organophosphorus compounds and oximes: a critical review, PMID 32506210-bet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Ingibitsiyalangan AChE tez “qarib”, oksim tiklay olmaydi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Soman bilan ingibitsiyalangan AChE da “qarish” (dealkillanish) juda tez kechadi, yarim davri taxminan 2 daqiqa. Qarigan ferment oksim bilan reaktivatsiya bo‘lmaydi, shuning uchun oksim davosi samarasiz bo‘ladi. Dimetil-FOB da esa spontan reaktivatsiya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Worek et al., Organophosphorus compounds and oximes: a critical review, PMID 32506210; DOI 10.1007/s00204-020-02797-0-bet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Kechikib, bir necha soatdan keyin boshlanadi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VX ning bug‘ bosimi juda past, u lipofil va asosan teri orqali kiradi, belgilari kechikib (soatlarda) paydo bo‘ladi. Sarin esa uchuvchan bo‘lib, shilliq pardalar orqali kiradi va belgilar daqiqalarda boshlanadi.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Worek et al., Organophosphorus compounds and oximes: a critical review, PMID 32506210; DOI 10.1007/s00204-020-02797-0-bet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Tion sitoxrom P450 orqali faol oksonga aylanadi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Tionlar (organofosforotioatlar) o‘zi kuchsiz ingibitor bo‘lib, sitoxrom P450 ta’sirida faol oksonga aylanadi. Shuning uchun belgilar kechikib chiqishi mumkin va bemorni diqqat bilan kuzatish kerak. Fention kabi yog‘da eruvchi FOB yog‘dan sekin chiqib, belgilarni qaytarishi ham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Worek et al., Organophosphorus compounds and oximes: a critical review, PMID 32506210; DOI 10.1007/s00204-020-02797-0-bet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Yangi AChE yetarlicha sintezlanguncha ACh ortiqcha qolishiga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Ingibitsiya amalda qaytmas, fermentni zahardan ajratadigan dori yo‘q. Atsetilxolin ortiqcha holda sinapslarda yangi, mahalliy sintezlangan AChE yetarli bo‘lguncha haftalab saqlanishi mumkin. Oksimlarning bu muddatni qisqartirishi hali munozarali.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Ramadori et al., Organophosphorus Poisoning: Acute Respiratory Distress Syndrome, PMID 37047631; DOI 10.3390/ijms24076658-bet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Darhol atropin berish kerak, bu belgilar yetarli asos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Nuqtadek qorachiq va ko‘p terlash FOB/karbamatdan zaharlanishni ko‘rsatadi va atropin berishga asos bo‘ladi. Besh asosiy belgi: miozis, ko‘p terlash, bronxoreya/bronxospazm tufayli havo kirishining yomonlashuvi, bradikardiya, gipotenziya. Laboratoriya tahlilini kutib bo‘lmaydi, dekontaminatsiya esa bemor stabillashgandan keyin qilinadi.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Eddleston et al., Early management after self-poisoning with an organophosphorus or carbamate pesticide – a treatment protocol for junior doctors, PMID 15566582; DOI 10.1186/cc2953-bet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Tez og‘irlashishi mumkinligi uchun kuzatuvni davom ettirish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Mualliflar og‘irlik shkalalaridan foydalanmagan, chunki ularning birortasi mustaqil tasdiqlanmagan. FOB bilan zaharlangan bemorlar beqaror, yengil holat tez og‘irlashishi mumkin. “Yengil” ball shifokorni xotirjam qilib qo‘yishi xavfli. IPCS/EC/EAPCCT zaharlanish og‘irligi bali faqat retrospektiv qo‘llash uchun mo‘ljallangan.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Eddleston et al., Early management after self-poisoning with an organophosphorus or carbamate pesticide – a treatment protocol for junior doctors, PMID 15566582; DOI 10.1186/cc2953-bet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Oraliq sindrom rivojlanish xavfini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Bo‘yin bukuvchi mushaklarining zaifligi oraliq sindromning erta belgisi. Keyin yordamchi nafas mushaklari ishlashi, burun qanotlari kengayishi, tezlashgan nafas, kranial nervlar falaji va proksimal mushaklar zaifligi qo‘shiladi. Bo‘yni zaif bemorlarning hammasida to‘liq sindrom rivojlanmaydi, lekin ular xavf ostida va muntazam kuzatilishi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Eddleston et al., Early management after self-poisoning with an organophosphorus or carbamate pesticide – a treatment protocol for junior doctors, PMID 15566582; DOI 10.1186/cc2953-bet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Chap yon bilan, ideal holda boshi pastga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Protokolga ko‘ra bemor chap yon holatiga, ideal holda boshi pastga qaratib yotqiziladi. Bu aspiratsiya xavfini kamaytiradi. Bo‘yinni yozish nafas yo‘lini ochiq tutishga yordam beradi. Tutqanoq bo‘lsa, darhol vena ichiga diazepam beriladi.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Eddleston et al., Early management after self-poisoning with an organophosphorus or carbamate pesticide – a treatment protocol for junior doctors, PMID 15566582; DOI 10.1186/cc2953-bet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Atropin dozasini ikki barobar oshirish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Javob bo‘lmasa, doza ikki barobar oshiriladi va har safar javob bo‘lmaganda yana ikki barobar qilinadi. Boshlang‘ich dozani oddiy takrorlash noto‘g‘ri: ba’zi bemorlarga o‘nlab yoki yuzlab mg kerak bo‘ladi, 3 mg dan takrorlash soatlab vaqt oladi. Og‘ir bemor shu vaqtgacha o‘lib qolishi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Eddleston et al., Early management after self-poisoning with an organophosphorus or carbamate pesticide – a treatment protocol for junior doctors, PMID 15566582; DOI 10.1186/cc2953-bet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Infuziyani to‘xtatib, 30 daqiqadan keyin qayta baholash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Uchala belgi bo‘lsa, atropin ortiqcha berilmoqda. Infuziya to‘xtatiladi va 30 daqiqadan keyin belgilar pasayganini tekshiriladi. Pasaysa, avvalgi tezlikning 70–80 foizidan qayta boshlanadi. Yurak urishi va qorachiq o‘lchamiga tayanib bo‘lmaydi, chunki ular nikotin va muskarin ta’siri balansiga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Eddleston et al., Early management after self-poisoning with an organophosphorus or carbamate pesticide – a treatment protocol for junior doctors, PMID 15566582; DOI 10.1186/cc2953-bet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Vena ichiga diazepam yuborish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Dastlabki baholashda tutqanoqqa e’tibor beriladi va u bo‘lsa, darhol vena ichiga diazepam beriladi. Oshqozonni tozalash bemor barqarorlashgandan keyin, kerak bo‘lsa intubatsiyadan so‘ng ko‘rib chiqiladi. Ipekakuana FOB bilan zaharlanganda qo‘llanmaydi.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Eddleston et al., Early management after self-poisoning with an organophosphorus or carbamate pesticide – a treatment protocol for junior doctors, PMID 15566582; DOI 10.1186/cc2953-bet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Avval bemorni barqarorlashtirib, zarur bo‘lsa intubatsiya qilish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Dekontaminatsiya bemor barqarorlashgandan va kerak bo‘lsa intubatsiya qilingandan keyin o‘ylanadi. Ipekak zaharlanganlarda qarshi ko‘rsatma. Hushsiz, intubatsiyasiz bemorda oshqozon yuvish o‘limgacha asoratlar xavfini tug‘diradi.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Eddleston et al., Early management after self-poisoning with an organophosphorus or carbamate pesticide – a treatment protocol for junior doctors, PMID 15566582-bet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Diazepamni sekin vena ichiga berib, bemorni sovitish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Qo‘zg‘alishda diazepam sekin tomir ichiga beriladi, bemor nam sochiq va ventilyator bilan sovitiladi. Bog‘lab qo‘yilgan bemor kurashib, ortiqcha issiqlik hosil qiladi va gipertermik yurak to‘xtashi xavfi ortadi. Galoperidol ham afzal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Eddleston et al., Early management after self-poisoning with an organophosphorus or carbamate pesticide – a treatment protocol for junior doctors, PMID 15566582-bet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Nafas yetishmovchiligi, keyin yurak to‘xtashi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Manbalarda eng ko‘p o‘lim sababi nafas yetishmovchiligi, undan keyin yurak to‘xtashi, sepsis va gipovolemik shok sanaladi. Ikkinchi manba ham o‘limlarning ko‘pi nafas yetishmovchiligidan ekanini qayd etadi.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Ramadori et al., Organophosphorus Poisoning: Acute Respiratory Distress Syndrome, PMID 37047631-bet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Albumin va suyuqlik infuzi bilan hajmni tiklash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Suyuqlik yo‘qotilishi gipovolemiya va to‘qima gipoksiyasiga olib keladi. Atropindan keyin birinchi chora sifatida vena ichiga albumin va suyuqlik berib, qon hajmi va to‘qima kislorodlanishi tiklanadi. Bu holat sepsisga o‘xshab ketishi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Ramadori et al., Organophosphorus Poisoning: Acute Respiratory Distress Syndrome, PMID 37047631-bet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Albumin, suyuqlik va natriy bikarbonat infuzi qilish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Muvaffaqiyatli holatda 125 g albumin, 6,5 litr suyuqlik va natriy bikarbonat infuz qilingan. Gipoalbuminemiya uzoq davom etgan gipovolemiya bilan bog‘langan. Oksimlar AChE ingibitsiyasini kamaytirishda foydali ko‘rinmaydi.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Ramadori et al., Organophosphorus Poisoning: Acute Respiratory Distress Syndrome, PMID 37047631-bet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22: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82 / 83</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To‘qima ishemiyasi va gipovolemiya belgisi sifatida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Muallif yallig‘lanish markerlari va gipoalbuminemiyani asosan gipovolemiyadan kelib chiqqan to‘qima ishemiyasi belgisi deb baholaydi, atsetilxolin parchalanishining kamayishi bevosita sababi deb emas. Shu sababli ular salbiy prognostik markerlardir.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Ramadori et al., Organophosphorus Poisoning: Acute Respiratory Distress Syndrome, PMID 37047631-bet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FOB bilan zaharlanishning xususiyatlari. O’limga olib kelgan zaharlanishlar xarakteristika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83 / 83</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Eddleston et al. Early management after self-poisoning with an organophosphorus or carbamate pesticide – a treatment protocol for junior doctors, Critical Care. 2004. PMID 15566582; DOI 10.1186/cc2953</a:t>
            </a:r>
          </a:p>
          <a:p>
            <a:pPr>
              <a:spcAft>
                <a:spcPts val="1200"/>
              </a:spcAft>
            </a:pPr>
            <a:r>
              <a:rPr sz="2000">
                <a:solidFill>
                  <a:srgbClr val="1F2937"/>
                </a:solidFill>
                <a:latin typeface="Calibri"/>
              </a:rPr>
              <a:t>▸  Worek et al. Organophosphorus compounds and oximes: a critical review, Archives of Toxicology. 2020. PMID 32506210; DOI 10.1007/s00204-020-02797-0</a:t>
            </a:r>
          </a:p>
          <a:p>
            <a:pPr>
              <a:spcAft>
                <a:spcPts val="1200"/>
              </a:spcAft>
            </a:pPr>
            <a:r>
              <a:rPr sz="2000">
                <a:solidFill>
                  <a:srgbClr val="1F2937"/>
                </a:solidFill>
                <a:latin typeface="Calibri"/>
              </a:rPr>
              <a:t>▸  Ramadori et al. Organophosphorus Poisoning: Acute Respiratory Distress Syndrome (ARDS) and Cardiac Failure as Cause of Death in Hospitalized Patients, International Journal of Molecular Sciences. 2023. PMID 37047631; DOI 10.3390/ijms24076658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