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Klinik vrach va sud-tibbiy ekspertning maqsadi qanday farq qiladi? 2) Pediatr vrach yozgan jarohat tavsifi ekspertizada nega kerak bo‘ladi? Doskada chizish: ikki ustunli sxema — «Klinik travmatologiya» va «Sud-tibbiy travmatologiya» vazifalari. Tipik xato: talabalar sud-tibbiy travmatologiyani faqat davolash fani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Huquqiy va sud-tibbiy ta’rif nimasi bilan farq qiladi? 2) Bolada ichki sabab bilan yuzaga kelgan holat nega jarohat sanalmaydi? Doskada chizish: «tashqi ta’sir → anatomik butunlik yoki funksiya buzilishi → tan jarohati» zanjiri. Tipik xato: kasallikni ham tan jarohati deb atash.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mexanik ta’sir fizik omillar ichida sanaladi? 2) Ruhiy ta’sir holatida qaysi ekspertiza tayinlanadi? Doskada chizish: to‘rt tarmoqli daraxt, fizik tarmoq beshta turchaga ajratilsin. Tipik xato: mexanikni alohida, fizikdan tashqari tur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savollari: 1) Qum va tosh qaysi guruhga kiradi va nima uchun? 2) Elektr toki nima uchun jism ham, modda ham emas? Doskaga chizish: uch ustunli sxema (jism – modda – holat/hodisa), moddani esa uch holatga bo‘ling. Tipik xato: talabalar jism bilan moddani aralashtiradi. Diqqat: jism (turg‘un shakl) ≠ modda (turg‘un shakl yo‘q).</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savollari: 1) Bosh miya chayqalishi va qorindagi qontalash qaysi turga kiradi (kitobda – oddiy qo‘sh ko‘p)? 2) Klinik va sud-tibbiy diagnozda nega avval shu mezonlar aniqlanadi? Doskaga chizish: uch mezonli jadval va har biriga bittadan misol. Tipik xato: oddiy/murakkab (omillar soni) bilan cheklangan/qo‘sh (sohalar soni) 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savollari: 1) Nega bosh miya chayqalishida morfologik o‘zgarish kam bo‘ladi? 2) Qontalash va shok qaysi guruhga kiradi? Doskaga chizish: ikki ustunli jadval, har ustunga 3 tadan misol. Tipik xato: guruhlar qat’iy bo‘lmaganini unutish. Diqqat: anatomik ≠ funksional.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6-8 daq. Javoblar: 1) oddiy cheklangan yakka; 2) oddiy qo‘sh ko‘p; 3) murakkab qo‘sh ko‘p. Muhokama: nega 3-holat murakkab, 2-holat esa oddiy? Qaysi mezon bo‘yicha “qo‘sh”? Doskada chizish: uch ustunli jadval (ta’sir turi / soha / soni) va har bir vaziyatni unga joylash. Tipik xato: murakkab jarohatni qo‘sh jarohat bilan, qo‘sh jarohatni ko‘p jarohat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5-6 daq. Muhokama: bolalar va o‘smirlar uchun qaysi travmatizm turlari (maktab, ko‘cha, maishiy, sport) xos bo‘lishi mumkin? Nega travmatizm tushunchasi guruhga nisbatan qo‘llanadi? Doskada chizish: travmatizm daraxti – 7 asosiy tur va 3 tasining kichik shoxlari. Tipik xato: travmatizmni bitta jarohatning o‘zi deb tushunish; u turdosh jarohatlar majmui.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pediatr sifatida bolalar travmatizmining oldini olishda qanday tavsiyalar bera olasiz? Sud-tibbiy ekspertiza profilaktikaga qanday hissa qo‘shadi? Doskada chizish: zanjir “qoidaga rioya qilmaslik / gangituvchi modda – jarohat – ekspertiza – tavsiya”. Tipik xato: sabablarni faqat tashqi jismga bog‘lab, insoniy omilni (qoidabuzarlik, intoksikatsiya) e’tibordan chetda qoldirish.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Nima uchun jarohat tasnifida omil turi, soha va soni hisobga olinadi? 2) Pediatriya amaliyotida qaysi travmatizm turlari uchrashi mumkin (maktab, maishiy)? Doskada: tasnif mezonlari (omil turi, soha, soni) uchta ustunli sxemasini chizdiring. Tipik xato: cheklangan jarohat bilan yakka jarohatni, oddiy jarohat bilan cheklangan jarohatni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Jarohat hayotiy yoki o‘limdan keyingi ekanini bilish tergov uchun nimani o‘zgartiradi? 2) Reanimatsiya paytida qanday jarohatlar paydo bo‘lishi mumkin? Doskada: ‘Hayotiy jarohat – reaksiya bor, o‘limdan keyingi jarohat – reaksiya yo‘q’ degan ikki ustunli solishtirishni yozing. Tipik xato: o‘limdan keyingi jarohatni faqat qasddan yetkazilgan deb o‘ylash; tasodifiy holatlar ham bor. Qo‘shimcha: ayrim filogenetik katta yoshli to‘qimalarda o‘limdan keyingi jarohat hayotiyga o‘xshashi mumkin (29-bet).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Nima uchun aspiratsiya va emboliya jonli organizmdagina rivojlanadi? 2) Qaysi belgilarni murdada tekshirish osonroq? Doskada: sakkizta umumiy belgini ro‘yxat qilib yozing va qon aylanishga aloqadorlarini belgilang. Tipik xato: umumiy belgilarni mahalliy belgilar (jarohat sohasidagi qon quyilishi, tromb, shish) bilan aralashtirish. Aniqlik jarohat turi, soni, ko‘lamiga va organizm xususiyatlariga bog‘liqligini eslating.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bitta belgiga tayanib xulosa qilish xavfli? 2) Mahalliy belgi umumiy belgidan nimasi bilan farq qiladi? Doskada jadvalni chizdiring: ustunlarga belgilarni guruhlab yozing. Tipik xato: umumiy belgilarni (qon ketishi, aspiratsiya, emboliya) mahalliy belgilar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Qaysi usul jarohat qachon yetkazilganini aniqlaydi? 2) Suyak sinishida qaysi usul birinchi tanlanadi? Doskada chizish: usullar jadvalini talabalar o‘zlari to‘ldirsin. Tipik xato: gistologik usulni faqat hayotiylik uchun deb o‘ylash, aslida u yetkazilish muddatini ham aniqlaydi.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Pediatr sifatida bolada topilgan jarohatni hujjatga nimalarni yozasiz? 2) Nega tibbiy hujjat keyinchalik sud uchun dalil bo‘lishi mumkin? Doskada chizish: jarohat tavsifining namunaviy sxemasi (joyi, shakli, o‘lchami, rangi). Tipik xato: faqat ’diagnoz’ yozib, jarohat belgilarini tavsiflamaslik.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Jarohatning o‘limdan keyin etkazilishi qanday holatlarda bo‘lishi mumkin? 2) Qaysi umumiy va mahalliy belgilar jarohat hayotiyligini tasdiqlaydi? Doskada chizish: ikki ustunli jadval — “umumiy belgilar” va “mahalliy belgilar”. Tipik xato: bitta belgiga tayanib xulosa chiqarish; belgilarning aniqligi jarohat turi, soni va organizm xususiyatlariga bog‘liq.</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harakatsiz jism mexanik jarohat hosil qilmaydi? 2) Massa va tezlik oshsa, jarohat qanday o‘zgaradi? Doskada chizish: “massa + tezlik → kinetik energiya → jarohat ko‘lami” zanjiri. Tipik xato: faqat tezlikni hisobga olib, massani unutish.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Bolta qachon anjom, qachon hujum vositasi sifatida qaraladi? 2) Tosh nega jism hisoblanadi? Doskada chizish: uch ustunli jadval va unga mexanik jarohatlar bo‘linishi (o‘tmas, o‘tkir, o‘q otar). Tipik xato: qurol va anjomni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nega bir xil zarbdan bolada va kattalarda jarohat turlicha bo‘lishi mumkin? Massa va tezlik jarohat ko‘lamiga qanday ta’sir qiladi? Doskada chizing: uch ustunli sxema (vosita – soha – o‘zaro ta’sir) va har ustunga omillarni yozing. Tipik xato: talaba faqat jismning xususiyatlarini sanaydi, shikastlanayotgan sohaning va shaxsning xususiyatlarini unutadi.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nima uchun yurakning chayqalishi o‘limga olib keladi? Transport travmasida qaysi jarohatlar hayot bilan nomutanosib bo‘ladi? Doskada chizing: vaqt chizig‘i (shikast – daqiqalar – kunlar) va unda birlamchi hamda ikkilamchi sabablarni belgilang. Ikkilamchi sabablar darslikning 33-betida (infeksion asoratlar, intoksikatsiya). Tipik xato: qon yo‘qotish, shok va emboliyani faqat ikkilamchi deb hisoblash; ular birlamchi sabablar ro‘yxatida ham bor.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nima uchun bir xil qon yo‘qotishda sur’at hal qiluvchi bo‘lishi mumkin? Ko‘p qon yo‘qotishda taloq nima uchun qisqargan bo‘ladi? Doskada chizing: ikki ustunli taqqoslash jadvali va unda taloqning holatini belgilang. Diqqat: Minakov dog‘lari ≠ murda dog‘lari; birinchisi endokard ostidagi qon quyilishlar. Tipik xato: ‘ko‘p qon yo‘qotish’ni ‘o‘tkir qon yo‘qotish’ bilan aralashtirish va hajmni 2,5 l (50% dan ortiq) deb emas, 500 ml deb olish.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shokda qon miqdori va qon tomir hajmi nega nomutanosib bo‘ladi? Qisilish turlarini jarohat joyiga qarab qanday ajratasiz? Doskada: shikast joyi (bosh, umurtqa, ko‘krak) → qisiluvchi a’zo → sabab (gematoma, gemotoraks) jadvalini chizdiring. Tipik xato: qon yo‘qotish bilan shokni aralashtirish — shok tizimlar faoliyatining buzilishidir.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nega havo emboliyasiga shubhada murda tekshiruvi ko‘krak qafasidan boshlanadi? Havo miqdori va tezligi oqibatga qanday ta’sir qiladi? Doskada: Sunsov sinamasi bosqichlarini (to‘sh olinadi, perikardga suv, qorincha teshiladi, pufak) strelkalar bilan chizdiring. Tipik xato: 5-7 kub sm va 10 kub sm chegaralarini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yog‘ emboliyasida o‘lim 2-3 kundan keyin bo‘ladi? Qaysi jarohatlarda qon aspiratsiyasi xavfi bor? Doskada: sinish → yog‘ zarralari → o‘pka tomirlari → (katta doira) → miya zanjirini chizdiring. Tipik xato: Sudan III (olovrang qizil) va Sudan IV (qora) ranglarini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nega infeksion asoratlar ikkilamchi sabab hisoblanadi? Bolalarda jarohatdan keyingi asoratlarni kuzatish nima uchun muhim? Doskada: ikki ustunli ro‘yxat chizing (birlamchi va ikkilamchi sabablar). Tipik xato: shokni va emboliyani faqat birlamchi sabab deb o‘ylash. Ular ikkilamchi bo‘lib ham kuzatilishi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Talabalar guruhda javob beradi. Muhokama: o‘tkir qon yo‘qotish bilan ko‘p qon yo‘qotishning murda belgilari qanday farqlanadi? Minakov dog‘lari nima sababdan hosil bo‘ladi? Doskada: ikki ustunli taqqoslash jadvali chizing (taloq, murda dog‘lari, mushak qotishi). Tipik xato: taloq kamqonligini har qanday qon yo‘qotishga xos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nima uchun o‘tmas jismlar sud-tibbiy amaliyotda etakchi o‘rinda turadi? Bevosita va bilvosita jarohatga o‘zingiz misol keltiring. Doskada: o‘tmas jism turlari va yuza tasnifining sxemasini chizing. Tipik xato: cheklangan va cheklanmagan yuzani mutlaq tushuncha deb o‘ylash. Aslida ular nisbiy, jism yuzasi shikastlangan soha yuzasi bilan solishtiriladi.</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kichik massali jism faqat ta’sir sohasini shikastlaydi? 2) Aks zarb nima va qachon kutiladi? Doskada: ikki ustunli jadvalni (massa, jarohat joyi, umumiy ta’sir) talabalar bilan birga chizing. Tipik xato: impression va inersion travmani adashtirish, bilvosita jarohatni impressionga bog‘lash.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Bolalarda silkinish sindromida nega kuchli chayqalish xavfli? 2) Siqilishda tashqi jarohat kam bo‘lsa ham ichki shikast nega og‘ir? Doskada: har mexanizm uchun kuch o‘qlarini (markazga, markazdan, burchak ostida, aylana) chizing. Tipik xato: siqilish bilan cho‘zilishni, bevosita va bilvosita jarohatni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Savollarni og‘zaki, juftlikda bering. Muhokama: qaysi mexanizmda bevosita, qaysi birida bilvosita jarohat ustun? Doskada: mexanizm — jarohat juftliklarini ro‘yxat qilib yozdiring. Tipik xato: buralishni cho‘zilish bilan almashtirish.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Qoplama rangi va sathi bosqichlarda qanday o‘zgaradi? 2) Pergament dog‘ini nima bilan farqlaymiz? Doskada: 4 bosqichli zanjirni chizib, har biriga muddat va asosiy belgini yozdiring. Eslatma: muddatlar shartli; yosh, teri xususiyati va chuqurlikka bog‘liq (qoplama 4-6 soatdan hosil bo‘lishi, iz 30 kundan ortiq saqlanishi mumkin). Tipik xato: muddatlarni qat’iy deb yodlash va pergament dog‘ini shilinma deb qabul qilish.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qontalash rangi o‘zgaradi? 2) Qontalashni murda dog‘idan qanday farqlash kerak? Doskada: rang o‘zgarish jadvalini chizdiring; ranglar chetdan boshlab o‘zgarishini ko‘rsating. Eslatma: muddatlar taxminiy; ko‘z, lab shilliq qavati, bo‘yin sohasida tuslanish bo‘lmaydi, bilvosita qontalash kech chiqadi. Tipik xato: rang bo‘yicha aniq kun deb xulosa qilish.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Yara chetlari va devorlari kesma yaradan qanday farq qiladi? 2) Yorilishni yaradan farqlash nega muhim? Doskada: yara va yorilish belgilarini yonma-yon jadvalda chizdiring (chetlari, uchlari, devori, tubi). Eslatma: yara tubi ham notekis bo‘ladi. Tipik xato: yorilishni yara deb baholash, bunda jarohat mexanizmi noto‘g‘ri aniqlanadi.</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Yara shakli jismni aniqlashda nega kerak? 2) Perpendikulyar va burchak ostidagi ta’sirda cheklangan yuzali jism yarasi qanday farqlanadi? Doskada: dumaloq va to‘rtburchak yassi yuzaning burchak ostidagi izini chizdiring (yoysimon va burchaksimon yara). Tishlama yara: kurak tishdan uzunchoq, qoziq tishdan halqasimon, jag‘ tishidan to‘rtburchak. Diqqat: ikki chekkali qirrali jism yarasi chopma yaraga o‘xshaydi. Tipik xato: tikka va burchak ostidagi ta’sir natijalarini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Muvaqqat va doimiy deformatsiya o‘rtasida qanday farq bor? 2) Suyak sinishi tirik shaxs ekspertizasida nimani hal qiladi (tana jarohati og‘irlik darajasi)? Doskada: to‘liq va noto‘liq sinishni chizib, harakat yo‘nalishlarini strelka bilan ko‘rsating. Qo‘shimcha: o‘lim holatlarida suyak sinishiga qarab jarohat mexanizmi va quroli uzoq vaqt aniqlanishi mumkin. Tipik xato: ochiq sinishni teri butunligi bilan emas, jarohat hajmi bilan bog‘lash. Ochiq sinish suyakning tashqi muhit bilan aloqasi bilan belgilanadi.</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Kuch qaysi tomondan tushganini sinish chetlariga qarab qanday aniqlaysiz? 2) Reanimatsiyada yurak massajidan so‘ng to‘sh va qobirg‘a sinishlarini zarbdan farqlash nega muhim? Doskada: egilgan naysimon suyak, cho‘zilish va siqilish tomonlarini belgilab chizing. Qo‘shimcha: chiqishlar doim bilvosita jarohat, ko‘proq qo‘l bo‘g‘imlarida uchraydi, tashqi jarohat xos emas. Diqqat: cho‘zilish tomoni ≠ siqilish tomoni, ularning belgilari teskari. Tipik xato: tekis, tishli chetni siqilish tomoniga, notekisini cho‘zilish tomoniga yozib qo‘yish.</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12 daq. Muhokama: 1) Passiv va aktiv yiqilish nimasi bilan farq qiladi? 2) Nima uchun boshning orqa tomoni bilan yiqilganda akszarb shikast kuchli bo‘ladi? Doskada: balandlikdan yiqilishning 6 bosqichini ketma-ket chizing va jarohat hosil bo‘ladigan bosqichni belgilang. Diqqat, tipik xato: bevosita jarohat (zarb joyida) bilan bilvosita jarohatni (boshqa sohada) aralashtirish. Bundan tashqari, boshning yon tomoni bilan urilganda ham akszarb shikastlanish jiddiyroq ekanini eslating. Tezkor savol: tana bilan tushganda ikkilamchi jarohat bo‘ladimi?</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12 daq. Muhokama: 1) Bir pichoq nima uchun turli yara hosil qiladi? 2) Nima uchun kiyimni qog‘ozga o‘rab saqlash kerak? Doskada: sanchma yara kirish va chiqish teshigini sxematik chizing va farqini yozing. Tipik xato: o‘tkir jismdagi yarani o‘tmas jism yarasi bilan aralashtirish; o‘tkir jismda to‘qima ajralishi birlamchi, o‘tmasda ezilish bilan kechadi. Tezkor savol: sanchma yarada qon ketish ko‘proq tashqimi yoki ichkimi?</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Tibbiy hujjatda faqat diagnoz yozish ekspertizaga qanday qiyinchilik tug‘diradi? 2) Birlamchi va ikkilamchi o‘lim sabablarini misol bilan ajrating. Doskada: mexanik jarohat tasnifining daraxtini (omil turi, soha, soni) chizdiring. Tipik xato: ruhiy ta’sir natijasini sud-tibbiy emas, sud psixiatriyasi o‘rganishini unutish. Tezkor savol: ko‘krak qafasidagi bitta sanchma yara qaysi toifaga kiradi?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№2. Maʻruza: Mexanik jarohatlar xaqidagi ma’lumot.</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Mavzuning maqsadi va reja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Travmatologiya (grekcha: trauma — shikast, logos — ta’limot) shikastlanishlar haqidagi fan. Klinikada u jarohatlarni aniqlash, davolash va oldini olish bilan shug‘ullanadi.</a:t>
            </a:r>
          </a:p>
          <a:p>
            <a:pPr>
              <a:spcAft>
                <a:spcPts val="1200"/>
              </a:spcAft>
            </a:pPr>
            <a:r>
              <a:rPr sz="2200">
                <a:solidFill>
                  <a:srgbClr val="1F2937"/>
                </a:solidFill>
                <a:latin typeface="Calibri"/>
              </a:rPr>
              <a:t>▸  Sud-tibbiy travmatologiya tan jarohatlarida shikastlanish mexanizmi va vaqtini aniqlaydi, jarohat etkazgan jismni topadi.</a:t>
            </a:r>
          </a:p>
          <a:p>
            <a:pPr>
              <a:spcAft>
                <a:spcPts val="1200"/>
              </a:spcAft>
            </a:pPr>
            <a:r>
              <a:rPr sz="2200">
                <a:solidFill>
                  <a:srgbClr val="1F2937"/>
                </a:solidFill>
                <a:latin typeface="Calibri"/>
              </a:rPr>
              <a:t>▸  Diqqat: klinik travmatologiya jarohatni davolaydi, sud-tibbiy travmatologiya esa uni sud-tibbiy jihatdan baholaydi va boshqa o‘ziga xos masalalarni hal etadi.</a:t>
            </a:r>
          </a:p>
          <a:p>
            <a:pPr>
              <a:spcAft>
                <a:spcPts val="1200"/>
              </a:spcAft>
            </a:pPr>
            <a:r>
              <a:rPr sz="2200">
                <a:solidFill>
                  <a:srgbClr val="1F2937"/>
                </a:solidFill>
                <a:latin typeface="Calibri"/>
              </a:rPr>
              <a:t>▸  Bob rejasi: tan jarohati tushunchasi va tasnifi, travmatizm, jarohat hayotiyligi, tekshirish usullari, mexanik jarohatlar.</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Tan jarohati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Jinoyat huquqida tan jarohati — qasddan yoki ehtiyotsizlik oqibatida sodir etilgan g‘ayriqonuniy harakat natijasida sog‘liqqa etkazilgan ziyon.</a:t>
            </a:r>
          </a:p>
          <a:p>
            <a:pPr>
              <a:spcAft>
                <a:spcPts val="1200"/>
              </a:spcAft>
            </a:pPr>
            <a:r>
              <a:rPr sz="2200">
                <a:solidFill>
                  <a:srgbClr val="1F2937"/>
                </a:solidFill>
                <a:latin typeface="Calibri"/>
              </a:rPr>
              <a:t>▸  Sud tibbiyotida tan jarohati — tashqi ta’sir tufayli a’zo va to‘qimalar anatomik butunligi yoki fiziologik funksiyasining buzilishi. U sog‘liq buzilishi yoki o‘limga olib keladi.</a:t>
            </a:r>
          </a:p>
          <a:p>
            <a:pPr>
              <a:spcAft>
                <a:spcPts val="1200"/>
              </a:spcAft>
            </a:pPr>
            <a:r>
              <a:rPr sz="2200">
                <a:solidFill>
                  <a:srgbClr val="1F2937"/>
                </a:solidFill>
                <a:latin typeface="Calibri"/>
              </a:rPr>
              <a:t>▸  Diqqat: xuddi shunday holat ichki ta’sir tufayli paydo bo‘lsa, u tan jarohati emas, kasallik deb hisoblanadi.</a:t>
            </a:r>
          </a:p>
          <a:p>
            <a:pPr>
              <a:spcAft>
                <a:spcPts val="1200"/>
              </a:spcAft>
            </a:pPr>
            <a:r>
              <a:rPr sz="2200">
                <a:solidFill>
                  <a:srgbClr val="1F2937"/>
                </a:solidFill>
                <a:latin typeface="Calibri"/>
              </a:rPr>
              <a:t>▸  Eslab qoling: tashqi ta’sir — jarohat, ichki ta’sir — kasallik.</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Shikastlovchi omillar tasnifi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Shikastlovchi tashqi ta’sirning to‘rt turi farqlanadi: fizik, kimyoviy, biologik va ruhiy.</a:t>
            </a:r>
          </a:p>
          <a:p>
            <a:pPr>
              <a:spcAft>
                <a:spcPts val="800"/>
              </a:spcAft>
            </a:pPr>
            <a:r>
              <a:rPr sz="1800">
                <a:solidFill>
                  <a:srgbClr val="1F2937"/>
                </a:solidFill>
                <a:latin typeface="Calibri"/>
              </a:rPr>
              <a:t>▸  Fizik ta’sir: mexanik, termik, elektr, barometrik, nur; ba’zan omillar birgalikda ta’sir etadi.</a:t>
            </a:r>
          </a:p>
          <a:p>
            <a:pPr>
              <a:spcAft>
                <a:spcPts val="800"/>
              </a:spcAft>
            </a:pPr>
            <a:r>
              <a:rPr sz="1800">
                <a:solidFill>
                  <a:srgbClr val="1F2937"/>
                </a:solidFill>
                <a:latin typeface="Calibri"/>
              </a:rPr>
              <a:t>▸  Ruhiy ta’sir oqibatini sud psixiatriyasi o‘rganadi, sud-psixiatrik ekspertiza tayinlanadi.</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Omil turi</a:t>
                      </a:r>
                    </a:p>
                  </a:txBody>
                  <a:tcPr marL="73152" marR="73152" marT="36576" marB="36576">
                    <a:solidFill>
                      <a:srgbClr val="0B1F3A"/>
                    </a:solidFill>
                  </a:tcPr>
                </a:tc>
                <a:tc>
                  <a:txBody>
                    <a:bodyPr/>
                    <a:lstStyle/>
                    <a:p>
                      <a:r>
                        <a:rPr sz="1400" b="1">
                          <a:solidFill>
                            <a:srgbClr val="FFFFFF"/>
                          </a:solidFill>
                        </a:rPr>
                        <a:t>Ta’sir misoli</a:t>
                      </a:r>
                    </a:p>
                  </a:txBody>
                  <a:tcPr marL="73152" marR="73152" marT="36576" marB="36576">
                    <a:solidFill>
                      <a:srgbClr val="0B1F3A"/>
                    </a:solidFill>
                  </a:tcPr>
                </a:tc>
              </a:tr>
              <a:tr h="411480">
                <a:tc>
                  <a:txBody>
                    <a:bodyPr/>
                    <a:lstStyle/>
                    <a:p>
                      <a:r>
                        <a:rPr sz="1300" b="0">
                          <a:solidFill>
                            <a:srgbClr val="1F2937"/>
                          </a:solidFill>
                        </a:rPr>
                        <a:t>Fizik</a:t>
                      </a:r>
                    </a:p>
                  </a:txBody>
                  <a:tcPr marL="73152" marR="73152" marT="36576" marB="36576">
                    <a:solidFill>
                      <a:srgbClr val="E8EEF6"/>
                    </a:solidFill>
                  </a:tcPr>
                </a:tc>
                <a:tc>
                  <a:txBody>
                    <a:bodyPr/>
                    <a:lstStyle/>
                    <a:p>
                      <a:r>
                        <a:rPr sz="1300" b="0">
                          <a:solidFill>
                            <a:srgbClr val="1F2937"/>
                          </a:solidFill>
                        </a:rPr>
                        <a:t>Mexanik, termik, barometrik, elektr, nur</a:t>
                      </a:r>
                    </a:p>
                  </a:txBody>
                  <a:tcPr marL="73152" marR="73152" marT="36576" marB="36576">
                    <a:solidFill>
                      <a:srgbClr val="E8EEF6"/>
                    </a:solidFill>
                  </a:tcPr>
                </a:tc>
              </a:tr>
              <a:tr h="411480">
                <a:tc>
                  <a:txBody>
                    <a:bodyPr/>
                    <a:lstStyle/>
                    <a:p>
                      <a:r>
                        <a:rPr sz="1300" b="0">
                          <a:solidFill>
                            <a:srgbClr val="1F2937"/>
                          </a:solidFill>
                        </a:rPr>
                        <a:t>Kimyoviy</a:t>
                      </a:r>
                    </a:p>
                  </a:txBody>
                  <a:tcPr marL="73152" marR="73152" marT="36576" marB="36576">
                    <a:solidFill>
                      <a:srgbClr val="FFFFFF"/>
                    </a:solidFill>
                  </a:tcPr>
                </a:tc>
                <a:tc>
                  <a:txBody>
                    <a:bodyPr/>
                    <a:lstStyle/>
                    <a:p>
                      <a:r>
                        <a:rPr sz="1300" b="0">
                          <a:solidFill>
                            <a:srgbClr val="1F2937"/>
                          </a:solidFill>
                        </a:rPr>
                        <a:t>Zaharlar, kimyoviy moddalar, dori-darmonlar</a:t>
                      </a:r>
                    </a:p>
                  </a:txBody>
                  <a:tcPr marL="73152" marR="73152" marT="36576" marB="36576">
                    <a:solidFill>
                      <a:srgbClr val="FFFFFF"/>
                    </a:solidFill>
                  </a:tcPr>
                </a:tc>
              </a:tr>
              <a:tr h="411480">
                <a:tc>
                  <a:txBody>
                    <a:bodyPr/>
                    <a:lstStyle/>
                    <a:p>
                      <a:r>
                        <a:rPr sz="1300" b="0">
                          <a:solidFill>
                            <a:srgbClr val="1F2937"/>
                          </a:solidFill>
                        </a:rPr>
                        <a:t>Biologik</a:t>
                      </a:r>
                    </a:p>
                  </a:txBody>
                  <a:tcPr marL="73152" marR="73152" marT="36576" marB="36576">
                    <a:solidFill>
                      <a:srgbClr val="E8EEF6"/>
                    </a:solidFill>
                  </a:tcPr>
                </a:tc>
                <a:tc>
                  <a:txBody>
                    <a:bodyPr/>
                    <a:lstStyle/>
                    <a:p>
                      <a:r>
                        <a:rPr sz="1300" b="0">
                          <a:solidFill>
                            <a:srgbClr val="1F2937"/>
                          </a:solidFill>
                        </a:rPr>
                        <a:t>Toksinlar, kasallik chaqiruvchi mikroblar</a:t>
                      </a:r>
                    </a:p>
                  </a:txBody>
                  <a:tcPr marL="73152" marR="73152" marT="36576" marB="36576">
                    <a:solidFill>
                      <a:srgbClr val="E8EEF6"/>
                    </a:solidFill>
                  </a:tcPr>
                </a:tc>
              </a:tr>
              <a:tr h="411480">
                <a:tc>
                  <a:txBody>
                    <a:bodyPr/>
                    <a:lstStyle/>
                    <a:p>
                      <a:r>
                        <a:rPr sz="1300" b="0">
                          <a:solidFill>
                            <a:srgbClr val="1F2937"/>
                          </a:solidFill>
                        </a:rPr>
                        <a:t>Ruhiy</a:t>
                      </a:r>
                    </a:p>
                  </a:txBody>
                  <a:tcPr marL="73152" marR="73152" marT="36576" marB="36576">
                    <a:solidFill>
                      <a:srgbClr val="FFFFFF"/>
                    </a:solidFill>
                  </a:tcPr>
                </a:tc>
                <a:tc>
                  <a:txBody>
                    <a:bodyPr/>
                    <a:lstStyle/>
                    <a:p>
                      <a:r>
                        <a:rPr sz="1300" b="0">
                          <a:solidFill>
                            <a:srgbClr val="1F2937"/>
                          </a:solidFill>
                        </a:rPr>
                        <a:t>Kuchli hayajon, qo‘rquv</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Shikastlovchi omillar (jadval 2.1)</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Shikastlovchi omillar ko‘rinishi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Shikastlovchi omil jism, modda yoki holat (hodisa) ko‘rinishida bo‘lishi mumkin.</a:t>
            </a:r>
          </a:p>
          <a:p>
            <a:pPr>
              <a:spcAft>
                <a:spcPts val="1200"/>
              </a:spcAft>
            </a:pPr>
            <a:r>
              <a:rPr sz="2200">
                <a:solidFill>
                  <a:srgbClr val="1F2937"/>
                </a:solidFill>
                <a:latin typeface="Calibri"/>
              </a:rPr>
              <a:t>▸  Jismlar turg‘un o‘lchamli shaklga ega bo‘ladi. Moddalar esa turg‘un shaklga ega emas.</a:t>
            </a:r>
          </a:p>
          <a:p>
            <a:pPr>
              <a:spcAft>
                <a:spcPts val="1200"/>
              </a:spcAft>
            </a:pPr>
            <a:r>
              <a:rPr sz="2200">
                <a:solidFill>
                  <a:srgbClr val="1F2937"/>
                </a:solidFill>
                <a:latin typeface="Calibri"/>
              </a:rPr>
              <a:t>▸  Moddalar qattiq (qum, tuproq), suyuq (kislota, ishqor) va gazsimon (is gazi, metan) holatda bo‘ladi.</a:t>
            </a:r>
          </a:p>
          <a:p>
            <a:pPr>
              <a:spcAft>
                <a:spcPts val="1200"/>
              </a:spcAft>
            </a:pPr>
            <a:r>
              <a:rPr sz="2200">
                <a:solidFill>
                  <a:srgbClr val="1F2937"/>
                </a:solidFill>
                <a:latin typeface="Calibri"/>
              </a:rPr>
              <a:t>▸  Elektr toki va bosimning o‘zgarishi holat yoki hodisa qatoriga kiradi. Ba’zan bir necha omil birgalikda ta’sir qiladi.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Travmaning tasnif mezonlari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Bitta omil ta’siri – oddiy jarohat, ikki va undan ortiq tur ta’siri – murakkab jarohat.</a:t>
            </a:r>
          </a:p>
          <a:p>
            <a:pPr>
              <a:spcAft>
                <a:spcPts val="800"/>
              </a:spcAft>
            </a:pPr>
            <a:r>
              <a:rPr sz="1800">
                <a:solidFill>
                  <a:srgbClr val="1F2937"/>
                </a:solidFill>
                <a:latin typeface="Calibri"/>
              </a:rPr>
              <a:t>▸  Misol: ko‘krak qafasidagi sanchma yara – oddiy cheklangan yakka shikastlanish.</a:t>
            </a:r>
          </a:p>
          <a:p>
            <a:pPr>
              <a:spcAft>
                <a:spcPts val="800"/>
              </a:spcAft>
            </a:pPr>
            <a:r>
              <a:rPr sz="1800">
                <a:solidFill>
                  <a:srgbClr val="1F2937"/>
                </a:solidFill>
                <a:latin typeface="Calibri"/>
              </a:rPr>
              <a:t>▸  Misol: qobirg‘a sinishi va termik kuyish birga bo‘lsa – murakkab qo‘sh ko‘p shikastlanish.</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252415"/>
                <a:gridCol w="1252415"/>
                <a:gridCol w="2783144"/>
              </a:tblGrid>
              <a:tr h="411480">
                <a:tc>
                  <a:txBody>
                    <a:bodyPr/>
                    <a:lstStyle/>
                    <a:p>
                      <a:r>
                        <a:rPr sz="1300" b="1">
                          <a:solidFill>
                            <a:srgbClr val="FFFFFF"/>
                          </a:solidFill>
                        </a:rPr>
                        <a:t>Mezon</a:t>
                      </a:r>
                    </a:p>
                  </a:txBody>
                  <a:tcPr marL="73152" marR="73152" marT="36576" marB="36576">
                    <a:solidFill>
                      <a:srgbClr val="0B1F3A"/>
                    </a:solidFill>
                  </a:tcPr>
                </a:tc>
                <a:tc>
                  <a:txBody>
                    <a:bodyPr/>
                    <a:lstStyle/>
                    <a:p>
                      <a:r>
                        <a:rPr sz="1300" b="1">
                          <a:solidFill>
                            <a:srgbClr val="FFFFFF"/>
                          </a:solidFill>
                        </a:rPr>
                        <a:t>Atama</a:t>
                      </a:r>
                    </a:p>
                  </a:txBody>
                  <a:tcPr marL="73152" marR="73152" marT="36576" marB="36576">
                    <a:solidFill>
                      <a:srgbClr val="0B1F3A"/>
                    </a:solidFill>
                  </a:tcPr>
                </a:tc>
                <a:tc>
                  <a:txBody>
                    <a:bodyPr/>
                    <a:lstStyle/>
                    <a:p>
                      <a:r>
                        <a:rPr sz="1300" b="1">
                          <a:solidFill>
                            <a:srgbClr val="FFFFFF"/>
                          </a:solidFill>
                        </a:rPr>
                        <a:t>Mazmuni</a:t>
                      </a:r>
                    </a:p>
                  </a:txBody>
                  <a:tcPr marL="73152" marR="73152" marT="36576" marB="36576">
                    <a:solidFill>
                      <a:srgbClr val="0B1F3A"/>
                    </a:solidFill>
                  </a:tcPr>
                </a:tc>
              </a:tr>
              <a:tr h="411480">
                <a:tc>
                  <a:txBody>
                    <a:bodyPr/>
                    <a:lstStyle/>
                    <a:p>
                      <a:r>
                        <a:rPr sz="1200" b="0">
                          <a:solidFill>
                            <a:srgbClr val="1F2937"/>
                          </a:solidFill>
                        </a:rPr>
                        <a:t>Omil turi</a:t>
                      </a:r>
                    </a:p>
                  </a:txBody>
                  <a:tcPr marL="73152" marR="73152" marT="36576" marB="36576">
                    <a:solidFill>
                      <a:srgbClr val="E8EEF6"/>
                    </a:solidFill>
                  </a:tcPr>
                </a:tc>
                <a:tc>
                  <a:txBody>
                    <a:bodyPr/>
                    <a:lstStyle/>
                    <a:p>
                      <a:r>
                        <a:rPr sz="1200" b="0">
                          <a:solidFill>
                            <a:srgbClr val="1F2937"/>
                          </a:solidFill>
                        </a:rPr>
                        <a:t>Oddiy / murakkab</a:t>
                      </a:r>
                    </a:p>
                  </a:txBody>
                  <a:tcPr marL="73152" marR="73152" marT="36576" marB="36576">
                    <a:solidFill>
                      <a:srgbClr val="E8EEF6"/>
                    </a:solidFill>
                  </a:tcPr>
                </a:tc>
                <a:tc>
                  <a:txBody>
                    <a:bodyPr/>
                    <a:lstStyle/>
                    <a:p>
                      <a:r>
                        <a:rPr sz="1200" b="0">
                          <a:solidFill>
                            <a:srgbClr val="1F2937"/>
                          </a:solidFill>
                        </a:rPr>
                        <a:t>1 ta omil / 2 va undan ortiq tur</a:t>
                      </a:r>
                    </a:p>
                  </a:txBody>
                  <a:tcPr marL="73152" marR="73152" marT="36576" marB="36576">
                    <a:solidFill>
                      <a:srgbClr val="E8EEF6"/>
                    </a:solidFill>
                  </a:tcPr>
                </a:tc>
              </a:tr>
              <a:tr h="411480">
                <a:tc>
                  <a:txBody>
                    <a:bodyPr/>
                    <a:lstStyle/>
                    <a:p>
                      <a:r>
                        <a:rPr sz="1200" b="0">
                          <a:solidFill>
                            <a:srgbClr val="1F2937"/>
                          </a:solidFill>
                        </a:rPr>
                        <a:t>Shikastlangan soha</a:t>
                      </a:r>
                    </a:p>
                  </a:txBody>
                  <a:tcPr marL="73152" marR="73152" marT="36576" marB="36576">
                    <a:solidFill>
                      <a:srgbClr val="FFFFFF"/>
                    </a:solidFill>
                  </a:tcPr>
                </a:tc>
                <a:tc>
                  <a:txBody>
                    <a:bodyPr/>
                    <a:lstStyle/>
                    <a:p>
                      <a:r>
                        <a:rPr sz="1200" b="0">
                          <a:solidFill>
                            <a:srgbClr val="1F2937"/>
                          </a:solidFill>
                        </a:rPr>
                        <a:t>Cheklangan / qo‘sh</a:t>
                      </a:r>
                    </a:p>
                  </a:txBody>
                  <a:tcPr marL="73152" marR="73152" marT="36576" marB="36576">
                    <a:solidFill>
                      <a:srgbClr val="FFFFFF"/>
                    </a:solidFill>
                  </a:tcPr>
                </a:tc>
                <a:tc>
                  <a:txBody>
                    <a:bodyPr/>
                    <a:lstStyle/>
                    <a:p>
                      <a:r>
                        <a:rPr sz="1200" b="0">
                          <a:solidFill>
                            <a:srgbClr val="1F2937"/>
                          </a:solidFill>
                        </a:rPr>
                        <a:t>Bir soha yoki segment / ikki va undan ortiq</a:t>
                      </a:r>
                    </a:p>
                  </a:txBody>
                  <a:tcPr marL="73152" marR="73152" marT="36576" marB="36576">
                    <a:solidFill>
                      <a:srgbClr val="FFFFFF"/>
                    </a:solidFill>
                  </a:tcPr>
                </a:tc>
              </a:tr>
              <a:tr h="411480">
                <a:tc>
                  <a:txBody>
                    <a:bodyPr/>
                    <a:lstStyle/>
                    <a:p>
                      <a:r>
                        <a:rPr sz="1200" b="0">
                          <a:solidFill>
                            <a:srgbClr val="1F2937"/>
                          </a:solidFill>
                        </a:rPr>
                        <a:t>Jarohat soni</a:t>
                      </a:r>
                    </a:p>
                  </a:txBody>
                  <a:tcPr marL="73152" marR="73152" marT="36576" marB="36576">
                    <a:solidFill>
                      <a:srgbClr val="E8EEF6"/>
                    </a:solidFill>
                  </a:tcPr>
                </a:tc>
                <a:tc>
                  <a:txBody>
                    <a:bodyPr/>
                    <a:lstStyle/>
                    <a:p>
                      <a:r>
                        <a:rPr sz="1200" b="0">
                          <a:solidFill>
                            <a:srgbClr val="1F2937"/>
                          </a:solidFill>
                        </a:rPr>
                        <a:t>Yakka / ko‘p</a:t>
                      </a:r>
                    </a:p>
                  </a:txBody>
                  <a:tcPr marL="73152" marR="73152" marT="36576" marB="36576">
                    <a:solidFill>
                      <a:srgbClr val="E8EEF6"/>
                    </a:solidFill>
                  </a:tcPr>
                </a:tc>
                <a:tc>
                  <a:txBody>
                    <a:bodyPr/>
                    <a:lstStyle/>
                    <a:p>
                      <a:r>
                        <a:rPr sz="1200" b="0">
                          <a:solidFill>
                            <a:srgbClr val="1F2937"/>
                          </a:solidFill>
                        </a:rPr>
                        <a:t>Soniga qarab ajratiladi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Tasnif mezonlari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Anatomik va funksional shikastlanishlar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Struktura va funksiya o‘zaro bog‘liq, shuning uchun bu ajratish shartli hisoblanadi.</a:t>
            </a:r>
          </a:p>
          <a:p>
            <a:pPr>
              <a:spcAft>
                <a:spcPts val="800"/>
              </a:spcAft>
            </a:pPr>
            <a:r>
              <a:rPr sz="1800">
                <a:solidFill>
                  <a:srgbClr val="1F2937"/>
                </a:solidFill>
                <a:latin typeface="Calibri"/>
              </a:rPr>
              <a:t>▸  Anatomik guruhga majaqlanish, chiqish va ichki a’zolar yorilishi ham kiradi.</a:t>
            </a:r>
          </a:p>
          <a:p>
            <a:pPr>
              <a:spcAft>
                <a:spcPts val="800"/>
              </a:spcAft>
            </a:pPr>
            <a:r>
              <a:rPr sz="1800">
                <a:solidFill>
                  <a:srgbClr val="1F2937"/>
                </a:solidFill>
                <a:latin typeface="Calibri"/>
              </a:rPr>
              <a:t>▸  Funksionalga refleksogen sohaga zarbdan shok va ichki a’zolar chayqalishi kiradi.</a:t>
            </a:r>
          </a:p>
        </p:txBody>
      </p:sp>
      <p:graphicFrame>
        <p:nvGraphicFramePr>
          <p:cNvPr id="9" name="Table 8"/>
          <p:cNvGraphicFramePr>
            <a:graphicFrameLocks noGrp="1"/>
          </p:cNvGraphicFramePr>
          <p:nvPr/>
        </p:nvGraphicFramePr>
        <p:xfrm>
          <a:off x="6263640" y="1463040"/>
          <a:ext cx="5287973" cy="1234440"/>
        </p:xfrm>
        <a:graphic>
          <a:graphicData uri="http://schemas.openxmlformats.org/drawingml/2006/table">
            <a:tbl>
              <a:tblPr firstRow="1" bandRow="1">
                <a:tableStyleId>{5C22544A-7EE6-4342-B048-85BDC9FD1C3A}</a:tableStyleId>
              </a:tblPr>
              <a:tblGrid>
                <a:gridCol w="929753"/>
                <a:gridCol w="2033836"/>
                <a:gridCol w="2324384"/>
              </a:tblGrid>
              <a:tr h="411480">
                <a:tc>
                  <a:txBody>
                    <a:bodyPr/>
                    <a:lstStyle/>
                    <a:p>
                      <a:r>
                        <a:rPr sz="1300" b="1">
                          <a:solidFill>
                            <a:srgbClr val="FFFFFF"/>
                          </a:solidFill>
                        </a:rPr>
                        <a:t>Guruh</a:t>
                      </a:r>
                    </a:p>
                  </a:txBody>
                  <a:tcPr marL="73152" marR="73152" marT="36576" marB="36576">
                    <a:solidFill>
                      <a:srgbClr val="0B1F3A"/>
                    </a:solidFill>
                  </a:tcPr>
                </a:tc>
                <a:tc>
                  <a:txBody>
                    <a:bodyPr/>
                    <a:lstStyle/>
                    <a:p>
                      <a:r>
                        <a:rPr sz="1300" b="1">
                          <a:solidFill>
                            <a:srgbClr val="FFFFFF"/>
                          </a:solidFill>
                        </a:rPr>
                        <a:t>Asosiy belgi</a:t>
                      </a:r>
                    </a:p>
                  </a:txBody>
                  <a:tcPr marL="73152" marR="73152" marT="36576" marB="36576">
                    <a:solidFill>
                      <a:srgbClr val="0B1F3A"/>
                    </a:solidFill>
                  </a:tcPr>
                </a:tc>
                <a:tc>
                  <a:txBody>
                    <a:bodyPr/>
                    <a:lstStyle/>
                    <a:p>
                      <a:r>
                        <a:rPr sz="1300" b="1">
                          <a:solidFill>
                            <a:srgbClr val="FFFFFF"/>
                          </a:solidFill>
                        </a:rPr>
                        <a:t>Misollar</a:t>
                      </a:r>
                    </a:p>
                  </a:txBody>
                  <a:tcPr marL="73152" marR="73152" marT="36576" marB="36576">
                    <a:solidFill>
                      <a:srgbClr val="0B1F3A"/>
                    </a:solidFill>
                  </a:tcPr>
                </a:tc>
              </a:tr>
              <a:tr h="411480">
                <a:tc>
                  <a:txBody>
                    <a:bodyPr/>
                    <a:lstStyle/>
                    <a:p>
                      <a:r>
                        <a:rPr sz="1200" b="0">
                          <a:solidFill>
                            <a:srgbClr val="1F2937"/>
                          </a:solidFill>
                        </a:rPr>
                        <a:t>Anatomik</a:t>
                      </a:r>
                    </a:p>
                  </a:txBody>
                  <a:tcPr marL="73152" marR="73152" marT="36576" marB="36576">
                    <a:solidFill>
                      <a:srgbClr val="E8EEF6"/>
                    </a:solidFill>
                  </a:tcPr>
                </a:tc>
                <a:tc>
                  <a:txBody>
                    <a:bodyPr/>
                    <a:lstStyle/>
                    <a:p>
                      <a:r>
                        <a:rPr sz="1200" b="0">
                          <a:solidFill>
                            <a:srgbClr val="1F2937"/>
                          </a:solidFill>
                        </a:rPr>
                        <a:t>Morfologik o‘zgarish yaqqol</a:t>
                      </a:r>
                    </a:p>
                  </a:txBody>
                  <a:tcPr marL="73152" marR="73152" marT="36576" marB="36576">
                    <a:solidFill>
                      <a:srgbClr val="E8EEF6"/>
                    </a:solidFill>
                  </a:tcPr>
                </a:tc>
                <a:tc>
                  <a:txBody>
                    <a:bodyPr/>
                    <a:lstStyle/>
                    <a:p>
                      <a:r>
                        <a:rPr sz="1200" b="0">
                          <a:solidFill>
                            <a:srgbClr val="1F2937"/>
                          </a:solidFill>
                        </a:rPr>
                        <a:t>Shilinma, qontalash, yara, sinish, chiqish</a:t>
                      </a:r>
                    </a:p>
                  </a:txBody>
                  <a:tcPr marL="73152" marR="73152" marT="36576" marB="36576">
                    <a:solidFill>
                      <a:srgbClr val="E8EEF6"/>
                    </a:solidFill>
                  </a:tcPr>
                </a:tc>
              </a:tr>
              <a:tr h="411480">
                <a:tc>
                  <a:txBody>
                    <a:bodyPr/>
                    <a:lstStyle/>
                    <a:p>
                      <a:r>
                        <a:rPr sz="1200" b="0">
                          <a:solidFill>
                            <a:srgbClr val="1F2937"/>
                          </a:solidFill>
                        </a:rPr>
                        <a:t>Funksional</a:t>
                      </a:r>
                    </a:p>
                  </a:txBody>
                  <a:tcPr marL="73152" marR="73152" marT="36576" marB="36576">
                    <a:solidFill>
                      <a:srgbClr val="FFFFFF"/>
                    </a:solidFill>
                  </a:tcPr>
                </a:tc>
                <a:tc>
                  <a:txBody>
                    <a:bodyPr/>
                    <a:lstStyle/>
                    <a:p>
                      <a:r>
                        <a:rPr sz="1200" b="0">
                          <a:solidFill>
                            <a:srgbClr val="1F2937"/>
                          </a:solidFill>
                        </a:rPr>
                        <a:t>Funksiya buzilishi birinchi o‘rinda</a:t>
                      </a:r>
                    </a:p>
                  </a:txBody>
                  <a:tcPr marL="73152" marR="73152" marT="36576" marB="36576">
                    <a:solidFill>
                      <a:srgbClr val="FFFFFF"/>
                    </a:solidFill>
                  </a:tcPr>
                </a:tc>
                <a:tc>
                  <a:txBody>
                    <a:bodyPr/>
                    <a:lstStyle/>
                    <a:p>
                      <a:r>
                        <a:rPr sz="1200" b="0">
                          <a:solidFill>
                            <a:srgbClr val="1F2937"/>
                          </a:solidFill>
                        </a:rPr>
                        <a:t>Shok, chayqalish, aspiratsion asfiksiya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guruh solishtirilishi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jarohatni tasniflash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Tasnif uch mezonga tayanadi: tashqi ta’sir turi, shikastlangan soha va jarohatlar soni. Klinik va sud-tibbiy tashxisda avval shu mezonlar aniqlanadi.</a:t>
            </a:r>
          </a:p>
          <a:p>
            <a:pPr>
              <a:spcAft>
                <a:spcPts val="1200"/>
              </a:spcAft>
            </a:pPr>
            <a:r>
              <a:rPr sz="2200">
                <a:solidFill>
                  <a:srgbClr val="1F2937"/>
                </a:solidFill>
                <a:latin typeface="Calibri"/>
              </a:rPr>
              <a:t>▸  Bitta omil ta’siri – oddiy jarohat, ikki va undan ortiq tur – murakkab. Bir soha – cheklangan, ikki va undan ortiq soha – qo‘sh.</a:t>
            </a:r>
          </a:p>
          <a:p>
            <a:pPr>
              <a:spcAft>
                <a:spcPts val="1200"/>
              </a:spcAft>
            </a:pPr>
            <a:r>
              <a:rPr sz="2200">
                <a:solidFill>
                  <a:srgbClr val="1F2937"/>
                </a:solidFill>
                <a:latin typeface="Calibri"/>
              </a:rPr>
              <a:t>▸  Vaziyat: 1) ko‘krak qafasida sanchma yara; 2) bosh miya chayqalishi va qorinda qontalashlar; 3) qobirg‘alar sinishi va termik kuyish. Har birini tasniflang.</a:t>
            </a:r>
          </a:p>
          <a:p>
            <a:pPr>
              <a:spcAft>
                <a:spcPts val="1200"/>
              </a:spcAft>
            </a:pPr>
            <a:r>
              <a:rPr sz="2200">
                <a:solidFill>
                  <a:srgbClr val="1F2937"/>
                </a:solidFill>
                <a:latin typeface="Calibri"/>
              </a:rPr>
              <a:t>▸  Diqqat: xato qilish xavfi! “Qo‘sh” va “ko‘p” bir narsa emas: qo‘sh – sohalar bo‘yicha, ko‘p – jarohatlar soni bo‘yicha belgilanadi.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Travmatizm va uning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Travmatizm – bir xil mehnat va turmush sharoitidagi shaxslar guruhida uchraydigan turdosh jarohatlar majmui.</a:t>
            </a:r>
          </a:p>
          <a:p>
            <a:pPr>
              <a:spcAft>
                <a:spcPts val="800"/>
              </a:spcAft>
            </a:pPr>
            <a:r>
              <a:rPr sz="1800">
                <a:solidFill>
                  <a:srgbClr val="1F2937"/>
                </a:solidFill>
                <a:latin typeface="Calibri"/>
              </a:rPr>
              <a:t>▸  Turlari faoliyat xususiyatiga bog‘liq: ishlab chiqarish, transport, harbiy, ko‘cha, sport, maktab, maishiy.</a:t>
            </a:r>
          </a:p>
          <a:p>
            <a:pPr>
              <a:spcAft>
                <a:spcPts val="800"/>
              </a:spcAft>
            </a:pPr>
            <a:r>
              <a:rPr sz="1800">
                <a:solidFill>
                  <a:srgbClr val="1F2937"/>
                </a:solidFill>
                <a:latin typeface="Calibri"/>
              </a:rPr>
              <a:t>▸  Ishlab chiqarish, transport va harbiy travmatizm o‘z navbatida kichik turlarga bo‘linadi.</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Turi</a:t>
                      </a:r>
                    </a:p>
                  </a:txBody>
                  <a:tcPr marL="73152" marR="73152" marT="36576" marB="36576">
                    <a:solidFill>
                      <a:srgbClr val="0B1F3A"/>
                    </a:solidFill>
                  </a:tcPr>
                </a:tc>
                <a:tc>
                  <a:txBody>
                    <a:bodyPr/>
                    <a:lstStyle/>
                    <a:p>
                      <a:r>
                        <a:rPr sz="1400" b="1">
                          <a:solidFill>
                            <a:srgbClr val="FFFFFF"/>
                          </a:solidFill>
                        </a:rPr>
                        <a:t>Ko‘rinishlari</a:t>
                      </a:r>
                    </a:p>
                  </a:txBody>
                  <a:tcPr marL="73152" marR="73152" marT="36576" marB="36576">
                    <a:solidFill>
                      <a:srgbClr val="0B1F3A"/>
                    </a:solidFill>
                  </a:tcPr>
                </a:tc>
              </a:tr>
              <a:tr h="411480">
                <a:tc>
                  <a:txBody>
                    <a:bodyPr/>
                    <a:lstStyle/>
                    <a:p>
                      <a:r>
                        <a:rPr sz="1300" b="0">
                          <a:solidFill>
                            <a:srgbClr val="1F2937"/>
                          </a:solidFill>
                        </a:rPr>
                        <a:t>Ishlab chiqarish</a:t>
                      </a:r>
                    </a:p>
                  </a:txBody>
                  <a:tcPr marL="73152" marR="73152" marT="36576" marB="36576">
                    <a:solidFill>
                      <a:srgbClr val="E8EEF6"/>
                    </a:solidFill>
                  </a:tcPr>
                </a:tc>
                <a:tc>
                  <a:txBody>
                    <a:bodyPr/>
                    <a:lstStyle/>
                    <a:p>
                      <a:r>
                        <a:rPr sz="1300" b="0">
                          <a:solidFill>
                            <a:srgbClr val="1F2937"/>
                          </a:solidFill>
                        </a:rPr>
                        <a:t>sanoat, qishloq xo‘jaligi, qurilish</a:t>
                      </a:r>
                    </a:p>
                  </a:txBody>
                  <a:tcPr marL="73152" marR="73152" marT="36576" marB="36576">
                    <a:solidFill>
                      <a:srgbClr val="E8EEF6"/>
                    </a:solidFill>
                  </a:tcPr>
                </a:tc>
              </a:tr>
              <a:tr h="411480">
                <a:tc>
                  <a:txBody>
                    <a:bodyPr/>
                    <a:lstStyle/>
                    <a:p>
                      <a:r>
                        <a:rPr sz="1300" b="0">
                          <a:solidFill>
                            <a:srgbClr val="1F2937"/>
                          </a:solidFill>
                        </a:rPr>
                        <a:t>Transport</a:t>
                      </a:r>
                    </a:p>
                  </a:txBody>
                  <a:tcPr marL="73152" marR="73152" marT="36576" marB="36576">
                    <a:solidFill>
                      <a:srgbClr val="FFFFFF"/>
                    </a:solidFill>
                  </a:tcPr>
                </a:tc>
                <a:tc>
                  <a:txBody>
                    <a:bodyPr/>
                    <a:lstStyle/>
                    <a:p>
                      <a:r>
                        <a:rPr sz="1300" b="0">
                          <a:solidFill>
                            <a:srgbClr val="1F2937"/>
                          </a:solidFill>
                        </a:rPr>
                        <a:t>avto, moto, velosiped, temir yo‘l, havo, suv</a:t>
                      </a:r>
                    </a:p>
                  </a:txBody>
                  <a:tcPr marL="73152" marR="73152" marT="36576" marB="36576">
                    <a:solidFill>
                      <a:srgbClr val="FFFFFF"/>
                    </a:solidFill>
                  </a:tcPr>
                </a:tc>
              </a:tr>
              <a:tr h="411480">
                <a:tc>
                  <a:txBody>
                    <a:bodyPr/>
                    <a:lstStyle/>
                    <a:p>
                      <a:r>
                        <a:rPr sz="1300" b="0">
                          <a:solidFill>
                            <a:srgbClr val="1F2937"/>
                          </a:solidFill>
                        </a:rPr>
                        <a:t>Harbiy</a:t>
                      </a:r>
                    </a:p>
                  </a:txBody>
                  <a:tcPr marL="73152" marR="73152" marT="36576" marB="36576">
                    <a:solidFill>
                      <a:srgbClr val="E8EEF6"/>
                    </a:solidFill>
                  </a:tcPr>
                </a:tc>
                <a:tc>
                  <a:txBody>
                    <a:bodyPr/>
                    <a:lstStyle/>
                    <a:p>
                      <a:r>
                        <a:rPr sz="1300" b="0">
                          <a:solidFill>
                            <a:srgbClr val="1F2937"/>
                          </a:solidFill>
                        </a:rPr>
                        <a:t>urush va tinchlik davri</a:t>
                      </a:r>
                    </a:p>
                  </a:txBody>
                  <a:tcPr marL="73152" marR="73152" marT="36576" marB="36576">
                    <a:solidFill>
                      <a:srgbClr val="E8EEF6"/>
                    </a:solidFill>
                  </a:tcPr>
                </a:tc>
              </a:tr>
              <a:tr h="411480">
                <a:tc>
                  <a:txBody>
                    <a:bodyPr/>
                    <a:lstStyle/>
                    <a:p>
                      <a:r>
                        <a:rPr sz="1300" b="0">
                          <a:solidFill>
                            <a:srgbClr val="1F2937"/>
                          </a:solidFill>
                        </a:rPr>
                        <a:t>Boshqa turlar</a:t>
                      </a:r>
                    </a:p>
                  </a:txBody>
                  <a:tcPr marL="73152" marR="73152" marT="36576" marB="36576">
                    <a:solidFill>
                      <a:srgbClr val="FFFFFF"/>
                    </a:solidFill>
                  </a:tcPr>
                </a:tc>
                <a:tc>
                  <a:txBody>
                    <a:bodyPr/>
                    <a:lstStyle/>
                    <a:p>
                      <a:r>
                        <a:rPr sz="1300" b="0">
                          <a:solidFill>
                            <a:srgbClr val="1F2937"/>
                          </a:solidFill>
                        </a:rPr>
                        <a:t>ko‘cha, sport, maktab, maishiy</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Travmatizm turlari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Travmatizmning sabablari va profilaktika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Ko‘p hollarda shikastlanish belgilangan qoida va tartib talablariga rioya qilmaslik natijasida vujudga keladi.</a:t>
            </a:r>
          </a:p>
          <a:p>
            <a:pPr>
              <a:spcAft>
                <a:spcPts val="1200"/>
              </a:spcAft>
            </a:pPr>
            <a:r>
              <a:rPr sz="2200">
                <a:solidFill>
                  <a:srgbClr val="1F2937"/>
                </a:solidFill>
                <a:latin typeface="Calibri"/>
              </a:rPr>
              <a:t>▸  Spirtli ichimlik, narkotiklar va boshqa gangituvchi moddalarni iste’mol qilish ham shu sabablar qatoriga kiradi.</a:t>
            </a:r>
          </a:p>
          <a:p>
            <a:pPr>
              <a:spcAft>
                <a:spcPts val="1200"/>
              </a:spcAft>
            </a:pPr>
            <a:r>
              <a:rPr sz="2200">
                <a:solidFill>
                  <a:srgbClr val="1F2937"/>
                </a:solidFill>
                <a:latin typeface="Calibri"/>
              </a:rPr>
              <a:t>▸  Jahonda shikastlanishlar ko‘paymoqda, ular orasida murakkab jarohatlar ulushi ham ortib bormoqda.</a:t>
            </a:r>
          </a:p>
          <a:p>
            <a:pPr>
              <a:spcAft>
                <a:spcPts val="1200"/>
              </a:spcAft>
            </a:pPr>
            <a:r>
              <a:rPr sz="2200">
                <a:solidFill>
                  <a:srgbClr val="1F2937"/>
                </a:solidFill>
                <a:latin typeface="Calibri"/>
              </a:rPr>
              <a:t>▸  Ekspertiza materiallari asosida muhim omillar o‘rganilib, oldini olish chora-tadbirlari bo‘yicha aniq taklif va tavsiyalar beriladi.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27, 27-28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tasnif va travmatizm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1: shikastlovchi tashqi ta’sirning qaysi to‘rt turi farqlanadi? Javob: fizik, kimyoviy, biologik va ruhiy.</a:t>
            </a:r>
          </a:p>
          <a:p>
            <a:pPr>
              <a:spcAft>
                <a:spcPts val="1200"/>
              </a:spcAft>
            </a:pPr>
            <a:r>
              <a:rPr sz="2200">
                <a:solidFill>
                  <a:srgbClr val="1F2937"/>
                </a:solidFill>
                <a:latin typeface="Calibri"/>
              </a:rPr>
              <a:t>▸  Savol 2: oddiy va murakkab jarohat nimasi bilan farqlanadi? Javob: oddiy jarohat bitta omildan, murakkab jarohat ikki va undan ortiq turdagi ta’sirdan hosil bo‘ladi.</a:t>
            </a:r>
          </a:p>
          <a:p>
            <a:pPr>
              <a:spcAft>
                <a:spcPts val="1200"/>
              </a:spcAft>
            </a:pPr>
            <a:r>
              <a:rPr sz="2200">
                <a:solidFill>
                  <a:srgbClr val="1F2937"/>
                </a:solidFill>
                <a:latin typeface="Calibri"/>
              </a:rPr>
              <a:t>▸  Savol 3: ko‘krak qafasidagi sanchma yara tasnifda qanday ataladi? Javob: oddiy cheklangan yakka shikastlanish.</a:t>
            </a:r>
          </a:p>
          <a:p>
            <a:pPr>
              <a:spcAft>
                <a:spcPts val="1200"/>
              </a:spcAft>
            </a:pPr>
            <a:r>
              <a:rPr sz="2200">
                <a:solidFill>
                  <a:srgbClr val="1F2937"/>
                </a:solidFill>
                <a:latin typeface="Calibri"/>
              </a:rPr>
              <a:t>▸  Savol 4: travmatizm nima? Javob: bir xil mehnat va turmush sharoitidagi shaxslar guruhida kuzatiladigan turdosh jarohatlar majmui.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 27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Jarohatlar hayotiyligini aniqlash: ahamiyati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Sud-tibbiy ekspertiza amaliyotida jarohatlarning hayotiyligini aniqlash o‘ta muhim hisoblanadi.</a:t>
            </a:r>
          </a:p>
          <a:p>
            <a:pPr>
              <a:spcAft>
                <a:spcPts val="1200"/>
              </a:spcAft>
            </a:pPr>
            <a:r>
              <a:rPr sz="2200">
                <a:solidFill>
                  <a:srgbClr val="1F2937"/>
                </a:solidFill>
                <a:latin typeface="Calibri"/>
              </a:rPr>
              <a:t>▸  Ba’zan jarohat o‘limdan so‘ng qasddan yetkaziladi: murdani qismlarga ajratish yoki o‘lim sababiga ko‘ra mavjud asl holatni o‘zgartirish.</a:t>
            </a:r>
          </a:p>
          <a:p>
            <a:pPr>
              <a:spcAft>
                <a:spcPts val="1200"/>
              </a:spcAft>
            </a:pPr>
            <a:r>
              <a:rPr sz="2200">
                <a:solidFill>
                  <a:srgbClr val="1F2937"/>
                </a:solidFill>
                <a:latin typeface="Calibri"/>
              </a:rPr>
              <a:t>▸  Jarohat tasodifan ham yetkazilishi mumkin: reanimatsiya, murdani tekshirish, tashish jarayonida yoki hayvonlar, qushlar, baliqlar tomonidan.</a:t>
            </a:r>
          </a:p>
          <a:p>
            <a:pPr>
              <a:spcAft>
                <a:spcPts val="1200"/>
              </a:spcAft>
            </a:pPr>
            <a:r>
              <a:rPr sz="2200">
                <a:solidFill>
                  <a:srgbClr val="1F2937"/>
                </a:solidFill>
                <a:latin typeface="Calibri"/>
              </a:rPr>
              <a:t>▸  Hayotiylik organizm yoki a’zoning shikastlanishga reaksiya belgilari orqali aniqlanadi. Asosan qon aylanish tizimidagi o‘zgarishlar amaliy ahamiyatga ega.</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Hayotiylikning umumiy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Tashqi va ichki qon ketishi hamda ichki a’zolarning umumiy kamqonligi hayotiylikning umumiy belgilari hisoblanadi.</a:t>
            </a:r>
          </a:p>
          <a:p>
            <a:pPr>
              <a:spcAft>
                <a:spcPts val="1200"/>
              </a:spcAft>
            </a:pPr>
            <a:r>
              <a:rPr sz="2200">
                <a:solidFill>
                  <a:srgbClr val="1F2937"/>
                </a:solidFill>
                <a:latin typeface="Calibri"/>
              </a:rPr>
              <a:t>▸  Nafas yo‘llarida qon va yot moddalar aspiratsiyasi; oshqozon-ichakda qon, yot moddalar, shikastlangan a’zolarda mayda bo‘lakchalar topiladi.</a:t>
            </a:r>
          </a:p>
          <a:p>
            <a:pPr>
              <a:spcAft>
                <a:spcPts val="1200"/>
              </a:spcAft>
            </a:pPr>
            <a:r>
              <a:rPr sz="2200">
                <a:solidFill>
                  <a:srgbClr val="1F2937"/>
                </a:solidFill>
                <a:latin typeface="Calibri"/>
              </a:rPr>
              <a:t>▸  Siydik va buyrak naychalarida mioglobin bo‘ladi. Yog‘ to‘qimali soha shikastlansa, limfada eritrotsitlar va yog‘ topiladi.</a:t>
            </a:r>
          </a:p>
          <a:p>
            <a:pPr>
              <a:spcAft>
                <a:spcPts val="1200"/>
              </a:spcAft>
            </a:pPr>
            <a:r>
              <a:rPr sz="2200">
                <a:solidFill>
                  <a:srgbClr val="1F2937"/>
                </a:solidFill>
                <a:latin typeface="Calibri"/>
              </a:rPr>
              <a:t>▸  Regional limfa tugunlarida eritrotsitlar (eritrofagiya) va embollar (havo, yog‘, to‘qima, yot modda) aniqlanadi.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Hayotiylikning mahalliy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Mahalliy belgilar: jarohat sohasida to‘qimaga qon quyilishi va qon tomirlarda tromblar topilishi.</a:t>
            </a:r>
          </a:p>
          <a:p>
            <a:pPr>
              <a:spcAft>
                <a:spcPts val="800"/>
              </a:spcAft>
            </a:pPr>
            <a:r>
              <a:rPr sz="1800">
                <a:solidFill>
                  <a:srgbClr val="1F2937"/>
                </a:solidFill>
                <a:latin typeface="Calibri"/>
              </a:rPr>
              <a:t>▸  Yana reaktiv shish, yallig‘lanish alomatlari, mushaklar qisqarishi va hujayralar nekrozi kuzatiladi.</a:t>
            </a:r>
          </a:p>
          <a:p>
            <a:pPr>
              <a:spcAft>
                <a:spcPts val="800"/>
              </a:spcAft>
            </a:pPr>
            <a:r>
              <a:rPr sz="1800">
                <a:solidFill>
                  <a:srgbClr val="1F2937"/>
                </a:solidFill>
                <a:latin typeface="Calibri"/>
              </a:rPr>
              <a:t>▸  Belgilar aniqligi jarohat turi, soni, ko‘lamiga hamda organizm va shikastlangan soha xususiyatlariga bog‘liq.</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669886"/>
                <a:gridCol w="3618088"/>
              </a:tblGrid>
              <a:tr h="411480">
                <a:tc>
                  <a:txBody>
                    <a:bodyPr/>
                    <a:lstStyle/>
                    <a:p>
                      <a:r>
                        <a:rPr sz="1400" b="1">
                          <a:solidFill>
                            <a:srgbClr val="FFFFFF"/>
                          </a:solidFill>
                        </a:rPr>
                        <a:t>Guruh</a:t>
                      </a:r>
                    </a:p>
                  </a:txBody>
                  <a:tcPr marL="73152" marR="73152" marT="36576" marB="36576">
                    <a:solidFill>
                      <a:srgbClr val="0B1F3A"/>
                    </a:solidFill>
                  </a:tcPr>
                </a:tc>
                <a:tc>
                  <a:txBody>
                    <a:bodyPr/>
                    <a:lstStyle/>
                    <a:p>
                      <a:r>
                        <a:rPr sz="1400" b="1">
                          <a:solidFill>
                            <a:srgbClr val="FFFFFF"/>
                          </a:solidFill>
                        </a:rPr>
                        <a:t>Belgilar</a:t>
                      </a:r>
                    </a:p>
                  </a:txBody>
                  <a:tcPr marL="73152" marR="73152" marT="36576" marB="36576">
                    <a:solidFill>
                      <a:srgbClr val="0B1F3A"/>
                    </a:solidFill>
                  </a:tcPr>
                </a:tc>
              </a:tr>
              <a:tr h="411480">
                <a:tc>
                  <a:txBody>
                    <a:bodyPr/>
                    <a:lstStyle/>
                    <a:p>
                      <a:r>
                        <a:rPr sz="1300" b="0">
                          <a:solidFill>
                            <a:srgbClr val="1F2937"/>
                          </a:solidFill>
                        </a:rPr>
                        <a:t>Qon tomir va qon</a:t>
                      </a:r>
                    </a:p>
                  </a:txBody>
                  <a:tcPr marL="73152" marR="73152" marT="36576" marB="36576">
                    <a:solidFill>
                      <a:srgbClr val="E8EEF6"/>
                    </a:solidFill>
                  </a:tcPr>
                </a:tc>
                <a:tc>
                  <a:txBody>
                    <a:bodyPr/>
                    <a:lstStyle/>
                    <a:p>
                      <a:r>
                        <a:rPr sz="1300" b="0">
                          <a:solidFill>
                            <a:srgbClr val="1F2937"/>
                          </a:solidFill>
                        </a:rPr>
                        <a:t>Qon quyilishi, tromblar</a:t>
                      </a:r>
                    </a:p>
                  </a:txBody>
                  <a:tcPr marL="73152" marR="73152" marT="36576" marB="36576">
                    <a:solidFill>
                      <a:srgbClr val="E8EEF6"/>
                    </a:solidFill>
                  </a:tcPr>
                </a:tc>
              </a:tr>
              <a:tr h="411480">
                <a:tc>
                  <a:txBody>
                    <a:bodyPr/>
                    <a:lstStyle/>
                    <a:p>
                      <a:r>
                        <a:rPr sz="1300" b="0">
                          <a:solidFill>
                            <a:srgbClr val="1F2937"/>
                          </a:solidFill>
                        </a:rPr>
                        <a:t>Reaktiv jarayon</a:t>
                      </a:r>
                    </a:p>
                  </a:txBody>
                  <a:tcPr marL="73152" marR="73152" marT="36576" marB="36576">
                    <a:solidFill>
                      <a:srgbClr val="FFFFFF"/>
                    </a:solidFill>
                  </a:tcPr>
                </a:tc>
                <a:tc>
                  <a:txBody>
                    <a:bodyPr/>
                    <a:lstStyle/>
                    <a:p>
                      <a:r>
                        <a:rPr sz="1300" b="0">
                          <a:solidFill>
                            <a:srgbClr val="1F2937"/>
                          </a:solidFill>
                        </a:rPr>
                        <a:t>Reaktiv shish, yallig‘lanish alomatlari</a:t>
                      </a:r>
                    </a:p>
                  </a:txBody>
                  <a:tcPr marL="73152" marR="73152" marT="36576" marB="36576">
                    <a:solidFill>
                      <a:srgbClr val="FFFFFF"/>
                    </a:solidFill>
                  </a:tcPr>
                </a:tc>
              </a:tr>
              <a:tr h="411480">
                <a:tc>
                  <a:txBody>
                    <a:bodyPr/>
                    <a:lstStyle/>
                    <a:p>
                      <a:r>
                        <a:rPr sz="1300" b="0">
                          <a:solidFill>
                            <a:srgbClr val="1F2937"/>
                          </a:solidFill>
                        </a:rPr>
                        <a:t>To‘qima o‘zgarishi</a:t>
                      </a:r>
                    </a:p>
                  </a:txBody>
                  <a:tcPr marL="73152" marR="73152" marT="36576" marB="36576">
                    <a:solidFill>
                      <a:srgbClr val="E8EEF6"/>
                    </a:solidFill>
                  </a:tcPr>
                </a:tc>
                <a:tc>
                  <a:txBody>
                    <a:bodyPr/>
                    <a:lstStyle/>
                    <a:p>
                      <a:r>
                        <a:rPr sz="1300" b="0">
                          <a:solidFill>
                            <a:srgbClr val="1F2937"/>
                          </a:solidFill>
                        </a:rPr>
                        <a:t>Mushak qisqarishi, hujayra nekrozi</a:t>
                      </a:r>
                    </a:p>
                  </a:txBody>
                  <a:tcPr marL="73152" marR="73152" marT="36576" marB="36576">
                    <a:solidFill>
                      <a:srgbClr val="E8EEF6"/>
                    </a:solidFill>
                  </a:tcPr>
                </a:tc>
              </a:tr>
              <a:tr h="411480">
                <a:tc>
                  <a:txBody>
                    <a:bodyPr/>
                    <a:lstStyle/>
                    <a:p>
                      <a:r>
                        <a:rPr sz="1300" b="0">
                          <a:solidFill>
                            <a:srgbClr val="1F2937"/>
                          </a:solidFill>
                        </a:rPr>
                        <a:t>Kimyoviy</a:t>
                      </a:r>
                    </a:p>
                  </a:txBody>
                  <a:tcPr marL="73152" marR="73152" marT="36576" marB="36576">
                    <a:solidFill>
                      <a:srgbClr val="FFFFFF"/>
                    </a:solidFill>
                  </a:tcPr>
                </a:tc>
                <a:tc>
                  <a:txBody>
                    <a:bodyPr/>
                    <a:lstStyle/>
                    <a:p>
                      <a:r>
                        <a:rPr sz="1300" b="0">
                          <a:solidFill>
                            <a:srgbClr val="1F2937"/>
                          </a:solidFill>
                        </a:rPr>
                        <a:t>Gistokimyoviy o‘zgarishlar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Mahalliy belgilar guruhlari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28, 28-29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Jarohatlarni tekshirish usullari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Avval makroskopik tekshiriladi: jarohat turi, joyi, shakli, rangi, yara uchlari, chetlari va tubi o‘rganiladi.</a:t>
            </a:r>
          </a:p>
          <a:p>
            <a:pPr>
              <a:spcAft>
                <a:spcPts val="800"/>
              </a:spcAft>
            </a:pPr>
            <a:r>
              <a:rPr sz="1800">
                <a:solidFill>
                  <a:srgbClr val="1F2937"/>
                </a:solidFill>
                <a:latin typeface="Calibri"/>
              </a:rPr>
              <a:t>▸  Barcha holatda o‘lchov olinadi; ba’zan jarohatning tananing aniq sohalaridan masofasi ham tekshiriladi.</a:t>
            </a:r>
          </a:p>
          <a:p>
            <a:pPr>
              <a:spcAft>
                <a:spcPts val="800"/>
              </a:spcAft>
            </a:pPr>
            <a:r>
              <a:rPr sz="1800">
                <a:solidFill>
                  <a:srgbClr val="1F2937"/>
                </a:solidFill>
                <a:latin typeface="Calibri"/>
              </a:rPr>
              <a:t>▸  Stereomikroskopiya fazoviy o‘rganish uchun, trasologik usul shikastlovchi jismni aniqlash uchun qo‘llanadi.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473407"/>
                <a:gridCol w="2814567"/>
              </a:tblGrid>
              <a:tr h="411480">
                <a:tc>
                  <a:txBody>
                    <a:bodyPr/>
                    <a:lstStyle/>
                    <a:p>
                      <a:r>
                        <a:rPr sz="1400" b="1">
                          <a:solidFill>
                            <a:srgbClr val="FFFFFF"/>
                          </a:solidFill>
                        </a:rPr>
                        <a:t>Usul</a:t>
                      </a:r>
                    </a:p>
                  </a:txBody>
                  <a:tcPr marL="73152" marR="73152" marT="36576" marB="36576">
                    <a:solidFill>
                      <a:srgbClr val="0B1F3A"/>
                    </a:solidFill>
                  </a:tcPr>
                </a:tc>
                <a:tc>
                  <a:txBody>
                    <a:bodyPr/>
                    <a:lstStyle/>
                    <a:p>
                      <a:r>
                        <a:rPr sz="1400" b="1">
                          <a:solidFill>
                            <a:srgbClr val="FFFFFF"/>
                          </a:solidFill>
                        </a:rPr>
                        <a:t>Maqsad</a:t>
                      </a:r>
                    </a:p>
                  </a:txBody>
                  <a:tcPr marL="73152" marR="73152" marT="36576" marB="36576">
                    <a:solidFill>
                      <a:srgbClr val="0B1F3A"/>
                    </a:solidFill>
                  </a:tcPr>
                </a:tc>
              </a:tr>
              <a:tr h="411480">
                <a:tc>
                  <a:txBody>
                    <a:bodyPr/>
                    <a:lstStyle/>
                    <a:p>
                      <a:r>
                        <a:rPr sz="1300" b="0">
                          <a:solidFill>
                            <a:srgbClr val="1F2937"/>
                          </a:solidFill>
                        </a:rPr>
                        <a:t>Rentgenografiya</a:t>
                      </a:r>
                    </a:p>
                  </a:txBody>
                  <a:tcPr marL="73152" marR="73152" marT="36576" marB="36576">
                    <a:solidFill>
                      <a:srgbClr val="E8EEF6"/>
                    </a:solidFill>
                  </a:tcPr>
                </a:tc>
                <a:tc>
                  <a:txBody>
                    <a:bodyPr/>
                    <a:lstStyle/>
                    <a:p>
                      <a:r>
                        <a:rPr sz="1300" b="0">
                          <a:solidFill>
                            <a:srgbClr val="1F2937"/>
                          </a:solidFill>
                        </a:rPr>
                        <a:t>Yot jism, suyak shikasti</a:t>
                      </a:r>
                    </a:p>
                  </a:txBody>
                  <a:tcPr marL="73152" marR="73152" marT="36576" marB="36576">
                    <a:solidFill>
                      <a:srgbClr val="E8EEF6"/>
                    </a:solidFill>
                  </a:tcPr>
                </a:tc>
              </a:tr>
              <a:tr h="411480">
                <a:tc>
                  <a:txBody>
                    <a:bodyPr/>
                    <a:lstStyle/>
                    <a:p>
                      <a:r>
                        <a:rPr sz="1300" b="0">
                          <a:solidFill>
                            <a:srgbClr val="1F2937"/>
                          </a:solidFill>
                        </a:rPr>
                        <a:t>Rangli bosma, spektral analiz</a:t>
                      </a:r>
                    </a:p>
                  </a:txBody>
                  <a:tcPr marL="73152" marR="73152" marT="36576" marB="36576">
                    <a:solidFill>
                      <a:srgbClr val="FFFFFF"/>
                    </a:solidFill>
                  </a:tcPr>
                </a:tc>
                <a:tc>
                  <a:txBody>
                    <a:bodyPr/>
                    <a:lstStyle/>
                    <a:p>
                      <a:r>
                        <a:rPr sz="1300" b="0">
                          <a:solidFill>
                            <a:srgbClr val="1F2937"/>
                          </a:solidFill>
                        </a:rPr>
                        <a:t>Metall zarralari va izlari</a:t>
                      </a:r>
                    </a:p>
                  </a:txBody>
                  <a:tcPr marL="73152" marR="73152" marT="36576" marB="36576">
                    <a:solidFill>
                      <a:srgbClr val="FFFFFF"/>
                    </a:solidFill>
                  </a:tcPr>
                </a:tc>
              </a:tr>
              <a:tr h="411480">
                <a:tc>
                  <a:txBody>
                    <a:bodyPr/>
                    <a:lstStyle/>
                    <a:p>
                      <a:r>
                        <a:rPr sz="1300" b="0">
                          <a:solidFill>
                            <a:srgbClr val="1F2937"/>
                          </a:solidFill>
                        </a:rPr>
                        <a:t>Gistologik</a:t>
                      </a:r>
                    </a:p>
                  </a:txBody>
                  <a:tcPr marL="73152" marR="73152" marT="36576" marB="36576">
                    <a:solidFill>
                      <a:srgbClr val="E8EEF6"/>
                    </a:solidFill>
                  </a:tcPr>
                </a:tc>
                <a:tc>
                  <a:txBody>
                    <a:bodyPr/>
                    <a:lstStyle/>
                    <a:p>
                      <a:r>
                        <a:rPr sz="1300" b="0">
                          <a:solidFill>
                            <a:srgbClr val="1F2937"/>
                          </a:solidFill>
                        </a:rPr>
                        <a:t>Hayotiylik, yetkazilish muddati</a:t>
                      </a:r>
                    </a:p>
                  </a:txBody>
                  <a:tcPr marL="73152" marR="73152" marT="36576" marB="36576">
                    <a:solidFill>
                      <a:srgbClr val="E8EEF6"/>
                    </a:solidFill>
                  </a:tcPr>
                </a:tc>
              </a:tr>
              <a:tr h="411480">
                <a:tc>
                  <a:txBody>
                    <a:bodyPr/>
                    <a:lstStyle/>
                    <a:p>
                      <a:r>
                        <a:rPr sz="1300" b="0">
                          <a:solidFill>
                            <a:srgbClr val="1F2937"/>
                          </a:solidFill>
                        </a:rPr>
                        <a:t>Sud-biologik, kimyoviy</a:t>
                      </a:r>
                    </a:p>
                  </a:txBody>
                  <a:tcPr marL="73152" marR="73152" marT="36576" marB="36576">
                    <a:solidFill>
                      <a:srgbClr val="FFFFFF"/>
                    </a:solidFill>
                  </a:tcPr>
                </a:tc>
                <a:tc>
                  <a:txBody>
                    <a:bodyPr/>
                    <a:lstStyle/>
                    <a:p>
                      <a:r>
                        <a:rPr sz="1300" b="0">
                          <a:solidFill>
                            <a:srgbClr val="1F2937"/>
                          </a:solidFill>
                        </a:rPr>
                        <a:t>Ekspertiza masalalarini hal etish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Usul va uning maqsadi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Klinitsist vrach hujjatlari ahamiyati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Klinitsist vrach aniqlagan tan jarohatlari ham xuddi shu tartibda o‘rganilib, tibbiy hujjatda to‘liq tavsiflanishi kerak.</a:t>
            </a:r>
          </a:p>
          <a:p>
            <a:pPr>
              <a:spcAft>
                <a:spcPts val="1200"/>
              </a:spcAft>
            </a:pPr>
            <a:r>
              <a:rPr sz="2200">
                <a:solidFill>
                  <a:srgbClr val="1F2937"/>
                </a:solidFill>
                <a:latin typeface="Calibri"/>
              </a:rPr>
              <a:t>▸  Bu hujjatlar ma’lum muddatdan so‘ng tayinlangan sud-tibbiy ekspertiza ixtiyoriga taqdim etiladi.</a:t>
            </a:r>
          </a:p>
          <a:p>
            <a:pPr>
              <a:spcAft>
                <a:spcPts val="1200"/>
              </a:spcAft>
            </a:pPr>
            <a:r>
              <a:rPr sz="2200">
                <a:solidFill>
                  <a:srgbClr val="1F2937"/>
                </a:solidFill>
                <a:latin typeface="Calibri"/>
              </a:rPr>
              <a:t>▸  Jarohatni yuzaki o‘rganish, notо‘liq tavsif yoki faqat diagnoz bilan cheklanish ekspertiza vazifalarini bajarishda jiddiy qiyinchilik tug‘diradi.</a:t>
            </a:r>
          </a:p>
          <a:p>
            <a:pPr>
              <a:spcAft>
                <a:spcPts val="1200"/>
              </a:spcAft>
            </a:pPr>
            <a:r>
              <a:rPr sz="2200">
                <a:solidFill>
                  <a:srgbClr val="1F2937"/>
                </a:solidFill>
                <a:latin typeface="Calibri"/>
              </a:rPr>
              <a:t>▸  Diqqat: faqat diagnoz yozish tavsif o‘rnini bosmaydi; jarohatning o‘zi batafsil yozilishi shart.</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hayotiylik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murdada jarohat topildi. Savol: u tirikligida etkazilganmi yoki o‘limdan keyin hosil bo‘lganmi?</a:t>
            </a:r>
          </a:p>
          <a:p>
            <a:pPr>
              <a:spcAft>
                <a:spcPts val="1200"/>
              </a:spcAft>
            </a:pPr>
            <a:r>
              <a:rPr sz="2200">
                <a:solidFill>
                  <a:srgbClr val="1F2937"/>
                </a:solidFill>
                <a:latin typeface="Calibri"/>
              </a:rPr>
              <a:t>▸  O‘limdan keyin jarohat qasddan (murdani qismlarga ajratish) yoki tasodifan (reanimatsiya, transport, hayvon, qush, baliq) etkazilishi mumkin.</a:t>
            </a:r>
          </a:p>
          <a:p>
            <a:pPr>
              <a:spcAft>
                <a:spcPts val="1200"/>
              </a:spcAft>
            </a:pPr>
            <a:r>
              <a:rPr sz="2200">
                <a:solidFill>
                  <a:srgbClr val="1F2937"/>
                </a:solidFill>
                <a:latin typeface="Calibri"/>
              </a:rPr>
              <a:t>▸  Hayotiylik organizmning shikastlanishga reaksiya belgilari orqali aniqlanadi. Amalda qon aylanish tizimidagi o‘zgarishlar muhim.</a:t>
            </a:r>
          </a:p>
          <a:p>
            <a:pPr>
              <a:spcAft>
                <a:spcPts val="1200"/>
              </a:spcAft>
            </a:pPr>
            <a:r>
              <a:rPr sz="2200">
                <a:solidFill>
                  <a:srgbClr val="1F2937"/>
                </a:solidFill>
                <a:latin typeface="Calibri"/>
              </a:rPr>
              <a:t>▸  Diqqat: xato qilish xavfi. Ayrim filogenetik katta yoshli to‘qimalarda o‘limdan keyingi jarohat hayotiy jarohatga o‘xshab ko‘rinishi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28, 29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Mexanik jarohatlar: asosiy shartlar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Sud-tibbiy ekspertiza amaliyotida mexanik jarohatlar shikastlanishlarning eng ko‘p uchraydigan turi hisoblanadi.</a:t>
            </a:r>
          </a:p>
          <a:p>
            <a:pPr>
              <a:spcAft>
                <a:spcPts val="1200"/>
              </a:spcAft>
            </a:pPr>
            <a:r>
              <a:rPr sz="2200">
                <a:solidFill>
                  <a:srgbClr val="1F2937"/>
                </a:solidFill>
                <a:latin typeface="Calibri"/>
              </a:rPr>
              <a:t>▸  Mexanik jarohat paydo bo‘lishining asosiy sharti — harakat. Shikastlovchi jism yoki tana va uning qismlari harakatda bo‘lishi lozim.</a:t>
            </a:r>
          </a:p>
          <a:p>
            <a:pPr>
              <a:spcAft>
                <a:spcPts val="1200"/>
              </a:spcAft>
            </a:pPr>
            <a:r>
              <a:rPr sz="2200">
                <a:solidFill>
                  <a:srgbClr val="1F2937"/>
                </a:solidFill>
                <a:latin typeface="Calibri"/>
              </a:rPr>
              <a:t>▸  Shikastlanish xususiyatlari o‘zaro ta’sir paytidagi kinetik energiya kattaligiga bog‘liq bo‘ladi.</a:t>
            </a:r>
          </a:p>
          <a:p>
            <a:pPr>
              <a:spcAft>
                <a:spcPts val="1200"/>
              </a:spcAft>
            </a:pPr>
            <a:r>
              <a:rPr sz="2200">
                <a:solidFill>
                  <a:srgbClr val="1F2937"/>
                </a:solidFill>
                <a:latin typeface="Calibri"/>
              </a:rPr>
              <a:t>▸  Jarohatning yaqqolligi va ko‘lami harakatdagi omilning massasi hamda harakat tezligiga to‘g‘ri proporsional.</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29, 29-30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Qurol, anjom va jism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Mexanik jarohat etkazuvchi vositalar orasida qurol, anjom va jism farqlanadi.</a:t>
            </a:r>
          </a:p>
          <a:p>
            <a:pPr>
              <a:spcAft>
                <a:spcPts val="800"/>
              </a:spcAft>
            </a:pPr>
            <a:r>
              <a:rPr sz="1800">
                <a:solidFill>
                  <a:srgbClr val="1F2937"/>
                </a:solidFill>
                <a:latin typeface="Calibri"/>
              </a:rPr>
              <a:t>▸  Mexanik jarohatlar o‘tmas jismlar, o‘tkir jismlar va o‘q otar qurollardan etkazilgan shikastlanishlarga bo‘linadi.</a:t>
            </a:r>
          </a:p>
          <a:p>
            <a:pPr>
              <a:spcAft>
                <a:spcPts val="800"/>
              </a:spcAft>
            </a:pPr>
            <a:r>
              <a:rPr sz="1800">
                <a:solidFill>
                  <a:srgbClr val="1F2937"/>
                </a:solidFill>
                <a:latin typeface="Calibri"/>
              </a:rPr>
              <a:t>▸  Diqqat: qurol ≠ anjom ≠ jism. Farq vositaning tayyorlanish va qo‘llanish maqsadida.</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057595"/>
                <a:gridCol w="2643987"/>
                <a:gridCol w="1586392"/>
              </a:tblGrid>
              <a:tr h="411480">
                <a:tc>
                  <a:txBody>
                    <a:bodyPr/>
                    <a:lstStyle/>
                    <a:p>
                      <a:r>
                        <a:rPr sz="1300" b="1">
                          <a:solidFill>
                            <a:srgbClr val="FFFFFF"/>
                          </a:solidFill>
                        </a:rPr>
                        <a:t>Tushuncha</a:t>
                      </a:r>
                    </a:p>
                  </a:txBody>
                  <a:tcPr marL="73152" marR="73152" marT="36576" marB="36576">
                    <a:solidFill>
                      <a:srgbClr val="0B1F3A"/>
                    </a:solidFill>
                  </a:tcPr>
                </a:tc>
                <a:tc>
                  <a:txBody>
                    <a:bodyPr/>
                    <a:lstStyle/>
                    <a:p>
                      <a:r>
                        <a:rPr sz="1300" b="1">
                          <a:solidFill>
                            <a:srgbClr val="FFFFFF"/>
                          </a:solidFill>
                        </a:rPr>
                        <a:t>Ma’nosi</a:t>
                      </a:r>
                    </a:p>
                  </a:txBody>
                  <a:tcPr marL="73152" marR="73152" marT="36576" marB="36576">
                    <a:solidFill>
                      <a:srgbClr val="0B1F3A"/>
                    </a:solidFill>
                  </a:tcPr>
                </a:tc>
                <a:tc>
                  <a:txBody>
                    <a:bodyPr/>
                    <a:lstStyle/>
                    <a:p>
                      <a:r>
                        <a:rPr sz="1300" b="1">
                          <a:solidFill>
                            <a:srgbClr val="FFFFFF"/>
                          </a:solidFill>
                        </a:rPr>
                        <a:t>Misol</a:t>
                      </a:r>
                    </a:p>
                  </a:txBody>
                  <a:tcPr marL="73152" marR="73152" marT="36576" marB="36576">
                    <a:solidFill>
                      <a:srgbClr val="0B1F3A"/>
                    </a:solidFill>
                  </a:tcPr>
                </a:tc>
              </a:tr>
              <a:tr h="411480">
                <a:tc>
                  <a:txBody>
                    <a:bodyPr/>
                    <a:lstStyle/>
                    <a:p>
                      <a:r>
                        <a:rPr sz="1200" b="0">
                          <a:solidFill>
                            <a:srgbClr val="1F2937"/>
                          </a:solidFill>
                        </a:rPr>
                        <a:t>Qurol</a:t>
                      </a:r>
                    </a:p>
                  </a:txBody>
                  <a:tcPr marL="73152" marR="73152" marT="36576" marB="36576">
                    <a:solidFill>
                      <a:srgbClr val="E8EEF6"/>
                    </a:solidFill>
                  </a:tcPr>
                </a:tc>
                <a:tc>
                  <a:txBody>
                    <a:bodyPr/>
                    <a:lstStyle/>
                    <a:p>
                      <a:r>
                        <a:rPr sz="1200" b="0">
                          <a:solidFill>
                            <a:srgbClr val="1F2937"/>
                          </a:solidFill>
                        </a:rPr>
                        <a:t>Hujum yoki mudofaa uchun maxsus tayyorlangan</a:t>
                      </a:r>
                    </a:p>
                  </a:txBody>
                  <a:tcPr marL="73152" marR="73152" marT="36576" marB="36576">
                    <a:solidFill>
                      <a:srgbClr val="E8EEF6"/>
                    </a:solidFill>
                  </a:tcPr>
                </a:tc>
                <a:tc>
                  <a:txBody>
                    <a:bodyPr/>
                    <a:lstStyle/>
                    <a:p>
                      <a:r>
                        <a:rPr sz="1200" b="0">
                          <a:solidFill>
                            <a:srgbClr val="1F2937"/>
                          </a:solidFill>
                        </a:rPr>
                        <a:t>pistolet, miltiq, hanjar</a:t>
                      </a:r>
                    </a:p>
                  </a:txBody>
                  <a:tcPr marL="73152" marR="73152" marT="36576" marB="36576">
                    <a:solidFill>
                      <a:srgbClr val="E8EEF6"/>
                    </a:solidFill>
                  </a:tcPr>
                </a:tc>
              </a:tr>
              <a:tr h="411480">
                <a:tc>
                  <a:txBody>
                    <a:bodyPr/>
                    <a:lstStyle/>
                    <a:p>
                      <a:r>
                        <a:rPr sz="1200" b="0">
                          <a:solidFill>
                            <a:srgbClr val="1F2937"/>
                          </a:solidFill>
                        </a:rPr>
                        <a:t>Anjom</a:t>
                      </a:r>
                    </a:p>
                  </a:txBody>
                  <a:tcPr marL="73152" marR="73152" marT="36576" marB="36576">
                    <a:solidFill>
                      <a:srgbClr val="FFFFFF"/>
                    </a:solidFill>
                  </a:tcPr>
                </a:tc>
                <a:tc>
                  <a:txBody>
                    <a:bodyPr/>
                    <a:lstStyle/>
                    <a:p>
                      <a:r>
                        <a:rPr sz="1200" b="0">
                          <a:solidFill>
                            <a:srgbClr val="1F2937"/>
                          </a:solidFill>
                        </a:rPr>
                        <a:t>Ishlab chiqarish, uy-ro‘zg‘or va kundalik hayot mahsuloti</a:t>
                      </a:r>
                    </a:p>
                  </a:txBody>
                  <a:tcPr marL="73152" marR="73152" marT="36576" marB="36576">
                    <a:solidFill>
                      <a:srgbClr val="FFFFFF"/>
                    </a:solidFill>
                  </a:tcPr>
                </a:tc>
                <a:tc>
                  <a:txBody>
                    <a:bodyPr/>
                    <a:lstStyle/>
                    <a:p>
                      <a:r>
                        <a:rPr sz="1200" b="0">
                          <a:solidFill>
                            <a:srgbClr val="1F2937"/>
                          </a:solidFill>
                        </a:rPr>
                        <a:t>bolta, arra, qaychi</a:t>
                      </a:r>
                    </a:p>
                  </a:txBody>
                  <a:tcPr marL="73152" marR="73152" marT="36576" marB="36576">
                    <a:solidFill>
                      <a:srgbClr val="FFFFFF"/>
                    </a:solidFill>
                  </a:tcPr>
                </a:tc>
              </a:tr>
              <a:tr h="411480">
                <a:tc>
                  <a:txBody>
                    <a:bodyPr/>
                    <a:lstStyle/>
                    <a:p>
                      <a:r>
                        <a:rPr sz="1200" b="0">
                          <a:solidFill>
                            <a:srgbClr val="1F2937"/>
                          </a:solidFill>
                        </a:rPr>
                        <a:t>Jism</a:t>
                      </a:r>
                    </a:p>
                  </a:txBody>
                  <a:tcPr marL="73152" marR="73152" marT="36576" marB="36576">
                    <a:solidFill>
                      <a:srgbClr val="E8EEF6"/>
                    </a:solidFill>
                  </a:tcPr>
                </a:tc>
                <a:tc>
                  <a:txBody>
                    <a:bodyPr/>
                    <a:lstStyle/>
                    <a:p>
                      <a:r>
                        <a:rPr sz="1200" b="0">
                          <a:solidFill>
                            <a:srgbClr val="1F2937"/>
                          </a:solidFill>
                        </a:rPr>
                        <a:t>Aniq qo‘llanish maqsadi yo‘q narsa</a:t>
                      </a:r>
                    </a:p>
                  </a:txBody>
                  <a:tcPr marL="73152" marR="73152" marT="36576" marB="36576">
                    <a:solidFill>
                      <a:srgbClr val="E8EEF6"/>
                    </a:solidFill>
                  </a:tcPr>
                </a:tc>
                <a:tc>
                  <a:txBody>
                    <a:bodyPr/>
                    <a:lstStyle/>
                    <a:p>
                      <a:r>
                        <a:rPr sz="1200" b="0">
                          <a:solidFill>
                            <a:srgbClr val="1F2937"/>
                          </a:solidFill>
                        </a:rPr>
                        <a:t>tosh, tayoq</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Uch tushuncha farqi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Jarohat xususiyatiga ta’sir etuvchi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Jarohatning turi va ko‘lami shikastlovchi vosita, shikastlanayotgan soha va ularning o‘zaro ta’siriga bog‘liq.</a:t>
            </a:r>
          </a:p>
          <a:p>
            <a:pPr>
              <a:spcAft>
                <a:spcPts val="1200"/>
              </a:spcAft>
            </a:pPr>
            <a:r>
              <a:rPr sz="2200">
                <a:solidFill>
                  <a:srgbClr val="1F2937"/>
                </a:solidFill>
                <a:latin typeface="Calibri"/>
              </a:rPr>
              <a:t>▸  Vosita jihatdan: massasi, qattiqligi, tezligi, shikastlovchi yuza, o‘tkir uch yoki tig‘ning xususiyatlari.</a:t>
            </a:r>
          </a:p>
          <a:p>
            <a:pPr>
              <a:spcAft>
                <a:spcPts val="1200"/>
              </a:spcAft>
            </a:pPr>
            <a:r>
              <a:rPr sz="2200">
                <a:solidFill>
                  <a:srgbClr val="1F2937"/>
                </a:solidFill>
                <a:latin typeface="Calibri"/>
              </a:rPr>
              <a:t>▸  Soha jihatdan: anatomik va fiziologik xususiyatlari, shaxsning yoshi va kasalliklarning mavjudligi.</a:t>
            </a:r>
          </a:p>
          <a:p>
            <a:pPr>
              <a:spcAft>
                <a:spcPts val="1200"/>
              </a:spcAft>
            </a:pPr>
            <a:r>
              <a:rPr sz="2200">
                <a:solidFill>
                  <a:srgbClr val="1F2937"/>
                </a:solidFill>
                <a:latin typeface="Calibri"/>
              </a:rPr>
              <a:t>▸  Jarohatning yaqqolligi massa va tezlikka to‘g‘ri proporsional. Ta’sir soni, davomiyligi va muhit sharoiti ham ahamiyatli.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 29-30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Mexanik jarohatdan o‘lim: birlamchi va ikkilamchi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Birlamchida o‘lim shikastdan keyin darhol yoki qisqa vaqtda, ikkilamchida birmuncha muddatdan so‘ng yuz beradi.</a:t>
            </a:r>
          </a:p>
          <a:p>
            <a:pPr>
              <a:spcAft>
                <a:spcPts val="800"/>
              </a:spcAft>
            </a:pPr>
            <a:r>
              <a:rPr sz="1800">
                <a:solidFill>
                  <a:srgbClr val="1F2937"/>
                </a:solidFill>
                <a:latin typeface="Calibri"/>
              </a:rPr>
              <a:t>▸  Hayot bilan nomutanosib jarohat: boshning ajralishi, yurakning majaqlanishi, tananing ikkiga bo‘linishi.</a:t>
            </a:r>
          </a:p>
          <a:p>
            <a:pPr>
              <a:spcAft>
                <a:spcPts val="800"/>
              </a:spcAft>
            </a:pPr>
            <a:r>
              <a:rPr sz="1800">
                <a:solidFill>
                  <a:srgbClr val="1F2937"/>
                </a:solidFill>
                <a:latin typeface="Calibri"/>
              </a:rPr>
              <a:t>▸  Muhim a’zolar shikasti: bosh miya va yurak lat eyishi; yurak chayqalishi reflektor to‘xtashga olib keladi.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940084"/>
                <a:gridCol w="2350211"/>
                <a:gridCol w="1997679"/>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Birlamchi</a:t>
                      </a:r>
                    </a:p>
                  </a:txBody>
                  <a:tcPr marL="73152" marR="73152" marT="36576" marB="36576">
                    <a:solidFill>
                      <a:srgbClr val="0B1F3A"/>
                    </a:solidFill>
                  </a:tcPr>
                </a:tc>
                <a:tc>
                  <a:txBody>
                    <a:bodyPr/>
                    <a:lstStyle/>
                    <a:p>
                      <a:r>
                        <a:rPr sz="1300" b="1">
                          <a:solidFill>
                            <a:srgbClr val="FFFFFF"/>
                          </a:solidFill>
                        </a:rPr>
                        <a:t>Ikkilamchi</a:t>
                      </a:r>
                    </a:p>
                  </a:txBody>
                  <a:tcPr marL="73152" marR="73152" marT="36576" marB="36576">
                    <a:solidFill>
                      <a:srgbClr val="0B1F3A"/>
                    </a:solidFill>
                  </a:tcPr>
                </a:tc>
              </a:tr>
              <a:tr h="411480">
                <a:tc>
                  <a:txBody>
                    <a:bodyPr/>
                    <a:lstStyle/>
                    <a:p>
                      <a:r>
                        <a:rPr sz="1200" b="0">
                          <a:solidFill>
                            <a:srgbClr val="1F2937"/>
                          </a:solidFill>
                        </a:rPr>
                        <a:t>O‘lim vaqti</a:t>
                      </a:r>
                    </a:p>
                  </a:txBody>
                  <a:tcPr marL="73152" marR="73152" marT="36576" marB="36576">
                    <a:solidFill>
                      <a:srgbClr val="E8EEF6"/>
                    </a:solidFill>
                  </a:tcPr>
                </a:tc>
                <a:tc>
                  <a:txBody>
                    <a:bodyPr/>
                    <a:lstStyle/>
                    <a:p>
                      <a:r>
                        <a:rPr sz="1200" b="0">
                          <a:solidFill>
                            <a:srgbClr val="1F2937"/>
                          </a:solidFill>
                        </a:rPr>
                        <a:t>Darhol yoki qisqa vaqtda</a:t>
                      </a:r>
                    </a:p>
                  </a:txBody>
                  <a:tcPr marL="73152" marR="73152" marT="36576" marB="36576">
                    <a:solidFill>
                      <a:srgbClr val="E8EEF6"/>
                    </a:solidFill>
                  </a:tcPr>
                </a:tc>
                <a:tc>
                  <a:txBody>
                    <a:bodyPr/>
                    <a:lstStyle/>
                    <a:p>
                      <a:r>
                        <a:rPr sz="1200" b="0">
                          <a:solidFill>
                            <a:srgbClr val="1F2937"/>
                          </a:solidFill>
                        </a:rPr>
                        <a:t>Birmuncha muddatdan so‘ng</a:t>
                      </a:r>
                    </a:p>
                  </a:txBody>
                  <a:tcPr marL="73152" marR="73152" marT="36576" marB="36576">
                    <a:solidFill>
                      <a:srgbClr val="E8EEF6"/>
                    </a:solidFill>
                  </a:tcPr>
                </a:tc>
              </a:tr>
              <a:tr h="411480">
                <a:tc>
                  <a:txBody>
                    <a:bodyPr/>
                    <a:lstStyle/>
                    <a:p>
                      <a:r>
                        <a:rPr sz="1200" b="0">
                          <a:solidFill>
                            <a:srgbClr val="1F2937"/>
                          </a:solidFill>
                        </a:rPr>
                        <a:t>Sabab turi</a:t>
                      </a:r>
                    </a:p>
                  </a:txBody>
                  <a:tcPr marL="73152" marR="73152" marT="36576" marB="36576">
                    <a:solidFill>
                      <a:srgbClr val="FFFFFF"/>
                    </a:solidFill>
                  </a:tcPr>
                </a:tc>
                <a:tc>
                  <a:txBody>
                    <a:bodyPr/>
                    <a:lstStyle/>
                    <a:p>
                      <a:r>
                        <a:rPr sz="1200" b="0">
                          <a:solidFill>
                            <a:srgbClr val="1F2937"/>
                          </a:solidFill>
                        </a:rPr>
                        <a:t>Nomutanosib jarohat, muhim a’zo shikasti</a:t>
                      </a:r>
                    </a:p>
                  </a:txBody>
                  <a:tcPr marL="73152" marR="73152" marT="36576" marB="36576">
                    <a:solidFill>
                      <a:srgbClr val="FFFFFF"/>
                    </a:solidFill>
                  </a:tcPr>
                </a:tc>
                <a:tc>
                  <a:txBody>
                    <a:bodyPr/>
                    <a:lstStyle/>
                    <a:p>
                      <a:r>
                        <a:rPr sz="1200" b="0">
                          <a:solidFill>
                            <a:srgbClr val="1F2937"/>
                          </a:solidFill>
                        </a:rPr>
                        <a:t>Infeksion asorat, intoksikatsiya</a:t>
                      </a:r>
                    </a:p>
                  </a:txBody>
                  <a:tcPr marL="73152" marR="73152" marT="36576" marB="36576">
                    <a:solidFill>
                      <a:srgbClr val="FFFFFF"/>
                    </a:solidFill>
                  </a:tcPr>
                </a:tc>
              </a:tr>
              <a:tr h="411480">
                <a:tc>
                  <a:txBody>
                    <a:bodyPr/>
                    <a:lstStyle/>
                    <a:p>
                      <a:r>
                        <a:rPr sz="1200" b="0">
                          <a:solidFill>
                            <a:srgbClr val="1F2937"/>
                          </a:solidFill>
                        </a:rPr>
                        <a:t>Misol</a:t>
                      </a:r>
                    </a:p>
                  </a:txBody>
                  <a:tcPr marL="73152" marR="73152" marT="36576" marB="36576">
                    <a:solidFill>
                      <a:srgbClr val="E8EEF6"/>
                    </a:solidFill>
                  </a:tcPr>
                </a:tc>
                <a:tc>
                  <a:txBody>
                    <a:bodyPr/>
                    <a:lstStyle/>
                    <a:p>
                      <a:r>
                        <a:rPr sz="1200" b="0">
                          <a:solidFill>
                            <a:srgbClr val="1F2937"/>
                          </a:solidFill>
                        </a:rPr>
                        <a:t>Boshning ajralishi, yurak lat eyishi</a:t>
                      </a:r>
                    </a:p>
                  </a:txBody>
                  <a:tcPr marL="73152" marR="73152" marT="36576" marB="36576">
                    <a:solidFill>
                      <a:srgbClr val="E8EEF6"/>
                    </a:solidFill>
                  </a:tcPr>
                </a:tc>
                <a:tc>
                  <a:txBody>
                    <a:bodyPr/>
                    <a:lstStyle/>
                    <a:p>
                      <a:r>
                        <a:rPr sz="1200" b="0">
                          <a:solidFill>
                            <a:srgbClr val="1F2937"/>
                          </a:solidFill>
                        </a:rPr>
                        <a:t>Peritonit, gaz gangrenasi, qoqshol</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guruh sabablar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O‘tkir qon yo‘qotish va ko‘p qon yo‘qotish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Qon yo‘qotishda yo‘qotilgan qon hajmi ham, qon yo‘qotish sur’ati ham ahamiyatli.</a:t>
            </a:r>
          </a:p>
          <a:p>
            <a:pPr>
              <a:spcAft>
                <a:spcPts val="800"/>
              </a:spcAft>
            </a:pPr>
            <a:r>
              <a:rPr sz="1800">
                <a:solidFill>
                  <a:srgbClr val="1F2937"/>
                </a:solidFill>
                <a:latin typeface="Calibri"/>
              </a:rPr>
              <a:t>▸  Yirik arteriya shikastida 500 ml gacha yo‘qotishda ham o‘lim yurak qorinchalari fibrillyatsiyasidan bo‘ladi.</a:t>
            </a:r>
          </a:p>
          <a:p>
            <a:pPr>
              <a:spcAft>
                <a:spcPts val="800"/>
              </a:spcAft>
            </a:pPr>
            <a:r>
              <a:rPr sz="1800">
                <a:solidFill>
                  <a:srgbClr val="1F2937"/>
                </a:solidFill>
                <a:latin typeface="Calibri"/>
              </a:rPr>
              <a:t>▸  Minakov dog‘lari: chap qorincha endokardi ostidagi tasmasimon qon quyilishlar; o‘tkir qon yo‘qotish belgisi.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940084"/>
                <a:gridCol w="2350211"/>
                <a:gridCol w="1997679"/>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O‘tkir</a:t>
                      </a:r>
                    </a:p>
                  </a:txBody>
                  <a:tcPr marL="73152" marR="73152" marT="36576" marB="36576">
                    <a:solidFill>
                      <a:srgbClr val="0B1F3A"/>
                    </a:solidFill>
                  </a:tcPr>
                </a:tc>
                <a:tc>
                  <a:txBody>
                    <a:bodyPr/>
                    <a:lstStyle/>
                    <a:p>
                      <a:r>
                        <a:rPr sz="1300" b="1">
                          <a:solidFill>
                            <a:srgbClr val="FFFFFF"/>
                          </a:solidFill>
                        </a:rPr>
                        <a:t>Ko‘p (&gt;50%)</a:t>
                      </a:r>
                    </a:p>
                  </a:txBody>
                  <a:tcPr marL="73152" marR="73152" marT="36576" marB="36576">
                    <a:solidFill>
                      <a:srgbClr val="0B1F3A"/>
                    </a:solidFill>
                  </a:tcPr>
                </a:tc>
              </a:tr>
              <a:tr h="411480">
                <a:tc>
                  <a:txBody>
                    <a:bodyPr/>
                    <a:lstStyle/>
                    <a:p>
                      <a:r>
                        <a:rPr sz="1200" b="0">
                          <a:solidFill>
                            <a:srgbClr val="1F2937"/>
                          </a:solidFill>
                        </a:rPr>
                        <a:t>Kechishi</a:t>
                      </a:r>
                    </a:p>
                  </a:txBody>
                  <a:tcPr marL="73152" marR="73152" marT="36576" marB="36576">
                    <a:solidFill>
                      <a:srgbClr val="E8EEF6"/>
                    </a:solidFill>
                  </a:tcPr>
                </a:tc>
                <a:tc>
                  <a:txBody>
                    <a:bodyPr/>
                    <a:lstStyle/>
                    <a:p>
                      <a:r>
                        <a:rPr sz="1200" b="0">
                          <a:solidFill>
                            <a:srgbClr val="1F2937"/>
                          </a:solidFill>
                        </a:rPr>
                        <a:t>Dastlabki minutlarda o‘lim</a:t>
                      </a:r>
                    </a:p>
                  </a:txBody>
                  <a:tcPr marL="73152" marR="73152" marT="36576" marB="36576">
                    <a:solidFill>
                      <a:srgbClr val="E8EEF6"/>
                    </a:solidFill>
                  </a:tcPr>
                </a:tc>
                <a:tc>
                  <a:txBody>
                    <a:bodyPr/>
                    <a:lstStyle/>
                    <a:p>
                      <a:r>
                        <a:rPr sz="1200" b="0">
                          <a:solidFill>
                            <a:srgbClr val="1F2937"/>
                          </a:solidFill>
                        </a:rPr>
                        <a:t>Bir necha soat davomida</a:t>
                      </a:r>
                    </a:p>
                  </a:txBody>
                  <a:tcPr marL="73152" marR="73152" marT="36576" marB="36576">
                    <a:solidFill>
                      <a:srgbClr val="E8EEF6"/>
                    </a:solidFill>
                  </a:tcPr>
                </a:tc>
              </a:tr>
              <a:tr h="411480">
                <a:tc>
                  <a:txBody>
                    <a:bodyPr/>
                    <a:lstStyle/>
                    <a:p>
                      <a:r>
                        <a:rPr sz="1200" b="0">
                          <a:solidFill>
                            <a:srgbClr val="1F2937"/>
                          </a:solidFill>
                        </a:rPr>
                        <a:t>Ichki a’zolar</a:t>
                      </a:r>
                    </a:p>
                  </a:txBody>
                  <a:tcPr marL="73152" marR="73152" marT="36576" marB="36576">
                    <a:solidFill>
                      <a:srgbClr val="FFFFFF"/>
                    </a:solidFill>
                  </a:tcPr>
                </a:tc>
                <a:tc>
                  <a:txBody>
                    <a:bodyPr/>
                    <a:lstStyle/>
                    <a:p>
                      <a:r>
                        <a:rPr sz="1200" b="0">
                          <a:solidFill>
                            <a:srgbClr val="1F2937"/>
                          </a:solidFill>
                        </a:rPr>
                        <a:t>Faqat miya va yurak kamqon; taloq to‘yingan</a:t>
                      </a:r>
                    </a:p>
                  </a:txBody>
                  <a:tcPr marL="73152" marR="73152" marT="36576" marB="36576">
                    <a:solidFill>
                      <a:srgbClr val="FFFFFF"/>
                    </a:solidFill>
                  </a:tcPr>
                </a:tc>
                <a:tc>
                  <a:txBody>
                    <a:bodyPr/>
                    <a:lstStyle/>
                    <a:p>
                      <a:r>
                        <a:rPr sz="1200" b="0">
                          <a:solidFill>
                            <a:srgbClr val="1F2937"/>
                          </a:solidFill>
                        </a:rPr>
                        <a:t>Umumiy kamqonlik, taloq qisqargan</a:t>
                      </a:r>
                    </a:p>
                  </a:txBody>
                  <a:tcPr marL="73152" marR="73152" marT="36576" marB="36576">
                    <a:solidFill>
                      <a:srgbClr val="FFFFFF"/>
                    </a:solidFill>
                  </a:tcPr>
                </a:tc>
              </a:tr>
              <a:tr h="411480">
                <a:tc>
                  <a:txBody>
                    <a:bodyPr/>
                    <a:lstStyle/>
                    <a:p>
                      <a:r>
                        <a:rPr sz="1200" b="0">
                          <a:solidFill>
                            <a:srgbClr val="1F2937"/>
                          </a:solidFill>
                        </a:rPr>
                        <a:t>Murda dog‘lari</a:t>
                      </a:r>
                    </a:p>
                  </a:txBody>
                  <a:tcPr marL="73152" marR="73152" marT="36576" marB="36576">
                    <a:solidFill>
                      <a:srgbClr val="E8EEF6"/>
                    </a:solidFill>
                  </a:tcPr>
                </a:tc>
                <a:tc>
                  <a:txBody>
                    <a:bodyPr/>
                    <a:lstStyle/>
                    <a:p>
                      <a:r>
                        <a:rPr sz="1200" b="0">
                          <a:solidFill>
                            <a:srgbClr val="1F2937"/>
                          </a:solidFill>
                        </a:rPr>
                        <a:t>Odatdagidek, mushak qotishi ham</a:t>
                      </a:r>
                    </a:p>
                  </a:txBody>
                  <a:tcPr marL="73152" marR="73152" marT="36576" marB="36576">
                    <a:solidFill>
                      <a:srgbClr val="E8EEF6"/>
                    </a:solidFill>
                  </a:tcPr>
                </a:tc>
                <a:tc>
                  <a:txBody>
                    <a:bodyPr/>
                    <a:lstStyle/>
                    <a:p>
                      <a:r>
                        <a:rPr sz="1200" b="0">
                          <a:solidFill>
                            <a:srgbClr val="1F2937"/>
                          </a:solidFill>
                        </a:rPr>
                        <a:t>Kech va kam; mushak qotishi kuchli</a:t>
                      </a:r>
                    </a:p>
                  </a:txBody>
                  <a:tcPr marL="73152" marR="73152" marT="36576" marB="36576">
                    <a:solidFill>
                      <a:srgbClr val="E8EEF6"/>
                    </a:solidFill>
                  </a:tcPr>
                </a:tc>
              </a:tr>
              <a:tr h="411480">
                <a:tc>
                  <a:txBody>
                    <a:bodyPr/>
                    <a:lstStyle/>
                    <a:p>
                      <a:r>
                        <a:rPr sz="1200" b="0">
                          <a:solidFill>
                            <a:srgbClr val="1F2937"/>
                          </a:solidFill>
                        </a:rPr>
                        <a:t>Minakov dog‘lari</a:t>
                      </a:r>
                    </a:p>
                  </a:txBody>
                  <a:tcPr marL="73152" marR="73152" marT="36576" marB="36576">
                    <a:solidFill>
                      <a:srgbClr val="FFFFFF"/>
                    </a:solidFill>
                  </a:tcPr>
                </a:tc>
                <a:tc>
                  <a:txBody>
                    <a:bodyPr/>
                    <a:lstStyle/>
                    <a:p>
                      <a:r>
                        <a:rPr sz="1200" b="0">
                          <a:solidFill>
                            <a:srgbClr val="1F2937"/>
                          </a:solidFill>
                        </a:rPr>
                        <a:t>Xos belgi sifatida bo‘ladi</a:t>
                      </a:r>
                    </a:p>
                  </a:txBody>
                  <a:tcPr marL="73152" marR="73152" marT="36576" marB="36576">
                    <a:solidFill>
                      <a:srgbClr val="FFFFFF"/>
                    </a:solidFill>
                  </a:tcPr>
                </a:tc>
                <a:tc>
                  <a:txBody>
                    <a:bodyPr/>
                    <a:lstStyle/>
                    <a:p>
                      <a:r>
                        <a:rPr sz="1200" b="0">
                          <a:solidFill>
                            <a:srgbClr val="1F2937"/>
                          </a:solidFill>
                        </a:rPr>
                        <a:t>Faqat ayrim holatlarda topiladi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holat belgilari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 31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Travmatik shok va qisilishlar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Travmatik shok — organizmning shikastlanishga javobi: markaziy nerv, yurak-qon tomir va endokrin tizimlar faoliyati jiddiy buziladi.</a:t>
            </a:r>
          </a:p>
          <a:p>
            <a:pPr>
              <a:spcAft>
                <a:spcPts val="1200"/>
              </a:spcAft>
            </a:pPr>
            <a:r>
              <a:rPr sz="2200">
                <a:solidFill>
                  <a:srgbClr val="1F2937"/>
                </a:solidFill>
                <a:latin typeface="Calibri"/>
              </a:rPr>
              <a:t>▸  Shokda periferik qon aylanishi yetishmaydi. Odatda og‘ir, III-IV darajali shok o‘limga olib keladi; murdada venoz to‘laqonlik, jigar va taloqda qon depolanishi topilishi mumkin.</a:t>
            </a:r>
          </a:p>
          <a:p>
            <a:pPr>
              <a:spcAft>
                <a:spcPts val="1200"/>
              </a:spcAft>
            </a:pPr>
            <a:r>
              <a:rPr sz="2200">
                <a:solidFill>
                  <a:srgbClr val="1F2937"/>
                </a:solidFill>
                <a:latin typeface="Calibri"/>
              </a:rPr>
              <a:t>▸  Kalla-miya jarohatida suyak ichi gematomalari (epidural, subdural, subaraxnoidal) miyani qisadi. Bo‘yin va ko‘krak umurtqalari shikastida orqa miya qisiladi.</a:t>
            </a:r>
          </a:p>
          <a:p>
            <a:pPr>
              <a:spcAft>
                <a:spcPts val="1200"/>
              </a:spcAft>
            </a:pPr>
            <a:r>
              <a:rPr sz="2200">
                <a:solidFill>
                  <a:srgbClr val="1F2937"/>
                </a:solidFill>
                <a:latin typeface="Calibri"/>
              </a:rPr>
              <a:t>▸  Ko‘krak qafasi shikastlanganda gemoperikard, pnevmotoraks va gemotoraks vujudga kelib, yurak va o‘pka qon yoki havo bilan qisiladi.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Havo emboliyasi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Havo emboliyasi yirik venalar shikastlanishida va jinoiy abortda rivojlanishi mumkin. Havoning venaga kirish tezligi va miqdori hal qiluvchi.</a:t>
            </a:r>
          </a:p>
          <a:p>
            <a:pPr>
              <a:spcAft>
                <a:spcPts val="1200"/>
              </a:spcAft>
            </a:pPr>
            <a:r>
              <a:rPr sz="2200">
                <a:solidFill>
                  <a:srgbClr val="1F2937"/>
                </a:solidFill>
                <a:latin typeface="Calibri"/>
              </a:rPr>
              <a:t>▸  Oz miqdordagi havo (5-7 kub sm) sekin-asta qonda erib ketadi va xavfli oqibatga olib kelmasligi mumkin.</a:t>
            </a:r>
          </a:p>
          <a:p>
            <a:pPr>
              <a:spcAft>
                <a:spcPts val="1200"/>
              </a:spcAft>
            </a:pPr>
            <a:r>
              <a:rPr sz="2200">
                <a:solidFill>
                  <a:srgbClr val="1F2937"/>
                </a:solidFill>
                <a:latin typeface="Calibri"/>
              </a:rPr>
              <a:t>▸  Ko‘p havo (10 kub sm va undan ortiq) venaga tez o‘tsa, yurak qorinchalari fibrillyatsiyasi va o‘lim bilan tugashi mumkin.</a:t>
            </a:r>
          </a:p>
          <a:p>
            <a:pPr>
              <a:spcAft>
                <a:spcPts val="1200"/>
              </a:spcAft>
            </a:pPr>
            <a:r>
              <a:rPr sz="2200">
                <a:solidFill>
                  <a:srgbClr val="1F2937"/>
                </a:solidFill>
                <a:latin typeface="Calibri"/>
              </a:rPr>
              <a:t>▸  Sunsov sinamasi: perikard bo‘shlig‘iga suv quyilib, o‘ng qorincha devori teshiladi; suvdan havo pufaklari chiqsa, natija musbat.</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31, 32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Yog‘ emboliyasi va aspiratsion asfiksiya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Yog‘ emboliyasi asosan uzun naysimon suyaklar sinishida va teri osti yog‘ qavati majaqlanishida kuzatiladi. Yog‘ zarralari o‘pka tomirlarida to‘planadi.</a:t>
            </a:r>
          </a:p>
          <a:p>
            <a:pPr>
              <a:spcAft>
                <a:spcPts val="1200"/>
              </a:spcAft>
            </a:pPr>
            <a:r>
              <a:rPr sz="2200">
                <a:solidFill>
                  <a:srgbClr val="1F2937"/>
                </a:solidFill>
                <a:latin typeface="Calibri"/>
              </a:rPr>
              <a:t>▸  O‘lim darhol emas, shikastdan 2-3 kun o‘tgach yuz beradi. Embollar katta qon doirasi orqali bosh miyaga ham yetib borishi mumkin.</a:t>
            </a:r>
          </a:p>
          <a:p>
            <a:pPr>
              <a:spcAft>
                <a:spcPts val="1200"/>
              </a:spcAft>
            </a:pPr>
            <a:r>
              <a:rPr sz="2200">
                <a:solidFill>
                  <a:srgbClr val="1F2937"/>
                </a:solidFill>
                <a:latin typeface="Calibri"/>
              </a:rPr>
              <a:t>▸  O‘pka va miyaning muzlatilgan kesmalari Sudan III yoki Sudan IV bilan bo‘yaladi: yog‘ tomchilari olovrang qizil (III) yoki qora (IV) ko‘rinadi.</a:t>
            </a:r>
          </a:p>
          <a:p>
            <a:pPr>
              <a:spcAft>
                <a:spcPts val="1200"/>
              </a:spcAft>
            </a:pPr>
            <a:r>
              <a:rPr sz="2200">
                <a:solidFill>
                  <a:srgbClr val="1F2937"/>
                </a:solidFill>
                <a:latin typeface="Calibri"/>
              </a:rPr>
              <a:t>▸  Halqum, nafas yo‘llari jarohati, kalla asosi va burun suyaklari sinishida qon nafas yo‘llariga tushib, aspiratsion asfiksiyaga olib keladi.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Ikkilamchi o‘lim sabablari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Birlamchi sabablarda o‘lim jarohatdan so‘ng darhol yoki qisqa vaqtda yuz beradi. Ikkilamchi sabablarda esa birmuncha muddatdan keyin sodir bo‘ladi.</a:t>
            </a:r>
          </a:p>
          <a:p>
            <a:pPr>
              <a:spcAft>
                <a:spcPts val="1200"/>
              </a:spcAft>
            </a:pPr>
            <a:r>
              <a:rPr sz="2200">
                <a:solidFill>
                  <a:srgbClr val="1F2937"/>
                </a:solidFill>
                <a:latin typeface="Calibri"/>
              </a:rPr>
              <a:t>▸  Infeksion asoratlar: sepsisga olib kelgan yiringli peritonit, plevrit, meningit, osteomielit; anaerob infeksiya (gaz gangrenasi) va qoqshol.</a:t>
            </a:r>
          </a:p>
          <a:p>
            <a:pPr>
              <a:spcAft>
                <a:spcPts val="1200"/>
              </a:spcAft>
            </a:pPr>
            <a:r>
              <a:rPr sz="2200">
                <a:solidFill>
                  <a:srgbClr val="1F2937"/>
                </a:solidFill>
                <a:latin typeface="Calibri"/>
              </a:rPr>
              <a:t>▸  Intoksikatsiyalar (travmatik toksikoz) ham ikkilamchi sabab hisoblanadi. Shikastlanishdan keyin ikkilamchi qon yo‘qotish, shok va emboliya ham kuzatiladi.</a:t>
            </a:r>
          </a:p>
          <a:p>
            <a:pPr>
              <a:spcAft>
                <a:spcPts val="1200"/>
              </a:spcAft>
            </a:pPr>
            <a:r>
              <a:rPr sz="2200">
                <a:solidFill>
                  <a:srgbClr val="1F2937"/>
                </a:solidFill>
                <a:latin typeface="Calibri"/>
              </a:rPr>
              <a:t>▸  Ayrim a’zo yoki to‘qimalarning shikastlangan sohasida xavfli o‘smalar rivojlanishi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 33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o‘lim sababi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Voqea: yirik arterial qon tomiri shikastlangan, yo‘qotilgan qon 500 ml dan oshmagan, o‘lim dastlabki daqiqalarda yuz bergan.</a:t>
            </a:r>
          </a:p>
          <a:p>
            <a:pPr>
              <a:spcAft>
                <a:spcPts val="1200"/>
              </a:spcAft>
            </a:pPr>
            <a:r>
              <a:rPr sz="2200">
                <a:solidFill>
                  <a:srgbClr val="1F2937"/>
                </a:solidFill>
                <a:latin typeface="Calibri"/>
              </a:rPr>
              <a:t>▸  Savol: o‘limning mexanizmi qanday va murdani tekshirganda qaysi belgilarni kutish mumkin?</a:t>
            </a:r>
          </a:p>
          <a:p>
            <a:pPr>
              <a:spcAft>
                <a:spcPts val="1200"/>
              </a:spcAft>
            </a:pPr>
            <a:r>
              <a:rPr sz="2200">
                <a:solidFill>
                  <a:srgbClr val="1F2937"/>
                </a:solidFill>
                <a:latin typeface="Calibri"/>
              </a:rPr>
              <a:t>▸  Javob: yurak qorinchalari fibrillyatsiyasi. Bosh miya va yurak mushagida kamqonlik, taloq qonga to‘yingan, chap qorincha endokardi ostida Minakov dog‘lari bor.</a:t>
            </a:r>
          </a:p>
          <a:p>
            <a:pPr>
              <a:spcAft>
                <a:spcPts val="1200"/>
              </a:spcAft>
            </a:pPr>
            <a:r>
              <a:rPr sz="2200">
                <a:solidFill>
                  <a:srgbClr val="1F2937"/>
                </a:solidFill>
                <a:latin typeface="Calibri"/>
              </a:rPr>
              <a:t>▸  Diqqat: xato qilish xavfi. 50% dan ortiq (2,5 l va undan ko‘p) qon yo‘qotishda taloq kamqon va qisqargan, murda dog‘lari kech paydo bo‘ladi va kam bo‘ladi.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O‘tmas jismlar va ularning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Tirik shaxslar ekspertizasining 80% dan ortig‘i, murdalarda esa zo‘raki o‘limning yarmiga yaqini o‘tmas jism jarohatlari bilan bog‘liq.</a:t>
            </a:r>
          </a:p>
          <a:p>
            <a:pPr>
              <a:spcAft>
                <a:spcPts val="1200"/>
              </a:spcAft>
            </a:pPr>
            <a:r>
              <a:rPr sz="2200">
                <a:solidFill>
                  <a:srgbClr val="1F2937"/>
                </a:solidFill>
                <a:latin typeface="Calibri"/>
              </a:rPr>
              <a:t>▸  Jism ma’lum yuza bilan ta’sir etsa, o‘tmas deyiladi: qattiq (tosh, tayoq), yumshoq (sharf, sochiq), elastik (rezina to‘p).</a:t>
            </a:r>
          </a:p>
          <a:p>
            <a:pPr>
              <a:spcAft>
                <a:spcPts val="1200"/>
              </a:spcAft>
            </a:pPr>
            <a:r>
              <a:rPr sz="2200">
                <a:solidFill>
                  <a:srgbClr val="1F2937"/>
                </a:solidFill>
                <a:latin typeface="Calibri"/>
              </a:rPr>
              <a:t>▸  Ta’sir joyidagi jarohat bevosita, ta’sir joyidan boshqa sohada hosil bo‘lgan jarohat esa bilvosita deb ataladi.</a:t>
            </a:r>
          </a:p>
          <a:p>
            <a:pPr>
              <a:spcAft>
                <a:spcPts val="1200"/>
              </a:spcAft>
            </a:pPr>
            <a:r>
              <a:rPr sz="2200">
                <a:solidFill>
                  <a:srgbClr val="1F2937"/>
                </a:solidFill>
                <a:latin typeface="Calibri"/>
              </a:rPr>
              <a:t>▸  Ta’sir yuzasi o‘lchami (cheklangan yoki cheklanmagan), shakli (yassi, egri, qirrali, murakkab) va relefi (silliq yoki g‘adir-budur) bo‘yicha tasniflanadi.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33, 33-34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Impression va inersion travma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Jarohat turi jismning massasi va ta’sir kuchiga bog‘liq. Shunga ko‘ra impression va inersion travma farqlanadi.</a:t>
            </a:r>
          </a:p>
          <a:p>
            <a:pPr>
              <a:spcAft>
                <a:spcPts val="800"/>
              </a:spcAft>
            </a:pPr>
            <a:r>
              <a:rPr sz="1800">
                <a:solidFill>
                  <a:srgbClr val="1F2937"/>
                </a:solidFill>
                <a:latin typeface="Calibri"/>
              </a:rPr>
              <a:t>▸  Diqqat: impression ≠ inersion. Farq jism massasini tananing shikastlangan soha massasi bilan solishtirishda.</a:t>
            </a:r>
          </a:p>
          <a:p>
            <a:pPr>
              <a:spcAft>
                <a:spcPts val="800"/>
              </a:spcAft>
            </a:pPr>
            <a:r>
              <a:rPr sz="1800">
                <a:solidFill>
                  <a:srgbClr val="1F2937"/>
                </a:solidFill>
                <a:latin typeface="Calibri"/>
              </a:rPr>
              <a:t>▸  Inersion (tezlanish) travmasida kalla-miya jarohatlarida aks zarb shikastlanishlari aniqlanadi.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972501"/>
                <a:gridCol w="2127346"/>
                <a:gridCol w="2188127"/>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Impression</a:t>
                      </a:r>
                    </a:p>
                  </a:txBody>
                  <a:tcPr marL="73152" marR="73152" marT="36576" marB="36576">
                    <a:solidFill>
                      <a:srgbClr val="0B1F3A"/>
                    </a:solidFill>
                  </a:tcPr>
                </a:tc>
                <a:tc>
                  <a:txBody>
                    <a:bodyPr/>
                    <a:lstStyle/>
                    <a:p>
                      <a:r>
                        <a:rPr sz="1300" b="1">
                          <a:solidFill>
                            <a:srgbClr val="FFFFFF"/>
                          </a:solidFill>
                        </a:rPr>
                        <a:t>Inersion</a:t>
                      </a:r>
                    </a:p>
                  </a:txBody>
                  <a:tcPr marL="73152" marR="73152" marT="36576" marB="36576">
                    <a:solidFill>
                      <a:srgbClr val="0B1F3A"/>
                    </a:solidFill>
                  </a:tcPr>
                </a:tc>
              </a:tr>
              <a:tr h="411480">
                <a:tc>
                  <a:txBody>
                    <a:bodyPr/>
                    <a:lstStyle/>
                    <a:p>
                      <a:r>
                        <a:rPr sz="1200" b="0">
                          <a:solidFill>
                            <a:srgbClr val="1F2937"/>
                          </a:solidFill>
                        </a:rPr>
                        <a:t>Kuch va massa</a:t>
                      </a:r>
                    </a:p>
                  </a:txBody>
                  <a:tcPr marL="73152" marR="73152" marT="36576" marB="36576">
                    <a:solidFill>
                      <a:srgbClr val="E8EEF6"/>
                    </a:solidFill>
                  </a:tcPr>
                </a:tc>
                <a:tc>
                  <a:txBody>
                    <a:bodyPr/>
                    <a:lstStyle/>
                    <a:p>
                      <a:r>
                        <a:rPr sz="1200" b="0">
                          <a:solidFill>
                            <a:srgbClr val="1F2937"/>
                          </a:solidFill>
                        </a:rPr>
                        <a:t>Jism massasi soha massasidan kichik</a:t>
                      </a:r>
                    </a:p>
                  </a:txBody>
                  <a:tcPr marL="73152" marR="73152" marT="36576" marB="36576">
                    <a:solidFill>
                      <a:srgbClr val="E8EEF6"/>
                    </a:solidFill>
                  </a:tcPr>
                </a:tc>
                <a:tc>
                  <a:txBody>
                    <a:bodyPr/>
                    <a:lstStyle/>
                    <a:p>
                      <a:r>
                        <a:rPr sz="1200" b="0">
                          <a:solidFill>
                            <a:srgbClr val="1F2937"/>
                          </a:solidFill>
                        </a:rPr>
                        <a:t>Kuch soha yoki tana massasidan katta</a:t>
                      </a:r>
                    </a:p>
                  </a:txBody>
                  <a:tcPr marL="73152" marR="73152" marT="36576" marB="36576">
                    <a:solidFill>
                      <a:srgbClr val="E8EEF6"/>
                    </a:solidFill>
                  </a:tcPr>
                </a:tc>
              </a:tr>
              <a:tr h="411480">
                <a:tc>
                  <a:txBody>
                    <a:bodyPr/>
                    <a:lstStyle/>
                    <a:p>
                      <a:r>
                        <a:rPr sz="1200" b="0">
                          <a:solidFill>
                            <a:srgbClr val="1F2937"/>
                          </a:solidFill>
                        </a:rPr>
                        <a:t>Jarohat joyi</a:t>
                      </a:r>
                    </a:p>
                  </a:txBody>
                  <a:tcPr marL="73152" marR="73152" marT="36576" marB="36576">
                    <a:solidFill>
                      <a:srgbClr val="FFFFFF"/>
                    </a:solidFill>
                  </a:tcPr>
                </a:tc>
                <a:tc>
                  <a:txBody>
                    <a:bodyPr/>
                    <a:lstStyle/>
                    <a:p>
                      <a:r>
                        <a:rPr sz="1200" b="0">
                          <a:solidFill>
                            <a:srgbClr val="1F2937"/>
                          </a:solidFill>
                        </a:rPr>
                        <a:t>Faqat ta’sir sohasida</a:t>
                      </a:r>
                    </a:p>
                  </a:txBody>
                  <a:tcPr marL="73152" marR="73152" marT="36576" marB="36576">
                    <a:solidFill>
                      <a:srgbClr val="FFFFFF"/>
                    </a:solidFill>
                  </a:tcPr>
                </a:tc>
                <a:tc>
                  <a:txBody>
                    <a:bodyPr/>
                    <a:lstStyle/>
                    <a:p>
                      <a:r>
                        <a:rPr sz="1200" b="0">
                          <a:solidFill>
                            <a:srgbClr val="1F2937"/>
                          </a:solidFill>
                        </a:rPr>
                        <a:t>Bilvosita jarohatlar</a:t>
                      </a:r>
                    </a:p>
                  </a:txBody>
                  <a:tcPr marL="73152" marR="73152" marT="36576" marB="36576">
                    <a:solidFill>
                      <a:srgbClr val="FFFFFF"/>
                    </a:solidFill>
                  </a:tcPr>
                </a:tc>
              </a:tr>
              <a:tr h="411480">
                <a:tc>
                  <a:txBody>
                    <a:bodyPr/>
                    <a:lstStyle/>
                    <a:p>
                      <a:r>
                        <a:rPr sz="1200" b="0">
                          <a:solidFill>
                            <a:srgbClr val="1F2937"/>
                          </a:solidFill>
                        </a:rPr>
                        <a:t>Umumiy ta’sir</a:t>
                      </a:r>
                    </a:p>
                  </a:txBody>
                  <a:tcPr marL="73152" marR="73152" marT="36576" marB="36576">
                    <a:solidFill>
                      <a:srgbClr val="E8EEF6"/>
                    </a:solidFill>
                  </a:tcPr>
                </a:tc>
                <a:tc>
                  <a:txBody>
                    <a:bodyPr/>
                    <a:lstStyle/>
                    <a:p>
                      <a:r>
                        <a:rPr sz="1200" b="0">
                          <a:solidFill>
                            <a:srgbClr val="1F2937"/>
                          </a:solidFill>
                        </a:rPr>
                        <a:t>Soha bilan cheklangan</a:t>
                      </a:r>
                    </a:p>
                  </a:txBody>
                  <a:tcPr marL="73152" marR="73152" marT="36576" marB="36576">
                    <a:solidFill>
                      <a:srgbClr val="E8EEF6"/>
                    </a:solidFill>
                  </a:tcPr>
                </a:tc>
                <a:tc>
                  <a:txBody>
                    <a:bodyPr/>
                    <a:lstStyle/>
                    <a:p>
                      <a:r>
                        <a:rPr sz="1200" b="0">
                          <a:solidFill>
                            <a:srgbClr val="1F2937"/>
                          </a:solidFill>
                        </a:rPr>
                        <a:t>Tananing umumiy chayqalishi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Impression va inersion travma</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O‘tmas jismlarning ta’sir mexanizmlari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Zarb — bir tomonga yo‘nalgan qisqa ta’sir. Buralish va chayqalish ayrim hollarda qo‘shiladi.</a:t>
            </a:r>
          </a:p>
          <a:p>
            <a:pPr>
              <a:spcAft>
                <a:spcPts val="800"/>
              </a:spcAft>
            </a:pPr>
            <a:r>
              <a:rPr sz="1800">
                <a:solidFill>
                  <a:srgbClr val="1F2937"/>
                </a:solidFill>
                <a:latin typeface="Calibri"/>
              </a:rPr>
              <a:t>▸  Chayqalish zarbdan keyin yoki silkinishda bo‘ladi. Kuchli chayqalish “bolalarning silkinish sindromi” asosida yotadi.</a:t>
            </a:r>
          </a:p>
          <a:p>
            <a:pPr>
              <a:spcAft>
                <a:spcPts val="800"/>
              </a:spcAft>
            </a:pPr>
            <a:r>
              <a:rPr sz="1800">
                <a:solidFill>
                  <a:srgbClr val="1F2937"/>
                </a:solidFill>
                <a:latin typeface="Calibri"/>
              </a:rPr>
              <a:t>▸  Ko‘pincha jarohat ikki va undan ortiq mexanizm orqali hosil bo‘ladi va xususiyatlariga ta’sir qiladi.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972501"/>
                <a:gridCol w="2005783"/>
                <a:gridCol w="2309690"/>
              </a:tblGrid>
              <a:tr h="411480">
                <a:tc>
                  <a:txBody>
                    <a:bodyPr/>
                    <a:lstStyle/>
                    <a:p>
                      <a:r>
                        <a:rPr sz="1300" b="1">
                          <a:solidFill>
                            <a:srgbClr val="FFFFFF"/>
                          </a:solidFill>
                        </a:rPr>
                        <a:t>Mexanizm</a:t>
                      </a:r>
                    </a:p>
                  </a:txBody>
                  <a:tcPr marL="73152" marR="73152" marT="36576" marB="36576">
                    <a:solidFill>
                      <a:srgbClr val="0B1F3A"/>
                    </a:solidFill>
                  </a:tcPr>
                </a:tc>
                <a:tc>
                  <a:txBody>
                    <a:bodyPr/>
                    <a:lstStyle/>
                    <a:p>
                      <a:r>
                        <a:rPr sz="1300" b="1">
                          <a:solidFill>
                            <a:srgbClr val="FFFFFF"/>
                          </a:solidFill>
                        </a:rPr>
                        <a:t>Kuch</a:t>
                      </a:r>
                    </a:p>
                  </a:txBody>
                  <a:tcPr marL="73152" marR="73152" marT="36576" marB="36576">
                    <a:solidFill>
                      <a:srgbClr val="0B1F3A"/>
                    </a:solidFill>
                  </a:tcPr>
                </a:tc>
                <a:tc>
                  <a:txBody>
                    <a:bodyPr/>
                    <a:lstStyle/>
                    <a:p>
                      <a:r>
                        <a:rPr sz="1300" b="1">
                          <a:solidFill>
                            <a:srgbClr val="FFFFFF"/>
                          </a:solidFill>
                        </a:rPr>
                        <a:t>Jarohat</a:t>
                      </a:r>
                    </a:p>
                  </a:txBody>
                  <a:tcPr marL="73152" marR="73152" marT="36576" marB="36576">
                    <a:solidFill>
                      <a:srgbClr val="0B1F3A"/>
                    </a:solidFill>
                  </a:tcPr>
                </a:tc>
              </a:tr>
              <a:tr h="411480">
                <a:tc>
                  <a:txBody>
                    <a:bodyPr/>
                    <a:lstStyle/>
                    <a:p>
                      <a:r>
                        <a:rPr sz="1200" b="0">
                          <a:solidFill>
                            <a:srgbClr val="1F2937"/>
                          </a:solidFill>
                        </a:rPr>
                        <a:t>Siqilish</a:t>
                      </a:r>
                    </a:p>
                  </a:txBody>
                  <a:tcPr marL="73152" marR="73152" marT="36576" marB="36576">
                    <a:solidFill>
                      <a:srgbClr val="E8EEF6"/>
                    </a:solidFill>
                  </a:tcPr>
                </a:tc>
                <a:tc>
                  <a:txBody>
                    <a:bodyPr/>
                    <a:lstStyle/>
                    <a:p>
                      <a:r>
                        <a:rPr sz="1200" b="0">
                          <a:solidFill>
                            <a:srgbClr val="1F2937"/>
                          </a:solidFill>
                        </a:rPr>
                        <a:t>Markazga intiluvchi 2+ kuch, uzoq</a:t>
                      </a:r>
                    </a:p>
                  </a:txBody>
                  <a:tcPr marL="73152" marR="73152" marT="36576" marB="36576">
                    <a:solidFill>
                      <a:srgbClr val="E8EEF6"/>
                    </a:solidFill>
                  </a:tcPr>
                </a:tc>
                <a:tc>
                  <a:txBody>
                    <a:bodyPr/>
                    <a:lstStyle/>
                    <a:p>
                      <a:r>
                        <a:rPr sz="1200" b="0">
                          <a:solidFill>
                            <a:srgbClr val="1F2937"/>
                          </a:solidFill>
                        </a:rPr>
                        <a:t>Ichki a’zo, suyak jiddiy shikastlanadi</a:t>
                      </a:r>
                    </a:p>
                  </a:txBody>
                  <a:tcPr marL="73152" marR="73152" marT="36576" marB="36576">
                    <a:solidFill>
                      <a:srgbClr val="E8EEF6"/>
                    </a:solidFill>
                  </a:tcPr>
                </a:tc>
              </a:tr>
              <a:tr h="411480">
                <a:tc>
                  <a:txBody>
                    <a:bodyPr/>
                    <a:lstStyle/>
                    <a:p>
                      <a:r>
                        <a:rPr sz="1200" b="0">
                          <a:solidFill>
                            <a:srgbClr val="1F2937"/>
                          </a:solidFill>
                        </a:rPr>
                        <a:t>Cho‘zilish</a:t>
                      </a:r>
                    </a:p>
                  </a:txBody>
                  <a:tcPr marL="73152" marR="73152" marT="36576" marB="36576">
                    <a:solidFill>
                      <a:srgbClr val="FFFFFF"/>
                    </a:solidFill>
                  </a:tcPr>
                </a:tc>
                <a:tc>
                  <a:txBody>
                    <a:bodyPr/>
                    <a:lstStyle/>
                    <a:p>
                      <a:r>
                        <a:rPr sz="1200" b="0">
                          <a:solidFill>
                            <a:srgbClr val="1F2937"/>
                          </a:solidFill>
                        </a:rPr>
                        <a:t>Markazdan qochuvchi 2+ kuch</a:t>
                      </a:r>
                    </a:p>
                  </a:txBody>
                  <a:tcPr marL="73152" marR="73152" marT="36576" marB="36576">
                    <a:solidFill>
                      <a:srgbClr val="FFFFFF"/>
                    </a:solidFill>
                  </a:tcPr>
                </a:tc>
                <a:tc>
                  <a:txBody>
                    <a:bodyPr/>
                    <a:lstStyle/>
                    <a:p>
                      <a:r>
                        <a:rPr sz="1200" b="0">
                          <a:solidFill>
                            <a:srgbClr val="1F2937"/>
                          </a:solidFill>
                        </a:rPr>
                        <a:t>Yirtma yara, yorilish, qism ajralishi</a:t>
                      </a:r>
                    </a:p>
                  </a:txBody>
                  <a:tcPr marL="73152" marR="73152" marT="36576" marB="36576">
                    <a:solidFill>
                      <a:srgbClr val="FFFFFF"/>
                    </a:solidFill>
                  </a:tcPr>
                </a:tc>
              </a:tr>
              <a:tr h="411480">
                <a:tc>
                  <a:txBody>
                    <a:bodyPr/>
                    <a:lstStyle/>
                    <a:p>
                      <a:r>
                        <a:rPr sz="1200" b="0">
                          <a:solidFill>
                            <a:srgbClr val="1F2937"/>
                          </a:solidFill>
                        </a:rPr>
                        <a:t>Ishqalanish</a:t>
                      </a:r>
                    </a:p>
                  </a:txBody>
                  <a:tcPr marL="73152" marR="73152" marT="36576" marB="36576">
                    <a:solidFill>
                      <a:srgbClr val="E8EEF6"/>
                    </a:solidFill>
                  </a:tcPr>
                </a:tc>
                <a:tc>
                  <a:txBody>
                    <a:bodyPr/>
                    <a:lstStyle/>
                    <a:p>
                      <a:r>
                        <a:rPr sz="1200" b="0">
                          <a:solidFill>
                            <a:srgbClr val="1F2937"/>
                          </a:solidFill>
                        </a:rPr>
                        <a:t>Jism burchak ostida suriladi</a:t>
                      </a:r>
                    </a:p>
                  </a:txBody>
                  <a:tcPr marL="73152" marR="73152" marT="36576" marB="36576">
                    <a:solidFill>
                      <a:srgbClr val="E8EEF6"/>
                    </a:solidFill>
                  </a:tcPr>
                </a:tc>
                <a:tc>
                  <a:txBody>
                    <a:bodyPr/>
                    <a:lstStyle/>
                    <a:p>
                      <a:r>
                        <a:rPr sz="1200" b="0">
                          <a:solidFill>
                            <a:srgbClr val="1F2937"/>
                          </a:solidFill>
                        </a:rPr>
                        <a:t>Shilinma (faqat bevosita)</a:t>
                      </a:r>
                    </a:p>
                  </a:txBody>
                  <a:tcPr marL="73152" marR="73152" marT="36576" marB="36576">
                    <a:solidFill>
                      <a:srgbClr val="E8EEF6"/>
                    </a:solidFill>
                  </a:tcPr>
                </a:tc>
              </a:tr>
              <a:tr h="411480">
                <a:tc>
                  <a:txBody>
                    <a:bodyPr/>
                    <a:lstStyle/>
                    <a:p>
                      <a:r>
                        <a:rPr sz="1200" b="0">
                          <a:solidFill>
                            <a:srgbClr val="1F2937"/>
                          </a:solidFill>
                        </a:rPr>
                        <a:t>Buralish</a:t>
                      </a:r>
                    </a:p>
                  </a:txBody>
                  <a:tcPr marL="73152" marR="73152" marT="36576" marB="36576">
                    <a:solidFill>
                      <a:srgbClr val="FFFFFF"/>
                    </a:solidFill>
                  </a:tcPr>
                </a:tc>
                <a:tc>
                  <a:txBody>
                    <a:bodyPr/>
                    <a:lstStyle/>
                    <a:p>
                      <a:r>
                        <a:rPr sz="1200" b="0">
                          <a:solidFill>
                            <a:srgbClr val="1F2937"/>
                          </a:solidFill>
                        </a:rPr>
                        <a:t>Soat mili bo‘yicha va unga qarshi</a:t>
                      </a:r>
                    </a:p>
                  </a:txBody>
                  <a:tcPr marL="73152" marR="73152" marT="36576" marB="36576">
                    <a:solidFill>
                      <a:srgbClr val="FFFFFF"/>
                    </a:solidFill>
                  </a:tcPr>
                </a:tc>
                <a:tc>
                  <a:txBody>
                    <a:bodyPr/>
                    <a:lstStyle/>
                    <a:p>
                      <a:r>
                        <a:rPr sz="1200" b="0">
                          <a:solidFill>
                            <a:srgbClr val="1F2937"/>
                          </a:solidFill>
                        </a:rPr>
                        <a:t>Spiralsimon suyak sinishi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To‘rt mexanizm va jarohat</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34-35, 36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mexanizmlar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qaysi mexanizmda faqat bevosita jarohatlar, asosan shilinma hosil bo‘ladi? Javob: ishqalanish.</a:t>
            </a:r>
          </a:p>
          <a:p>
            <a:pPr>
              <a:spcAft>
                <a:spcPts val="1200"/>
              </a:spcAft>
            </a:pPr>
            <a:r>
              <a:rPr sz="2200">
                <a:solidFill>
                  <a:srgbClr val="1F2937"/>
                </a:solidFill>
                <a:latin typeface="Calibri"/>
              </a:rPr>
              <a:t>▸  2-savol: suyaklarning spiralsimon sinishi qaysi mexanizmga xos? Javob: buralish — ikki qarama-qarshi aylanma kuch.</a:t>
            </a:r>
          </a:p>
          <a:p>
            <a:pPr>
              <a:spcAft>
                <a:spcPts val="1200"/>
              </a:spcAft>
            </a:pPr>
            <a:r>
              <a:rPr sz="2200">
                <a:solidFill>
                  <a:srgbClr val="1F2937"/>
                </a:solidFill>
                <a:latin typeface="Calibri"/>
              </a:rPr>
              <a:t>▸  3-savol: yirtma yaralar va tana qismlarining ajralishi qaysi mexanizmda uchraydi? Javob: cho‘zilishda.</a:t>
            </a:r>
          </a:p>
          <a:p>
            <a:pPr>
              <a:spcAft>
                <a:spcPts val="1200"/>
              </a:spcAft>
            </a:pPr>
            <a:r>
              <a:rPr sz="2200">
                <a:solidFill>
                  <a:srgbClr val="1F2937"/>
                </a:solidFill>
                <a:latin typeface="Calibri"/>
              </a:rPr>
              <a:t>▸  4-savol: kuchli chayqalish qaysi bolalar sindromi asosida yotadi? Javob: silkinish sindromi (Shaken baby syndrome).</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35, 35-36, 36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Shilinmalar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Faqat epidermis zararlansa — yuzaki, so‘rg‘ichsimon qavatga o‘tsa — chuqur; chiziqsimoni — timalma.</a:t>
            </a:r>
          </a:p>
          <a:p>
            <a:pPr>
              <a:spcAft>
                <a:spcPts val="800"/>
              </a:spcAft>
            </a:pPr>
            <a:r>
              <a:rPr sz="1800">
                <a:solidFill>
                  <a:srgbClr val="1F2937"/>
                </a:solidFill>
                <a:latin typeface="Calibri"/>
              </a:rPr>
              <a:t>▸  Shilinma mexanik ta’sirni tasdiqlaydi, mexanizm va muddatni, ba’zan hodisa tafsilotini aniqlashga yordam beradi.</a:t>
            </a:r>
          </a:p>
          <a:p>
            <a:pPr>
              <a:spcAft>
                <a:spcPts val="800"/>
              </a:spcAft>
            </a:pPr>
            <a:r>
              <a:rPr sz="1800">
                <a:solidFill>
                  <a:srgbClr val="1F2937"/>
                </a:solidFill>
                <a:latin typeface="Calibri"/>
              </a:rPr>
              <a:t>▸  Diqqat: pergament dog‘i ≠ shilinma — sariq-jigarrang, qoplamasiz, hayotiy o‘zgarishlarsiz.</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Yangi shilinma: 12 soatgacha</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Qoplama: 2-3 sutkagacha</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Epitelizatsiya: 7-9 sutka</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Iz: 10-15 sutkada yo‘qoladi</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Shilinma bosqichlari (shartli)</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36, 37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Qontalashlar va gematoma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Qon tomir yorilib to‘qimaga qon quyilishi — qontalash; bo‘shliqda qon to‘planishi — gematoma.</a:t>
            </a:r>
          </a:p>
          <a:p>
            <a:pPr>
              <a:spcAft>
                <a:spcPts val="800"/>
              </a:spcAft>
            </a:pPr>
            <a:r>
              <a:rPr sz="1800">
                <a:solidFill>
                  <a:srgbClr val="1F2937"/>
                </a:solidFill>
                <a:latin typeface="Calibri"/>
              </a:rPr>
              <a:t>▸  Cheklanmagan yuza — dumaloq, oval qontalash; cheklangan yuza — jism shakliga o‘xshash.</a:t>
            </a:r>
          </a:p>
          <a:p>
            <a:pPr>
              <a:spcAft>
                <a:spcPts val="800"/>
              </a:spcAft>
            </a:pPr>
            <a:r>
              <a:rPr sz="1800">
                <a:solidFill>
                  <a:srgbClr val="1F2937"/>
                </a:solidFill>
                <a:latin typeface="Calibri"/>
              </a:rPr>
              <a:t>▸  Diqqat: qontalash ≠ murda dog‘i; murda dog‘i joylashadigan sohada farqlash qiyinroq.</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342977"/>
                <a:gridCol w="1510850"/>
                <a:gridCol w="2434147"/>
              </a:tblGrid>
              <a:tr h="411480">
                <a:tc>
                  <a:txBody>
                    <a:bodyPr/>
                    <a:lstStyle/>
                    <a:p>
                      <a:r>
                        <a:rPr sz="1300" b="1">
                          <a:solidFill>
                            <a:srgbClr val="FFFFFF"/>
                          </a:solidFill>
                        </a:rPr>
                        <a:t>Muddat</a:t>
                      </a:r>
                    </a:p>
                  </a:txBody>
                  <a:tcPr marL="73152" marR="73152" marT="36576" marB="36576">
                    <a:solidFill>
                      <a:srgbClr val="0B1F3A"/>
                    </a:solidFill>
                  </a:tcPr>
                </a:tc>
                <a:tc>
                  <a:txBody>
                    <a:bodyPr/>
                    <a:lstStyle/>
                    <a:p>
                      <a:r>
                        <a:rPr sz="1300" b="1">
                          <a:solidFill>
                            <a:srgbClr val="FFFFFF"/>
                          </a:solidFill>
                        </a:rPr>
                        <a:t>Rang</a:t>
                      </a:r>
                    </a:p>
                  </a:txBody>
                  <a:tcPr marL="73152" marR="73152" marT="36576" marB="36576">
                    <a:solidFill>
                      <a:srgbClr val="0B1F3A"/>
                    </a:solidFill>
                  </a:tcPr>
                </a:tc>
                <a:tc>
                  <a:txBody>
                    <a:bodyPr/>
                    <a:lstStyle/>
                    <a:p>
                      <a:r>
                        <a:rPr sz="1300" b="1">
                          <a:solidFill>
                            <a:srgbClr val="FFFFFF"/>
                          </a:solidFill>
                        </a:rPr>
                        <a:t>Sababi</a:t>
                      </a:r>
                    </a:p>
                  </a:txBody>
                  <a:tcPr marL="73152" marR="73152" marT="36576" marB="36576">
                    <a:solidFill>
                      <a:srgbClr val="0B1F3A"/>
                    </a:solidFill>
                  </a:tcPr>
                </a:tc>
              </a:tr>
              <a:tr h="411480">
                <a:tc>
                  <a:txBody>
                    <a:bodyPr/>
                    <a:lstStyle/>
                    <a:p>
                      <a:r>
                        <a:rPr sz="1200" b="0">
                          <a:solidFill>
                            <a:srgbClr val="1F2937"/>
                          </a:solidFill>
                        </a:rPr>
                        <a:t>Dastlabki kunlar</a:t>
                      </a:r>
                    </a:p>
                  </a:txBody>
                  <a:tcPr marL="73152" marR="73152" marT="36576" marB="36576">
                    <a:solidFill>
                      <a:srgbClr val="E8EEF6"/>
                    </a:solidFill>
                  </a:tcPr>
                </a:tc>
                <a:tc>
                  <a:txBody>
                    <a:bodyPr/>
                    <a:lstStyle/>
                    <a:p>
                      <a:r>
                        <a:rPr sz="1200" b="0">
                          <a:solidFill>
                            <a:srgbClr val="1F2937"/>
                          </a:solidFill>
                        </a:rPr>
                        <a:t>Qizg‘ish-ko‘kimtir</a:t>
                      </a:r>
                    </a:p>
                  </a:txBody>
                  <a:tcPr marL="73152" marR="73152" marT="36576" marB="36576">
                    <a:solidFill>
                      <a:srgbClr val="E8EEF6"/>
                    </a:solidFill>
                  </a:tcPr>
                </a:tc>
                <a:tc>
                  <a:txBody>
                    <a:bodyPr/>
                    <a:lstStyle/>
                    <a:p>
                      <a:r>
                        <a:rPr sz="1200" b="0">
                          <a:solidFill>
                            <a:srgbClr val="1F2937"/>
                          </a:solidFill>
                        </a:rPr>
                        <a:t>Oksigemoglobin qaytarilishi</a:t>
                      </a:r>
                    </a:p>
                  </a:txBody>
                  <a:tcPr marL="73152" marR="73152" marT="36576" marB="36576">
                    <a:solidFill>
                      <a:srgbClr val="E8EEF6"/>
                    </a:solidFill>
                  </a:tcPr>
                </a:tc>
              </a:tr>
              <a:tr h="411480">
                <a:tc>
                  <a:txBody>
                    <a:bodyPr/>
                    <a:lstStyle/>
                    <a:p>
                      <a:r>
                        <a:rPr sz="1200" b="0">
                          <a:solidFill>
                            <a:srgbClr val="1F2937"/>
                          </a:solidFill>
                        </a:rPr>
                        <a:t>3-4 sutka</a:t>
                      </a:r>
                    </a:p>
                  </a:txBody>
                  <a:tcPr marL="73152" marR="73152" marT="36576" marB="36576">
                    <a:solidFill>
                      <a:srgbClr val="FFFFFF"/>
                    </a:solidFill>
                  </a:tcPr>
                </a:tc>
                <a:tc>
                  <a:txBody>
                    <a:bodyPr/>
                    <a:lstStyle/>
                    <a:p>
                      <a:r>
                        <a:rPr sz="1200" b="0">
                          <a:solidFill>
                            <a:srgbClr val="1F2937"/>
                          </a:solidFill>
                        </a:rPr>
                        <a:t>Yashil</a:t>
                      </a:r>
                    </a:p>
                  </a:txBody>
                  <a:tcPr marL="73152" marR="73152" marT="36576" marB="36576">
                    <a:solidFill>
                      <a:srgbClr val="FFFFFF"/>
                    </a:solidFill>
                  </a:tcPr>
                </a:tc>
                <a:tc>
                  <a:txBody>
                    <a:bodyPr/>
                    <a:lstStyle/>
                    <a:p>
                      <a:r>
                        <a:rPr sz="1200" b="0">
                          <a:solidFill>
                            <a:srgbClr val="1F2937"/>
                          </a:solidFill>
                        </a:rPr>
                        <a:t>Verdogemoxromogen, biliverdin</a:t>
                      </a:r>
                    </a:p>
                  </a:txBody>
                  <a:tcPr marL="73152" marR="73152" marT="36576" marB="36576">
                    <a:solidFill>
                      <a:srgbClr val="FFFFFF"/>
                    </a:solidFill>
                  </a:tcPr>
                </a:tc>
              </a:tr>
              <a:tr h="411480">
                <a:tc>
                  <a:txBody>
                    <a:bodyPr/>
                    <a:lstStyle/>
                    <a:p>
                      <a:r>
                        <a:rPr sz="1200" b="0">
                          <a:solidFill>
                            <a:srgbClr val="1F2937"/>
                          </a:solidFill>
                        </a:rPr>
                        <a:t>6-8 sutka</a:t>
                      </a:r>
                    </a:p>
                  </a:txBody>
                  <a:tcPr marL="73152" marR="73152" marT="36576" marB="36576">
                    <a:solidFill>
                      <a:srgbClr val="E8EEF6"/>
                    </a:solidFill>
                  </a:tcPr>
                </a:tc>
                <a:tc>
                  <a:txBody>
                    <a:bodyPr/>
                    <a:lstStyle/>
                    <a:p>
                      <a:r>
                        <a:rPr sz="1200" b="0">
                          <a:solidFill>
                            <a:srgbClr val="1F2937"/>
                          </a:solidFill>
                        </a:rPr>
                        <a:t>Sariq</a:t>
                      </a:r>
                    </a:p>
                  </a:txBody>
                  <a:tcPr marL="73152" marR="73152" marT="36576" marB="36576">
                    <a:solidFill>
                      <a:srgbClr val="E8EEF6"/>
                    </a:solidFill>
                  </a:tcPr>
                </a:tc>
                <a:tc>
                  <a:txBody>
                    <a:bodyPr/>
                    <a:lstStyle/>
                    <a:p>
                      <a:r>
                        <a:rPr sz="1200" b="0">
                          <a:solidFill>
                            <a:srgbClr val="1F2937"/>
                          </a:solidFill>
                        </a:rPr>
                        <a:t>Bilirubin, gemosiderin</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Qontalash rangi dinamikasi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37, 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O‘tmas jismdan yaralar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Chetlari notekis, shilingan; uchlari odatda o‘tmas; devorlar orasida to‘qima ko‘prikchalari bo‘ladi.</a:t>
            </a:r>
          </a:p>
          <a:p>
            <a:pPr>
              <a:spcAft>
                <a:spcPts val="800"/>
              </a:spcAft>
            </a:pPr>
            <a:r>
              <a:rPr sz="1800">
                <a:solidFill>
                  <a:srgbClr val="1F2937"/>
                </a:solidFill>
                <a:latin typeface="Calibri"/>
              </a:rPr>
              <a:t>▸  Tashqi qon ketish kuchsiz; davolanmasa ikkilamchi tortilish bilan bitib, qo‘pol chandiq qoladi.</a:t>
            </a:r>
          </a:p>
          <a:p>
            <a:pPr>
              <a:spcAft>
                <a:spcPts val="800"/>
              </a:spcAft>
            </a:pPr>
            <a:r>
              <a:rPr sz="1800">
                <a:solidFill>
                  <a:srgbClr val="1F2937"/>
                </a:solidFill>
                <a:latin typeface="Calibri"/>
              </a:rPr>
              <a:t>▸  Yorilish ≠ yara: u bilvosita, uchlari o‘tkir, chetlari tekis, shilinishsiz, tubi yassi.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566807"/>
                <a:gridCol w="3721167"/>
              </a:tblGrid>
              <a:tr h="411480">
                <a:tc>
                  <a:txBody>
                    <a:bodyPr/>
                    <a:lstStyle/>
                    <a:p>
                      <a:r>
                        <a:rPr sz="1400" b="1">
                          <a:solidFill>
                            <a:srgbClr val="FFFFFF"/>
                          </a:solidFill>
                        </a:rPr>
                        <a:t>Yara turi</a:t>
                      </a:r>
                    </a:p>
                  </a:txBody>
                  <a:tcPr marL="73152" marR="73152" marT="36576" marB="36576">
                    <a:solidFill>
                      <a:srgbClr val="0B1F3A"/>
                    </a:solidFill>
                  </a:tcPr>
                </a:tc>
                <a:tc>
                  <a:txBody>
                    <a:bodyPr/>
                    <a:lstStyle/>
                    <a:p>
                      <a:r>
                        <a:rPr sz="1400" b="1">
                          <a:solidFill>
                            <a:srgbClr val="FFFFFF"/>
                          </a:solidFill>
                        </a:rPr>
                        <a:t>Mexanizm</a:t>
                      </a:r>
                    </a:p>
                  </a:txBody>
                  <a:tcPr marL="73152" marR="73152" marT="36576" marB="36576">
                    <a:solidFill>
                      <a:srgbClr val="0B1F3A"/>
                    </a:solidFill>
                  </a:tcPr>
                </a:tc>
              </a:tr>
              <a:tr h="411480">
                <a:tc>
                  <a:txBody>
                    <a:bodyPr/>
                    <a:lstStyle/>
                    <a:p>
                      <a:r>
                        <a:rPr sz="1300" b="0">
                          <a:solidFill>
                            <a:srgbClr val="1F2937"/>
                          </a:solidFill>
                        </a:rPr>
                        <a:t>Lat yara</a:t>
                      </a:r>
                    </a:p>
                  </a:txBody>
                  <a:tcPr marL="73152" marR="73152" marT="36576" marB="36576">
                    <a:solidFill>
                      <a:srgbClr val="E8EEF6"/>
                    </a:solidFill>
                  </a:tcPr>
                </a:tc>
                <a:tc>
                  <a:txBody>
                    <a:bodyPr/>
                    <a:lstStyle/>
                    <a:p>
                      <a:r>
                        <a:rPr sz="1300" b="0">
                          <a:solidFill>
                            <a:srgbClr val="1F2937"/>
                          </a:solidFill>
                        </a:rPr>
                        <a:t>Zarb va siqilish</a:t>
                      </a:r>
                    </a:p>
                  </a:txBody>
                  <a:tcPr marL="73152" marR="73152" marT="36576" marB="36576">
                    <a:solidFill>
                      <a:srgbClr val="E8EEF6"/>
                    </a:solidFill>
                  </a:tcPr>
                </a:tc>
              </a:tr>
              <a:tr h="411480">
                <a:tc>
                  <a:txBody>
                    <a:bodyPr/>
                    <a:lstStyle/>
                    <a:p>
                      <a:r>
                        <a:rPr sz="1300" b="0">
                          <a:solidFill>
                            <a:srgbClr val="1F2937"/>
                          </a:solidFill>
                        </a:rPr>
                        <a:t>Majaqlangan yara</a:t>
                      </a:r>
                    </a:p>
                  </a:txBody>
                  <a:tcPr marL="73152" marR="73152" marT="36576" marB="36576">
                    <a:solidFill>
                      <a:srgbClr val="FFFFFF"/>
                    </a:solidFill>
                  </a:tcPr>
                </a:tc>
                <a:tc>
                  <a:txBody>
                    <a:bodyPr/>
                    <a:lstStyle/>
                    <a:p>
                      <a:r>
                        <a:rPr sz="1300" b="0">
                          <a:solidFill>
                            <a:srgbClr val="1F2937"/>
                          </a:solidFill>
                        </a:rPr>
                        <a:t>Kuchli zarb va siqilish</a:t>
                      </a:r>
                    </a:p>
                  </a:txBody>
                  <a:tcPr marL="73152" marR="73152" marT="36576" marB="36576">
                    <a:solidFill>
                      <a:srgbClr val="FFFFFF"/>
                    </a:solidFill>
                  </a:tcPr>
                </a:tc>
              </a:tr>
              <a:tr h="411480">
                <a:tc>
                  <a:txBody>
                    <a:bodyPr/>
                    <a:lstStyle/>
                    <a:p>
                      <a:r>
                        <a:rPr sz="1300" b="0">
                          <a:solidFill>
                            <a:srgbClr val="1F2937"/>
                          </a:solidFill>
                        </a:rPr>
                        <a:t>Yirtma yara</a:t>
                      </a:r>
                    </a:p>
                  </a:txBody>
                  <a:tcPr marL="73152" marR="73152" marT="36576" marB="36576">
                    <a:solidFill>
                      <a:srgbClr val="E8EEF6"/>
                    </a:solidFill>
                  </a:tcPr>
                </a:tc>
                <a:tc>
                  <a:txBody>
                    <a:bodyPr/>
                    <a:lstStyle/>
                    <a:p>
                      <a:r>
                        <a:rPr sz="1300" b="0">
                          <a:solidFill>
                            <a:srgbClr val="1F2937"/>
                          </a:solidFill>
                        </a:rPr>
                        <a:t>Zarb va cho‘zilish</a:t>
                      </a:r>
                    </a:p>
                  </a:txBody>
                  <a:tcPr marL="73152" marR="73152" marT="36576" marB="36576">
                    <a:solidFill>
                      <a:srgbClr val="E8EEF6"/>
                    </a:solidFill>
                  </a:tcPr>
                </a:tc>
              </a:tr>
              <a:tr h="411480">
                <a:tc>
                  <a:txBody>
                    <a:bodyPr/>
                    <a:lstStyle/>
                    <a:p>
                      <a:r>
                        <a:rPr sz="1300" b="0">
                          <a:solidFill>
                            <a:srgbClr val="1F2937"/>
                          </a:solidFill>
                        </a:rPr>
                        <a:t>Laxtaksimon yara</a:t>
                      </a:r>
                    </a:p>
                  </a:txBody>
                  <a:tcPr marL="73152" marR="73152" marT="36576" marB="36576">
                    <a:solidFill>
                      <a:srgbClr val="FFFFFF"/>
                    </a:solidFill>
                  </a:tcPr>
                </a:tc>
                <a:tc>
                  <a:txBody>
                    <a:bodyPr/>
                    <a:lstStyle/>
                    <a:p>
                      <a:r>
                        <a:rPr sz="1300" b="0">
                          <a:solidFill>
                            <a:srgbClr val="1F2937"/>
                          </a:solidFill>
                        </a:rPr>
                        <a:t>O‘tkir burchak ostida zarb, cho‘zilish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Yara turi va mexanizmi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39, 40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Yara shakli va jism yuzasi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Cheklanmagan yassi yuza shoxsimon, zigzagsimon, yulduzsimon, chetlari shilingan va majaqlangan yaralar hosil qiladi.</a:t>
            </a:r>
          </a:p>
          <a:p>
            <a:pPr>
              <a:spcAft>
                <a:spcPts val="1200"/>
              </a:spcAft>
            </a:pPr>
            <a:r>
              <a:rPr sz="2200">
                <a:solidFill>
                  <a:srgbClr val="1F2937"/>
                </a:solidFill>
                <a:latin typeface="Calibri"/>
              </a:rPr>
              <a:t>▸  Cheklangan yassi yuza tikka tushsa, ko‘p nurli yulduzsimon yara chiqadi. Burchak ostida yara yuzaning o‘tkir burchagiga o‘xshaydi.</a:t>
            </a:r>
          </a:p>
          <a:p>
            <a:pPr>
              <a:spcAft>
                <a:spcPts val="1200"/>
              </a:spcAft>
            </a:pPr>
            <a:r>
              <a:rPr sz="2200">
                <a:solidFill>
                  <a:srgbClr val="1F2937"/>
                </a:solidFill>
                <a:latin typeface="Calibri"/>
              </a:rPr>
              <a:t>▸  Sferik jism nurlari teng, markazi majaqlangan yulduzsimon yara qoldiradi. Silindr yuzali jism yoriqsimon yoki chiziqsimon yara qoldiradi.</a:t>
            </a:r>
          </a:p>
          <a:p>
            <a:pPr>
              <a:spcAft>
                <a:spcPts val="1200"/>
              </a:spcAft>
            </a:pPr>
            <a:r>
              <a:rPr sz="2200">
                <a:solidFill>
                  <a:srgbClr val="1F2937"/>
                </a:solidFill>
                <a:latin typeface="Calibri"/>
              </a:rPr>
              <a:t>▸  Ikki chekkali qirrali jism chopma yaraga o‘xshash yara qoldiradi, ko‘p chekkalisi yulduzsimon yara qoldiradi. Tishlama yara tish kesimiga mos.</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39, 39-40, 40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Suyaklarning sinishi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Ta’sirda suyak shakli o‘zgaradi. Muvaqqat deformatsiyada ta’sir tugagach shakl tiklanadi, doimiy deformatsiyada suyak sinadi.</a:t>
            </a:r>
          </a:p>
          <a:p>
            <a:pPr>
              <a:spcAft>
                <a:spcPts val="1200"/>
              </a:spcAft>
            </a:pPr>
            <a:r>
              <a:rPr sz="2200">
                <a:solidFill>
                  <a:srgbClr val="1F2937"/>
                </a:solidFill>
                <a:latin typeface="Calibri"/>
              </a:rPr>
              <a:t>▸  To‘liq sinishda ikki va undan ortiq darajada harakat beruvchi yangi ikki yuza hosil bo‘ladi. Noto‘liq sinishda harakat faqat bir yo‘nalishda, ya’ni darz yoki chala sinish.</a:t>
            </a:r>
          </a:p>
          <a:p>
            <a:pPr>
              <a:spcAft>
                <a:spcPts val="1200"/>
              </a:spcAft>
            </a:pPr>
            <a:r>
              <a:rPr sz="2200">
                <a:solidFill>
                  <a:srgbClr val="1F2937"/>
                </a:solidFill>
                <a:latin typeface="Calibri"/>
              </a:rPr>
              <a:t>▸  Teri va yumshoq to‘qima shikastiga ko‘ra ochiq va yopiq sinish farqlanadi. Ochiq sinishda suyak tashqi muhit bilan bevosita bog‘langan.</a:t>
            </a:r>
          </a:p>
          <a:p>
            <a:pPr>
              <a:spcAft>
                <a:spcPts val="1200"/>
              </a:spcAft>
            </a:pPr>
            <a:r>
              <a:rPr sz="2200">
                <a:solidFill>
                  <a:srgbClr val="1F2937"/>
                </a:solidFill>
                <a:latin typeface="Calibri"/>
              </a:rPr>
              <a:t>▸  Sinish turlari: chiziqli, siniqli, teshiksimon, ayvonsimon, botiq. Chiziq yo‘nalishi: ko‘ndalang, bo‘ylama, diagonal, halqasimon, spiralsimon.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41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Suyak deformatsiyasi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Egilishda siqilish ta’sir tomonida, cho‘zilish qarama-qarshi tomonda bo‘ladi. Sinish avval cho‘zilish tomonida boshlanadi.</a:t>
            </a:r>
          </a:p>
          <a:p>
            <a:pPr>
              <a:spcAft>
                <a:spcPts val="800"/>
              </a:spcAft>
            </a:pPr>
            <a:r>
              <a:rPr sz="1800">
                <a:solidFill>
                  <a:srgbClr val="1F2937"/>
                </a:solidFill>
                <a:latin typeface="Calibri"/>
              </a:rPr>
              <a:t>▸  Siqilishda majaqlangan va kompression sinish, buralishda bilvosita spiralsimon sinish uchraydi. Cho‘zilish juda kam.</a:t>
            </a:r>
          </a:p>
          <a:p>
            <a:pPr>
              <a:spcAft>
                <a:spcPts val="800"/>
              </a:spcAft>
            </a:pPr>
            <a:r>
              <a:rPr sz="1800">
                <a:solidFill>
                  <a:srgbClr val="1F2937"/>
                </a:solidFill>
                <a:latin typeface="Calibri"/>
              </a:rPr>
              <a:t>▸  Qobirg‘ada bevosita sinishda tashqi plastinka siqiladi, ichki cho‘ziladi. Bilvosita sinishda teskarisi.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919647"/>
                <a:gridCol w="2126685"/>
                <a:gridCol w="2241641"/>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Cho‘zilish</a:t>
                      </a:r>
                    </a:p>
                  </a:txBody>
                  <a:tcPr marL="73152" marR="73152" marT="36576" marB="36576">
                    <a:solidFill>
                      <a:srgbClr val="0B1F3A"/>
                    </a:solidFill>
                  </a:tcPr>
                </a:tc>
                <a:tc>
                  <a:txBody>
                    <a:bodyPr/>
                    <a:lstStyle/>
                    <a:p>
                      <a:r>
                        <a:rPr sz="1300" b="1">
                          <a:solidFill>
                            <a:srgbClr val="FFFFFF"/>
                          </a:solidFill>
                        </a:rPr>
                        <a:t>Siqilish</a:t>
                      </a:r>
                    </a:p>
                  </a:txBody>
                  <a:tcPr marL="73152" marR="73152" marT="36576" marB="36576">
                    <a:solidFill>
                      <a:srgbClr val="0B1F3A"/>
                    </a:solidFill>
                  </a:tcPr>
                </a:tc>
              </a:tr>
              <a:tr h="411480">
                <a:tc>
                  <a:txBody>
                    <a:bodyPr/>
                    <a:lstStyle/>
                    <a:p>
                      <a:r>
                        <a:rPr sz="1200" b="0">
                          <a:solidFill>
                            <a:srgbClr val="1F2937"/>
                          </a:solidFill>
                        </a:rPr>
                        <a:t>Sinish chizig‘i</a:t>
                      </a:r>
                    </a:p>
                  </a:txBody>
                  <a:tcPr marL="73152" marR="73152" marT="36576" marB="36576">
                    <a:solidFill>
                      <a:srgbClr val="E8EEF6"/>
                    </a:solidFill>
                  </a:tcPr>
                </a:tc>
                <a:tc>
                  <a:txBody>
                    <a:bodyPr/>
                    <a:lstStyle/>
                    <a:p>
                      <a:r>
                        <a:rPr sz="1200" b="0">
                          <a:solidFill>
                            <a:srgbClr val="1F2937"/>
                          </a:solidFill>
                        </a:rPr>
                        <a:t>Bir to‘g‘ri chiziq, asosan ko‘ndalang</a:t>
                      </a:r>
                    </a:p>
                  </a:txBody>
                  <a:tcPr marL="73152" marR="73152" marT="36576" marB="36576">
                    <a:solidFill>
                      <a:srgbClr val="E8EEF6"/>
                    </a:solidFill>
                  </a:tcPr>
                </a:tc>
                <a:tc>
                  <a:txBody>
                    <a:bodyPr/>
                    <a:lstStyle/>
                    <a:p>
                      <a:r>
                        <a:rPr sz="1200" b="0">
                          <a:solidFill>
                            <a:srgbClr val="1F2937"/>
                          </a:solidFill>
                        </a:rPr>
                        <a:t>Bitta yoki ikkita, zigzagsimon, qiyshiq</a:t>
                      </a:r>
                    </a:p>
                  </a:txBody>
                  <a:tcPr marL="73152" marR="73152" marT="36576" marB="36576">
                    <a:solidFill>
                      <a:srgbClr val="E8EEF6"/>
                    </a:solidFill>
                  </a:tcPr>
                </a:tc>
              </a:tr>
              <a:tr h="411480">
                <a:tc>
                  <a:txBody>
                    <a:bodyPr/>
                    <a:lstStyle/>
                    <a:p>
                      <a:r>
                        <a:rPr sz="1200" b="0">
                          <a:solidFill>
                            <a:srgbClr val="1F2937"/>
                          </a:solidFill>
                        </a:rPr>
                        <a:t>Sinish yuzasi</a:t>
                      </a:r>
                    </a:p>
                  </a:txBody>
                  <a:tcPr marL="73152" marR="73152" marT="36576" marB="36576">
                    <a:solidFill>
                      <a:srgbClr val="FFFFFF"/>
                    </a:solidFill>
                  </a:tcPr>
                </a:tc>
                <a:tc>
                  <a:txBody>
                    <a:bodyPr/>
                    <a:lstStyle/>
                    <a:p>
                      <a:r>
                        <a:rPr sz="1200" b="0">
                          <a:solidFill>
                            <a:srgbClr val="1F2937"/>
                          </a:solidFill>
                        </a:rPr>
                        <a:t>Suyakka perpendikulyar</a:t>
                      </a:r>
                    </a:p>
                  </a:txBody>
                  <a:tcPr marL="73152" marR="73152" marT="36576" marB="36576">
                    <a:solidFill>
                      <a:srgbClr val="FFFFFF"/>
                    </a:solidFill>
                  </a:tcPr>
                </a:tc>
                <a:tc>
                  <a:txBody>
                    <a:bodyPr/>
                    <a:lstStyle/>
                    <a:p>
                      <a:r>
                        <a:rPr sz="1200" b="0">
                          <a:solidFill>
                            <a:srgbClr val="1F2937"/>
                          </a:solidFill>
                        </a:rPr>
                        <a:t>Suyakka burchak ostida</a:t>
                      </a:r>
                    </a:p>
                  </a:txBody>
                  <a:tcPr marL="73152" marR="73152" marT="36576" marB="36576">
                    <a:solidFill>
                      <a:srgbClr val="FFFFFF"/>
                    </a:solidFill>
                  </a:tcPr>
                </a:tc>
              </a:tr>
              <a:tr h="411480">
                <a:tc>
                  <a:txBody>
                    <a:bodyPr/>
                    <a:lstStyle/>
                    <a:p>
                      <a:r>
                        <a:rPr sz="1200" b="0">
                          <a:solidFill>
                            <a:srgbClr val="1F2937"/>
                          </a:solidFill>
                        </a:rPr>
                        <a:t>Chetlari</a:t>
                      </a:r>
                    </a:p>
                  </a:txBody>
                  <a:tcPr marL="73152" marR="73152" marT="36576" marB="36576">
                    <a:solidFill>
                      <a:srgbClr val="E8EEF6"/>
                    </a:solidFill>
                  </a:tcPr>
                </a:tc>
                <a:tc>
                  <a:txBody>
                    <a:bodyPr/>
                    <a:lstStyle/>
                    <a:p>
                      <a:r>
                        <a:rPr sz="1200" b="0">
                          <a:solidFill>
                            <a:srgbClr val="1F2937"/>
                          </a:solidFill>
                        </a:rPr>
                        <a:t>Tekis yoki mayda tishli, edirilishsiz</a:t>
                      </a:r>
                    </a:p>
                  </a:txBody>
                  <a:tcPr marL="73152" marR="73152" marT="36576" marB="36576">
                    <a:solidFill>
                      <a:srgbClr val="E8EEF6"/>
                    </a:solidFill>
                  </a:tcPr>
                </a:tc>
                <a:tc>
                  <a:txBody>
                    <a:bodyPr/>
                    <a:lstStyle/>
                    <a:p>
                      <a:r>
                        <a:rPr sz="1200" b="0">
                          <a:solidFill>
                            <a:srgbClr val="1F2937"/>
                          </a:solidFill>
                        </a:rPr>
                        <a:t>Notekis, yirik tishli, edirilish bilan</a:t>
                      </a:r>
                    </a:p>
                  </a:txBody>
                  <a:tcPr marL="73152" marR="73152" marT="36576" marB="36576">
                    <a:solidFill>
                      <a:srgbClr val="E8EEF6"/>
                    </a:solidFill>
                  </a:tcPr>
                </a:tc>
              </a:tr>
              <a:tr h="411480">
                <a:tc>
                  <a:txBody>
                    <a:bodyPr/>
                    <a:lstStyle/>
                    <a:p>
                      <a:r>
                        <a:rPr sz="1200" b="0">
                          <a:solidFill>
                            <a:srgbClr val="1F2937"/>
                          </a:solidFill>
                        </a:rPr>
                        <a:t>Yaqinlashtirilsa</a:t>
                      </a:r>
                    </a:p>
                  </a:txBody>
                  <a:tcPr marL="73152" marR="73152" marT="36576" marB="36576">
                    <a:solidFill>
                      <a:srgbClr val="FFFFFF"/>
                    </a:solidFill>
                  </a:tcPr>
                </a:tc>
                <a:tc>
                  <a:txBody>
                    <a:bodyPr/>
                    <a:lstStyle/>
                    <a:p>
                      <a:r>
                        <a:rPr sz="1200" b="0">
                          <a:solidFill>
                            <a:srgbClr val="1F2937"/>
                          </a:solidFill>
                        </a:rPr>
                        <a:t>Zich mos keladi</a:t>
                      </a:r>
                    </a:p>
                  </a:txBody>
                  <a:tcPr marL="73152" marR="73152" marT="36576" marB="36576">
                    <a:solidFill>
                      <a:srgbClr val="FFFFFF"/>
                    </a:solidFill>
                  </a:tcPr>
                </a:tc>
                <a:tc>
                  <a:txBody>
                    <a:bodyPr/>
                    <a:lstStyle/>
                    <a:p>
                      <a:r>
                        <a:rPr sz="1200" b="0">
                          <a:solidFill>
                            <a:srgbClr val="1F2937"/>
                          </a:solidFill>
                        </a:rPr>
                        <a:t>Sinish yuzalari mos tushmaydi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Egilishda sinish tomonlari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42, 42-43, 43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Yiqilish natijasidagi jarohatlar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Mexanik o‘limlarda yiqilish transport travmasidan keyin ikkinchi o‘rinda turadi.</a:t>
            </a:r>
          </a:p>
          <a:p>
            <a:pPr>
              <a:spcAft>
                <a:spcPts val="800"/>
              </a:spcAft>
            </a:pPr>
            <a:r>
              <a:rPr sz="1800">
                <a:solidFill>
                  <a:srgbClr val="1F2937"/>
                </a:solidFill>
                <a:latin typeface="Calibri"/>
              </a:rPr>
              <a:t>▸  Balandlikdan yiqilishda tashqi jarohat bir tomonda, ichki shikast esa tashqisidan jiddiyroq bo‘ladi.</a:t>
            </a:r>
          </a:p>
          <a:p>
            <a:pPr>
              <a:spcAft>
                <a:spcPts val="800"/>
              </a:spcAft>
            </a:pPr>
            <a:r>
              <a:rPr sz="1800">
                <a:solidFill>
                  <a:srgbClr val="1F2937"/>
                </a:solidFill>
                <a:latin typeface="Calibri"/>
              </a:rPr>
              <a:t>▸  Orqaga yiqilganda akszarb jarohat kuchli; yuz bilan yiqilganda akszarb jarohat bo‘lmaydi.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321993"/>
                <a:gridCol w="2266275"/>
                <a:gridCol w="1699706"/>
              </a:tblGrid>
              <a:tr h="411480">
                <a:tc>
                  <a:txBody>
                    <a:bodyPr/>
                    <a:lstStyle/>
                    <a:p>
                      <a:r>
                        <a:rPr sz="1300" b="1">
                          <a:solidFill>
                            <a:srgbClr val="FFFFFF"/>
                          </a:solidFill>
                        </a:rPr>
                        <a:t>Turi</a:t>
                      </a:r>
                    </a:p>
                  </a:txBody>
                  <a:tcPr marL="73152" marR="73152" marT="36576" marB="36576">
                    <a:solidFill>
                      <a:srgbClr val="0B1F3A"/>
                    </a:solidFill>
                  </a:tcPr>
                </a:tc>
                <a:tc>
                  <a:txBody>
                    <a:bodyPr/>
                    <a:lstStyle/>
                    <a:p>
                      <a:r>
                        <a:rPr sz="1300" b="1">
                          <a:solidFill>
                            <a:srgbClr val="FFFFFF"/>
                          </a:solidFill>
                        </a:rPr>
                        <a:t>Bosqich</a:t>
                      </a:r>
                    </a:p>
                  </a:txBody>
                  <a:tcPr marL="73152" marR="73152" marT="36576" marB="36576">
                    <a:solidFill>
                      <a:srgbClr val="0B1F3A"/>
                    </a:solidFill>
                  </a:tcPr>
                </a:tc>
                <a:tc>
                  <a:txBody>
                    <a:bodyPr/>
                    <a:lstStyle/>
                    <a:p>
                      <a:r>
                        <a:rPr sz="1300" b="1">
                          <a:solidFill>
                            <a:srgbClr val="FFFFFF"/>
                          </a:solidFill>
                        </a:rPr>
                        <a:t>Asosiy jarohat</a:t>
                      </a:r>
                    </a:p>
                  </a:txBody>
                  <a:tcPr marL="73152" marR="73152" marT="36576" marB="36576">
                    <a:solidFill>
                      <a:srgbClr val="0B1F3A"/>
                    </a:solidFill>
                  </a:tcPr>
                </a:tc>
              </a:tr>
              <a:tr h="411480">
                <a:tc>
                  <a:txBody>
                    <a:bodyPr/>
                    <a:lstStyle/>
                    <a:p>
                      <a:r>
                        <a:rPr sz="1200" b="0">
                          <a:solidFill>
                            <a:srgbClr val="1F2937"/>
                          </a:solidFill>
                        </a:rPr>
                        <a:t>Balandlikdan</a:t>
                      </a:r>
                    </a:p>
                  </a:txBody>
                  <a:tcPr marL="73152" marR="73152" marT="36576" marB="36576">
                    <a:solidFill>
                      <a:srgbClr val="E8EEF6"/>
                    </a:solidFill>
                  </a:tcPr>
                </a:tc>
                <a:tc>
                  <a:txBody>
                    <a:bodyPr/>
                    <a:lstStyle/>
                    <a:p>
                      <a:r>
                        <a:rPr sz="1200" b="0">
                          <a:solidFill>
                            <a:srgbClr val="1F2937"/>
                          </a:solidFill>
                        </a:rPr>
                        <a:t>6 bosqich</a:t>
                      </a:r>
                    </a:p>
                  </a:txBody>
                  <a:tcPr marL="73152" marR="73152" marT="36576" marB="36576">
                    <a:solidFill>
                      <a:srgbClr val="E8EEF6"/>
                    </a:solidFill>
                  </a:tcPr>
                </a:tc>
                <a:tc>
                  <a:txBody>
                    <a:bodyPr/>
                    <a:lstStyle/>
                    <a:p>
                      <a:r>
                        <a:rPr sz="1200" b="0">
                          <a:solidFill>
                            <a:srgbClr val="1F2937"/>
                          </a:solidFill>
                        </a:rPr>
                        <a:t>V bosqichda zarblanish</a:t>
                      </a:r>
                    </a:p>
                  </a:txBody>
                  <a:tcPr marL="73152" marR="73152" marT="36576" marB="36576">
                    <a:solidFill>
                      <a:srgbClr val="E8EEF6"/>
                    </a:solidFill>
                  </a:tcPr>
                </a:tc>
              </a:tr>
              <a:tr h="411480">
                <a:tc>
                  <a:txBody>
                    <a:bodyPr/>
                    <a:lstStyle/>
                    <a:p>
                      <a:r>
                        <a:rPr sz="1200" b="0">
                          <a:solidFill>
                            <a:srgbClr val="1F2937"/>
                          </a:solidFill>
                        </a:rPr>
                        <a:t>Yuzaga (o‘z bo‘yi)</a:t>
                      </a:r>
                    </a:p>
                  </a:txBody>
                  <a:tcPr marL="73152" marR="73152" marT="36576" marB="36576">
                    <a:solidFill>
                      <a:srgbClr val="FFFFFF"/>
                    </a:solidFill>
                  </a:tcPr>
                </a:tc>
                <a:tc>
                  <a:txBody>
                    <a:bodyPr/>
                    <a:lstStyle/>
                    <a:p>
                      <a:r>
                        <a:rPr sz="1200" b="0">
                          <a:solidFill>
                            <a:srgbClr val="1F2937"/>
                          </a:solidFill>
                        </a:rPr>
                        <a:t>3 bosqich</a:t>
                      </a:r>
                    </a:p>
                  </a:txBody>
                  <a:tcPr marL="73152" marR="73152" marT="36576" marB="36576">
                    <a:solidFill>
                      <a:srgbClr val="FFFFFF"/>
                    </a:solidFill>
                  </a:tcPr>
                </a:tc>
                <a:tc>
                  <a:txBody>
                    <a:bodyPr/>
                    <a:lstStyle/>
                    <a:p>
                      <a:r>
                        <a:rPr sz="1200" b="0">
                          <a:solidFill>
                            <a:srgbClr val="1F2937"/>
                          </a:solidFill>
                        </a:rPr>
                        <a:t>III bosqichda zarblanish</a:t>
                      </a:r>
                    </a:p>
                  </a:txBody>
                  <a:tcPr marL="73152" marR="73152" marT="36576" marB="36576">
                    <a:solidFill>
                      <a:srgbClr val="FFFFFF"/>
                    </a:solidFill>
                  </a:tcPr>
                </a:tc>
              </a:tr>
              <a:tr h="411480">
                <a:tc>
                  <a:txBody>
                    <a:bodyPr/>
                    <a:lstStyle/>
                    <a:p>
                      <a:r>
                        <a:rPr sz="1200" b="0">
                          <a:solidFill>
                            <a:srgbClr val="1F2937"/>
                          </a:solidFill>
                        </a:rPr>
                        <a:t>Balandlikdan: turlari</a:t>
                      </a:r>
                    </a:p>
                  </a:txBody>
                  <a:tcPr marL="73152" marR="73152" marT="36576" marB="36576">
                    <a:solidFill>
                      <a:srgbClr val="E8EEF6"/>
                    </a:solidFill>
                  </a:tcPr>
                </a:tc>
                <a:tc>
                  <a:txBody>
                    <a:bodyPr/>
                    <a:lstStyle/>
                    <a:p>
                      <a:r>
                        <a:rPr sz="1200" b="0">
                          <a:solidFill>
                            <a:srgbClr val="1F2937"/>
                          </a:solidFill>
                        </a:rPr>
                        <a:t>Bevosita, bosqichli, erkin bo‘lmagan</a:t>
                      </a:r>
                    </a:p>
                  </a:txBody>
                  <a:tcPr marL="73152" marR="73152" marT="36576" marB="36576">
                    <a:solidFill>
                      <a:srgbClr val="E8EEF6"/>
                    </a:solidFill>
                  </a:tcPr>
                </a:tc>
                <a:tc>
                  <a:txBody>
                    <a:bodyPr/>
                    <a:lstStyle/>
                    <a:p>
                      <a:r>
                        <a:rPr sz="1200" b="0">
                          <a:solidFill>
                            <a:srgbClr val="1F2937"/>
                          </a:solidFill>
                        </a:rPr>
                        <a:t>Passiv yoki aktiv yiqilish</a:t>
                      </a:r>
                    </a:p>
                  </a:txBody>
                  <a:tcPr marL="73152" marR="73152" marT="36576" marB="36576">
                    <a:solidFill>
                      <a:srgbClr val="E8EEF6"/>
                    </a:solidFill>
                  </a:tcPr>
                </a:tc>
              </a:tr>
              <a:tr h="411480">
                <a:tc>
                  <a:txBody>
                    <a:bodyPr/>
                    <a:lstStyle/>
                    <a:p>
                      <a:r>
                        <a:rPr sz="1200" b="0">
                          <a:solidFill>
                            <a:srgbClr val="1F2937"/>
                          </a:solidFill>
                        </a:rPr>
                        <a:t>Ikkilamchi jarohat</a:t>
                      </a:r>
                    </a:p>
                  </a:txBody>
                  <a:tcPr marL="73152" marR="73152" marT="36576" marB="36576">
                    <a:solidFill>
                      <a:srgbClr val="FFFFFF"/>
                    </a:solidFill>
                  </a:tcPr>
                </a:tc>
                <a:tc>
                  <a:txBody>
                    <a:bodyPr/>
                    <a:lstStyle/>
                    <a:p>
                      <a:r>
                        <a:rPr sz="1200" b="0">
                          <a:solidFill>
                            <a:srgbClr val="1F2937"/>
                          </a:solidFill>
                        </a:rPr>
                        <a:t>Balandlikda: VI bosqich</a:t>
                      </a:r>
                    </a:p>
                  </a:txBody>
                  <a:tcPr marL="73152" marR="73152" marT="36576" marB="36576">
                    <a:solidFill>
                      <a:srgbClr val="FFFFFF"/>
                    </a:solidFill>
                  </a:tcPr>
                </a:tc>
                <a:tc>
                  <a:txBody>
                    <a:bodyPr/>
                    <a:lstStyle/>
                    <a:p>
                      <a:r>
                        <a:rPr sz="1200" b="0">
                          <a:solidFill>
                            <a:srgbClr val="1F2937"/>
                          </a:solidFill>
                        </a:rPr>
                        <a:t>Yuzaga yiqilishda bo‘lmaydi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Yiqilish turlarini solishtirish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43, 46, 47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O‘tkir jismlardan shikastlanish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O‘tkir uch yoki dam yoy radiusi 0,1 mm va undan kichik bo‘lganda hisoblanadi; jarohat hamisha bevosita bo‘ladi.</a:t>
            </a:r>
          </a:p>
          <a:p>
            <a:pPr>
              <a:spcAft>
                <a:spcPts val="800"/>
              </a:spcAft>
            </a:pPr>
            <a:r>
              <a:rPr sz="1800">
                <a:solidFill>
                  <a:srgbClr val="1F2937"/>
                </a:solidFill>
                <a:latin typeface="Calibri"/>
              </a:rPr>
              <a:t>▸  Avval to‘qimalar ajraladi, ezilish ikkilamchi bo‘ladi; arralovchi jism jarohatlari kam, asosan baxtsiz hodisada.</a:t>
            </a:r>
          </a:p>
          <a:p>
            <a:pPr>
              <a:spcAft>
                <a:spcPts val="800"/>
              </a:spcAft>
            </a:pPr>
            <a:r>
              <a:rPr sz="1800">
                <a:solidFill>
                  <a:srgbClr val="1F2937"/>
                </a:solidFill>
                <a:latin typeface="Calibri"/>
              </a:rPr>
              <a:t>▸  Kiyimni avaylab yechib, xona haroratida quritib, qog‘ozga o‘rab tergovchiga topshiring.</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321993"/>
                <a:gridCol w="1182836"/>
                <a:gridCol w="2783144"/>
              </a:tblGrid>
              <a:tr h="411480">
                <a:tc>
                  <a:txBody>
                    <a:bodyPr/>
                    <a:lstStyle/>
                    <a:p>
                      <a:r>
                        <a:rPr sz="1300" b="1">
                          <a:solidFill>
                            <a:srgbClr val="FFFFFF"/>
                          </a:solidFill>
                        </a:rPr>
                        <a:t>Jism</a:t>
                      </a:r>
                    </a:p>
                  </a:txBody>
                  <a:tcPr marL="73152" marR="73152" marT="36576" marB="36576">
                    <a:solidFill>
                      <a:srgbClr val="0B1F3A"/>
                    </a:solidFill>
                  </a:tcPr>
                </a:tc>
                <a:tc>
                  <a:txBody>
                    <a:bodyPr/>
                    <a:lstStyle/>
                    <a:p>
                      <a:r>
                        <a:rPr sz="1300" b="1">
                          <a:solidFill>
                            <a:srgbClr val="FFFFFF"/>
                          </a:solidFill>
                        </a:rPr>
                        <a:t>Ta’sir</a:t>
                      </a:r>
                    </a:p>
                  </a:txBody>
                  <a:tcPr marL="73152" marR="73152" marT="36576" marB="36576">
                    <a:solidFill>
                      <a:srgbClr val="0B1F3A"/>
                    </a:solidFill>
                  </a:tcPr>
                </a:tc>
                <a:tc>
                  <a:txBody>
                    <a:bodyPr/>
                    <a:lstStyle/>
                    <a:p>
                      <a:r>
                        <a:rPr sz="1300" b="1">
                          <a:solidFill>
                            <a:srgbClr val="FFFFFF"/>
                          </a:solidFill>
                        </a:rPr>
                        <a:t>Yara</a:t>
                      </a:r>
                    </a:p>
                  </a:txBody>
                  <a:tcPr marL="73152" marR="73152" marT="36576" marB="36576">
                    <a:solidFill>
                      <a:srgbClr val="0B1F3A"/>
                    </a:solidFill>
                  </a:tcPr>
                </a:tc>
              </a:tr>
              <a:tr h="411480">
                <a:tc>
                  <a:txBody>
                    <a:bodyPr/>
                    <a:lstStyle/>
                    <a:p>
                      <a:r>
                        <a:rPr sz="1200" b="0">
                          <a:solidFill>
                            <a:srgbClr val="1F2937"/>
                          </a:solidFill>
                        </a:rPr>
                        <a:t>Kesuvchi</a:t>
                      </a:r>
                    </a:p>
                  </a:txBody>
                  <a:tcPr marL="73152" marR="73152" marT="36576" marB="36576">
                    <a:solidFill>
                      <a:srgbClr val="E8EEF6"/>
                    </a:solidFill>
                  </a:tcPr>
                </a:tc>
                <a:tc>
                  <a:txBody>
                    <a:bodyPr/>
                    <a:lstStyle/>
                    <a:p>
                      <a:r>
                        <a:rPr sz="1200" b="0">
                          <a:solidFill>
                            <a:srgbClr val="1F2937"/>
                          </a:solidFill>
                        </a:rPr>
                        <a:t>O‘tkir dam</a:t>
                      </a:r>
                    </a:p>
                  </a:txBody>
                  <a:tcPr marL="73152" marR="73152" marT="36576" marB="36576">
                    <a:solidFill>
                      <a:srgbClr val="E8EEF6"/>
                    </a:solidFill>
                  </a:tcPr>
                </a:tc>
                <a:tc>
                  <a:txBody>
                    <a:bodyPr/>
                    <a:lstStyle/>
                    <a:p>
                      <a:r>
                        <a:rPr sz="1200" b="0">
                          <a:solidFill>
                            <a:srgbClr val="1F2937"/>
                          </a:solidFill>
                        </a:rPr>
                        <a:t>Chetlari tekis, uzunligi chuqurligidan katta</a:t>
                      </a:r>
                    </a:p>
                  </a:txBody>
                  <a:tcPr marL="73152" marR="73152" marT="36576" marB="36576">
                    <a:solidFill>
                      <a:srgbClr val="E8EEF6"/>
                    </a:solidFill>
                  </a:tcPr>
                </a:tc>
              </a:tr>
              <a:tr h="411480">
                <a:tc>
                  <a:txBody>
                    <a:bodyPr/>
                    <a:lstStyle/>
                    <a:p>
                      <a:r>
                        <a:rPr sz="1200" b="0">
                          <a:solidFill>
                            <a:srgbClr val="1F2937"/>
                          </a:solidFill>
                        </a:rPr>
                        <a:t>Sanchuvchi</a:t>
                      </a:r>
                    </a:p>
                  </a:txBody>
                  <a:tcPr marL="73152" marR="73152" marT="36576" marB="36576">
                    <a:solidFill>
                      <a:srgbClr val="FFFFFF"/>
                    </a:solidFill>
                  </a:tcPr>
                </a:tc>
                <a:tc>
                  <a:txBody>
                    <a:bodyPr/>
                    <a:lstStyle/>
                    <a:p>
                      <a:r>
                        <a:rPr sz="1200" b="0">
                          <a:solidFill>
                            <a:srgbClr val="1F2937"/>
                          </a:solidFill>
                        </a:rPr>
                        <a:t>O‘tkir uch</a:t>
                      </a:r>
                    </a:p>
                  </a:txBody>
                  <a:tcPr marL="73152" marR="73152" marT="36576" marB="36576">
                    <a:solidFill>
                      <a:srgbClr val="FFFFFF"/>
                    </a:solidFill>
                  </a:tcPr>
                </a:tc>
                <a:tc>
                  <a:txBody>
                    <a:bodyPr/>
                    <a:lstStyle/>
                    <a:p>
                      <a:r>
                        <a:rPr sz="1200" b="0">
                          <a:solidFill>
                            <a:srgbClr val="1F2937"/>
                          </a:solidFill>
                        </a:rPr>
                        <a:t>Chuqurligi tashqi o‘lchamdan katta</a:t>
                      </a:r>
                    </a:p>
                  </a:txBody>
                  <a:tcPr marL="73152" marR="73152" marT="36576" marB="36576">
                    <a:solidFill>
                      <a:srgbClr val="FFFFFF"/>
                    </a:solidFill>
                  </a:tcPr>
                </a:tc>
              </a:tr>
              <a:tr h="411480">
                <a:tc>
                  <a:txBody>
                    <a:bodyPr/>
                    <a:lstStyle/>
                    <a:p>
                      <a:r>
                        <a:rPr sz="1200" b="0">
                          <a:solidFill>
                            <a:srgbClr val="1F2937"/>
                          </a:solidFill>
                        </a:rPr>
                        <a:t>Sanchuvchi-kesuvchi</a:t>
                      </a:r>
                    </a:p>
                  </a:txBody>
                  <a:tcPr marL="73152" marR="73152" marT="36576" marB="36576">
                    <a:solidFill>
                      <a:srgbClr val="E8EEF6"/>
                    </a:solidFill>
                  </a:tcPr>
                </a:tc>
                <a:tc>
                  <a:txBody>
                    <a:bodyPr/>
                    <a:lstStyle/>
                    <a:p>
                      <a:r>
                        <a:rPr sz="1200" b="0">
                          <a:solidFill>
                            <a:srgbClr val="1F2937"/>
                          </a:solidFill>
                        </a:rPr>
                        <a:t>Uch va dam</a:t>
                      </a:r>
                    </a:p>
                  </a:txBody>
                  <a:tcPr marL="73152" marR="73152" marT="36576" marB="36576">
                    <a:solidFill>
                      <a:srgbClr val="E8EEF6"/>
                    </a:solidFill>
                  </a:tcPr>
                </a:tc>
                <a:tc>
                  <a:txBody>
                    <a:bodyPr/>
                    <a:lstStyle/>
                    <a:p>
                      <a:r>
                        <a:rPr sz="1200" b="0">
                          <a:solidFill>
                            <a:srgbClr val="1F2937"/>
                          </a:solidFill>
                        </a:rPr>
                        <a:t>Bir damli jismda P-simon yara</a:t>
                      </a:r>
                    </a:p>
                  </a:txBody>
                  <a:tcPr marL="73152" marR="73152" marT="36576" marB="36576">
                    <a:solidFill>
                      <a:srgbClr val="E8EEF6"/>
                    </a:solidFill>
                  </a:tcPr>
                </a:tc>
              </a:tr>
              <a:tr h="411480">
                <a:tc>
                  <a:txBody>
                    <a:bodyPr/>
                    <a:lstStyle/>
                    <a:p>
                      <a:r>
                        <a:rPr sz="1200" b="0">
                          <a:solidFill>
                            <a:srgbClr val="1F2937"/>
                          </a:solidFill>
                        </a:rPr>
                        <a:t>Chopuvchi</a:t>
                      </a:r>
                    </a:p>
                  </a:txBody>
                  <a:tcPr marL="73152" marR="73152" marT="36576" marB="36576">
                    <a:solidFill>
                      <a:srgbClr val="FFFFFF"/>
                    </a:solidFill>
                  </a:tcPr>
                </a:tc>
                <a:tc>
                  <a:txBody>
                    <a:bodyPr/>
                    <a:lstStyle/>
                    <a:p>
                      <a:r>
                        <a:rPr sz="1200" b="0">
                          <a:solidFill>
                            <a:srgbClr val="1F2937"/>
                          </a:solidFill>
                        </a:rPr>
                        <a:t>Zarb, katta massa</a:t>
                      </a:r>
                    </a:p>
                  </a:txBody>
                  <a:tcPr marL="73152" marR="73152" marT="36576" marB="36576">
                    <a:solidFill>
                      <a:srgbClr val="FFFFFF"/>
                    </a:solidFill>
                  </a:tcPr>
                </a:tc>
                <a:tc>
                  <a:txBody>
                    <a:bodyPr/>
                    <a:lstStyle/>
                    <a:p>
                      <a:r>
                        <a:rPr sz="1200" b="0">
                          <a:solidFill>
                            <a:srgbClr val="1F2937"/>
                          </a:solidFill>
                        </a:rPr>
                        <a:t>Ko‘lamli; ko‘pincha bosh va qo‘lda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O‘tkir jismlar yaralari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48, 48, 54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Tan jarohati — tashqi ta’sir tufayli a’zo va to‘qimalarning anatomik butunligi yoki funksiyasining buzilishi; ichki ta’sirdan bo‘lsa kasallik deyiladi.</a:t>
            </a:r>
          </a:p>
          <a:p>
            <a:pPr>
              <a:spcAft>
                <a:spcPts val="1200"/>
              </a:spcAft>
            </a:pPr>
            <a:r>
              <a:rPr sz="2200">
                <a:solidFill>
                  <a:srgbClr val="1F2937"/>
                </a:solidFill>
                <a:latin typeface="Calibri"/>
              </a:rPr>
              <a:t>▸  Tasnif: shikastlovchi omil (fizik, kimyoviy, biologik, ruhiy), oddiy yoki murakkab, cheklangan yoki qo‘sh, yakka yoki ko‘p jarohat.</a:t>
            </a:r>
          </a:p>
          <a:p>
            <a:pPr>
              <a:spcAft>
                <a:spcPts val="1200"/>
              </a:spcAft>
            </a:pPr>
            <a:r>
              <a:rPr sz="2200">
                <a:solidFill>
                  <a:srgbClr val="1F2937"/>
                </a:solidFill>
                <a:latin typeface="Calibri"/>
              </a:rPr>
              <a:t>▸  O‘lim sabablari birlamchi (qon yo‘qotish, shok, emboliya, miya qisilishi va b.) va ikkilamchi (infeksiya, intoksikatsiya) bo‘ladi.</a:t>
            </a:r>
          </a:p>
          <a:p>
            <a:pPr>
              <a:spcAft>
                <a:spcPts val="1200"/>
              </a:spcAft>
            </a:pPr>
            <a:r>
              <a:rPr sz="2200">
                <a:solidFill>
                  <a:srgbClr val="1F2937"/>
                </a:solidFill>
                <a:latin typeface="Calibri"/>
              </a:rPr>
              <a:t>▸  Amaliy: vrach jarohatni to‘liq tavsiflashi, kiyim va poyafzalni shikastsiz saqlab huquqni muhofaza qiluvchilarga topshirishi kerak.</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 25–26, 30–33, 29, 47–48</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83</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Bolalar uchun muhim: “bolalarning silkinish sindromi” (Shaken baby syndrome) asosida kuchli chayqalish mexanizmi yotadi. Kuchli chayqalishda ichki a’zolar va ularni ushlab turuvchi boylamlar shikastlanadi: qon quyilish, yorilish, uzilish.</a:t>
            </a:r>
          </a:p>
          <a:p>
            <a:pPr>
              <a:spcAft>
                <a:spcPts val="1200"/>
              </a:spcAft>
            </a:pPr>
            <a:r>
              <a:rPr sz="1800">
                <a:solidFill>
                  <a:srgbClr val="1F2937"/>
                </a:solidFill>
                <a:latin typeface="Calibri"/>
              </a:rPr>
              <a:t>▸  Havo emboliyasini tekshirish (Sunsov sinamasi): perikard bo‘shlig‘iga yurak sathini yopadigan miqdorda suv quyiladi, so‘ng o‘ng qorincha devori teshiladi. Suvdan havo pufakchalari chiqsa, natija musbat hisoblanadi.</a:t>
            </a:r>
          </a:p>
          <a:p>
            <a:pPr>
              <a:spcAft>
                <a:spcPts val="1200"/>
              </a:spcAft>
            </a:pPr>
            <a:r>
              <a:rPr sz="1800">
                <a:solidFill>
                  <a:srgbClr val="1F2937"/>
                </a:solidFill>
                <a:latin typeface="Calibri"/>
              </a:rPr>
              <a:t>▸  Minakov dog‘lari — o‘tkir qon yo‘qotishning xos belgisi. Bular yurak chap qorinchasi endokardi ostidagi tasmasimon qon quyilishlar. Ular yurak ichidagi bosim keskin pasayishi va adashgan nerv o‘ta ta’sirlanishi tufayli paydo bo‘ladi.</a:t>
            </a:r>
          </a:p>
          <a:p>
            <a:pPr>
              <a:spcAft>
                <a:spcPts val="1200"/>
              </a:spcAft>
            </a:pPr>
            <a:r>
              <a:rPr sz="1800">
                <a:solidFill>
                  <a:srgbClr val="1F2937"/>
                </a:solidFill>
                <a:latin typeface="Calibri"/>
              </a:rPr>
              <a:t>▸  Eslab qolish usuli (qontalash rangi): qizg‘ish-ko‘kimtir → yashil → sariq. Yashil tus 3-4 sutkada, sariq tus 6-8 sutkada paydo bo‘la boshlaydi. Muddatlar taxminiy, shikastlovchi jism va soha xususiyatlariga bog‘liq.</a:t>
            </a:r>
          </a:p>
          <a:p>
            <a:pPr>
              <a:spcAft>
                <a:spcPts val="1200"/>
              </a:spcAft>
            </a:pPr>
            <a:r>
              <a:rPr sz="1800">
                <a:solidFill>
                  <a:srgbClr val="1F2937"/>
                </a:solidFill>
                <a:latin typeface="Calibri"/>
              </a:rPr>
              <a:t>▸  Suyak egilganda avval cho‘zilish tomoni sinadi. U yerda sinish chizig‘i to‘g‘ri, chetlari tekis, bo‘laklar zich mos keladi. Siqilish tomonida chetlar notekis, yirik tishli bo‘ladi va bo‘laklar mos tushmaydi. Bu kuch yo‘nalishini aniqlashga yordam beradi.</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Bemorning ko‘krak qafasida bitta sanchma yara aniqlandi. Bu jarohat tasnif mezonlari bo‘yicha qanday ataladi?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Murakkab cheklangan yakka shikastlanish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Oddiy qo‘sh yakka shikastlanish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Oddiy cheklangan yakka shikastlanish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Murakkab qo‘sh ko‘p shikastlanish</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Bolada bosh miya chayqalishi va qorin sohasida qontalashlar aniqlandi. Bu holat qanday tasniflanadi?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Oddiy qo‘sh ko‘p shikastlanish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Oddiy cheklangan yakka shikastlanish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Murakkab cheklangan ko‘p shikastlanish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Murakkab qo‘sh yakka shikastlanish</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Kuchli qo‘rquv va hayajon ta’siridan sog‘lig‘i buzilgan shaxsning holati o‘rganilmoqda. Qanday ekspertiza tayinlanadi?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Sud-kimyoviy ekspertiza tayinlanadi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Sud-biologik ekspertiza tayinlanadi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Sud-trasologik ekspertiza tayinlanadi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Sud-psixiatrik ekspertiza tayinlanadi</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Darslikka ko‘ra, travmatizm tushunchasi nimani anglatadi?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Bir shaxsda uchragan barcha jarohatlarning umumiy soni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Bir xil mehnat va turmush sharoitidagi guruhda uchragan turdosh jarohatlar majmui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transport hodisalarida olingan jarohatlar yig‘indisi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Jarohatdan keyin rivojlangan asoratlarning yig‘indisi</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Refleksogen sohaga zarbdan keyin shok rivojlandi. Bu shikastlanish qaysi guruhga kiradi?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Asosan anatomik shikastlanish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Cheklangan shikastlanishlar guruhi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Asosan funksional shikastlanish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Murakkab shikastlanishlar guruhi</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 tekshiruvida jarohatga yaqin regional limfa tugunlarida eritrotsitlar (eritrofagiya) topildi. Bu nimani ko‘rsatadi?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Jarohat o‘limdan keyin tasodifan etkazilgan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Jarohat tirik paytda etkazilgan, ya’ni hayotiy</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Jarohat faqat reanimatsiya paytida hosil bo‘lgan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Jarohat hayvonlar tomonidan keyin etkazilgan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Quyidagilardan qaysi biri jarohat hayotiyligining mahalliy belgisi hisoblanadi?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Shikastlangan sohadagi qon tomirlarda tromblar topilishi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Siydik va buyrak naychalarida mioglobin topilishi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Nafas yo‘llarida qon aspiratsiyasining aniqlanishi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Ichki a’zolarning umumiy kamqonligi aniqlanishi</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Shifokor jarohatni yuzaki ko‘rib, hujjatga faqat diagnozni yozdi. Keyin sud-tibbiy ekspertiza tayinlandi. Bu qanday oqibat beradi?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Ekspertiza vazifalari osonroq bajariladi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Ekspertiza o‘tkazish zarurati butunlay yo‘qoladi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Ekspertiza vazifalarini bajarish jiddiy qiyinlashadi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Jarohat hayotiyligi avtomatik tasdiqlanadi</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Ekspert jarohatning hayotiyligi va etkazilgan muddatini aniqlamoqchi. U qaysi usuldan foydalanadi?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Rentgenografik tekshiruv</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Stereomikroskopiya usuli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Trasologik tekshiruv usuli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Gistologik tekshiruv usuli</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Tergovchi jarohat etkazgan toshni topdi. Toshning aniq qo‘llanilish maqsadi yo‘q. U qaysi toifaga kiradi?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Jism</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Qurol</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Anjom</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Modda</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Yirik arteriya shikastlangan jabrlanganda murda tekshiruvida chap qorincha endokardi ostida tasmasimon qon quyilishlar (Minakov dog‘lari) topildi. Bu qaysi o‘lim sababiga xos?</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Havo emboliyasiga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O‘tkir qon yo‘qotishga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Aspiratsion asfiksiyaga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Yog‘ emboliyasiga</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Son suyagi singanidan 2-3 kun o‘tib vafot etgan jabrlanganda yog‘ emboliyasi gumon qilindi. Qaysi usul tashxisni tasdiqlaydi?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Yurak qopiga suv quyib, o‘ng qorincha devorini teshish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Rangli bosmalar usulida metall zarralari izlarini aniqlash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O‘pka va miya muzlatilgan kesmalarini Sudan III yoki IV bilan bo‘yash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Jarohat atrofidagi teri sathini stereomikroskopda o‘rganish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Jinoiy abortdan keyin vafot etgan ayolda havo emboliyasiga shubha qilindi. Sunsov sinamasida qaysi natija musbat hisoblanadi?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O‘ng qorincha teshilganda suvdan havo pufaklari chiqishi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Perikard bo‘shlig‘idagi suvda qon laxtalari paydo bo‘lishi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Yurak qopidagi suv rangining qizg‘ish tus olishi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O‘ng qorincha devorining o‘z-o‘zidan yorilib ketishi</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Jabrlanganda dastlabki jarohatdan ma’lum muddat o‘tgach gaz gangrenasi rivojlanib, o‘lim yuz berdi. Bu o‘lim sababi qanday tasniflanadi?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Birlamchi: hayot bilan nomutanosib jarohat</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Birlamchi: hayot uchun muhim a’zo shikasti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Birlamchi: og‘ir darajali travmatik shok</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Ikkilamchi: anaerob infeksion asorat</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Qaysi jism yumshoq o‘tmas jismlar guruhiga misol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Tosh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Sochiq</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Tayoq</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Rezina to‘pi</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Shikastlovchi jismning massasi tananing shikastlanayotgan sohasi massasidan kichik. Jarohat faqat ta’sir sohasi bilan cheklandi. Bu qaysi travma?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Inersion (tezlanish) travmasi, bilvosita jarohatlar bilan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Impression travma, ta’sir sohasi bilan cheklangan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ishqalanish mexanizmidagi yuzaki travma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Cho‘zilish mexanizmidagi umumiy travma</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Ekspert suyakda spiralsimon sinish topdi. Anamnezga ko‘ra, oyoqqa aylana bo‘ylab ikki qarama-qarshi kuch ta’sir etgan. Qaysi mexanizm ishtirok etgan?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Zarb mexanizmi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Siqilish mexanizmi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Cho‘zilish mexanizmi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Buralish mexanizmi</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Shilinma yuzasi dastlab nam bo‘lgan, keyin qurigan va sog‘lom teri sathidan past turibdi. A.F.Taykov bo‘yicha bu qaysi bosqich?</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Yangi shilinma bosqichi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Qoplamaning hosil bo‘lish bosqichi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Epitelizatsiya bosqichi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Qoldiq iz hosil bo‘lish bosqichi</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Jarohatda markaziy qismi majaqlanib botib turgan, nurlari bir xil uzunlikdagi yulduzsimon yara topildi. Qaysi yuzali jism ta’sir etgan?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Silindr yuzali jism</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Ikki chekkali qirrali jism</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Sferik yuzali jism</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Cheklanmagan yassi yuzali jism</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Egilgan suyakda sinish yuzasi suyak o‘qiga perpendikulyar, chetlari tekis, siniq bo‘laklari bir-biriga zich mos. Sinishning bu turi qaysi tomonda hosil bo‘lgan?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Siqilish tomonida hosil bo‘lgan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Cho‘zilish tomonida hosil bo‘lgan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Ikkala tomonda ham hosil bo‘lgan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fiksatsiya joyida hosil bo‘lgan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Oddiy cheklangan yakka shikastlanish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Shikastlovchi omil bitta bo‘lgani uchun jarohat oddiy, bitta anatomik sohada bo‘lgani uchun cheklangan, soni bitta bo‘lgani uchun yakka hisoblanadi.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26-bet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Oddiy qo‘sh ko‘p shikastlanish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Omil bitta (mexanik) bo‘lgani uchun oddiy; ikki anatomik sohani qamragani uchun qo‘sh; jarohatlar bir nechta bo‘lgani uchun ko‘p deyiladi.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26-bet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Sud-psixiatrik ekspertiza tayinlanadi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Ruhiy ta’sir natijalarini o‘rganish odatda sud psixiatriyasining predmeti bo‘lib, bunday hollarda sud-psixiatrik ekspertiza tayinlanadi.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26-bet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Bir xil mehnat va turmush sharoitidagi guruhda uchragan turdosh jarohatlar majmui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Travmatizm — bir xil mehnat va turmush sharoitida bo‘lgan shaxslar guruhida kuzatiladigan turdosh jarohatlar majmui. Uning turlari faoliyat xususiyatiga bog‘liq.</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27-bet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Asosan funksional shikastlanish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Refleksogen sohalarga zarbdan shok, bosh miya va ichki a’zolar chayqalishi funksiyaning buzilishi birinchi o‘ringa chiqadigan asosan funksional shikastlanishlarga kiradi.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26-bet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Jarohat tirik paytda etkazilgan, ya’ni hayotiy</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Regional limfa tugunlarida eritrotsitlar bo‘lishi (eritrofagiya) jarohat hayotiyligining umumiy belgilaridan biri. Bu organizm shikastga tirikligida javob berganini ko‘rsatadi.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28-bet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Shikastlangan sohadagi qon tomirlarda tromblar topilishi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Qon tomirlarda tromblar topilishi mahalliy belgilar qatoriga kiradi. Mioglobin, qon aspiratsiyasi va umumiy kamqonlik esa umumiy belgilardir.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28-bet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Ekspertiza vazifalarini bajarish jiddiy qiyinlashadi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Tibbiy hujjatlar ma’lum muddatdan so‘ng ekspertizaga taqdim etiladi. Jarohatning yuzaki o‘rganilishi yoki hujjatda to‘liq tavsifning yo‘qligi ekspertiza vazifalarini bajarishda jiddiy qiyinchilik tug‘diradi.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29-bet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Gistologik tekshiruv usuli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Jarohatlarning hayotiyligi va etkazilish muddati gistologik tekshiruvlar yordamida aniqlanadi. Rentgenografiya suyak shikasti va yot jismni, trasologik usul shikastlovchi jismni aniqlashga xizmat qiladi.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29-bet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Jism</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Aniq qo‘llanilish maqsadiga ega bo‘lmagan narsalar (tosh, tayoq) jism deb ataladi. Qurol hujum yoki mudofaa uchun tayyorlanadi, anjom esa ishlab chiqarish yoki kundalik hayotda ishlatiladi.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30-bet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O‘tkir qon yo‘qotishga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Chap qorincha endokardi ostidagi tasmasimon qon quyilishlar (Minakov dog‘lari) o‘tkir qon yo‘qotish uchun xos belgi. Ular yurak ichidagi bosimning keskin pasayishi va adashgan nervning o‘ta ta’sirlanishidan paydo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31-bet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O‘pka va miya muzlatilgan kesmalarini Sudan III yoki IV bilan bo‘yash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Yog‘ emboliyasida o‘pka va bosh miyaning muzlatilgan kesmalari Sudan III yoki Sudan IV bilan bo‘yaladi. Mikroskopda yog‘ tomchilari Sudan III da olovrang qizil, Sudan IV da qora rangda ko‘rinadi.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32-bet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O‘ng qorincha teshilganda suvdan havo pufaklari chiqishi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Havo emboliyasiga shubhada ichki tekshiruv ko‘krak qafasidan boshlanadi: perikard bo‘shlig‘iga yurak sathini yopadigan suv quyiladi va o‘ng qorincha teshiladi. Suvdan havo pufaklarining chiqishi musbat natija (Sunsov sinamasi).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32-bet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Ikkilamchi: anaerob infeksion asorat</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Gaz gangrenasi (anaerob infeksiya) mexanik jarohatdan o‘limning ikkilamchi sabablariga kiradi. Ikkilamchi sababda o‘lim jarohatdan birmuncha muddat o‘tgach sodir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33-bet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Sochiq</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O‘tmas jismlar qattiq (tosh, tayoq), yumshoq (sharf, sochiq) va elastik (rezina to‘pi) turlarga bo‘linadi. Sochiq yumshoq jismga misol.</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33-bet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Impression travma, ta’sir sohasi bilan cheklangan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Jism massasi shikastlanayotgan soha massasidan kichik bo‘lsa, impression travma vujudga keladi va shikastlanish faqat ta’sir sohasida qoladi. Inersion travmada ta’sir kuchi soha yoki tana massasidan ancha katta bo‘ladi. Unda bilvosita jarohatlar, umumiy chayqalish va aks zarb jarohatlari uchraydi.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34-bet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Buralish mexanizmi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Buralishda tanaga ikki aylana bo‘ylab kuch ta’sir etadi: biri soat mili bo‘yicha, ikkinchisi unga qarshi. Bunda asosan bilvosita jarohatlar, xususan suyaklarning spiralsimon sinishlari hosil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35-36-bet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80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Yangi shilinma bosqichi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Yangi shilinma bosqichida yuza avval nam, keyin quruq bo‘ladi va sog‘lom teri sathidan past turadi. Bu bosqich 12 soatgacha davom etadi. Keyingi bosqichlarda qoplama hosil bo‘ladi, so‘ng u ko‘tarilib ko‘cha boshlaydi.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36-bet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81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Sferik yuzali jism</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Sferik yuzali jism ta’sirida nurlari bir xil uzunlikdagi, markazi majaqlanib botib turgan yulduzsimon yaralar hosil bo‘ladi. Chekkasida halqasimon shilinish bo‘lishi mumkin. Silindr yuzali jism esa yoriqsimon yoki chiziqsimon yaralar qoldiradi.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40-bet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82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Cho‘zilish tomonida hosil bo‘lgan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Cho‘zilish tomonida sinish bir to‘g‘ri chiziqli, ko‘ndalang bo‘ladi. Sinish yuzasi suyakka perpendikulyar, chetlari tekis yoki mayda tishli bo‘ladi. Bo‘laklar yaqinlashtirilganda zich mos keladi. Siqilish tomonida esa chetlar notekis, yirik tishli va bo‘laklar mos tushmaydi.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42-bet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Foydalanilgan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№2. Maʻruza: Mexanik jarohatlar xaqidagi ma’lumot.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83 / 83</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G‘iyosov Z.A. Sud tibbiyoti: darslik, Toshkent: Global Books nashriyoti. 2018. Bob 2. Sud-tibbiy travmatologiya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