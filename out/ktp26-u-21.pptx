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go‘dak murdasi ekspertizasi oddiy murda ekspertizasidan farq qiladi? 2) Kislorod tanqisligi sud tibbiyoti uchun nega muhim? Doskada: dars rejasining to‘rt blokini ketma-ket yozing. Tipik xato: talabalar gipoksiya va asfiksiyani bir xil tushuncha deb o‘ylaydi — asfiksiyada gipoksiya giperkapniya bilan birga rivojlanishini eslating.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onasi noma’lum go‘dak murdasida ekspertiza majburiy? 2) Qaysi savollar huquqiy baho uchun eng muhim? Doskada: oltita maxsus savolni ustun qilib yozing. Tipik xato: talabalar maxsus savollarni umumiy murda savollari bilan aralashtiradi — ikki guruhni alohida ajrating.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sud tibbiyotida muddat eng qisqa? 2) Tug‘ish davrida og‘riq va ruhiy holat ona xatti-harakatiga qanday ta’sir qilishi mumkin (ona o‘zini to‘liq anglamay go‘dakka shikast yetkazishi mumkin)? Doskada: uch fanli jadvalni chizing. Tipik xato: pediatriya, akusherlik va sud tibbiyoti muddatlarini almashtirib yuborish; 97- va 99-moddalarni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qon izi yuvilgan go‘dakda topilmasligi mumkin? 2) Mo‘msimon qoplama nima uchun burmalarda uzoq saqlanadi? Doskada chizish: go‘dak tanasi sxemasi va mo‘msimon qoplama ko‘proq to‘planadigan joylar (burmalar, qo‘ltiq osti, oraliq). Tipik xato: qon izi yoki mo‘msimon qoplama yo‘qligini yangi tug‘ilganlik yo‘qligi deb hisoblash — bu belgilar yuvilganda yo‘qoladi.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Shish suyaklararo chokdan o‘tsa, qaysi tashxis ehtimoli yuqori? 2) So‘rilish muddati go‘dak yoshini baholashda nimaga yordam beradi? Doskada chizish: kalla gumbazi kesmasi — teri, suyak usti pardasi, suyak; qon qaysi qatlamda to‘planishini ko‘rsating. Tipik xato: kefalogematomani tug‘ruq shishi deb olish; farq chok chegarasi va 2-3 kun / 2 hafta muddatida.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Mekoniyning 3-4 kungacha chiqishi qaysi go‘daklarda kuzatiladi? 2) Demarkatsion halqa nima uchun tirik tug‘ilganlik belgisi? Doskada chizish: kindik o‘zgarishi zanjirini (nam — quruq — halqa — ajralish) vaqt o‘qida tuzing. Tipik xato: mekoniy va demarkatsion halqa muddatlarini aralashtirish; mekoniy 1-2 kunda chiqadi, kindik esa 5-7 kunda ajraladi.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faqat uchta belgi mutloq hisoblanadi? Nisbiy belgi go‘dak hayotining 2-kunida topilsa, xulosa qanday o‘zgaradi? Doskada: ikki ustunli jadval chizdiring (mutloq | nisbiy) va belgilarni talabalar o‘zlari taqsimlasin. Tipik xato: mo‘msimon qoplama yoki qon izini mutloq belgi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tanasi yuvilgan go‘dakda qaysi belgilar qoladi? Kindik holati xulosani qanday tayinlaydi? Doskada: belgilarni ’mutloq/nisbiy’ deb ikki ustunga ajratib yozdiring. Tipik xato: tashqi jarohatlarsiz qon izlari topilganini mutloq belgi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nega sud tibbiyotida tirik tug‘ilganlik asosan nafas olish orqali hal etiladi? Qaysi holatlarda sinama soxta musbat natija berishi mumkin (chirish gazlari, sun’iy nafas oldirish, yaxshi erimagan muzlagan o‘pka)? Doskada: sinama bosqichlarini zanjir shaklida chizdiring. Tipik xato: manfiy natijada sinamani to‘xtatish, aslida alohida o‘pka bo‘laklari ham suvga solinadi.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chirigan o‘pka bo‘lagi suzib chiqsa ham tirik tug‘ilganlik isbotlanmaydi? 2) Ikkilamchi atelektazda o‘pka sinamasi nega manfiy chiqadi? Doskada chizish: suvli kolba va havo tortib olinganda o‘pka bo‘lakchasi holatining sxemasi. Tipik xato: musbat sinamani har doim tirik tug‘ilganlik deb hisoblash. Diqqat: soxta musbat ≠ soxta manfiy.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Breslau sinamasi yashash muddatini baholashga yordam beradi? 2) Rentgen sinamasining qaysi kamchiligi uni amaliyotdan chiqargan? Doskada chizish: ligaturalar qo‘yiladigan joylar (oshqozonning kirish va chiqish qismi, to‘g‘ri ichak). Tipik xato: chirigan murdada ham oshqozon-ichak sinamasiga tayanish.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Gialin membranalar topilishi go‘dak hayotining davomiyligi haqida nimani ko‘rsatadi? 2) Nega bir belgiga emas, belgilar majmuiga tayaniladi? Doskada chizish: ikki ustunli taqqoslash jadvali (nafas olmagan va olgan o‘pka). Tipik xato: Bush-Xaberda belgisini nafas olmagan o‘pkaga xos deb aytish. Elastik tolalar: nafas olmaganda tutamsimon, olganda maromli joylashadi.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O‘pka sinamasida chirish gazini nafas havosidan qanday farqlaymiz? 2) Nega ikkilamchi atelektazda sinama manfiy chiqadi? Doskada: soxta musbat va soxta manfiy holatlarni ikki ustunda chizdiring. Tipik xato: talabalar muzlagan o‘pkani to‘liq eritmasdan sinaydi va natijani musbat deb qabul qiladi.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Rasolik va yetuklik farqi nimada? 2) Gaaze formulasi homiladorlik yarmiga qarab nega o‘zgaradi? Doskada: to‘rt formulani jadvalda yozib, misollarni talabalar bilan hisoblang. Tipik xato: Baltazar-Derve natijasini oyda emas, kunda ifodalash kerakligini unutish.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o‘zaklar kech paydo bo‘lishi mumkin? 2) Mekoniyda tuk topilishi qaysi refleksga bog‘liq? Doskada: V, VII, IX oylar bo‘yicha o‘zaklar zanjirini chizdiring. Tipik xato: Beklyar yadrosini tovon suyagi o‘zagi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Tirik tug‘ilgan go‘dak nega layoqatsiz bo‘lishi mumkin? 2) Qarov belgilari tergov uchun nimaga muhim? Doskada: ikki ustunli ro‘yxat chizing: «layoqatsizlik sabablari» va «qarov belgilari». Tipik xato: tirik tug‘ilganlik va hayotga layoqatni bir narsa deb o‘ylash. Eslatma: tashqi nuqson (oltinchi barmoq, quyon lab) topilsa, ichki nuqsonlarni istisno qilish uchun bosh miya va ichki a’zolar sinchiklab tekshiriladi.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muddatlar faqat taxminiy hisoblanadi? 2) Havo faqat oshqozonda bo‘lsa, qanday xulosa qilinadi? Doskada vaqt chizig‘ini o‘zlari chizib, har nuqtaga belgini yozsinlar. Tipik xato: bitta belgiga tayanib aniq muddat aytish. Eslab qolish: 3 soat – oshqozon, 5-6 soat – ingichka ichak, 6 soatdan keyin – yo‘g‘on ichak.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 go‘dak taxminan qancha yashagan va xulosani qaysi belgilar to‘ldirishi kerak? Muhokama: o‘pka sinamasi musbat bo‘lsa, soxta musbat natijani qanday istisno qilamiz? Doskada: belgilar ro‘yxatini chizib, har birining qo‘shimcha ma’lumotini yozing. Tipik xato: musbat o‘pka sinamasini avtomatik «uzoq yashagan» deb talqin qilish.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antenatal davrda yo‘ldosh va kindikni ham tekshirish kerak? 2) Tug‘ruq travmasini ona qo‘lidan yetgan jarohatdan qanday farqlaymiz? Doskada chizish: ikki ustunli sxema (antenatal sabablar | intranatal sabablar). Diqqat: xato qilish xavfi — tug‘ruq travmasida tashqi jarohat va yara hosil bo‘lmaydi, ona qo‘lidan esa yuz va bo‘yinda shilinma, qontalash bo‘ladi. Tipik xato: antenatal o‘limni zo‘raki deb hisoblash; ante- va intranatal zo‘raki o‘lim juda kam uchraydi. Voqea tahlili: yo‘ldosh muddatdan oldin ko‘chgan, homila murdasining qog‘onoq suvida ko‘p mekoniy topildi. Savol: o‘lim qaysi davrda va qanday mexanizm bilan yuz bergan?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Aktiv va passiv go‘dak o‘ldirish farqi nimada? 2) Nega ekspert uchun o‘lim sababini aniq ko‘rsatish muhim? Doskada chizish: uch qatorli jadvalni talabalar bilan to‘ldiring. Diqqat: xato qilish xavfi — aktiv ≠ passiv; passiv o‘ldirishda go‘dakka hech qanday harakat qilinmaydi, u qarovsiz qoldiriladi. Tipik xato: kindik boylanmagan holatdagi qon ketishni aktiv o‘ldirishga kiritish. Tezkor savol: sovuq qotish va ochlikdan o‘lim qaysi turga kiradi? Voqea tahlili: kindigi boylanmagan chaqaloq qarovsiz topilgan. Savol: o‘lim sababi nima bo‘lishi mumkin va u qaysi turga kiradi?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kalla suyaklari qaychi bilan kesilib, darcha ochiladi? 2) Nega qorin kesmasi kindikka yetmay yonga o‘tkaziladi? Doskada chizish: murdani ochish tartibi (tashqi tekshiruv → ko‘krak va qorin → kalla → laboratoriya materiali). Tipik xato: og‘iz kesmasini iyakdan boshlash, o‘roqsimon o‘simta va miyacha chodiri butunligini buzish. Tezkor savol: gistologik tekshiruv uchun yo‘ldosh va kindikdan ham material olinadimi?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Mekoniyning ko‘pligi va yo‘g‘on ichakning torayishi nimani bildiradi? (2) Tug‘ruq travmasi bilan farqi nimada? Doskada: ‘belgi → davr → mexanizm’ zanjirini chizdiring. Tipik xato: tashqi jarohat yo‘qligini ‘o‘lim zo‘raki emas’ deb emas, ‘tug‘ruq travmasi emas’ deb to‘g‘ri talqin qilish; talabalar yo‘ldosh va kindikni tekshirishni unutadi.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gipoksiya har doim asfiksiya emas? (2) Bo‘yin va ko‘krak-qorin qisilishi qaysi guruhga kiradi? Doskada: mexanik asfiksiya tasnifining daraxtini chizdiring. Tipik xato: strangulyatsion va kompression asfiksiyani, shuningdek cho‘kishni qisilish guruhiga qo‘shib yuborish.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Qaysi bosqichda talvasalar tufayli o‘z-o‘zidan jarohat paydo bo‘lishi mumkin va bu nega ekspertiza uchun muhim? (2) Nafas to‘xtagach yurak urishi davom etishi nimani anglatadi? Doskada: 5 bosqichni vaqt chizig‘ida chizing. Tipik xato: davomiyliklarni qat’iy son deb qabul qilish; darslikda ular shartli, taxminiy ekani ta’kidlangan.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tugallanmagan asfiksiyada klinik bilim sud-tibbiy ekspert uchun ham muhim? 2) Qoldiq oqibatlar qanday bo‘lishi mumkin (xotira, diqqat, bosh og‘rig‘i)? Doskada: to‘rt davrni zanjir shaklida chizing va har biriga bitta asosiy belgini yozing. Tipik xato: postasfiktik holatni asfiksiyaning o‘zi (asfiktik davr)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yuz sianozi murda holatiga qarab o‘zgaradi? 2) Nega bu belgilarni faqat majmua sifatida baholaymiz? Doskada: tashqi va ichki belgilar ustunini chizib to‘ldiring. Tipik xato: bitta belgini (masalan, sianozni) asfiksiyaning aniq isboti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Talabalarga savollarni yopiq kitob bilan so‘rang. Muhokama: Tarde va Rasskazov-Lukomskiy-Paltauf dog‘larini hosil bo‘lish mexanizmi va joylashuvi bo‘yicha taqqoslang. Doskada: yurak va o‘pka sxemasini chizib, dog‘lar joyini belgilang. Tipik xato: ikkala dog‘ni bir xil deb hisoblash va epikard ostidagi dog‘ni cho‘kishga xos deb talqin qilish.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12 daq. Muhokama: 1) Nega osilishda sirtmoqni tortish uchun katta kuch shart emas? 2) Yumshoq sirtmoqda terida egat ko‘rinmasa, nimaga qarab tashxis qo‘yiladi? Doskada: bo‘yin sxemasini chizib, tipik egat joyini (til osti suyagidan yuqorida, qiyshiq) belgilang va havo yo‘li, vena, adashgan nerv ta’sirini strelkalar bilan ko‘rsating. Tipik xato: “tipik osilish” (tana erkin osilgan) bilan “tugunning tipik joylashuvi” (bo‘yin orqasida) tushunchalarini aralashtirish. Qo‘shimcha: keskin tipik osilishda orqa miya va umurtqalararo disklar yorilishi o‘limning hal qiluvchi omili bo‘lishi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Egat o‘limdan keyin hosil bo‘lgan bo‘lsa, Bokarius sinamasida nima kutiladi? 2) Cho‘zilish belgilari qaysi osilish turida ko‘proq uchraydi (semiz odamlarda, tipik, siltab osilishda)? Doskada: ikki ustunli jadval chizing — chap tomonda hayotiylik belgilari (Bokarius, Neyding, Kasyanov), o‘ng tomonda cho‘zilish belgilari (Amyuss, Martin, Valxer, Simon). Tipik xato: “mis sim” belgisini hayotiylik belgisi deb o‘ylash — u yumshoq sirtmoq izi bilan bog‘liq. Eslatma: Bokarius, Neyding, Kasyanov belgilari egatning hayotiyligi uchun, Amyuss, Martin, Valxer, Simon esa bo‘yin cho‘zilishi uchun.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12 daq. Muhokama: 1) Sirtmoq bilan bo‘g‘ishda nega o‘lim ba’zan asfiksiya belgilari rivojlanmasdan, yurakning reflektor to‘xtashidan sodir bo‘ladi? 2) Yumshoq jism ustidan qo‘l bilan bo‘g‘ishda tashqi jarohatlar nega kam bo‘ladi? Doskada: bo‘yin sxemasida osilish egati (qiyshiq, yuqorida) va sirtmoq egati (gorizontal, pastda) ni ikki rangda chizing. Tipik xato: til osti suyagi sinishini osilishga xos deb hisoblash; ichki jarohatlar tashqidan yaqqolroq bo‘lishi qo‘l bilan bo‘g‘ishga xos. Pozitsion asfiksiyada bo‘yin burmasi egatga o‘xshashi mumkin, lekin til osti suyagi va tog‘aylar shikastlanmaydi.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Qarshiliksiz holda nafas teshiklari yopilishi nima uchun aniqlash qiyin? 2) Qusuq massa topilganda qaysi belgilar aspiratsiyani ko‘rsatadi? Doskada: nafas yo‘lini ko‘ndalang kesim sxemasi chizing va yot jism turlarini belgilang. Tipik xato: o‘limdan keyingi qusuq massani obturatsion asfiksiya belgisi deb olish.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Laringospazm suvning yo‘liga qanday ta’sir qiladi? 2) Sho‘r suvda nima uchun qon quyuqlashadi? Doskada: jadvalni talabalar bilan birga chizib, har katakni to‘ldiring. Tipik xato: Tarde dog‘lari bilan Rasskazov-Lukomskiy-Paltauf dog‘larini aralashtirish (ikkinchisi epikard ostida bo‘lmaydi).</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Nima uchun suv namunasi (1 l) olinadi? 2) Yangi tug‘ilgan chaqaloq murdasida suvda bo‘lganlik belgilari nega kechroq namoyon bo‘ladi? Doskada: suvda bo‘lish muddati bo‘yicha vaqt chizig‘ini (soat, 2-5 kun, 2-3 hafta) chizing. Tipik xato: terining bujmayishini cho‘kish sababi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kompressiyada yuz va bo‘yinda qon quyilishlar (“ekximotik niqob”) paydo bo‘ladi? 2) Nega cheklangan muhitda o‘ziga xos belgi topilmaydi va tashxis nimaga tayanadi? Doskada chizish: ko‘krak-qorin qisilishi bo‘yicha chiziqli sxema (frontal / yonlama / faqat qorin) va xavf darajasini strelka bilan ko‘rsating. Tipik xato: “ekximotik niqob”ni umumiy asfiksiya belgisi (Tarde dog‘lari) bilan aralashtirish; karbonat angidrid chegaralarini kattalar va bolalar uchun almashtirib yuborish. Diqqat: kompressiyada mexanik jarohatlar ham o‘limga sabab bo‘lishi mumkin, differensial diagnostika kerak.</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Talabalarga vaziyatni o‘qing, 2 daqiqa juftlikda muhokama qilinsin. Muhokama: 1) Berilgan belgilar chin yoki asfiktik cho‘kishga mosmi va nega? 2) Nima uchun suv havzasidan namuna (1 l) olinadi? Doskada chizish: ikki ustunli taqqoslash (chin va asfiktik cho‘kish: ko‘pik, nafas yo‘llari, oshqozondagi suv). Tipik xato: o‘pka to‘qimasida diatom topilishini hayotiylik belgisi deb hisoblash; o‘limdan so‘ng suvga tushganda ham topilishi mumkin. Ko‘pikni yagona asos qilib olish ham xato.</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Mustaqil ish savollari: 1) Yangi tug‘ilganlik tushunchasi pediatriya, akusherlik va sud tibbiyotida qanday farqlanadi? 2) Qaysi belgilar absolyut hisoblanadi? 3) Tirik tug‘ilganlik qanday aniqlanadi va soxta musbat/manfiy sinamalar qachon bo‘ladi? 4) Antenatal, intranatal va postnatal o‘lim sabablarini taqqoslang. 5) Strangulyatsion, obturatsion, kompression va cheklangan muhitdagi asfiksiya belgilarini farqlang. Doskada chizish: mavzu bo‘yicha 5 bosqichli xulosa sxemasi. Tipik xato: umumasfiktik belgilarni bitta o‘zi yetarli deb hisoblash; yangi tug‘ilganlik muddatlarini (24 soat, 7 kun, 4 hafta) aralashtirish.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Yangi tug’ilganlik tushunchasi (akusherlik, pediatriya, sudtibbiy). Pre-, intra- va postnatal davrlarda go’daklar o’limining xususiyatlari. Asfiksiyaning turli variantlarida o’limning vujudga kelish mexanizmi. Asfiksiyaning hayotlik vaqtida sodir bo’lganligini aniqlash va ularning morfologik belgilari.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maqsad va dars rejasi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Homila va go‘dak murdasi ekspertizasi zo‘raki o‘lim alomatlari yoki unga shubha bo‘lgan hollarda o‘tkaziladi.</a:t>
            </a:r>
          </a:p>
          <a:p>
            <a:pPr>
              <a:spcAft>
                <a:spcPts val="1200"/>
              </a:spcAft>
            </a:pPr>
            <a:r>
              <a:rPr sz="2200">
                <a:solidFill>
                  <a:srgbClr val="1F2937"/>
                </a:solidFill>
                <a:latin typeface="Calibri"/>
              </a:rPr>
              <a:t>▸  Dars bloklari: yangi tug‘ilganlik belgilari, ante-, intra- va postnatal davrlardagi o‘lim sabablari, tirik tug‘ilganlikni aniqlash.</a:t>
            </a:r>
          </a:p>
          <a:p>
            <a:pPr>
              <a:spcAft>
                <a:spcPts val="1200"/>
              </a:spcAft>
            </a:pPr>
            <a:r>
              <a:rPr sz="2200">
                <a:solidFill>
                  <a:srgbClr val="1F2937"/>
                </a:solidFill>
                <a:latin typeface="Calibri"/>
              </a:rPr>
              <a:t>▸  Asfiksiya — tashqi nafas buzilishidan kislorod tanqisligi va karbonat angidridning ko‘payishi. Mexanik omildan bo‘lsa, mexanik asfiksiya deyiladi.</a:t>
            </a:r>
          </a:p>
          <a:p>
            <a:pPr>
              <a:spcAft>
                <a:spcPts val="1200"/>
              </a:spcAft>
            </a:pPr>
            <a:r>
              <a:rPr sz="2200">
                <a:solidFill>
                  <a:srgbClr val="1F2937"/>
                </a:solidFill>
                <a:latin typeface="Calibri"/>
              </a:rPr>
              <a:t>▸  Yakuniy blok — hayotlik masalasi: strangulyatsion egat va suvga tushish hayotiy bo‘lganmi, buni qaysi belgilar ko‘rsatadi.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256, 259, 264, 104-105, 116-117, 124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Go‘dak murdasi ekspertizasi: qachon va nimaga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Ekspertiza uch holatda tayinlanadi: onasi noma’lum go‘dak murdasi, davolash muassasasidan tashqari o‘lik tug‘ilish, tibbiy yordamga shikoyat.</a:t>
            </a:r>
          </a:p>
          <a:p>
            <a:pPr>
              <a:spcAft>
                <a:spcPts val="1200"/>
              </a:spcAft>
            </a:pPr>
            <a:r>
              <a:rPr sz="2200">
                <a:solidFill>
                  <a:srgbClr val="1F2937"/>
                </a:solidFill>
                <a:latin typeface="Calibri"/>
              </a:rPr>
              <a:t>▸  Maxsus savollar: go‘dak yangi tug‘ilganmi, tirik tug‘ilganmi, gestatsion (homila) yoshi qanday, hayotga layoqatlimi.</a:t>
            </a:r>
          </a:p>
          <a:p>
            <a:pPr>
              <a:spcAft>
                <a:spcPts val="1200"/>
              </a:spcAft>
            </a:pPr>
            <a:r>
              <a:rPr sz="2200">
                <a:solidFill>
                  <a:srgbClr val="1F2937"/>
                </a:solidFill>
                <a:latin typeface="Calibri"/>
              </a:rPr>
              <a:t>▸  Yana: tirik tug‘ilgan bo‘lsa, qancha muddat yashagan va unga qarov bo‘lganmi — bu ham hal etiladi.</a:t>
            </a:r>
          </a:p>
          <a:p>
            <a:pPr>
              <a:spcAft>
                <a:spcPts val="1200"/>
              </a:spcAft>
            </a:pPr>
            <a:r>
              <a:rPr sz="2200">
                <a:solidFill>
                  <a:srgbClr val="1F2937"/>
                </a:solidFill>
                <a:latin typeface="Calibri"/>
              </a:rPr>
              <a:t>▸  Odatdagidek o‘lim sababi, muddati, tan jarohatlari va ularning yetkazilish mexanizmi ham aniqlanadi.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“Yangi tug‘ilganlik”: uch xil yondashuv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Sud tibbiyotida bu muddat qonunchilik talablari bilan uzviy bog‘liq.</a:t>
            </a:r>
          </a:p>
          <a:p>
            <a:pPr>
              <a:spcAft>
                <a:spcPts val="800"/>
              </a:spcAft>
            </a:pPr>
            <a:r>
              <a:rPr sz="1800">
                <a:solidFill>
                  <a:srgbClr val="1F2937"/>
                </a:solidFill>
                <a:latin typeface="Calibri"/>
              </a:rPr>
              <a:t>▸  Jinoyat kodeksining (JK) 99-moddasi: ona tug‘ish vaqtida go‘dagini qasddan o‘ldirsa, jazo ancha yengil.</a:t>
            </a:r>
          </a:p>
          <a:p>
            <a:pPr>
              <a:spcAft>
                <a:spcPts val="800"/>
              </a:spcAft>
            </a:pPr>
            <a:r>
              <a:rPr sz="1800">
                <a:solidFill>
                  <a:srgbClr val="1F2937"/>
                </a:solidFill>
                <a:latin typeface="Calibri"/>
              </a:rPr>
              <a:t>▸  Diqqat: 99-modda ≠ 97-modda. Boshqa shaxs o‘ldirsa, 97-modda (qasddan odam o‘ldirish) qo‘llanadi.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2643987"/>
                <a:gridCol w="2643987"/>
              </a:tblGrid>
              <a:tr h="411480">
                <a:tc>
                  <a:txBody>
                    <a:bodyPr/>
                    <a:lstStyle/>
                    <a:p>
                      <a:r>
                        <a:rPr sz="1400" b="1">
                          <a:solidFill>
                            <a:srgbClr val="FFFFFF"/>
                          </a:solidFill>
                        </a:rPr>
                        <a:t>Fan</a:t>
                      </a:r>
                    </a:p>
                  </a:txBody>
                  <a:tcPr marL="73152" marR="73152" marT="36576" marB="36576">
                    <a:solidFill>
                      <a:srgbClr val="0B1F3A"/>
                    </a:solidFill>
                  </a:tcPr>
                </a:tc>
                <a:tc>
                  <a:txBody>
                    <a:bodyPr/>
                    <a:lstStyle/>
                    <a:p>
                      <a:r>
                        <a:rPr sz="1400" b="1">
                          <a:solidFill>
                            <a:srgbClr val="FFFFFF"/>
                          </a:solidFill>
                        </a:rPr>
                        <a:t>Davomiyligi</a:t>
                      </a:r>
                    </a:p>
                  </a:txBody>
                  <a:tcPr marL="73152" marR="73152" marT="36576" marB="36576">
                    <a:solidFill>
                      <a:srgbClr val="0B1F3A"/>
                    </a:solidFill>
                  </a:tcPr>
                </a:tc>
              </a:tr>
              <a:tr h="411480">
                <a:tc>
                  <a:txBody>
                    <a:bodyPr/>
                    <a:lstStyle/>
                    <a:p>
                      <a:r>
                        <a:rPr sz="1300" b="0">
                          <a:solidFill>
                            <a:srgbClr val="1F2937"/>
                          </a:solidFill>
                        </a:rPr>
                        <a:t>Pediatriya</a:t>
                      </a:r>
                    </a:p>
                  </a:txBody>
                  <a:tcPr marL="73152" marR="73152" marT="36576" marB="36576">
                    <a:solidFill>
                      <a:srgbClr val="E8EEF6"/>
                    </a:solidFill>
                  </a:tcPr>
                </a:tc>
                <a:tc>
                  <a:txBody>
                    <a:bodyPr/>
                    <a:lstStyle/>
                    <a:p>
                      <a:r>
                        <a:rPr sz="1300" b="0">
                          <a:solidFill>
                            <a:srgbClr val="1F2937"/>
                          </a:solidFill>
                        </a:rPr>
                        <a:t>4 hafta (neonatal davr)</a:t>
                      </a:r>
                    </a:p>
                  </a:txBody>
                  <a:tcPr marL="73152" marR="73152" marT="36576" marB="36576">
                    <a:solidFill>
                      <a:srgbClr val="E8EEF6"/>
                    </a:solidFill>
                  </a:tcPr>
                </a:tc>
              </a:tr>
              <a:tr h="411480">
                <a:tc>
                  <a:txBody>
                    <a:bodyPr/>
                    <a:lstStyle/>
                    <a:p>
                      <a:r>
                        <a:rPr sz="1300" b="0">
                          <a:solidFill>
                            <a:srgbClr val="1F2937"/>
                          </a:solidFill>
                        </a:rPr>
                        <a:t>Akusherlik-ginekologiya</a:t>
                      </a:r>
                    </a:p>
                  </a:txBody>
                  <a:tcPr marL="73152" marR="73152" marT="36576" marB="36576">
                    <a:solidFill>
                      <a:srgbClr val="FFFFFF"/>
                    </a:solidFill>
                  </a:tcPr>
                </a:tc>
                <a:tc>
                  <a:txBody>
                    <a:bodyPr/>
                    <a:lstStyle/>
                    <a:p>
                      <a:r>
                        <a:rPr sz="1300" b="0">
                          <a:solidFill>
                            <a:srgbClr val="1F2937"/>
                          </a:solidFill>
                        </a:rPr>
                        <a:t>7 kun</a:t>
                      </a:r>
                    </a:p>
                  </a:txBody>
                  <a:tcPr marL="73152" marR="73152" marT="36576" marB="36576">
                    <a:solidFill>
                      <a:srgbClr val="FFFFFF"/>
                    </a:solidFill>
                  </a:tcPr>
                </a:tc>
              </a:tr>
              <a:tr h="411480">
                <a:tc>
                  <a:txBody>
                    <a:bodyPr/>
                    <a:lstStyle/>
                    <a:p>
                      <a:r>
                        <a:rPr sz="1300" b="0">
                          <a:solidFill>
                            <a:srgbClr val="1F2937"/>
                          </a:solidFill>
                        </a:rPr>
                        <a:t>Sud tibbiyoti</a:t>
                      </a:r>
                    </a:p>
                  </a:txBody>
                  <a:tcPr marL="73152" marR="73152" marT="36576" marB="36576">
                    <a:solidFill>
                      <a:srgbClr val="E8EEF6"/>
                    </a:solidFill>
                  </a:tcPr>
                </a:tc>
                <a:tc>
                  <a:txBody>
                    <a:bodyPr/>
                    <a:lstStyle/>
                    <a:p>
                      <a:r>
                        <a:rPr sz="1300" b="0">
                          <a:solidFill>
                            <a:srgbClr val="1F2937"/>
                          </a:solidFill>
                        </a:rPr>
                        <a:t>dastlabki 24 soat</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Yangi tug‘ilganlik muddati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Yangi tug‘ilganlik belgilari: qon izi, mo‘msimon qoplama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Tashqi jarohat bo‘lmasa, tanada qon izlarining topilishi yangi tug‘ilganlik belgisi hisoblanadi. Ular tug‘ruq yo‘llari yumshoq to‘qimalarining yorilishidan hosil bo‘ladi.</a:t>
            </a:r>
          </a:p>
          <a:p>
            <a:pPr>
              <a:spcAft>
                <a:spcPts val="1200"/>
              </a:spcAft>
            </a:pPr>
            <a:r>
              <a:rPr sz="2200">
                <a:solidFill>
                  <a:srgbClr val="1F2937"/>
                </a:solidFill>
                <a:latin typeface="Calibri"/>
              </a:rPr>
              <a:t>▸  Tug‘ilgandan keyin go‘dak tanasi yuvilsa, qon izlari yo‘qoladi.</a:t>
            </a:r>
          </a:p>
          <a:p>
            <a:pPr>
              <a:spcAft>
                <a:spcPts val="1200"/>
              </a:spcAft>
            </a:pPr>
            <a:r>
              <a:rPr sz="2200">
                <a:solidFill>
                  <a:srgbClr val="1F2937"/>
                </a:solidFill>
                <a:latin typeface="Calibri"/>
              </a:rPr>
              <a:t>▸  Mo‘msimon qoplama — tana yuzasidagi oqimtir-kulrang, yarim quyuq massa. U yog‘ bezlari sekreti, ko‘chgan epidermis hujayralari, tuk va qog‘onoq suvlaridan iborat.</a:t>
            </a:r>
          </a:p>
          <a:p>
            <a:pPr>
              <a:spcAft>
                <a:spcPts val="1200"/>
              </a:spcAft>
            </a:pPr>
            <a:r>
              <a:rPr sz="2200">
                <a:solidFill>
                  <a:srgbClr val="1F2937"/>
                </a:solidFill>
                <a:latin typeface="Calibri"/>
              </a:rPr>
              <a:t>▸  Qoplama bachadonda terini qog‘onoq suvlari ta’siridagi matseratsiyadan himoya qiladi. Burmalarda ko‘proq bo‘ladi; yuvilmasa bir haftagacha saqlanadi.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Tug‘ruq shishi va kefalogematoma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Tug‘ruq shishi kesilganda qizgish-sargimtir, qon aralash seroz suyuqlik ko‘rinadi.</a:t>
            </a:r>
          </a:p>
          <a:p>
            <a:pPr>
              <a:spcAft>
                <a:spcPts val="800"/>
              </a:spcAft>
            </a:pPr>
            <a:r>
              <a:rPr sz="1800">
                <a:solidFill>
                  <a:srgbClr val="1F2937"/>
                </a:solidFill>
                <a:latin typeface="Calibri"/>
              </a:rPr>
              <a:t>▸  Tug‘ruq shishi asosan tor tos va sust tug‘ruq faoliyatida uchraydi.</a:t>
            </a:r>
          </a:p>
          <a:p>
            <a:pPr>
              <a:spcAft>
                <a:spcPts val="800"/>
              </a:spcAft>
            </a:pPr>
            <a:r>
              <a:rPr sz="1800">
                <a:solidFill>
                  <a:srgbClr val="1F2937"/>
                </a:solidFill>
                <a:latin typeface="Calibri"/>
              </a:rPr>
              <a:t>▸  Diqqat: ikkalasini adashtirmang — chok chegarasi va so‘rilish muddati asosiy farq.</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900080"/>
                <a:gridCol w="2250202"/>
                <a:gridCol w="2137692"/>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Tug‘ruq shishi</a:t>
                      </a:r>
                    </a:p>
                  </a:txBody>
                  <a:tcPr marL="73152" marR="73152" marT="36576" marB="36576">
                    <a:solidFill>
                      <a:srgbClr val="0B1F3A"/>
                    </a:solidFill>
                  </a:tcPr>
                </a:tc>
                <a:tc>
                  <a:txBody>
                    <a:bodyPr/>
                    <a:lstStyle/>
                    <a:p>
                      <a:r>
                        <a:rPr sz="1300" b="1">
                          <a:solidFill>
                            <a:srgbClr val="FFFFFF"/>
                          </a:solidFill>
                        </a:rPr>
                        <a:t>Kefalogematoma</a:t>
                      </a:r>
                    </a:p>
                  </a:txBody>
                  <a:tcPr marL="73152" marR="73152" marT="36576" marB="36576">
                    <a:solidFill>
                      <a:srgbClr val="0B1F3A"/>
                    </a:solidFill>
                  </a:tcPr>
                </a:tc>
              </a:tr>
              <a:tr h="411480">
                <a:tc>
                  <a:txBody>
                    <a:bodyPr/>
                    <a:lstStyle/>
                    <a:p>
                      <a:r>
                        <a:rPr sz="1200" b="0">
                          <a:solidFill>
                            <a:srgbClr val="1F2937"/>
                          </a:solidFill>
                        </a:rPr>
                        <a:t>Sababi</a:t>
                      </a:r>
                    </a:p>
                  </a:txBody>
                  <a:tcPr marL="73152" marR="73152" marT="36576" marB="36576">
                    <a:solidFill>
                      <a:srgbClr val="E8EEF6"/>
                    </a:solidFill>
                  </a:tcPr>
                </a:tc>
                <a:tc>
                  <a:txBody>
                    <a:bodyPr/>
                    <a:lstStyle/>
                    <a:p>
                      <a:r>
                        <a:rPr sz="1200" b="0">
                          <a:solidFill>
                            <a:srgbClr val="1F2937"/>
                          </a:solidFill>
                        </a:rPr>
                        <a:t>Tosda qisilishdan qon aylanishi buziladi</a:t>
                      </a:r>
                    </a:p>
                  </a:txBody>
                  <a:tcPr marL="73152" marR="73152" marT="36576" marB="36576">
                    <a:solidFill>
                      <a:srgbClr val="E8EEF6"/>
                    </a:solidFill>
                  </a:tcPr>
                </a:tc>
                <a:tc>
                  <a:txBody>
                    <a:bodyPr/>
                    <a:lstStyle/>
                    <a:p>
                      <a:r>
                        <a:rPr sz="1200" b="0">
                          <a:solidFill>
                            <a:srgbClr val="1F2937"/>
                          </a:solidFill>
                        </a:rPr>
                        <a:t>Suyak usti pardasi ostiga qon quyiladi</a:t>
                      </a:r>
                    </a:p>
                  </a:txBody>
                  <a:tcPr marL="73152" marR="73152" marT="36576" marB="36576">
                    <a:solidFill>
                      <a:srgbClr val="E8EEF6"/>
                    </a:solidFill>
                  </a:tcPr>
                </a:tc>
              </a:tr>
              <a:tr h="411480">
                <a:tc>
                  <a:txBody>
                    <a:bodyPr/>
                    <a:lstStyle/>
                    <a:p>
                      <a:r>
                        <a:rPr sz="1200" b="0">
                          <a:solidFill>
                            <a:srgbClr val="1F2937"/>
                          </a:solidFill>
                        </a:rPr>
                        <a:t>Joyi</a:t>
                      </a:r>
                    </a:p>
                  </a:txBody>
                  <a:tcPr marL="73152" marR="73152" marT="36576" marB="36576">
                    <a:solidFill>
                      <a:srgbClr val="FFFFFF"/>
                    </a:solidFill>
                  </a:tcPr>
                </a:tc>
                <a:tc>
                  <a:txBody>
                    <a:bodyPr/>
                    <a:lstStyle/>
                    <a:p>
                      <a:r>
                        <a:rPr sz="1200" b="0">
                          <a:solidFill>
                            <a:srgbClr val="1F2937"/>
                          </a:solidFill>
                        </a:rPr>
                        <a:t>Ko‘pincha bosh, ba’zan dumba</a:t>
                      </a:r>
                    </a:p>
                  </a:txBody>
                  <a:tcPr marL="73152" marR="73152" marT="36576" marB="36576">
                    <a:solidFill>
                      <a:srgbClr val="FFFFFF"/>
                    </a:solidFill>
                  </a:tcPr>
                </a:tc>
                <a:tc>
                  <a:txBody>
                    <a:bodyPr/>
                    <a:lstStyle/>
                    <a:p>
                      <a:r>
                        <a:rPr sz="1200" b="0">
                          <a:solidFill>
                            <a:srgbClr val="1F2937"/>
                          </a:solidFill>
                        </a:rPr>
                        <a:t>Kalla gumbazi suyaklari</a:t>
                      </a:r>
                    </a:p>
                  </a:txBody>
                  <a:tcPr marL="73152" marR="73152" marT="36576" marB="36576">
                    <a:solidFill>
                      <a:srgbClr val="FFFFFF"/>
                    </a:solidFill>
                  </a:tcPr>
                </a:tc>
              </a:tr>
              <a:tr h="411480">
                <a:tc>
                  <a:txBody>
                    <a:bodyPr/>
                    <a:lstStyle/>
                    <a:p>
                      <a:r>
                        <a:rPr sz="1200" b="0">
                          <a:solidFill>
                            <a:srgbClr val="1F2937"/>
                          </a:solidFill>
                        </a:rPr>
                        <a:t>Chegarasi</a:t>
                      </a:r>
                    </a:p>
                  </a:txBody>
                  <a:tcPr marL="73152" marR="73152" marT="36576" marB="36576">
                    <a:solidFill>
                      <a:srgbClr val="E8EEF6"/>
                    </a:solidFill>
                  </a:tcPr>
                </a:tc>
                <a:tc>
                  <a:txBody>
                    <a:bodyPr/>
                    <a:lstStyle/>
                    <a:p>
                      <a:r>
                        <a:rPr sz="1200" b="0">
                          <a:solidFill>
                            <a:srgbClr val="1F2937"/>
                          </a:solidFill>
                        </a:rPr>
                        <a:t>Choklar proeksiyasida ham aniqlanadi</a:t>
                      </a:r>
                    </a:p>
                  </a:txBody>
                  <a:tcPr marL="73152" marR="73152" marT="36576" marB="36576">
                    <a:solidFill>
                      <a:srgbClr val="E8EEF6"/>
                    </a:solidFill>
                  </a:tcPr>
                </a:tc>
                <a:tc>
                  <a:txBody>
                    <a:bodyPr/>
                    <a:lstStyle/>
                    <a:p>
                      <a:r>
                        <a:rPr sz="1200" b="0">
                          <a:solidFill>
                            <a:srgbClr val="1F2937"/>
                          </a:solidFill>
                        </a:rPr>
                        <a:t>Choklar bilan chegaralangan</a:t>
                      </a:r>
                    </a:p>
                  </a:txBody>
                  <a:tcPr marL="73152" marR="73152" marT="36576" marB="36576">
                    <a:solidFill>
                      <a:srgbClr val="E8EEF6"/>
                    </a:solidFill>
                  </a:tcPr>
                </a:tc>
              </a:tr>
              <a:tr h="411480">
                <a:tc>
                  <a:txBody>
                    <a:bodyPr/>
                    <a:lstStyle/>
                    <a:p>
                      <a:r>
                        <a:rPr sz="1200" b="0">
                          <a:solidFill>
                            <a:srgbClr val="1F2937"/>
                          </a:solidFill>
                        </a:rPr>
                        <a:t>So‘rilishi</a:t>
                      </a:r>
                    </a:p>
                  </a:txBody>
                  <a:tcPr marL="73152" marR="73152" marT="36576" marB="36576">
                    <a:solidFill>
                      <a:srgbClr val="FFFFFF"/>
                    </a:solidFill>
                  </a:tcPr>
                </a:tc>
                <a:tc>
                  <a:txBody>
                    <a:bodyPr/>
                    <a:lstStyle/>
                    <a:p>
                      <a:r>
                        <a:rPr sz="1200" b="0">
                          <a:solidFill>
                            <a:srgbClr val="1F2937"/>
                          </a:solidFill>
                        </a:rPr>
                        <a:t>Odatda 2-3 kun</a:t>
                      </a:r>
                    </a:p>
                  </a:txBody>
                  <a:tcPr marL="73152" marR="73152" marT="36576" marB="36576">
                    <a:solidFill>
                      <a:srgbClr val="FFFFFF"/>
                    </a:solidFill>
                  </a:tcPr>
                </a:tc>
                <a:tc>
                  <a:txBody>
                    <a:bodyPr/>
                    <a:lstStyle/>
                    <a:p>
                      <a:r>
                        <a:rPr sz="1200" b="0">
                          <a:solidFill>
                            <a:srgbClr val="1F2937"/>
                          </a:solidFill>
                        </a:rPr>
                        <a:t>2 hafta va undan ortiq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shishning solishtirmasi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Mekoniy va kindik: yangi tug‘ilganlik dinamikasi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Mekoniy: to‘q-yashil, yarim suyuq; tarkibida shilliq, o‘t pigmentlari, ichak epiteliysi hujayralari bor.</a:t>
            </a:r>
          </a:p>
          <a:p>
            <a:pPr>
              <a:spcAft>
                <a:spcPts val="800"/>
              </a:spcAft>
            </a:pPr>
            <a:r>
              <a:rPr sz="1800">
                <a:solidFill>
                  <a:srgbClr val="1F2937"/>
                </a:solidFill>
                <a:latin typeface="Calibri"/>
              </a:rPr>
              <a:t>▸  Dumba, son va orqa chiqaruv teshigi atrofida topiladi; odatda 1-2 kunda chiqadi, norasolarda 3-4 kun.</a:t>
            </a:r>
          </a:p>
          <a:p>
            <a:pPr>
              <a:spcAft>
                <a:spcPts val="800"/>
              </a:spcAft>
            </a:pPr>
            <a:r>
              <a:rPr sz="1800">
                <a:solidFill>
                  <a:srgbClr val="1F2937"/>
                </a:solidFill>
                <a:latin typeface="Calibri"/>
              </a:rPr>
              <a:t>▸  Tirik tug‘ilganda kindik asosida bir necha soatda qizgish halqa (reaktiv yallig‘lanish) paydo bo‘ladi.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Nam, yaltiroq, oqimtir-qizgish</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Bir tekis quriydi, bujmayadi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Demarkatsion halqa (qizgish)</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5-7 kunda kindik ajraladi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Kindikning o‘zgarish zanjiri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257, 258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Absolyut va nisbiy belgilar: farqlash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Mutloq belgilar: o‘pkaning birlamchi atelektazi; demarkatsion halqa yo‘q yoki endi boshlangan.</a:t>
            </a:r>
          </a:p>
          <a:p>
            <a:pPr>
              <a:spcAft>
                <a:spcPts val="800"/>
              </a:spcAft>
            </a:pPr>
            <a:r>
              <a:rPr sz="1800">
                <a:solidFill>
                  <a:srgbClr val="1F2937"/>
                </a:solidFill>
                <a:latin typeface="Calibri"/>
              </a:rPr>
              <a:t>▸  Tana va yo‘ldoshdan ajratilmagan kindik ham mutloq ishonchli belgi hisoblanadi.</a:t>
            </a:r>
          </a:p>
          <a:p>
            <a:pPr>
              <a:spcAft>
                <a:spcPts val="800"/>
              </a:spcAft>
            </a:pPr>
            <a:r>
              <a:rPr sz="1800">
                <a:solidFill>
                  <a:srgbClr val="1F2937"/>
                </a:solidFill>
                <a:latin typeface="Calibri"/>
              </a:rPr>
              <a:t>▸  Diqqat: nisbiy belgilar hayotning 2-kunida va keyin ham topilishi mumkin; mutloq ≠ nisbiy.</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2342773"/>
                <a:gridCol w="1070982"/>
                <a:gridCol w="1874218"/>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Xarakteri</a:t>
                      </a:r>
                    </a:p>
                  </a:txBody>
                  <a:tcPr marL="73152" marR="73152" marT="36576" marB="36576">
                    <a:solidFill>
                      <a:srgbClr val="0B1F3A"/>
                    </a:solidFill>
                  </a:tcPr>
                </a:tc>
                <a:tc>
                  <a:txBody>
                    <a:bodyPr/>
                    <a:lstStyle/>
                    <a:p>
                      <a:r>
                        <a:rPr sz="1300" b="1">
                          <a:solidFill>
                            <a:srgbClr val="FFFFFF"/>
                          </a:solidFill>
                        </a:rPr>
                        <a:t>Izoh</a:t>
                      </a:r>
                    </a:p>
                  </a:txBody>
                  <a:tcPr marL="73152" marR="73152" marT="36576" marB="36576">
                    <a:solidFill>
                      <a:srgbClr val="0B1F3A"/>
                    </a:solidFill>
                  </a:tcPr>
                </a:tc>
              </a:tr>
              <a:tr h="411480">
                <a:tc>
                  <a:txBody>
                    <a:bodyPr/>
                    <a:lstStyle/>
                    <a:p>
                      <a:r>
                        <a:rPr sz="1200" b="0">
                          <a:solidFill>
                            <a:srgbClr val="1F2937"/>
                          </a:solidFill>
                        </a:rPr>
                        <a:t>O‘pkaning birlamchi atelektazi</a:t>
                      </a:r>
                    </a:p>
                  </a:txBody>
                  <a:tcPr marL="73152" marR="73152" marT="36576" marB="36576">
                    <a:solidFill>
                      <a:srgbClr val="E8EEF6"/>
                    </a:solidFill>
                  </a:tcPr>
                </a:tc>
                <a:tc>
                  <a:txBody>
                    <a:bodyPr/>
                    <a:lstStyle/>
                    <a:p>
                      <a:r>
                        <a:rPr sz="1200" b="0">
                          <a:solidFill>
                            <a:srgbClr val="1F2937"/>
                          </a:solidFill>
                        </a:rPr>
                        <a:t>Mutloq</a:t>
                      </a:r>
                    </a:p>
                  </a:txBody>
                  <a:tcPr marL="73152" marR="73152" marT="36576" marB="36576">
                    <a:solidFill>
                      <a:srgbClr val="E8EEF6"/>
                    </a:solidFill>
                  </a:tcPr>
                </a:tc>
                <a:tc>
                  <a:txBody>
                    <a:bodyPr/>
                    <a:lstStyle/>
                    <a:p>
                      <a:r>
                        <a:rPr sz="1200" b="0">
                          <a:solidFill>
                            <a:srgbClr val="1F2937"/>
                          </a:solidFill>
                        </a:rPr>
                        <a:t>Nafas olmagan o‘pka</a:t>
                      </a:r>
                    </a:p>
                  </a:txBody>
                  <a:tcPr marL="73152" marR="73152" marT="36576" marB="36576">
                    <a:solidFill>
                      <a:srgbClr val="E8EEF6"/>
                    </a:solidFill>
                  </a:tcPr>
                </a:tc>
              </a:tr>
              <a:tr h="411480">
                <a:tc>
                  <a:txBody>
                    <a:bodyPr/>
                    <a:lstStyle/>
                    <a:p>
                      <a:r>
                        <a:rPr sz="1200" b="0">
                          <a:solidFill>
                            <a:srgbClr val="1F2937"/>
                          </a:solidFill>
                        </a:rPr>
                        <a:t>Demarkatsion halqa yo‘q / dastlabki</a:t>
                      </a:r>
                    </a:p>
                  </a:txBody>
                  <a:tcPr marL="73152" marR="73152" marT="36576" marB="36576">
                    <a:solidFill>
                      <a:srgbClr val="FFFFFF"/>
                    </a:solidFill>
                  </a:tcPr>
                </a:tc>
                <a:tc>
                  <a:txBody>
                    <a:bodyPr/>
                    <a:lstStyle/>
                    <a:p>
                      <a:r>
                        <a:rPr sz="1200" b="0">
                          <a:solidFill>
                            <a:srgbClr val="1F2937"/>
                          </a:solidFill>
                        </a:rPr>
                        <a:t>Mutloq</a:t>
                      </a:r>
                    </a:p>
                  </a:txBody>
                  <a:tcPr marL="73152" marR="73152" marT="36576" marB="36576">
                    <a:solidFill>
                      <a:srgbClr val="FFFFFF"/>
                    </a:solidFill>
                  </a:tcPr>
                </a:tc>
                <a:tc>
                  <a:txBody>
                    <a:bodyPr/>
                    <a:lstStyle/>
                    <a:p>
                      <a:r>
                        <a:rPr sz="1200" b="0">
                          <a:solidFill>
                            <a:srgbClr val="1F2937"/>
                          </a:solidFill>
                        </a:rPr>
                        <a:t>Kindik asosidagi halqa</a:t>
                      </a:r>
                    </a:p>
                  </a:txBody>
                  <a:tcPr marL="73152" marR="73152" marT="36576" marB="36576">
                    <a:solidFill>
                      <a:srgbClr val="FFFFFF"/>
                    </a:solidFill>
                  </a:tcPr>
                </a:tc>
              </a:tr>
              <a:tr h="411480">
                <a:tc>
                  <a:txBody>
                    <a:bodyPr/>
                    <a:lstStyle/>
                    <a:p>
                      <a:r>
                        <a:rPr sz="1200" b="0">
                          <a:solidFill>
                            <a:srgbClr val="1F2937"/>
                          </a:solidFill>
                        </a:rPr>
                        <a:t>Ajratilmagan kindik</a:t>
                      </a:r>
                    </a:p>
                  </a:txBody>
                  <a:tcPr marL="73152" marR="73152" marT="36576" marB="36576">
                    <a:solidFill>
                      <a:srgbClr val="E8EEF6"/>
                    </a:solidFill>
                  </a:tcPr>
                </a:tc>
                <a:tc>
                  <a:txBody>
                    <a:bodyPr/>
                    <a:lstStyle/>
                    <a:p>
                      <a:r>
                        <a:rPr sz="1200" b="0">
                          <a:solidFill>
                            <a:srgbClr val="1F2937"/>
                          </a:solidFill>
                        </a:rPr>
                        <a:t>Mutloq</a:t>
                      </a:r>
                    </a:p>
                  </a:txBody>
                  <a:tcPr marL="73152" marR="73152" marT="36576" marB="36576">
                    <a:solidFill>
                      <a:srgbClr val="E8EEF6"/>
                    </a:solidFill>
                  </a:tcPr>
                </a:tc>
                <a:tc>
                  <a:txBody>
                    <a:bodyPr/>
                    <a:lstStyle/>
                    <a:p>
                      <a:r>
                        <a:rPr sz="1200" b="0">
                          <a:solidFill>
                            <a:srgbClr val="1F2937"/>
                          </a:solidFill>
                        </a:rPr>
                        <a:t>Tana va yo‘ldoshdan</a:t>
                      </a:r>
                    </a:p>
                  </a:txBody>
                  <a:tcPr marL="73152" marR="73152" marT="36576" marB="36576">
                    <a:solidFill>
                      <a:srgbClr val="E8EEF6"/>
                    </a:solidFill>
                  </a:tcPr>
                </a:tc>
              </a:tr>
              <a:tr h="411480">
                <a:tc>
                  <a:txBody>
                    <a:bodyPr/>
                    <a:lstStyle/>
                    <a:p>
                      <a:r>
                        <a:rPr sz="1200" b="0">
                          <a:solidFill>
                            <a:srgbClr val="1F2937"/>
                          </a:solidFill>
                        </a:rPr>
                        <a:t>Qon izi, mo‘msimon qoplama va b.</a:t>
                      </a:r>
                    </a:p>
                  </a:txBody>
                  <a:tcPr marL="73152" marR="73152" marT="36576" marB="36576">
                    <a:solidFill>
                      <a:srgbClr val="FFFFFF"/>
                    </a:solidFill>
                  </a:tcPr>
                </a:tc>
                <a:tc>
                  <a:txBody>
                    <a:bodyPr/>
                    <a:lstStyle/>
                    <a:p>
                      <a:r>
                        <a:rPr sz="1200" b="0">
                          <a:solidFill>
                            <a:srgbClr val="1F2937"/>
                          </a:solidFill>
                        </a:rPr>
                        <a:t>Nisbiy</a:t>
                      </a:r>
                    </a:p>
                  </a:txBody>
                  <a:tcPr marL="73152" marR="73152" marT="36576" marB="36576">
                    <a:solidFill>
                      <a:srgbClr val="FFFFFF"/>
                    </a:solidFill>
                  </a:tcPr>
                </a:tc>
                <a:tc>
                  <a:txBody>
                    <a:bodyPr/>
                    <a:lstStyle/>
                    <a:p>
                      <a:r>
                        <a:rPr sz="1200" b="0">
                          <a:solidFill>
                            <a:srgbClr val="1F2937"/>
                          </a:solidFill>
                        </a:rPr>
                        <a:t>Keyingi kunlarda ham bo‘ladi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Mutloq va nisbiy belgilar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258-259, 259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 yangi tug‘ilganmi?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onasi noma’lum go‘dak murdasi topildi. Tanada qon izlari va mo‘msimon qoplama bor, kindik tana va yo‘ldoshdan ajratilmagan.</a:t>
            </a:r>
          </a:p>
          <a:p>
            <a:pPr>
              <a:spcAft>
                <a:spcPts val="1200"/>
              </a:spcAft>
            </a:pPr>
            <a:r>
              <a:rPr sz="2200">
                <a:solidFill>
                  <a:srgbClr val="1F2937"/>
                </a:solidFill>
                <a:latin typeface="Calibri"/>
              </a:rPr>
              <a:t>▸  Savol: qaysi belgi mutloq, qaysi biri nisbiy? Qon izi va mo‘msimon qoplama nisbiy, ajratilmagan kindik esa mutloq.</a:t>
            </a:r>
          </a:p>
          <a:p>
            <a:pPr>
              <a:spcAft>
                <a:spcPts val="1200"/>
              </a:spcAft>
            </a:pPr>
            <a:r>
              <a:rPr sz="2200">
                <a:solidFill>
                  <a:srgbClr val="1F2937"/>
                </a:solidFill>
                <a:latin typeface="Calibri"/>
              </a:rPr>
              <a:t>▸  Qon izlari tana yuvilganda yo‘qoladi. Mo‘msimon qoplama yuvilmasa bir haftagacha saqlanishi mumkin.</a:t>
            </a:r>
          </a:p>
          <a:p>
            <a:pPr>
              <a:spcAft>
                <a:spcPts val="1200"/>
              </a:spcAft>
            </a:pPr>
            <a:r>
              <a:rPr sz="2200">
                <a:solidFill>
                  <a:srgbClr val="1F2937"/>
                </a:solidFill>
                <a:latin typeface="Calibri"/>
              </a:rPr>
              <a:t>▸  Xulosa asosi: ajratilmagan kindik mutloq belgi; qon izlari va mo‘msimon qoplama faqat qo‘shimcha (nisbiy) dalil.</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257-258, 258-259, 257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Tirik tug‘ilganlik mezonlari va o‘pka sinamasi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JSST mezonlari: nafas olish, yurak urishi, kindik pulsatsiyasi, ixtiyoriy harakat.</a:t>
            </a:r>
          </a:p>
          <a:p>
            <a:pPr>
              <a:spcAft>
                <a:spcPts val="800"/>
              </a:spcAft>
            </a:pPr>
            <a:r>
              <a:rPr sz="1800">
                <a:solidFill>
                  <a:srgbClr val="1F2937"/>
                </a:solidFill>
                <a:latin typeface="Calibri"/>
              </a:rPr>
              <a:t>▸  O‘limdan keyin yurak urishi, harakatni aniqlash usuli yo‘q; asosan nafas olgan-olmagani aniqlanadi.</a:t>
            </a:r>
          </a:p>
          <a:p>
            <a:pPr>
              <a:spcAft>
                <a:spcPts val="800"/>
              </a:spcAft>
            </a:pPr>
            <a:r>
              <a:rPr sz="1800">
                <a:solidFill>
                  <a:srgbClr val="1F2937"/>
                </a:solidFill>
                <a:latin typeface="Calibri"/>
              </a:rPr>
              <a:t>▸  Nafas olmagan o‘pka solishtirma og‘irligi 1,05-1,06; nafas olganida 1,0 dan past, ya’ni suvda suzadi.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Ligaturalar qo‘yish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Ko‘krak a’zolari suvli idishga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Cho‘ksa — manfiy</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Alohida o‘pka, bo‘lak, bo‘lakcha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Suzsa — musbat, to‘xtatiladi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O‘pka (Galen-Rauger-Shreer) sinamasi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O‘pka sinamasi: soxta natijalar va Taranuxin usuli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Soxta musbat natija chirish gazlari, sun’iy nafas oldirish va yaxshi erimagan muzlagan o‘pkada chiqishi mumkin.</a:t>
            </a:r>
          </a:p>
          <a:p>
            <a:pPr>
              <a:spcAft>
                <a:spcPts val="800"/>
              </a:spcAft>
            </a:pPr>
            <a:r>
              <a:rPr sz="1800">
                <a:solidFill>
                  <a:srgbClr val="1F2937"/>
                </a:solidFill>
                <a:latin typeface="Calibri"/>
              </a:rPr>
              <a:t>▸  Chirish gazidan qalqigan bo‘lakchalar suv ostida siqilsa qayta suzmaydi. To‘liq erigan muzlagan o‘pka cho‘kadi.</a:t>
            </a:r>
          </a:p>
          <a:p>
            <a:pPr>
              <a:spcAft>
                <a:spcPts val="800"/>
              </a:spcAft>
            </a:pPr>
            <a:r>
              <a:rPr sz="1800">
                <a:solidFill>
                  <a:srgbClr val="1F2937"/>
                </a:solidFill>
                <a:latin typeface="Calibri"/>
              </a:rPr>
              <a:t>▸  Soxta manfiy natija ikkilamchi atelektazda chiqadi. Bunda Taranuxin (1907) usuli yoki Traxtenberg (1958) modifikatsiyasi tavsiya etiladi.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429182"/>
                <a:gridCol w="1143345"/>
                <a:gridCol w="2715446"/>
              </a:tblGrid>
              <a:tr h="411480">
                <a:tc>
                  <a:txBody>
                    <a:bodyPr/>
                    <a:lstStyle/>
                    <a:p>
                      <a:r>
                        <a:rPr sz="1300" b="1">
                          <a:solidFill>
                            <a:srgbClr val="FFFFFF"/>
                          </a:solidFill>
                        </a:rPr>
                        <a:t>Holat</a:t>
                      </a:r>
                    </a:p>
                  </a:txBody>
                  <a:tcPr marL="73152" marR="73152" marT="36576" marB="36576">
                    <a:solidFill>
                      <a:srgbClr val="0B1F3A"/>
                    </a:solidFill>
                  </a:tcPr>
                </a:tc>
                <a:tc>
                  <a:txBody>
                    <a:bodyPr/>
                    <a:lstStyle/>
                    <a:p>
                      <a:r>
                        <a:rPr sz="1300" b="1">
                          <a:solidFill>
                            <a:srgbClr val="FFFFFF"/>
                          </a:solidFill>
                        </a:rPr>
                        <a:t>Natija</a:t>
                      </a:r>
                    </a:p>
                  </a:txBody>
                  <a:tcPr marL="73152" marR="73152" marT="36576" marB="36576">
                    <a:solidFill>
                      <a:srgbClr val="0B1F3A"/>
                    </a:solidFill>
                  </a:tcPr>
                </a:tc>
                <a:tc>
                  <a:txBody>
                    <a:bodyPr/>
                    <a:lstStyle/>
                    <a:p>
                      <a:r>
                        <a:rPr sz="1300" b="1">
                          <a:solidFill>
                            <a:srgbClr val="FFFFFF"/>
                          </a:solidFill>
                        </a:rPr>
                        <a:t>Yechim/izoh</a:t>
                      </a:r>
                    </a:p>
                  </a:txBody>
                  <a:tcPr marL="73152" marR="73152" marT="36576" marB="36576">
                    <a:solidFill>
                      <a:srgbClr val="0B1F3A"/>
                    </a:solidFill>
                  </a:tcPr>
                </a:tc>
              </a:tr>
              <a:tr h="411480">
                <a:tc>
                  <a:txBody>
                    <a:bodyPr/>
                    <a:lstStyle/>
                    <a:p>
                      <a:r>
                        <a:rPr sz="1200" b="0">
                          <a:solidFill>
                            <a:srgbClr val="1F2937"/>
                          </a:solidFill>
                        </a:rPr>
                        <a:t>Chirish gazlari</a:t>
                      </a:r>
                    </a:p>
                  </a:txBody>
                  <a:tcPr marL="73152" marR="73152" marT="36576" marB="36576">
                    <a:solidFill>
                      <a:srgbClr val="E8EEF6"/>
                    </a:solidFill>
                  </a:tcPr>
                </a:tc>
                <a:tc>
                  <a:txBody>
                    <a:bodyPr/>
                    <a:lstStyle/>
                    <a:p>
                      <a:r>
                        <a:rPr sz="1200" b="0">
                          <a:solidFill>
                            <a:srgbClr val="1F2937"/>
                          </a:solidFill>
                        </a:rPr>
                        <a:t>Soxta musbat</a:t>
                      </a:r>
                    </a:p>
                  </a:txBody>
                  <a:tcPr marL="73152" marR="73152" marT="36576" marB="36576">
                    <a:solidFill>
                      <a:srgbClr val="E8EEF6"/>
                    </a:solidFill>
                  </a:tcPr>
                </a:tc>
                <a:tc>
                  <a:txBody>
                    <a:bodyPr/>
                    <a:lstStyle/>
                    <a:p>
                      <a:r>
                        <a:rPr sz="1200" b="0">
                          <a:solidFill>
                            <a:srgbClr val="1F2937"/>
                          </a:solidFill>
                        </a:rPr>
                        <a:t>Suv ostida siqilsa, qayta suzmaydi</a:t>
                      </a:r>
                    </a:p>
                  </a:txBody>
                  <a:tcPr marL="73152" marR="73152" marT="36576" marB="36576">
                    <a:solidFill>
                      <a:srgbClr val="E8EEF6"/>
                    </a:solidFill>
                  </a:tcPr>
                </a:tc>
              </a:tr>
              <a:tr h="411480">
                <a:tc>
                  <a:txBody>
                    <a:bodyPr/>
                    <a:lstStyle/>
                    <a:p>
                      <a:r>
                        <a:rPr sz="1200" b="0">
                          <a:solidFill>
                            <a:srgbClr val="1F2937"/>
                          </a:solidFill>
                        </a:rPr>
                        <a:t>Sun’iy nafas</a:t>
                      </a:r>
                    </a:p>
                  </a:txBody>
                  <a:tcPr marL="73152" marR="73152" marT="36576" marB="36576">
                    <a:solidFill>
                      <a:srgbClr val="FFFFFF"/>
                    </a:solidFill>
                  </a:tcPr>
                </a:tc>
                <a:tc>
                  <a:txBody>
                    <a:bodyPr/>
                    <a:lstStyle/>
                    <a:p>
                      <a:r>
                        <a:rPr sz="1200" b="0">
                          <a:solidFill>
                            <a:srgbClr val="1F2937"/>
                          </a:solidFill>
                        </a:rPr>
                        <a:t>Soxta musbat</a:t>
                      </a:r>
                    </a:p>
                  </a:txBody>
                  <a:tcPr marL="73152" marR="73152" marT="36576" marB="36576">
                    <a:solidFill>
                      <a:srgbClr val="FFFFFF"/>
                    </a:solidFill>
                  </a:tcPr>
                </a:tc>
                <a:tc>
                  <a:txBody>
                    <a:bodyPr/>
                    <a:lstStyle/>
                    <a:p>
                      <a:r>
                        <a:rPr sz="1200" b="0">
                          <a:solidFill>
                            <a:srgbClr val="1F2937"/>
                          </a:solidFill>
                        </a:rPr>
                        <a:t>Bo‘lakchalar suzishi bir xil bo‘lmaydi</a:t>
                      </a:r>
                    </a:p>
                  </a:txBody>
                  <a:tcPr marL="73152" marR="73152" marT="36576" marB="36576">
                    <a:solidFill>
                      <a:srgbClr val="FFFFFF"/>
                    </a:solidFill>
                  </a:tcPr>
                </a:tc>
              </a:tr>
              <a:tr h="411480">
                <a:tc>
                  <a:txBody>
                    <a:bodyPr/>
                    <a:lstStyle/>
                    <a:p>
                      <a:r>
                        <a:rPr sz="1200" b="0">
                          <a:solidFill>
                            <a:srgbClr val="1F2937"/>
                          </a:solidFill>
                        </a:rPr>
                        <a:t>Muzlagan o‘pka</a:t>
                      </a:r>
                    </a:p>
                  </a:txBody>
                  <a:tcPr marL="73152" marR="73152" marT="36576" marB="36576">
                    <a:solidFill>
                      <a:srgbClr val="E8EEF6"/>
                    </a:solidFill>
                  </a:tcPr>
                </a:tc>
                <a:tc>
                  <a:txBody>
                    <a:bodyPr/>
                    <a:lstStyle/>
                    <a:p>
                      <a:r>
                        <a:rPr sz="1200" b="0">
                          <a:solidFill>
                            <a:srgbClr val="1F2937"/>
                          </a:solidFill>
                        </a:rPr>
                        <a:t>Soxta musbat</a:t>
                      </a:r>
                    </a:p>
                  </a:txBody>
                  <a:tcPr marL="73152" marR="73152" marT="36576" marB="36576">
                    <a:solidFill>
                      <a:srgbClr val="E8EEF6"/>
                    </a:solidFill>
                  </a:tcPr>
                </a:tc>
                <a:tc>
                  <a:txBody>
                    <a:bodyPr/>
                    <a:lstStyle/>
                    <a:p>
                      <a:r>
                        <a:rPr sz="1200" b="0">
                          <a:solidFill>
                            <a:srgbClr val="1F2937"/>
                          </a:solidFill>
                        </a:rPr>
                        <a:t>To‘liq eritilsa, suvda cho‘kadi</a:t>
                      </a:r>
                    </a:p>
                  </a:txBody>
                  <a:tcPr marL="73152" marR="73152" marT="36576" marB="36576">
                    <a:solidFill>
                      <a:srgbClr val="E8EEF6"/>
                    </a:solidFill>
                  </a:tcPr>
                </a:tc>
              </a:tr>
              <a:tr h="411480">
                <a:tc>
                  <a:txBody>
                    <a:bodyPr/>
                    <a:lstStyle/>
                    <a:p>
                      <a:r>
                        <a:rPr sz="1200" b="0">
                          <a:solidFill>
                            <a:srgbClr val="1F2937"/>
                          </a:solidFill>
                        </a:rPr>
                        <a:t>Ikkilamchi atelektaz</a:t>
                      </a:r>
                    </a:p>
                  </a:txBody>
                  <a:tcPr marL="73152" marR="73152" marT="36576" marB="36576">
                    <a:solidFill>
                      <a:srgbClr val="FFFFFF"/>
                    </a:solidFill>
                  </a:tcPr>
                </a:tc>
                <a:tc>
                  <a:txBody>
                    <a:bodyPr/>
                    <a:lstStyle/>
                    <a:p>
                      <a:r>
                        <a:rPr sz="1200" b="0">
                          <a:solidFill>
                            <a:srgbClr val="1F2937"/>
                          </a:solidFill>
                        </a:rPr>
                        <a:t>Soxta manfiy</a:t>
                      </a:r>
                    </a:p>
                  </a:txBody>
                  <a:tcPr marL="73152" marR="73152" marT="36576" marB="36576">
                    <a:solidFill>
                      <a:srgbClr val="FFFFFF"/>
                    </a:solidFill>
                  </a:tcPr>
                </a:tc>
                <a:tc>
                  <a:txBody>
                    <a:bodyPr/>
                    <a:lstStyle/>
                    <a:p>
                      <a:r>
                        <a:rPr sz="1200" b="0">
                          <a:solidFill>
                            <a:srgbClr val="1F2937"/>
                          </a:solidFill>
                        </a:rPr>
                        <a:t>Taranuxin: past bosimli kolba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Soxta natijalar va yechim</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Oshqozon-ichak va rentgenologik sinamalar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Breslau (1865) sinamasi: nafas olganda havoning bir qismi qizilo‘ngach orqali oshqozon va ichaklarga o‘tadi. Ligaturalangan a’zolar suvga solinadi, havoli joylar suzib chiqadi.</a:t>
            </a:r>
          </a:p>
          <a:p>
            <a:pPr>
              <a:spcAft>
                <a:spcPts val="1200"/>
              </a:spcAft>
            </a:pPr>
            <a:r>
              <a:rPr sz="2000">
                <a:solidFill>
                  <a:srgbClr val="1F2937"/>
                </a:solidFill>
                <a:latin typeface="Calibri"/>
              </a:rPr>
              <a:t>▸  Tirik tug‘ilganlarda havo oshqozon-ichakka asta-sekin o‘tadi. Shu sababli sinama chaqaloq qancha vaqt yashaganini baholashga ham yordam beradi.</a:t>
            </a:r>
          </a:p>
          <a:p>
            <a:pPr>
              <a:spcAft>
                <a:spcPts val="1200"/>
              </a:spcAft>
            </a:pPr>
            <a:r>
              <a:rPr sz="2000">
                <a:solidFill>
                  <a:srgbClr val="1F2937"/>
                </a:solidFill>
                <a:latin typeface="Calibri"/>
              </a:rPr>
              <a:t>▸  Chirish gazlari va o‘pkaning sun’iy ventillyasiyasi soxta musbat beradi. Shuning uchun bunday hollarda bu sinama tavsiya etilmaydi.</a:t>
            </a:r>
          </a:p>
          <a:p>
            <a:pPr>
              <a:spcAft>
                <a:spcPts val="1200"/>
              </a:spcAft>
            </a:pPr>
            <a:r>
              <a:rPr sz="2000">
                <a:solidFill>
                  <a:srgbClr val="1F2937"/>
                </a:solidFill>
                <a:latin typeface="Calibri"/>
              </a:rPr>
              <a:t>▸  Rentgen (Dillon, 1939) nafas olgan o‘pkani sun’iy ventillyasiya va chirish gazidan ajratolmaydi. Maxsus jihoz kerak, shuning uchun amaliyotda qo‘llanmaydi.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Nafas olgan va olmagan o‘pka: makro va mikro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Gialin membranalar bir necha soat yashaganlarda topiladi. Nafas olmagan o‘pkada ular bo‘lmaydi.</a:t>
            </a:r>
          </a:p>
          <a:p>
            <a:pPr>
              <a:spcAft>
                <a:spcPts val="800"/>
              </a:spcAft>
            </a:pPr>
            <a:r>
              <a:rPr sz="1800">
                <a:solidFill>
                  <a:srgbClr val="1F2937"/>
                </a:solidFill>
                <a:latin typeface="Calibri"/>
              </a:rPr>
              <a:t>▸  O‘lik tug‘ilganda kichik va o‘rta o‘pka arteriyalari ichida kurtaksimon, yostiqsimon bo‘rtiqlar bo‘ladi.</a:t>
            </a:r>
          </a:p>
          <a:p>
            <a:pPr>
              <a:spcAft>
                <a:spcPts val="800"/>
              </a:spcAft>
            </a:pPr>
            <a:r>
              <a:rPr sz="1800">
                <a:solidFill>
                  <a:srgbClr val="1F2937"/>
                </a:solidFill>
                <a:latin typeface="Calibri"/>
              </a:rPr>
              <a:t>▸  O‘pka vazni: nafas olmaganda 55-60 g, nafas olgach qon aylanishi boshlanib, 85-90 g ga yetadi.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977125"/>
                <a:gridCol w="2184163"/>
                <a:gridCol w="2126685"/>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Nafas olmagan</a:t>
                      </a:r>
                    </a:p>
                  </a:txBody>
                  <a:tcPr marL="73152" marR="73152" marT="36576" marB="36576">
                    <a:solidFill>
                      <a:srgbClr val="0B1F3A"/>
                    </a:solidFill>
                  </a:tcPr>
                </a:tc>
                <a:tc>
                  <a:txBody>
                    <a:bodyPr/>
                    <a:lstStyle/>
                    <a:p>
                      <a:r>
                        <a:rPr sz="1300" b="1">
                          <a:solidFill>
                            <a:srgbClr val="FFFFFF"/>
                          </a:solidFill>
                        </a:rPr>
                        <a:t>Nafas olgan</a:t>
                      </a:r>
                    </a:p>
                  </a:txBody>
                  <a:tcPr marL="73152" marR="73152" marT="36576" marB="36576">
                    <a:solidFill>
                      <a:srgbClr val="0B1F3A"/>
                    </a:solidFill>
                  </a:tcPr>
                </a:tc>
              </a:tr>
              <a:tr h="411480">
                <a:tc>
                  <a:txBody>
                    <a:bodyPr/>
                    <a:lstStyle/>
                    <a:p>
                      <a:r>
                        <a:rPr sz="1200" b="0">
                          <a:solidFill>
                            <a:srgbClr val="1F2937"/>
                          </a:solidFill>
                        </a:rPr>
                        <a:t>Ko‘krak qafasi</a:t>
                      </a:r>
                    </a:p>
                  </a:txBody>
                  <a:tcPr marL="73152" marR="73152" marT="36576" marB="36576">
                    <a:solidFill>
                      <a:srgbClr val="E8EEF6"/>
                    </a:solidFill>
                  </a:tcPr>
                </a:tc>
                <a:tc>
                  <a:txBody>
                    <a:bodyPr/>
                    <a:lstStyle/>
                    <a:p>
                      <a:r>
                        <a:rPr sz="1200" b="0">
                          <a:solidFill>
                            <a:srgbClr val="1F2937"/>
                          </a:solidFill>
                        </a:rPr>
                        <a:t>Yassi; diafragma IV-V qobirg‘a sathida</a:t>
                      </a:r>
                    </a:p>
                  </a:txBody>
                  <a:tcPr marL="73152" marR="73152" marT="36576" marB="36576">
                    <a:solidFill>
                      <a:srgbClr val="E8EEF6"/>
                    </a:solidFill>
                  </a:tcPr>
                </a:tc>
                <a:tc>
                  <a:txBody>
                    <a:bodyPr/>
                    <a:lstStyle/>
                    <a:p>
                      <a:r>
                        <a:rPr sz="1200" b="0">
                          <a:solidFill>
                            <a:srgbClr val="1F2937"/>
                          </a:solidFill>
                        </a:rPr>
                        <a:t>Bochkasimon; diafragma VI-VII sathida</a:t>
                      </a:r>
                    </a:p>
                  </a:txBody>
                  <a:tcPr marL="73152" marR="73152" marT="36576" marB="36576">
                    <a:solidFill>
                      <a:srgbClr val="E8EEF6"/>
                    </a:solidFill>
                  </a:tcPr>
                </a:tc>
              </a:tr>
              <a:tr h="411480">
                <a:tc>
                  <a:txBody>
                    <a:bodyPr/>
                    <a:lstStyle/>
                    <a:p>
                      <a:r>
                        <a:rPr sz="1200" b="0">
                          <a:solidFill>
                            <a:srgbClr val="1F2937"/>
                          </a:solidFill>
                        </a:rPr>
                        <a:t>O‘pka rangi</a:t>
                      </a:r>
                    </a:p>
                  </a:txBody>
                  <a:tcPr marL="73152" marR="73152" marT="36576" marB="36576">
                    <a:solidFill>
                      <a:srgbClr val="FFFFFF"/>
                    </a:solidFill>
                  </a:tcPr>
                </a:tc>
                <a:tc>
                  <a:txBody>
                    <a:bodyPr/>
                    <a:lstStyle/>
                    <a:p>
                      <a:r>
                        <a:rPr sz="1200" b="0">
                          <a:solidFill>
                            <a:srgbClr val="1F2937"/>
                          </a:solidFill>
                        </a:rPr>
                        <a:t>Bir xil ko‘kimtir-to‘q qizil</a:t>
                      </a:r>
                    </a:p>
                  </a:txBody>
                  <a:tcPr marL="73152" marR="73152" marT="36576" marB="36576">
                    <a:solidFill>
                      <a:srgbClr val="FFFFFF"/>
                    </a:solidFill>
                  </a:tcPr>
                </a:tc>
                <a:tc>
                  <a:txBody>
                    <a:bodyPr/>
                    <a:lstStyle/>
                    <a:p>
                      <a:r>
                        <a:rPr sz="1200" b="0">
                          <a:solidFill>
                            <a:srgbClr val="1F2937"/>
                          </a:solidFill>
                        </a:rPr>
                        <a:t>Marmarsimon (Bush-Xaberda belgisi)</a:t>
                      </a:r>
                    </a:p>
                  </a:txBody>
                  <a:tcPr marL="73152" marR="73152" marT="36576" marB="36576">
                    <a:solidFill>
                      <a:srgbClr val="FFFFFF"/>
                    </a:solidFill>
                  </a:tcPr>
                </a:tc>
              </a:tr>
              <a:tr h="411480">
                <a:tc>
                  <a:txBody>
                    <a:bodyPr/>
                    <a:lstStyle/>
                    <a:p>
                      <a:r>
                        <a:rPr sz="1200" b="0">
                          <a:solidFill>
                            <a:srgbClr val="1F2937"/>
                          </a:solidFill>
                        </a:rPr>
                        <a:t>Alveola, epiteliy</a:t>
                      </a:r>
                    </a:p>
                  </a:txBody>
                  <a:tcPr marL="73152" marR="73152" marT="36576" marB="36576">
                    <a:solidFill>
                      <a:srgbClr val="E8EEF6"/>
                    </a:solidFill>
                  </a:tcPr>
                </a:tc>
                <a:tc>
                  <a:txBody>
                    <a:bodyPr/>
                    <a:lstStyle/>
                    <a:p>
                      <a:r>
                        <a:rPr sz="1200" b="0">
                          <a:solidFill>
                            <a:srgbClr val="1F2937"/>
                          </a:solidFill>
                        </a:rPr>
                        <a:t>Yoyilmagan; kubsimon</a:t>
                      </a:r>
                    </a:p>
                  </a:txBody>
                  <a:tcPr marL="73152" marR="73152" marT="36576" marB="36576">
                    <a:solidFill>
                      <a:srgbClr val="E8EEF6"/>
                    </a:solidFill>
                  </a:tcPr>
                </a:tc>
                <a:tc>
                  <a:txBody>
                    <a:bodyPr/>
                    <a:lstStyle/>
                    <a:p>
                      <a:r>
                        <a:rPr sz="1200" b="0">
                          <a:solidFill>
                            <a:srgbClr val="1F2937"/>
                          </a:solidFill>
                        </a:rPr>
                        <a:t>Yoyilgan; yassi</a:t>
                      </a:r>
                    </a:p>
                  </a:txBody>
                  <a:tcPr marL="73152" marR="73152" marT="36576" marB="36576">
                    <a:solidFill>
                      <a:srgbClr val="E8EEF6"/>
                    </a:solidFill>
                  </a:tcPr>
                </a:tc>
              </a:tr>
              <a:tr h="411480">
                <a:tc>
                  <a:txBody>
                    <a:bodyPr/>
                    <a:lstStyle/>
                    <a:p>
                      <a:r>
                        <a:rPr sz="1200" b="0">
                          <a:solidFill>
                            <a:srgbClr val="1F2937"/>
                          </a:solidFill>
                        </a:rPr>
                        <a:t>To‘siq, kapillyar</a:t>
                      </a:r>
                    </a:p>
                  </a:txBody>
                  <a:tcPr marL="73152" marR="73152" marT="36576" marB="36576">
                    <a:solidFill>
                      <a:srgbClr val="FFFFFF"/>
                    </a:solidFill>
                  </a:tcPr>
                </a:tc>
                <a:tc>
                  <a:txBody>
                    <a:bodyPr/>
                    <a:lstStyle/>
                    <a:p>
                      <a:r>
                        <a:rPr sz="1200" b="0">
                          <a:solidFill>
                            <a:srgbClr val="1F2937"/>
                          </a:solidFill>
                        </a:rPr>
                        <a:t>Qalin; kapillyarlarda qon yo‘q</a:t>
                      </a:r>
                    </a:p>
                  </a:txBody>
                  <a:tcPr marL="73152" marR="73152" marT="36576" marB="36576">
                    <a:solidFill>
                      <a:srgbClr val="FFFFFF"/>
                    </a:solidFill>
                  </a:tcPr>
                </a:tc>
                <a:tc>
                  <a:txBody>
                    <a:bodyPr/>
                    <a:lstStyle/>
                    <a:p>
                      <a:r>
                        <a:rPr sz="1200" b="0">
                          <a:solidFill>
                            <a:srgbClr val="1F2937"/>
                          </a:solidFill>
                        </a:rPr>
                        <a:t>Ingichka; kapillyarlar to‘laqon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Nafas olmagan va olgan o‘pka</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261, 260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1: tirik tug‘ilganlik sinamalari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Chirish, sun’iy nafas oldirish va yaxshi erimagan muzlagan o‘pkada o‘pka sinamasi soxta musbat natija berishi mumkin.</a:t>
            </a:r>
          </a:p>
          <a:p>
            <a:pPr>
              <a:spcAft>
                <a:spcPts val="1200"/>
              </a:spcAft>
            </a:pPr>
            <a:r>
              <a:rPr sz="2200">
                <a:solidFill>
                  <a:srgbClr val="1F2937"/>
                </a:solidFill>
                <a:latin typeface="Calibri"/>
              </a:rPr>
              <a:t>▸  Chirish gazidan qalqigan bo‘lakchalar suv ostida siqilsa, qayta suzib chiqmaydi. To‘liq eritilgan muzlagan o‘pka esa cho‘kadi.</a:t>
            </a:r>
          </a:p>
          <a:p>
            <a:pPr>
              <a:spcAft>
                <a:spcPts val="1200"/>
              </a:spcAft>
            </a:pPr>
            <a:r>
              <a:rPr sz="2200">
                <a:solidFill>
                  <a:srgbClr val="1F2937"/>
                </a:solidFill>
                <a:latin typeface="Calibri"/>
              </a:rPr>
              <a:t>▸  Ikkilamchi atelektazda sinama soxta manfiy bo‘lishi mumkin. Bunda Taranuxin usuli (1907) yoki Traxtenberg modifikatsiyasi tavsiya etiladi.</a:t>
            </a:r>
          </a:p>
          <a:p>
            <a:pPr>
              <a:spcAft>
                <a:spcPts val="1200"/>
              </a:spcAft>
            </a:pPr>
            <a:r>
              <a:rPr sz="2200">
                <a:solidFill>
                  <a:srgbClr val="1F2937"/>
                </a:solidFill>
                <a:latin typeface="Calibri"/>
              </a:rPr>
              <a:t>▸  Diqqat: chirish va sun’iy nafas oldirish holatlarida oshqozon-ichak sinamasi soxta musbat beradi, shuning uchun tavsiya etilmaydi.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259, 260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Gestatsion yosh: rasolik, yetuklik va formulalar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Rasolik: homiladorlik o‘rtacha 10 oy (280 kun), 37-42 hafta. Bo‘yi 50-54 sm, vazni 3000-3500 g.</a:t>
            </a:r>
          </a:p>
          <a:p>
            <a:pPr>
              <a:spcAft>
                <a:spcPts val="800"/>
              </a:spcAft>
            </a:pPr>
            <a:r>
              <a:rPr sz="1800">
                <a:solidFill>
                  <a:srgbClr val="1F2937"/>
                </a:solidFill>
                <a:latin typeface="Calibri"/>
              </a:rPr>
              <a:t>▸  Yetuk homila: tana uzunligi kamida 45 sm, vazni 2500 g dan kam emas.</a:t>
            </a:r>
          </a:p>
          <a:p>
            <a:pPr>
              <a:spcAft>
                <a:spcPts val="800"/>
              </a:spcAft>
            </a:pPr>
            <a:r>
              <a:rPr sz="1800">
                <a:solidFill>
                  <a:srgbClr val="1F2937"/>
                </a:solidFill>
                <a:latin typeface="Calibri"/>
              </a:rPr>
              <a:t>▸  Diqqat: rasolik ≠ yetuklik. Tergov uchun ular homiladorlik muddati va hayotga layoqatni hal etishda muhim.</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262800"/>
                <a:gridCol w="2367750"/>
                <a:gridCol w="1657425"/>
              </a:tblGrid>
              <a:tr h="411480">
                <a:tc>
                  <a:txBody>
                    <a:bodyPr/>
                    <a:lstStyle/>
                    <a:p>
                      <a:r>
                        <a:rPr sz="1300" b="1">
                          <a:solidFill>
                            <a:srgbClr val="FFFFFF"/>
                          </a:solidFill>
                        </a:rPr>
                        <a:t>Usul</a:t>
                      </a:r>
                    </a:p>
                  </a:txBody>
                  <a:tcPr marL="73152" marR="73152" marT="36576" marB="36576">
                    <a:solidFill>
                      <a:srgbClr val="0B1F3A"/>
                    </a:solidFill>
                  </a:tcPr>
                </a:tc>
                <a:tc>
                  <a:txBody>
                    <a:bodyPr/>
                    <a:lstStyle/>
                    <a:p>
                      <a:r>
                        <a:rPr sz="1300" b="1">
                          <a:solidFill>
                            <a:srgbClr val="FFFFFF"/>
                          </a:solidFill>
                        </a:rPr>
                        <a:t>Formula</a:t>
                      </a:r>
                    </a:p>
                  </a:txBody>
                  <a:tcPr marL="73152" marR="73152" marT="36576" marB="36576">
                    <a:solidFill>
                      <a:srgbClr val="0B1F3A"/>
                    </a:solidFill>
                  </a:tcPr>
                </a:tc>
                <a:tc>
                  <a:txBody>
                    <a:bodyPr/>
                    <a:lstStyle/>
                    <a:p>
                      <a:r>
                        <a:rPr sz="1300" b="1">
                          <a:solidFill>
                            <a:srgbClr val="FFFFFF"/>
                          </a:solidFill>
                        </a:rPr>
                        <a:t>Misol</a:t>
                      </a:r>
                    </a:p>
                  </a:txBody>
                  <a:tcPr marL="73152" marR="73152" marT="36576" marB="36576">
                    <a:solidFill>
                      <a:srgbClr val="0B1F3A"/>
                    </a:solidFill>
                  </a:tcPr>
                </a:tc>
              </a:tr>
              <a:tr h="411480">
                <a:tc>
                  <a:txBody>
                    <a:bodyPr/>
                    <a:lstStyle/>
                    <a:p>
                      <a:r>
                        <a:rPr sz="1200" b="0">
                          <a:solidFill>
                            <a:srgbClr val="1F2937"/>
                          </a:solidFill>
                        </a:rPr>
                        <a:t>Gaaze (1-yarim)</a:t>
                      </a:r>
                    </a:p>
                  </a:txBody>
                  <a:tcPr marL="73152" marR="73152" marT="36576" marB="36576">
                    <a:solidFill>
                      <a:srgbClr val="E8EEF6"/>
                    </a:solidFill>
                  </a:tcPr>
                </a:tc>
                <a:tc>
                  <a:txBody>
                    <a:bodyPr/>
                    <a:lstStyle/>
                    <a:p>
                      <a:r>
                        <a:rPr sz="1200" b="0">
                          <a:solidFill>
                            <a:srgbClr val="1F2937"/>
                          </a:solidFill>
                        </a:rPr>
                        <a:t>tana uzunligidan kvadrat ildiz</a:t>
                      </a:r>
                    </a:p>
                  </a:txBody>
                  <a:tcPr marL="73152" marR="73152" marT="36576" marB="36576">
                    <a:solidFill>
                      <a:srgbClr val="E8EEF6"/>
                    </a:solidFill>
                  </a:tcPr>
                </a:tc>
                <a:tc>
                  <a:txBody>
                    <a:bodyPr/>
                    <a:lstStyle/>
                    <a:p>
                      <a:r>
                        <a:rPr sz="1200" b="0">
                          <a:solidFill>
                            <a:srgbClr val="1F2937"/>
                          </a:solidFill>
                        </a:rPr>
                        <a:t>16 sm → 4 homila oyi</a:t>
                      </a:r>
                    </a:p>
                  </a:txBody>
                  <a:tcPr marL="73152" marR="73152" marT="36576" marB="36576">
                    <a:solidFill>
                      <a:srgbClr val="E8EEF6"/>
                    </a:solidFill>
                  </a:tcPr>
                </a:tc>
              </a:tr>
              <a:tr h="411480">
                <a:tc>
                  <a:txBody>
                    <a:bodyPr/>
                    <a:lstStyle/>
                    <a:p>
                      <a:r>
                        <a:rPr sz="1200" b="0">
                          <a:solidFill>
                            <a:srgbClr val="1F2937"/>
                          </a:solidFill>
                        </a:rPr>
                        <a:t>Gaaze (2-yarim)</a:t>
                      </a:r>
                    </a:p>
                  </a:txBody>
                  <a:tcPr marL="73152" marR="73152" marT="36576" marB="36576">
                    <a:solidFill>
                      <a:srgbClr val="FFFFFF"/>
                    </a:solidFill>
                  </a:tcPr>
                </a:tc>
                <a:tc>
                  <a:txBody>
                    <a:bodyPr/>
                    <a:lstStyle/>
                    <a:p>
                      <a:r>
                        <a:rPr sz="1200" b="0">
                          <a:solidFill>
                            <a:srgbClr val="1F2937"/>
                          </a:solidFill>
                        </a:rPr>
                        <a:t>tana uzunligi ÷ 5</a:t>
                      </a:r>
                    </a:p>
                  </a:txBody>
                  <a:tcPr marL="73152" marR="73152" marT="36576" marB="36576">
                    <a:solidFill>
                      <a:srgbClr val="FFFFFF"/>
                    </a:solidFill>
                  </a:tcPr>
                </a:tc>
                <a:tc>
                  <a:txBody>
                    <a:bodyPr/>
                    <a:lstStyle/>
                    <a:p>
                      <a:r>
                        <a:rPr sz="1200" b="0">
                          <a:solidFill>
                            <a:srgbClr val="1F2937"/>
                          </a:solidFill>
                        </a:rPr>
                        <a:t>40 sm → 8 homila oyi</a:t>
                      </a:r>
                    </a:p>
                  </a:txBody>
                  <a:tcPr marL="73152" marR="73152" marT="36576" marB="36576">
                    <a:solidFill>
                      <a:srgbClr val="FFFFFF"/>
                    </a:solidFill>
                  </a:tcPr>
                </a:tc>
              </a:tr>
              <a:tr h="411480">
                <a:tc>
                  <a:txBody>
                    <a:bodyPr/>
                    <a:lstStyle/>
                    <a:p>
                      <a:r>
                        <a:rPr sz="1200" b="0">
                          <a:solidFill>
                            <a:srgbClr val="1F2937"/>
                          </a:solidFill>
                        </a:rPr>
                        <a:t>Baltazar-Derve</a:t>
                      </a:r>
                    </a:p>
                  </a:txBody>
                  <a:tcPr marL="73152" marR="73152" marT="36576" marB="36576">
                    <a:solidFill>
                      <a:srgbClr val="E8EEF6"/>
                    </a:solidFill>
                  </a:tcPr>
                </a:tc>
                <a:tc>
                  <a:txBody>
                    <a:bodyPr/>
                    <a:lstStyle/>
                    <a:p>
                      <a:r>
                        <a:rPr sz="1200" b="0">
                          <a:solidFill>
                            <a:srgbClr val="1F2937"/>
                          </a:solidFill>
                        </a:rPr>
                        <a:t>tana uzunligi × 5,6 (kun)</a:t>
                      </a:r>
                    </a:p>
                  </a:txBody>
                  <a:tcPr marL="73152" marR="73152" marT="36576" marB="36576">
                    <a:solidFill>
                      <a:srgbClr val="E8EEF6"/>
                    </a:solidFill>
                  </a:tcPr>
                </a:tc>
                <a:tc>
                  <a:txBody>
                    <a:bodyPr/>
                    <a:lstStyle/>
                    <a:p>
                      <a:r>
                        <a:rPr sz="1200" b="0">
                          <a:solidFill>
                            <a:srgbClr val="1F2937"/>
                          </a:solidFill>
                        </a:rPr>
                        <a:t>40 sm → 224 kun</a:t>
                      </a:r>
                    </a:p>
                  </a:txBody>
                  <a:tcPr marL="73152" marR="73152" marT="36576" marB="36576">
                    <a:solidFill>
                      <a:srgbClr val="E8EEF6"/>
                    </a:solidFill>
                  </a:tcPr>
                </a:tc>
              </a:tr>
              <a:tr h="411480">
                <a:tc>
                  <a:txBody>
                    <a:bodyPr/>
                    <a:lstStyle/>
                    <a:p>
                      <a:r>
                        <a:rPr sz="1200" b="0">
                          <a:solidFill>
                            <a:srgbClr val="1F2937"/>
                          </a:solidFill>
                        </a:rPr>
                        <a:t>Yakupov</a:t>
                      </a:r>
                    </a:p>
                  </a:txBody>
                  <a:tcPr marL="73152" marR="73152" marT="36576" marB="36576">
                    <a:solidFill>
                      <a:srgbClr val="FFFFFF"/>
                    </a:solidFill>
                  </a:tcPr>
                </a:tc>
                <a:tc>
                  <a:txBody>
                    <a:bodyPr/>
                    <a:lstStyle/>
                    <a:p>
                      <a:r>
                        <a:rPr sz="1200" b="0">
                          <a:solidFill>
                            <a:srgbClr val="1F2937"/>
                          </a:solidFill>
                        </a:rPr>
                        <a:t>bosh aylanasi ÷ 3,4</a:t>
                      </a:r>
                    </a:p>
                  </a:txBody>
                  <a:tcPr marL="73152" marR="73152" marT="36576" marB="36576">
                    <a:solidFill>
                      <a:srgbClr val="FFFFFF"/>
                    </a:solidFill>
                  </a:tcPr>
                </a:tc>
                <a:tc>
                  <a:txBody>
                    <a:bodyPr/>
                    <a:lstStyle/>
                    <a:p>
                      <a:r>
                        <a:rPr sz="1200" b="0">
                          <a:solidFill>
                            <a:srgbClr val="1F2937"/>
                          </a:solidFill>
                        </a:rPr>
                        <a:t>34 sm → 10 homila oyi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Gestatsion yoshni hisoblash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261-262, 262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Gestatsion yosh: suyaklanish o‘zaklari, kindik, yo‘ldosh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Kindik va yo‘ldosh: VI oyda 38 sm va 250 g, X oyda 50 sm va 500 g.</a:t>
            </a:r>
          </a:p>
          <a:p>
            <a:pPr>
              <a:spcAft>
                <a:spcPts val="800"/>
              </a:spcAft>
            </a:pPr>
            <a:r>
              <a:rPr sz="1800">
                <a:solidFill>
                  <a:srgbClr val="1F2937"/>
                </a:solidFill>
                <a:latin typeface="Calibri"/>
              </a:rPr>
              <a:t>▸  Yutish refleksi VIII oyda paydo bo‘ladi; mekoniyda tuk topilishi — Shibkov-Markovin belgisi.</a:t>
            </a:r>
          </a:p>
          <a:p>
            <a:pPr>
              <a:spcAft>
                <a:spcPts val="800"/>
              </a:spcAft>
            </a:pPr>
            <a:r>
              <a:rPr sz="1800">
                <a:solidFill>
                  <a:srgbClr val="1F2937"/>
                </a:solidFill>
                <a:latin typeface="Calibri"/>
              </a:rPr>
              <a:t>▸  Homiladorlik patologiyasi va zararli odatlar o‘zaklarni kechiktiradi, ba’zan umuman bo‘lmasligi mumkin.</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2313489"/>
                <a:gridCol w="1652492"/>
                <a:gridCol w="1321993"/>
              </a:tblGrid>
              <a:tr h="411480">
                <a:tc>
                  <a:txBody>
                    <a:bodyPr/>
                    <a:lstStyle/>
                    <a:p>
                      <a:r>
                        <a:rPr sz="1300" b="1">
                          <a:solidFill>
                            <a:srgbClr val="FFFFFF"/>
                          </a:solidFill>
                        </a:rPr>
                        <a:t>Suyak</a:t>
                      </a:r>
                    </a:p>
                  </a:txBody>
                  <a:tcPr marL="73152" marR="73152" marT="36576" marB="36576">
                    <a:solidFill>
                      <a:srgbClr val="0B1F3A"/>
                    </a:solidFill>
                  </a:tcPr>
                </a:tc>
                <a:tc>
                  <a:txBody>
                    <a:bodyPr/>
                    <a:lstStyle/>
                    <a:p>
                      <a:r>
                        <a:rPr sz="1300" b="1">
                          <a:solidFill>
                            <a:srgbClr val="FFFFFF"/>
                          </a:solidFill>
                        </a:rPr>
                        <a:t>Paydo bo‘lishi</a:t>
                      </a:r>
                    </a:p>
                  </a:txBody>
                  <a:tcPr marL="73152" marR="73152" marT="36576" marB="36576">
                    <a:solidFill>
                      <a:srgbClr val="0B1F3A"/>
                    </a:solidFill>
                  </a:tcPr>
                </a:tc>
                <a:tc>
                  <a:txBody>
                    <a:bodyPr/>
                    <a:lstStyle/>
                    <a:p>
                      <a:r>
                        <a:rPr sz="1300" b="1">
                          <a:solidFill>
                            <a:srgbClr val="FFFFFF"/>
                          </a:solidFill>
                        </a:rPr>
                        <a:t>Diametri</a:t>
                      </a:r>
                    </a:p>
                  </a:txBody>
                  <a:tcPr marL="73152" marR="73152" marT="36576" marB="36576">
                    <a:solidFill>
                      <a:srgbClr val="0B1F3A"/>
                    </a:solidFill>
                  </a:tcPr>
                </a:tc>
              </a:tr>
              <a:tr h="411480">
                <a:tc>
                  <a:txBody>
                    <a:bodyPr/>
                    <a:lstStyle/>
                    <a:p>
                      <a:r>
                        <a:rPr sz="1200" b="0">
                          <a:solidFill>
                            <a:srgbClr val="1F2937"/>
                          </a:solidFill>
                        </a:rPr>
                        <a:t>Tovon suyagi</a:t>
                      </a:r>
                    </a:p>
                  </a:txBody>
                  <a:tcPr marL="73152" marR="73152" marT="36576" marB="36576">
                    <a:solidFill>
                      <a:srgbClr val="E8EEF6"/>
                    </a:solidFill>
                  </a:tcPr>
                </a:tc>
                <a:tc>
                  <a:txBody>
                    <a:bodyPr/>
                    <a:lstStyle/>
                    <a:p>
                      <a:r>
                        <a:rPr sz="1200" b="0">
                          <a:solidFill>
                            <a:srgbClr val="1F2937"/>
                          </a:solidFill>
                        </a:rPr>
                        <a:t>V homila oyi</a:t>
                      </a:r>
                    </a:p>
                  </a:txBody>
                  <a:tcPr marL="73152" marR="73152" marT="36576" marB="36576">
                    <a:solidFill>
                      <a:srgbClr val="E8EEF6"/>
                    </a:solidFill>
                  </a:tcPr>
                </a:tc>
                <a:tc>
                  <a:txBody>
                    <a:bodyPr/>
                    <a:lstStyle/>
                    <a:p>
                      <a:r>
                        <a:rPr sz="1200" b="0">
                          <a:solidFill>
                            <a:srgbClr val="1F2937"/>
                          </a:solidFill>
                        </a:rPr>
                        <a:t>0,8-1,1 sm</a:t>
                      </a:r>
                    </a:p>
                  </a:txBody>
                  <a:tcPr marL="73152" marR="73152" marT="36576" marB="36576">
                    <a:solidFill>
                      <a:srgbClr val="E8EEF6"/>
                    </a:solidFill>
                  </a:tcPr>
                </a:tc>
              </a:tr>
              <a:tr h="411480">
                <a:tc>
                  <a:txBody>
                    <a:bodyPr/>
                    <a:lstStyle/>
                    <a:p>
                      <a:r>
                        <a:rPr sz="1200" b="0">
                          <a:solidFill>
                            <a:srgbClr val="1F2937"/>
                          </a:solidFill>
                        </a:rPr>
                        <a:t>G‘altaksimon suyak</a:t>
                      </a:r>
                    </a:p>
                  </a:txBody>
                  <a:tcPr marL="73152" marR="73152" marT="36576" marB="36576">
                    <a:solidFill>
                      <a:srgbClr val="FFFFFF"/>
                    </a:solidFill>
                  </a:tcPr>
                </a:tc>
                <a:tc>
                  <a:txBody>
                    <a:bodyPr/>
                    <a:lstStyle/>
                    <a:p>
                      <a:r>
                        <a:rPr sz="1200" b="0">
                          <a:solidFill>
                            <a:srgbClr val="1F2937"/>
                          </a:solidFill>
                        </a:rPr>
                        <a:t>VII homila oyi</a:t>
                      </a:r>
                    </a:p>
                  </a:txBody>
                  <a:tcPr marL="73152" marR="73152" marT="36576" marB="36576">
                    <a:solidFill>
                      <a:srgbClr val="FFFFFF"/>
                    </a:solidFill>
                  </a:tcPr>
                </a:tc>
                <a:tc>
                  <a:txBody>
                    <a:bodyPr/>
                    <a:lstStyle/>
                    <a:p>
                      <a:r>
                        <a:rPr sz="1200" b="0">
                          <a:solidFill>
                            <a:srgbClr val="1F2937"/>
                          </a:solidFill>
                        </a:rPr>
                        <a:t>0,7-1,0 sm</a:t>
                      </a:r>
                    </a:p>
                  </a:txBody>
                  <a:tcPr marL="73152" marR="73152" marT="36576" marB="36576">
                    <a:solidFill>
                      <a:srgbClr val="FFFFFF"/>
                    </a:solidFill>
                  </a:tcPr>
                </a:tc>
              </a:tr>
              <a:tr h="411480">
                <a:tc>
                  <a:txBody>
                    <a:bodyPr/>
                    <a:lstStyle/>
                    <a:p>
                      <a:r>
                        <a:rPr sz="1200" b="0">
                          <a:solidFill>
                            <a:srgbClr val="1F2937"/>
                          </a:solidFill>
                        </a:rPr>
                        <a:t>Son pastki epifizi (Beklyar)</a:t>
                      </a:r>
                    </a:p>
                  </a:txBody>
                  <a:tcPr marL="73152" marR="73152" marT="36576" marB="36576">
                    <a:solidFill>
                      <a:srgbClr val="E8EEF6"/>
                    </a:solidFill>
                  </a:tcPr>
                </a:tc>
                <a:tc>
                  <a:txBody>
                    <a:bodyPr/>
                    <a:lstStyle/>
                    <a:p>
                      <a:r>
                        <a:rPr sz="1200" b="0">
                          <a:solidFill>
                            <a:srgbClr val="1F2937"/>
                          </a:solidFill>
                        </a:rPr>
                        <a:t>IX homila oyi</a:t>
                      </a:r>
                    </a:p>
                  </a:txBody>
                  <a:tcPr marL="73152" marR="73152" marT="36576" marB="36576">
                    <a:solidFill>
                      <a:srgbClr val="E8EEF6"/>
                    </a:solidFill>
                  </a:tcPr>
                </a:tc>
                <a:tc>
                  <a:txBody>
                    <a:bodyPr/>
                    <a:lstStyle/>
                    <a:p>
                      <a:r>
                        <a:rPr sz="1200" b="0">
                          <a:solidFill>
                            <a:srgbClr val="1F2937"/>
                          </a:solidFill>
                        </a:rPr>
                        <a:t>0,5-0,7 sm</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Suyaklanish o‘zaklari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262, 263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Hayotga layoqat va go‘dakka qarov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JSST bo‘yicha uzunligi 25 sm dan, vazni 500 g dan kam go‘dak o‘ta norasolik tufayli layoqatsiz. Murda ochilmaydi, faqat tashqi tekshiruv o‘tkaziladi, vazn va uzunlik o‘lchanadi.</a:t>
            </a:r>
          </a:p>
          <a:p>
            <a:pPr>
              <a:spcAft>
                <a:spcPts val="1200"/>
              </a:spcAft>
            </a:pPr>
            <a:r>
              <a:rPr sz="2000">
                <a:solidFill>
                  <a:srgbClr val="1F2937"/>
                </a:solidFill>
                <a:latin typeface="Calibri"/>
              </a:rPr>
              <a:t>▸  Diqqat: tirik tug‘ilganlik ≠ hayotga layoqat. Tirik tug‘ilgan go‘dak ham hayotga layoqatsiz bo‘lishi mumkin.</a:t>
            </a:r>
          </a:p>
          <a:p>
            <a:pPr>
              <a:spcAft>
                <a:spcPts val="1200"/>
              </a:spcAft>
            </a:pPr>
            <a:r>
              <a:rPr sz="2000">
                <a:solidFill>
                  <a:srgbClr val="1F2937"/>
                </a:solidFill>
                <a:latin typeface="Calibri"/>
              </a:rPr>
              <a:t>▸  Anensefaliya, ikki kamerali yurak kabi nuqsonlar va hayot bilan nomutanosib tug‘ruq travmasi (bosh miya majaqlanishi, bo‘yin umurtqalarining sinishi) layoqatsizlikka olib keladi.</a:t>
            </a:r>
          </a:p>
          <a:p>
            <a:pPr>
              <a:spcAft>
                <a:spcPts val="1200"/>
              </a:spcAft>
            </a:pPr>
            <a:r>
              <a:rPr sz="2000">
                <a:solidFill>
                  <a:srgbClr val="1F2937"/>
                </a:solidFill>
                <a:latin typeface="Calibri"/>
              </a:rPr>
              <a:t>▸  Qarov belgilari: yo‘rgak va kiyim, kesilib bog‘langan kindik, qon va mo‘msimon qoplamadan tozalangan tana, oshqozonda sut yoki unga o‘xshash massa.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263, 264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Ona organizmidan tashqarida yashash davomiyligi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Havo 5-6 soatda ingichka ichakni to‘ldiradi, 6 soatdan so‘ng yo‘g‘on ichakka o‘tadi.</a:t>
            </a:r>
          </a:p>
          <a:p>
            <a:pPr>
              <a:spcAft>
                <a:spcPts val="800"/>
              </a:spcAft>
            </a:pPr>
            <a:r>
              <a:rPr sz="1800">
                <a:solidFill>
                  <a:srgbClr val="1F2937"/>
                </a:solidFill>
                <a:latin typeface="Calibri"/>
              </a:rPr>
              <a:t>▸  O‘pkaning ikkilamchi atelektazi kamida 5-6 soatdan so‘ng rivojlanadi.</a:t>
            </a:r>
          </a:p>
          <a:p>
            <a:pPr>
              <a:spcAft>
                <a:spcPts val="800"/>
              </a:spcAft>
            </a:pPr>
            <a:r>
              <a:rPr sz="1800">
                <a:solidFill>
                  <a:srgbClr val="1F2937"/>
                </a:solidFill>
                <a:latin typeface="Calibri"/>
              </a:rPr>
              <a:t>▸  Mekoniy odatda 1-2 kunda chiqib ketadi. Muddatlar taxminiy, shuning uchun ko‘p belgi inobatga olinadi.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1-2 soat: gialin membrana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&lt;3 soat: havo oshqozonda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5-6 soat: ingichka ichak</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Sutka oxiri: demarkatsion halqa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2-3 kun: shish so‘riladi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Yashash muddati vaqt chizig‘i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264, 257, 264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2: tirik tug‘ilganmi, qancha yashagan?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o‘pka sinamasi musbat, havo faqat oshqozonda topilgan, o‘pkada gialin membranalar yo‘q.</a:t>
            </a:r>
          </a:p>
          <a:p>
            <a:pPr>
              <a:spcAft>
                <a:spcPts val="1200"/>
              </a:spcAft>
            </a:pPr>
            <a:r>
              <a:rPr sz="2200">
                <a:solidFill>
                  <a:srgbClr val="1F2937"/>
                </a:solidFill>
                <a:latin typeface="Calibri"/>
              </a:rPr>
              <a:t>▸  Havo faqat oshqozonda bo‘lsa, go‘dak 3 soatdan kam yashagan. Gialin membrana uchun kamida 1-2 soat kerak.</a:t>
            </a:r>
          </a:p>
          <a:p>
            <a:pPr>
              <a:spcAft>
                <a:spcPts val="1200"/>
              </a:spcAft>
            </a:pPr>
            <a:r>
              <a:rPr sz="2200">
                <a:solidFill>
                  <a:srgbClr val="1F2937"/>
                </a:solidFill>
                <a:latin typeface="Calibri"/>
              </a:rPr>
              <a:t>▸  Gialin membranalarning yo‘qligi qisqa yashashga zid emas, lekin yolg‘iz o‘zi aniq muddatni bermaydi. (?)</a:t>
            </a:r>
          </a:p>
          <a:p>
            <a:pPr>
              <a:spcAft>
                <a:spcPts val="1200"/>
              </a:spcAft>
            </a:pPr>
            <a:r>
              <a:rPr sz="2200">
                <a:solidFill>
                  <a:srgbClr val="1F2937"/>
                </a:solidFill>
                <a:latin typeface="Calibri"/>
              </a:rPr>
              <a:t>▸  Xulosa uchun soxta musbatlik (chirish, sun’iy nafas) istisno qilinadi, makro-, mikroskopik belgilar va kindik halqasi baholanadi.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259, 264, 264, 261, 264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Antenatal va intranatal o‘lim sabablari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Antenatal nozo‘raki o‘lim ko‘pincha homila ichi asfiksiyadan: yo‘ldosh oldin joylashishi, infarkti yoki ko‘chishi; kindik siqilishi, bo‘yinga o‘ralishi, chin tugun.</a:t>
            </a:r>
          </a:p>
          <a:p>
            <a:pPr>
              <a:spcAft>
                <a:spcPts val="1200"/>
              </a:spcAft>
            </a:pPr>
            <a:r>
              <a:rPr sz="2000">
                <a:solidFill>
                  <a:srgbClr val="1F2937"/>
                </a:solidFill>
                <a:latin typeface="Calibri"/>
              </a:rPr>
              <a:t>▸  Onaning o‘tkir infeksiyasi, zaxm, dekompensatsiyadagi yurak nuqsoni, homiladorlik toksikozi va homiladagi rivojlanish nuqsonlari ham o‘limga olib kelishi mumkin.</a:t>
            </a:r>
          </a:p>
          <a:p>
            <a:pPr>
              <a:spcAft>
                <a:spcPts val="1200"/>
              </a:spcAft>
            </a:pPr>
            <a:r>
              <a:rPr sz="2000">
                <a:solidFill>
                  <a:srgbClr val="1F2937"/>
                </a:solidFill>
                <a:latin typeface="Calibri"/>
              </a:rPr>
              <a:t>▸  Homila murdasida tez o‘lim belgilari, qog‘onoq suvi aspiratsiyasi va undagi ko‘p mekoniy topiladi; miya pardalariga ko‘pincha simmetrik qon quyilishi bo‘ladi.</a:t>
            </a:r>
          </a:p>
          <a:p>
            <a:pPr>
              <a:spcAft>
                <a:spcPts val="1200"/>
              </a:spcAft>
            </a:pPr>
            <a:r>
              <a:rPr sz="2000">
                <a:solidFill>
                  <a:srgbClr val="1F2937"/>
                </a:solidFill>
                <a:latin typeface="Calibri"/>
              </a:rPr>
              <a:t>▸  Intranatal davrda asosiy sabab tug‘ruq travmasi: kalla suyaklari sinishi, kalla ichi qon quyilishi. Tug‘ayotgan ona qo‘li bilan yuz va bo‘yinda shilinma, qontalash qoldirishi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264, 265, 264-265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Postnatal o‘lim: nozo‘raki, aktiv va passiv o‘ldirish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Nozo‘raki: o‘ta norasolik, nomutanosib nuqsonlar, gemolitik kasallik, tug‘ma toksoplazmoz, pnevmopatiya.</a:t>
            </a:r>
          </a:p>
          <a:p>
            <a:pPr>
              <a:spcAft>
                <a:spcPts val="800"/>
              </a:spcAft>
            </a:pPr>
            <a:r>
              <a:rPr sz="1800">
                <a:solidFill>
                  <a:srgbClr val="1F2937"/>
                </a:solidFill>
                <a:latin typeface="Calibri"/>
              </a:rPr>
              <a:t>▸  Zo‘raki o‘lim asosan postnatal davrda uchraydi; ante- va intranatal zo‘raki o‘lim juda kam.</a:t>
            </a:r>
          </a:p>
          <a:p>
            <a:pPr>
              <a:spcAft>
                <a:spcPts val="800"/>
              </a:spcAft>
            </a:pPr>
            <a:r>
              <a:rPr sz="1800">
                <a:solidFill>
                  <a:srgbClr val="1F2937"/>
                </a:solidFill>
                <a:latin typeface="Calibri"/>
              </a:rPr>
              <a:t>▸  Huquqni muhofaza organlari uchun aktiv yoki passiv emas, o‘limning aniq sababini ko‘rsatish muhim.</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950647"/>
                <a:gridCol w="1960709"/>
                <a:gridCol w="2376617"/>
              </a:tblGrid>
              <a:tr h="411480">
                <a:tc>
                  <a:txBody>
                    <a:bodyPr/>
                    <a:lstStyle/>
                    <a:p>
                      <a:r>
                        <a:rPr sz="1300" b="1">
                          <a:solidFill>
                            <a:srgbClr val="FFFFFF"/>
                          </a:solidFill>
                        </a:rPr>
                        <a:t>Tur</a:t>
                      </a:r>
                    </a:p>
                  </a:txBody>
                  <a:tcPr marL="73152" marR="73152" marT="36576" marB="36576">
                    <a:solidFill>
                      <a:srgbClr val="0B1F3A"/>
                    </a:solidFill>
                  </a:tcPr>
                </a:tc>
                <a:tc>
                  <a:txBody>
                    <a:bodyPr/>
                    <a:lstStyle/>
                    <a:p>
                      <a:r>
                        <a:rPr sz="1300" b="1">
                          <a:solidFill>
                            <a:srgbClr val="FFFFFF"/>
                          </a:solidFill>
                        </a:rPr>
                        <a:t>Mohiyati</a:t>
                      </a:r>
                    </a:p>
                  </a:txBody>
                  <a:tcPr marL="73152" marR="73152" marT="36576" marB="36576">
                    <a:solidFill>
                      <a:srgbClr val="0B1F3A"/>
                    </a:solidFill>
                  </a:tcPr>
                </a:tc>
                <a:tc>
                  <a:txBody>
                    <a:bodyPr/>
                    <a:lstStyle/>
                    <a:p>
                      <a:r>
                        <a:rPr sz="1300" b="1">
                          <a:solidFill>
                            <a:srgbClr val="FFFFFF"/>
                          </a:solidFill>
                        </a:rPr>
                        <a:t>Misollar</a:t>
                      </a:r>
                    </a:p>
                  </a:txBody>
                  <a:tcPr marL="73152" marR="73152" marT="36576" marB="36576">
                    <a:solidFill>
                      <a:srgbClr val="0B1F3A"/>
                    </a:solidFill>
                  </a:tcPr>
                </a:tc>
              </a:tr>
              <a:tr h="411480">
                <a:tc>
                  <a:txBody>
                    <a:bodyPr/>
                    <a:lstStyle/>
                    <a:p>
                      <a:r>
                        <a:rPr sz="1200" b="0">
                          <a:solidFill>
                            <a:srgbClr val="1F2937"/>
                          </a:solidFill>
                        </a:rPr>
                        <a:t>Nozo‘raki</a:t>
                      </a:r>
                    </a:p>
                  </a:txBody>
                  <a:tcPr marL="73152" marR="73152" marT="36576" marB="36576">
                    <a:solidFill>
                      <a:srgbClr val="E8EEF6"/>
                    </a:solidFill>
                  </a:tcPr>
                </a:tc>
                <a:tc>
                  <a:txBody>
                    <a:bodyPr/>
                    <a:lstStyle/>
                    <a:p>
                      <a:r>
                        <a:rPr sz="1200" b="0">
                          <a:solidFill>
                            <a:srgbClr val="1F2937"/>
                          </a:solidFill>
                        </a:rPr>
                        <a:t>Kasallik yoki rivojlanish nuqsoni</a:t>
                      </a:r>
                    </a:p>
                  </a:txBody>
                  <a:tcPr marL="73152" marR="73152" marT="36576" marB="36576">
                    <a:solidFill>
                      <a:srgbClr val="E8EEF6"/>
                    </a:solidFill>
                  </a:tcPr>
                </a:tc>
                <a:tc>
                  <a:txBody>
                    <a:bodyPr/>
                    <a:lstStyle/>
                    <a:p>
                      <a:r>
                        <a:rPr sz="1200" b="0">
                          <a:solidFill>
                            <a:srgbClr val="1F2937"/>
                          </a:solidFill>
                        </a:rPr>
                        <a:t>norasolik, nuqson, gemolitik kasallik</a:t>
                      </a:r>
                    </a:p>
                  </a:txBody>
                  <a:tcPr marL="73152" marR="73152" marT="36576" marB="36576">
                    <a:solidFill>
                      <a:srgbClr val="E8EEF6"/>
                    </a:solidFill>
                  </a:tcPr>
                </a:tc>
              </a:tr>
              <a:tr h="411480">
                <a:tc>
                  <a:txBody>
                    <a:bodyPr/>
                    <a:lstStyle/>
                    <a:p>
                      <a:r>
                        <a:rPr sz="1200" b="0">
                          <a:solidFill>
                            <a:srgbClr val="1F2937"/>
                          </a:solidFill>
                        </a:rPr>
                        <a:t>Aktiv</a:t>
                      </a:r>
                    </a:p>
                  </a:txBody>
                  <a:tcPr marL="73152" marR="73152" marT="36576" marB="36576">
                    <a:solidFill>
                      <a:srgbClr val="FFFFFF"/>
                    </a:solidFill>
                  </a:tcPr>
                </a:tc>
                <a:tc>
                  <a:txBody>
                    <a:bodyPr/>
                    <a:lstStyle/>
                    <a:p>
                      <a:r>
                        <a:rPr sz="1200" b="0">
                          <a:solidFill>
                            <a:srgbClr val="1F2937"/>
                          </a:solidFill>
                        </a:rPr>
                        <a:t>Go‘dakka harakat qilinadi</a:t>
                      </a:r>
                    </a:p>
                  </a:txBody>
                  <a:tcPr marL="73152" marR="73152" marT="36576" marB="36576">
                    <a:solidFill>
                      <a:srgbClr val="FFFFFF"/>
                    </a:solidFill>
                  </a:tcPr>
                </a:tc>
                <a:tc>
                  <a:txBody>
                    <a:bodyPr/>
                    <a:lstStyle/>
                    <a:p>
                      <a:r>
                        <a:rPr sz="1200" b="0">
                          <a:solidFill>
                            <a:srgbClr val="1F2937"/>
                          </a:solidFill>
                        </a:rPr>
                        <a:t>qo‘l/sirtmoq bilan bo‘g‘ish, cho‘ktirish</a:t>
                      </a:r>
                    </a:p>
                  </a:txBody>
                  <a:tcPr marL="73152" marR="73152" marT="36576" marB="36576">
                    <a:solidFill>
                      <a:srgbClr val="FFFFFF"/>
                    </a:solidFill>
                  </a:tcPr>
                </a:tc>
              </a:tr>
              <a:tr h="411480">
                <a:tc>
                  <a:txBody>
                    <a:bodyPr/>
                    <a:lstStyle/>
                    <a:p>
                      <a:r>
                        <a:rPr sz="1200" b="0">
                          <a:solidFill>
                            <a:srgbClr val="1F2937"/>
                          </a:solidFill>
                        </a:rPr>
                        <a:t>Passiv</a:t>
                      </a:r>
                    </a:p>
                  </a:txBody>
                  <a:tcPr marL="73152" marR="73152" marT="36576" marB="36576">
                    <a:solidFill>
                      <a:srgbClr val="E8EEF6"/>
                    </a:solidFill>
                  </a:tcPr>
                </a:tc>
                <a:tc>
                  <a:txBody>
                    <a:bodyPr/>
                    <a:lstStyle/>
                    <a:p>
                      <a:r>
                        <a:rPr sz="1200" b="0">
                          <a:solidFill>
                            <a:srgbClr val="1F2937"/>
                          </a:solidFill>
                        </a:rPr>
                        <a:t>Go‘dak qarovsiz qoldiriladi</a:t>
                      </a:r>
                    </a:p>
                  </a:txBody>
                  <a:tcPr marL="73152" marR="73152" marT="36576" marB="36576">
                    <a:solidFill>
                      <a:srgbClr val="E8EEF6"/>
                    </a:solidFill>
                  </a:tcPr>
                </a:tc>
                <a:tc>
                  <a:txBody>
                    <a:bodyPr/>
                    <a:lstStyle/>
                    <a:p>
                      <a:r>
                        <a:rPr sz="1200" b="0">
                          <a:solidFill>
                            <a:srgbClr val="1F2937"/>
                          </a:solidFill>
                        </a:rPr>
                        <a:t>kindikdan qon ketish, sovuq, ochlik</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Postnatal o‘lim turlari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265, 264-265, 266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Homila va go‘dak murdasi ekspertizasi xususiyatlari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Tashqi tekshiruvda kiyim-bosh, yo‘rgak, antropometriya (uzunlik, vazn, bosh, ko‘krak, yelka o‘lchamlari), qon izlari, mo‘msimon qoplama, tug‘ruq shishi, mekoniy baholanadi.</a:t>
            </a:r>
          </a:p>
          <a:p>
            <a:pPr>
              <a:spcAft>
                <a:spcPts val="1200"/>
              </a:spcAft>
            </a:pPr>
            <a:r>
              <a:rPr sz="2000">
                <a:solidFill>
                  <a:srgbClr val="1F2937"/>
                </a:solidFill>
                <a:latin typeface="Calibri"/>
              </a:rPr>
              <a:t>▸  Yo‘ldosh (vazn, shakl, to‘qima) va kindik (uzunlik, qalinlik, tugun) ham tekshiriladi. Ichki tekshiruv ko‘krak va qorindan boshlanadi.</a:t>
            </a:r>
          </a:p>
          <a:p>
            <a:pPr>
              <a:spcAft>
                <a:spcPts val="1200"/>
              </a:spcAft>
            </a:pPr>
            <a:r>
              <a:rPr sz="2000">
                <a:solidFill>
                  <a:srgbClr val="1F2937"/>
                </a:solidFill>
                <a:latin typeface="Calibri"/>
              </a:rPr>
              <a:t>▸  Og‘iz kesmasi pastki labdan boshlanadi; qorin kesmasi kindik tomirlari buzilmasligi uchun kindikka yetmay ikki yonga o‘tadi. Kalla suyaklari qaychi bilan kesilib, darcha ochiladi.</a:t>
            </a:r>
          </a:p>
          <a:p>
            <a:pPr>
              <a:spcAft>
                <a:spcPts val="1200"/>
              </a:spcAft>
            </a:pPr>
            <a:r>
              <a:rPr sz="2000">
                <a:solidFill>
                  <a:srgbClr val="1F2937"/>
                </a:solidFill>
                <a:latin typeface="Calibri"/>
              </a:rPr>
              <a:t>▸  Tirik tug‘ilganlik uchun o‘pka va oshqozon-ichak suzish sinamalari o‘tkaziladi. Oxirida gistologik va sud-biologik (qon guruhi) tekshiruvga material olinadi.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266, 266-267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3: o‘limning davri va sababi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homila murdasida mekoniy ko‘p miqdorda, qog‘onoq suvlari aspiratsiyasi aniqlangan, kindikda chin tugun bor, tashqi jarohat yo‘q.</a:t>
            </a:r>
          </a:p>
          <a:p>
            <a:pPr>
              <a:spcAft>
                <a:spcPts val="1200"/>
              </a:spcAft>
            </a:pPr>
            <a:r>
              <a:rPr sz="2200">
                <a:solidFill>
                  <a:srgbClr val="1F2937"/>
                </a:solidFill>
                <a:latin typeface="Calibri"/>
              </a:rPr>
              <a:t>▸  Ehtimol: antenatal davrda kindik tufayli homila ichi asfiksiyasidan nozo‘raki o‘lim. Tug‘ruq travmasida esa tashqi jarohat, yara hosil bo‘lmaydi.</a:t>
            </a:r>
          </a:p>
          <a:p>
            <a:pPr>
              <a:spcAft>
                <a:spcPts val="1200"/>
              </a:spcAft>
            </a:pPr>
            <a:r>
              <a:rPr sz="2200">
                <a:solidFill>
                  <a:srgbClr val="1F2937"/>
                </a:solidFill>
                <a:latin typeface="Calibri"/>
              </a:rPr>
              <a:t>▸  Yana tekshiriladi: yo‘ldosh va kindik; yo‘g‘on ichak mekoniy chiqishi hisobiga torayadi; miyada ko‘pincha simmetrik qon quyilishlar bo‘ladi.</a:t>
            </a:r>
          </a:p>
          <a:p>
            <a:pPr>
              <a:spcAft>
                <a:spcPts val="1200"/>
              </a:spcAft>
            </a:pPr>
            <a:r>
              <a:rPr sz="2200">
                <a:solidFill>
                  <a:srgbClr val="1F2937"/>
                </a:solidFill>
                <a:latin typeface="Calibri"/>
              </a:rPr>
              <a:t>▸  Savol: bu belgilar qaysi davr va qanday mexanizmga mos keladi? Nega homila murdasi bilan birga yo‘ldosh va kindik ham tekshiriladi?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264, 264-265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Gipoksiya, asfiksiya va mexanik asfiksiya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Diqqat: gipoksiya ≠ asfiksiya. Asfiksiyada kislorod tanqisligi karbonat angidrid ortishi bilan birga rivojlanadi.</a:t>
            </a:r>
          </a:p>
          <a:p>
            <a:pPr>
              <a:spcAft>
                <a:spcPts val="800"/>
              </a:spcAft>
            </a:pPr>
            <a:r>
              <a:rPr sz="1800">
                <a:solidFill>
                  <a:srgbClr val="1F2937"/>
                </a:solidFill>
                <a:latin typeface="Calibri"/>
              </a:rPr>
              <a:t>▸  “Asfiksiya” grekcha: a — inkor, sphygmos — puls; tub ma’nosi pulsning yo‘qligi.</a:t>
            </a:r>
          </a:p>
          <a:p>
            <a:pPr>
              <a:spcAft>
                <a:spcPts val="800"/>
              </a:spcAft>
            </a:pPr>
            <a:r>
              <a:rPr sz="1800">
                <a:solidFill>
                  <a:srgbClr val="1F2937"/>
                </a:solidFill>
                <a:latin typeface="Calibri"/>
              </a:rPr>
              <a:t>▸  Mexanik omildan kelgan tashqi nafas buzilishi mexanik asfiksiya deyiladi; u uch turga bo‘linadi.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641095"/>
                <a:gridCol w="3646879"/>
              </a:tblGrid>
              <a:tr h="411480">
                <a:tc>
                  <a:txBody>
                    <a:bodyPr/>
                    <a:lstStyle/>
                    <a:p>
                      <a:r>
                        <a:rPr sz="1400" b="1">
                          <a:solidFill>
                            <a:srgbClr val="FFFFFF"/>
                          </a:solidFill>
                        </a:rPr>
                        <a:t>Guruh</a:t>
                      </a:r>
                    </a:p>
                  </a:txBody>
                  <a:tcPr marL="73152" marR="73152" marT="36576" marB="36576">
                    <a:solidFill>
                      <a:srgbClr val="0B1F3A"/>
                    </a:solidFill>
                  </a:tcPr>
                </a:tc>
                <a:tc>
                  <a:txBody>
                    <a:bodyPr/>
                    <a:lstStyle/>
                    <a:p>
                      <a:r>
                        <a:rPr sz="1400" b="1">
                          <a:solidFill>
                            <a:srgbClr val="FFFFFF"/>
                          </a:solidFill>
                        </a:rPr>
                        <a:t>Ko‘rinishi</a:t>
                      </a:r>
                    </a:p>
                  </a:txBody>
                  <a:tcPr marL="73152" marR="73152" marT="36576" marB="36576">
                    <a:solidFill>
                      <a:srgbClr val="0B1F3A"/>
                    </a:solidFill>
                  </a:tcPr>
                </a:tc>
              </a:tr>
              <a:tr h="411480">
                <a:tc>
                  <a:txBody>
                    <a:bodyPr/>
                    <a:lstStyle/>
                    <a:p>
                      <a:r>
                        <a:rPr sz="1300" b="0">
                          <a:solidFill>
                            <a:srgbClr val="1F2937"/>
                          </a:solidFill>
                        </a:rPr>
                        <a:t>Qisilishdan</a:t>
                      </a:r>
                    </a:p>
                  </a:txBody>
                  <a:tcPr marL="73152" marR="73152" marT="36576" marB="36576">
                    <a:solidFill>
                      <a:srgbClr val="E8EEF6"/>
                    </a:solidFill>
                  </a:tcPr>
                </a:tc>
                <a:tc>
                  <a:txBody>
                    <a:bodyPr/>
                    <a:lstStyle/>
                    <a:p>
                      <a:r>
                        <a:rPr sz="1300" b="0">
                          <a:solidFill>
                            <a:srgbClr val="1F2937"/>
                          </a:solidFill>
                        </a:rPr>
                        <a:t>Strangulyatsion; kompression</a:t>
                      </a:r>
                    </a:p>
                  </a:txBody>
                  <a:tcPr marL="73152" marR="73152" marT="36576" marB="36576">
                    <a:solidFill>
                      <a:srgbClr val="E8EEF6"/>
                    </a:solidFill>
                  </a:tcPr>
                </a:tc>
              </a:tr>
              <a:tr h="411480">
                <a:tc>
                  <a:txBody>
                    <a:bodyPr/>
                    <a:lstStyle/>
                    <a:p>
                      <a:r>
                        <a:rPr sz="1300" b="0">
                          <a:solidFill>
                            <a:srgbClr val="1F2937"/>
                          </a:solidFill>
                        </a:rPr>
                        <a:t>Yopilishdan</a:t>
                      </a:r>
                    </a:p>
                  </a:txBody>
                  <a:tcPr marL="73152" marR="73152" marT="36576" marB="36576">
                    <a:solidFill>
                      <a:srgbClr val="FFFFFF"/>
                    </a:solidFill>
                  </a:tcPr>
                </a:tc>
                <a:tc>
                  <a:txBody>
                    <a:bodyPr/>
                    <a:lstStyle/>
                    <a:p>
                      <a:r>
                        <a:rPr sz="1300" b="0">
                          <a:solidFill>
                            <a:srgbClr val="1F2937"/>
                          </a:solidFill>
                        </a:rPr>
                        <a:t>Nafas teshiklari; yo‘llari; cho‘kish</a:t>
                      </a:r>
                    </a:p>
                  </a:txBody>
                  <a:tcPr marL="73152" marR="73152" marT="36576" marB="36576">
                    <a:solidFill>
                      <a:srgbClr val="FFFFFF"/>
                    </a:solidFill>
                  </a:tcPr>
                </a:tc>
              </a:tr>
              <a:tr h="411480">
                <a:tc>
                  <a:txBody>
                    <a:bodyPr/>
                    <a:lstStyle/>
                    <a:p>
                      <a:r>
                        <a:rPr sz="1300" b="0">
                          <a:solidFill>
                            <a:srgbClr val="1F2937"/>
                          </a:solidFill>
                        </a:rPr>
                        <a:t>Cheklangan muhit</a:t>
                      </a:r>
                    </a:p>
                  </a:txBody>
                  <a:tcPr marL="73152" marR="73152" marT="36576" marB="36576">
                    <a:solidFill>
                      <a:srgbClr val="E8EEF6"/>
                    </a:solidFill>
                  </a:tcPr>
                </a:tc>
                <a:tc>
                  <a:txBody>
                    <a:bodyPr/>
                    <a:lstStyle/>
                    <a:p>
                      <a:r>
                        <a:rPr sz="1300" b="0">
                          <a:solidFill>
                            <a:srgbClr val="1F2937"/>
                          </a:solidFill>
                        </a:rPr>
                        <a:t>Kislorod kamayadi, karbonat angidrid ortadi</a:t>
                      </a:r>
                    </a:p>
                  </a:txBody>
                  <a:tcPr marL="73152" marR="73152" marT="36576" marB="36576">
                    <a:solidFill>
                      <a:srgbClr val="E8EEF6"/>
                    </a:solidFill>
                  </a:tcPr>
                </a:tc>
              </a:tr>
              <a:tr h="411480">
                <a:tc>
                  <a:txBody>
                    <a:bodyPr/>
                    <a:lstStyle/>
                    <a:p>
                      <a:r>
                        <a:rPr sz="1300" b="0">
                          <a:solidFill>
                            <a:srgbClr val="1F2937"/>
                          </a:solidFill>
                        </a:rPr>
                        <a:t>Autoasfiksiofiliya</a:t>
                      </a:r>
                    </a:p>
                  </a:txBody>
                  <a:tcPr marL="73152" marR="73152" marT="36576" marB="36576">
                    <a:solidFill>
                      <a:srgbClr val="FFFFFF"/>
                    </a:solidFill>
                  </a:tcPr>
                </a:tc>
                <a:tc>
                  <a:txBody>
                    <a:bodyPr/>
                    <a:lstStyle/>
                    <a:p>
                      <a:r>
                        <a:rPr sz="1300" b="0">
                          <a:solidFill>
                            <a:srgbClr val="1F2937"/>
                          </a:solidFill>
                        </a:rPr>
                        <a:t>Seksual asfiksiya; odatda baxtsiz hodisa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Mexanik asfiksiya turlari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104-105, 104, 105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Asfiksiyaning hayotiy kechishi: bosqichlar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Preasfiktik davrda organizm moslashish imkoniyatlarini ishga soladi, shu sababli asfiksiya belgilari hali rivojlanmaydi.</a:t>
            </a:r>
          </a:p>
          <a:p>
            <a:pPr>
              <a:spcAft>
                <a:spcPts val="800"/>
              </a:spcAft>
            </a:pPr>
            <a:r>
              <a:rPr sz="1800">
                <a:solidFill>
                  <a:srgbClr val="1F2937"/>
                </a:solidFill>
                <a:latin typeface="Calibri"/>
              </a:rPr>
              <a:t>▸  Inspiratorda hush 40-60 sek.da yo‘qoladi; ekspiratorda siydik, axlat ajralishi bilan klonik talvasalar bo‘lishi mumkin.</a:t>
            </a:r>
          </a:p>
          <a:p>
            <a:pPr>
              <a:spcAft>
                <a:spcPts val="800"/>
              </a:spcAft>
            </a:pPr>
            <a:r>
              <a:rPr sz="1800">
                <a:solidFill>
                  <a:srgbClr val="1F2937"/>
                </a:solidFill>
                <a:latin typeface="Calibri"/>
              </a:rPr>
              <a:t>▸  Terminal nafas 5 minutgacha davom etadi; nafas to‘xtagach yurak yana 3-10 minut urishi mumkin.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Preasfiktik: 20-30 sek.</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Inspirator hansirash: ~1 min</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Ekspirator hansirash: ~1 min</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Nafas to‘xtashi: 30-40 sek.</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Terminal nafas → to‘liq to‘xtash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Asfiktik jarayon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106, 106-107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Postasfiktik holat: davrlar va oqibatlar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Postasfiktik holat – asfiksiyadan so‘ng tirik qolganlarda rivojlanadigan o‘zgarishlar majmuyi.</a:t>
            </a:r>
          </a:p>
          <a:p>
            <a:pPr>
              <a:spcAft>
                <a:spcPts val="800"/>
              </a:spcAft>
            </a:pPr>
            <a:r>
              <a:rPr sz="1800">
                <a:solidFill>
                  <a:srgbClr val="1F2937"/>
                </a:solidFill>
                <a:latin typeface="Calibri"/>
              </a:rPr>
              <a:t>▸  Dastlabki minut va soatlarda o‘lim asfiktik komadan sodir bo‘ladi.</a:t>
            </a:r>
          </a:p>
          <a:p>
            <a:pPr>
              <a:spcAft>
                <a:spcPts val="800"/>
              </a:spcAft>
            </a:pPr>
            <a:r>
              <a:rPr sz="1800">
                <a:solidFill>
                  <a:srgbClr val="1F2937"/>
                </a:solidFill>
                <a:latin typeface="Calibri"/>
              </a:rPr>
              <a:t>▸  Birinchi sutkada o‘pka va miya shishi, keyinroq gipostatik pnevmoniya o‘limga sabab bo‘ladi.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Asfiktik koma</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Karaxtlik</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Dezorientatsiya va amneziya</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Qoldiq oqibatlar</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Postasfiktik holatning to‘rt davri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107, 109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Mexanik asfiksiyaning umumiy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Bu belgilar mexanik asfiksiyaga xos emas, tez o‘limning boshqa turlarida ham uchraydi.</a:t>
            </a:r>
          </a:p>
          <a:p>
            <a:pPr>
              <a:spcAft>
                <a:spcPts val="800"/>
              </a:spcAft>
            </a:pPr>
            <a:r>
              <a:rPr sz="1800">
                <a:solidFill>
                  <a:srgbClr val="1F2937"/>
                </a:solidFill>
                <a:latin typeface="Calibri"/>
              </a:rPr>
              <a:t>▸  Diagnostikada belgilar alohida emas, majmua sifatida baholanadi.</a:t>
            </a:r>
          </a:p>
          <a:p>
            <a:pPr>
              <a:spcAft>
                <a:spcPts val="800"/>
              </a:spcAft>
            </a:pPr>
            <a:r>
              <a:rPr sz="1800">
                <a:solidFill>
                  <a:srgbClr val="1F2937"/>
                </a:solidFill>
                <a:latin typeface="Calibri"/>
              </a:rPr>
              <a:t>▸  Asfiktik yurak, kamqonlik va qisqargan taloq nisbatan patognomik hisoblanadi.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044538"/>
                <a:gridCol w="2023792"/>
                <a:gridCol w="2219643"/>
              </a:tblGrid>
              <a:tr h="411480">
                <a:tc>
                  <a:txBody>
                    <a:bodyPr/>
                    <a:lstStyle/>
                    <a:p>
                      <a:r>
                        <a:rPr sz="1300" b="1">
                          <a:solidFill>
                            <a:srgbClr val="FFFFFF"/>
                          </a:solidFill>
                        </a:rPr>
                        <a:t>Guruh</a:t>
                      </a:r>
                    </a:p>
                  </a:txBody>
                  <a:tcPr marL="73152" marR="73152" marT="36576" marB="36576">
                    <a:solidFill>
                      <a:srgbClr val="0B1F3A"/>
                    </a:solidFill>
                  </a:tcPr>
                </a:tc>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Izoh</a:t>
                      </a:r>
                    </a:p>
                  </a:txBody>
                  <a:tcPr marL="73152" marR="73152" marT="36576" marB="36576">
                    <a:solidFill>
                      <a:srgbClr val="0B1F3A"/>
                    </a:solidFill>
                  </a:tcPr>
                </a:tc>
              </a:tr>
              <a:tr h="411480">
                <a:tc>
                  <a:txBody>
                    <a:bodyPr/>
                    <a:lstStyle/>
                    <a:p>
                      <a:r>
                        <a:rPr sz="1200" b="0">
                          <a:solidFill>
                            <a:srgbClr val="1F2937"/>
                          </a:solidFill>
                        </a:rPr>
                        <a:t>Tashqi</a:t>
                      </a:r>
                    </a:p>
                  </a:txBody>
                  <a:tcPr marL="73152" marR="73152" marT="36576" marB="36576">
                    <a:solidFill>
                      <a:srgbClr val="E8EEF6"/>
                    </a:solidFill>
                  </a:tcPr>
                </a:tc>
                <a:tc>
                  <a:txBody>
                    <a:bodyPr/>
                    <a:lstStyle/>
                    <a:p>
                      <a:r>
                        <a:rPr sz="1200" b="0">
                          <a:solidFill>
                            <a:srgbClr val="1F2937"/>
                          </a:solidFill>
                        </a:rPr>
                        <a:t>Sianoz, murda dog‘lari, midriaz</a:t>
                      </a:r>
                    </a:p>
                  </a:txBody>
                  <a:tcPr marL="73152" marR="73152" marT="36576" marB="36576">
                    <a:solidFill>
                      <a:srgbClr val="E8EEF6"/>
                    </a:solidFill>
                  </a:tcPr>
                </a:tc>
                <a:tc>
                  <a:txBody>
                    <a:bodyPr/>
                    <a:lstStyle/>
                    <a:p>
                      <a:r>
                        <a:rPr sz="1200" b="0">
                          <a:solidFill>
                            <a:srgbClr val="1F2937"/>
                          </a:solidFill>
                        </a:rPr>
                        <a:t>Sianoz va midriaz noturg‘un</a:t>
                      </a:r>
                    </a:p>
                  </a:txBody>
                  <a:tcPr marL="73152" marR="73152" marT="36576" marB="36576">
                    <a:solidFill>
                      <a:srgbClr val="E8EEF6"/>
                    </a:solidFill>
                  </a:tcPr>
                </a:tc>
              </a:tr>
              <a:tr h="411480">
                <a:tc>
                  <a:txBody>
                    <a:bodyPr/>
                    <a:lstStyle/>
                    <a:p>
                      <a:r>
                        <a:rPr sz="1200" b="0">
                          <a:solidFill>
                            <a:srgbClr val="1F2937"/>
                          </a:solidFill>
                        </a:rPr>
                        <a:t>Tashqi</a:t>
                      </a:r>
                    </a:p>
                  </a:txBody>
                  <a:tcPr marL="73152" marR="73152" marT="36576" marB="36576">
                    <a:solidFill>
                      <a:srgbClr val="FFFFFF"/>
                    </a:solidFill>
                  </a:tcPr>
                </a:tc>
                <a:tc>
                  <a:txBody>
                    <a:bodyPr/>
                    <a:lstStyle/>
                    <a:p>
                      <a:r>
                        <a:rPr sz="1200" b="0">
                          <a:solidFill>
                            <a:srgbClr val="1F2937"/>
                          </a:solidFill>
                        </a:rPr>
                        <a:t>Subkonyunktival ekximozlar</a:t>
                      </a:r>
                    </a:p>
                  </a:txBody>
                  <a:tcPr marL="73152" marR="73152" marT="36576" marB="36576">
                    <a:solidFill>
                      <a:srgbClr val="FFFFFF"/>
                    </a:solidFill>
                  </a:tcPr>
                </a:tc>
                <a:tc>
                  <a:txBody>
                    <a:bodyPr/>
                    <a:lstStyle/>
                    <a:p>
                      <a:r>
                        <a:rPr sz="1200" b="0">
                          <a:solidFill>
                            <a:srgbClr val="1F2937"/>
                          </a:solidFill>
                        </a:rPr>
                        <a:t>Hansirash bosqichida paydo bo‘ladi</a:t>
                      </a:r>
                    </a:p>
                  </a:txBody>
                  <a:tcPr marL="73152" marR="73152" marT="36576" marB="36576">
                    <a:solidFill>
                      <a:srgbClr val="FFFFFF"/>
                    </a:solidFill>
                  </a:tcPr>
                </a:tc>
              </a:tr>
              <a:tr h="411480">
                <a:tc>
                  <a:txBody>
                    <a:bodyPr/>
                    <a:lstStyle/>
                    <a:p>
                      <a:r>
                        <a:rPr sz="1200" b="0">
                          <a:solidFill>
                            <a:srgbClr val="1F2937"/>
                          </a:solidFill>
                        </a:rPr>
                        <a:t>Ichki</a:t>
                      </a:r>
                    </a:p>
                  </a:txBody>
                  <a:tcPr marL="73152" marR="73152" marT="36576" marB="36576">
                    <a:solidFill>
                      <a:srgbClr val="E8EEF6"/>
                    </a:solidFill>
                  </a:tcPr>
                </a:tc>
                <a:tc>
                  <a:txBody>
                    <a:bodyPr/>
                    <a:lstStyle/>
                    <a:p>
                      <a:r>
                        <a:rPr sz="1200" b="0">
                          <a:solidFill>
                            <a:srgbClr val="1F2937"/>
                          </a:solidFill>
                        </a:rPr>
                        <a:t>Suyuq qon, asfiktik yurak</a:t>
                      </a:r>
                    </a:p>
                  </a:txBody>
                  <a:tcPr marL="73152" marR="73152" marT="36576" marB="36576">
                    <a:solidFill>
                      <a:srgbClr val="E8EEF6"/>
                    </a:solidFill>
                  </a:tcPr>
                </a:tc>
                <a:tc>
                  <a:txBody>
                    <a:bodyPr/>
                    <a:lstStyle/>
                    <a:p>
                      <a:r>
                        <a:rPr sz="1200" b="0">
                          <a:solidFill>
                            <a:srgbClr val="1F2937"/>
                          </a:solidFill>
                        </a:rPr>
                        <a:t>O‘ng kameralar qonga to‘la</a:t>
                      </a:r>
                    </a:p>
                  </a:txBody>
                  <a:tcPr marL="73152" marR="73152" marT="36576" marB="36576">
                    <a:solidFill>
                      <a:srgbClr val="E8EEF6"/>
                    </a:solidFill>
                  </a:tcPr>
                </a:tc>
              </a:tr>
              <a:tr h="411480">
                <a:tc>
                  <a:txBody>
                    <a:bodyPr/>
                    <a:lstStyle/>
                    <a:p>
                      <a:r>
                        <a:rPr sz="1200" b="0">
                          <a:solidFill>
                            <a:srgbClr val="1F2937"/>
                          </a:solidFill>
                        </a:rPr>
                        <a:t>Ichki</a:t>
                      </a:r>
                    </a:p>
                  </a:txBody>
                  <a:tcPr marL="73152" marR="73152" marT="36576" marB="36576">
                    <a:solidFill>
                      <a:srgbClr val="FFFFFF"/>
                    </a:solidFill>
                  </a:tcPr>
                </a:tc>
                <a:tc>
                  <a:txBody>
                    <a:bodyPr/>
                    <a:lstStyle/>
                    <a:p>
                      <a:r>
                        <a:rPr sz="1200" b="0">
                          <a:solidFill>
                            <a:srgbClr val="1F2937"/>
                          </a:solidFill>
                        </a:rPr>
                        <a:t>Tarde dog‘lari, qisqargan taloq</a:t>
                      </a:r>
                    </a:p>
                  </a:txBody>
                  <a:tcPr marL="73152" marR="73152" marT="36576" marB="36576">
                    <a:solidFill>
                      <a:srgbClr val="FFFFFF"/>
                    </a:solidFill>
                  </a:tcPr>
                </a:tc>
                <a:tc>
                  <a:txBody>
                    <a:bodyPr/>
                    <a:lstStyle/>
                    <a:p>
                      <a:r>
                        <a:rPr sz="1200" b="0">
                          <a:solidFill>
                            <a:srgbClr val="1F2937"/>
                          </a:solidFill>
                        </a:rPr>
                        <a:t>Taloq: Sabinskiy belgisi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Asosiy umumasfiktik belgilar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110-111, 111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2: umumasfiktik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Tarde dog‘lari qayerda va qaysi bosqichda hosil bo‘ladi?</a:t>
            </a:r>
          </a:p>
          <a:p>
            <a:pPr>
              <a:spcAft>
                <a:spcPts val="1200"/>
              </a:spcAft>
            </a:pPr>
            <a:r>
              <a:rPr sz="2200">
                <a:solidFill>
                  <a:srgbClr val="1F2937"/>
                </a:solidFill>
                <a:latin typeface="Calibri"/>
              </a:rPr>
              <a:t>▸  Javob: visseral plevra va epikard ostida, 2-3 mm to‘q qizil qon quyilishlar; inspirator hansirash bosqichida; ko‘proq o‘pka bo‘laklari oralig‘i, diafragmal plevra, yurak orqa yuzasida.</a:t>
            </a:r>
          </a:p>
          <a:p>
            <a:pPr>
              <a:spcAft>
                <a:spcPts val="1200"/>
              </a:spcAft>
            </a:pPr>
            <a:r>
              <a:rPr sz="2200">
                <a:solidFill>
                  <a:srgbClr val="1F2937"/>
                </a:solidFill>
                <a:latin typeface="Calibri"/>
              </a:rPr>
              <a:t>▸  Savol: qaysi belgilar nisbatan patognomik? Javob: asfiktik yurak, kamqonlik va qisqargan taloq (Sabinskiy belgisi); taloqdagi qon preasfiktik davrda depodan chiqadi.</a:t>
            </a:r>
          </a:p>
          <a:p>
            <a:pPr>
              <a:spcAft>
                <a:spcPts val="1200"/>
              </a:spcAft>
            </a:pPr>
            <a:r>
              <a:rPr sz="2200">
                <a:solidFill>
                  <a:srgbClr val="1F2937"/>
                </a:solidFill>
                <a:latin typeface="Calibri"/>
              </a:rPr>
              <a:t>▸  Diqqat: xato qilish xavfi – Tarde dog‘lari ≠ Rasskazov-Lukomskiy-Paltauf dog‘lari. Ikkinchisi chin cho‘kishda hosil bo‘ladi va epikard ostida bo‘lmaydi.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111, 122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Osilish: o‘lim mexanizmi va strangulyatsion egat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Tipik osilishda tana sirtmoqda erkin osilib turadi, notipik osilishda tananing bir qismi tayanchda bo‘ladi.</a:t>
            </a:r>
          </a:p>
          <a:p>
            <a:pPr>
              <a:spcAft>
                <a:spcPts val="800"/>
              </a:spcAft>
            </a:pPr>
            <a:r>
              <a:rPr sz="1800">
                <a:solidFill>
                  <a:srgbClr val="1F2937"/>
                </a:solidFill>
                <a:latin typeface="Calibri"/>
              </a:rPr>
              <a:t>▸  O‘lim omillari: havo yo‘li torayishi, venalar qisilishi, nerv refleksi, ba’zan orqa miya yorilishi.</a:t>
            </a:r>
          </a:p>
          <a:p>
            <a:pPr>
              <a:spcAft>
                <a:spcPts val="800"/>
              </a:spcAft>
            </a:pPr>
            <a:r>
              <a:rPr sz="1800">
                <a:solidFill>
                  <a:srgbClr val="1F2937"/>
                </a:solidFill>
                <a:latin typeface="Calibri"/>
              </a:rPr>
              <a:t>▸  Tipik osilishda egat til osti suyagidan yuqorida, qiyshiq-vertikal; atipikda pastroq bo‘ladi.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643987"/>
                <a:gridCol w="2643987"/>
              </a:tblGrid>
              <a:tr h="411480">
                <a:tc>
                  <a:txBody>
                    <a:bodyPr/>
                    <a:lstStyle/>
                    <a:p>
                      <a:r>
                        <a:rPr sz="1400" b="1">
                          <a:solidFill>
                            <a:srgbClr val="FFFFFF"/>
                          </a:solidFill>
                        </a:rPr>
                        <a:t>Sirtmoq</a:t>
                      </a:r>
                    </a:p>
                  </a:txBody>
                  <a:tcPr marL="73152" marR="73152" marT="36576" marB="36576">
                    <a:solidFill>
                      <a:srgbClr val="0B1F3A"/>
                    </a:solidFill>
                  </a:tcPr>
                </a:tc>
                <a:tc>
                  <a:txBody>
                    <a:bodyPr/>
                    <a:lstStyle/>
                    <a:p>
                      <a:r>
                        <a:rPr sz="1400" b="1">
                          <a:solidFill>
                            <a:srgbClr val="FFFFFF"/>
                          </a:solidFill>
                        </a:rPr>
                        <a:t>Egat belgisi</a:t>
                      </a:r>
                    </a:p>
                  </a:txBody>
                  <a:tcPr marL="73152" marR="73152" marT="36576" marB="36576">
                    <a:solidFill>
                      <a:srgbClr val="0B1F3A"/>
                    </a:solidFill>
                  </a:tcPr>
                </a:tc>
              </a:tr>
              <a:tr h="411480">
                <a:tc>
                  <a:txBody>
                    <a:bodyPr/>
                    <a:lstStyle/>
                    <a:p>
                      <a:r>
                        <a:rPr sz="1300" b="0">
                          <a:solidFill>
                            <a:srgbClr val="1F2937"/>
                          </a:solidFill>
                        </a:rPr>
                        <a:t>Qattiq (sim, zanjir)</a:t>
                      </a:r>
                    </a:p>
                  </a:txBody>
                  <a:tcPr marL="73152" marR="73152" marT="36576" marB="36576">
                    <a:solidFill>
                      <a:srgbClr val="E8EEF6"/>
                    </a:solidFill>
                  </a:tcPr>
                </a:tc>
                <a:tc>
                  <a:txBody>
                    <a:bodyPr/>
                    <a:lstStyle/>
                    <a:p>
                      <a:r>
                        <a:rPr sz="1300" b="0">
                          <a:solidFill>
                            <a:srgbClr val="1F2937"/>
                          </a:solidFill>
                        </a:rPr>
                        <a:t>Zichroq, chuqurroq egat</a:t>
                      </a:r>
                    </a:p>
                  </a:txBody>
                  <a:tcPr marL="73152" marR="73152" marT="36576" marB="36576">
                    <a:solidFill>
                      <a:srgbClr val="E8EEF6"/>
                    </a:solidFill>
                  </a:tcPr>
                </a:tc>
              </a:tr>
              <a:tr h="411480">
                <a:tc>
                  <a:txBody>
                    <a:bodyPr/>
                    <a:lstStyle/>
                    <a:p>
                      <a:r>
                        <a:rPr sz="1300" b="0">
                          <a:solidFill>
                            <a:srgbClr val="1F2937"/>
                          </a:solidFill>
                        </a:rPr>
                        <a:t>Yumshoq (sochiq, sharf)</a:t>
                      </a:r>
                    </a:p>
                  </a:txBody>
                  <a:tcPr marL="73152" marR="73152" marT="36576" marB="36576">
                    <a:solidFill>
                      <a:srgbClr val="FFFFFF"/>
                    </a:solidFill>
                  </a:tcPr>
                </a:tc>
                <a:tc>
                  <a:txBody>
                    <a:bodyPr/>
                    <a:lstStyle/>
                    <a:p>
                      <a:r>
                        <a:rPr sz="1300" b="0">
                          <a:solidFill>
                            <a:srgbClr val="1F2937"/>
                          </a:solidFill>
                        </a:rPr>
                        <a:t>Teri egati yaqqol emas</a:t>
                      </a:r>
                    </a:p>
                  </a:txBody>
                  <a:tcPr marL="73152" marR="73152" marT="36576" marB="36576">
                    <a:solidFill>
                      <a:srgbClr val="FFFFFF"/>
                    </a:solidFill>
                  </a:tcPr>
                </a:tc>
              </a:tr>
              <a:tr h="411480">
                <a:tc>
                  <a:txBody>
                    <a:bodyPr/>
                    <a:lstStyle/>
                    <a:p>
                      <a:r>
                        <a:rPr sz="1300" b="0">
                          <a:solidFill>
                            <a:srgbClr val="1F2937"/>
                          </a:solidFill>
                        </a:rPr>
                        <a:t>Yumshoq, ichki tekshiruvda</a:t>
                      </a:r>
                    </a:p>
                  </a:txBody>
                  <a:tcPr marL="73152" marR="73152" marT="36576" marB="36576">
                    <a:solidFill>
                      <a:srgbClr val="E8EEF6"/>
                    </a:solidFill>
                  </a:tcPr>
                </a:tc>
                <a:tc>
                  <a:txBody>
                    <a:bodyPr/>
                    <a:lstStyle/>
                    <a:p>
                      <a:r>
                        <a:rPr sz="1300" b="0">
                          <a:solidFill>
                            <a:srgbClr val="1F2937"/>
                          </a:solidFill>
                        </a:rPr>
                        <a:t>“Mis sim” (Kasper) belgisi</a:t>
                      </a:r>
                    </a:p>
                  </a:txBody>
                  <a:tcPr marL="73152" marR="73152" marT="36576" marB="36576">
                    <a:solidFill>
                      <a:srgbClr val="E8EEF6"/>
                    </a:solidFill>
                  </a:tcPr>
                </a:tc>
              </a:tr>
              <a:tr h="411480">
                <a:tc>
                  <a:txBody>
                    <a:bodyPr/>
                    <a:lstStyle/>
                    <a:p>
                      <a:r>
                        <a:rPr sz="1300" b="0">
                          <a:solidFill>
                            <a:srgbClr val="1F2937"/>
                          </a:solidFill>
                        </a:rPr>
                        <a:t>Tugunga qarama-qarshi tomon</a:t>
                      </a:r>
                    </a:p>
                  </a:txBody>
                  <a:tcPr marL="73152" marR="73152" marT="36576" marB="36576">
                    <a:solidFill>
                      <a:srgbClr val="FFFFFF"/>
                    </a:solidFill>
                  </a:tcPr>
                </a:tc>
                <a:tc>
                  <a:txBody>
                    <a:bodyPr/>
                    <a:lstStyle/>
                    <a:p>
                      <a:r>
                        <a:rPr sz="1300" b="0">
                          <a:solidFill>
                            <a:srgbClr val="1F2937"/>
                          </a:solidFill>
                        </a:rPr>
                        <a:t>Egat yaqqolroq va chuqurroq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Sirtmoq materiali va egat</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111-112, 113-114, 114-115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Egatning hayotiyligini aniqlash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Bahsli holatlarda egat hayotiyligini aniqlash muhim; Bokarius sinamasida teri laxtagi yorug‘likda ko‘riladi.</a:t>
            </a:r>
          </a:p>
          <a:p>
            <a:pPr>
              <a:spcAft>
                <a:spcPts val="1200"/>
              </a:spcAft>
            </a:pPr>
            <a:r>
              <a:rPr sz="2200">
                <a:solidFill>
                  <a:srgbClr val="1F2937"/>
                </a:solidFill>
                <a:latin typeface="Calibri"/>
              </a:rPr>
              <a:t>▸  Burmacha sohasida to‘laqonlik va qon quyilishi hayotiylikni bildiradi; mikroskopda Neyding (qon aylanishi buzilishi) va Kasyanov (reaktiv yallig‘lanish) belgilari topiladi.</a:t>
            </a:r>
          </a:p>
          <a:p>
            <a:pPr>
              <a:spcAft>
                <a:spcPts val="1200"/>
              </a:spcAft>
            </a:pPr>
            <a:r>
              <a:rPr sz="2200">
                <a:solidFill>
                  <a:srgbClr val="1F2937"/>
                </a:solidFill>
                <a:latin typeface="Calibri"/>
              </a:rPr>
              <a:t>▸  Yumshoq sirtmoqda egat proyeksiyasida oqimtir yo‘lka — “mis sim” (Kasper) belgisi; halqum orqasida qon quyilishi — Brouardel belgisi.</a:t>
            </a:r>
          </a:p>
          <a:p>
            <a:pPr>
              <a:spcAft>
                <a:spcPts val="1200"/>
              </a:spcAft>
            </a:pPr>
            <a:r>
              <a:rPr sz="2200">
                <a:solidFill>
                  <a:srgbClr val="1F2937"/>
                </a:solidFill>
                <a:latin typeface="Calibri"/>
              </a:rPr>
              <a:t>▸  Cho‘zilish belgilari: Amyuss — uyqu arteriyasi intimasi yorilishi, Martin — arteriya tashqi qavatida qon, Valxer — mushak pastki uchida, Simon — disklarda qon quyilishi.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116, 116-117, 115-116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Sirtmoq, qo‘l va o‘tmas jism bilan bo‘g‘ish: farqlar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Qo‘l bilan bo‘g‘ishda barmoq qontalashlari, tirnoq shilinmalari va ichki jarohatlar (suyak, tog‘ay) yaqqol.</a:t>
            </a:r>
          </a:p>
          <a:p>
            <a:pPr>
              <a:spcAft>
                <a:spcPts val="800"/>
              </a:spcAft>
            </a:pPr>
            <a:r>
              <a:rPr sz="1800">
                <a:solidFill>
                  <a:srgbClr val="1F2937"/>
                </a:solidFill>
                <a:latin typeface="Calibri"/>
              </a:rPr>
              <a:t>▸  O‘tmas jismda jarohat ta’sir yuzasi proyeksiyasida bo‘ladi: qontalash, shilinma, til osti suyagi shikasti.</a:t>
            </a:r>
          </a:p>
          <a:p>
            <a:pPr>
              <a:spcAft>
                <a:spcPts val="800"/>
              </a:spcAft>
            </a:pPr>
            <a:r>
              <a:rPr sz="1800">
                <a:solidFill>
                  <a:srgbClr val="1F2937"/>
                </a:solidFill>
                <a:latin typeface="Calibri"/>
              </a:rPr>
              <a:t>▸  Pozitsion asfiksiyada egat bo‘lmaydi; tashxis boshqa o‘lim sabablarini istisno qilish bilan qo‘yiladi.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281933"/>
                <a:gridCol w="2029727"/>
                <a:gridCol w="1976313"/>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Osilish</a:t>
                      </a:r>
                    </a:p>
                  </a:txBody>
                  <a:tcPr marL="73152" marR="73152" marT="36576" marB="36576">
                    <a:solidFill>
                      <a:srgbClr val="0B1F3A"/>
                    </a:solidFill>
                  </a:tcPr>
                </a:tc>
                <a:tc>
                  <a:txBody>
                    <a:bodyPr/>
                    <a:lstStyle/>
                    <a:p>
                      <a:r>
                        <a:rPr sz="1300" b="1">
                          <a:solidFill>
                            <a:srgbClr val="FFFFFF"/>
                          </a:solidFill>
                        </a:rPr>
                        <a:t>Sirtmoq</a:t>
                      </a:r>
                    </a:p>
                  </a:txBody>
                  <a:tcPr marL="73152" marR="73152" marT="36576" marB="36576">
                    <a:solidFill>
                      <a:srgbClr val="0B1F3A"/>
                    </a:solidFill>
                  </a:tcPr>
                </a:tc>
              </a:tr>
              <a:tr h="411480">
                <a:tc>
                  <a:txBody>
                    <a:bodyPr/>
                    <a:lstStyle/>
                    <a:p>
                      <a:r>
                        <a:rPr sz="1200" b="0">
                          <a:solidFill>
                            <a:srgbClr val="1F2937"/>
                          </a:solidFill>
                        </a:rPr>
                        <a:t>Egat yo‘nalishi</a:t>
                      </a:r>
                    </a:p>
                  </a:txBody>
                  <a:tcPr marL="73152" marR="73152" marT="36576" marB="36576">
                    <a:solidFill>
                      <a:srgbClr val="E8EEF6"/>
                    </a:solidFill>
                  </a:tcPr>
                </a:tc>
                <a:tc>
                  <a:txBody>
                    <a:bodyPr/>
                    <a:lstStyle/>
                    <a:p>
                      <a:r>
                        <a:rPr sz="1200" b="0">
                          <a:solidFill>
                            <a:srgbClr val="1F2937"/>
                          </a:solidFill>
                        </a:rPr>
                        <a:t>Qiyshiq-vertikal, bo‘yin yuqorisida</a:t>
                      </a:r>
                    </a:p>
                  </a:txBody>
                  <a:tcPr marL="73152" marR="73152" marT="36576" marB="36576">
                    <a:solidFill>
                      <a:srgbClr val="E8EEF6"/>
                    </a:solidFill>
                  </a:tcPr>
                </a:tc>
                <a:tc>
                  <a:txBody>
                    <a:bodyPr/>
                    <a:lstStyle/>
                    <a:p>
                      <a:r>
                        <a:rPr sz="1200" b="0">
                          <a:solidFill>
                            <a:srgbClr val="1F2937"/>
                          </a:solidFill>
                        </a:rPr>
                        <a:t>Gorizontal, tog‘ay sathida va pastroq</a:t>
                      </a:r>
                    </a:p>
                  </a:txBody>
                  <a:tcPr marL="73152" marR="73152" marT="36576" marB="36576">
                    <a:solidFill>
                      <a:srgbClr val="E8EEF6"/>
                    </a:solidFill>
                  </a:tcPr>
                </a:tc>
              </a:tr>
              <a:tr h="411480">
                <a:tc>
                  <a:txBody>
                    <a:bodyPr/>
                    <a:lstStyle/>
                    <a:p>
                      <a:r>
                        <a:rPr sz="1200" b="0">
                          <a:solidFill>
                            <a:srgbClr val="1F2937"/>
                          </a:solidFill>
                        </a:rPr>
                        <a:t>Cho‘zilish belgilari</a:t>
                      </a:r>
                    </a:p>
                  </a:txBody>
                  <a:tcPr marL="73152" marR="73152" marT="36576" marB="36576">
                    <a:solidFill>
                      <a:srgbClr val="FFFFFF"/>
                    </a:solidFill>
                  </a:tcPr>
                </a:tc>
                <a:tc>
                  <a:txBody>
                    <a:bodyPr/>
                    <a:lstStyle/>
                    <a:p>
                      <a:r>
                        <a:rPr sz="1200" b="0">
                          <a:solidFill>
                            <a:srgbClr val="1F2937"/>
                          </a:solidFill>
                        </a:rPr>
                        <a:t>Amyuss, Valxer, Simon bo‘lishi mumkin</a:t>
                      </a:r>
                    </a:p>
                  </a:txBody>
                  <a:tcPr marL="73152" marR="73152" marT="36576" marB="36576">
                    <a:solidFill>
                      <a:srgbClr val="FFFFFF"/>
                    </a:solidFill>
                  </a:tcPr>
                </a:tc>
                <a:tc>
                  <a:txBody>
                    <a:bodyPr/>
                    <a:lstStyle/>
                    <a:p>
                      <a:r>
                        <a:rPr sz="1200" b="0">
                          <a:solidFill>
                            <a:srgbClr val="1F2937"/>
                          </a:solidFill>
                        </a:rPr>
                        <a:t>Vujudga kelmaydi</a:t>
                      </a:r>
                    </a:p>
                  </a:txBody>
                  <a:tcPr marL="73152" marR="73152" marT="36576" marB="36576">
                    <a:solidFill>
                      <a:srgbClr val="FFFFFF"/>
                    </a:solidFill>
                  </a:tcPr>
                </a:tc>
              </a:tr>
              <a:tr h="411480">
                <a:tc>
                  <a:txBody>
                    <a:bodyPr/>
                    <a:lstStyle/>
                    <a:p>
                      <a:r>
                        <a:rPr sz="1200" b="0">
                          <a:solidFill>
                            <a:srgbClr val="1F2937"/>
                          </a:solidFill>
                        </a:rPr>
                        <a:t>Til osti suyagi, tog‘ay</a:t>
                      </a:r>
                    </a:p>
                  </a:txBody>
                  <a:tcPr marL="73152" marR="73152" marT="36576" marB="36576">
                    <a:solidFill>
                      <a:srgbClr val="E8EEF6"/>
                    </a:solidFill>
                  </a:tcPr>
                </a:tc>
                <a:tc>
                  <a:txBody>
                    <a:bodyPr/>
                    <a:lstStyle/>
                    <a:p>
                      <a:r>
                        <a:rPr sz="1200" b="0">
                          <a:solidFill>
                            <a:srgbClr val="1F2937"/>
                          </a:solidFill>
                        </a:rPr>
                        <a:t>Xos emas; sirtmoq pastda bo‘lsa mumkin</a:t>
                      </a:r>
                    </a:p>
                  </a:txBody>
                  <a:tcPr marL="73152" marR="73152" marT="36576" marB="36576">
                    <a:solidFill>
                      <a:srgbClr val="E8EEF6"/>
                    </a:solidFill>
                  </a:tcPr>
                </a:tc>
                <a:tc>
                  <a:txBody>
                    <a:bodyPr/>
                    <a:lstStyle/>
                    <a:p>
                      <a:r>
                        <a:rPr sz="1200" b="0">
                          <a:solidFill>
                            <a:srgbClr val="1F2937"/>
                          </a:solidFill>
                        </a:rPr>
                        <a:t>Tog‘ay shoxchalari sinishi mumkin</a:t>
                      </a:r>
                    </a:p>
                  </a:txBody>
                  <a:tcPr marL="73152" marR="73152" marT="36576" marB="36576">
                    <a:solidFill>
                      <a:srgbClr val="E8EEF6"/>
                    </a:solidFill>
                  </a:tcPr>
                </a:tc>
              </a:tr>
              <a:tr h="411480">
                <a:tc>
                  <a:txBody>
                    <a:bodyPr/>
                    <a:lstStyle/>
                    <a:p>
                      <a:r>
                        <a:rPr sz="1200" b="0">
                          <a:solidFill>
                            <a:srgbClr val="1F2937"/>
                          </a:solidFill>
                        </a:rPr>
                        <a:t>Yuz sianozi, murda dog‘i</a:t>
                      </a:r>
                    </a:p>
                  </a:txBody>
                  <a:tcPr marL="73152" marR="73152" marT="36576" marB="36576">
                    <a:solidFill>
                      <a:srgbClr val="FFFFFF"/>
                    </a:solidFill>
                  </a:tcPr>
                </a:tc>
                <a:tc>
                  <a:txBody>
                    <a:bodyPr/>
                    <a:lstStyle/>
                    <a:p>
                      <a:r>
                        <a:rPr sz="1200" b="0">
                          <a:solidFill>
                            <a:srgbClr val="1F2937"/>
                          </a:solidFill>
                        </a:rPr>
                        <a:t>Nisbatan kamroq</a:t>
                      </a:r>
                    </a:p>
                  </a:txBody>
                  <a:tcPr marL="73152" marR="73152" marT="36576" marB="36576">
                    <a:solidFill>
                      <a:srgbClr val="FFFFFF"/>
                    </a:solidFill>
                  </a:tcPr>
                </a:tc>
                <a:tc>
                  <a:txBody>
                    <a:bodyPr/>
                    <a:lstStyle/>
                    <a:p>
                      <a:r>
                        <a:rPr sz="1200" b="0">
                          <a:solidFill>
                            <a:srgbClr val="1F2937"/>
                          </a:solidFill>
                        </a:rPr>
                        <a:t>Yaqqolroq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Osilish va sirtmoq bilan bo‘g‘ish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118, 119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Obturatsion asfiksiya: nafas teshik va yo‘llari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Nafas teshiklari yopilganda jabrlangan qarshilik ko‘rsatmasa, umumasfiktik belgilardan boshqa xos o‘zgarish topilmaydi. Qarshilikda og‘iz-burun atrofida qontalash, shilinma bo‘ladi.</a:t>
            </a:r>
          </a:p>
          <a:p>
            <a:pPr>
              <a:spcAft>
                <a:spcPts val="1200"/>
              </a:spcAft>
            </a:pPr>
            <a:r>
              <a:rPr sz="2000">
                <a:solidFill>
                  <a:srgbClr val="1F2937"/>
                </a:solidFill>
                <a:latin typeface="Calibri"/>
              </a:rPr>
              <a:t>▸  Nafas yo‘llari yot jism (danak, tugma), sochiluvchan modda (qum, un) va suyuqlik (qon, qusuq) bilan yopiladi. Bu ko‘pincha baxtsiz hodisa hisoblanadi.</a:t>
            </a:r>
          </a:p>
          <a:p>
            <a:pPr>
              <a:spcAft>
                <a:spcPts val="1200"/>
              </a:spcAft>
            </a:pPr>
            <a:r>
              <a:rPr sz="2000">
                <a:solidFill>
                  <a:srgbClr val="1F2937"/>
                </a:solidFill>
                <a:latin typeface="Calibri"/>
              </a:rPr>
              <a:t>▸  O‘lim mexanizmi: havo o‘tishining qiyinlashuvi, tovush boylamlarining reflektor spazmi yoki yurakning reflektor to‘xtashi. Asfiksiya belgilari to‘liq shakllanmasdan ham o‘lim bo‘lishi mumkin.</a:t>
            </a:r>
          </a:p>
          <a:p>
            <a:pPr>
              <a:spcAft>
                <a:spcPts val="1200"/>
              </a:spcAft>
            </a:pPr>
            <a:r>
              <a:rPr sz="2000">
                <a:solidFill>
                  <a:srgbClr val="1F2937"/>
                </a:solidFill>
                <a:latin typeface="Calibri"/>
              </a:rPr>
              <a:t>▸  Diqqat: nafas yo‘lidagi qusuq massa har doim asfiksiya degani emas. Massaj, tashish, chirishda tushgan massa oz bo‘ladi va kichik bronx, alveolalarda topilmaydi; aspiratsiyada esa u shu yerlargacha yetadi.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119, 120, 120-121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Chin va asfiktik cho‘kish: solishtirma jadval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Chin cho‘kishda ko‘pik turg‘un, mayda pufakli (Krushevskiy belgisi); asfiktik cho‘kishda oz va noturg‘un bo‘ladi.</a:t>
            </a:r>
          </a:p>
          <a:p>
            <a:pPr>
              <a:spcAft>
                <a:spcPts val="800"/>
              </a:spcAft>
            </a:pPr>
            <a:r>
              <a:rPr sz="1800">
                <a:solidFill>
                  <a:srgbClr val="1F2937"/>
                </a:solidFill>
                <a:latin typeface="Calibri"/>
              </a:rPr>
              <a:t>▸  Asfiktik cho‘kishda yurakning havo emboliyasi bo‘ladi; Sunsov sinamasida chap qorincha teshiladi.</a:t>
            </a:r>
          </a:p>
          <a:p>
            <a:pPr>
              <a:spcAft>
                <a:spcPts val="800"/>
              </a:spcAft>
            </a:pPr>
            <a:r>
              <a:rPr sz="1800">
                <a:solidFill>
                  <a:srgbClr val="1F2937"/>
                </a:solidFill>
                <a:latin typeface="Calibri"/>
              </a:rPr>
              <a:t>▸  Sho‘r suvda qon quyuqlashadi va Rasskazov-Lukomskiy-Paltauf dog‘lari hosil bo‘lmaydi.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044538"/>
                <a:gridCol w="2154360"/>
                <a:gridCol w="2089076"/>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Chin cho‘kish</a:t>
                      </a:r>
                    </a:p>
                  </a:txBody>
                  <a:tcPr marL="73152" marR="73152" marT="36576" marB="36576">
                    <a:solidFill>
                      <a:srgbClr val="0B1F3A"/>
                    </a:solidFill>
                  </a:tcPr>
                </a:tc>
                <a:tc>
                  <a:txBody>
                    <a:bodyPr/>
                    <a:lstStyle/>
                    <a:p>
                      <a:r>
                        <a:rPr sz="1300" b="1">
                          <a:solidFill>
                            <a:srgbClr val="FFFFFF"/>
                          </a:solidFill>
                        </a:rPr>
                        <a:t>Asfiktik</a:t>
                      </a:r>
                    </a:p>
                  </a:txBody>
                  <a:tcPr marL="73152" marR="73152" marT="36576" marB="36576">
                    <a:solidFill>
                      <a:srgbClr val="0B1F3A"/>
                    </a:solidFill>
                  </a:tcPr>
                </a:tc>
              </a:tr>
              <a:tr h="411480">
                <a:tc>
                  <a:txBody>
                    <a:bodyPr/>
                    <a:lstStyle/>
                    <a:p>
                      <a:r>
                        <a:rPr sz="1200" b="0">
                          <a:solidFill>
                            <a:srgbClr val="1F2937"/>
                          </a:solidFill>
                        </a:rPr>
                        <a:t>Suv va o‘pka</a:t>
                      </a:r>
                    </a:p>
                  </a:txBody>
                  <a:tcPr marL="73152" marR="73152" marT="36576" marB="36576">
                    <a:solidFill>
                      <a:srgbClr val="E8EEF6"/>
                    </a:solidFill>
                  </a:tcPr>
                </a:tc>
                <a:tc>
                  <a:txBody>
                    <a:bodyPr/>
                    <a:lstStyle/>
                    <a:p>
                      <a:r>
                        <a:rPr sz="1200" b="0">
                          <a:solidFill>
                            <a:srgbClr val="1F2937"/>
                          </a:solidFill>
                        </a:rPr>
                        <a:t>Alveolagacha; xamirsimon o‘pka</a:t>
                      </a:r>
                    </a:p>
                  </a:txBody>
                  <a:tcPr marL="73152" marR="73152" marT="36576" marB="36576">
                    <a:solidFill>
                      <a:srgbClr val="E8EEF6"/>
                    </a:solidFill>
                  </a:tcPr>
                </a:tc>
                <a:tc>
                  <a:txBody>
                    <a:bodyPr/>
                    <a:lstStyle/>
                    <a:p>
                      <a:r>
                        <a:rPr sz="1200" b="0">
                          <a:solidFill>
                            <a:srgbClr val="1F2937"/>
                          </a:solidFill>
                        </a:rPr>
                        <a:t>Yetmaydi; keskin emfizema</a:t>
                      </a:r>
                    </a:p>
                  </a:txBody>
                  <a:tcPr marL="73152" marR="73152" marT="36576" marB="36576">
                    <a:solidFill>
                      <a:srgbClr val="E8EEF6"/>
                    </a:solidFill>
                  </a:tcPr>
                </a:tc>
              </a:tr>
              <a:tr h="411480">
                <a:tc>
                  <a:txBody>
                    <a:bodyPr/>
                    <a:lstStyle/>
                    <a:p>
                      <a:r>
                        <a:rPr sz="1200" b="0">
                          <a:solidFill>
                            <a:srgbClr val="1F2937"/>
                          </a:solidFill>
                        </a:rPr>
                        <a:t>Plevra ostida</a:t>
                      </a:r>
                    </a:p>
                  </a:txBody>
                  <a:tcPr marL="73152" marR="73152" marT="36576" marB="36576">
                    <a:solidFill>
                      <a:srgbClr val="FFFFFF"/>
                    </a:solidFill>
                  </a:tcPr>
                </a:tc>
                <a:tc>
                  <a:txBody>
                    <a:bodyPr/>
                    <a:lstStyle/>
                    <a:p>
                      <a:r>
                        <a:rPr sz="1200" b="0">
                          <a:solidFill>
                            <a:srgbClr val="1F2937"/>
                          </a:solidFill>
                        </a:rPr>
                        <a:t>Rasskazov-Lukomskiy-Paltauf dog‘i</a:t>
                      </a:r>
                    </a:p>
                  </a:txBody>
                  <a:tcPr marL="73152" marR="73152" marT="36576" marB="36576">
                    <a:solidFill>
                      <a:srgbClr val="FFFFFF"/>
                    </a:solidFill>
                  </a:tcPr>
                </a:tc>
                <a:tc>
                  <a:txBody>
                    <a:bodyPr/>
                    <a:lstStyle/>
                    <a:p>
                      <a:r>
                        <a:rPr sz="1200" b="0">
                          <a:solidFill>
                            <a:srgbClr val="1F2937"/>
                          </a:solidFill>
                        </a:rPr>
                        <a:t>Faqat Tarde dog‘lari</a:t>
                      </a:r>
                    </a:p>
                  </a:txBody>
                  <a:tcPr marL="73152" marR="73152" marT="36576" marB="36576">
                    <a:solidFill>
                      <a:srgbClr val="FFFFFF"/>
                    </a:solidFill>
                  </a:tcPr>
                </a:tc>
              </a:tr>
              <a:tr h="411480">
                <a:tc>
                  <a:txBody>
                    <a:bodyPr/>
                    <a:lstStyle/>
                    <a:p>
                      <a:r>
                        <a:rPr sz="1200" b="0">
                          <a:solidFill>
                            <a:srgbClr val="1F2937"/>
                          </a:solidFill>
                        </a:rPr>
                        <a:t>Qon</a:t>
                      </a:r>
                    </a:p>
                  </a:txBody>
                  <a:tcPr marL="73152" marR="73152" marT="36576" marB="36576">
                    <a:solidFill>
                      <a:srgbClr val="E8EEF6"/>
                    </a:solidFill>
                  </a:tcPr>
                </a:tc>
                <a:tc>
                  <a:txBody>
                    <a:bodyPr/>
                    <a:lstStyle/>
                    <a:p>
                      <a:r>
                        <a:rPr sz="1200" b="0">
                          <a:solidFill>
                            <a:srgbClr val="1F2937"/>
                          </a:solidFill>
                        </a:rPr>
                        <a:t>Gemodilyusiya, gemoliz</a:t>
                      </a:r>
                    </a:p>
                  </a:txBody>
                  <a:tcPr marL="73152" marR="73152" marT="36576" marB="36576">
                    <a:solidFill>
                      <a:srgbClr val="E8EEF6"/>
                    </a:solidFill>
                  </a:tcPr>
                </a:tc>
                <a:tc>
                  <a:txBody>
                    <a:bodyPr/>
                    <a:lstStyle/>
                    <a:p>
                      <a:r>
                        <a:rPr sz="1200" b="0">
                          <a:solidFill>
                            <a:srgbClr val="1F2937"/>
                          </a:solidFill>
                        </a:rPr>
                        <a:t>Gemodilyusiya yo‘q</a:t>
                      </a:r>
                    </a:p>
                  </a:txBody>
                  <a:tcPr marL="73152" marR="73152" marT="36576" marB="36576">
                    <a:solidFill>
                      <a:srgbClr val="E8EEF6"/>
                    </a:solidFill>
                  </a:tcPr>
                </a:tc>
              </a:tr>
              <a:tr h="411480">
                <a:tc>
                  <a:txBody>
                    <a:bodyPr/>
                    <a:lstStyle/>
                    <a:p>
                      <a:r>
                        <a:rPr sz="1200" b="0">
                          <a:solidFill>
                            <a:srgbClr val="1F2937"/>
                          </a:solidFill>
                        </a:rPr>
                        <a:t>Suv miqdori</a:t>
                      </a:r>
                    </a:p>
                  </a:txBody>
                  <a:tcPr marL="73152" marR="73152" marT="36576" marB="36576">
                    <a:solidFill>
                      <a:srgbClr val="FFFFFF"/>
                    </a:solidFill>
                  </a:tcPr>
                </a:tc>
                <a:tc>
                  <a:txBody>
                    <a:bodyPr/>
                    <a:lstStyle/>
                    <a:p>
                      <a:r>
                        <a:rPr sz="1200" b="0">
                          <a:solidFill>
                            <a:srgbClr val="1F2937"/>
                          </a:solidFill>
                        </a:rPr>
                        <a:t>Oshqozonda 300 ml gacha</a:t>
                      </a:r>
                    </a:p>
                  </a:txBody>
                  <a:tcPr marL="73152" marR="73152" marT="36576" marB="36576">
                    <a:solidFill>
                      <a:srgbClr val="FFFFFF"/>
                    </a:solidFill>
                  </a:tcPr>
                </a:tc>
                <a:tc>
                  <a:txBody>
                    <a:bodyPr/>
                    <a:lstStyle/>
                    <a:p>
                      <a:r>
                        <a:rPr sz="1200" b="0">
                          <a:solidFill>
                            <a:srgbClr val="1F2937"/>
                          </a:solidFill>
                        </a:rPr>
                        <a:t>Oshqozonda 1 l gacha; Sveshnikov</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Chin va asfiktik cho‘kish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122-123, 123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Cho‘kishning hayotiyligi va suvda bo‘lganlik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Chin cho‘kishda diatom planktoni qonga o‘tib, parenximatoz a’zolar va suyak miyada topiladi; u havza suviga mos kelishi kerak. Faqat o‘pkada topilishi ahamiyatsiz.</a:t>
            </a:r>
          </a:p>
          <a:p>
            <a:pPr>
              <a:spcAft>
                <a:spcPts val="1200"/>
              </a:spcAft>
            </a:pPr>
            <a:r>
              <a:rPr sz="2000">
                <a:solidFill>
                  <a:srgbClr val="1F2937"/>
                </a:solidFill>
                <a:latin typeface="Calibri"/>
              </a:rPr>
              <a:t>▸  Qo‘shimcha usullar: psevdoplankton (polyarizatsion mikroskopiya), suv bakteriyalari, krioskopik, refraktometrik tekshiruv. Suvga tushishda reflektor to‘xtashda asfiksiya belgilari rivojlanmaydi.</a:t>
            </a:r>
          </a:p>
          <a:p>
            <a:pPr>
              <a:spcAft>
                <a:spcPts val="1200"/>
              </a:spcAft>
            </a:pPr>
            <a:r>
              <a:rPr sz="2000">
                <a:solidFill>
                  <a:srgbClr val="1F2937"/>
                </a:solidFill>
                <a:latin typeface="Calibri"/>
              </a:rPr>
              <a:t>▸  Soatlardan so‘ng barmoqlar bujmayadi; 2-5 kunda “kir yuvuvchi qo‘l”, 2-3 haftada “o‘lim qo‘lqopi”, 10-15 kunda soch oson sug‘uriladi.</a:t>
            </a:r>
          </a:p>
          <a:p>
            <a:pPr>
              <a:spcAft>
                <a:spcPts val="1200"/>
              </a:spcAft>
            </a:pPr>
            <a:r>
              <a:rPr sz="2000">
                <a:solidFill>
                  <a:srgbClr val="1F2937"/>
                </a:solidFill>
                <a:latin typeface="Calibri"/>
              </a:rPr>
              <a:t>▸  Diqqat: bu o‘zgarishlar o‘lim sababini ko‘rsatmaydi. Yangi tug‘ilganda esa mo‘msimon qoplama terini matseratsiyadan himoya qiladi.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124-125, 124, 126, 127-128, 128-129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Kompression va cheklangan muhitdagi asfiksiya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Kompression asfiksiya ko‘krak va qorin o‘tmas jismlar bilan qisilib, nafas harakati cheklanganda yuz beradi. Ko‘pincha yer qimirlashi, qulash, olomon qisilishida uchraydi.</a:t>
            </a:r>
          </a:p>
          <a:p>
            <a:pPr>
              <a:spcAft>
                <a:spcPts val="1200"/>
              </a:spcAft>
            </a:pPr>
            <a:r>
              <a:rPr sz="2000">
                <a:solidFill>
                  <a:srgbClr val="1F2937"/>
                </a:solidFill>
                <a:latin typeface="Calibri"/>
              </a:rPr>
              <a:t>▸  Frontal qisilish yonlama qisilishdan xavfliroq. Ko‘krak va qorin bir vaqtda qisilsa, o‘pka, yurak va diafragma harakati buziladi. Faqat qorin qisilishiga organizm chidamliroq.</a:t>
            </a:r>
          </a:p>
          <a:p>
            <a:pPr>
              <a:spcAft>
                <a:spcPts val="1200"/>
              </a:spcAft>
            </a:pPr>
            <a:r>
              <a:rPr sz="2000">
                <a:solidFill>
                  <a:srgbClr val="1F2937"/>
                </a:solidFill>
                <a:latin typeface="Calibri"/>
              </a:rPr>
              <a:t>▸  Xos belgilar: yuz shishi va ko‘kimtirligi, yuz-bo‘yin-ko‘krakda qon quyilishlar — “ekximotik niqob” (Olive-Danjer). O‘pka yorqin qizil “karmin shishishi” (Lakkasan).</a:t>
            </a:r>
          </a:p>
          <a:p>
            <a:pPr>
              <a:spcAft>
                <a:spcPts val="1200"/>
              </a:spcAft>
            </a:pPr>
            <a:r>
              <a:rPr sz="2000">
                <a:solidFill>
                  <a:srgbClr val="1F2937"/>
                </a:solidFill>
                <a:latin typeface="Calibri"/>
              </a:rPr>
              <a:t>▸  Cheklangan muhitda kislorod kamayib, karbonat angidrid ko‘payadi. Bolalar uchun xavfli chegara 2,0–2,5%, kattalarda 8–10%; asfiksiyaga xos alohida belgi bo‘lmaydi.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129, 130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4: asfiksiyaning turi va hayotiyligi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suv havzasidan murda chiqarilgan. Og‘iz va burun atrofida mayda pufakli oq ko‘pik, nafas yo‘llarida suv bilan kirgan yot moddalar, oshqozonda suv aniqlangan.</a:t>
            </a:r>
          </a:p>
          <a:p>
            <a:pPr>
              <a:spcAft>
                <a:spcPts val="1200"/>
              </a:spcAft>
            </a:pPr>
            <a:r>
              <a:rPr sz="2000">
                <a:solidFill>
                  <a:srgbClr val="1F2937"/>
                </a:solidFill>
                <a:latin typeface="Calibri"/>
              </a:rPr>
              <a:t>▸  Chin cho‘kishda suv alveolalargacha yetadi, turg‘un mayda pufakli oq ko‘pik (Krushevskiy belgisi) bo‘ladi. Oshqozonda 300 ml gacha suv topilishi mumkin (Fegerlund).</a:t>
            </a:r>
          </a:p>
          <a:p>
            <a:pPr>
              <a:spcAft>
                <a:spcPts val="1200"/>
              </a:spcAft>
            </a:pPr>
            <a:r>
              <a:rPr sz="2000">
                <a:solidFill>
                  <a:srgbClr val="1F2937"/>
                </a:solidFill>
                <a:latin typeface="Calibri"/>
              </a:rPr>
              <a:t>▸  Asfiktik cho‘kishda laringospazm tufayli suv nafas yo‘llariga o‘tmaydi, nafas yo‘llarida suv va yot modda topilmaydi, oshqozonda esa 1 l gacha suv bo‘lishi mumkin.</a:t>
            </a:r>
          </a:p>
          <a:p>
            <a:pPr>
              <a:spcAft>
                <a:spcPts val="1200"/>
              </a:spcAft>
            </a:pPr>
            <a:r>
              <a:rPr sz="2000">
                <a:solidFill>
                  <a:srgbClr val="1F2937"/>
                </a:solidFill>
                <a:latin typeface="Calibri"/>
              </a:rPr>
              <a:t>▸  Savol: qaysi tur? Hayotiylikni diatom planktoni tasdiqlaydi: u parenximatoz a’zolar va suyak miyada topilsa va havza suviga mos kelsa. O‘pkadagi topilma ahamiyatsiz.</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122, 123, 125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asosiy tezislar va nazorat savollari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Sud tibbiyotida yangi tug‘ilganlik — dastlabki 24 soat. Mutlaq belgilar: o‘pkaning birlamchi atelektazi, demarkatsion halqa yo‘qligi yoki dastlabki belgisi, ajratilmagan kindik.</a:t>
            </a:r>
          </a:p>
          <a:p>
            <a:pPr>
              <a:spcAft>
                <a:spcPts val="1200"/>
              </a:spcAft>
            </a:pPr>
            <a:r>
              <a:rPr sz="2000">
                <a:solidFill>
                  <a:srgbClr val="1F2937"/>
                </a:solidFill>
                <a:latin typeface="Calibri"/>
              </a:rPr>
              <a:t>▸  Tirik tug‘ilganlik asosan go‘dak nafas olgan-olmaganligi bilan hal etiladi: o‘pka va oshqozon-ichak sinamalari, makro- va mikroskopik tekshiruv o‘tkaziladi.</a:t>
            </a:r>
          </a:p>
          <a:p>
            <a:pPr>
              <a:spcAft>
                <a:spcPts val="1200"/>
              </a:spcAft>
            </a:pPr>
            <a:r>
              <a:rPr sz="2000">
                <a:solidFill>
                  <a:srgbClr val="1F2937"/>
                </a:solidFill>
                <a:latin typeface="Calibri"/>
              </a:rPr>
              <a:t>▸  Antenatal o‘lim ko‘pincha yo‘ldosh va kindik bilan bog‘liq homila ichi asfiksiyadan; intranatalda asosiy sabab tug‘ruq travmasi; zo‘raki o‘lim asosan postnatal davrda.</a:t>
            </a:r>
          </a:p>
          <a:p>
            <a:pPr>
              <a:spcAft>
                <a:spcPts val="1200"/>
              </a:spcAft>
            </a:pPr>
            <a:r>
              <a:rPr sz="2000">
                <a:solidFill>
                  <a:srgbClr val="1F2937"/>
                </a:solidFill>
                <a:latin typeface="Calibri"/>
              </a:rPr>
              <a:t>▸  Umumasfiktik belgilar (masalan, Tarde dog‘lari) spetsifik emas, ularning majmuasi baholanadi. Cho‘kish hayotiyligini diatom planktoni tekshiruvi tasdiqlaydi.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259, 264, 111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80</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Eslab qoling: “yangi tug‘ilganlik” har fanda har xil. Pediatriyada 4 hafta, akusherlikda 7 kun, sud tibbiyotida dastlabki 24 soat. Bu farq Jinoyat kodeksining 99-moddasi bilan bog‘liq.</a:t>
            </a:r>
          </a:p>
          <a:p>
            <a:pPr>
              <a:spcAft>
                <a:spcPts val="1200"/>
              </a:spcAft>
            </a:pPr>
            <a:r>
              <a:rPr sz="1800">
                <a:solidFill>
                  <a:srgbClr val="1F2937"/>
                </a:solidFill>
                <a:latin typeface="Calibri"/>
              </a:rPr>
              <a:t>▸  Hodisa tahlili: Gaaze formulasi bo‘yicha tana uzunligi 16 sm bo‘lsa, gestatsion yosh 4 homila oyi. Tana 40 sm bo‘lsa, 8 oy chiqadi (birinchi yarmida kvadrat ildiz, ikkinchi yarmida 5 ga bo‘linadi).</a:t>
            </a:r>
          </a:p>
          <a:p>
            <a:pPr>
              <a:spcAft>
                <a:spcPts val="1200"/>
              </a:spcAft>
            </a:pPr>
            <a:r>
              <a:rPr sz="1800">
                <a:solidFill>
                  <a:srgbClr val="1F2937"/>
                </a:solidFill>
                <a:latin typeface="Calibri"/>
              </a:rPr>
              <a:t>▸  Eslab qolish usuli: asfiktik davrning 5 bosqichi: inspirator hansirash, ekspirator hansirash, nafasning qisqa to‘xtashi, terminal nafas, nafasning to‘liq to‘xtashi. Undan oldin 20-30 soniyalik preasfiktik davr bo‘ladi.</a:t>
            </a:r>
          </a:p>
          <a:p>
            <a:pPr>
              <a:spcAft>
                <a:spcPts val="1200"/>
              </a:spcAft>
            </a:pPr>
            <a:r>
              <a:rPr sz="1800">
                <a:solidFill>
                  <a:srgbClr val="1F2937"/>
                </a:solidFill>
                <a:latin typeface="Calibri"/>
              </a:rPr>
              <a:t>▸  Diqqat, xato xavfi: Tarde dog‘lari epikard va visseral plevra ostida bo‘ladi. Rasskazov-Lukomskiy-Paltauf dog‘lari chin cho‘kishda faqat plevra ostida uchraydi. Sho‘r suvda esa umuman hosil bo‘lmaydi.</a:t>
            </a:r>
          </a:p>
          <a:p>
            <a:pPr>
              <a:spcAft>
                <a:spcPts val="1200"/>
              </a:spcAft>
            </a:pPr>
            <a:r>
              <a:rPr sz="1800">
                <a:solidFill>
                  <a:srgbClr val="1F2937"/>
                </a:solidFill>
                <a:latin typeface="Calibri"/>
              </a:rPr>
              <a:t>▸  Hodisa tahlili: o‘pka to‘qimasida diatom planktoni topilishi o‘zi isbot emas, chunki o‘limdan keyin suvga tushganda ham topilishi mumkin. Parenximatoz a’zolar va suyak miyadagi plankton hayotiy cho‘kishni ko‘rsatadi.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Pediatr 4 haftalik chaqaloqni “yangi tug‘ilgan” deb hisoblaydi. Sud tibbiyotida yangi tug‘ilganlik davri qancha vaqtni tashkil etadi?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Tug‘ruqdan keyingi dastlabki 24 soatni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Tug‘ruqdan keyingi dastlabki 7 kunni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Tug‘ruqdan keyingi dastlabki 4 haftani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Tug‘ruqdan keyingi dastlabki 3 sutkani</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Chaqaloq boshidagi yumshoq shish suyaklararo choklar proeksiyasida ham aniqlanadi. Kesib ko‘rilganda to‘qima qizg‘ish-sarg‘ish. Bu qaysi holat?</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Kefalogematoma: suyak usti pardasi ostiga qon quyilishi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Tug‘ruq shishi: yumshoq to‘qimalarning seroz shishishi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Bosh terisi matseratsiyasi: qog‘onoq suvlari ta’siri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Kalla gumbazi suyaklarining sinishi: tug‘ruq travmasi</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 topilgan go‘dak murdasida qon izlari, mo‘msimon qoplama va mekoniyni aniqladi. Quyidagilardan qaysi biri yangi tug‘ilganlikning absolyut (mutloq ishonchli) belgisi hisoblanadi?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Tanada qon izlarining topilishi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Tug‘ruq shishining mavjudligi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O‘pkaning birlamchi atelektazi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Orqa chiqaruv teshigi atrofida mekoniy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Rasо go‘dak ichagidan mekoniy (birlamchi najas) odatda tug‘ruqdan keyin qancha muddat ichida to‘liq chiqariladi?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Tug‘ruqdan keyin 5-7 kun ichida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Tug‘ruqdan keyin 3-4 kun ichida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Tug‘ruqdan keyin bir hafta o‘tgach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Tug‘ruqdan keyin 1-2 kun ichida</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O‘pka sinamasida ko‘krak a’zolari kompleksi suvli idishga solinganda cho‘kdi. Ekspert keyingi qadamda nima qiladi?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Sinamani manfiy deb yakunlaydi va keyingi bosqichga o‘tmaydi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Alohida kesib olingan o‘pkalar, bo‘laklar, bo‘lakchalarni suvga soladi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Natijani musbat deb baholaydi va sinamani darhol to‘xtatadi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Traxeya ligaturasini olib tashlab, kompleksni qayta suvga soladi</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Chirigan chaqaloq murdasida o‘pka bo‘lakchasi suv yuzasiga qalqib chiqdi. Uning chirish gazi hisobiga ekanini qaysi amal ko‘rsatadi?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Bo‘lakcha muzlatilib, to‘liq erigach qayta suvga solinadi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Bo‘lakcha suv ostida qo‘l bilan siqiladi va qayta suzib chiqmaydi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Bo‘lakchaga sun’iy nafas oldirilib, so‘ng suvga solinadi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Bo‘lakcha past bosimli kolbada suvga tushirib ko‘riladi</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Rentgenologik sinama hozirgi sud-tibbiy ekspertiza amaliyotida nima sababdan qo‘llanmaydi?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o‘lik tug‘ilgan chaqaloqlarda natija berishi mumkin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Havoni faqat oshqozonda aniqlaydi, o‘pkada ko‘rsata olmaydi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Uni faqat murda ochilgandan keyin o‘tkazish mumkin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Nafas olgan o‘pkani sun’iy ventillyasiya va chirish gazidan farqlamaydi</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Chaqaloq o‘pkasi mikroskopida alveolalar yoyilmagan, epiteliy kubsimon, to‘siqlar qalin, kapillyarlarda qon yo‘q. Qaysi xulosa to‘g‘ri?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Chaqaloq o‘lik tug‘ilgan, o‘pka nafas olmagan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Chaqaloq tirik tug‘ilgan, o‘pka nafas olgan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Chaqaloq tirik tug‘ilgan, ikkilamchi atelektaz bor</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Chaqaloq tirik tug‘ilgan, gialin membrana hosil bo‘lgan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Homilaning tana uzunligi 45 sm. Homiladorlikning ikkinchi yarmi uchun Gaaze formulasiga ko‘ra gestatsion yosh necha homila oyi?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7 homila oyi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8 homila oyi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9 homila oyi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10 homila oyi</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Tirik tug‘ilgan chaqaloq murdasida havo faqat oshqozonda topildi, ichaklarda yo‘q. U ona organizmidan tashqarida qancha yashagan?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3 soatdan kam yashagan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5-6 soat yashagan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6 soatdan ko‘proq yashagan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bir sutkadan ortiq yashagan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Homila murdasida qog‘onoq suvlarida ko‘p mekoniy, yo‘g‘on ichak bo‘shlig‘i torayganligi aniqlandi. Kindik bo‘yin atrofida o‘ralgan. Eng ehtimoliy o‘lim sababi qaysi?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Tug‘ruq travmasi tufayli kalla gumbazi suyaklarining sinishi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Kindikning bo‘yin atrofida o‘ralishidan homila ichi asfiksiyasi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Yangi tug‘ilganlarning gemolitik kasalligidan kelib chiqqan o‘lim</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Qarovsiz qoldirilishi natijasida sovuq qotishdan o‘lim</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Yangi tug‘ilgan go‘dak qarovsiz qoldirilgan va kindigi boylanmagan holda topildi. Passiv go‘dak o‘ldirishda bu holat uchun xos o‘lim sababi qaysi?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Sirtmoq bilan bo‘g‘ilishdan kelib chiqqan mexanik asfiksiya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Nafas teshiklarining qo‘l bilan yopilishidan asfiksiya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Tug‘ruq travmasi natijasida kalla ichi qon quyilishi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Kindikdan sodir bo‘lgan tashqi qon ketish</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Homila va yangi tug‘ilgan go‘dak murdasini ichki tekshirishda og‘iz bo‘shlig‘i va tanglayni o‘rganish uchun asosiy o‘rta kesma qayerdan boshlanadi?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Pastki labdan boshlanadi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Iyak sohasidan boshlanadi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Yuqori labdan boshlanadi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Pastki jag‘ burchagidan boshlanadi</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Tor tosda tug‘ruq cho‘zilgan. Go‘dak murdasida tepa suyaklarida siniq va miyacha chodiri yorilishida qon quyilish bor, tashqi yaralar yo‘q. O‘limning eng ehtimoliy sababi qaysi?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Antenatal davrda yo‘ldoshning muddatdan oldin ko‘chishi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Postnatal davrda qo‘l bilan bo‘g‘ish orqali aktiv o‘ldirish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Intranatal davrda tug‘ruq travmasidan bosh miyaning shikastlanishi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Postnatal davrda passiv o‘ldirishda sovuq qotish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Asfiksiyada karbonat angidrid ta’sirida nafas olish tezlashadi, nafas olish davomiyligi ortadi, hush 40-60 soniyada yo‘qoladi. Bu asfiktik davrning qaysi bosqichi?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Inspirator hansirash bosqichi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Ekspirator hansirash bosqichi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Nafasning qisqa vaqtga to‘xtashi bosqichi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Terminal nafas olish bosqichi</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Yurak-qon tomir kasalligi bor shaxs osilib o‘lgan. Yurakning reflektor to‘xtashiga bu holatda qaysi omil eng ko‘p olib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Umurtqa arteriyalarining to‘liq berkilib qolishi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Adashgan nerv va sinokarotid tugunning qisilishi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Halqum orqa devoriga qon quyilishlar paydo bo‘lishi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Qizilo‘ngachning sirtmoq bilan to‘liq yopilishi</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Murdadagi strangulyatsion egatdan teri laxtagi olinib, yog‘idan tozalandi va ikki oynacha orasida yorug‘likda ko‘rildi. Burmacha sohasida to‘laqonlik va qon quyilish topildi. Bu nimani bildiradi?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Egat o‘limdan keyin yetkazilgan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Egat chirish jarayonidan hosil bo‘lgan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Bo‘yin yumshoq to‘qimalari butun saqlangan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Egat hayot vaqtida yetkazilgan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Murdaning bo‘yinida gorizontal, tutashgan egat bor va u qalqonsimon tog‘ay sathida joylashgan. Til osti suyagi butun, Amyuss, Valxer va Simon belgilari yo‘q. Qaysi asfiksiya turiga eng mos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Bo‘yinni sirtmoq bilan bo‘g‘ish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Tipik to‘liq osilish holati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Bo‘yinni qo‘l bilan bo‘g‘ish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Boshning bukilishidan pozitsion asfiksiya</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Reanimatsiya (yurakning bilvosita massaji) qilingan murdada nafas yo‘llarida oz miqdorda qusuq massa topildi. Kichik bronxlar va alveolalarda u yo‘q. Eng to‘g‘ri baho qaysi?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Obturatsion asfiksiya isbotlangan, sababi qusuq aspiratsiyasi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Chin cho‘kish natijasida qusuq massa nafas yo‘liga tushgan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Massa o‘limdan keyin tushgan bo‘lishi mumkin, asfiksiya shart emas</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Massa faqat tug‘ruq travmasi tufayli nafas yo‘liga kirgan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Suvdan chiqarilgan murdada diatom planktoni tekshirildi. Qaysi topilma cho‘kishning hayotiyligidan dalolat beradi?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Diatom faqat o‘pka to‘qimasida topildi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Diatom parenximatoz a’zolar va suyak miyasida topildi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Diatom faqat kiyim sirtidagi balchiqda topildi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Diatom murda topilgan havzadan boshqa suvda topildi</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Tug‘ruqdan keyingi dastlabki 24 soatni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Sud tibbiyotida yangi tug‘ilganlik davri dastlabki 24 soat. Pediatriyada bu davr 4 hafta (neonatal davr), akusherlik-ginekologiyada 7 kun. Bu farq qonunchilik talablari bilan bog‘liq: JKning 99-moddasi onaning go‘dagini tug‘ish vaqtida yoki tug‘ilishi hamon qasddan o‘ldirishini alohida ajratadi.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256-bet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Tug‘ruq shishi: yumshoq to‘qimalarning seroz shishishi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Tug‘ruq shishi suyaklararo choklar proeksiyasida ham aniqlanadi. Kesganda qon aralash seroz suyuqlik tufayli qizg‘ish-sariq ko‘rinadi va 2-3 kunda so‘riladi. Kefalogematoma esa bir yoki bir necha suyak proeksiyasida bo‘lib, choklar bilan chegaralanadi.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257-bet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O‘pkaning birlamchi atelektazi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Absolyut belgilar: o‘pkaning birlamchi atelektazi, kindikda demarkatsion halqaning yo‘qligi yoki dastlabki belgilari, tana va yo‘ldoshdan ajratilmagan kindik. Qolgan belgilar nisbiy bo‘lib, go‘dak hayotining 2-kunida va keyin ham aniqlanishi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258-259-bet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Tug‘ruqdan keyin 1-2 kun ichida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Rasо go‘daklarda mekoniy odatda 1-2 kun ichida ichakdan to‘liq chiqariladi. Norasо tug‘ilgan go‘daklarda bu muddat uzoqroq, 3-4 kungacha davom etadi.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257-bet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Alohida kesib olingan o‘pkalar, bo‘laklar, bo‘lakchalarni suvga soladi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Kompleks cho‘ksa, natija manfiy hisoblanadi. Keyingi bosqichlarda alohida kesib olingan o‘pkalar, ularning bo‘laklari va bo‘lakchalari suvga solinadi. Musbat natija olingan bosqichda sinama to‘xtatiladi.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259-bet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Bo‘lakcha suv ostida qo‘l bilan siqiladi va qayta suzib chiqmaydi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Chirish gazi hisobiga qalqigan bo‘lakcha suv ostida yaxshi siqilsa, qayta suzib chiqmaydi. Nafas olgan o‘pkada esa havo alveolalarda qoladi. Past bosimli kolba Taranuxin usuli bo‘lib, ikkilamchi atelektazda ishlatiladi.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259-bet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Nafas olgan o‘pkani sun’iy ventillyasiya va chirish gazidan farqlamaydi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Sinama murdani ochishdan oldin o‘pka, oshqozon va ichakdagi havoni aniqlaydi. Lekin nafas olgan o‘pkani sun’iy ventillyasiya va chirish gazlaridan ajratib bo‘lmaydi. Maxsus jihoz kerakligi ham sabab.</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260-bet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Chaqaloq o‘lik tug‘ilgan, o‘pka nafas olmagan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Nafas olmagan o‘pkada alveolalar yoyilmagan, epiteliy kubsimon, to‘siqlar qalin, kapillyarlarda qon bo‘lmaydi. Nafas olganda alveolalar yoyiladi, epiteliy yassilashadi, kapillyarlar to‘laqon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261-bet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9 homila oyi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Gaaze formulasida homiladorlikning ikkinchi yarmida tana uzunligi beshga bo‘linadi: 45 : 5 = 9 homila oyi. Birinchi yarmida esa tana uzunligidan kvadrat ildiz chiqariladi.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262-bet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3 soatdan kam yashagan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Havo faqat oshqozonda bo‘lsa, go‘dak 3 soatdan kam yashagan. 5-6 soatga kelib havo ingichka ichakni to‘ldiradi, 6 soatdan keyin yo‘g‘on ichakka o‘tadi. Muddatlar taxminiy.</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264-bet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Kindikning bo‘yin atrofida o‘ralishidan homila ichi asfiksiyasi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Antenatal davrda nozo‘raki o‘limning asosiy sababi homila ichi asfiksiyasi bo‘lib, uni yo‘ldoshning oldin joylashishi, ko‘chishi, kindikning siqilishi yoki bo‘yin atrofida o‘ralishi keltirib chiqaradi. Bunda qog‘onoq suvlarida ko‘p mekoniy topiladi, yo‘g‘on ichak bo‘shlig‘i esa mekoniy chiqib ketgani sababli torayadi. Tug‘ruq travmasi intranatal davrga, sovuq qotish postnatal davrdagi passiv o‘ldirishga xos.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264-265-bet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Kindikdan sodir bo‘lgan tashqi qon ketish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Passiv go‘dak o‘ldirishda go‘dak qarovsiz qoldiriladi. Kindik boylanmagan bo‘lsa, o‘lim tashqi qon ketishdan, boshqa hollarda sovuq qotish yoki ochlikdan sodir bo‘ladi. Bo‘g‘ish va nafas teshiklarini yopish aktiv o‘ldirish usullari, tug‘ruq travmasi esa intranatal davrga tegishli.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265-bet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Pastki labdan boshlanadi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Darslikda og‘iz bo‘shlig‘i, jumladan tanglay holatini o‘rganish uchun asosiy o‘rta kesma iyakdan emas, pastki labdan boshlanishi ko‘rsatilgan. Bu go‘dak murdasi ekspertizasining o‘ziga xos texnik xususiyatlaridan biri.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266-bet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Intranatal davrda tug‘ruq travmasidan bosh miyaning shikastlanishi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Intranatal davrda nozo‘raki o‘limning asosiy sababi tug‘ruq travmasidir. Tor tos va tug‘ruq faoliyatining sustligida homila boshi qisilib, kalla suyaklari sinadi, miya pardalariga qon quyiladi. Bunda tepa va peshona suyaklari ko‘proq shikastlanadi, tashqi jarohatlar, shu jumladan yaralar hosil bo‘lmaydi.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265-bet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Inspirator hansirash bosqichi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Inspirator hansirash bosqichida karbonat angidridning nafas markaziga ta’siri natijasida nafas olish tezlashadi, nafas olish nafas chiqarishga nisbatan uzayadi. Plevral bosim keskin pasayadi, puls sekinlashadi. Ekspirator bosqichda esa nafas chiqarish kuchliroq bo‘lib, klonik talvasalar kuzatiladi.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106-bet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Adashgan nerv va sinokarotid tugunning qisilishi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Osilishda adashgan nerv, yuqori hiqildoq nervi va sinokarotid tugun sohalari qisilib yoki cho‘ziladi. Bu, ayniqsa yurak-qon tomir kasalligi bo‘lganda, yurakning reflektor to‘xtashiga olib kelishi mumkin. Umurtqa arteriyalari orqali esa bosh miyaga qon borishda davom etadi.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113-bet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Egat hayot vaqtida yetkazilgan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Bokarius sinamasida egat burmachasi sohasida to‘laqonlik va qon quyilish alomatlari bo‘lsa, egat hayotiy yetkazilganini bildiradi. Mikroskopik tekshiruvda qon aylanishi buzilishi (Neyding belgisi) va reaktiv yallig‘lanish (Kasyanov belgisi) ham buni tasdiqlaydi.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116-bet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Bo‘yinni sirtmoq bilan bo‘g‘ish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Sirtmoq bilan bo‘g‘ishda egat gorizontal, odatda tutashgan va qalqonsimon tog‘ay sathida yoki undan pastroqda bo‘ladi. Til osti suyagi shikastlanmaydi, bo‘yin cho‘zilishiga xos belgilar (Amyuss, Valxer, Simon) hosil bo‘lmaydi. Qo‘l bilan bo‘g‘ishda barmoq izlari bo‘ladi, pozitsion asfiksiyada esa egat bo‘lmaydi.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117-bet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Massa o‘limdan keyin tushgan bo‘lishi mumkin, asfiksiya shart emas</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Nafas yo‘llarida qusuq massaning topilishi har doim obturatsion asfiksiyani bildirmaydi. Massa reanimatsiyada, murdani tashishda yoki chirishda ham tushishi mumkin. Bunda u oz miqdorda bo‘ladi va kichik bronxlar, alveolalarda aniqlanmaydi.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120-121-bet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Diatom parenximatoz a’zolar va suyak miyasida topildi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Chin cho‘kishda diatom suv bilan qonga o‘tib, katta qon aylanish doirasi orqali ichki a’zolarga tarqaladi. Parenximatoz a’zolar va suyak miyasida topilishi hayotiylikdan dalolat beradi, plankton esa havza suvidagiga mos kelishi lozim. O‘pka to‘qimasidagi diatom diagnostik ahamiyatga ega emas, chunki o‘limdan keyin suvga tushganda ham topiladi.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125-bet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tug’ilganlik tushunchasi (akusherlik, pediatriya, sudtibbiy). Pre-, intra- va postna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80</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G‘iyosov Z.A. Sud tibbiyoti: darslik, Toshkent: Global Books nashriyoti. 2018. Bob 10. Homila va yangi tug‘ilgan go‘daklar murdasi</a:t>
            </a:r>
          </a:p>
          <a:p>
            <a:pPr>
              <a:spcAft>
                <a:spcPts val="1200"/>
              </a:spcAft>
            </a:pPr>
            <a:r>
              <a:rPr sz="2000">
                <a:solidFill>
                  <a:srgbClr val="1F2937"/>
                </a:solidFill>
                <a:latin typeface="Calibri"/>
              </a:rPr>
              <a:t>▸  G‘iyosov Z.A. Sud tibbiyoti: darslik, Toshkent: Global Books nashriyoti. 2018. Bob 5. Kislorod tanqisligi (asfiksiya)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