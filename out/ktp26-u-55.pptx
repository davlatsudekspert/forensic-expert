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savollari: 1) Nega gistologik usul sud-tibbiyotda vaqtni baholashda qo‘llanadi? 2) Teri va suyak qanday farq qiladi? Doskada: mavzu nomini yozib, ikki shoxli sxema (teri – IHC, suyak – bo‘yash) chizdiring. Tipik xato: IHC ni faqat teriga, bo‘yash usullarini faqat suyakka xos deb o‘ylash va ularning maqsadini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savollari: 1) Vitallikni aniqlash nega PTI dan oldin keladi? 2) PMI va BI qanday farqlanadi? Doskada: teri va suyak ustunli jadvalni o‘zlari chizsin. Tipik xato: PTI (jarohatdan keyingi vaqt) bilan PMI (o‘limdan keyingi vaqt) ni aralashtirish: PTI ≠ PMI.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savollari: 1) Oltin standart yo‘qligi amaliyotga qanday ta’sir qiladi? 2) Nega molekulalar lokalizatsiyasi muhim? Doskada: ‘IHC afzalliklari’ ro‘yxatini (marker tanlovi, qulaylik, ishonchlilik, lokalizatsiya) yozdiring. Tipik xato: IHC ni ‘oltin standart’ deb hisoblash; manbada bunday standart yo‘qligi aytilgan.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avval vitallik, keyin PTI aniqlanadi? 2) PTI sababiy bog‘liqlik uchun nimani beradi? Doskada: to‘rt bosqichli zanjirni chizdiring. Tipik xato: vitallik va jarohat yoshini bir narsa deb o‘ylash.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bir necha tadqiqotchi mustaqil baholaydi? 2) Ikki bazadan qidirishning afzalligi nima? Doskada: 326 dan 46 gacha saralash voronkasini chizdiring. Tipik xato: sharhni yangi tajriba deb tushunish; bu mavjud adabiyot tahlili.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sharh maqolalar chiqarib tashlandi? 2) Hayvon namunalarini kiritish qanday foyda beradi? Doskada: to‘rt qatorli mezon jadvalini ko‘chiring. Tipik xato: IF ni IHC dan butunlay alohida va mezondan tashqari deb o‘ylash; ikkalasi ham kiritilgan.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ko‘p markerli tadqiqotlar ko‘proq uchraydi? 2) Statistik tahlilsiz tadqiqotga qanchalik ishonish mumkin? Doskada: 326 dan 46 gacha torayuvchi voronka chizing. Tipik xato: 46 ta maqolani faqat qidiruv natijasi deb o‘ylash; 17 tasi ro‘yxatlardan qo‘shilgan.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Sharhlarni chiqarish nima uchun kerak (ikkilamchi ma’lumot)? 2) Teri o‘rniga boshqa to‘qimani olsak natija qanday o‘zgaradi? Doskada: chiqarish sabablarini ustunli diagramma shaklida chizdiring. Tipik xato: dublikatlarni ham ‘boshqa usul’ toifasiga qo‘shib hisoblash.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Talabalar javobni yopiq daftarda yozsin, so‘ng birgalikda tekshiring. Muhokama: PTI va PMI (o‘lim vaqti) farqi nimada? Doskada: vaqt chizig‘ida jarohat – o‘lim – ekspertiza nuqtalarini belgilang, PTI oralig‘ini ko‘rsating. Tipik xato: PTI ni post-mortem interval bilan adashtirish.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markerlar vaqt zanjiriga bog‘lanadi? 2) Qaysi bosqichda qaysi hujayra ustun bo‘ladi? Doskada: 5 bosqichli zanjirni chizib, har bosqich ostiga mumkin bo‘lgan marker guruhini yozdiring. Tipik xato: bosqichlarni qat’iy ajratilgan deb o‘ylash; ular bir-birining ustiga chiqadi.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nazorat sifatida jarohatsiz teri olinadi? 2) Ballik tizim oddiy sanashdan nimasi bilan yaxshi? Doskada: PTI o‘qini chizib, 0–1 soat oralig‘ini belgilang. Tipik xato: bu markerlar kechki jarohat yoshini ham aniqlaydi deb o‘ylash; manbada ular erta davr uchun ko‘rsatilgan.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Sezgirlik va o‘ziga xoslik farqi nima? 2) FVIIIra jarrohlik jarohatida ham oshsa, ekspertizada qanday xavf tug‘iladi? Doskada: ikki ustunli chizma bilan sezgirlik (100%) va o‘ziga xoslik (47%) ni solishtiring. Tipik xato: sezgirlik va o‘ziga xoslikni bir narsa deb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Sezgirlik 100% bo‘lsa, nega marker yolg‘iz o‘zi yetarli emas? 2) Nazorat jarohatlarida musbat natija nimani anglatadi? Doskada: ikki ustunli ‘sezgirlik / o‘ziga xoslik’ sxemasini chizdiring va FVIIIra, CD15, triptazani joylashtiring. Tipik xato: ‘marker musbat bo‘lsa, jarohat albatta tirik’ deb o‘ylash. Talabalarga yuqori sezgirlik faqat kasallikni o‘tkazib yubormaslikni bildirishini, tasdiqlash uchun o‘ziga xoslik kerakligini eslatib o‘ting.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bitta sitokin cho‘qqisi o‘rniga bir nechta sitokin birga baholanadi? 2) IL-1β ning ikki cho‘qqisi nimani anglatishi mumkin? Doskada: 0 dan 24 soatgacha vaqt o‘qini chizib, TNFα, IL-1β va IL-6 cho‘qqilarini belgilang. Tipik xato: IL-6 ni erta marker deb o‘ylash. Aslida u 12 soatda cho‘qqiga chiqadi, TNFα va IL-1β esa 3 soatda.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Neytrofillardan makrofaglarga o‘tish jarohat yoshini baholashda qanday yordam beradi? 2) IL-1α ning 30% chegarasi nimani ko‘rsatadi? Doskada: neytrofil (0–12 soat) dan makrofag va fibroblastga o‘tish strelkasini chizib, har bosqichga mos markerlarni yozing. Tipik xato: 30% chegarasini aniq yosh deb qabul qilish. U faqat ‘bir sutka yoki kamroq’ degan ehtimoliy ko‘rsatkich.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limfotsitlar makrofaglardan oldinroq cho‘qqiga chiqadi deb o‘ylaysiz? 2) Bitta hujayra turi yoshni aniq berishi mumkinmi? Doskada: vaqt o‘qini (0–10 kun) chizib, uch hujayraning cho‘qqi oraliqlarini turli rangda belgilang. Tipik xato: IL-8 ni yosh markeri deb hisoblash; manbada u epidermisda yosh bilan bog‘liq emas. Eslab qoling: avval limfotsit va neytrofil, keyin makrofag. CD45 = limfotsit, CD68 = makrofag.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Yagi (1–5 kun) va Fouad (1–3 kun) oraliqlari farq qilishi mumkin? 2) Dendritik hujayralar &gt;50 qanday holatda foydali? Doskada: CD14 uchun ikki mualliflning oraliqlarini ikki parallel chiziq bilan chizib, farqni ko‘rsating. Tipik xato: CD14 oraliqlarini bir xil deb yodlash; manbada Yagi 1–5, Fouad 1–3 kun. Dendritik hujayralar chegarasi (&gt;50) faqat 4–14 kun uchun ishlatiladi.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Mast hujayralarning o‘limdan keyin kamayishi hayotiylikni baholashda nimani bildiradi? 2) VCAM-1 nega yolg‘iz yetarli emas va qanday markerlar bilan birga qo‘llanadi? Doskada: 0–6 soatlik qisqa vaqt chizig‘ida gistamin (30 daqiqagacha), mast hujayra (1–3 soat) va VCAM-1 (4–6 soat) nuqtalarini belgilang. Tipik xato: VCAM-1 ni yagona marker sifatida yosh aniqlashda ishlatish; manbada bu yetarli emas deyilgan.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 Muhokama: 1) CD14 yuqori bo‘lsa, nega 1–3 kun va 1–5 kun diapazonlari farq qiladi? 2) Nega marker paneli kerak? Doskada: vaqt o‘qini chizib, CD14 cho‘qqisi va uchlik musbat oralig‘ini belgilang. Tipik xato: bitta markerga tayanib aniq soat yoki kun aytish.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4–5 daq. Talabalar javobni yozib, so‘ng guruhda tekshiradi. Muhokama: sezgirlik va o‘ziga xoslik farqi nimada? FVIIIra qachon yordam beradi? Doskada: erta (0–1 soat) va kech (4–14 kun) markerlarini ikki ustunga ajrating. Tipik xato: sezgirlikni o‘ziga xoslik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5–6 daq. Muhokama: 1) Nega TGF erta, VEGF kech omil hisoblanadi? 2) Hayvon (kalamush) ma’lumotini odamga o‘tkazishda nimani hisobga olish kerak? Doskada: daqiqalardan kunlargacha vaqt chizig‘ini chizib, omillarni joylashtiring. Tipik xato: TGF-α va TGF-β1 o‘zaro bog‘liq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bitta ferment o‘rniga markerlar paneli ishonchliroq? 2) MMP-9 uchun manbadagi ikki xil oraliq (4–14 va 3–14 kun) nimani anglatadi? Doskada: to‘rt qatorli chegaralar jadvalini ko‘chirib chizdiring va vaqt o‘qida joylashtiring. Tipik xato: MMP-2 (9–12 kun) va MMP-9 (3–14 kun) chegaralarini, hujayra sonlarini (25 va 30) almashtirib yuborish. MMP — matriks metalloproteinaza.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Kollagen I va VI yo‘qligi nimadan dalolat beradi? 2) Interstitsial va bazal membrana kollagenlari qanday farqlanadi? Doskada: 0 dan 8+ kungacha vaqt chizig‘ini chizib, III, V, VII, I/VI paydo bo‘lish nuqtalarini belgilang. Tipik xato: kollagen VII ni interstitsial deb o‘ylash (u bazal membranaga xos). Eslab qoling: interstitsial — I, III, V, VI; bazal membrana — IV va VII.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Fibronektin musbat bo‘lsa, jarohat vital deb aytish mumkinmi? Passiv transudatsiya nimani o‘zgartiradi? 2) Nega laminin HSPG ga qaraganda foydaliroq? Doskada: miofibroblast atrofida laminin va HSPG joylashuvini sodda sxema qilib chizdiring, ~5 kun va 1,5 kun belgilarini yozing. Tipik xato: α-SMA ni yara yoshining aniq o‘lchovi deb hisoblash (u faqat taxminan 5 kun va undan ko‘p degan ma’no beradi). Qisqa voqea: yara namunasida fibronektin kuchli musbat — qanday qo‘shimcha markerlar kerak?</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ORP150 va AQP3 faqat kechroq bosqichlar uchun qulay? 2) CHI3L1 7–13-kunlarda nega kamayadi deb o‘ylaysiz? Doskada chizish: yuqoridagi jadvalni 4 qator qilib ko‘chiring va har markerga kun o‘qini chizing. Tipik xato: AQP3 ko‘rsatkichini (&gt;300) ORP150 ulushi (&gt;50%) bilan aralashtirish – biri hujayralar soni, ikkinchisi foiz.</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Qaysi guruh eng erta jarohatni ajratadi? 2) Nega bir nechta guruhni birga qo‘llash aniqroq natija beradi? Doskada chizish: 0 dan 14 kungacha vaqt o‘qini chizib, har guruh oralig‘ini rangli chiziq bilan belgilang. Tipik xato: dendritik hujayralar (14 kungacha) oralig‘ini butun sitokin guruhiga umumlashtirish.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Ikki markerning oraliqlari qanday kesishadi? 2) Qo‘shimcha qaysi marker (masalan, CD14 yoki MMP-9) xulosani toraytirishi mumkin? Doskada chizish: COX-2 (8 soat–3 kun) va kollagen I/VI yo‘qligi (&lt;6–7 kun) oraliqlarini bitta o‘qda chizib, kesishmasini bo‘yang. Tipik xato: kollagen yo‘qligini ‘jarohat juda yangi’ deb xulosa qilish – u faqat 6–7 kundan yoshroq degani, 8 soat–3 kun oralig‘ini COX-2 beradi.</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bitta marker o‘rniga panel ishonchliroq? 2) Panelning kamchiligi nima? Doskada chizish: «bitta marker» va «marker paneli» ustunlari bilan ikki tomonlama afzallik/kamchilik jadvali. Tipik xato: talabalar IHC/IF jarohat yoshi va o‘limdan keyingi intervalni bir xil narsa deb o‘ylaydi.</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bir xil ko‘milish muddatida suyak holati har xil bo‘lishi mumkin? 2) Qaysi muhit omillari diagenezni tezlashtiradi? Doskada chizish: zanjirni chizib, har bosqichga bitta muhit omilini yozing. Tipik xato: diagenezni faqat vaqtga bog‘liq jarayon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Autoliz va chirishning farqi nimada? 2) Tunnel turlari qaysi mikroorganizmlarga bog‘liq? Doskada chizish: suyak tarkibi (organik, noorganik, suv) va tunnel turlari ro‘yxati bilan sxema. Tipik xato: kollagenni autolizda parchalanadi deb o‘ylash; aslida u autolizga chidamli, uni mikrob kollagenazalari parchalaydi.</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laboratoriya tajribalari uzoq muddatli tabiiy diagenezni aks ettirmaydi? (2) Kislota va ishqor suyakning qaysi qismiga ta’sir qiladi? Doskada: jadvalni ko‘chirib, har muhit uchun ’mineral’ yoki ’ilik bo‘shlig‘i’ deb belgilang. Tipik xato: ishqor ham suyak mineralini eritadi deb o‘ylash; manbada ishqor tuzilma va rangni o‘zgartirmaydi. Diqqat: HCl bilan qisqa muddatli tajriba ≠ yerdagi uzoq muddatli diagenez.</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aynan dekaltsifikatsiyalanmagan kesmalar tanlangan? (2) Protokolning kamligi amaliyotga qanday to‘sqinlik qiladi? Doskada: 45 ni 3 va 42 ga bo‘luvchi oddiy sxema chizing. Tipik xato: ’embedded’ (joylangan) va ’non-embedded’ (joylanmagan) kesmalarni chalkashtirish; protokol soni 8 va 2, sinalganlar soni esa 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HE yaxlitlik indeksi uchun yaroqli, lekin PMI uchun hozircha yaramaydi? (2) Nima uchun PMI modeli muhitga xos bo‘lishi kerak? Doskada: yaxlitlik indeksi = osteotsit yadrolari / bo‘shliqlar nisbatini yozing. Tipik xato: bo‘yoq natijasini darhol aniq PMI deb talqin qilish; manbada u faqat dastlabki maslahat sifatida tavsiya etiladi. Diqqat: HE ≠ PMI hisoblash vositasi.</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Indeks nimani ko‘rsatadi va nimani ko‘rsatmaydi? 2) Qaysi tashqi omillar (tuproq, harorat, namlik) natijani buzishi mumkin? Doskada: ‘yadro soni / lakuna soni’ kasrini chizing va ko‘milish davri bilan teskari bog‘liqlik strelkasini ko‘rsating. Tipik xato: past indeksni to‘g‘ridan-to‘g‘ri aniq PMI deb talqin qilish.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Sub‘ektivlikni kamaytirishning qanday yo‘llari bor? 2) AI sudda qanday sifat talablariga javob berishi kerak? Doskada: kompakt va g‘ovak suyak uchun ikki ustunli ‘bo‘yalish farqi’ sxemasini chizing. Tipik xato: barcha suyak turlarida bir xil bo‘yalish kutish.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bitta marker o‘rniga panel afzal? 2) Suyak gistologiyasi sudga taqdim etilishidan oldin qanday tasdiqlash kerak? Doskada: ikki ustunli xulosa jadvali (teri | suyak) va har biriga ‘bor’ hamda ‘yetishmaydi’ qatorini yozing. Tipik xato: teri va suyak natijalarini aralashtirish yoki ‘istiqbolli’ ni ‘tasdiqlangan’ deb tushunish.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Gistologik usulning potentsiallari</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gistologik usul va uning sud-tibbiy o‘rni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Mikroskopiya suyakning o‘limdan keyingi buzilishini mikrostruktura darajasida baholashga imkon beradi.</a:t>
            </a:r>
          </a:p>
          <a:p>
            <a:pPr>
              <a:spcAft>
                <a:spcPts val="1200"/>
              </a:spcAft>
            </a:pPr>
            <a:r>
              <a:rPr sz="2200">
                <a:solidFill>
                  <a:srgbClr val="1F2937"/>
                </a:solidFill>
                <a:latin typeface="Calibri"/>
              </a:rPr>
              <a:t>▸  Teri jarohatlarida immunogistokimyo (IHC) biokimyo va molekulyar biologiya qatori jarohat yoshini o‘rganishda eng ko‘p qo‘llanadigan usullardandir.</a:t>
            </a:r>
          </a:p>
          <a:p>
            <a:pPr>
              <a:spcAft>
                <a:spcPts val="1200"/>
              </a:spcAft>
            </a:pPr>
            <a:r>
              <a:rPr sz="2200">
                <a:solidFill>
                  <a:srgbClr val="1F2937"/>
                </a:solidFill>
                <a:latin typeface="Calibri"/>
              </a:rPr>
              <a:t>▸  Suyakda yupqa kesmalar bo‘yaladi, shunda tafonomik (o‘limdan keyingi muhit ta’siridagi) o‘zgarishga uchraydigan kollagen va osteotsitlar ko‘rinadi.</a:t>
            </a:r>
          </a:p>
          <a:p>
            <a:pPr>
              <a:spcAft>
                <a:spcPts val="1200"/>
              </a:spcAft>
            </a:pPr>
            <a:r>
              <a:rPr sz="2200">
                <a:solidFill>
                  <a:srgbClr val="1F2937"/>
                </a:solidFill>
                <a:latin typeface="Calibri"/>
              </a:rPr>
              <a:t>▸  Suyak sharhida 45 ta istiqbolli bo‘yoq aniqlangan, ammo tafonomik tadqiqotlarda ularning faqat 3 tasi sinalgan.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Sluis I va boshq., Bone histology for forensic anthropology: a technical review on the advances in microstructural analysis of taphonomically altered buried or subaerially exposed bone, betlar: PMID 40637841; Luca Tomassini va boshq., Dating Skin Lesions of Forensic Interest by Immunohistochemistry and Immunofluorescence Techniques: A Scoping Literature Review, betlar: PMID 38248045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Gistologik usulning sud-tibbiy vazifalari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Teri: avval jarohat tirik paytda hosil bo‘lganini (vitalligi) aniqlash muhim.</a:t>
            </a:r>
          </a:p>
          <a:p>
            <a:pPr>
              <a:spcAft>
                <a:spcPts val="800"/>
              </a:spcAft>
            </a:pPr>
            <a:r>
              <a:rPr sz="1800">
                <a:solidFill>
                  <a:srgbClr val="1F2937"/>
                </a:solidFill>
                <a:latin typeface="Calibri"/>
              </a:rPr>
              <a:t>▸  Vitallik tasdiqlansa, jarohatdan keyingi vaqt (PTI) travma va o‘lim bog‘liqligini asoslaydi.</a:t>
            </a:r>
          </a:p>
          <a:p>
            <a:pPr>
              <a:spcAft>
                <a:spcPts val="800"/>
              </a:spcAft>
            </a:pPr>
            <a:r>
              <a:rPr sz="1800">
                <a:solidFill>
                  <a:srgbClr val="1F2937"/>
                </a:solidFill>
                <a:latin typeface="Calibri"/>
              </a:rPr>
              <a:t>▸  Suyak: o‘zgarishlar o‘limdan keyingi vaqt (PMI) yoki ko‘milish davri (BI) bilan bog‘liq bo‘lishi mumkin.</a:t>
            </a:r>
          </a:p>
        </p:txBody>
      </p:sp>
      <p:graphicFrame>
        <p:nvGraphicFramePr>
          <p:cNvPr id="9" name="Table 8"/>
          <p:cNvGraphicFramePr>
            <a:graphicFrameLocks noGrp="1"/>
          </p:cNvGraphicFramePr>
          <p:nvPr/>
        </p:nvGraphicFramePr>
        <p:xfrm>
          <a:off x="6263640" y="1463040"/>
          <a:ext cx="5287974" cy="1234440"/>
        </p:xfrm>
        <a:graphic>
          <a:graphicData uri="http://schemas.openxmlformats.org/drawingml/2006/table">
            <a:tbl>
              <a:tblPr firstRow="1" bandRow="1">
                <a:tableStyleId>{5C22544A-7EE6-4342-B048-85BDC9FD1C3A}</a:tableStyleId>
              </a:tblPr>
              <a:tblGrid>
                <a:gridCol w="1301655"/>
                <a:gridCol w="2684664"/>
                <a:gridCol w="1301655"/>
              </a:tblGrid>
              <a:tr h="411480">
                <a:tc>
                  <a:txBody>
                    <a:bodyPr/>
                    <a:lstStyle/>
                    <a:p>
                      <a:r>
                        <a:rPr sz="1300" b="1">
                          <a:solidFill>
                            <a:srgbClr val="FFFFFF"/>
                          </a:solidFill>
                        </a:rPr>
                        <a:t>Ob‘ekt</a:t>
                      </a:r>
                    </a:p>
                  </a:txBody>
                  <a:tcPr marL="73152" marR="73152" marT="36576" marB="36576">
                    <a:solidFill>
                      <a:srgbClr val="0B1F3A"/>
                    </a:solidFill>
                  </a:tcPr>
                </a:tc>
                <a:tc>
                  <a:txBody>
                    <a:bodyPr/>
                    <a:lstStyle/>
                    <a:p>
                      <a:r>
                        <a:rPr sz="1300" b="1">
                          <a:solidFill>
                            <a:srgbClr val="FFFFFF"/>
                          </a:solidFill>
                        </a:rPr>
                        <a:t>Usul</a:t>
                      </a:r>
                    </a:p>
                  </a:txBody>
                  <a:tcPr marL="73152" marR="73152" marT="36576" marB="36576">
                    <a:solidFill>
                      <a:srgbClr val="0B1F3A"/>
                    </a:solidFill>
                  </a:tcPr>
                </a:tc>
                <a:tc>
                  <a:txBody>
                    <a:bodyPr/>
                    <a:lstStyle/>
                    <a:p>
                      <a:r>
                        <a:rPr sz="1300" b="1">
                          <a:solidFill>
                            <a:srgbClr val="FFFFFF"/>
                          </a:solidFill>
                        </a:rPr>
                        <a:t>Aniqlanadi</a:t>
                      </a:r>
                    </a:p>
                  </a:txBody>
                  <a:tcPr marL="73152" marR="73152" marT="36576" marB="36576">
                    <a:solidFill>
                      <a:srgbClr val="0B1F3A"/>
                    </a:solidFill>
                  </a:tcPr>
                </a:tc>
              </a:tr>
              <a:tr h="411480">
                <a:tc>
                  <a:txBody>
                    <a:bodyPr/>
                    <a:lstStyle/>
                    <a:p>
                      <a:r>
                        <a:rPr sz="1200" b="0">
                          <a:solidFill>
                            <a:srgbClr val="1F2937"/>
                          </a:solidFill>
                        </a:rPr>
                        <a:t>Teri jarohati</a:t>
                      </a:r>
                    </a:p>
                  </a:txBody>
                  <a:tcPr marL="73152" marR="73152" marT="36576" marB="36576">
                    <a:solidFill>
                      <a:srgbClr val="E8EEF6"/>
                    </a:solidFill>
                  </a:tcPr>
                </a:tc>
                <a:tc>
                  <a:txBody>
                    <a:bodyPr/>
                    <a:lstStyle/>
                    <a:p>
                      <a:r>
                        <a:rPr sz="1200" b="0">
                          <a:solidFill>
                            <a:srgbClr val="1F2937"/>
                          </a:solidFill>
                        </a:rPr>
                        <a:t>IHC va immunoflyuoressensiya (IF)</a:t>
                      </a:r>
                    </a:p>
                  </a:txBody>
                  <a:tcPr marL="73152" marR="73152" marT="36576" marB="36576">
                    <a:solidFill>
                      <a:srgbClr val="E8EEF6"/>
                    </a:solidFill>
                  </a:tcPr>
                </a:tc>
                <a:tc>
                  <a:txBody>
                    <a:bodyPr/>
                    <a:lstStyle/>
                    <a:p>
                      <a:r>
                        <a:rPr sz="1200" b="0">
                          <a:solidFill>
                            <a:srgbClr val="1F2937"/>
                          </a:solidFill>
                        </a:rPr>
                        <a:t>Vitallik va PTI</a:t>
                      </a:r>
                    </a:p>
                  </a:txBody>
                  <a:tcPr marL="73152" marR="73152" marT="36576" marB="36576">
                    <a:solidFill>
                      <a:srgbClr val="E8EEF6"/>
                    </a:solidFill>
                  </a:tcPr>
                </a:tc>
              </a:tr>
              <a:tr h="411480">
                <a:tc>
                  <a:txBody>
                    <a:bodyPr/>
                    <a:lstStyle/>
                    <a:p>
                      <a:r>
                        <a:rPr sz="1200" b="0">
                          <a:solidFill>
                            <a:srgbClr val="1F2937"/>
                          </a:solidFill>
                        </a:rPr>
                        <a:t>Suyak</a:t>
                      </a:r>
                    </a:p>
                  </a:txBody>
                  <a:tcPr marL="73152" marR="73152" marT="36576" marB="36576">
                    <a:solidFill>
                      <a:srgbClr val="FFFFFF"/>
                    </a:solidFill>
                  </a:tcPr>
                </a:tc>
                <a:tc>
                  <a:txBody>
                    <a:bodyPr/>
                    <a:lstStyle/>
                    <a:p>
                      <a:r>
                        <a:rPr sz="1200" b="0">
                          <a:solidFill>
                            <a:srgbClr val="1F2937"/>
                          </a:solidFill>
                        </a:rPr>
                        <a:t>Yupqa kesmani bo‘yash</a:t>
                      </a:r>
                    </a:p>
                  </a:txBody>
                  <a:tcPr marL="73152" marR="73152" marT="36576" marB="36576">
                    <a:solidFill>
                      <a:srgbClr val="FFFFFF"/>
                    </a:solidFill>
                  </a:tcPr>
                </a:tc>
                <a:tc>
                  <a:txBody>
                    <a:bodyPr/>
                    <a:lstStyle/>
                    <a:p>
                      <a:r>
                        <a:rPr sz="1200" b="0">
                          <a:solidFill>
                            <a:srgbClr val="1F2937"/>
                          </a:solidFill>
                        </a:rPr>
                        <a:t>PMI yoki BI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Ikki ob‘ekt: teri va suyak</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Luca Tomassini va boshq., Dating Skin Lesions of Forensic Interest by Immunohistochemistry and Immunofluorescence Techniques: A Scoping Literature Review, betlar: PMID 38248045; Sluis I va boshq., Bone histology for forensic anthropology: a technical review on the advances in microstructural analysis of taphonomically altered buried or subaerially exposed bone, betlar: PMID 40637841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Jarohat yoshini baholash muammosi va IHC afzalligi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Jarohat yoshini baholash sud patologiyasida muhim muammo: oltin standart tizim taklif etilmagan, aniq vaqtni belgilash hamon qiyin.</a:t>
            </a:r>
          </a:p>
          <a:p>
            <a:pPr>
              <a:spcAft>
                <a:spcPts val="1200"/>
              </a:spcAft>
            </a:pPr>
            <a:r>
              <a:rPr sz="2200">
                <a:solidFill>
                  <a:srgbClr val="1F2937"/>
                </a:solidFill>
                <a:latin typeface="Calibri"/>
              </a:rPr>
              <a:t>▸  IHC bo‘yicha adabiyotda dalillar ko‘p; keng marker tanlovi (to‘qima molekulalari, sitokinlar, o‘sish omillari) vitallikni aniqlashga yordam beradi.</a:t>
            </a:r>
          </a:p>
          <a:p>
            <a:pPr>
              <a:spcAft>
                <a:spcPts val="1200"/>
              </a:spcAft>
            </a:pPr>
            <a:r>
              <a:rPr sz="2200">
                <a:solidFill>
                  <a:srgbClr val="1F2937"/>
                </a:solidFill>
                <a:latin typeface="Calibri"/>
              </a:rPr>
              <a:t>▸  IHC qulay, ishonchli va boshqa usullardan farqli ravishda kerakli molekulalar joylashuvini (lokalizatsiyasini) tahlil qila oladi.</a:t>
            </a:r>
          </a:p>
          <a:p>
            <a:pPr>
              <a:spcAft>
                <a:spcPts val="1200"/>
              </a:spcAft>
            </a:pPr>
            <a:r>
              <a:rPr sz="2200">
                <a:solidFill>
                  <a:srgbClr val="1F2937"/>
                </a:solidFill>
                <a:latin typeface="Calibri"/>
              </a:rPr>
              <a:t>▸  Diqqat: IHC natijalari ba’zan bir-biriga zid; bitta marker emas, marker paneli jarohat yoshini aniqlashda ishonchliroq bo‘lishi mumkin.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Luca Tomassini va boshq., Dating Skin Lesions of Forensic Interest by Immunohistochemistry and Immunofluorescence Techniques: A Scoping Literature Review, betlar: PMID 38248045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Vitallik va PTI: nima uchun muhim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Vital jarohat tirikligida hosil bo‘ladi; uni o‘limdan keyingi teri o‘zgarishidan ajratish asosiy vazifa.</a:t>
            </a:r>
          </a:p>
          <a:p>
            <a:pPr>
              <a:spcAft>
                <a:spcPts val="800"/>
              </a:spcAft>
            </a:pPr>
            <a:r>
              <a:rPr sz="1800">
                <a:solidFill>
                  <a:srgbClr val="1F2937"/>
                </a:solidFill>
                <a:latin typeface="Calibri"/>
              </a:rPr>
              <a:t>▸  Vitallik tasdiqlangach, jarohatdan keyingi interval (PTI, post-trauma interval) baholanadi.</a:t>
            </a:r>
          </a:p>
          <a:p>
            <a:pPr>
              <a:spcAft>
                <a:spcPts val="800"/>
              </a:spcAft>
            </a:pPr>
            <a:r>
              <a:rPr sz="1800">
                <a:solidFill>
                  <a:srgbClr val="1F2937"/>
                </a:solidFill>
                <a:latin typeface="Calibri"/>
              </a:rPr>
              <a:t>▸  Diqqat: vitallik ≠ PTI. Jarohat yoshini baholashning oltin standarti hali taklif etilmagan.</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Teri jarohati aniqlandi</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Vitallik: tirikligidami?</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PTI baholanadi</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Jarohat–o‘lim sababiy aloqasi</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Vitallikdan PTI gacha zanjir</a:t>
            </a:r>
          </a:p>
        </p:txBody>
      </p:sp>
      <p:sp>
        <p:nvSpPr>
          <p:cNvPr id="17" name="TextBox 16"/>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Luca Tomassini va boshq., Dating Skin Lesions of Forensic Interest by Immunohistochemistry and Immunofluorescence Techniques: A Scoping Literature Review, betlar: PMID 38248045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Sharh metodikasi: qidiruv va PRISMA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Qidiruv 2023-yil 18-fevralda boshlandi: PubMed va Scopus, 1973–2022-yillardagi maqolalar.</a:t>
            </a:r>
          </a:p>
          <a:p>
            <a:pPr>
              <a:spcAft>
                <a:spcPts val="800"/>
              </a:spcAft>
            </a:pPr>
            <a:r>
              <a:rPr sz="1800">
                <a:solidFill>
                  <a:srgbClr val="1F2937"/>
                </a:solidFill>
                <a:latin typeface="Calibri"/>
              </a:rPr>
              <a:t>▸  Immunohistokimyo (IHC), immunofluoressensiya (IF) o‘rganildi; PRISMA (hisobot qoidalari) asos bo‘ldi.</a:t>
            </a:r>
          </a:p>
          <a:p>
            <a:pPr>
              <a:spcAft>
                <a:spcPts val="800"/>
              </a:spcAft>
            </a:pPr>
            <a:r>
              <a:rPr sz="1800">
                <a:solidFill>
                  <a:srgbClr val="1F2937"/>
                </a:solidFill>
                <a:latin typeface="Calibri"/>
              </a:rPr>
              <a:t>▸  Maqolalarni uch tadqiqotchi mustaqil baholadi; kelishmovchilik kelishuv orqali hal qilindi.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PubMed va Scopus qidiruvi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326 ta maqola topildi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Mezonlar bo‘yicha saralash</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29 ta maqola + bibliografiyadan</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Jami 46 ta maqola</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Maqolalarni saralash yo‘li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Luca Tomassini va boshq., Dating Skin Lesions of Forensic Interest by Immunohistochemistry and Immunofluorescence Techniques: A Scoping Literature Review, betlar: PMID 38248045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Kiritish va chiqarish mezonlari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Kiritish: ingliz tilidagi original, prospektiv va retrospektiv kohort tadqiqotlar.</a:t>
            </a:r>
          </a:p>
          <a:p>
            <a:pPr>
              <a:spcAft>
                <a:spcPts val="800"/>
              </a:spcAft>
            </a:pPr>
            <a:r>
              <a:rPr sz="1800">
                <a:solidFill>
                  <a:srgbClr val="1F2937"/>
                </a:solidFill>
                <a:latin typeface="Calibri"/>
              </a:rPr>
              <a:t>▸  Namuna: murda terisi, tirik odam biopsiyasi hamda sichqon, kalamush va cho‘chqa terisi.</a:t>
            </a:r>
          </a:p>
          <a:p>
            <a:pPr>
              <a:spcAft>
                <a:spcPts val="800"/>
              </a:spcAft>
            </a:pPr>
            <a:r>
              <a:rPr sz="1800">
                <a:solidFill>
                  <a:srgbClr val="1F2937"/>
                </a:solidFill>
                <a:latin typeface="Calibri"/>
              </a:rPr>
              <a:t>▸  Chiqarish: ingliz tilida bo‘lmagan, sharh maqolalar va IHC dan boshqa usullar.</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044538"/>
                <a:gridCol w="2611345"/>
                <a:gridCol w="1632091"/>
              </a:tblGrid>
              <a:tr h="411480">
                <a:tc>
                  <a:txBody>
                    <a:bodyPr/>
                    <a:lstStyle/>
                    <a:p>
                      <a:r>
                        <a:rPr sz="1300" b="1">
                          <a:solidFill>
                            <a:srgbClr val="FFFFFF"/>
                          </a:solidFill>
                        </a:rPr>
                        <a:t>Mezon</a:t>
                      </a:r>
                    </a:p>
                  </a:txBody>
                  <a:tcPr marL="73152" marR="73152" marT="36576" marB="36576">
                    <a:solidFill>
                      <a:srgbClr val="0B1F3A"/>
                    </a:solidFill>
                  </a:tcPr>
                </a:tc>
                <a:tc>
                  <a:txBody>
                    <a:bodyPr/>
                    <a:lstStyle/>
                    <a:p>
                      <a:r>
                        <a:rPr sz="1300" b="1">
                          <a:solidFill>
                            <a:srgbClr val="FFFFFF"/>
                          </a:solidFill>
                        </a:rPr>
                        <a:t>Kiritildi</a:t>
                      </a:r>
                    </a:p>
                  </a:txBody>
                  <a:tcPr marL="73152" marR="73152" marT="36576" marB="36576">
                    <a:solidFill>
                      <a:srgbClr val="0B1F3A"/>
                    </a:solidFill>
                  </a:tcPr>
                </a:tc>
                <a:tc>
                  <a:txBody>
                    <a:bodyPr/>
                    <a:lstStyle/>
                    <a:p>
                      <a:r>
                        <a:rPr sz="1300" b="1">
                          <a:solidFill>
                            <a:srgbClr val="FFFFFF"/>
                          </a:solidFill>
                        </a:rPr>
                        <a:t>Chiqarildi</a:t>
                      </a:r>
                    </a:p>
                  </a:txBody>
                  <a:tcPr marL="73152" marR="73152" marT="36576" marB="36576">
                    <a:solidFill>
                      <a:srgbClr val="0B1F3A"/>
                    </a:solidFill>
                  </a:tcPr>
                </a:tc>
              </a:tr>
              <a:tr h="411480">
                <a:tc>
                  <a:txBody>
                    <a:bodyPr/>
                    <a:lstStyle/>
                    <a:p>
                      <a:r>
                        <a:rPr sz="1200" b="0">
                          <a:solidFill>
                            <a:srgbClr val="1F2937"/>
                          </a:solidFill>
                        </a:rPr>
                        <a:t>Til</a:t>
                      </a:r>
                    </a:p>
                  </a:txBody>
                  <a:tcPr marL="73152" marR="73152" marT="36576" marB="36576">
                    <a:solidFill>
                      <a:srgbClr val="E8EEF6"/>
                    </a:solidFill>
                  </a:tcPr>
                </a:tc>
                <a:tc>
                  <a:txBody>
                    <a:bodyPr/>
                    <a:lstStyle/>
                    <a:p>
                      <a:r>
                        <a:rPr sz="1200" b="0">
                          <a:solidFill>
                            <a:srgbClr val="1F2937"/>
                          </a:solidFill>
                        </a:rPr>
                        <a:t>Ingliz tilidagi to‘liq matn</a:t>
                      </a:r>
                    </a:p>
                  </a:txBody>
                  <a:tcPr marL="73152" marR="73152" marT="36576" marB="36576">
                    <a:solidFill>
                      <a:srgbClr val="E8EEF6"/>
                    </a:solidFill>
                  </a:tcPr>
                </a:tc>
                <a:tc>
                  <a:txBody>
                    <a:bodyPr/>
                    <a:lstStyle/>
                    <a:p>
                      <a:r>
                        <a:rPr sz="1200" b="0">
                          <a:solidFill>
                            <a:srgbClr val="1F2937"/>
                          </a:solidFill>
                        </a:rPr>
                        <a:t>Ingliz tilida bo‘lmagan</a:t>
                      </a:r>
                    </a:p>
                  </a:txBody>
                  <a:tcPr marL="73152" marR="73152" marT="36576" marB="36576">
                    <a:solidFill>
                      <a:srgbClr val="E8EEF6"/>
                    </a:solidFill>
                  </a:tcPr>
                </a:tc>
              </a:tr>
              <a:tr h="411480">
                <a:tc>
                  <a:txBody>
                    <a:bodyPr/>
                    <a:lstStyle/>
                    <a:p>
                      <a:r>
                        <a:rPr sz="1200" b="0">
                          <a:solidFill>
                            <a:srgbClr val="1F2937"/>
                          </a:solidFill>
                        </a:rPr>
                        <a:t>Maqola turi</a:t>
                      </a:r>
                    </a:p>
                  </a:txBody>
                  <a:tcPr marL="73152" marR="73152" marT="36576" marB="36576">
                    <a:solidFill>
                      <a:srgbClr val="FFFFFF"/>
                    </a:solidFill>
                  </a:tcPr>
                </a:tc>
                <a:tc>
                  <a:txBody>
                    <a:bodyPr/>
                    <a:lstStyle/>
                    <a:p>
                      <a:r>
                        <a:rPr sz="1200" b="0">
                          <a:solidFill>
                            <a:srgbClr val="1F2937"/>
                          </a:solidFill>
                        </a:rPr>
                        <a:t>Original, prospektiv/retrospektiv kohort</a:t>
                      </a:r>
                    </a:p>
                  </a:txBody>
                  <a:tcPr marL="73152" marR="73152" marT="36576" marB="36576">
                    <a:solidFill>
                      <a:srgbClr val="FFFFFF"/>
                    </a:solidFill>
                  </a:tcPr>
                </a:tc>
                <a:tc>
                  <a:txBody>
                    <a:bodyPr/>
                    <a:lstStyle/>
                    <a:p>
                      <a:r>
                        <a:rPr sz="1200" b="0">
                          <a:solidFill>
                            <a:srgbClr val="1F2937"/>
                          </a:solidFill>
                        </a:rPr>
                        <a:t>Sharh va tizimli sharhlar</a:t>
                      </a:r>
                    </a:p>
                  </a:txBody>
                  <a:tcPr marL="73152" marR="73152" marT="36576" marB="36576">
                    <a:solidFill>
                      <a:srgbClr val="FFFFFF"/>
                    </a:solidFill>
                  </a:tcPr>
                </a:tc>
              </a:tr>
              <a:tr h="411480">
                <a:tc>
                  <a:txBody>
                    <a:bodyPr/>
                    <a:lstStyle/>
                    <a:p>
                      <a:r>
                        <a:rPr sz="1200" b="0">
                          <a:solidFill>
                            <a:srgbClr val="1F2937"/>
                          </a:solidFill>
                        </a:rPr>
                        <a:t>Usul</a:t>
                      </a:r>
                    </a:p>
                  </a:txBody>
                  <a:tcPr marL="73152" marR="73152" marT="36576" marB="36576">
                    <a:solidFill>
                      <a:srgbClr val="E8EEF6"/>
                    </a:solidFill>
                  </a:tcPr>
                </a:tc>
                <a:tc>
                  <a:txBody>
                    <a:bodyPr/>
                    <a:lstStyle/>
                    <a:p>
                      <a:r>
                        <a:rPr sz="1200" b="0">
                          <a:solidFill>
                            <a:srgbClr val="1F2937"/>
                          </a:solidFill>
                        </a:rPr>
                        <a:t>IHC va IF orqali PTI aniqlash</a:t>
                      </a:r>
                    </a:p>
                  </a:txBody>
                  <a:tcPr marL="73152" marR="73152" marT="36576" marB="36576">
                    <a:solidFill>
                      <a:srgbClr val="E8EEF6"/>
                    </a:solidFill>
                  </a:tcPr>
                </a:tc>
                <a:tc>
                  <a:txBody>
                    <a:bodyPr/>
                    <a:lstStyle/>
                    <a:p>
                      <a:r>
                        <a:rPr sz="1200" b="0">
                          <a:solidFill>
                            <a:srgbClr val="1F2937"/>
                          </a:solidFill>
                        </a:rPr>
                        <a:t>IHC dan boshqa usullar</a:t>
                      </a:r>
                    </a:p>
                  </a:txBody>
                  <a:tcPr marL="73152" marR="73152" marT="36576" marB="36576">
                    <a:solidFill>
                      <a:srgbClr val="E8EEF6"/>
                    </a:solidFill>
                  </a:tcPr>
                </a:tc>
              </a:tr>
              <a:tr h="411480">
                <a:tc>
                  <a:txBody>
                    <a:bodyPr/>
                    <a:lstStyle/>
                    <a:p>
                      <a:r>
                        <a:rPr sz="1200" b="0">
                          <a:solidFill>
                            <a:srgbClr val="1F2937"/>
                          </a:solidFill>
                        </a:rPr>
                        <a:t>Namuna</a:t>
                      </a:r>
                    </a:p>
                  </a:txBody>
                  <a:tcPr marL="73152" marR="73152" marT="36576" marB="36576">
                    <a:solidFill>
                      <a:srgbClr val="FFFFFF"/>
                    </a:solidFill>
                  </a:tcPr>
                </a:tc>
                <a:tc>
                  <a:txBody>
                    <a:bodyPr/>
                    <a:lstStyle/>
                    <a:p>
                      <a:r>
                        <a:rPr sz="1200" b="0">
                          <a:solidFill>
                            <a:srgbClr val="1F2937"/>
                          </a:solidFill>
                        </a:rPr>
                        <a:t>Odam va tajriba hayvonlari terisi</a:t>
                      </a:r>
                    </a:p>
                  </a:txBody>
                  <a:tcPr marL="73152" marR="73152" marT="36576" marB="36576">
                    <a:solidFill>
                      <a:srgbClr val="FFFFFF"/>
                    </a:solidFill>
                  </a:tcPr>
                </a:tc>
                <a:tc>
                  <a:txBody>
                    <a:bodyPr/>
                    <a:lstStyle/>
                    <a:p>
                      <a:r>
                        <a:rPr sz="1200" b="0">
                          <a:solidFill>
                            <a:srgbClr val="1F2937"/>
                          </a:solidFill>
                        </a:rPr>
                        <a:t>Teridan boshqa to‘qima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Mezonlar jadvali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Luca Tomassini va boshq., Dating Skin Lesions of Forensic Interest by Immunohistochemistry and Immunofluorescence Techniques: A Scoping Literature Review, betlar: PMID 38248045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Natijalar: maqolalarni saralash va usullar ulushi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326 maqoladan (PubMed 288, Scopus 38) 29 tasi kiritildi; ro‘yxatlardan qo‘shilib jami 46 ta bo‘ldi.</a:t>
            </a:r>
          </a:p>
          <a:p>
            <a:pPr>
              <a:spcAft>
                <a:spcPts val="800"/>
              </a:spcAft>
            </a:pPr>
            <a:r>
              <a:rPr sz="1800">
                <a:solidFill>
                  <a:srgbClr val="1F2937"/>
                </a:solidFill>
                <a:latin typeface="Calibri"/>
              </a:rPr>
              <a:t>▸  25 tadqiqotda ko‘p markerli, 21 tasida bitta markerli yondashuv qo‘llangan.</a:t>
            </a:r>
          </a:p>
          <a:p>
            <a:pPr>
              <a:spcAft>
                <a:spcPts val="800"/>
              </a:spcAft>
            </a:pPr>
            <a:r>
              <a:rPr sz="1800">
                <a:solidFill>
                  <a:srgbClr val="1F2937"/>
                </a:solidFill>
                <a:latin typeface="Calibri"/>
              </a:rPr>
              <a:t>▸  31 tadqiqotda statistik tahlil bo‘lgan, 15 tasida faqat sifat kuzatuvlari berilgan.</a:t>
            </a:r>
          </a:p>
        </p:txBody>
      </p:sp>
      <p:graphicFrame>
        <p:nvGraphicFramePr>
          <p:cNvPr id="9" name="Table 8"/>
          <p:cNvGraphicFramePr>
            <a:graphicFrameLocks noGrp="1"/>
          </p:cNvGraphicFramePr>
          <p:nvPr/>
        </p:nvGraphicFramePr>
        <p:xfrm>
          <a:off x="6263640" y="1463040"/>
          <a:ext cx="5287973" cy="1645920"/>
        </p:xfrm>
        <a:graphic>
          <a:graphicData uri="http://schemas.openxmlformats.org/drawingml/2006/table">
            <a:tbl>
              <a:tblPr firstRow="1" bandRow="1">
                <a:tableStyleId>{5C22544A-7EE6-4342-B048-85BDC9FD1C3A}</a:tableStyleId>
              </a:tblPr>
              <a:tblGrid>
                <a:gridCol w="2602019"/>
                <a:gridCol w="1342977"/>
                <a:gridCol w="1342977"/>
              </a:tblGrid>
              <a:tr h="411480">
                <a:tc>
                  <a:txBody>
                    <a:bodyPr/>
                    <a:lstStyle/>
                    <a:p>
                      <a:r>
                        <a:rPr sz="1300" b="1">
                          <a:solidFill>
                            <a:srgbClr val="FFFFFF"/>
                          </a:solidFill>
                        </a:rPr>
                        <a:t>Usul</a:t>
                      </a:r>
                    </a:p>
                  </a:txBody>
                  <a:tcPr marL="73152" marR="73152" marT="36576" marB="36576">
                    <a:solidFill>
                      <a:srgbClr val="0B1F3A"/>
                    </a:solidFill>
                  </a:tcPr>
                </a:tc>
                <a:tc>
                  <a:txBody>
                    <a:bodyPr/>
                    <a:lstStyle/>
                    <a:p>
                      <a:r>
                        <a:rPr sz="1300" b="1">
                          <a:solidFill>
                            <a:srgbClr val="FFFFFF"/>
                          </a:solidFill>
                        </a:rPr>
                        <a:t>Soni</a:t>
                      </a:r>
                    </a:p>
                  </a:txBody>
                  <a:tcPr marL="73152" marR="73152" marT="36576" marB="36576">
                    <a:solidFill>
                      <a:srgbClr val="0B1F3A"/>
                    </a:solidFill>
                  </a:tcPr>
                </a:tc>
                <a:tc>
                  <a:txBody>
                    <a:bodyPr/>
                    <a:lstStyle/>
                    <a:p>
                      <a:r>
                        <a:rPr sz="1300" b="1">
                          <a:solidFill>
                            <a:srgbClr val="FFFFFF"/>
                          </a:solidFill>
                        </a:rPr>
                        <a:t>Ulushi</a:t>
                      </a:r>
                    </a:p>
                  </a:txBody>
                  <a:tcPr marL="73152" marR="73152" marT="36576" marB="36576">
                    <a:solidFill>
                      <a:srgbClr val="0B1F3A"/>
                    </a:solidFill>
                  </a:tcPr>
                </a:tc>
              </a:tr>
              <a:tr h="411480">
                <a:tc>
                  <a:txBody>
                    <a:bodyPr/>
                    <a:lstStyle/>
                    <a:p>
                      <a:r>
                        <a:rPr sz="1200" b="0">
                          <a:solidFill>
                            <a:srgbClr val="1F2937"/>
                          </a:solidFill>
                        </a:rPr>
                        <a:t>Faqat IHC (immunogistokimyo)</a:t>
                      </a:r>
                    </a:p>
                  </a:txBody>
                  <a:tcPr marL="73152" marR="73152" marT="36576" marB="36576">
                    <a:solidFill>
                      <a:srgbClr val="E8EEF6"/>
                    </a:solidFill>
                  </a:tcPr>
                </a:tc>
                <a:tc>
                  <a:txBody>
                    <a:bodyPr/>
                    <a:lstStyle/>
                    <a:p>
                      <a:r>
                        <a:rPr sz="1200" b="0">
                          <a:solidFill>
                            <a:srgbClr val="1F2937"/>
                          </a:solidFill>
                        </a:rPr>
                        <a:t>32</a:t>
                      </a:r>
                    </a:p>
                  </a:txBody>
                  <a:tcPr marL="73152" marR="73152" marT="36576" marB="36576">
                    <a:solidFill>
                      <a:srgbClr val="E8EEF6"/>
                    </a:solidFill>
                  </a:tcPr>
                </a:tc>
                <a:tc>
                  <a:txBody>
                    <a:bodyPr/>
                    <a:lstStyle/>
                    <a:p>
                      <a:r>
                        <a:rPr sz="1200" b="0">
                          <a:solidFill>
                            <a:srgbClr val="1F2937"/>
                          </a:solidFill>
                        </a:rPr>
                        <a:t>70%</a:t>
                      </a:r>
                    </a:p>
                  </a:txBody>
                  <a:tcPr marL="73152" marR="73152" marT="36576" marB="36576">
                    <a:solidFill>
                      <a:srgbClr val="E8EEF6"/>
                    </a:solidFill>
                  </a:tcPr>
                </a:tc>
              </a:tr>
              <a:tr h="411480">
                <a:tc>
                  <a:txBody>
                    <a:bodyPr/>
                    <a:lstStyle/>
                    <a:p>
                      <a:r>
                        <a:rPr sz="1200" b="0">
                          <a:solidFill>
                            <a:srgbClr val="1F2937"/>
                          </a:solidFill>
                        </a:rPr>
                        <a:t>Faqat IF (immunofluoressensiya)</a:t>
                      </a:r>
                    </a:p>
                  </a:txBody>
                  <a:tcPr marL="73152" marR="73152" marT="36576" marB="36576">
                    <a:solidFill>
                      <a:srgbClr val="FFFFFF"/>
                    </a:solidFill>
                  </a:tcPr>
                </a:tc>
                <a:tc>
                  <a:txBody>
                    <a:bodyPr/>
                    <a:lstStyle/>
                    <a:p>
                      <a:r>
                        <a:rPr sz="1200" b="0">
                          <a:solidFill>
                            <a:srgbClr val="1F2937"/>
                          </a:solidFill>
                        </a:rPr>
                        <a:t>5</a:t>
                      </a:r>
                    </a:p>
                  </a:txBody>
                  <a:tcPr marL="73152" marR="73152" marT="36576" marB="36576">
                    <a:solidFill>
                      <a:srgbClr val="FFFFFF"/>
                    </a:solidFill>
                  </a:tcPr>
                </a:tc>
                <a:tc>
                  <a:txBody>
                    <a:bodyPr/>
                    <a:lstStyle/>
                    <a:p>
                      <a:r>
                        <a:rPr sz="1200" b="0">
                          <a:solidFill>
                            <a:srgbClr val="1F2937"/>
                          </a:solidFill>
                        </a:rPr>
                        <a:t>10%</a:t>
                      </a:r>
                    </a:p>
                  </a:txBody>
                  <a:tcPr marL="73152" marR="73152" marT="36576" marB="36576">
                    <a:solidFill>
                      <a:srgbClr val="FFFFFF"/>
                    </a:solidFill>
                  </a:tcPr>
                </a:tc>
              </a:tr>
              <a:tr h="411480">
                <a:tc>
                  <a:txBody>
                    <a:bodyPr/>
                    <a:lstStyle/>
                    <a:p>
                      <a:r>
                        <a:rPr sz="1200" b="0">
                          <a:solidFill>
                            <a:srgbClr val="1F2937"/>
                          </a:solidFill>
                        </a:rPr>
                        <a:t>IHC va IF birgalikda</a:t>
                      </a:r>
                    </a:p>
                  </a:txBody>
                  <a:tcPr marL="73152" marR="73152" marT="36576" marB="36576">
                    <a:solidFill>
                      <a:srgbClr val="E8EEF6"/>
                    </a:solidFill>
                  </a:tcPr>
                </a:tc>
                <a:tc>
                  <a:txBody>
                    <a:bodyPr/>
                    <a:lstStyle/>
                    <a:p>
                      <a:r>
                        <a:rPr sz="1200" b="0">
                          <a:solidFill>
                            <a:srgbClr val="1F2937"/>
                          </a:solidFill>
                        </a:rPr>
                        <a:t>9</a:t>
                      </a:r>
                    </a:p>
                  </a:txBody>
                  <a:tcPr marL="73152" marR="73152" marT="36576" marB="36576">
                    <a:solidFill>
                      <a:srgbClr val="E8EEF6"/>
                    </a:solidFill>
                  </a:tcPr>
                </a:tc>
                <a:tc>
                  <a:txBody>
                    <a:bodyPr/>
                    <a:lstStyle/>
                    <a:p>
                      <a:r>
                        <a:rPr sz="1200" b="0">
                          <a:solidFill>
                            <a:srgbClr val="1F2937"/>
                          </a:solidFill>
                        </a:rPr>
                        <a:t>20%</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Usullar ulushi (46 maqola)</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Luca Tomassini va boshq., Dating Skin Lesions of Forensic Interest by Immunohistochemistry and Immunofluorescence Techniques: A Scoping Literature Review, betlar: PMID 38248045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1: maqolalarni saralash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tadqiqotchilar PubMed va Scopus bazalaridan jarohat yoshini baholashga oid 326 ta maqola topdi.</a:t>
            </a:r>
          </a:p>
          <a:p>
            <a:pPr>
              <a:spcAft>
                <a:spcPts val="1200"/>
              </a:spcAft>
            </a:pPr>
            <a:r>
              <a:rPr sz="2200">
                <a:solidFill>
                  <a:srgbClr val="1F2937"/>
                </a:solidFill>
                <a:latin typeface="Calibri"/>
              </a:rPr>
              <a:t>▸  Chiqarilganlar: 19 tasi ingliz tilida emas, 14 tasi sharh, 235 tasi boshqa usul yoki boshqa to‘qima, 29 tasi dublikat.</a:t>
            </a:r>
          </a:p>
          <a:p>
            <a:pPr>
              <a:spcAft>
                <a:spcPts val="1200"/>
              </a:spcAft>
            </a:pPr>
            <a:r>
              <a:rPr sz="2200">
                <a:solidFill>
                  <a:srgbClr val="1F2937"/>
                </a:solidFill>
                <a:latin typeface="Calibri"/>
              </a:rPr>
              <a:t>▸  Hisob: 19+14+235+29 = 297 ta chiqarildi, qolgan 29 ta maqola tahlilga kiritildi.</a:t>
            </a:r>
          </a:p>
          <a:p>
            <a:pPr>
              <a:spcAft>
                <a:spcPts val="1200"/>
              </a:spcAft>
            </a:pPr>
            <a:r>
              <a:rPr sz="2200">
                <a:solidFill>
                  <a:srgbClr val="1F2937"/>
                </a:solidFill>
                <a:latin typeface="Calibri"/>
              </a:rPr>
              <a:t>▸  Savol: nega aynan shu mezonlar (til, maqola turi, usul, to‘qima) bo‘yicha saralash kerak bo‘lgan?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Luca Tomassini va boshq., Dating Skin Lesions of Forensic Interest by Immunohistochemistry and Immunofluorescence Techniques: A Scoping Literature Review, betlar: PMID 38248045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1</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PTI nima? Javob: post-trauma interval, ya’ni jarohat hosil bo‘lgandan keyin o‘tgan vaqt.</a:t>
            </a:r>
          </a:p>
          <a:p>
            <a:pPr>
              <a:spcAft>
                <a:spcPts val="1200"/>
              </a:spcAft>
            </a:pPr>
            <a:r>
              <a:rPr sz="2200">
                <a:solidFill>
                  <a:srgbClr val="1F2937"/>
                </a:solidFill>
                <a:latin typeface="Calibri"/>
              </a:rPr>
              <a:t>▸  2-savol: PTI nima uchun muhim? Javob: jarohat bilan o‘lim o‘rtasidagi sababiy bog‘liqlikni aniqlashga yordam beradi.</a:t>
            </a:r>
          </a:p>
          <a:p>
            <a:pPr>
              <a:spcAft>
                <a:spcPts val="1200"/>
              </a:spcAft>
            </a:pPr>
            <a:r>
              <a:rPr sz="2200">
                <a:solidFill>
                  <a:srgbClr val="1F2937"/>
                </a:solidFill>
                <a:latin typeface="Calibri"/>
              </a:rPr>
              <a:t>▸  3-savol: IHC ning asosiy ustunligi? Javob: qo‘llash oson, ishonchli va molekulalar joylashuvini tahlil qila oladi.</a:t>
            </a:r>
          </a:p>
          <a:p>
            <a:pPr>
              <a:spcAft>
                <a:spcPts val="1200"/>
              </a:spcAft>
            </a:pPr>
            <a:r>
              <a:rPr sz="2200">
                <a:solidFill>
                  <a:srgbClr val="1F2937"/>
                </a:solidFill>
                <a:latin typeface="Calibri"/>
              </a:rPr>
              <a:t>▸  Diqqat: IHC va IF jarohat holati va rivojini kuzatadi, lekin o‘lim vaqtini (post-mortem interval) aniq belgilay olmaydi.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Luca Tomassini va boshq., Dating Skin Lesions of Forensic Interest by Immunohistochemistry and Immunofluorescence Techniques: A Scoping Literature Review, betlar: PMID 38248045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Jarohat bitishining bosqichlari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Jarohat paydo bo‘lishi bilan bitish jarayoni darhol boshlanadi; avval qon oqishi to‘xtatiladi (gemostaz).</a:t>
            </a:r>
          </a:p>
          <a:p>
            <a:pPr>
              <a:spcAft>
                <a:spcPts val="800"/>
              </a:spcAft>
            </a:pPr>
            <a:r>
              <a:rPr sz="1800">
                <a:solidFill>
                  <a:srgbClr val="1F2937"/>
                </a:solidFill>
                <a:latin typeface="Calibri"/>
              </a:rPr>
              <a:t>▸  Keyin yallig‘lanish, hujayralar ko‘chishi va ko‘payishi, yangi qon tomirlar hosil bo‘lishi davom etadi.</a:t>
            </a:r>
          </a:p>
          <a:p>
            <a:pPr>
              <a:spcAft>
                <a:spcPts val="800"/>
              </a:spcAft>
            </a:pPr>
            <a:r>
              <a:rPr sz="1800">
                <a:solidFill>
                  <a:srgbClr val="1F2937"/>
                </a:solidFill>
                <a:latin typeface="Calibri"/>
              </a:rPr>
              <a:t>▸  Oxirida epiteliy jarohatni qoplaydi, kollagen sintezlanib to‘qimaga mustahkamlik beradi.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Gemostaz</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Yallig‘lanish</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Proliferatsiya, migratsiya</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Angiogenez</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Re-epitelizatsiya, kollagen</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Bitish zanjiri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Luca Tomassini va boshq., Dating Skin Lesions of Forensic Interest by Immunohistochemistry and Immunofluorescence Techniques: A Scoping Literature Review, betlar: PMID 38248045, 4-bo‘lim (Discussion)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Koagulyatsiya omillari: dastlabki soatlar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Van de Goot fibronektin, CD62p, VIII omil asosida jarohat yoshini baholovchi ballik tizim tuzgan.</a:t>
            </a:r>
          </a:p>
          <a:p>
            <a:pPr>
              <a:spcAft>
                <a:spcPts val="800"/>
              </a:spcAft>
            </a:pPr>
            <a:r>
              <a:rPr sz="1800">
                <a:solidFill>
                  <a:srgbClr val="1F2937"/>
                </a:solidFill>
                <a:latin typeface="Calibri"/>
              </a:rPr>
              <a:t>▸  Yangi jarohatlarda uchala markerning immunogistokimyo (IHC) bali nazoratdagi sog‘ teridan yuqori (p &lt; 0,001).</a:t>
            </a:r>
          </a:p>
          <a:p>
            <a:pPr>
              <a:spcAft>
                <a:spcPts val="800"/>
              </a:spcAft>
            </a:pPr>
            <a:r>
              <a:rPr sz="1800">
                <a:solidFill>
                  <a:srgbClr val="1F2937"/>
                </a:solidFill>
                <a:latin typeface="Calibri"/>
              </a:rPr>
              <a:t>▸  Bu markerlar erta jarohatda, ayniqsa jarohatdan keyingi interval (PTI) 0–1 soatda, musbat bo‘yaladi.</a:t>
            </a:r>
          </a:p>
        </p:txBody>
      </p:sp>
      <p:graphicFrame>
        <p:nvGraphicFramePr>
          <p:cNvPr id="9" name="Table 8"/>
          <p:cNvGraphicFramePr>
            <a:graphicFrameLocks noGrp="1"/>
          </p:cNvGraphicFramePr>
          <p:nvPr/>
        </p:nvGraphicFramePr>
        <p:xfrm>
          <a:off x="6263640" y="1463040"/>
          <a:ext cx="5287973" cy="1645920"/>
        </p:xfrm>
        <a:graphic>
          <a:graphicData uri="http://schemas.openxmlformats.org/drawingml/2006/table">
            <a:tbl>
              <a:tblPr firstRow="1" bandRow="1">
                <a:tableStyleId>{5C22544A-7EE6-4342-B048-85BDC9FD1C3A}</a:tableStyleId>
              </a:tblPr>
              <a:tblGrid>
                <a:gridCol w="1484343"/>
                <a:gridCol w="2319287"/>
                <a:gridCol w="1484343"/>
              </a:tblGrid>
              <a:tr h="411480">
                <a:tc>
                  <a:txBody>
                    <a:bodyPr/>
                    <a:lstStyle/>
                    <a:p>
                      <a:r>
                        <a:rPr sz="1300" b="1">
                          <a:solidFill>
                            <a:srgbClr val="FFFFFF"/>
                          </a:solidFill>
                        </a:rPr>
                        <a:t>Marker</a:t>
                      </a:r>
                    </a:p>
                  </a:txBody>
                  <a:tcPr marL="73152" marR="73152" marT="36576" marB="36576">
                    <a:solidFill>
                      <a:srgbClr val="0B1F3A"/>
                    </a:solidFill>
                  </a:tcPr>
                </a:tc>
                <a:tc>
                  <a:txBody>
                    <a:bodyPr/>
                    <a:lstStyle/>
                    <a:p>
                      <a:r>
                        <a:rPr sz="1300" b="1">
                          <a:solidFill>
                            <a:srgbClr val="FFFFFF"/>
                          </a:solidFill>
                        </a:rPr>
                        <a:t>Yangi jarohat</a:t>
                      </a:r>
                    </a:p>
                  </a:txBody>
                  <a:tcPr marL="73152" marR="73152" marT="36576" marB="36576">
                    <a:solidFill>
                      <a:srgbClr val="0B1F3A"/>
                    </a:solidFill>
                  </a:tcPr>
                </a:tc>
                <a:tc>
                  <a:txBody>
                    <a:bodyPr/>
                    <a:lstStyle/>
                    <a:p>
                      <a:r>
                        <a:rPr sz="1300" b="1">
                          <a:solidFill>
                            <a:srgbClr val="FFFFFF"/>
                          </a:solidFill>
                        </a:rPr>
                        <a:t>Nazorat</a:t>
                      </a:r>
                    </a:p>
                  </a:txBody>
                  <a:tcPr marL="73152" marR="73152" marT="36576" marB="36576">
                    <a:solidFill>
                      <a:srgbClr val="0B1F3A"/>
                    </a:solidFill>
                  </a:tcPr>
                </a:tc>
              </a:tr>
              <a:tr h="411480">
                <a:tc>
                  <a:txBody>
                    <a:bodyPr/>
                    <a:lstStyle/>
                    <a:p>
                      <a:r>
                        <a:rPr sz="1200" b="0">
                          <a:solidFill>
                            <a:srgbClr val="1F2937"/>
                          </a:solidFill>
                        </a:rPr>
                        <a:t>Fibronektin</a:t>
                      </a:r>
                    </a:p>
                  </a:txBody>
                  <a:tcPr marL="73152" marR="73152" marT="36576" marB="36576">
                    <a:solidFill>
                      <a:srgbClr val="E8EEF6"/>
                    </a:solidFill>
                  </a:tcPr>
                </a:tc>
                <a:tc>
                  <a:txBody>
                    <a:bodyPr/>
                    <a:lstStyle/>
                    <a:p>
                      <a:r>
                        <a:rPr sz="1200" b="0">
                          <a:solidFill>
                            <a:srgbClr val="1F2937"/>
                          </a:solidFill>
                        </a:rPr>
                        <a:t>IHC bali sezilarli oshgan</a:t>
                      </a:r>
                    </a:p>
                  </a:txBody>
                  <a:tcPr marL="73152" marR="73152" marT="36576" marB="36576">
                    <a:solidFill>
                      <a:srgbClr val="E8EEF6"/>
                    </a:solidFill>
                  </a:tcPr>
                </a:tc>
                <a:tc>
                  <a:txBody>
                    <a:bodyPr/>
                    <a:lstStyle/>
                    <a:p>
                      <a:r>
                        <a:rPr sz="1200" b="0">
                          <a:solidFill>
                            <a:srgbClr val="1F2937"/>
                          </a:solidFill>
                        </a:rPr>
                        <a:t>Past</a:t>
                      </a:r>
                    </a:p>
                  </a:txBody>
                  <a:tcPr marL="73152" marR="73152" marT="36576" marB="36576">
                    <a:solidFill>
                      <a:srgbClr val="E8EEF6"/>
                    </a:solidFill>
                  </a:tcPr>
                </a:tc>
              </a:tr>
              <a:tr h="411480">
                <a:tc>
                  <a:txBody>
                    <a:bodyPr/>
                    <a:lstStyle/>
                    <a:p>
                      <a:r>
                        <a:rPr sz="1200" b="0">
                          <a:solidFill>
                            <a:srgbClr val="1F2937"/>
                          </a:solidFill>
                        </a:rPr>
                        <a:t>CD62p</a:t>
                      </a:r>
                    </a:p>
                  </a:txBody>
                  <a:tcPr marL="73152" marR="73152" marT="36576" marB="36576">
                    <a:solidFill>
                      <a:srgbClr val="FFFFFF"/>
                    </a:solidFill>
                  </a:tcPr>
                </a:tc>
                <a:tc>
                  <a:txBody>
                    <a:bodyPr/>
                    <a:lstStyle/>
                    <a:p>
                      <a:r>
                        <a:rPr sz="1200" b="0">
                          <a:solidFill>
                            <a:srgbClr val="1F2937"/>
                          </a:solidFill>
                        </a:rPr>
                        <a:t>IHC bali sezilarli oshgan</a:t>
                      </a:r>
                    </a:p>
                  </a:txBody>
                  <a:tcPr marL="73152" marR="73152" marT="36576" marB="36576">
                    <a:solidFill>
                      <a:srgbClr val="FFFFFF"/>
                    </a:solidFill>
                  </a:tcPr>
                </a:tc>
                <a:tc>
                  <a:txBody>
                    <a:bodyPr/>
                    <a:lstStyle/>
                    <a:p>
                      <a:r>
                        <a:rPr sz="1200" b="0">
                          <a:solidFill>
                            <a:srgbClr val="1F2937"/>
                          </a:solidFill>
                        </a:rPr>
                        <a:t>Past</a:t>
                      </a:r>
                    </a:p>
                  </a:txBody>
                  <a:tcPr marL="73152" marR="73152" marT="36576" marB="36576">
                    <a:solidFill>
                      <a:srgbClr val="FFFFFF"/>
                    </a:solidFill>
                  </a:tcPr>
                </a:tc>
              </a:tr>
              <a:tr h="411480">
                <a:tc>
                  <a:txBody>
                    <a:bodyPr/>
                    <a:lstStyle/>
                    <a:p>
                      <a:r>
                        <a:rPr sz="1200" b="0">
                          <a:solidFill>
                            <a:srgbClr val="1F2937"/>
                          </a:solidFill>
                        </a:rPr>
                        <a:t>VIII omil</a:t>
                      </a:r>
                    </a:p>
                  </a:txBody>
                  <a:tcPr marL="73152" marR="73152" marT="36576" marB="36576">
                    <a:solidFill>
                      <a:srgbClr val="E8EEF6"/>
                    </a:solidFill>
                  </a:tcPr>
                </a:tc>
                <a:tc>
                  <a:txBody>
                    <a:bodyPr/>
                    <a:lstStyle/>
                    <a:p>
                      <a:r>
                        <a:rPr sz="1200" b="0">
                          <a:solidFill>
                            <a:srgbClr val="1F2937"/>
                          </a:solidFill>
                        </a:rPr>
                        <a:t>IHC bali sezilarli oshgan</a:t>
                      </a:r>
                    </a:p>
                  </a:txBody>
                  <a:tcPr marL="73152" marR="73152" marT="36576" marB="36576">
                    <a:solidFill>
                      <a:srgbClr val="E8EEF6"/>
                    </a:solidFill>
                  </a:tcPr>
                </a:tc>
                <a:tc>
                  <a:txBody>
                    <a:bodyPr/>
                    <a:lstStyle/>
                    <a:p>
                      <a:r>
                        <a:rPr sz="1200" b="0">
                          <a:solidFill>
                            <a:srgbClr val="1F2937"/>
                          </a:solidFill>
                        </a:rPr>
                        <a:t>Past</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Van de Goot markerlari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Luca Tomassini va boshq., Dating Skin Lesions of Forensic Interest by Immunohistochemistry and Immunofluorescence Techniques: A Scoping Literature Review, betlar: PMID 38248045, 4.1-bo‘lim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FVIIIra, CD15 va triptaza: sezgirlik va o‘ziga xoslik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Gauchotte teshilgan teri jarohatlari vaqtini FVIIIra, CD15 va triptaza markerlari bilan o‘rgangan.</a:t>
            </a:r>
          </a:p>
          <a:p>
            <a:pPr>
              <a:spcAft>
                <a:spcPts val="800"/>
              </a:spcAft>
            </a:pPr>
            <a:r>
              <a:rPr sz="1800">
                <a:solidFill>
                  <a:srgbClr val="1F2937"/>
                </a:solidFill>
                <a:latin typeface="Calibri"/>
              </a:rPr>
              <a:t>▸  FVIIIra jarrohlik va nazorat jarohatlarida ham oshgan (53%), shu sababli o‘ziga xosligi past.</a:t>
            </a:r>
          </a:p>
          <a:p>
            <a:pPr>
              <a:spcAft>
                <a:spcPts val="800"/>
              </a:spcAft>
            </a:pPr>
            <a:r>
              <a:rPr sz="1800">
                <a:solidFill>
                  <a:srgbClr val="1F2937"/>
                </a:solidFill>
                <a:latin typeface="Calibri"/>
              </a:rPr>
              <a:t>▸  Diqqat: sezgirlik ≠ o‘ziga xoslik; yuqori sezgirlik markerni hali ishonchli qilmaydi.</a:t>
            </a:r>
          </a:p>
        </p:txBody>
      </p:sp>
      <p:graphicFrame>
        <p:nvGraphicFramePr>
          <p:cNvPr id="9" name="Table 8"/>
          <p:cNvGraphicFramePr>
            <a:graphicFrameLocks noGrp="1"/>
          </p:cNvGraphicFramePr>
          <p:nvPr/>
        </p:nvGraphicFramePr>
        <p:xfrm>
          <a:off x="6263640" y="1463040"/>
          <a:ext cx="5287973" cy="1645920"/>
        </p:xfrm>
        <a:graphic>
          <a:graphicData uri="http://schemas.openxmlformats.org/drawingml/2006/table">
            <a:tbl>
              <a:tblPr firstRow="1" bandRow="1">
                <a:tableStyleId>{5C22544A-7EE6-4342-B048-85BDC9FD1C3A}</a:tableStyleId>
              </a:tblPr>
              <a:tblGrid>
                <a:gridCol w="995383"/>
                <a:gridCol w="2488458"/>
                <a:gridCol w="1804132"/>
              </a:tblGrid>
              <a:tr h="411480">
                <a:tc>
                  <a:txBody>
                    <a:bodyPr/>
                    <a:lstStyle/>
                    <a:p>
                      <a:r>
                        <a:rPr sz="1300" b="1">
                          <a:solidFill>
                            <a:srgbClr val="FFFFFF"/>
                          </a:solidFill>
                        </a:rPr>
                        <a:t>Marker</a:t>
                      </a:r>
                    </a:p>
                  </a:txBody>
                  <a:tcPr marL="73152" marR="73152" marT="36576" marB="36576">
                    <a:solidFill>
                      <a:srgbClr val="0B1F3A"/>
                    </a:solidFill>
                  </a:tcPr>
                </a:tc>
                <a:tc>
                  <a:txBody>
                    <a:bodyPr/>
                    <a:lstStyle/>
                    <a:p>
                      <a:r>
                        <a:rPr sz="1300" b="1">
                          <a:solidFill>
                            <a:srgbClr val="FFFFFF"/>
                          </a:solidFill>
                        </a:rPr>
                        <a:t>Ko‘rsatkich</a:t>
                      </a:r>
                    </a:p>
                  </a:txBody>
                  <a:tcPr marL="73152" marR="73152" marT="36576" marB="36576">
                    <a:solidFill>
                      <a:srgbClr val="0B1F3A"/>
                    </a:solidFill>
                  </a:tcPr>
                </a:tc>
                <a:tc>
                  <a:txBody>
                    <a:bodyPr/>
                    <a:lstStyle/>
                    <a:p>
                      <a:r>
                        <a:rPr sz="1300" b="1">
                          <a:solidFill>
                            <a:srgbClr val="FFFFFF"/>
                          </a:solidFill>
                        </a:rPr>
                        <a:t>Baho</a:t>
                      </a:r>
                    </a:p>
                  </a:txBody>
                  <a:tcPr marL="73152" marR="73152" marT="36576" marB="36576">
                    <a:solidFill>
                      <a:srgbClr val="0B1F3A"/>
                    </a:solidFill>
                  </a:tcPr>
                </a:tc>
              </a:tr>
              <a:tr h="411480">
                <a:tc>
                  <a:txBody>
                    <a:bodyPr/>
                    <a:lstStyle/>
                    <a:p>
                      <a:r>
                        <a:rPr sz="1200" b="0">
                          <a:solidFill>
                            <a:srgbClr val="1F2937"/>
                          </a:solidFill>
                        </a:rPr>
                        <a:t>FVIIIra</a:t>
                      </a:r>
                    </a:p>
                  </a:txBody>
                  <a:tcPr marL="73152" marR="73152" marT="36576" marB="36576">
                    <a:solidFill>
                      <a:srgbClr val="E8EEF6"/>
                    </a:solidFill>
                  </a:tcPr>
                </a:tc>
                <a:tc>
                  <a:txBody>
                    <a:bodyPr/>
                    <a:lstStyle/>
                    <a:p>
                      <a:r>
                        <a:rPr sz="1200" b="0">
                          <a:solidFill>
                            <a:srgbClr val="1F2937"/>
                          </a:solidFill>
                        </a:rPr>
                        <a:t>Sezgirlik 100%, o‘ziga xoslik 47%</a:t>
                      </a:r>
                    </a:p>
                  </a:txBody>
                  <a:tcPr marL="73152" marR="73152" marT="36576" marB="36576">
                    <a:solidFill>
                      <a:srgbClr val="E8EEF6"/>
                    </a:solidFill>
                  </a:tcPr>
                </a:tc>
                <a:tc>
                  <a:txBody>
                    <a:bodyPr/>
                    <a:lstStyle/>
                    <a:p>
                      <a:r>
                        <a:rPr sz="1200" b="0">
                          <a:solidFill>
                            <a:srgbClr val="1F2937"/>
                          </a:solidFill>
                        </a:rPr>
                        <a:t>Sezgir, lekin o‘ziga xos emas</a:t>
                      </a:r>
                    </a:p>
                  </a:txBody>
                  <a:tcPr marL="73152" marR="73152" marT="36576" marB="36576">
                    <a:solidFill>
                      <a:srgbClr val="E8EEF6"/>
                    </a:solidFill>
                  </a:tcPr>
                </a:tc>
              </a:tr>
              <a:tr h="411480">
                <a:tc>
                  <a:txBody>
                    <a:bodyPr/>
                    <a:lstStyle/>
                    <a:p>
                      <a:r>
                        <a:rPr sz="1200" b="0">
                          <a:solidFill>
                            <a:srgbClr val="1F2937"/>
                          </a:solidFill>
                        </a:rPr>
                        <a:t>CD15</a:t>
                      </a:r>
                    </a:p>
                  </a:txBody>
                  <a:tcPr marL="73152" marR="73152" marT="36576" marB="36576">
                    <a:solidFill>
                      <a:srgbClr val="FFFFFF"/>
                    </a:solidFill>
                  </a:tcPr>
                </a:tc>
                <a:tc>
                  <a:txBody>
                    <a:bodyPr/>
                    <a:lstStyle/>
                    <a:p>
                      <a:r>
                        <a:rPr sz="1200" b="0">
                          <a:solidFill>
                            <a:srgbClr val="1F2937"/>
                          </a:solidFill>
                        </a:rPr>
                        <a:t>Yangi ante-mortem va post-mortemni ajratadi</a:t>
                      </a:r>
                    </a:p>
                  </a:txBody>
                  <a:tcPr marL="73152" marR="73152" marT="36576" marB="36576">
                    <a:solidFill>
                      <a:srgbClr val="FFFFFF"/>
                    </a:solidFill>
                  </a:tcPr>
                </a:tc>
                <a:tc>
                  <a:txBody>
                    <a:bodyPr/>
                    <a:lstStyle/>
                    <a:p>
                      <a:r>
                        <a:rPr sz="1200" b="0">
                          <a:solidFill>
                            <a:srgbClr val="1F2937"/>
                          </a:solidFill>
                        </a:rPr>
                        <a:t>Foydaliroq marker</a:t>
                      </a:r>
                    </a:p>
                  </a:txBody>
                  <a:tcPr marL="73152" marR="73152" marT="36576" marB="36576">
                    <a:solidFill>
                      <a:srgbClr val="FFFFFF"/>
                    </a:solidFill>
                  </a:tcPr>
                </a:tc>
              </a:tr>
              <a:tr h="411480">
                <a:tc>
                  <a:txBody>
                    <a:bodyPr/>
                    <a:lstStyle/>
                    <a:p>
                      <a:r>
                        <a:rPr sz="1200" b="0">
                          <a:solidFill>
                            <a:srgbClr val="1F2937"/>
                          </a:solidFill>
                        </a:rPr>
                        <a:t>Triptaza</a:t>
                      </a:r>
                    </a:p>
                  </a:txBody>
                  <a:tcPr marL="73152" marR="73152" marT="36576" marB="36576">
                    <a:solidFill>
                      <a:srgbClr val="E8EEF6"/>
                    </a:solidFill>
                  </a:tcPr>
                </a:tc>
                <a:tc>
                  <a:txBody>
                    <a:bodyPr/>
                    <a:lstStyle/>
                    <a:p>
                      <a:r>
                        <a:rPr sz="1200" b="0">
                          <a:solidFill>
                            <a:srgbClr val="1F2937"/>
                          </a:solidFill>
                        </a:rPr>
                        <a:t>Yangi ante-mortem va post-mortemni ajratadi</a:t>
                      </a:r>
                    </a:p>
                  </a:txBody>
                  <a:tcPr marL="73152" marR="73152" marT="36576" marB="36576">
                    <a:solidFill>
                      <a:srgbClr val="E8EEF6"/>
                    </a:solidFill>
                  </a:tcPr>
                </a:tc>
                <a:tc>
                  <a:txBody>
                    <a:bodyPr/>
                    <a:lstStyle/>
                    <a:p>
                      <a:r>
                        <a:rPr sz="1200" b="0">
                          <a:solidFill>
                            <a:srgbClr val="1F2937"/>
                          </a:solidFill>
                        </a:rPr>
                        <a:t>Foydaliroq marker</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Markerlarni solishtirish</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Luca Tomassini va boshq., Dating Skin Lesions of Forensic Interest by Immunohistochemistry and Immunofluorescence Techniques: A Scoping Literature Review, betlar: PMID 38248045, 4.1-bo‘lim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Diqqat: sezgirlik ≠ o‘ziga xoslik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Gauchotte va hamkasblari FVIIIra markerini tekshirdi. Uning sezgirligi 100% bo‘ldi, o‘ziga xosligi esa atigi 47%.</a:t>
            </a:r>
          </a:p>
          <a:p>
            <a:pPr>
              <a:spcAft>
                <a:spcPts val="1200"/>
              </a:spcAft>
            </a:pPr>
            <a:r>
              <a:rPr sz="2200">
                <a:solidFill>
                  <a:srgbClr val="1F2937"/>
                </a:solidFill>
                <a:latin typeface="Calibri"/>
              </a:rPr>
              <a:t>▸  FVIIIra ning ortishi jarrohlik va salbiy nazorat jarohatlarida ham kuzatildi (53%). Ya’ni marker tirik jarohatga xos emas.</a:t>
            </a:r>
          </a:p>
          <a:p>
            <a:pPr>
              <a:spcAft>
                <a:spcPts val="1200"/>
              </a:spcAft>
            </a:pPr>
            <a:r>
              <a:rPr sz="2200">
                <a:solidFill>
                  <a:srgbClr val="1F2937"/>
                </a:solidFill>
                <a:latin typeface="Calibri"/>
              </a:rPr>
              <a:t>▸  Shuning uchun FVIIIra jarohat vitalligining yuqori sezgir, lekin o‘ziga xos bo‘lmagan markeri hisoblanadi.</a:t>
            </a:r>
          </a:p>
          <a:p>
            <a:pPr>
              <a:spcAft>
                <a:spcPts val="1200"/>
              </a:spcAft>
            </a:pPr>
            <a:r>
              <a:rPr sz="2200">
                <a:solidFill>
                  <a:srgbClr val="1F2937"/>
                </a:solidFill>
                <a:latin typeface="Calibri"/>
              </a:rPr>
              <a:t>▸  Yaqin vaqtdagi tirik jarohatni o‘limdan keyingisidan ajratishda CD15 va triptaza foydaliroq deb hisoblanadi.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Luca Tomassini va boshq., Dating Skin Lesions of Forensic Interest by Immunohistochemistry and Immunofluorescence Techniques: A Scoping Literature Review, betlar: PMID 38248045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Yallig‘lanish sitokinlarining vaqt cho‘qqilari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Kondo (1996): TNFα va IL-1β ning statistik ahamiyatli cho‘qqisi jarohatdan 3 soat o‘tgach topildi.</a:t>
            </a:r>
          </a:p>
          <a:p>
            <a:pPr>
              <a:spcAft>
                <a:spcPts val="800"/>
              </a:spcAft>
            </a:pPr>
            <a:r>
              <a:rPr sz="1800">
                <a:solidFill>
                  <a:srgbClr val="1F2937"/>
                </a:solidFill>
                <a:latin typeface="Calibri"/>
              </a:rPr>
              <a:t>▸  IL-1β ning kichikroq, lekin muhim cho‘qqisi 6 soatda, IL-6 cho‘qqisi esa 12 soatda kuzatildi.</a:t>
            </a:r>
          </a:p>
          <a:p>
            <a:pPr>
              <a:spcAft>
                <a:spcPts val="800"/>
              </a:spcAft>
            </a:pPr>
            <a:r>
              <a:rPr sz="1800">
                <a:solidFill>
                  <a:srgbClr val="1F2937"/>
                </a:solidFill>
                <a:latin typeface="Calibri"/>
              </a:rPr>
              <a:t>▸  Neytrofillar 3–6 soatda, fagotsitlar 24 soatda (o‘tish fazasi) shu sitokinlar uchun musbat bo‘yaldi.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566807"/>
                <a:gridCol w="1566807"/>
                <a:gridCol w="2154360"/>
              </a:tblGrid>
              <a:tr h="411480">
                <a:tc>
                  <a:txBody>
                    <a:bodyPr/>
                    <a:lstStyle/>
                    <a:p>
                      <a:r>
                        <a:rPr sz="1300" b="1">
                          <a:solidFill>
                            <a:srgbClr val="FFFFFF"/>
                          </a:solidFill>
                        </a:rPr>
                        <a:t>Sitokin</a:t>
                      </a:r>
                    </a:p>
                  </a:txBody>
                  <a:tcPr marL="73152" marR="73152" marT="36576" marB="36576">
                    <a:solidFill>
                      <a:srgbClr val="0B1F3A"/>
                    </a:solidFill>
                  </a:tcPr>
                </a:tc>
                <a:tc>
                  <a:txBody>
                    <a:bodyPr/>
                    <a:lstStyle/>
                    <a:p>
                      <a:r>
                        <a:rPr sz="1300" b="1">
                          <a:solidFill>
                            <a:srgbClr val="FFFFFF"/>
                          </a:solidFill>
                        </a:rPr>
                        <a:t>Vaqt</a:t>
                      </a:r>
                    </a:p>
                  </a:txBody>
                  <a:tcPr marL="73152" marR="73152" marT="36576" marB="36576">
                    <a:solidFill>
                      <a:srgbClr val="0B1F3A"/>
                    </a:solidFill>
                  </a:tcPr>
                </a:tc>
                <a:tc>
                  <a:txBody>
                    <a:bodyPr/>
                    <a:lstStyle/>
                    <a:p>
                      <a:r>
                        <a:rPr sz="1300" b="1">
                          <a:solidFill>
                            <a:srgbClr val="FFFFFF"/>
                          </a:solidFill>
                        </a:rPr>
                        <a:t>Izoh</a:t>
                      </a:r>
                    </a:p>
                  </a:txBody>
                  <a:tcPr marL="73152" marR="73152" marT="36576" marB="36576">
                    <a:solidFill>
                      <a:srgbClr val="0B1F3A"/>
                    </a:solidFill>
                  </a:tcPr>
                </a:tc>
              </a:tr>
              <a:tr h="411480">
                <a:tc>
                  <a:txBody>
                    <a:bodyPr/>
                    <a:lstStyle/>
                    <a:p>
                      <a:r>
                        <a:rPr sz="1200" b="0">
                          <a:solidFill>
                            <a:srgbClr val="1F2937"/>
                          </a:solidFill>
                        </a:rPr>
                        <a:t>TNFα</a:t>
                      </a:r>
                    </a:p>
                  </a:txBody>
                  <a:tcPr marL="73152" marR="73152" marT="36576" marB="36576">
                    <a:solidFill>
                      <a:srgbClr val="E8EEF6"/>
                    </a:solidFill>
                  </a:tcPr>
                </a:tc>
                <a:tc>
                  <a:txBody>
                    <a:bodyPr/>
                    <a:lstStyle/>
                    <a:p>
                      <a:r>
                        <a:rPr sz="1200" b="0">
                          <a:solidFill>
                            <a:srgbClr val="1F2937"/>
                          </a:solidFill>
                        </a:rPr>
                        <a:t>3 soat</a:t>
                      </a:r>
                    </a:p>
                  </a:txBody>
                  <a:tcPr marL="73152" marR="73152" marT="36576" marB="36576">
                    <a:solidFill>
                      <a:srgbClr val="E8EEF6"/>
                    </a:solidFill>
                  </a:tcPr>
                </a:tc>
                <a:tc>
                  <a:txBody>
                    <a:bodyPr/>
                    <a:lstStyle/>
                    <a:p>
                      <a:r>
                        <a:rPr sz="1200" b="0">
                          <a:solidFill>
                            <a:srgbClr val="1F2937"/>
                          </a:solidFill>
                        </a:rPr>
                        <a:t>Ahamiyatli cho‘qqi</a:t>
                      </a:r>
                    </a:p>
                  </a:txBody>
                  <a:tcPr marL="73152" marR="73152" marT="36576" marB="36576">
                    <a:solidFill>
                      <a:srgbClr val="E8EEF6"/>
                    </a:solidFill>
                  </a:tcPr>
                </a:tc>
              </a:tr>
              <a:tr h="411480">
                <a:tc>
                  <a:txBody>
                    <a:bodyPr/>
                    <a:lstStyle/>
                    <a:p>
                      <a:r>
                        <a:rPr sz="1200" b="0">
                          <a:solidFill>
                            <a:srgbClr val="1F2937"/>
                          </a:solidFill>
                        </a:rPr>
                        <a:t>IL-1β</a:t>
                      </a:r>
                    </a:p>
                  </a:txBody>
                  <a:tcPr marL="73152" marR="73152" marT="36576" marB="36576">
                    <a:solidFill>
                      <a:srgbClr val="FFFFFF"/>
                    </a:solidFill>
                  </a:tcPr>
                </a:tc>
                <a:tc>
                  <a:txBody>
                    <a:bodyPr/>
                    <a:lstStyle/>
                    <a:p>
                      <a:r>
                        <a:rPr sz="1200" b="0">
                          <a:solidFill>
                            <a:srgbClr val="1F2937"/>
                          </a:solidFill>
                        </a:rPr>
                        <a:t>3 soat</a:t>
                      </a:r>
                    </a:p>
                  </a:txBody>
                  <a:tcPr marL="73152" marR="73152" marT="36576" marB="36576">
                    <a:solidFill>
                      <a:srgbClr val="FFFFFF"/>
                    </a:solidFill>
                  </a:tcPr>
                </a:tc>
                <a:tc>
                  <a:txBody>
                    <a:bodyPr/>
                    <a:lstStyle/>
                    <a:p>
                      <a:r>
                        <a:rPr sz="1200" b="0">
                          <a:solidFill>
                            <a:srgbClr val="1F2937"/>
                          </a:solidFill>
                        </a:rPr>
                        <a:t>Birinchi cho‘qqi</a:t>
                      </a:r>
                    </a:p>
                  </a:txBody>
                  <a:tcPr marL="73152" marR="73152" marT="36576" marB="36576">
                    <a:solidFill>
                      <a:srgbClr val="FFFFFF"/>
                    </a:solidFill>
                  </a:tcPr>
                </a:tc>
              </a:tr>
              <a:tr h="411480">
                <a:tc>
                  <a:txBody>
                    <a:bodyPr/>
                    <a:lstStyle/>
                    <a:p>
                      <a:r>
                        <a:rPr sz="1200" b="0">
                          <a:solidFill>
                            <a:srgbClr val="1F2937"/>
                          </a:solidFill>
                        </a:rPr>
                        <a:t>IL-1β</a:t>
                      </a:r>
                    </a:p>
                  </a:txBody>
                  <a:tcPr marL="73152" marR="73152" marT="36576" marB="36576">
                    <a:solidFill>
                      <a:srgbClr val="E8EEF6"/>
                    </a:solidFill>
                  </a:tcPr>
                </a:tc>
                <a:tc>
                  <a:txBody>
                    <a:bodyPr/>
                    <a:lstStyle/>
                    <a:p>
                      <a:r>
                        <a:rPr sz="1200" b="0">
                          <a:solidFill>
                            <a:srgbClr val="1F2937"/>
                          </a:solidFill>
                        </a:rPr>
                        <a:t>6 soat</a:t>
                      </a:r>
                    </a:p>
                  </a:txBody>
                  <a:tcPr marL="73152" marR="73152" marT="36576" marB="36576">
                    <a:solidFill>
                      <a:srgbClr val="E8EEF6"/>
                    </a:solidFill>
                  </a:tcPr>
                </a:tc>
                <a:tc>
                  <a:txBody>
                    <a:bodyPr/>
                    <a:lstStyle/>
                    <a:p>
                      <a:r>
                        <a:rPr sz="1200" b="0">
                          <a:solidFill>
                            <a:srgbClr val="1F2937"/>
                          </a:solidFill>
                        </a:rPr>
                        <a:t>Kichikroq, lekin muhim</a:t>
                      </a:r>
                    </a:p>
                  </a:txBody>
                  <a:tcPr marL="73152" marR="73152" marT="36576" marB="36576">
                    <a:solidFill>
                      <a:srgbClr val="E8EEF6"/>
                    </a:solidFill>
                  </a:tcPr>
                </a:tc>
              </a:tr>
              <a:tr h="411480">
                <a:tc>
                  <a:txBody>
                    <a:bodyPr/>
                    <a:lstStyle/>
                    <a:p>
                      <a:r>
                        <a:rPr sz="1200" b="0">
                          <a:solidFill>
                            <a:srgbClr val="1F2937"/>
                          </a:solidFill>
                        </a:rPr>
                        <a:t>IL-6</a:t>
                      </a:r>
                    </a:p>
                  </a:txBody>
                  <a:tcPr marL="73152" marR="73152" marT="36576" marB="36576">
                    <a:solidFill>
                      <a:srgbClr val="FFFFFF"/>
                    </a:solidFill>
                  </a:tcPr>
                </a:tc>
                <a:tc>
                  <a:txBody>
                    <a:bodyPr/>
                    <a:lstStyle/>
                    <a:p>
                      <a:r>
                        <a:rPr sz="1200" b="0">
                          <a:solidFill>
                            <a:srgbClr val="1F2937"/>
                          </a:solidFill>
                        </a:rPr>
                        <a:t>12 soat</a:t>
                      </a:r>
                    </a:p>
                  </a:txBody>
                  <a:tcPr marL="73152" marR="73152" marT="36576" marB="36576">
                    <a:solidFill>
                      <a:srgbClr val="FFFFFF"/>
                    </a:solidFill>
                  </a:tcPr>
                </a:tc>
                <a:tc>
                  <a:txBody>
                    <a:bodyPr/>
                    <a:lstStyle/>
                    <a:p>
                      <a:r>
                        <a:rPr sz="1200" b="0">
                          <a:solidFill>
                            <a:srgbClr val="1F2937"/>
                          </a:solidFill>
                        </a:rPr>
                        <a:t>Kechroq cho‘qqi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Sitokin cho‘qqilari vaqt chizig‘i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Luca Tomassini va boshq., Dating Skin Lesions of Forensic Interest by Immunohistochemistry and Immunofluorescence Techniques: A Scoping Literature Review, betlar: PMID 38248045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IL-1α, IL-8, MCP-1 va MIP-1α</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Kondo (1999): neytrofillar jarohatdan 4 soat o‘tib paydo bo‘ldi. Ularning sitoplazmasi anti-IL-1α bilan bo‘yalib, bir sutkagacha musbat qoldi.</a:t>
            </a:r>
          </a:p>
          <a:p>
            <a:pPr>
              <a:spcAft>
                <a:spcPts val="1200"/>
              </a:spcAft>
            </a:pPr>
            <a:r>
              <a:rPr sz="2200">
                <a:solidFill>
                  <a:srgbClr val="1F2937"/>
                </a:solidFill>
                <a:latin typeface="Calibri"/>
              </a:rPr>
              <a:t>▸  IL-1α musbat hujayralar ulushi 30% dan oshsa, jarohat yoshi bir sutka yoki undan kam bo‘lishi mumkin.</a:t>
            </a:r>
          </a:p>
          <a:p>
            <a:pPr>
              <a:spcAft>
                <a:spcPts val="1200"/>
              </a:spcAft>
            </a:pPr>
            <a:r>
              <a:rPr sz="2200">
                <a:solidFill>
                  <a:srgbClr val="1F2937"/>
                </a:solidFill>
                <a:latin typeface="Calibri"/>
              </a:rPr>
              <a:t>▸  Grellner: IL-1, IL-6 va TNF-α tirik jarohatda erta paydo bo‘ladi. Eng erta javob 15 daqiqada kuzatilib, bir necha soat saqlandi.</a:t>
            </a:r>
          </a:p>
          <a:p>
            <a:pPr>
              <a:spcAft>
                <a:spcPts val="1200"/>
              </a:spcAft>
            </a:pPr>
            <a:r>
              <a:rPr sz="2200">
                <a:solidFill>
                  <a:srgbClr val="1F2937"/>
                </a:solidFill>
                <a:latin typeface="Calibri"/>
              </a:rPr>
              <a:t>▸  Kondo (2002): IL-8, MCP-1 (monotsit xemoattraktant oqsili) va MIP-1α dastlab 12 soatgacha neytrofillarda, keyin makrofag va fibroblastlarda topildi.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Luca Tomassini va boshq., Dating Skin Lesions of Forensic Interest by Immunohistochemistry and Immunofluorescence Techniques: A Scoping Literature Review, betlar: PMID 38248045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Immun hujayralar: neytrofil, makrofag, limfotsit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Fronczek tirik odamlar teri biopsiyasini o‘rgangan: immun hujayralar jarohat yoshiga qarab vaqtga bog‘liq naqsh beradi.</a:t>
            </a:r>
          </a:p>
          <a:p>
            <a:pPr>
              <a:spcAft>
                <a:spcPts val="800"/>
              </a:spcAft>
            </a:pPr>
            <a:r>
              <a:rPr sz="1800">
                <a:solidFill>
                  <a:srgbClr val="1F2937"/>
                </a:solidFill>
                <a:latin typeface="Calibri"/>
              </a:rPr>
              <a:t>▸  Neytrofillar va MIP-1 musbat yallig‘lanish hujayralari 0,2–4 kunlik jarohatda sezilarli ko‘p bo‘ladi.</a:t>
            </a:r>
          </a:p>
          <a:p>
            <a:pPr>
              <a:spcAft>
                <a:spcPts val="800"/>
              </a:spcAft>
            </a:pPr>
            <a:r>
              <a:rPr sz="1800">
                <a:solidFill>
                  <a:srgbClr val="1F2937"/>
                </a:solidFill>
                <a:latin typeface="Calibri"/>
              </a:rPr>
              <a:t>▸  Diqqat: epidermisdagi IL-8 ifodasi jarohat yoshi bilan bog‘liq emas.</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1826755"/>
                <a:gridCol w="1538320"/>
                <a:gridCol w="1922900"/>
              </a:tblGrid>
              <a:tr h="411480">
                <a:tc>
                  <a:txBody>
                    <a:bodyPr/>
                    <a:lstStyle/>
                    <a:p>
                      <a:r>
                        <a:rPr sz="1300" b="1">
                          <a:solidFill>
                            <a:srgbClr val="FFFFFF"/>
                          </a:solidFill>
                        </a:rPr>
                        <a:t>Hujayra</a:t>
                      </a:r>
                    </a:p>
                  </a:txBody>
                  <a:tcPr marL="73152" marR="73152" marT="36576" marB="36576">
                    <a:solidFill>
                      <a:srgbClr val="0B1F3A"/>
                    </a:solidFill>
                  </a:tcPr>
                </a:tc>
                <a:tc>
                  <a:txBody>
                    <a:bodyPr/>
                    <a:lstStyle/>
                    <a:p>
                      <a:r>
                        <a:rPr sz="1300" b="1">
                          <a:solidFill>
                            <a:srgbClr val="FFFFFF"/>
                          </a:solidFill>
                        </a:rPr>
                        <a:t>Marker</a:t>
                      </a:r>
                    </a:p>
                  </a:txBody>
                  <a:tcPr marL="73152" marR="73152" marT="36576" marB="36576">
                    <a:solidFill>
                      <a:srgbClr val="0B1F3A"/>
                    </a:solidFill>
                  </a:tcPr>
                </a:tc>
                <a:tc>
                  <a:txBody>
                    <a:bodyPr/>
                    <a:lstStyle/>
                    <a:p>
                      <a:r>
                        <a:rPr sz="1300" b="1">
                          <a:solidFill>
                            <a:srgbClr val="FFFFFF"/>
                          </a:solidFill>
                        </a:rPr>
                        <a:t>Cho‘qqi davri</a:t>
                      </a:r>
                    </a:p>
                  </a:txBody>
                  <a:tcPr marL="73152" marR="73152" marT="36576" marB="36576">
                    <a:solidFill>
                      <a:srgbClr val="0B1F3A"/>
                    </a:solidFill>
                  </a:tcPr>
                </a:tc>
              </a:tr>
              <a:tr h="411480">
                <a:tc>
                  <a:txBody>
                    <a:bodyPr/>
                    <a:lstStyle/>
                    <a:p>
                      <a:r>
                        <a:rPr sz="1200" b="0">
                          <a:solidFill>
                            <a:srgbClr val="1F2937"/>
                          </a:solidFill>
                        </a:rPr>
                        <a:t>Neytrofil</a:t>
                      </a:r>
                    </a:p>
                  </a:txBody>
                  <a:tcPr marL="73152" marR="73152" marT="36576" marB="36576">
                    <a:solidFill>
                      <a:srgbClr val="E8EEF6"/>
                    </a:solidFill>
                  </a:tcPr>
                </a:tc>
                <a:tc>
                  <a:txBody>
                    <a:bodyPr/>
                    <a:lstStyle/>
                    <a:p>
                      <a:r>
                        <a:rPr sz="1200" b="0">
                          <a:solidFill>
                            <a:srgbClr val="1F2937"/>
                          </a:solidFill>
                        </a:rPr>
                        <a:t>Hujayra soni</a:t>
                      </a:r>
                    </a:p>
                  </a:txBody>
                  <a:tcPr marL="73152" marR="73152" marT="36576" marB="36576">
                    <a:solidFill>
                      <a:srgbClr val="E8EEF6"/>
                    </a:solidFill>
                  </a:tcPr>
                </a:tc>
                <a:tc>
                  <a:txBody>
                    <a:bodyPr/>
                    <a:lstStyle/>
                    <a:p>
                      <a:r>
                        <a:rPr sz="1200" b="0">
                          <a:solidFill>
                            <a:srgbClr val="1F2937"/>
                          </a:solidFill>
                        </a:rPr>
                        <a:t>0,2–4 kun</a:t>
                      </a:r>
                    </a:p>
                  </a:txBody>
                  <a:tcPr marL="73152" marR="73152" marT="36576" marB="36576">
                    <a:solidFill>
                      <a:srgbClr val="E8EEF6"/>
                    </a:solidFill>
                  </a:tcPr>
                </a:tc>
              </a:tr>
              <a:tr h="411480">
                <a:tc>
                  <a:txBody>
                    <a:bodyPr/>
                    <a:lstStyle/>
                    <a:p>
                      <a:r>
                        <a:rPr sz="1200" b="0">
                          <a:solidFill>
                            <a:srgbClr val="1F2937"/>
                          </a:solidFill>
                        </a:rPr>
                        <a:t>Faol makrofag</a:t>
                      </a:r>
                    </a:p>
                  </a:txBody>
                  <a:tcPr marL="73152" marR="73152" marT="36576" marB="36576">
                    <a:solidFill>
                      <a:srgbClr val="FFFFFF"/>
                    </a:solidFill>
                  </a:tcPr>
                </a:tc>
                <a:tc>
                  <a:txBody>
                    <a:bodyPr/>
                    <a:lstStyle/>
                    <a:p>
                      <a:r>
                        <a:rPr sz="1200" b="0">
                          <a:solidFill>
                            <a:srgbClr val="1F2937"/>
                          </a:solidFill>
                        </a:rPr>
                        <a:t>CD68</a:t>
                      </a:r>
                    </a:p>
                  </a:txBody>
                  <a:tcPr marL="73152" marR="73152" marT="36576" marB="36576">
                    <a:solidFill>
                      <a:srgbClr val="FFFFFF"/>
                    </a:solidFill>
                  </a:tcPr>
                </a:tc>
                <a:tc>
                  <a:txBody>
                    <a:bodyPr/>
                    <a:lstStyle/>
                    <a:p>
                      <a:r>
                        <a:rPr sz="1200" b="0">
                          <a:solidFill>
                            <a:srgbClr val="1F2937"/>
                          </a:solidFill>
                        </a:rPr>
                        <a:t>2–4 kun</a:t>
                      </a:r>
                    </a:p>
                  </a:txBody>
                  <a:tcPr marL="73152" marR="73152" marT="36576" marB="36576">
                    <a:solidFill>
                      <a:srgbClr val="FFFFFF"/>
                    </a:solidFill>
                  </a:tcPr>
                </a:tc>
              </a:tr>
              <a:tr h="411480">
                <a:tc>
                  <a:txBody>
                    <a:bodyPr/>
                    <a:lstStyle/>
                    <a:p>
                      <a:r>
                        <a:rPr sz="1200" b="0">
                          <a:solidFill>
                            <a:srgbClr val="1F2937"/>
                          </a:solidFill>
                        </a:rPr>
                        <a:t>Limfotsit</a:t>
                      </a:r>
                    </a:p>
                  </a:txBody>
                  <a:tcPr marL="73152" marR="73152" marT="36576" marB="36576">
                    <a:solidFill>
                      <a:srgbClr val="E8EEF6"/>
                    </a:solidFill>
                  </a:tcPr>
                </a:tc>
                <a:tc>
                  <a:txBody>
                    <a:bodyPr/>
                    <a:lstStyle/>
                    <a:p>
                      <a:r>
                        <a:rPr sz="1200" b="0">
                          <a:solidFill>
                            <a:srgbClr val="1F2937"/>
                          </a:solidFill>
                        </a:rPr>
                        <a:t>CD45</a:t>
                      </a:r>
                    </a:p>
                  </a:txBody>
                  <a:tcPr marL="73152" marR="73152" marT="36576" marB="36576">
                    <a:solidFill>
                      <a:srgbClr val="E8EEF6"/>
                    </a:solidFill>
                  </a:tcPr>
                </a:tc>
                <a:tc>
                  <a:txBody>
                    <a:bodyPr/>
                    <a:lstStyle/>
                    <a:p>
                      <a:r>
                        <a:rPr sz="1200" b="0">
                          <a:solidFill>
                            <a:srgbClr val="1F2937"/>
                          </a:solidFill>
                        </a:rPr>
                        <a:t>0,2–2 kun</a:t>
                      </a:r>
                    </a:p>
                  </a:txBody>
                  <a:tcPr marL="73152" marR="73152" marT="36576" marB="36576">
                    <a:solidFill>
                      <a:srgbClr val="E8EEF6"/>
                    </a:solidFill>
                  </a:tcPr>
                </a:tc>
              </a:tr>
              <a:tr h="411480">
                <a:tc>
                  <a:txBody>
                    <a:bodyPr/>
                    <a:lstStyle/>
                    <a:p>
                      <a:r>
                        <a:rPr sz="1200" b="0">
                          <a:solidFill>
                            <a:srgbClr val="1F2937"/>
                          </a:solidFill>
                        </a:rPr>
                        <a:t>Limfotsit kamayishi</a:t>
                      </a:r>
                    </a:p>
                  </a:txBody>
                  <a:tcPr marL="73152" marR="73152" marT="36576" marB="36576">
                    <a:solidFill>
                      <a:srgbClr val="FFFFFF"/>
                    </a:solidFill>
                  </a:tcPr>
                </a:tc>
                <a:tc>
                  <a:txBody>
                    <a:bodyPr/>
                    <a:lstStyle/>
                    <a:p>
                      <a:r>
                        <a:rPr sz="1200" b="0">
                          <a:solidFill>
                            <a:srgbClr val="1F2937"/>
                          </a:solidFill>
                        </a:rPr>
                        <a:t>CD45</a:t>
                      </a:r>
                    </a:p>
                  </a:txBody>
                  <a:tcPr marL="73152" marR="73152" marT="36576" marB="36576">
                    <a:solidFill>
                      <a:srgbClr val="FFFFFF"/>
                    </a:solidFill>
                  </a:tcPr>
                </a:tc>
                <a:tc>
                  <a:txBody>
                    <a:bodyPr/>
                    <a:lstStyle/>
                    <a:p>
                      <a:r>
                        <a:rPr sz="1200" b="0">
                          <a:solidFill>
                            <a:srgbClr val="1F2937"/>
                          </a:solidFill>
                        </a:rPr>
                        <a:t>10 kungacha pasayadi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Fronczek: hujayralar cho‘qqisi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Luca Tomassini va boshq., Dating Skin Lesions of Forensic Interest by Immunohistochemistry and Immunofluorescence Techniques: A Scoping Literature Review, betlar: PMID 38248045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CD14 va dendritik hujayralar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Yagi: CD14 jarohatdan keyin 2–5 kunda sezilarli ortadi. 1–5 kunlik jarohatni aniqlashda sezgirlik 100%, o‘ziga xoslik 87,2%.</a:t>
            </a:r>
          </a:p>
          <a:p>
            <a:pPr>
              <a:spcAft>
                <a:spcPts val="1200"/>
              </a:spcAft>
            </a:pPr>
            <a:r>
              <a:rPr sz="2200">
                <a:solidFill>
                  <a:srgbClr val="1F2937"/>
                </a:solidFill>
                <a:latin typeface="Calibri"/>
              </a:rPr>
              <a:t>▸  CD14, CD32B va CD68 uchalasi musbat bo‘lsa jarohat 1–5 kunlik; uchalasi manfiy bo‘lsa, bir kundan yosh deb baholanadi.</a:t>
            </a:r>
          </a:p>
          <a:p>
            <a:pPr>
              <a:spcAft>
                <a:spcPts val="1200"/>
              </a:spcAft>
            </a:pPr>
            <a:r>
              <a:rPr sz="2200">
                <a:solidFill>
                  <a:srgbClr val="1F2937"/>
                </a:solidFill>
                <a:latin typeface="Calibri"/>
              </a:rPr>
              <a:t>▸  Fouad: CD14 cho‘qqisi 1–3 kunda (96,40 ± 3,78%), 3 kundan keyin keskin pasayadi (14,80 ± 3,49%). Diqqat: Yagi va Fouad oraliqlari farq qiladi.</a:t>
            </a:r>
          </a:p>
          <a:p>
            <a:pPr>
              <a:spcAft>
                <a:spcPts val="1200"/>
              </a:spcAft>
            </a:pPr>
            <a:r>
              <a:rPr sz="2200">
                <a:solidFill>
                  <a:srgbClr val="1F2937"/>
                </a:solidFill>
                <a:latin typeface="Calibri"/>
              </a:rPr>
              <a:t>▸  Kuninaka: CD11c+/HLA-DRα+ dendritik hujayralar soni 50 dan oshsa, jarohat yoshi 4–14 kun. Boshqa markerlar bilan oraliq toraytiriladi.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Luca Tomassini va boshq., Dating Skin Lesions of Forensic Interest by Immunohistochemistry and Immunofluorescence Techniques: A Scoping Literature Review, betlar: PMID 38248045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Mast hujayralar, gistamin va VCAM-1</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Bonelli: tirik jarohatda mast hujayralar soni 1–3 soatda cho‘qqiga chiqadi; o‘limdan keyingi holatlarda ular sezilarli kam.</a:t>
            </a:r>
          </a:p>
          <a:p>
            <a:pPr>
              <a:spcAft>
                <a:spcPts val="1200"/>
              </a:spcAft>
            </a:pPr>
            <a:r>
              <a:rPr sz="2200">
                <a:solidFill>
                  <a:srgbClr val="1F2937"/>
                </a:solidFill>
                <a:latin typeface="Calibri"/>
              </a:rPr>
              <a:t>▸  Jebur: dermada mast hujayra zichligi nazoratdagidan yuqori va jarohatdan o‘tgan vaqt bilan to‘g‘ridan-to‘g‘ri bog‘liq.</a:t>
            </a:r>
          </a:p>
          <a:p>
            <a:pPr>
              <a:spcAft>
                <a:spcPts val="1200"/>
              </a:spcAft>
            </a:pPr>
            <a:r>
              <a:rPr sz="2200">
                <a:solidFill>
                  <a:srgbClr val="1F2937"/>
                </a:solidFill>
                <a:latin typeface="Calibri"/>
              </a:rPr>
              <a:t>▸  Zhong va Zhen: odam va kalamush terisida gistamin miqdori jarohatdan keyin 30 daqiqagacha asta-sekin ortadi.</a:t>
            </a:r>
          </a:p>
          <a:p>
            <a:pPr>
              <a:spcAft>
                <a:spcPts val="1200"/>
              </a:spcAft>
            </a:pPr>
            <a:r>
              <a:rPr sz="2200">
                <a:solidFill>
                  <a:srgbClr val="1F2937"/>
                </a:solidFill>
                <a:latin typeface="Calibri"/>
              </a:rPr>
              <a:t>▸  Dressler: VCAM-1 (tomir hujayra adgeziya molekulasi-1) ifodasi 4–6 soatda cho‘qqiga chiqib, so‘ng pasayadi. Yolg‘iz u jarohat yoshini baholashga yetmaydi.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Luca Tomassini va boshq., Dating Skin Lesions of Forensic Interest by Immunohistochemistry and Immunofluorescence Techniques: A Scoping Literature Review, betlar: PMID 38248045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2: sitokin va immun markerlar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biopsiyada CD14 yuqori, CD14/CD32B/CD68 uchligi musbat. Yagi tadqiqotida CD14 jarohatdan 2–5 kun o‘tgach sezilarli oshgan.</a:t>
            </a:r>
          </a:p>
          <a:p>
            <a:pPr>
              <a:spcAft>
                <a:spcPts val="1200"/>
              </a:spcAft>
            </a:pPr>
            <a:r>
              <a:rPr sz="2200">
                <a:solidFill>
                  <a:srgbClr val="1F2937"/>
                </a:solidFill>
                <a:latin typeface="Calibri"/>
              </a:rPr>
              <a:t>▸  CD14/CD32B/CD68 uchligi musbat bo‘lsa jarohat yoshi 1–5 kun; uchlik manfiy bo‘lsa 1 kundan kam deb baholangan.</a:t>
            </a:r>
          </a:p>
          <a:p>
            <a:pPr>
              <a:spcAft>
                <a:spcPts val="1200"/>
              </a:spcAft>
            </a:pPr>
            <a:r>
              <a:rPr sz="2200">
                <a:solidFill>
                  <a:srgbClr val="1F2937"/>
                </a:solidFill>
                <a:latin typeface="Calibri"/>
              </a:rPr>
              <a:t>▸  Fouad: CD14 cho‘qqisi 1–3 kunda (96,40 ± 3,78%), 3 kundan keyin keskin pasaygan (14,80 ± 3,49%). Taxminiy yosh: 1–3 kun.</a:t>
            </a:r>
          </a:p>
          <a:p>
            <a:pPr>
              <a:spcAft>
                <a:spcPts val="1200"/>
              </a:spcAft>
            </a:pPr>
            <a:r>
              <a:rPr sz="2200">
                <a:solidFill>
                  <a:srgbClr val="1F2937"/>
                </a:solidFill>
                <a:latin typeface="Calibri"/>
              </a:rPr>
              <a:t>▸  Nega bitta marker yetmaydi: VCAM-1 yolg‘iz o‘zi aniq yosh uchun yetarli emas. Marker paneli bitta markerdan ishonchliroq.</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Luca Tomassini va boshq., Dating Skin Lesions of Forensic Interest by Immunohistochemistry and Immunofluorescence Techniques: A Scoping Literature Review, betlar: PMID 38248045, 4.3-bo‘lim, PMID 38248045, 4.3 va 4-bo‘limlar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2</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qaysi markerlar erta, 0–1 soatda musbat bo‘ladi? Javob: fibronektin/CD62p/faktor VIII va FVIIIra/CD15/triptaza.</a:t>
            </a:r>
          </a:p>
          <a:p>
            <a:pPr>
              <a:spcAft>
                <a:spcPts val="1200"/>
              </a:spcAft>
            </a:pPr>
            <a:r>
              <a:rPr sz="2200">
                <a:solidFill>
                  <a:srgbClr val="1F2937"/>
                </a:solidFill>
                <a:latin typeface="Calibri"/>
              </a:rPr>
              <a:t>▸  2-savol: sitokinlarda 3 soatlik cho‘qqi kimda? Javob: TNFα va IL-1β; IL-6 cho‘qqisi esa jarohatdan 12 soat keyin.</a:t>
            </a:r>
          </a:p>
          <a:p>
            <a:pPr>
              <a:spcAft>
                <a:spcPts val="1200"/>
              </a:spcAft>
            </a:pPr>
            <a:r>
              <a:rPr sz="2200">
                <a:solidFill>
                  <a:srgbClr val="1F2937"/>
                </a:solidFill>
                <a:latin typeface="Calibri"/>
              </a:rPr>
              <a:t>▸  3-savol: qaysi ko‘rsatkich kechroq, 4–14 kunni bildiradi? Javob: dendritik hujayralar soni &gt;50 (CD11c+/HLA-DRα+).</a:t>
            </a:r>
          </a:p>
          <a:p>
            <a:pPr>
              <a:spcAft>
                <a:spcPts val="1200"/>
              </a:spcAft>
            </a:pPr>
            <a:r>
              <a:rPr sz="2200">
                <a:solidFill>
                  <a:srgbClr val="1F2937"/>
                </a:solidFill>
                <a:latin typeface="Calibri"/>
              </a:rPr>
              <a:t>▸  Diqqat: xato qilish xavfi. FVIIIra sezgirligi 100%, o‘ziga xosligi 47%; sezgirlik ≠ o‘ziga xoslik, yolg‘iz dalil bo‘lmaydi.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Luca Tomassini va boshq., Dating Skin Lesions of Forensic Interest by Immunohistochemistry and Immunofluorescence Techniques: A Scoping Literature Review, betlar: PMID 38248045, 4.1-bo‘lim, PMID 38248045, 4.2-bo‘lim, PMID 38248045, 4.3-bo‘lim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O‘sish omillari: TGF va VEGF</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TGF-α va TGF-β1 jarohatdan 10 daqiqada javob beradi, 30–60 daqiqada keskin kuchayadi.</a:t>
            </a:r>
          </a:p>
          <a:p>
            <a:pPr>
              <a:spcAft>
                <a:spcPts val="800"/>
              </a:spcAft>
            </a:pPr>
            <a:r>
              <a:rPr sz="1800">
                <a:solidFill>
                  <a:srgbClr val="1F2937"/>
                </a:solidFill>
                <a:latin typeface="Calibri"/>
              </a:rPr>
              <a:t>▸  TGF-α EGFga o‘xshash, erta angiogenezni boshqaradi; TGF-α va TGF-β1 o‘zaro bog‘liq emas.</a:t>
            </a:r>
          </a:p>
          <a:p>
            <a:pPr>
              <a:spcAft>
                <a:spcPts val="800"/>
              </a:spcAft>
            </a:pPr>
            <a:r>
              <a:rPr sz="1800">
                <a:solidFill>
                  <a:srgbClr val="1F2937"/>
                </a:solidFill>
                <a:latin typeface="Calibri"/>
              </a:rPr>
              <a:t>▸  VEGF-musbat hujayralar &gt;50% bo‘lsa, jarohat yoshi 7–14 kun bo‘lishi mumkin.</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TGF-α/β1: 10 daqiqa</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Kuchayish: 30–60 daqiqa</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VEGF-siz neytrofil: 4 s–1 kun</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VEGF+ &gt;50%: 7–14 kun</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Kalamush: cho‘qqi 5–7 kun</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O‘sish omillari zanjiri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Luca Tomassini va boshq., Dating Skin Lesions of Forensic Interest by Immunohistochemistry and Immunofluorescence Techniques: A Scoping Literature Review, betlar: PMID 38248045, 4.4-bo‘lim</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Fermentlar: esteraza, MMP, COX-2</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Nospetsifik esteraza vital jarohatlarning ~40% ida topilgan (1 soat–5 kun oralig‘ida).</a:t>
            </a:r>
          </a:p>
          <a:p>
            <a:pPr>
              <a:spcAft>
                <a:spcPts val="800"/>
              </a:spcAft>
            </a:pPr>
            <a:r>
              <a:rPr sz="1800">
                <a:solidFill>
                  <a:srgbClr val="1F2937"/>
                </a:solidFill>
                <a:latin typeface="Calibri"/>
              </a:rPr>
              <a:t>▸  MMP-2+ va MMP-9+ makrofaglar yara yoshi bilan ko‘payadi; MMP-9 oralig‘i manbada 4–14 va 3–14 kun deb berilgan. (?)</a:t>
            </a:r>
          </a:p>
          <a:p>
            <a:pPr>
              <a:spcAft>
                <a:spcPts val="800"/>
              </a:spcAft>
            </a:pPr>
            <a:r>
              <a:rPr sz="1800">
                <a:solidFill>
                  <a:srgbClr val="1F2937"/>
                </a:solidFill>
                <a:latin typeface="Calibri"/>
              </a:rPr>
              <a:t>▸  Diqqat: COX-2 (siklooksigenaza-2) &gt;40% bo‘lsa 8 soat–3 kun; &gt;50% sud-tibbiy ahamiyatli bo‘lishi mumkin.</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995462"/>
                <a:gridCol w="1696142"/>
                <a:gridCol w="1596369"/>
              </a:tblGrid>
              <a:tr h="411480">
                <a:tc>
                  <a:txBody>
                    <a:bodyPr/>
                    <a:lstStyle/>
                    <a:p>
                      <a:r>
                        <a:rPr sz="1300" b="1">
                          <a:solidFill>
                            <a:srgbClr val="FFFFFF"/>
                          </a:solidFill>
                        </a:rPr>
                        <a:t>Marker</a:t>
                      </a:r>
                    </a:p>
                  </a:txBody>
                  <a:tcPr marL="73152" marR="73152" marT="36576" marB="36576">
                    <a:solidFill>
                      <a:srgbClr val="0B1F3A"/>
                    </a:solidFill>
                  </a:tcPr>
                </a:tc>
                <a:tc>
                  <a:txBody>
                    <a:bodyPr/>
                    <a:lstStyle/>
                    <a:p>
                      <a:r>
                        <a:rPr sz="1300" b="1">
                          <a:solidFill>
                            <a:srgbClr val="FFFFFF"/>
                          </a:solidFill>
                        </a:rPr>
                        <a:t>Chegara</a:t>
                      </a:r>
                    </a:p>
                  </a:txBody>
                  <a:tcPr marL="73152" marR="73152" marT="36576" marB="36576">
                    <a:solidFill>
                      <a:srgbClr val="0B1F3A"/>
                    </a:solidFill>
                  </a:tcPr>
                </a:tc>
                <a:tc>
                  <a:txBody>
                    <a:bodyPr/>
                    <a:lstStyle/>
                    <a:p>
                      <a:r>
                        <a:rPr sz="1300" b="1">
                          <a:solidFill>
                            <a:srgbClr val="FFFFFF"/>
                          </a:solidFill>
                        </a:rPr>
                        <a:t>Yara yoshi</a:t>
                      </a:r>
                    </a:p>
                  </a:txBody>
                  <a:tcPr marL="73152" marR="73152" marT="36576" marB="36576">
                    <a:solidFill>
                      <a:srgbClr val="0B1F3A"/>
                    </a:solidFill>
                  </a:tcPr>
                </a:tc>
              </a:tr>
              <a:tr h="411480">
                <a:tc>
                  <a:txBody>
                    <a:bodyPr/>
                    <a:lstStyle/>
                    <a:p>
                      <a:r>
                        <a:rPr sz="1200" b="0">
                          <a:solidFill>
                            <a:srgbClr val="1F2937"/>
                          </a:solidFill>
                        </a:rPr>
                        <a:t>Nospetsifik esteraza</a:t>
                      </a:r>
                    </a:p>
                  </a:txBody>
                  <a:tcPr marL="73152" marR="73152" marT="36576" marB="36576">
                    <a:solidFill>
                      <a:srgbClr val="E8EEF6"/>
                    </a:solidFill>
                  </a:tcPr>
                </a:tc>
                <a:tc>
                  <a:txBody>
                    <a:bodyPr/>
                    <a:lstStyle/>
                    <a:p>
                      <a:r>
                        <a:rPr sz="1200" b="0">
                          <a:solidFill>
                            <a:srgbClr val="1F2937"/>
                          </a:solidFill>
                        </a:rPr>
                        <a:t>~40% namunada</a:t>
                      </a:r>
                    </a:p>
                  </a:txBody>
                  <a:tcPr marL="73152" marR="73152" marT="36576" marB="36576">
                    <a:solidFill>
                      <a:srgbClr val="E8EEF6"/>
                    </a:solidFill>
                  </a:tcPr>
                </a:tc>
                <a:tc>
                  <a:txBody>
                    <a:bodyPr/>
                    <a:lstStyle/>
                    <a:p>
                      <a:r>
                        <a:rPr sz="1200" b="0">
                          <a:solidFill>
                            <a:srgbClr val="1F2937"/>
                          </a:solidFill>
                        </a:rPr>
                        <a:t>1 soat–5 kun</a:t>
                      </a:r>
                    </a:p>
                  </a:txBody>
                  <a:tcPr marL="73152" marR="73152" marT="36576" marB="36576">
                    <a:solidFill>
                      <a:srgbClr val="E8EEF6"/>
                    </a:solidFill>
                  </a:tcPr>
                </a:tc>
              </a:tr>
              <a:tr h="411480">
                <a:tc>
                  <a:txBody>
                    <a:bodyPr/>
                    <a:lstStyle/>
                    <a:p>
                      <a:r>
                        <a:rPr sz="1200" b="0">
                          <a:solidFill>
                            <a:srgbClr val="1F2937"/>
                          </a:solidFill>
                        </a:rPr>
                        <a:t>MMP-2+ makrofaglar</a:t>
                      </a:r>
                    </a:p>
                  </a:txBody>
                  <a:tcPr marL="73152" marR="73152" marT="36576" marB="36576">
                    <a:solidFill>
                      <a:srgbClr val="FFFFFF"/>
                    </a:solidFill>
                  </a:tcPr>
                </a:tc>
                <a:tc>
                  <a:txBody>
                    <a:bodyPr/>
                    <a:lstStyle/>
                    <a:p>
                      <a:r>
                        <a:rPr sz="1200" b="0">
                          <a:solidFill>
                            <a:srgbClr val="1F2937"/>
                          </a:solidFill>
                        </a:rPr>
                        <a:t>&gt;25 hujayra</a:t>
                      </a:r>
                    </a:p>
                  </a:txBody>
                  <a:tcPr marL="73152" marR="73152" marT="36576" marB="36576">
                    <a:solidFill>
                      <a:srgbClr val="FFFFFF"/>
                    </a:solidFill>
                  </a:tcPr>
                </a:tc>
                <a:tc>
                  <a:txBody>
                    <a:bodyPr/>
                    <a:lstStyle/>
                    <a:p>
                      <a:r>
                        <a:rPr sz="1200" b="0">
                          <a:solidFill>
                            <a:srgbClr val="1F2937"/>
                          </a:solidFill>
                        </a:rPr>
                        <a:t>9–12 kun</a:t>
                      </a:r>
                    </a:p>
                  </a:txBody>
                  <a:tcPr marL="73152" marR="73152" marT="36576" marB="36576">
                    <a:solidFill>
                      <a:srgbClr val="FFFFFF"/>
                    </a:solidFill>
                  </a:tcPr>
                </a:tc>
              </a:tr>
              <a:tr h="411480">
                <a:tc>
                  <a:txBody>
                    <a:bodyPr/>
                    <a:lstStyle/>
                    <a:p>
                      <a:r>
                        <a:rPr sz="1200" b="0">
                          <a:solidFill>
                            <a:srgbClr val="1F2937"/>
                          </a:solidFill>
                        </a:rPr>
                        <a:t>MMP-9+ makrofaglar</a:t>
                      </a:r>
                    </a:p>
                  </a:txBody>
                  <a:tcPr marL="73152" marR="73152" marT="36576" marB="36576">
                    <a:solidFill>
                      <a:srgbClr val="E8EEF6"/>
                    </a:solidFill>
                  </a:tcPr>
                </a:tc>
                <a:tc>
                  <a:txBody>
                    <a:bodyPr/>
                    <a:lstStyle/>
                    <a:p>
                      <a:r>
                        <a:rPr sz="1200" b="0">
                          <a:solidFill>
                            <a:srgbClr val="1F2937"/>
                          </a:solidFill>
                        </a:rPr>
                        <a:t>&gt;30 hujayra</a:t>
                      </a:r>
                    </a:p>
                  </a:txBody>
                  <a:tcPr marL="73152" marR="73152" marT="36576" marB="36576">
                    <a:solidFill>
                      <a:srgbClr val="E8EEF6"/>
                    </a:solidFill>
                  </a:tcPr>
                </a:tc>
                <a:tc>
                  <a:txBody>
                    <a:bodyPr/>
                    <a:lstStyle/>
                    <a:p>
                      <a:r>
                        <a:rPr sz="1200" b="0">
                          <a:solidFill>
                            <a:srgbClr val="1F2937"/>
                          </a:solidFill>
                        </a:rPr>
                        <a:t>3–14 kun</a:t>
                      </a:r>
                    </a:p>
                  </a:txBody>
                  <a:tcPr marL="73152" marR="73152" marT="36576" marB="36576">
                    <a:solidFill>
                      <a:srgbClr val="E8EEF6"/>
                    </a:solidFill>
                  </a:tcPr>
                </a:tc>
              </a:tr>
              <a:tr h="411480">
                <a:tc>
                  <a:txBody>
                    <a:bodyPr/>
                    <a:lstStyle/>
                    <a:p>
                      <a:r>
                        <a:rPr sz="1200" b="0">
                          <a:solidFill>
                            <a:srgbClr val="1F2937"/>
                          </a:solidFill>
                        </a:rPr>
                        <a:t>COX-2</a:t>
                      </a:r>
                    </a:p>
                  </a:txBody>
                  <a:tcPr marL="73152" marR="73152" marT="36576" marB="36576">
                    <a:solidFill>
                      <a:srgbClr val="FFFFFF"/>
                    </a:solidFill>
                  </a:tcPr>
                </a:tc>
                <a:tc>
                  <a:txBody>
                    <a:bodyPr/>
                    <a:lstStyle/>
                    <a:p>
                      <a:r>
                        <a:rPr sz="1200" b="0">
                          <a:solidFill>
                            <a:srgbClr val="1F2937"/>
                          </a:solidFill>
                        </a:rPr>
                        <a:t>musbat ulush &gt;40%</a:t>
                      </a:r>
                    </a:p>
                  </a:txBody>
                  <a:tcPr marL="73152" marR="73152" marT="36576" marB="36576">
                    <a:solidFill>
                      <a:srgbClr val="FFFFFF"/>
                    </a:solidFill>
                  </a:tcPr>
                </a:tc>
                <a:tc>
                  <a:txBody>
                    <a:bodyPr/>
                    <a:lstStyle/>
                    <a:p>
                      <a:r>
                        <a:rPr sz="1200" b="0">
                          <a:solidFill>
                            <a:srgbClr val="1F2937"/>
                          </a:solidFill>
                        </a:rPr>
                        <a:t>8 soat–3 kun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Ferment belgilari chegaralari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Luca Tomassini va boshq., Dating Skin Lesions of Forensic Interest by Immunohistochemistry and Immunofluorescence Techniques: A Scoping Literature Review, betlar: PMID 38248045, 4.5-bo‘lim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Kollagenlar va bazal membrana vaqt chizig‘i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Kollagen III 2,5 kundan oldin ko‘rinmaydi; V uch kunda paydo bo‘ladi va III dan kuchsizroq bo‘ladi.</a:t>
            </a:r>
          </a:p>
          <a:p>
            <a:pPr>
              <a:spcAft>
                <a:spcPts val="800"/>
              </a:spcAft>
            </a:pPr>
            <a:r>
              <a:rPr sz="1800">
                <a:solidFill>
                  <a:srgbClr val="1F2937"/>
                </a:solidFill>
                <a:latin typeface="Calibri"/>
              </a:rPr>
              <a:t>▸  I va VI kollagen ~6–7 kunda paydo bo‘ladi; yo‘qligi yara 6–7 kundan yosh ekaniga ishora qiladi.</a:t>
            </a:r>
          </a:p>
          <a:p>
            <a:pPr>
              <a:spcAft>
                <a:spcPts val="800"/>
              </a:spcAft>
            </a:pPr>
            <a:r>
              <a:rPr sz="1800">
                <a:solidFill>
                  <a:srgbClr val="1F2937"/>
                </a:solidFill>
                <a:latin typeface="Calibri"/>
              </a:rPr>
              <a:t>▸  Diqqat: VII tur — bazal membrana kollageni; bo‘laklari ~4 kunda, to‘liq qayta tuzilishi 8+ kunda.</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1262800"/>
                <a:gridCol w="1262800"/>
                <a:gridCol w="2762375"/>
              </a:tblGrid>
              <a:tr h="411480">
                <a:tc>
                  <a:txBody>
                    <a:bodyPr/>
                    <a:lstStyle/>
                    <a:p>
                      <a:r>
                        <a:rPr sz="1300" b="1">
                          <a:solidFill>
                            <a:srgbClr val="FFFFFF"/>
                          </a:solidFill>
                        </a:rPr>
                        <a:t>Kollagen</a:t>
                      </a:r>
                    </a:p>
                  </a:txBody>
                  <a:tcPr marL="73152" marR="73152" marT="36576" marB="36576">
                    <a:solidFill>
                      <a:srgbClr val="0B1F3A"/>
                    </a:solidFill>
                  </a:tcPr>
                </a:tc>
                <a:tc>
                  <a:txBody>
                    <a:bodyPr/>
                    <a:lstStyle/>
                    <a:p>
                      <a:r>
                        <a:rPr sz="1300" b="1">
                          <a:solidFill>
                            <a:srgbClr val="FFFFFF"/>
                          </a:solidFill>
                        </a:rPr>
                        <a:t>Turi</a:t>
                      </a:r>
                    </a:p>
                  </a:txBody>
                  <a:tcPr marL="73152" marR="73152" marT="36576" marB="36576">
                    <a:solidFill>
                      <a:srgbClr val="0B1F3A"/>
                    </a:solidFill>
                  </a:tcPr>
                </a:tc>
                <a:tc>
                  <a:txBody>
                    <a:bodyPr/>
                    <a:lstStyle/>
                    <a:p>
                      <a:r>
                        <a:rPr sz="1300" b="1">
                          <a:solidFill>
                            <a:srgbClr val="FFFFFF"/>
                          </a:solidFill>
                        </a:rPr>
                        <a:t>Belgi</a:t>
                      </a:r>
                    </a:p>
                  </a:txBody>
                  <a:tcPr marL="73152" marR="73152" marT="36576" marB="36576">
                    <a:solidFill>
                      <a:srgbClr val="0B1F3A"/>
                    </a:solidFill>
                  </a:tcPr>
                </a:tc>
              </a:tr>
              <a:tr h="411480">
                <a:tc>
                  <a:txBody>
                    <a:bodyPr/>
                    <a:lstStyle/>
                    <a:p>
                      <a:r>
                        <a:rPr sz="1200" b="0">
                          <a:solidFill>
                            <a:srgbClr val="1F2937"/>
                          </a:solidFill>
                        </a:rPr>
                        <a:t>III</a:t>
                      </a:r>
                    </a:p>
                  </a:txBody>
                  <a:tcPr marL="73152" marR="73152" marT="36576" marB="36576">
                    <a:solidFill>
                      <a:srgbClr val="E8EEF6"/>
                    </a:solidFill>
                  </a:tcPr>
                </a:tc>
                <a:tc>
                  <a:txBody>
                    <a:bodyPr/>
                    <a:lstStyle/>
                    <a:p>
                      <a:r>
                        <a:rPr sz="1200" b="0">
                          <a:solidFill>
                            <a:srgbClr val="1F2937"/>
                          </a:solidFill>
                        </a:rPr>
                        <a:t>Interstitsial</a:t>
                      </a:r>
                    </a:p>
                  </a:txBody>
                  <a:tcPr marL="73152" marR="73152" marT="36576" marB="36576">
                    <a:solidFill>
                      <a:srgbClr val="E8EEF6"/>
                    </a:solidFill>
                  </a:tcPr>
                </a:tc>
                <a:tc>
                  <a:txBody>
                    <a:bodyPr/>
                    <a:lstStyle/>
                    <a:p>
                      <a:r>
                        <a:rPr sz="1200" b="0">
                          <a:solidFill>
                            <a:srgbClr val="1F2937"/>
                          </a:solidFill>
                        </a:rPr>
                        <a:t>&lt;2,5 kunda yo‘q; &gt;5 kunda kuchayadi</a:t>
                      </a:r>
                    </a:p>
                  </a:txBody>
                  <a:tcPr marL="73152" marR="73152" marT="36576" marB="36576">
                    <a:solidFill>
                      <a:srgbClr val="E8EEF6"/>
                    </a:solidFill>
                  </a:tcPr>
                </a:tc>
              </a:tr>
              <a:tr h="411480">
                <a:tc>
                  <a:txBody>
                    <a:bodyPr/>
                    <a:lstStyle/>
                    <a:p>
                      <a:r>
                        <a:rPr sz="1200" b="0">
                          <a:solidFill>
                            <a:srgbClr val="1F2937"/>
                          </a:solidFill>
                        </a:rPr>
                        <a:t>V</a:t>
                      </a:r>
                    </a:p>
                  </a:txBody>
                  <a:tcPr marL="73152" marR="73152" marT="36576" marB="36576">
                    <a:solidFill>
                      <a:srgbClr val="FFFFFF"/>
                    </a:solidFill>
                  </a:tcPr>
                </a:tc>
                <a:tc>
                  <a:txBody>
                    <a:bodyPr/>
                    <a:lstStyle/>
                    <a:p>
                      <a:r>
                        <a:rPr sz="1200" b="0">
                          <a:solidFill>
                            <a:srgbClr val="1F2937"/>
                          </a:solidFill>
                        </a:rPr>
                        <a:t>Interstitsial</a:t>
                      </a:r>
                    </a:p>
                  </a:txBody>
                  <a:tcPr marL="73152" marR="73152" marT="36576" marB="36576">
                    <a:solidFill>
                      <a:srgbClr val="FFFFFF"/>
                    </a:solidFill>
                  </a:tcPr>
                </a:tc>
                <a:tc>
                  <a:txBody>
                    <a:bodyPr/>
                    <a:lstStyle/>
                    <a:p>
                      <a:r>
                        <a:rPr sz="1200" b="0">
                          <a:solidFill>
                            <a:srgbClr val="1F2937"/>
                          </a:solidFill>
                        </a:rPr>
                        <a:t>~3 kun; III dan kuchsizroq</a:t>
                      </a:r>
                    </a:p>
                  </a:txBody>
                  <a:tcPr marL="73152" marR="73152" marT="36576" marB="36576">
                    <a:solidFill>
                      <a:srgbClr val="FFFFFF"/>
                    </a:solidFill>
                  </a:tcPr>
                </a:tc>
              </a:tr>
              <a:tr h="411480">
                <a:tc>
                  <a:txBody>
                    <a:bodyPr/>
                    <a:lstStyle/>
                    <a:p>
                      <a:r>
                        <a:rPr sz="1200" b="0">
                          <a:solidFill>
                            <a:srgbClr val="1F2937"/>
                          </a:solidFill>
                        </a:rPr>
                        <a:t>I va VI</a:t>
                      </a:r>
                    </a:p>
                  </a:txBody>
                  <a:tcPr marL="73152" marR="73152" marT="36576" marB="36576">
                    <a:solidFill>
                      <a:srgbClr val="E8EEF6"/>
                    </a:solidFill>
                  </a:tcPr>
                </a:tc>
                <a:tc>
                  <a:txBody>
                    <a:bodyPr/>
                    <a:lstStyle/>
                    <a:p>
                      <a:r>
                        <a:rPr sz="1200" b="0">
                          <a:solidFill>
                            <a:srgbClr val="1F2937"/>
                          </a:solidFill>
                        </a:rPr>
                        <a:t>Interstitsial</a:t>
                      </a:r>
                    </a:p>
                  </a:txBody>
                  <a:tcPr marL="73152" marR="73152" marT="36576" marB="36576">
                    <a:solidFill>
                      <a:srgbClr val="E8EEF6"/>
                    </a:solidFill>
                  </a:tcPr>
                </a:tc>
                <a:tc>
                  <a:txBody>
                    <a:bodyPr/>
                    <a:lstStyle/>
                    <a:p>
                      <a:r>
                        <a:rPr sz="1200" b="0">
                          <a:solidFill>
                            <a:srgbClr val="1F2937"/>
                          </a:solidFill>
                        </a:rPr>
                        <a:t>~6–7 kun</a:t>
                      </a:r>
                    </a:p>
                  </a:txBody>
                  <a:tcPr marL="73152" marR="73152" marT="36576" marB="36576">
                    <a:solidFill>
                      <a:srgbClr val="E8EEF6"/>
                    </a:solidFill>
                  </a:tcPr>
                </a:tc>
              </a:tr>
              <a:tr h="411480">
                <a:tc>
                  <a:txBody>
                    <a:bodyPr/>
                    <a:lstStyle/>
                    <a:p>
                      <a:r>
                        <a:rPr sz="1200" b="0">
                          <a:solidFill>
                            <a:srgbClr val="1F2937"/>
                          </a:solidFill>
                        </a:rPr>
                        <a:t>VII</a:t>
                      </a:r>
                    </a:p>
                  </a:txBody>
                  <a:tcPr marL="73152" marR="73152" marT="36576" marB="36576">
                    <a:solidFill>
                      <a:srgbClr val="FFFFFF"/>
                    </a:solidFill>
                  </a:tcPr>
                </a:tc>
                <a:tc>
                  <a:txBody>
                    <a:bodyPr/>
                    <a:lstStyle/>
                    <a:p>
                      <a:r>
                        <a:rPr sz="1200" b="0">
                          <a:solidFill>
                            <a:srgbClr val="1F2937"/>
                          </a:solidFill>
                        </a:rPr>
                        <a:t>Bazal membrana</a:t>
                      </a:r>
                    </a:p>
                  </a:txBody>
                  <a:tcPr marL="73152" marR="73152" marT="36576" marB="36576">
                    <a:solidFill>
                      <a:srgbClr val="FFFFFF"/>
                    </a:solidFill>
                  </a:tcPr>
                </a:tc>
                <a:tc>
                  <a:txBody>
                    <a:bodyPr/>
                    <a:lstStyle/>
                    <a:p>
                      <a:r>
                        <a:rPr sz="1200" b="0">
                          <a:solidFill>
                            <a:srgbClr val="1F2937"/>
                          </a:solidFill>
                        </a:rPr>
                        <a:t>~4 kun bo‘lak; 8+ kun to‘liq</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Kollagenlar paydo bo‘lish vaqti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Luca Tomassini va boshq., Dating Skin Lesions of Forensic Interest by Immunohistochemistry and Immunofluorescence Techniques: A Scoping Literature Review, betlar: PMID 38248045, 4.6-bo‘lim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Miofibroblast, laminin, fibronektin, tenastsin, selektin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α-SMA (alfa-silliq mushak aktini) pozitiv miofibroblastlar ~5 kunda paydo bo‘ladi; ular ~5 kun va undan eski yarani ko‘rsatadi, lekin keksa yarani aniq belgilay olmaydi.</a:t>
            </a:r>
          </a:p>
          <a:p>
            <a:pPr>
              <a:spcAft>
                <a:spcPts val="1200"/>
              </a:spcAft>
            </a:pPr>
            <a:r>
              <a:rPr sz="2000">
                <a:solidFill>
                  <a:srgbClr val="1F2937"/>
                </a:solidFill>
                <a:latin typeface="Calibri"/>
              </a:rPr>
              <a:t>▸  Miofibroblast atrofida laminin va HSPG (geparan sulfat proteoglikan) kamida 1,5 kunlik yarani bildiradi; laminin ko‘proq hujayra va yarada topilgani uchun foydaliroq.</a:t>
            </a:r>
          </a:p>
          <a:p>
            <a:pPr>
              <a:spcAft>
                <a:spcPts val="1200"/>
              </a:spcAft>
            </a:pPr>
            <a:r>
              <a:rPr sz="2000">
                <a:solidFill>
                  <a:srgbClr val="1F2937"/>
                </a:solidFill>
                <a:latin typeface="Calibri"/>
              </a:rPr>
              <a:t>▸  Diqqat: fibronektin vitallik belgisi sifatida o‘rganilgan, ammo o‘limdan keyingi musbat reaksiya qon komponentlarining passiv transudatsiyasidan bo‘lishi mumkin.</a:t>
            </a:r>
          </a:p>
          <a:p>
            <a:pPr>
              <a:spcAft>
                <a:spcPts val="1200"/>
              </a:spcAft>
            </a:pPr>
            <a:r>
              <a:rPr sz="2000">
                <a:solidFill>
                  <a:srgbClr val="1F2937"/>
                </a:solidFill>
                <a:latin typeface="Calibri"/>
              </a:rPr>
              <a:t>▸  Tenastsin bo‘yalishi yara yoshi bilan susayadi (~1,5 oyda ham ko‘rinadi); E-selektin 1 soat–17 kun topiladi, 12 soatda sezilarli kamayadi.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Luca Tomassini va boshq., Dating Skin Lesions of Forensic Interest by Immunohistochemistry and Immunofluorescence Techniques: A Scoping Literature Review, betlar: PMID 38248045, 4.6-bo‘lim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Boshqa markerlar: AQP, ORP150, ubikvitin, CHI3L1, EPC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Akvaporinlar (AQP) – suv tashuvchi kanal oqsillari bo‘lib, hujayralar ko‘chishida ishtirok etadi.</a:t>
            </a:r>
          </a:p>
          <a:p>
            <a:pPr>
              <a:spcAft>
                <a:spcPts val="800"/>
              </a:spcAft>
            </a:pPr>
            <a:r>
              <a:rPr sz="1800">
                <a:solidFill>
                  <a:srgbClr val="1F2937"/>
                </a:solidFill>
                <a:latin typeface="Calibri"/>
              </a:rPr>
              <a:t>▸  Ubikvitin: erta bosqichda neytrofillar va yadro ichida kuchli musbat reaksiya kuzatiladi.</a:t>
            </a:r>
          </a:p>
          <a:p>
            <a:pPr>
              <a:spcAft>
                <a:spcPts val="800"/>
              </a:spcAft>
            </a:pPr>
            <a:r>
              <a:rPr sz="1800">
                <a:solidFill>
                  <a:srgbClr val="1F2937"/>
                </a:solidFill>
                <a:latin typeface="Calibri"/>
              </a:rPr>
              <a:t>▸  ORP150 – hujayra stressida ortadigan oqsil; EPC – endotelial progenitor hujayralar.</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244229"/>
                <a:gridCol w="2566223"/>
                <a:gridCol w="1477522"/>
              </a:tblGrid>
              <a:tr h="411480">
                <a:tc>
                  <a:txBody>
                    <a:bodyPr/>
                    <a:lstStyle/>
                    <a:p>
                      <a:r>
                        <a:rPr sz="1300" b="1">
                          <a:solidFill>
                            <a:srgbClr val="FFFFFF"/>
                          </a:solidFill>
                        </a:rPr>
                        <a:t>Marker</a:t>
                      </a:r>
                    </a:p>
                  </a:txBody>
                  <a:tcPr marL="73152" marR="73152" marT="36576" marB="36576">
                    <a:solidFill>
                      <a:srgbClr val="0B1F3A"/>
                    </a:solidFill>
                  </a:tcPr>
                </a:tc>
                <a:tc>
                  <a:txBody>
                    <a:bodyPr/>
                    <a:lstStyle/>
                    <a:p>
                      <a:r>
                        <a:rPr sz="1300" b="1">
                          <a:solidFill>
                            <a:srgbClr val="FFFFFF"/>
                          </a:solidFill>
                        </a:rPr>
                        <a:t>Ko‘rsatkich</a:t>
                      </a:r>
                    </a:p>
                  </a:txBody>
                  <a:tcPr marL="73152" marR="73152" marT="36576" marB="36576">
                    <a:solidFill>
                      <a:srgbClr val="0B1F3A"/>
                    </a:solidFill>
                  </a:tcPr>
                </a:tc>
                <a:tc>
                  <a:txBody>
                    <a:bodyPr/>
                    <a:lstStyle/>
                    <a:p>
                      <a:r>
                        <a:rPr sz="1300" b="1">
                          <a:solidFill>
                            <a:srgbClr val="FFFFFF"/>
                          </a:solidFill>
                        </a:rPr>
                        <a:t>Jarohat yoshi</a:t>
                      </a:r>
                    </a:p>
                  </a:txBody>
                  <a:tcPr marL="73152" marR="73152" marT="36576" marB="36576">
                    <a:solidFill>
                      <a:srgbClr val="0B1F3A"/>
                    </a:solidFill>
                  </a:tcPr>
                </a:tc>
              </a:tr>
              <a:tr h="411480">
                <a:tc>
                  <a:txBody>
                    <a:bodyPr/>
                    <a:lstStyle/>
                    <a:p>
                      <a:r>
                        <a:rPr sz="1200" b="0">
                          <a:solidFill>
                            <a:srgbClr val="1F2937"/>
                          </a:solidFill>
                        </a:rPr>
                        <a:t>AQP3</a:t>
                      </a:r>
                    </a:p>
                  </a:txBody>
                  <a:tcPr marL="73152" marR="73152" marT="36576" marB="36576">
                    <a:solidFill>
                      <a:srgbClr val="E8EEF6"/>
                    </a:solidFill>
                  </a:tcPr>
                </a:tc>
                <a:tc>
                  <a:txBody>
                    <a:bodyPr/>
                    <a:lstStyle/>
                    <a:p>
                      <a:r>
                        <a:rPr sz="1200" b="0">
                          <a:solidFill>
                            <a:srgbClr val="1F2937"/>
                          </a:solidFill>
                        </a:rPr>
                        <a:t>musbat hujayralar soni &gt;300</a:t>
                      </a:r>
                    </a:p>
                  </a:txBody>
                  <a:tcPr marL="73152" marR="73152" marT="36576" marB="36576">
                    <a:solidFill>
                      <a:srgbClr val="E8EEF6"/>
                    </a:solidFill>
                  </a:tcPr>
                </a:tc>
                <a:tc>
                  <a:txBody>
                    <a:bodyPr/>
                    <a:lstStyle/>
                    <a:p>
                      <a:r>
                        <a:rPr sz="1200" b="0">
                          <a:solidFill>
                            <a:srgbClr val="1F2937"/>
                          </a:solidFill>
                        </a:rPr>
                        <a:t>5–10 kun</a:t>
                      </a:r>
                    </a:p>
                  </a:txBody>
                  <a:tcPr marL="73152" marR="73152" marT="36576" marB="36576">
                    <a:solidFill>
                      <a:srgbClr val="E8EEF6"/>
                    </a:solidFill>
                  </a:tcPr>
                </a:tc>
              </a:tr>
              <a:tr h="411480">
                <a:tc>
                  <a:txBody>
                    <a:bodyPr/>
                    <a:lstStyle/>
                    <a:p>
                      <a:r>
                        <a:rPr sz="1200" b="0">
                          <a:solidFill>
                            <a:srgbClr val="1F2937"/>
                          </a:solidFill>
                        </a:rPr>
                        <a:t>ORP150</a:t>
                      </a:r>
                    </a:p>
                  </a:txBody>
                  <a:tcPr marL="73152" marR="73152" marT="36576" marB="36576">
                    <a:solidFill>
                      <a:srgbClr val="FFFFFF"/>
                    </a:solidFill>
                  </a:tcPr>
                </a:tc>
                <a:tc>
                  <a:txBody>
                    <a:bodyPr/>
                    <a:lstStyle/>
                    <a:p>
                      <a:r>
                        <a:rPr sz="1200" b="0">
                          <a:solidFill>
                            <a:srgbClr val="1F2937"/>
                          </a:solidFill>
                        </a:rPr>
                        <a:t>musbat ulush &gt;50%</a:t>
                      </a:r>
                    </a:p>
                  </a:txBody>
                  <a:tcPr marL="73152" marR="73152" marT="36576" marB="36576">
                    <a:solidFill>
                      <a:srgbClr val="FFFFFF"/>
                    </a:solidFill>
                  </a:tcPr>
                </a:tc>
                <a:tc>
                  <a:txBody>
                    <a:bodyPr/>
                    <a:lstStyle/>
                    <a:p>
                      <a:r>
                        <a:rPr sz="1200" b="0">
                          <a:solidFill>
                            <a:srgbClr val="1F2937"/>
                          </a:solidFill>
                        </a:rPr>
                        <a:t>7–14 kun</a:t>
                      </a:r>
                    </a:p>
                  </a:txBody>
                  <a:tcPr marL="73152" marR="73152" marT="36576" marB="36576">
                    <a:solidFill>
                      <a:srgbClr val="FFFFFF"/>
                    </a:solidFill>
                  </a:tcPr>
                </a:tc>
              </a:tr>
              <a:tr h="411480">
                <a:tc>
                  <a:txBody>
                    <a:bodyPr/>
                    <a:lstStyle/>
                    <a:p>
                      <a:r>
                        <a:rPr sz="1200" b="0">
                          <a:solidFill>
                            <a:srgbClr val="1F2937"/>
                          </a:solidFill>
                        </a:rPr>
                        <a:t>EPC</a:t>
                      </a:r>
                    </a:p>
                  </a:txBody>
                  <a:tcPr marL="73152" marR="73152" marT="36576" marB="36576">
                    <a:solidFill>
                      <a:srgbClr val="E8EEF6"/>
                    </a:solidFill>
                  </a:tcPr>
                </a:tc>
                <a:tc>
                  <a:txBody>
                    <a:bodyPr/>
                    <a:lstStyle/>
                    <a:p>
                      <a:r>
                        <a:rPr sz="1200" b="0">
                          <a:solidFill>
                            <a:srgbClr val="1F2937"/>
                          </a:solidFill>
                        </a:rPr>
                        <a:t>2-kundan paydo bo‘ladi, ko‘payadi</a:t>
                      </a:r>
                    </a:p>
                  </a:txBody>
                  <a:tcPr marL="73152" marR="73152" marT="36576" marB="36576">
                    <a:solidFill>
                      <a:srgbClr val="E8EEF6"/>
                    </a:solidFill>
                  </a:tcPr>
                </a:tc>
                <a:tc>
                  <a:txBody>
                    <a:bodyPr/>
                    <a:lstStyle/>
                    <a:p>
                      <a:r>
                        <a:rPr sz="1200" b="0">
                          <a:solidFill>
                            <a:srgbClr val="1F2937"/>
                          </a:solidFill>
                        </a:rPr>
                        <a:t>2 kundan keyin</a:t>
                      </a:r>
                    </a:p>
                  </a:txBody>
                  <a:tcPr marL="73152" marR="73152" marT="36576" marB="36576">
                    <a:solidFill>
                      <a:srgbClr val="E8EEF6"/>
                    </a:solidFill>
                  </a:tcPr>
                </a:tc>
              </a:tr>
              <a:tr h="411480">
                <a:tc>
                  <a:txBody>
                    <a:bodyPr/>
                    <a:lstStyle/>
                    <a:p>
                      <a:r>
                        <a:rPr sz="1200" b="0">
                          <a:solidFill>
                            <a:srgbClr val="1F2937"/>
                          </a:solidFill>
                        </a:rPr>
                        <a:t>CHI3L1</a:t>
                      </a:r>
                    </a:p>
                  </a:txBody>
                  <a:tcPr marL="73152" marR="73152" marT="36576" marB="36576">
                    <a:solidFill>
                      <a:srgbClr val="FFFFFF"/>
                    </a:solidFill>
                  </a:tcPr>
                </a:tc>
                <a:tc>
                  <a:txBody>
                    <a:bodyPr/>
                    <a:lstStyle/>
                    <a:p>
                      <a:r>
                        <a:rPr sz="1200" b="0">
                          <a:solidFill>
                            <a:srgbClr val="1F2937"/>
                          </a:solidFill>
                        </a:rPr>
                        <a:t>4–6-kunda keskin ko‘payadi</a:t>
                      </a:r>
                    </a:p>
                  </a:txBody>
                  <a:tcPr marL="73152" marR="73152" marT="36576" marB="36576">
                    <a:solidFill>
                      <a:srgbClr val="FFFFFF"/>
                    </a:solidFill>
                  </a:tcPr>
                </a:tc>
                <a:tc>
                  <a:txBody>
                    <a:bodyPr/>
                    <a:lstStyle/>
                    <a:p>
                      <a:r>
                        <a:rPr sz="1200" b="0">
                          <a:solidFill>
                            <a:srgbClr val="1F2937"/>
                          </a:solidFill>
                        </a:rPr>
                        <a:t>cho‘qqi 4–6 kun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Kech bosqich markerlari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Luca Tomassini va boshq., Dating Skin Lesions of Forensic Interest by Immunohistochemistry and Immunofluorescence Techniques: A Scoping Literature Review, betlar: PMID 38248045, 4.7-bo‘lim</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Markerlar guruhlari bo‘yicha vaqt xaritasi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Koagulyatsiya omillari (fibronektin, CD62p, VIII omil) birinchi soatda eng aniq musbat bo‘ladi.</a:t>
            </a:r>
          </a:p>
          <a:p>
            <a:pPr>
              <a:spcAft>
                <a:spcPts val="800"/>
              </a:spcAft>
            </a:pPr>
            <a:r>
              <a:rPr sz="1800">
                <a:solidFill>
                  <a:srgbClr val="1F2937"/>
                </a:solidFill>
                <a:latin typeface="Calibri"/>
              </a:rPr>
              <a:t>▸  Sitokin va immun markerlar 1 soatdan 5 kungacha; dendritik hujayralar &gt;50 bo‘lsa, 14 kungacha.</a:t>
            </a:r>
          </a:p>
          <a:p>
            <a:pPr>
              <a:spcAft>
                <a:spcPts val="800"/>
              </a:spcAft>
            </a:pPr>
            <a:r>
              <a:rPr sz="1800">
                <a:solidFill>
                  <a:srgbClr val="1F2937"/>
                </a:solidFill>
                <a:latin typeface="Calibri"/>
              </a:rPr>
              <a:t>▸  Diqqat: bitta marker ishonchsiz; ko‘p markerli panel eng ishonchli yondashuv hisoblanadi.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627069"/>
                <a:gridCol w="1301655"/>
                <a:gridCol w="2359250"/>
              </a:tblGrid>
              <a:tr h="411480">
                <a:tc>
                  <a:txBody>
                    <a:bodyPr/>
                    <a:lstStyle/>
                    <a:p>
                      <a:r>
                        <a:rPr sz="1300" b="1">
                          <a:solidFill>
                            <a:srgbClr val="FFFFFF"/>
                          </a:solidFill>
                        </a:rPr>
                        <a:t>Guruh</a:t>
                      </a:r>
                    </a:p>
                  </a:txBody>
                  <a:tcPr marL="73152" marR="73152" marT="36576" marB="36576">
                    <a:solidFill>
                      <a:srgbClr val="0B1F3A"/>
                    </a:solidFill>
                  </a:tcPr>
                </a:tc>
                <a:tc>
                  <a:txBody>
                    <a:bodyPr/>
                    <a:lstStyle/>
                    <a:p>
                      <a:r>
                        <a:rPr sz="1300" b="1">
                          <a:solidFill>
                            <a:srgbClr val="FFFFFF"/>
                          </a:solidFill>
                        </a:rPr>
                        <a:t>Vaqt</a:t>
                      </a:r>
                    </a:p>
                  </a:txBody>
                  <a:tcPr marL="73152" marR="73152" marT="36576" marB="36576">
                    <a:solidFill>
                      <a:srgbClr val="0B1F3A"/>
                    </a:solidFill>
                  </a:tcPr>
                </a:tc>
                <a:tc>
                  <a:txBody>
                    <a:bodyPr/>
                    <a:lstStyle/>
                    <a:p>
                      <a:r>
                        <a:rPr sz="1300" b="1">
                          <a:solidFill>
                            <a:srgbClr val="FFFFFF"/>
                          </a:solidFill>
                        </a:rPr>
                        <a:t>Misol</a:t>
                      </a:r>
                    </a:p>
                  </a:txBody>
                  <a:tcPr marL="73152" marR="73152" marT="36576" marB="36576">
                    <a:solidFill>
                      <a:srgbClr val="0B1F3A"/>
                    </a:solidFill>
                  </a:tcPr>
                </a:tc>
              </a:tr>
              <a:tr h="411480">
                <a:tc>
                  <a:txBody>
                    <a:bodyPr/>
                    <a:lstStyle/>
                    <a:p>
                      <a:r>
                        <a:rPr sz="1200" b="0">
                          <a:solidFill>
                            <a:srgbClr val="1F2937"/>
                          </a:solidFill>
                        </a:rPr>
                        <a:t>Koagulyatsiya</a:t>
                      </a:r>
                    </a:p>
                  </a:txBody>
                  <a:tcPr marL="73152" marR="73152" marT="36576" marB="36576">
                    <a:solidFill>
                      <a:srgbClr val="E8EEF6"/>
                    </a:solidFill>
                  </a:tcPr>
                </a:tc>
                <a:tc>
                  <a:txBody>
                    <a:bodyPr/>
                    <a:lstStyle/>
                    <a:p>
                      <a:r>
                        <a:rPr sz="1200" b="0">
                          <a:solidFill>
                            <a:srgbClr val="1F2937"/>
                          </a:solidFill>
                        </a:rPr>
                        <a:t>0–1 soat</a:t>
                      </a:r>
                    </a:p>
                  </a:txBody>
                  <a:tcPr marL="73152" marR="73152" marT="36576" marB="36576">
                    <a:solidFill>
                      <a:srgbClr val="E8EEF6"/>
                    </a:solidFill>
                  </a:tcPr>
                </a:tc>
                <a:tc>
                  <a:txBody>
                    <a:bodyPr/>
                    <a:lstStyle/>
                    <a:p>
                      <a:r>
                        <a:rPr sz="1200" b="0">
                          <a:solidFill>
                            <a:srgbClr val="1F2937"/>
                          </a:solidFill>
                        </a:rPr>
                        <a:t>fibronektin, CD62p, VIII omil</a:t>
                      </a:r>
                    </a:p>
                  </a:txBody>
                  <a:tcPr marL="73152" marR="73152" marT="36576" marB="36576">
                    <a:solidFill>
                      <a:srgbClr val="E8EEF6"/>
                    </a:solidFill>
                  </a:tcPr>
                </a:tc>
              </a:tr>
              <a:tr h="411480">
                <a:tc>
                  <a:txBody>
                    <a:bodyPr/>
                    <a:lstStyle/>
                    <a:p>
                      <a:r>
                        <a:rPr sz="1200" b="0">
                          <a:solidFill>
                            <a:srgbClr val="1F2937"/>
                          </a:solidFill>
                        </a:rPr>
                        <a:t>Sitokin va immun</a:t>
                      </a:r>
                    </a:p>
                  </a:txBody>
                  <a:tcPr marL="73152" marR="73152" marT="36576" marB="36576">
                    <a:solidFill>
                      <a:srgbClr val="FFFFFF"/>
                    </a:solidFill>
                  </a:tcPr>
                </a:tc>
                <a:tc>
                  <a:txBody>
                    <a:bodyPr/>
                    <a:lstStyle/>
                    <a:p>
                      <a:r>
                        <a:rPr sz="1200" b="0">
                          <a:solidFill>
                            <a:srgbClr val="1F2937"/>
                          </a:solidFill>
                        </a:rPr>
                        <a:t>1 soat–5 kun</a:t>
                      </a:r>
                    </a:p>
                  </a:txBody>
                  <a:tcPr marL="73152" marR="73152" marT="36576" marB="36576">
                    <a:solidFill>
                      <a:srgbClr val="FFFFFF"/>
                    </a:solidFill>
                  </a:tcPr>
                </a:tc>
                <a:tc>
                  <a:txBody>
                    <a:bodyPr/>
                    <a:lstStyle/>
                    <a:p>
                      <a:r>
                        <a:rPr sz="1200" b="0">
                          <a:solidFill>
                            <a:srgbClr val="1F2937"/>
                          </a:solidFill>
                        </a:rPr>
                        <a:t>IL-1, TNFα, CD14, makrofaglar</a:t>
                      </a:r>
                    </a:p>
                  </a:txBody>
                  <a:tcPr marL="73152" marR="73152" marT="36576" marB="36576">
                    <a:solidFill>
                      <a:srgbClr val="FFFFFF"/>
                    </a:solidFill>
                  </a:tcPr>
                </a:tc>
              </a:tr>
              <a:tr h="411480">
                <a:tc>
                  <a:txBody>
                    <a:bodyPr/>
                    <a:lstStyle/>
                    <a:p>
                      <a:r>
                        <a:rPr sz="1200" b="0">
                          <a:solidFill>
                            <a:srgbClr val="1F2937"/>
                          </a:solidFill>
                        </a:rPr>
                        <a:t>Dendritik hujayralar</a:t>
                      </a:r>
                    </a:p>
                  </a:txBody>
                  <a:tcPr marL="73152" marR="73152" marT="36576" marB="36576">
                    <a:solidFill>
                      <a:srgbClr val="E8EEF6"/>
                    </a:solidFill>
                  </a:tcPr>
                </a:tc>
                <a:tc>
                  <a:txBody>
                    <a:bodyPr/>
                    <a:lstStyle/>
                    <a:p>
                      <a:r>
                        <a:rPr sz="1200" b="0">
                          <a:solidFill>
                            <a:srgbClr val="1F2937"/>
                          </a:solidFill>
                        </a:rPr>
                        <a:t>14 kungacha</a:t>
                      </a:r>
                    </a:p>
                  </a:txBody>
                  <a:tcPr marL="73152" marR="73152" marT="36576" marB="36576">
                    <a:solidFill>
                      <a:srgbClr val="E8EEF6"/>
                    </a:solidFill>
                  </a:tcPr>
                </a:tc>
                <a:tc>
                  <a:txBody>
                    <a:bodyPr/>
                    <a:lstStyle/>
                    <a:p>
                      <a:r>
                        <a:rPr sz="1200" b="0">
                          <a:solidFill>
                            <a:srgbClr val="1F2937"/>
                          </a:solidFill>
                        </a:rPr>
                        <a:t>CD11c+/HLA-DRα+ soni &gt;50</a:t>
                      </a:r>
                    </a:p>
                  </a:txBody>
                  <a:tcPr marL="73152" marR="73152" marT="36576" marB="36576">
                    <a:solidFill>
                      <a:srgbClr val="E8EEF6"/>
                    </a:solidFill>
                  </a:tcPr>
                </a:tc>
              </a:tr>
              <a:tr h="411480">
                <a:tc>
                  <a:txBody>
                    <a:bodyPr/>
                    <a:lstStyle/>
                    <a:p>
                      <a:r>
                        <a:rPr sz="1200" b="0">
                          <a:solidFill>
                            <a:srgbClr val="1F2937"/>
                          </a:solidFill>
                        </a:rPr>
                        <a:t>Boshqa markerlar</a:t>
                      </a:r>
                    </a:p>
                  </a:txBody>
                  <a:tcPr marL="73152" marR="73152" marT="36576" marB="36576">
                    <a:solidFill>
                      <a:srgbClr val="FFFFFF"/>
                    </a:solidFill>
                  </a:tcPr>
                </a:tc>
                <a:tc>
                  <a:txBody>
                    <a:bodyPr/>
                    <a:lstStyle/>
                    <a:p>
                      <a:r>
                        <a:rPr sz="1200" b="0">
                          <a:solidFill>
                            <a:srgbClr val="1F2937"/>
                          </a:solidFill>
                        </a:rPr>
                        <a:t>2–14 kun</a:t>
                      </a:r>
                    </a:p>
                  </a:txBody>
                  <a:tcPr marL="73152" marR="73152" marT="36576" marB="36576">
                    <a:solidFill>
                      <a:srgbClr val="FFFFFF"/>
                    </a:solidFill>
                  </a:tcPr>
                </a:tc>
                <a:tc>
                  <a:txBody>
                    <a:bodyPr/>
                    <a:lstStyle/>
                    <a:p>
                      <a:r>
                        <a:rPr sz="1200" b="0">
                          <a:solidFill>
                            <a:srgbClr val="1F2937"/>
                          </a:solidFill>
                        </a:rPr>
                        <a:t>AQP, ORP150, ubikvitin, EPC</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Guruhlar va vaqt oralig‘i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Luca Tomassini va boshq., Dating Skin Lesions of Forensic Interest by Immunohistochemistry and Immunofluorescence Techniques: A Scoping Literature Review, betlar: PMID 38248045, 4.1 va 5-bo‘limlar, PMID 38248045, 4.3 va 5-bo‘limlar, PMID 38248045, 4 va 5-bo‘limlar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3: fermentlar va kollagenlar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jarohat namunasida siklooksigenaza-2 (COX-2) musbat hujayralar ulushi &gt;40%, kollagen I va VI topilmadi.</a:t>
            </a:r>
          </a:p>
          <a:p>
            <a:pPr>
              <a:spcAft>
                <a:spcPts val="1200"/>
              </a:spcAft>
            </a:pPr>
            <a:r>
              <a:rPr sz="2200">
                <a:solidFill>
                  <a:srgbClr val="1F2937"/>
                </a:solidFill>
                <a:latin typeface="Calibri"/>
              </a:rPr>
              <a:t>▸  COX-2 ulushi &gt;40% jarohat yoshi 8 soatdan 3 kungacha ekanini ko‘rsatadi; &gt;50% sud-tibbiy ahamiyatga ega bo‘lishi mumkin.</a:t>
            </a:r>
          </a:p>
          <a:p>
            <a:pPr>
              <a:spcAft>
                <a:spcPts val="1200"/>
              </a:spcAft>
            </a:pPr>
            <a:r>
              <a:rPr sz="2200">
                <a:solidFill>
                  <a:srgbClr val="1F2937"/>
                </a:solidFill>
                <a:latin typeface="Calibri"/>
              </a:rPr>
              <a:t>▸  Kollagen I va VI odatda 6–7-kunlarda paydo bo‘ladi; ular yo‘qligi jarohat yoshi 6–7 kundan kam ekanini bildiradi.</a:t>
            </a:r>
          </a:p>
          <a:p>
            <a:pPr>
              <a:spcAft>
                <a:spcPts val="1200"/>
              </a:spcAft>
            </a:pPr>
            <a:r>
              <a:rPr sz="2200">
                <a:solidFill>
                  <a:srgbClr val="1F2937"/>
                </a:solidFill>
                <a:latin typeface="Calibri"/>
              </a:rPr>
              <a:t>▸  Xulosa: ikki natija bir-biriga zid emas, jarohat taxminan 8 soat–3 kun oralig‘ida. Savol: qaysi qo‘shimcha marker buni aniqlaydi?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Luca Tomassini va boshq., Dating Skin Lesions of Forensic Interest by Immunohistochemistry and Immunofluorescence Techniques: A Scoping Literature Review, betlar: PMID 38248045, 4.5 va 4.6-bo‘limlar, PMID 38248045, 4.5 va 5-bo‘limlar, PMID 38248045, 4.6-bo‘lim, PMID 38248045, 4.5, 4.6 va 5-bo‘limlar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Teri bo‘limi xulosasi: ko‘p markerli yondashuv</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Bir nechta marker va usul birga qo‘llanganda sezgirlik va o‘ziga xoslik yuqori bo‘ladi, ammo ish ko‘proq vaqt va murakkablik talab qiladi.</a:t>
            </a:r>
          </a:p>
          <a:p>
            <a:pPr>
              <a:spcAft>
                <a:spcPts val="1200"/>
              </a:spcAft>
            </a:pPr>
            <a:r>
              <a:rPr sz="2200">
                <a:solidFill>
                  <a:srgbClr val="1F2937"/>
                </a:solidFill>
                <a:latin typeface="Calibri"/>
              </a:rPr>
              <a:t>▸  Marker paneli yolg‘iz markerdan ishonchliroq. Ko‘p markerli yondashuv jarohat yoshini baholashning eng ishonchli usuli deb hisoblanadi.</a:t>
            </a:r>
          </a:p>
          <a:p>
            <a:pPr>
              <a:spcAft>
                <a:spcPts val="1200"/>
              </a:spcAft>
            </a:pPr>
            <a:r>
              <a:rPr sz="2200">
                <a:solidFill>
                  <a:srgbClr val="1F2937"/>
                </a:solidFill>
                <a:latin typeface="Calibri"/>
              </a:rPr>
              <a:t>▸  Diqqat: immunogistokimyo (IHC) va immunofluoressensiya (IF) jarohat rivoji va hayotiyligini kuzatadi, lekin o‘limdan keyingi intervalni aniq belgilay olmaydi.</a:t>
            </a:r>
          </a:p>
          <a:p>
            <a:pPr>
              <a:spcAft>
                <a:spcPts val="1200"/>
              </a:spcAft>
            </a:pPr>
            <a:r>
              <a:rPr sz="2200">
                <a:solidFill>
                  <a:srgbClr val="1F2937"/>
                </a:solidFill>
                <a:latin typeface="Calibri"/>
              </a:rPr>
              <a:t>▸  Kelgusida o‘limdan keyingi jarohat yoshini baholash uchun yuqori sezgir va o‘ziga xos marker topish uchun yangi tadqiqotlar kerak.</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Luca Tomassini va boshq., Dating Skin Lesions of Forensic Interest by Immunohistochemistry and Immunofluorescence Techniques: A Scoping Literature Review, betlar: PMID 38248045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Suyak gistologiyasi: diagenez va tafonomik muhit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Diagenez — suyakning kimyoviy va fizik o‘zgarishi: kollagen va gidroksiapatit nisbati siljiydi.</a:t>
            </a:r>
          </a:p>
          <a:p>
            <a:pPr>
              <a:spcAft>
                <a:spcPts val="800"/>
              </a:spcAft>
            </a:pPr>
            <a:r>
              <a:rPr sz="1800">
                <a:solidFill>
                  <a:srgbClr val="1F2937"/>
                </a:solidFill>
                <a:latin typeface="Calibri"/>
              </a:rPr>
              <a:t>▸  Harorat 10 °C ko‘tarilsa, reaksiya tezligi, jumladan mikrob faolligi, ikki baravar oshadi.</a:t>
            </a:r>
          </a:p>
          <a:p>
            <a:pPr>
              <a:spcAft>
                <a:spcPts val="800"/>
              </a:spcAft>
            </a:pPr>
            <a:r>
              <a:rPr sz="1800">
                <a:solidFill>
                  <a:srgbClr val="1F2937"/>
                </a:solidFill>
                <a:latin typeface="Calibri"/>
              </a:rPr>
              <a:t>▸  Diqqat: o‘limdan keyingi interval (PMI) va ko‘milish davri (BI) muhitga bog‘liq baholanadi.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Jasad parchalanishi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Atmosfera, litosfera, biosfera</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Harorat, namlik, pH, mikroblar</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Organik va noorganik nisbat</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PMI/BI bilan bog‘lanish ehtimoli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Suyak diagenezi zanjiri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Sluis I va boshq., Bone histology for forensic anthropology: a technical review on the advances in microstructural analysis of taphonomically altered buried or subaerially exposed bone, betlar: PMID 40637841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Suyakning tuzilishi, autoliz va chirish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Suyak ~20% g‘ovak va ~80% zich moddadan iborat. Tarkibi: organik qism 25%, noorganik 60–70%, suv 9,7%. Organik qism asosan I tip kollagen.</a:t>
            </a:r>
          </a:p>
          <a:p>
            <a:pPr>
              <a:spcAft>
                <a:spcPts val="1200"/>
              </a:spcAft>
            </a:pPr>
            <a:r>
              <a:rPr sz="2200">
                <a:solidFill>
                  <a:srgbClr val="1F2937"/>
                </a:solidFill>
                <a:latin typeface="Calibri"/>
              </a:rPr>
              <a:t>▸  Autolizda fermentlar (proteaza, DNaza) suyak hujayralarini parchalaydi. Kollagen kabi hujayradan tashqari oqsillar autolizga chidamli.</a:t>
            </a:r>
          </a:p>
          <a:p>
            <a:pPr>
              <a:spcAft>
                <a:spcPts val="1200"/>
              </a:spcAft>
            </a:pPr>
            <a:r>
              <a:rPr sz="2200">
                <a:solidFill>
                  <a:srgbClr val="1F2937"/>
                </a:solidFill>
                <a:latin typeface="Calibri"/>
              </a:rPr>
              <a:t>▸  Chirishda kislotali metabolitlar matritsani qisman eritadi. Mikroorganizmlar ichkariga kirib, kollagenazalar yordamida kollagenni gidroliz qiladi.</a:t>
            </a:r>
          </a:p>
          <a:p>
            <a:pPr>
              <a:spcAft>
                <a:spcPts val="1200"/>
              </a:spcAft>
            </a:pPr>
            <a:r>
              <a:rPr sz="2200">
                <a:solidFill>
                  <a:srgbClr val="1F2937"/>
                </a:solidFill>
                <a:latin typeface="Calibri"/>
              </a:rPr>
              <a:t>▸  Hackett bo‘yicha tunnel turlari: Wedl (zamburug‘), chiziqli bo‘ylama, kurtakli va qatlamli (uchalasi bakterial).</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Sluis I va boshq., Bone histology for forensic anthropology: a technical review on the advances in microstructural analysis of taphonomically altered buried or subaerially exposed bone, betlar: PMID 40637841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Kislota va ishqorning suyakka ta‘siri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Kuchli kislotada (masalan, xlorid kislota, HCl) suyak soatlar ichida eriydi; kortikal suyak chidamliroq.</a:t>
            </a:r>
          </a:p>
          <a:p>
            <a:pPr>
              <a:spcAft>
                <a:spcPts val="800"/>
              </a:spcAft>
            </a:pPr>
            <a:r>
              <a:rPr sz="1800">
                <a:solidFill>
                  <a:srgbClr val="1F2937"/>
                </a:solidFill>
                <a:latin typeface="Calibri"/>
              </a:rPr>
              <a:t>▸  Sulfat kislota suyakni 7 kunda eritadi; ishqor esa faqat ilik bo‘shlig‘i mazmunini eritadi.</a:t>
            </a:r>
          </a:p>
          <a:p>
            <a:pPr>
              <a:spcAft>
                <a:spcPts val="800"/>
              </a:spcAft>
            </a:pPr>
            <a:r>
              <a:rPr sz="1800">
                <a:solidFill>
                  <a:srgbClr val="1F2937"/>
                </a:solidFill>
                <a:latin typeface="Calibri"/>
              </a:rPr>
              <a:t>▸  Kislota minerallarga, ishqor ilik bo‘shlig‘iga ta’sir etadi; kislota ta’siri dekaltsifikatsiyaga o‘xshaydi.</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175105"/>
                <a:gridCol w="1321993"/>
                <a:gridCol w="2790875"/>
              </a:tblGrid>
              <a:tr h="411480">
                <a:tc>
                  <a:txBody>
                    <a:bodyPr/>
                    <a:lstStyle/>
                    <a:p>
                      <a:r>
                        <a:rPr sz="1300" b="1">
                          <a:solidFill>
                            <a:srgbClr val="FFFFFF"/>
                          </a:solidFill>
                        </a:rPr>
                        <a:t>Muhit</a:t>
                      </a:r>
                    </a:p>
                  </a:txBody>
                  <a:tcPr marL="73152" marR="73152" marT="36576" marB="36576">
                    <a:solidFill>
                      <a:srgbClr val="0B1F3A"/>
                    </a:solidFill>
                  </a:tcPr>
                </a:tc>
                <a:tc>
                  <a:txBody>
                    <a:bodyPr/>
                    <a:lstStyle/>
                    <a:p>
                      <a:r>
                        <a:rPr sz="1300" b="1">
                          <a:solidFill>
                            <a:srgbClr val="FFFFFF"/>
                          </a:solidFill>
                        </a:rPr>
                        <a:t>Ta’sir vaqti</a:t>
                      </a:r>
                    </a:p>
                  </a:txBody>
                  <a:tcPr marL="73152" marR="73152" marT="36576" marB="36576">
                    <a:solidFill>
                      <a:srgbClr val="0B1F3A"/>
                    </a:solidFill>
                  </a:tcPr>
                </a:tc>
                <a:tc>
                  <a:txBody>
                    <a:bodyPr/>
                    <a:lstStyle/>
                    <a:p>
                      <a:r>
                        <a:rPr sz="1300" b="1">
                          <a:solidFill>
                            <a:srgbClr val="FFFFFF"/>
                          </a:solidFill>
                        </a:rPr>
                        <a:t>Natija</a:t>
                      </a:r>
                    </a:p>
                  </a:txBody>
                  <a:tcPr marL="73152" marR="73152" marT="36576" marB="36576">
                    <a:solidFill>
                      <a:srgbClr val="0B1F3A"/>
                    </a:solidFill>
                  </a:tcPr>
                </a:tc>
              </a:tr>
              <a:tr h="411480">
                <a:tc>
                  <a:txBody>
                    <a:bodyPr/>
                    <a:lstStyle/>
                    <a:p>
                      <a:r>
                        <a:rPr sz="1200" b="0">
                          <a:solidFill>
                            <a:srgbClr val="1F2937"/>
                          </a:solidFill>
                        </a:rPr>
                        <a:t>10% HCl</a:t>
                      </a:r>
                    </a:p>
                  </a:txBody>
                  <a:tcPr marL="73152" marR="73152" marT="36576" marB="36576">
                    <a:solidFill>
                      <a:srgbClr val="E8EEF6"/>
                    </a:solidFill>
                  </a:tcPr>
                </a:tc>
                <a:tc>
                  <a:txBody>
                    <a:bodyPr/>
                    <a:lstStyle/>
                    <a:p>
                      <a:r>
                        <a:rPr sz="1200" b="0">
                          <a:solidFill>
                            <a:srgbClr val="1F2937"/>
                          </a:solidFill>
                        </a:rPr>
                        <a:t>19 soat</a:t>
                      </a:r>
                    </a:p>
                  </a:txBody>
                  <a:tcPr marL="73152" marR="73152" marT="36576" marB="36576">
                    <a:solidFill>
                      <a:srgbClr val="E8EEF6"/>
                    </a:solidFill>
                  </a:tcPr>
                </a:tc>
                <a:tc>
                  <a:txBody>
                    <a:bodyPr/>
                    <a:lstStyle/>
                    <a:p>
                      <a:r>
                        <a:rPr sz="1200" b="0">
                          <a:solidFill>
                            <a:srgbClr val="1F2937"/>
                          </a:solidFill>
                        </a:rPr>
                        <a:t>Gistologik tuzilma ta’sirlanadi</a:t>
                      </a:r>
                    </a:p>
                  </a:txBody>
                  <a:tcPr marL="73152" marR="73152" marT="36576" marB="36576">
                    <a:solidFill>
                      <a:srgbClr val="E8EEF6"/>
                    </a:solidFill>
                  </a:tcPr>
                </a:tc>
              </a:tr>
              <a:tr h="411480">
                <a:tc>
                  <a:txBody>
                    <a:bodyPr/>
                    <a:lstStyle/>
                    <a:p>
                      <a:r>
                        <a:rPr sz="1200" b="0">
                          <a:solidFill>
                            <a:srgbClr val="1F2937"/>
                          </a:solidFill>
                        </a:rPr>
                        <a:t>37% HCl</a:t>
                      </a:r>
                    </a:p>
                  </a:txBody>
                  <a:tcPr marL="73152" marR="73152" marT="36576" marB="36576">
                    <a:solidFill>
                      <a:srgbClr val="FFFFFF"/>
                    </a:solidFill>
                  </a:tcPr>
                </a:tc>
                <a:tc>
                  <a:txBody>
                    <a:bodyPr/>
                    <a:lstStyle/>
                    <a:p>
                      <a:r>
                        <a:rPr sz="1200" b="0">
                          <a:solidFill>
                            <a:srgbClr val="1F2937"/>
                          </a:solidFill>
                        </a:rPr>
                        <a:t>3 soat</a:t>
                      </a:r>
                    </a:p>
                  </a:txBody>
                  <a:tcPr marL="73152" marR="73152" marT="36576" marB="36576">
                    <a:solidFill>
                      <a:srgbClr val="FFFFFF"/>
                    </a:solidFill>
                  </a:tcPr>
                </a:tc>
                <a:tc>
                  <a:txBody>
                    <a:bodyPr/>
                    <a:lstStyle/>
                    <a:p>
                      <a:r>
                        <a:rPr sz="1200" b="0">
                          <a:solidFill>
                            <a:srgbClr val="1F2937"/>
                          </a:solidFill>
                        </a:rPr>
                        <a:t>To‘liq parchalanadi</a:t>
                      </a:r>
                    </a:p>
                  </a:txBody>
                  <a:tcPr marL="73152" marR="73152" marT="36576" marB="36576">
                    <a:solidFill>
                      <a:srgbClr val="FFFFFF"/>
                    </a:solidFill>
                  </a:tcPr>
                </a:tc>
              </a:tr>
              <a:tr h="411480">
                <a:tc>
                  <a:txBody>
                    <a:bodyPr/>
                    <a:lstStyle/>
                    <a:p>
                      <a:r>
                        <a:rPr sz="1200" b="0">
                          <a:solidFill>
                            <a:srgbClr val="1F2937"/>
                          </a:solidFill>
                        </a:rPr>
                        <a:t>Sulfat kislota</a:t>
                      </a:r>
                    </a:p>
                  </a:txBody>
                  <a:tcPr marL="73152" marR="73152" marT="36576" marB="36576">
                    <a:solidFill>
                      <a:srgbClr val="E8EEF6"/>
                    </a:solidFill>
                  </a:tcPr>
                </a:tc>
                <a:tc>
                  <a:txBody>
                    <a:bodyPr/>
                    <a:lstStyle/>
                    <a:p>
                      <a:r>
                        <a:rPr sz="1200" b="0">
                          <a:solidFill>
                            <a:srgbClr val="1F2937"/>
                          </a:solidFill>
                        </a:rPr>
                        <a:t>1 kun / 7 kun</a:t>
                      </a:r>
                    </a:p>
                  </a:txBody>
                  <a:tcPr marL="73152" marR="73152" marT="36576" marB="36576">
                    <a:solidFill>
                      <a:srgbClr val="E8EEF6"/>
                    </a:solidFill>
                  </a:tcPr>
                </a:tc>
                <a:tc>
                  <a:txBody>
                    <a:bodyPr/>
                    <a:lstStyle/>
                    <a:p>
                      <a:r>
                        <a:rPr sz="1200" b="0">
                          <a:solidFill>
                            <a:srgbClr val="1F2937"/>
                          </a:solidFill>
                        </a:rPr>
                        <a:t>Yaxlitlik yo‘qoladi / eriydi</a:t>
                      </a:r>
                    </a:p>
                  </a:txBody>
                  <a:tcPr marL="73152" marR="73152" marT="36576" marB="36576">
                    <a:solidFill>
                      <a:srgbClr val="E8EEF6"/>
                    </a:solidFill>
                  </a:tcPr>
                </a:tc>
              </a:tr>
              <a:tr h="411480">
                <a:tc>
                  <a:txBody>
                    <a:bodyPr/>
                    <a:lstStyle/>
                    <a:p>
                      <a:r>
                        <a:rPr sz="1200" b="0">
                          <a:solidFill>
                            <a:srgbClr val="1F2937"/>
                          </a:solidFill>
                        </a:rPr>
                        <a:t>Ishqor (lye)</a:t>
                      </a:r>
                    </a:p>
                  </a:txBody>
                  <a:tcPr marL="73152" marR="73152" marT="36576" marB="36576">
                    <a:solidFill>
                      <a:srgbClr val="FFFFFF"/>
                    </a:solidFill>
                  </a:tcPr>
                </a:tc>
                <a:tc>
                  <a:txBody>
                    <a:bodyPr/>
                    <a:lstStyle/>
                    <a:p>
                      <a:r>
                        <a:rPr sz="1200" b="0">
                          <a:solidFill>
                            <a:srgbClr val="1F2937"/>
                          </a:solidFill>
                        </a:rPr>
                        <a:t>Vaqt keltirilmagan</a:t>
                      </a:r>
                    </a:p>
                  </a:txBody>
                  <a:tcPr marL="73152" marR="73152" marT="36576" marB="36576">
                    <a:solidFill>
                      <a:srgbClr val="FFFFFF"/>
                    </a:solidFill>
                  </a:tcPr>
                </a:tc>
                <a:tc>
                  <a:txBody>
                    <a:bodyPr/>
                    <a:lstStyle/>
                    <a:p>
                      <a:r>
                        <a:rPr sz="1200" b="0">
                          <a:solidFill>
                            <a:srgbClr val="1F2937"/>
                          </a:solidFill>
                        </a:rPr>
                        <a:t>Ilik mazmuni eriydi, tuzilma saqlanadi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Kimyoviy muhit ta’siri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Sluis I va boshq., Bone histology for forensic anthropology: a technical review on the advances in microstructural analysis of taphonomically altered buried or subaerially exposed bone, betlar: PMID 40637841, 'The bone matrix and taphonomic agents' bo‘limi</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45 ta bo‘yoq va protokollar bo‘shlig‘i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Kollagen va osteotsitni ko‘rsatadi: Mallory, Gomori trichrome, Weigert rezortsin-fuksin usullari.</a:t>
            </a:r>
          </a:p>
          <a:p>
            <a:pPr>
              <a:spcAft>
                <a:spcPts val="800"/>
              </a:spcAft>
            </a:pPr>
            <a:r>
              <a:rPr sz="1800">
                <a:solidFill>
                  <a:srgbClr val="1F2937"/>
                </a:solidFill>
                <a:latin typeface="Calibri"/>
              </a:rPr>
              <a:t>▸  Dekaltsifikatsiyalanmagan kesmada organik va noorganik qismlar nisbatini baholash mumkin.</a:t>
            </a:r>
          </a:p>
          <a:p>
            <a:pPr>
              <a:spcAft>
                <a:spcPts val="800"/>
              </a:spcAft>
            </a:pPr>
            <a:r>
              <a:rPr sz="1800">
                <a:solidFill>
                  <a:srgbClr val="1F2937"/>
                </a:solidFill>
                <a:latin typeface="Calibri"/>
              </a:rPr>
              <a:t>▸  Protokol yetishmasligi va 42 bo‘yoqning sinalmaganligi keyingi tadqiqot yo‘nalishini belgilaydi.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3061459"/>
                <a:gridCol w="2226515"/>
              </a:tblGrid>
              <a:tr h="411480">
                <a:tc>
                  <a:txBody>
                    <a:bodyPr/>
                    <a:lstStyle/>
                    <a:p>
                      <a:r>
                        <a:rPr sz="1400" b="1">
                          <a:solidFill>
                            <a:srgbClr val="FFFFFF"/>
                          </a:solidFill>
                        </a:rPr>
                        <a:t>Ko‘rsatkich</a:t>
                      </a:r>
                    </a:p>
                  </a:txBody>
                  <a:tcPr marL="73152" marR="73152" marT="36576" marB="36576">
                    <a:solidFill>
                      <a:srgbClr val="0B1F3A"/>
                    </a:solidFill>
                  </a:tcPr>
                </a:tc>
                <a:tc>
                  <a:txBody>
                    <a:bodyPr/>
                    <a:lstStyle/>
                    <a:p>
                      <a:r>
                        <a:rPr sz="1400" b="1">
                          <a:solidFill>
                            <a:srgbClr val="FFFFFF"/>
                          </a:solidFill>
                        </a:rPr>
                        <a:t>Soni</a:t>
                      </a:r>
                    </a:p>
                  </a:txBody>
                  <a:tcPr marL="73152" marR="73152" marT="36576" marB="36576">
                    <a:solidFill>
                      <a:srgbClr val="0B1F3A"/>
                    </a:solidFill>
                  </a:tcPr>
                </a:tc>
              </a:tr>
              <a:tr h="411480">
                <a:tc>
                  <a:txBody>
                    <a:bodyPr/>
                    <a:lstStyle/>
                    <a:p>
                      <a:r>
                        <a:rPr sz="1300" b="0">
                          <a:solidFill>
                            <a:srgbClr val="1F2937"/>
                          </a:solidFill>
                        </a:rPr>
                        <a:t>Istiqbolli bo‘yoqlar</a:t>
                      </a:r>
                    </a:p>
                  </a:txBody>
                  <a:tcPr marL="73152" marR="73152" marT="36576" marB="36576">
                    <a:solidFill>
                      <a:srgbClr val="E8EEF6"/>
                    </a:solidFill>
                  </a:tcPr>
                </a:tc>
                <a:tc>
                  <a:txBody>
                    <a:bodyPr/>
                    <a:lstStyle/>
                    <a:p>
                      <a:r>
                        <a:rPr sz="1300" b="0">
                          <a:solidFill>
                            <a:srgbClr val="1F2937"/>
                          </a:solidFill>
                        </a:rPr>
                        <a:t>45</a:t>
                      </a:r>
                    </a:p>
                  </a:txBody>
                  <a:tcPr marL="73152" marR="73152" marT="36576" marB="36576">
                    <a:solidFill>
                      <a:srgbClr val="E8EEF6"/>
                    </a:solidFill>
                  </a:tcPr>
                </a:tc>
              </a:tr>
              <a:tr h="411480">
                <a:tc>
                  <a:txBody>
                    <a:bodyPr/>
                    <a:lstStyle/>
                    <a:p>
                      <a:r>
                        <a:rPr sz="1300" b="0">
                          <a:solidFill>
                            <a:srgbClr val="1F2937"/>
                          </a:solidFill>
                        </a:rPr>
                        <a:t>Protokol: embedded</a:t>
                      </a:r>
                    </a:p>
                  </a:txBody>
                  <a:tcPr marL="73152" marR="73152" marT="36576" marB="36576">
                    <a:solidFill>
                      <a:srgbClr val="FFFFFF"/>
                    </a:solidFill>
                  </a:tcPr>
                </a:tc>
                <a:tc>
                  <a:txBody>
                    <a:bodyPr/>
                    <a:lstStyle/>
                    <a:p>
                      <a:r>
                        <a:rPr sz="1300" b="0">
                          <a:solidFill>
                            <a:srgbClr val="1F2937"/>
                          </a:solidFill>
                        </a:rPr>
                        <a:t>8</a:t>
                      </a:r>
                    </a:p>
                  </a:txBody>
                  <a:tcPr marL="73152" marR="73152" marT="36576" marB="36576">
                    <a:solidFill>
                      <a:srgbClr val="FFFFFF"/>
                    </a:solidFill>
                  </a:tcPr>
                </a:tc>
              </a:tr>
              <a:tr h="411480">
                <a:tc>
                  <a:txBody>
                    <a:bodyPr/>
                    <a:lstStyle/>
                    <a:p>
                      <a:r>
                        <a:rPr sz="1300" b="0">
                          <a:solidFill>
                            <a:srgbClr val="1F2937"/>
                          </a:solidFill>
                        </a:rPr>
                        <a:t>Protokol: non-embedded</a:t>
                      </a:r>
                    </a:p>
                  </a:txBody>
                  <a:tcPr marL="73152" marR="73152" marT="36576" marB="36576">
                    <a:solidFill>
                      <a:srgbClr val="E8EEF6"/>
                    </a:solidFill>
                  </a:tcPr>
                </a:tc>
                <a:tc>
                  <a:txBody>
                    <a:bodyPr/>
                    <a:lstStyle/>
                    <a:p>
                      <a:r>
                        <a:rPr sz="1300" b="0">
                          <a:solidFill>
                            <a:srgbClr val="1F2937"/>
                          </a:solidFill>
                        </a:rPr>
                        <a:t>2</a:t>
                      </a:r>
                    </a:p>
                  </a:txBody>
                  <a:tcPr marL="73152" marR="73152" marT="36576" marB="36576">
                    <a:solidFill>
                      <a:srgbClr val="E8EEF6"/>
                    </a:solidFill>
                  </a:tcPr>
                </a:tc>
              </a:tr>
              <a:tr h="411480">
                <a:tc>
                  <a:txBody>
                    <a:bodyPr/>
                    <a:lstStyle/>
                    <a:p>
                      <a:r>
                        <a:rPr sz="1300" b="0">
                          <a:solidFill>
                            <a:srgbClr val="1F2937"/>
                          </a:solidFill>
                        </a:rPr>
                        <a:t>Sinalgan / sinalmagan</a:t>
                      </a:r>
                    </a:p>
                  </a:txBody>
                  <a:tcPr marL="73152" marR="73152" marT="36576" marB="36576">
                    <a:solidFill>
                      <a:srgbClr val="FFFFFF"/>
                    </a:solidFill>
                  </a:tcPr>
                </a:tc>
                <a:tc>
                  <a:txBody>
                    <a:bodyPr/>
                    <a:lstStyle/>
                    <a:p>
                      <a:r>
                        <a:rPr sz="1300" b="0">
                          <a:solidFill>
                            <a:srgbClr val="1F2937"/>
                          </a:solidFill>
                        </a:rPr>
                        <a:t>3 / 42</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Bo‘yoqlar va protokollar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Sluis I va boshq., Bone histology for forensic anthropology: a technical review on the advances in microstructural analysis of taphonomically altered buried or subaerially exposed bone, betlar: PMID 40637841, Abstract, PMID 40637841, Introduction, PMID 40637841, Abstract; Discussion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Sinalgan bo‘yoqlar: Sirius Red/Fast Green, PSR, HE</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Sirius Red/Fast Green cho‘chqa va odam suyagida o‘lim muddati (PMI) oralig‘ini toraytirishga yordam beradi.</a:t>
            </a:r>
          </a:p>
          <a:p>
            <a:pPr>
              <a:spcAft>
                <a:spcPts val="800"/>
              </a:spcAft>
            </a:pPr>
            <a:r>
              <a:rPr sz="1800">
                <a:solidFill>
                  <a:srgbClr val="1F2937"/>
                </a:solidFill>
                <a:latin typeface="Calibri"/>
              </a:rPr>
              <a:t>▸  HE suyak morfologiyasini va yaxlitlik indeksini (osteotsit yadrolari/bo‘shliqlar nisbati) ko‘rsatadi.</a:t>
            </a:r>
          </a:p>
          <a:p>
            <a:pPr>
              <a:spcAft>
                <a:spcPts val="800"/>
              </a:spcAft>
            </a:pPr>
            <a:r>
              <a:rPr sz="1800">
                <a:solidFill>
                  <a:srgbClr val="1F2937"/>
                </a:solidFill>
                <a:latin typeface="Calibri"/>
              </a:rPr>
              <a:t>▸  Noma’lum PMI ni bashorat qiluvchi model hali yo‘q; u tuproq va muhit sharoitiga moslanishi kerak.</a:t>
            </a:r>
          </a:p>
        </p:txBody>
      </p:sp>
      <p:graphicFrame>
        <p:nvGraphicFramePr>
          <p:cNvPr id="9" name="Table 8"/>
          <p:cNvGraphicFramePr>
            <a:graphicFrameLocks noGrp="1"/>
          </p:cNvGraphicFramePr>
          <p:nvPr/>
        </p:nvGraphicFramePr>
        <p:xfrm>
          <a:off x="6263640" y="1463040"/>
          <a:ext cx="5287974" cy="1645920"/>
        </p:xfrm>
        <a:graphic>
          <a:graphicData uri="http://schemas.openxmlformats.org/drawingml/2006/table">
            <a:tbl>
              <a:tblPr firstRow="1" bandRow="1">
                <a:tableStyleId>{5C22544A-7EE6-4342-B048-85BDC9FD1C3A}</a:tableStyleId>
              </a:tblPr>
              <a:tblGrid>
                <a:gridCol w="1465342"/>
                <a:gridCol w="1911316"/>
                <a:gridCol w="1911316"/>
              </a:tblGrid>
              <a:tr h="411480">
                <a:tc>
                  <a:txBody>
                    <a:bodyPr/>
                    <a:lstStyle/>
                    <a:p>
                      <a:r>
                        <a:rPr sz="1300" b="1">
                          <a:solidFill>
                            <a:srgbClr val="FFFFFF"/>
                          </a:solidFill>
                        </a:rPr>
                        <a:t>Bo‘yoq</a:t>
                      </a:r>
                    </a:p>
                  </a:txBody>
                  <a:tcPr marL="73152" marR="73152" marT="36576" marB="36576">
                    <a:solidFill>
                      <a:srgbClr val="0B1F3A"/>
                    </a:solidFill>
                  </a:tcPr>
                </a:tc>
                <a:tc>
                  <a:txBody>
                    <a:bodyPr/>
                    <a:lstStyle/>
                    <a:p>
                      <a:r>
                        <a:rPr sz="1300" b="1">
                          <a:solidFill>
                            <a:srgbClr val="FFFFFF"/>
                          </a:solidFill>
                        </a:rPr>
                        <a:t>Ko‘rsatadi</a:t>
                      </a:r>
                    </a:p>
                  </a:txBody>
                  <a:tcPr marL="73152" marR="73152" marT="36576" marB="36576">
                    <a:solidFill>
                      <a:srgbClr val="0B1F3A"/>
                    </a:solidFill>
                  </a:tcPr>
                </a:tc>
                <a:tc>
                  <a:txBody>
                    <a:bodyPr/>
                    <a:lstStyle/>
                    <a:p>
                      <a:r>
                        <a:rPr sz="1300" b="1">
                          <a:solidFill>
                            <a:srgbClr val="FFFFFF"/>
                          </a:solidFill>
                        </a:rPr>
                        <a:t>PMI uchun</a:t>
                      </a:r>
                    </a:p>
                  </a:txBody>
                  <a:tcPr marL="73152" marR="73152" marT="36576" marB="36576">
                    <a:solidFill>
                      <a:srgbClr val="0B1F3A"/>
                    </a:solidFill>
                  </a:tcPr>
                </a:tc>
              </a:tr>
              <a:tr h="411480">
                <a:tc>
                  <a:txBody>
                    <a:bodyPr/>
                    <a:lstStyle/>
                    <a:p>
                      <a:r>
                        <a:rPr sz="1200" b="0">
                          <a:solidFill>
                            <a:srgbClr val="1F2937"/>
                          </a:solidFill>
                        </a:rPr>
                        <a:t>Sirius Red/Fast Green</a:t>
                      </a:r>
                    </a:p>
                  </a:txBody>
                  <a:tcPr marL="73152" marR="73152" marT="36576" marB="36576">
                    <a:solidFill>
                      <a:srgbClr val="E8EEF6"/>
                    </a:solidFill>
                  </a:tcPr>
                </a:tc>
                <a:tc>
                  <a:txBody>
                    <a:bodyPr/>
                    <a:lstStyle/>
                    <a:p>
                      <a:r>
                        <a:rPr sz="1200" b="0">
                          <a:solidFill>
                            <a:srgbClr val="1F2937"/>
                          </a:solidFill>
                        </a:rPr>
                        <a:t>Kollagen yaxlitligi o‘zgarishi</a:t>
                      </a:r>
                    </a:p>
                  </a:txBody>
                  <a:tcPr marL="73152" marR="73152" marT="36576" marB="36576">
                    <a:solidFill>
                      <a:srgbClr val="E8EEF6"/>
                    </a:solidFill>
                  </a:tcPr>
                </a:tc>
                <a:tc>
                  <a:txBody>
                    <a:bodyPr/>
                    <a:lstStyle/>
                    <a:p>
                      <a:r>
                        <a:rPr sz="1200" b="0">
                          <a:solidFill>
                            <a:srgbClr val="1F2937"/>
                          </a:solidFill>
                        </a:rPr>
                        <a:t>Statistik ahamiyatli o‘zgarish</a:t>
                      </a:r>
                    </a:p>
                  </a:txBody>
                  <a:tcPr marL="73152" marR="73152" marT="36576" marB="36576">
                    <a:solidFill>
                      <a:srgbClr val="E8EEF6"/>
                    </a:solidFill>
                  </a:tcPr>
                </a:tc>
              </a:tr>
              <a:tr h="411480">
                <a:tc>
                  <a:txBody>
                    <a:bodyPr/>
                    <a:lstStyle/>
                    <a:p>
                      <a:r>
                        <a:rPr sz="1200" b="0">
                          <a:solidFill>
                            <a:srgbClr val="1F2937"/>
                          </a:solidFill>
                        </a:rPr>
                        <a:t>Picrosirius Red</a:t>
                      </a:r>
                    </a:p>
                  </a:txBody>
                  <a:tcPr marL="73152" marR="73152" marT="36576" marB="36576">
                    <a:solidFill>
                      <a:srgbClr val="FFFFFF"/>
                    </a:solidFill>
                  </a:tcPr>
                </a:tc>
                <a:tc>
                  <a:txBody>
                    <a:bodyPr/>
                    <a:lstStyle/>
                    <a:p>
                      <a:r>
                        <a:rPr sz="1200" b="0">
                          <a:solidFill>
                            <a:srgbClr val="1F2937"/>
                          </a:solidFill>
                        </a:rPr>
                        <a:t>Kollagen parchalanishi</a:t>
                      </a:r>
                    </a:p>
                  </a:txBody>
                  <a:tcPr marL="73152" marR="73152" marT="36576" marB="36576">
                    <a:solidFill>
                      <a:srgbClr val="FFFFFF"/>
                    </a:solidFill>
                  </a:tcPr>
                </a:tc>
                <a:tc>
                  <a:txBody>
                    <a:bodyPr/>
                    <a:lstStyle/>
                    <a:p>
                      <a:r>
                        <a:rPr sz="1200" b="0">
                          <a:solidFill>
                            <a:srgbClr val="1F2937"/>
                          </a:solidFill>
                        </a:rPr>
                        <a:t>Vaqtga bog‘liq o‘zgarish</a:t>
                      </a:r>
                    </a:p>
                  </a:txBody>
                  <a:tcPr marL="73152" marR="73152" marT="36576" marB="36576">
                    <a:solidFill>
                      <a:srgbClr val="FFFFFF"/>
                    </a:solidFill>
                  </a:tcPr>
                </a:tc>
              </a:tr>
              <a:tr h="411480">
                <a:tc>
                  <a:txBody>
                    <a:bodyPr/>
                    <a:lstStyle/>
                    <a:p>
                      <a:r>
                        <a:rPr sz="1200" b="0">
                          <a:solidFill>
                            <a:srgbClr val="1F2937"/>
                          </a:solidFill>
                        </a:rPr>
                        <a:t>HE (gematoksilin–eozin)</a:t>
                      </a:r>
                    </a:p>
                  </a:txBody>
                  <a:tcPr marL="73152" marR="73152" marT="36576" marB="36576">
                    <a:solidFill>
                      <a:srgbClr val="E8EEF6"/>
                    </a:solidFill>
                  </a:tcPr>
                </a:tc>
                <a:tc>
                  <a:txBody>
                    <a:bodyPr/>
                    <a:lstStyle/>
                    <a:p>
                      <a:r>
                        <a:rPr sz="1200" b="0">
                          <a:solidFill>
                            <a:srgbClr val="1F2937"/>
                          </a:solidFill>
                        </a:rPr>
                        <a:t>Morfologiya, yaxlitlik indeksi</a:t>
                      </a:r>
                    </a:p>
                  </a:txBody>
                  <a:tcPr marL="73152" marR="73152" marT="36576" marB="36576">
                    <a:solidFill>
                      <a:srgbClr val="E8EEF6"/>
                    </a:solidFill>
                  </a:tcPr>
                </a:tc>
                <a:tc>
                  <a:txBody>
                    <a:bodyPr/>
                    <a:lstStyle/>
                    <a:p>
                      <a:r>
                        <a:rPr sz="1200" b="0">
                          <a:solidFill>
                            <a:srgbClr val="1F2937"/>
                          </a:solidFill>
                        </a:rPr>
                        <a:t>Hozircha PMI uchun yaramaydi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Uch bo‘yoqni solishtirish</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Sluis I va boshq., Bone histology for forensic anthropology: a technical review on the advances in microstructural analysis of taphonomically altered buried or subaerially exposed bone, betlar: PMID 40637841, Discussion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4 va tezkor savol: suyak gistologiyasi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ko‘milgan suyak kesmasida osteotsit yadrolarining lakunalarga nisbati past. Bu suyakning yomon saqlanganini bildiradi.</a:t>
            </a:r>
          </a:p>
          <a:p>
            <a:pPr>
              <a:spcAft>
                <a:spcPts val="1200"/>
              </a:spcAft>
            </a:pPr>
            <a:r>
              <a:rPr sz="2200">
                <a:solidFill>
                  <a:srgbClr val="1F2937"/>
                </a:solidFill>
                <a:latin typeface="Calibri"/>
              </a:rPr>
              <a:t>▸  Ko‘milish davri suyak butunligi indeksi bilan teskari bog‘liq: davr uzaysa, indeks pasayadi. Indeks yadro/lakuna nisbatiga tayanadi.</a:t>
            </a:r>
          </a:p>
          <a:p>
            <a:pPr>
              <a:spcAft>
                <a:spcPts val="1200"/>
              </a:spcAft>
            </a:pPr>
            <a:r>
              <a:rPr sz="2200">
                <a:solidFill>
                  <a:srgbClr val="1F2937"/>
                </a:solidFill>
                <a:latin typeface="Calibri"/>
              </a:rPr>
              <a:t>▸  Indeksni PMI (o‘limdan keyingi davr) bilan bog‘lovchi tasdiqlangan usul yo‘q. Tuproq kimyosi va gidrologiya natijani o‘zgartiradi.</a:t>
            </a:r>
          </a:p>
          <a:p>
            <a:pPr>
              <a:spcAft>
                <a:spcPts val="1200"/>
              </a:spcAft>
            </a:pPr>
            <a:r>
              <a:rPr sz="2200">
                <a:solidFill>
                  <a:srgbClr val="1F2937"/>
                </a:solidFill>
                <a:latin typeface="Calibri"/>
              </a:rPr>
              <a:t>▸  Tezkor savol: nega past indeks aniq muddatni bermaydi? Diqqat: saqlanish darajasi ≠ PMI; u ko‘mish sharoitiga ham bog‘liq.</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Sluis I va boshq., Bone histology for forensic anthropology: a technical review on the advances in microstructural analysis of taphonomically altered buried or subaerially exposed bone, betlar: PMID 40637841</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Cheklovlar, sub‘ektivlik va sun‘iy intellekt istiqboli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Mikroskopik rasmni baholash asosan sub‘ektiv: u tekshiruvchining tajribasi va talqiniga bog‘liq. Natijada talqin o‘zgaruvchan bo‘lishi mumkin.</a:t>
            </a:r>
          </a:p>
          <a:p>
            <a:pPr>
              <a:spcAft>
                <a:spcPts val="1200"/>
              </a:spcAft>
            </a:pPr>
            <a:r>
              <a:rPr sz="2200">
                <a:solidFill>
                  <a:srgbClr val="1F2937"/>
                </a:solidFill>
                <a:latin typeface="Calibri"/>
              </a:rPr>
              <a:t>▸  Kompakt va g‘ovak suyak bo‘yoqqa turlicha javob beradi. G‘ovak suyak bo‘shliqlarida bo‘yalgan noorganik modda kollagen nisbatini o‘zgartirgan.</a:t>
            </a:r>
          </a:p>
          <a:p>
            <a:pPr>
              <a:spcAft>
                <a:spcPts val="1200"/>
              </a:spcAft>
            </a:pPr>
            <a:r>
              <a:rPr sz="2200">
                <a:solidFill>
                  <a:srgbClr val="1F2937"/>
                </a:solidFill>
                <a:latin typeface="Calibri"/>
              </a:rPr>
              <a:t>▸  Gistologik rasmlar ko‘pincha Hedges indeksi bilan yoki muayyan belgilarning bor-yo‘qligiga qarab baholanadi. Sub‘ektivlikni bir nechta ekspert kamaytiradi.</a:t>
            </a:r>
          </a:p>
          <a:p>
            <a:pPr>
              <a:spcAft>
                <a:spcPts val="1200"/>
              </a:spcAft>
            </a:pPr>
            <a:r>
              <a:rPr sz="2200">
                <a:solidFill>
                  <a:srgbClr val="1F2937"/>
                </a:solidFill>
                <a:latin typeface="Calibri"/>
              </a:rPr>
              <a:t>▸  Kelajakda Cellpose kabi sun’iy intellekt (AI) vositalari tuzilmalarni tanib, organik va noorganik nisbatni hisoblashi mumkin. Bu inson xatosini kamaytiradi.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Sluis I va boshq., Bone histology for forensic anthropology: a technical review on the advances in microstructural analysis of taphonomically altered buried or subaerially exposed bone, betlar: PMID 40637841</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Umumiy xulosa: gistologik usul potentsiali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Teri jarohati yoshini baholashda ko‘p markerli yondashuv eng ishonchli usul deb hisoblanadi. U sezgirlik va o‘ziga xoslikni oshiradi, lekin ko‘proq vaqt va murakkablik talab qiladi.</a:t>
            </a:r>
          </a:p>
          <a:p>
            <a:pPr>
              <a:spcAft>
                <a:spcPts val="1200"/>
              </a:spcAft>
            </a:pPr>
            <a:r>
              <a:rPr sz="2000">
                <a:solidFill>
                  <a:srgbClr val="1F2937"/>
                </a:solidFill>
                <a:latin typeface="Calibri"/>
              </a:rPr>
              <a:t>▸  Immunogistokimyo (IHC) va immunofluoressensiya jarohat rivoji va tirik vaqtda hosil bo‘lganini kuzatishda samarali. Ular o‘limdan keyingi intervalni aniq belgilay olmaydi.</a:t>
            </a:r>
          </a:p>
          <a:p>
            <a:pPr>
              <a:spcAft>
                <a:spcPts val="1200"/>
              </a:spcAft>
            </a:pPr>
            <a:r>
              <a:rPr sz="2000">
                <a:solidFill>
                  <a:srgbClr val="1F2937"/>
                </a:solidFill>
                <a:latin typeface="Calibri"/>
              </a:rPr>
              <a:t>▸  Suyakda 45 ta bo‘yoq istiqbolli deb topilgan, ammo faqat 3 tasi sinalgan. Kollagen va osteotsit degradatsiyasi muddat ko‘rsatkichi bo‘lishi mumkin, tasdiqlangan model esa yo‘q.</a:t>
            </a:r>
          </a:p>
          <a:p>
            <a:pPr>
              <a:spcAft>
                <a:spcPts val="1200"/>
              </a:spcAft>
            </a:pPr>
            <a:r>
              <a:rPr sz="2000">
                <a:solidFill>
                  <a:srgbClr val="1F2937"/>
                </a:solidFill>
                <a:latin typeface="Calibri"/>
              </a:rPr>
              <a:t>▸  Keyingi qadam: qolgan bo‘yoqlarni dekalsifikatsiyalanmagan suyak kesmalarida sinash, ularni birlashtirish va usulni turli sharoitda tekshirib tasdiqlash.</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Luca Tomassini va boshq., Dating Skin Lesions of Forensic Interest by Immunohistochemistry and Immunofluorescence Techniques: A Scoping Literature Review, betlar: PMID 38248045; Sluis I va boshq., Bone histology for forensic anthropology: a technical review on the advances in microstructural analysis of taphonomically altered buried or subaerially exposed bone, betlar: PMID 40637841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80</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Sezgirlik va o‘ziga xoslik bir narsa emas. FVIIIra yara hayotiyligini 100% sezgirlik bilan ko‘rsatgan, lekin o‘ziga xosligi atigi 47% bo‘lgan: u jarrohlik va nazorat yaralarida ham ortiqcha ifodalangan. Shu sababli recent ante-mortem yaralarni o‘limdan keyingilaridan ajratishda CD15 va triptaza foydaliroq hisoblangan. Eslab qoling: sezgir ≠ o‘ziga xos.</a:t>
            </a:r>
          </a:p>
          <a:p>
            <a:pPr>
              <a:spcAft>
                <a:spcPts val="1200"/>
              </a:spcAft>
            </a:pPr>
            <a:r>
              <a:rPr sz="1800">
                <a:solidFill>
                  <a:srgbClr val="1F2937"/>
                </a:solidFill>
                <a:latin typeface="Calibri"/>
              </a:rPr>
              <a:t>▸  Eslab qolish usuli — yara yoshi zinapoyasi. 0–1 soat: fibronektin, CD62p, VIII omil. 3 soat: TNFα va IL-1β cho‘qqisi. 1–5 kun: CD14 va makrofaglar. Taxminan 5 kun va undan keyin: alfa-SMA musbat miofibroblastlar. 6–7 kundan: I va VI tur kollagen. Ketma-ketlik: qon ivishi → yallig‘lanish → biriktiruvchi to‘qima.</a:t>
            </a:r>
          </a:p>
          <a:p>
            <a:pPr>
              <a:spcAft>
                <a:spcPts val="1200"/>
              </a:spcAft>
            </a:pPr>
            <a:r>
              <a:rPr sz="1800">
                <a:solidFill>
                  <a:srgbClr val="1F2937"/>
                </a:solidFill>
                <a:latin typeface="Calibri"/>
              </a:rPr>
              <a:t>▸  Hodisa tahlili: tadqiqotchilar suyakni bo‘yash uchun 45 ta bo‘yoq usulini istiqbolli deb topgan. Taponomik tadqiqotlarda esa faqat 3 tasi sinalgan: Sirius Red/Fast Green, gematoksilin–eozin va Picrosirius Red. Ya’ni 42 ta usul hali umuman sinalmagan. Bu o‘limdan keyingi vaqtni (PMI) suyak gistologiyasi orqali aniqlashdagi katta bilim bo‘shlig‘ini ko‘rsatadi.</a:t>
            </a:r>
          </a:p>
          <a:p>
            <a:pPr>
              <a:spcAft>
                <a:spcPts val="1200"/>
              </a:spcAft>
            </a:pPr>
            <a:r>
              <a:rPr sz="1800">
                <a:solidFill>
                  <a:srgbClr val="1F2937"/>
                </a:solidFill>
                <a:latin typeface="Calibri"/>
              </a:rPr>
              <a:t>▸  Harorat suyak parchalanishini tezlashtiradi: Arrhenius tenglamasiga ko‘ra 10 °C ko‘tarilish reaksiya tezligini, jumladan mikrob faolligini, ikki baravar oshiradi. Biroq bakteriyalarning o‘z optimal diapazoni bor. Shuning uchun suyak gistologiyasi bo‘yicha PMI baholashda atrof-muhit va ob-havo ma’lumotlari albatta hisobga olinishi kerak.</a:t>
            </a:r>
          </a:p>
          <a:p>
            <a:pPr>
              <a:spcAft>
                <a:spcPts val="1200"/>
              </a:spcAft>
            </a:pPr>
            <a:r>
              <a:rPr sz="1800">
                <a:solidFill>
                  <a:srgbClr val="1F2937"/>
                </a:solidFill>
                <a:latin typeface="Calibri"/>
              </a:rPr>
              <a:t>▸  Hodisa tahlili: Astolphi va hamkasblari ko‘milgan davr bilan suyak yaxlitlik indeksi (osteotsit yadrolari va lakunalar nisbati) o‘rtasida teskari bog‘liqlik topgan. Matritsa yo‘qolishi esa ko‘milish davriga bog‘liq bo‘lmagan, chunki tuproq kimyosi va gidrologiya har xil edi. Xulosa: indeks istiqbolli, ammo tasdiqlangan baholash modeli hali yo‘q.</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377440"/>
            <a:ext cx="10911535" cy="1280160"/>
          </a:xfrm>
          <a:prstGeom prst="rect">
            <a:avLst/>
          </a:prstGeom>
          <a:noFill/>
        </p:spPr>
        <p:txBody>
          <a:bodyPr wrap="square" anchor="ctr">
            <a:spAutoFit/>
          </a:bodyPr>
          <a:lstStyle/>
          <a:p>
            <a:r>
              <a:rPr sz="4400" b="1">
                <a:solidFill>
                  <a:srgbClr val="FFFFFF"/>
                </a:solidFill>
                <a:latin typeface="Georgia"/>
              </a:rPr>
              <a:t>Bilimingizni sinang</a:t>
            </a:r>
          </a:p>
        </p:txBody>
      </p:sp>
      <p:sp>
        <p:nvSpPr>
          <p:cNvPr id="4" name="TextBox 3"/>
          <p:cNvSpPr txBox="1"/>
          <p:nvPr/>
        </p:nvSpPr>
        <p:spPr>
          <a:xfrm>
            <a:off x="640080" y="3749039"/>
            <a:ext cx="10911535" cy="548640"/>
          </a:xfrm>
          <a:prstGeom prst="rect">
            <a:avLst/>
          </a:prstGeom>
          <a:noFill/>
        </p:spPr>
        <p:txBody>
          <a:bodyPr wrap="square">
            <a:spAutoFit/>
          </a:bodyPr>
          <a:lstStyle/>
          <a:p>
            <a:r>
              <a:rPr sz="2200" b="0">
                <a:solidFill>
                  <a:srgbClr val="C9A227"/>
                </a:solidFill>
                <a:latin typeface="Calibri"/>
              </a:rPr>
              <a:t>20 ta test savoli</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Tadqiqotchi 326 ta maqoladan 29 tasini tanladi. Yana bibliografiyadan 17 ta mos maqola topildi. Tahlilga jami nechta maqola kirdi?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Jami 63 ta maqola kirdi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Jami 46 ta maqola kirdi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Jami 29 ta maqola kirdi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Jami 17 ta maqola kirdi</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Talaba teri jarohati yoshi haqidagi inglizcha tizimli sharhni topdi va uni tahlilga qo‘shmoqchi. Qaysi mezon bo‘yicha u chiqarib tashlanadi?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Til mezoni bo‘yicha: matn inglizcha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Namuna mezoni bo‘yicha: teri to‘qimasi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Maqola turi mezoni bo‘yicha: sharh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Maqsad mezoni bo‘yicha: PTI aniqlash</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Ekspert murdadagi teri jarohatining tirik paytda hosil bo‘lganini (vitalligini) tasdiqladi. Jarohat va o‘lim o‘rtasidagi sababiy bog‘liqlikni asoslash uchun keyin nimani baholaydi?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Postmortem intervalni, ya’ni o‘lim vaqtini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Jarohatning chiziqli o‘lchamlarini va shaklini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Namuna olingan mamlakat va nashr yilini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Travmadan keyingi intervalni (PTI)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Immunogistokimyo (IHC) jarohat yoshini baholashda boshqa usullarga nisbatan qaysi alohida imkoniyati bilan ajralib turadi?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Kerakli molekulalar joylashuvini to‘qimada tahlil qila oladi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Jarohat yoshini faqat bitta marker bilan aniq beradi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Jarohat yoshini hech qanday statistikasiz aniqlaydi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Postmortem intervalni aniq hisoblab chiqarib beradi</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Tahlilga kiritilgan 46 ta tadqiqotning qancha qismida immunogistokimyo (IHC) va immunofluoressensiya (IF) birga qo‘llangan?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Taxminan 10 foizida (5 ta tadqiqot)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Taxminan 70 foizida (32 ta tadqiqot)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Taxminan 20 foizida (9 ta tadqiqot)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Taxminan 54 foizida (25 ta tadqiqot)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Pichoq jarohatida FVIIIra musbat chiqdi. Shu marker haqida qaysi xulosa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Sezgirligi yuqori, o‘ziga xosligi past; yolg‘iz o‘zi yetarli emas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O‘ziga xosligi yuqori, sezgirligi past; yolg‘iz o‘zi yetarli bo‘ladi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Sezgirligi va o‘ziga xosligi mutlaq; yolg‘iz o‘zi yetarli bo‘ladi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Sezgirligi va o‘ziga xosligi past; hech qanday ma’lumot bermaydi</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Biopsiyada jarohatning post-travmatik intervali 0–1 soat deb taxmin qilinmoqda. Qaysi uchlik odatda musbat bo‘yaladi?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Kollagen III, kollagen V va laminin birikmasi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Fibronektin, CD62p va VIII omil birikmasi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Alfa-SMA, VEGF va TGF-β1 birikmasi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MMP-2, MMP-9 va CD34 birikmasi</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Kondo (1996) tadqiqotiga ko‘ra, TNFα va IL-1β ning asosiy cho‘qqisi qaysi vaqtda kuzatilgan?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Jarohatdan 15 daqiqa o‘tgach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Jarohatdan 12 soat o‘tgach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Jarohatdan 3 soat o‘tgach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Jarohatdan 5 kun o‘tgach</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Inson teri jarohatida CD11c+/HLA-DRα+ dendritik hujayralar soni 50 dan oshdi. Jarohat yoshi qaysi oraliqqa mos?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0 dan 1 soatgacha bo‘lgan oraliq</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1 sutkadan kam bo‘lgan oraliq</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15 daqiqadan 6 soatgacha oraliq</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4 kundan 14 kungacha bo‘lgan oraliq</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Jasaddan olingan namunada mast hujayralar boshqa guruhlarga nisbatan sezilarli kam topildi. Eng ehtimoliy talqin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Jarohat o‘limdan keyin hosil bo‘lgan bo‘lishi mumkin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Jarohat 1–3 soatlik hayotiy jarohat ekani isbotlandi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Jarohat bir necha kunlik, bitish bosqichidagi jarohat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Jarohat 30 daqiqadan oldin hosil bo‘lgan, gistamin oshgan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Jarohat biopsiyasida CD14 ifodasi 96% ga yetgan, dermada makrofag va limfotsitlar keng infiltratsiya qilgan. Bu qaysi jarohat yoshiga mos?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Jarohat 30 daqiqadan kam vaqt oldin hosil bo‘lgan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Jarohat 7–14 sutka oldin hosil bo‘lgan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Jarohat 1–3 sutka oldin hosil bo‘lgan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Jarohat 3 sutkadan ancha oldin hosil bo‘lgan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Gauchotte va hamkorlar tadqiqotiga ko‘ra, FVIIIra jarohat tirikligi markeri sifatida qanday baholanadi?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Sezgirligi 100%, o‘ziga xosligi 47% bo‘lgan sezgir marker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Sezgirligi past, o‘ziga xosligi 100% bo‘lgan aniq marker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Sezgirligi ham, o‘ziga xosligi ham 100% bo‘lgan marker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Faqat 7 sutkadan keyin aniqlanadigan kechki marker</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Jarohat namunasida VEGF (qon tomir endoteliy o‘sish omili) musbat hujayralar ulushi 50% dan yuqori. Bu qaysi jarohat yoshini ko‘rsatishi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Jarohat 4 soatdan 1 sutkagacha bo‘lgan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Jarohat 15 daqiqagacha bo‘lgan eng erta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Jarohat 2 sutkadan 3 sutkagacha bo‘lgan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Jarohat 7 sutkadan 14 sutkagacha bo‘lgan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Teri jarohatida COX-2 (siklooksigenaza-2) musbat hujayralar ulushi 40% dan oshgan. Bu qaysi jarohat yoshiga mos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Jarohat 30 daqiqadan kam vaqt oldingi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Jarohat 8 soatdan 3 sutkagacha bo‘lgan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Jarohat 7 sutkadan 14 sutkagacha bo‘lgan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Jarohat 9 sutkadan 12 sutkagacha bo‘lgan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Jarohat namunasida I va VI tur kollagenlar umuman topilmadi. Betz va hamkorlar bahosiga ko‘ra, bu qanday jarohat yoshini ko‘rsatishi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Jarohat 6–7 sutkadan yosh bo‘lishi mumkin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Jarohat 6–7 sutkadan katta bo‘lishi mumkin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Jarohat taxminan 1,5 oylik bo‘lishi mumkin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Jarohat o‘limdan keyin hosil bo‘lgan bo‘lishi mumkin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Ekspert teri jarohatining yoshini baholamoqda, lekin bitta marker natijasi noaniq chiqdi. Qaysi yondashuv eng ishonchli hisoblanadi?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Faqat eng sezgir bitta markerga tayanish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Bir nechta markerdan iborat panelni qo‘llash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jarohatning tashqi ko‘rinishini baholash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Marker o‘rniga faqat jarohat chuqurligini o‘lchash</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Suyak hujayralarining proteaza va DNaza fermentlari ta’sirida o‘z-o‘zidan yemirilishi qanday ataladi?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Chirish (putrefaksiya)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Diagenez</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Mineralizatsiya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Autoliz</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Laboratoriya tajribasida suyak namunasi ishqor (lye) eritmasiga solindi. Suyakda qanday o‘zgarish kutiladi?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Ilik bo‘shlig‘i mazmuni eriydi, suyak tuzilishi va rangi o‘zgarmaydi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Suyak bir necha soat ichida butunlay erib ketadi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Suyakning mineral qismi dekalsifikatsiyaga uchraydi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Suyak butunligi bir sutkada batamom yo‘qoladi</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Tadqiqotchi dekalsifikatsiyalanmagan, qolipga joylanmagan (non-embedded) suyak kesmasini bo‘yamoqchi. 45 ta bo‘yoqdan nechtasi uchun protokol topilgan?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8 ta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3 ta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2 ta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45 ta</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Bir xil gistologik tasvirni turli mutaxassislar turlicha baholamoqda. Sharhda subyektivlikni kamaytirish uchun qaysi istiqbolli vosita tilga olingan?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Faqat bitta mutaxassis bahosiga tayanish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Sun‘iy intellekt vositalari, masalan Cellpose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Namunani qalinroq kesmalarga ajratib ko‘rish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Bo‘yash bosqichini butunlay olib tashlash</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Jami 46 ta maqola kirdi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Saralashdan keyin 29 ta tadqiqot qoldi. Bibliografiyadan topilgan 17 ta maqola qo‘shilib, jami 46 ta maqola tahlil qilindi.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Luca Tomassini va boshq., Dating Skin Lesions of Forensic Interest by Immunohistochemistry and Immunofluorescence Techniques: A Scoping Literature Review, PMID 38248045-bet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Maqola turi mezoni bo‘yicha: sharh</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Kiritish mezonlariga original maqolalar va kohort tadqiqotlar kiradi. Sharhlar va tizimli sharhlar chiqarish mezoniga kiradi. Inglizcha til, teri namunasi va PTI maqsadi esa kiritish mezonlari hisoblanadi.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Luca Tomassini va boshq., Dating Skin Lesions of Forensic Interest by Immunohistochemistry and Immunofluorescence Techniques: A Scoping Literature Review, PMID 38248045-bet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Travmadan keyingi intervalni (PTI)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Vitallik tasdiqlangach, travmadan keyingi interval (PTI) baholanadi. Bu travma va o‘lim o‘rtasidagi sababiy bog‘liqlikni aniqlash uchun muhim.</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Luca Tomassini va boshq., Dating Skin Lesions of Forensic Interest by Immunohistochemistry and Immunofluorescence Techniques: A Scoping Literature Review, PMID 38248045-bet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63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Kerakli molekulalar joylashuvini to‘qimada tahlil qila oladi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IHC qo‘llash qulayligi va ishonchliligi bilan birga, molekulalar lokalizatsiyasini tahlil qila olishi bilan ham afzal. Sharhda yagona oltin standart yo‘qligi va postmortem intervalni aniq aniqlay olmasligi ta’kidlangan.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Luca Tomassini va boshq., Dating Skin Lesions of Forensic Interest by Immunohistochemistry and Immunofluorescence Techniques: A Scoping Literature Review, PMID 38248045-bet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64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Taxminan 20 foizida (9 ta tadqiqot)</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32 ta (70%) tadqiqotda faqat IHC, 5 ta (10%) da faqat IF, qolgan 9 ta (20%) da ikkalasi birga qo‘llangan. 54,3% esa Yevropada o‘tkazilgan tadqiqotlar ulushi.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Luca Tomassini va boshq., Dating Skin Lesions of Forensic Interest by Immunohistochemistry and Immunofluorescence Techniques: A Scoping Literature Review, PMID 38248045-bet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65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Sezgirligi yuqori, o‘ziga xosligi past; yolg‘iz o‘zi yetarli emas</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FVIIIra sezgirligi 100%, o‘ziga xosligi esa 47% edi. U jarrohlik va nazorat jarohatlarida ham ortiqcha ifodalangan. Shuning uchun u sezgir, lekin o‘ziga xos emas. Erta antemortem jarohatni postmortemdan ajratishda CD15 va triptaza foydaliroq hisoblanadi.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Luca Tomassini va boshq., Dating Skin Lesions of Forensic Interest by Immunohistochemistry and Immunofluorescence Techniques: A Scoping Literature Review, PMID 38248045-bet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66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Fibronektin, CD62p va VIII omil birikmasi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Fibronektin/CD62p/VIII omil va FVIIIra/CD15/triptaza komplekslari erta jarohatda, ayniqsa 0–1 soatda musbat bo‘yalishga moyil. Boshqa variantlar kechroq bosqichlarga xos belgilar.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Luca Tomassini va boshq., Dating Skin Lesions of Forensic Interest by Immunohistochemistry and Immunofluorescence Techniques: A Scoping Literature Review, PMID 38248045-bet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67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Jarohatdan 3 soat o‘tgach</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TNFα va IL-1β ning statistik ahamiyatli cho‘qqisi 3 soatlik intervalda topilgan. IL-1β ning kichikroq cho‘qqisi 6 soatda, IL-6 cho‘qqisi esa 12 soatda kuzatilgan.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Luca Tomassini va boshq., Dating Skin Lesions of Forensic Interest by Immunohistochemistry and Immunofluorescence Techniques: A Scoping Literature Review, PMID 38248045-bet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68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4 kundan 14 kungacha bo‘lgan oraliq</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Kuninaka tadqiqotida dendritik hujayralar soni 50 dan ortiq bo‘lsa, jarohat yoshi 4–14 kunga mos kelishi aytilgan. Bu oraliqni boshqa markerlar bilan birga baholab toraytirish mumkin.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Luca Tomassini va boshq., Dating Skin Lesions of Forensic Interest by Immunohistochemistry and Immunofluorescence Techniques: A Scoping Literature Review, PMID 38248045-bet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69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Jarohat o‘limdan keyin hosil bo‘lgan bo‘lishi mumkin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Bonelli tadqiqotida hayotiy jarohatlarda mast hujayralar 1–3 soatda cho‘qqiga chiqqan. Postmortem holatlarda esa ular boshqa guruhlarga nisbatan sezilarli kam bo‘lgan. Bu hayotiylik bahosiga yordam beradi.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Luca Tomassini va boshq., Dating Skin Lesions of Forensic Interest by Immunohistochemistry and Immunofluorescence Techniques: A Scoping Literature Review, PMID 38248045-bet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70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Jarohat 1–3 sutka oldin hosil bo‘lgan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Fouad va hamkorlar ma’lumotiga ko‘ra, jarohatdan keyingi 1–3 sutkada CD14 ifodasi eng yuqori (96,40 ± 3,78%) bo‘ladi, bu makrofag va limfotsitlarning keng infiltratsiyasiga mos keladi. 3 sutkadan keyin ifoda keskin pasayadi (14,80 ± 3,49%).</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Luca Tomassini va boshq., Dating Skin Lesions of Forensic Interest by Immunohistochemistry and Immunofluorescence Techniques: A Scoping Literature Review, PMID 38248045, 4.3-bo‘lim (Immunity Cells and Factors)-bet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71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Sezgirligi 100%, o‘ziga xosligi 47% bo‘lgan sezgir marker</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FVIIIra sezgirligi 100%, ammo o‘ziga xosligi 47%. U jarrohlik va manfiy nazorat jarohatlarida ham (53%) ortiqcha ifodalangan, shuning uchun sezgir, lekin o‘ziga xos emas. Tirik va o‘limdan keyingi jarohatni ajratishda CD15 va triptaza foydaliroq hisoblanadi.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Luca Tomassini va boshq., Dating Skin Lesions of Forensic Interest by Immunohistochemistry and Immunofluorescence Techniques: A Scoping Literature Review, PMID 38248045, 4.1-bo‘lim (Coagulation Factors)-bet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72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Jarohat 7 sutkadan 14 sutkagacha bo‘lgan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Hayashi va hamkorlar 4 soatdan 1 sutkagacha bo‘lgan namunalarda VEGF ijobiy bo‘lmagan neytrofillarni topgan. VEGF-musbat ulush 50% dan oshsa, jarohat yoshi 7 sutka va undan ko‘p, 14 sutkagacha bo‘lishi mumkin.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Luca Tomassini va boshq., Dating Skin Lesions of Forensic Interest by Immunohistochemistry and Immunofluorescence Techniques: A Scoping Literature Review, PMID 38248045, 4.4-bo‘lim (Growth Factors)-bet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73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Jarohat 8 soatdan 3 sutkagacha bo‘lgan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Ishida va hamkorlar bo‘yicha COX-2 musbat ulushi &gt;40% jarohat yoshi 8 soatdan 3 sutkagacha ekanini ko‘rsatadi, 50% dan yuqori ulush sud-tibbiy ahamiyatga ega bo‘lishi mumkin. 30 daqiqadan yosh jarohatda COX-2 ni faqat bir necha rezident hujayra ifodalaydi.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Luca Tomassini va boshq., Dating Skin Lesions of Forensic Interest by Immunohistochemistry and Immunofluorescence Techniques: A Scoping Literature Review, PMID 38248045, 4.5-bo‘lim (Enzymes)-bet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74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Jarohat 6–7 sutkadan yosh bo‘lishi mumkin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I va VI tur interstitsial kollagenlar odam teri jarohatida doimiy ravishda taxminan 6–7 sutkadan keyin paydo bo‘ladi. Shuning uchun ularning yo‘qligi jarohat yoshi 6–7 sutkadan kam ekanini bildirishi mumkin.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Luca Tomassini va boshq., Dating Skin Lesions of Forensic Interest by Immunohistochemistry and Immunofluorescence Techniques: A Scoping Literature Review, PMID 38248045, 4.6-bo‘lim (Glycoproteins and Basal Membrane Components)-bet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75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Bir nechta markerdan iborat panelni qo‘llash</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Sharhga ko‘ra, ko‘p markerli yondashuv jarohat yoshini aniqlashning eng ishonchli usuli hisoblanadi. Bir nechta marker va usul sezgirlik hamda o‘ziga xoslikni oshiradi, lekin ko‘proq vaqt va murakkablikni talab qiladi.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Luca Tomassini va boshq., Dating Skin Lesions of Forensic Interest by Immunohistochemistry and Immunofluorescence Techniques: A Scoping Literature Review, PMID 38248045-bet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76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Autoliz</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Autoliz — suyak hujayralarining fermentlar (proteaza, DNaza) yordamida o‘z-o‘zini yemirishi. Chirish esa endogen bakteriyalar chaqiradigan parchalanishdir. Suyakning hujayradan tashqari oqsillari, masalan kollagen, autolizga sezgir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Sluis I va boshq., Bone histology for forensic anthropology: a technical review on the advances in microstructural analysis of taphonomically altered buried or subaerially exposed bone, PMID 40637841-bet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77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Ilik bo‘shlig‘i mazmuni eriydi, suyak tuzilishi va rangi o‘zgarmaydi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Ishqor ilik bo‘shlig‘ining mazmunini eritadi, lekin suyak tuzilishi va rangini o‘zgartirmaydi. Mineral qismga asosan kislotali muhit ta’sir qiladi, bu dekalsifikatsiyaga o‘xshaydi.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Sluis I va boshq., Bone histology for forensic anthropology: a technical review on the advances in microstructural analysis of taphonomically altered buried or subaerially exposed bone, PMID 40637841-bet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78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2 ta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Qolipga joylanmagan dekalsifikatsiyalanmagan kesmalar uchun protokol 45 ta bo‘yoqdan faqat 2 tasida bor. Qolipga joylangan kesmalar uchun 8 tasida bor, taphonomik tadqiqotda esa 3 ta bo‘yoq sinalgan.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Sluis I va boshq., Bone histology for forensic anthropology: a technical review on the advances in microstructural analysis of taphonomically altered buried or subaerially exposed bone, PMID 40637841-bet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79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Sun‘iy intellekt vositalari, masalan Cellpose</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Mikroskopik tasvirni baholash asosan sub‘ektiv bo‘ladi. Buni kamaytirish uchun bir nechta ekspert ko‘rishi mumkin, kelajakda esa Cellpose kabi sun‘iy intellekt vositalari qonuniyatlarni aniqlashga va organik va noorganik qismlar nisbatini hisoblashga yordam beradi.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Sluis I va boshq., Bone histology for forensic anthropology: a technical review on the advances in microstructural analysis of taphonomically altered buried or subaerially exposed bone, PMID 40637841-bet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Foydalanilgan manbalar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80 / 80</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2000">
                <a:solidFill>
                  <a:srgbClr val="1F2937"/>
                </a:solidFill>
                <a:latin typeface="Calibri"/>
              </a:rPr>
              <a:t>▸  Luca Tomassini va boshq. Dating Skin Lesions of Forensic Interest by Immunohistochemistry and Immunofluorescence Techniques: A Scoping Literature Review, Diagnostics. 2024. PMID 38248045; DOI 10.3390/diagnostics14020168</a:t>
            </a:r>
          </a:p>
          <a:p>
            <a:pPr>
              <a:spcAft>
                <a:spcPts val="1200"/>
              </a:spcAft>
            </a:pPr>
            <a:r>
              <a:rPr sz="2000">
                <a:solidFill>
                  <a:srgbClr val="1F2937"/>
                </a:solidFill>
                <a:latin typeface="Calibri"/>
              </a:rPr>
              <a:t>▸  Sluis I va boshq. Bone histology for forensic anthropology: a technical review on the advances in microstructural analysis of taphonomically altered buried or subaerially exposed bone, International Journal of Legal Medicine. 2025. PMID 40637841; DOI 10.1007/s00414-025-03536-9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