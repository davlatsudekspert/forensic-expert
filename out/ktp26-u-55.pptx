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Nega gistologik usul sud-tibbiyotda vaqtni baholashda qo‘llanadi? 2) Teri va suyak qanday farq qiladi? Doskada: mavzu nomini yozib, ikki shoxli sxema (teri – IHC, suyak – bo‘yash) chizdiring. Tipik xato: IHC ni faqat teriga, bo‘yash usullarini faqat suyakka xos deb o‘ylash va ularning maqsadini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Vitallikni aniqlash nega PTI dan oldin keladi? 2) PMI va BI qanday farqlanadi? Doskada: teri va suyak ustunli jadvalni o‘zlari chizsin. Tipik xato: PTI (jarohatdan keyingi vaqt) bilan PMI (o‘limdan keyingi vaqt) ni aralashtirish: PTI ≠ PMI.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Oltin standart yo‘qligi amaliyotga qanday ta’sir qiladi? 2) Nega molekulalar lokalizatsiyasi muhim? Doskada: ‘IHC afzalliklari’ ro‘yxatini (marker tanlovi, qulaylik, ishonchlilik, lokalizatsiya) yozdiring. Tipik xato: IHC ni ‘oltin standart’ deb hisoblash; manbada bunday standart yo‘qligi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avval vitallik, keyin PTI aniqlanadi? 2) PTI sababiy bog‘liqlik uchun nimani beradi? Doskada: to‘rt bosqichli zanjirni chizdiring. Tipik xato: vitallik va jarohat yoshini bir narsa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necha tadqiqotchi mustaqil baholaydi? 2) Ikki bazadan qidirishning afzalligi nima? Doskada: 326 dan 46 gacha saralash voronkasini chizdiring. Tipik xato: sharhni yangi tajriba deb tushunish; bu mavjud adabiyot tahlili.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sharh maqolalar chiqarib tashlandi? 2) Hayvon namunalarini kiritish qanday foyda beradi? Doskada: to‘rt qatorli mezon jadvalini ko‘chiring. Tipik xato: IF ni IHC dan butunlay alohida va mezondan tashqari deb o‘ylash; ikkalasi ham kiritilgan.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ko‘p markerli tadqiqotlar ko‘proq uchraydi? 2) Statistik tahlilsiz tadqiqotga qanchalik ishonish mumkin? Doskada: 326 dan 46 gacha torayuvchi voronka chizing. Tipik xato: 46 ta maqolani faqat qidiruv natijasi deb o‘ylash; 17 tasi ro‘yxatlardan qo‘shilgan.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Sharhlarni chiqarish nima uchun kerak (ikkilamchi ma’lumot)? 2) Teri o‘rniga boshqa to‘qimani olsak natija qanday o‘zgaradi? Doskada: chiqarish sabablarini ustunli diagramma shaklida chizdiring. Tipik xato: dublikatlarni ham ‘boshqa usul’ toifasiga qo‘shib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javobni yopiq daftarda yozsin, so‘ng birgalikda tekshiring. Muhokama: PTI va PMI (o‘lim vaqti) farqi nimada? Doskada: vaqt chizig‘ida jarohat – o‘lim – ekspertiza nuqtalarini belgilang, PTI oralig‘ini ko‘rsating. Tipik xato: PTI ni post-mortem interval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markerlar vaqt zanjiriga bog‘lanadi? 2) Qaysi bosqichda qaysi hujayra ustun bo‘ladi? Doskada: 5 bosqichli zanjirni chizib, har bosqich ostiga mumkin bo‘lgan marker guruhini yozdiring. Tipik xato: bosqichlarni qat’iy ajratilgan deb o‘ylash; ular bir-birining ustiga chiqadi.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nazorat sifatida jarohatsiz teri olinadi? 2) Ballik tizim oddiy sanashdan nimasi bilan yaxshi? Doskada: PTI o‘qini chizib, 0–1 soat oralig‘ini belgilang. Tipik xato: bu markerlar kechki jarohat yoshini ham aniqlaydi deb o‘ylash; manbada ular erta davr uchun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Sezgirlik va o‘ziga xoslik farqi nima? 2) FVIIIra jarrohlik jarohatida ham oshsa, ekspertizada qanday xavf tug‘iladi? Doskada: ikki ustunli chizma bilan sezgirlik (100%) va o‘ziga xoslik (47%) ni solishtiring. Tipik xato: sezgirlik va o‘ziga xoslikni bir narsa deb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Sezgirlik 100% bo‘lsa, nega marker yolg‘iz o‘zi yetarli emas? 2) Nazorat jarohatlarida musbat natija nimani anglatadi? Doskada: ikki ustunli ‘sezgirlik / o‘ziga xoslik’ sxemasini chizdiring va FVIIIra, CD15, triptazani joylashtiring. Tipik xato: ‘marker musbat bo‘lsa, jarohat albatta tirik’ deb o‘ylash. Talabalarga yuqori sezgirlik faqat kasallikni o‘tkazib yubormaslikni bildirishini, tasdiqlash uchun o‘ziga xoslik kerakligini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sitokin cho‘qqisi o‘rniga bir nechta sitokin birga baholanadi? 2) IL-1β ning ikki cho‘qqisi nimani anglatishi mumkin? Doskada: 0 dan 24 soatgacha vaqt o‘qini chizib, TNFα, IL-1β va IL-6 cho‘qqilarini belgilang. Tipik xato: IL-6 ni erta marker deb o‘ylash. Aslida u 12 soatda cho‘qqiga chiqadi, TNFα va IL-1β esa 3 soatda.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Neytrofillardan makrofaglarga o‘tish jarohat yoshini baholashda qanday yordam beradi? 2) IL-1α ning 30% chegarasi nimani ko‘rsatadi? Doskada: neytrofil (0–12 soat) dan makrofag va fibroblastga o‘tish strelkasini chizib, har bosqichga mos markerlarni yozing. Tipik xato: 30% chegarasini aniq yosh deb qabul qilish. U faqat ‘bir sutka yoki kamroq’ degan ehtimoliy ko‘rsatkich.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limfotsitlar makrofaglardan oldinroq cho‘qqiga chiqadi deb o‘ylaysiz? 2) Bitta hujayra turi yoshni aniq berishi mumkinmi? Doskada: vaqt o‘qini (0–10 kun) chizib, uch hujayraning cho‘qqi oraliqlarini turli rangda belgilang. Tipik xato: IL-8 ni yosh markeri deb hisoblash; manbada u epidermisda yosh bilan bog‘liq emas. Eslab qoling: avval limfotsit va neytrofil, keyin makrofag. CD45 = limfotsit, CD68 = makrofag.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Yagi (1–5 kun) va Fouad (1–3 kun) oraliqlari farq qilishi mumkin? 2) Dendritik hujayralar &gt;50 qanday holatda foydali? Doskada: CD14 uchun ikki mualliflning oraliqlarini ikki parallel chiziq bilan chizib, farqni ko‘rsating. Tipik xato: CD14 oraliqlarini bir xil deb yodlash; manbada Yagi 1–5, Fouad 1–3 kun. Dendritik hujayralar chegarasi (&gt;50) faqat 4–14 kun uchun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Mast hujayralarning o‘limdan keyin kamayishi hayotiylikni baholashda nimani bildiradi? 2) VCAM-1 nega yolg‘iz yetarli emas va qanday markerlar bilan birga qo‘llanadi? Doskada: 0–6 soatlik qisqa vaqt chizig‘ida gistamin (30 daqiqagacha), mast hujayra (1–3 soat) va VCAM-1 (4–6 soat) nuqtalarini belgilang. Tipik xato: VCAM-1 ni yagona marker sifatida yosh aniqlashda ishlatish; manbada bu yetarli emas deyilgan.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CD14 yuqori bo‘lsa, nega 1–3 kun va 1–5 kun diapazonlari farq qiladi? 2) Nega marker paneli kerak? Doskada: vaqt o‘qini chizib, CD14 cho‘qqisi va uchlik musbat oralig‘ini belgilang. Tipik xato: bitta markerga tayanib aniq soat yoki kun aytish.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Talabalar javobni yozib, so‘ng guruhda tekshiradi. Muhokama: sezgirlik va o‘ziga xoslik farqi nimada? FVIIIra qachon yordam beradi? Doskada: erta (0–1 soat) va kech (4–14 kun) markerlarini ikki ustunga ajrating. Tipik xato: sezgirlikni o‘ziga xoslik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Nega TGF erta, VEGF kech omil hisoblanadi? 2) Hayvon (kalamush) ma’lumotini odamga o‘tkazishda nimani hisobga olish kerak? Doskada: daqiqalardan kunlargacha vaqt chizig‘ini chizib, omillarni joylashtiring. Tipik xato: TGF-α va TGF-β1 o‘zaro bog‘liq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ferment o‘rniga markerlar paneli ishonchliroq? 2) MMP-9 uchun manbadagi ikki xil oraliq (4–14 va 3–14 kun) nimani anglatadi? Doskada: to‘rt qatorli chegaralar jadvalini ko‘chirib chizdiring va vaqt o‘qida joylashtiring. Tipik xato: MMP-2 (9–12 kun) va MMP-9 (3–14 kun) chegaralarini, hujayra sonlarini (25 va 30) almashtirib yuborish. MMP — matriks metalloproteinaza.</a:t>
            </a:r>
          </a:p>
          <a:p/>
          <a:p>
            <a:r>
              <a:t>Tekshirish kerak (manbada noaniq):</a:t>
            </a:r>
          </a:p>
          <a:p>
            <a:r>
              <a:t>- MMP-2+ va MMP-9+ makrofaglar yara yoshi bilan ko‘payadi; MMP-9 oralig‘i manbada 4–14 va 3–14 kun deb berilgan.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Kollagen I va VI yo‘qligi nimadan dalolat beradi? 2) Interstitsial va bazal membrana kollagenlari qanday farqlanadi? Doskada: 0 dan 8+ kungacha vaqt chizig‘ini chizib, III, V, VII, I/VI paydo bo‘lish nuqtalarini belgilang. Tipik xato: kollagen VII ni interstitsial deb o‘ylash (u bazal membranaga xos). Eslab qoling: interstitsial — I, III, V, VI; bazal membrana — IV va VII.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Fibronektin musbat bo‘lsa, jarohat vital deb aytish mumkinmi? Passiv transudatsiya nimani o‘zgartiradi? 2) Nega laminin HSPG ga qaraganda foydaliroq? Doskada: miofibroblast atrofida laminin va HSPG joylashuvini sodda sxema qilib chizdiring, ~5 kun va 1,5 kun belgilarini yozing. Tipik xato: α-SMA ni yara yoshining aniq o‘lchovi deb hisoblash (u faqat taxminan 5 kun va undan ko‘p degan ma’no beradi). Qisqa voqea: yara namunasida fibronektin kuchli musbat — qanday qo‘shimcha markerlar kerak?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ORP150 va AQP3 faqat kechroq bosqichlar uchun qulay? 2) CHI3L1 7–13-kunlarda nega kamayadi deb o‘ylaysiz? Doskada chizish: yuqoridagi jadvalni 4 qator qilib ko‘chiring va har markerga kun o‘qini chizing. Tipik xato: AQP3 ko‘rsatkichini (&gt;300) ORP150 ulushi (&gt;50%) bilan aralashtirish – biri hujayralar soni, ikkinchisi foiz.</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guruh eng erta jarohatni ajratadi? 2) Nega bir nechta guruhni birga qo‘llash aniqroq natija beradi? Doskada chizish: 0 dan 14 kungacha vaqt o‘qini chizib, har guruh oralig‘ini rangli chiziq bilan belgilang. Tipik xato: dendritik hujayralar (14 kungacha) oralig‘ini butun sitokin guruhiga umumlashtirish.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Ikki markerning oraliqlari qanday kesishadi? 2) Qo‘shimcha qaysi marker (masalan, CD14 yoki MMP-9) xulosani toraytirishi mumkin? Doskada chizish: COX-2 (8 soat–3 kun) va kollagen I/VI yo‘qligi (&lt;6–7 kun) oraliqlarini bitta o‘qda chizib, kesishmasini bo‘yang. Tipik xato: kollagen yo‘qligini ‘jarohat juda yangi’ deb xulosa qilish – u faqat 6–7 kundan yoshroq degani, 8 soat–3 kun oralig‘ini COX-2 beradi.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bitta marker o‘rniga panel ishonchliroq? 2) Panelning kamchiligi nima? Doskada chizish: «bitta marker» va «marker paneli» ustunlari bilan ikki tomonlama afzallik/kamchilik jadvali. Tipik xato: talabalar IHC/IF jarohat yoshi va o‘limdan keyingi intervalni bir xil narsa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 xil ko‘milish muddatida suyak holati har xil bo‘lishi mumkin? 2) Qaysi muhit omillari diagenezni tezlashtiradi? Doskada chizish: zanjirni chizib, har bosqichga bitta muhit omilini yozing. Tipik xato: diagenezni faqat vaqtga bog‘liq jarayon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suv muhitidagi parchalanish chiqarib tashlangan? 2) Dekaltsifikatsiya nimani yo‘qotadi? Doskaga chizing: 13 maqola taqsimoti. Tipik xato: 45 ta bo‘yoqning hammasi PMI uchun sinalgan deb o‘ylash (faqat 3 tasi sinalgan).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Autoliz va chirishning farqi nimada? 2) Tunnel turlari qaysi mikroorganizmlarga bog‘liq? Doskada chizish: suyak tarkibi (organik, noorganik, suv) va tunnel turlari ro‘yxati bilan sxema. Tipik xato: kollagenni autolizda parchalanadi deb o‘ylash; aslida u autolizga chidamli, uni mikrob kollagenazalari parchalaydi.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laboratoriya tajribalari uzoq muddatli tabiiy diagenezni aks ettirmaydi? (2) Kislota va ishqor suyakning qaysi qismiga ta’sir qiladi? Doskada: jadvalni ko‘chirib, har muhit uchun ’mineral’ yoki ’ilik bo‘shlig‘i’ deb belgilang. Tipik xato: ishqor ham suyak mineralini eritadi deb o‘ylash; manbada ishqor tuzilma va rangni o‘zgartirmaydi. Diqqat: HCl bilan qisqa muddatli tajriba ≠ yerdagi uzoq muddatli diagenez.</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aynan dekaltsifikatsiyalanmagan kesmalar tanlangan? (2) Protokolning kamligi amaliyotga qanday to‘sqinlik qiladi? Doskada: 45 ni 3 va 42 ga bo‘luvchi oddiy sxema chizing. Tipik xato: ’embedded’ (joylangan) va ’non-embedded’ (joylanmagan) kesmalarni chalkashtirish; protokol soni 8 va 2, sinalganlar soni esa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Indeks nega PMI ni aniq bermaydi? 2) Matriks yo‘qolishi nega davrga bog‘lanmadi? Doskaga chizing: bo‘yoq-maqsad moslik daraxti. Tipik xato: butunlik indeksini o‘limdan keyingi vaqt bilan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HE yaxlitlik indeksi uchun yaroqli, lekin PMI uchun hozircha yaramaydi? (2) Nima uchun PMI modeli muhitga xos bo‘lishi kerak? Doskada: yaxlitlik indeksi = osteotsit yadrolari / bo‘shliqlar nisbatini yozing. Tipik xato: bo‘yoq natijasini darhol aniq PMI deb talqin qilish; manbada u faqat dastlabki maslahat sifatida tavsiya etiladi. Diqqat: HE ≠ PMI hisoblash vositasi.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Indeks nimani ko‘rsatadi va nimani ko‘rsatmaydi? 2) Qaysi tashqi omillar (tuproq, harorat, namlik) natijani buzishi mumkin? Doskada: ‘yadro soni / lakuna soni’ kasrini chizing va ko‘milish davri bilan teskari bog‘liqlik strelkasini ko‘rsating. Tipik xato: past indeksni to‘g‘ridan-to‘g‘ri aniq PMI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Sub‘ektivlikni kamaytirishning qanday yo‘llari bor? 2) AI sudda qanday sifat talablariga javob berishi kerak? Doskada: kompakt va g‘ovak suyak uchun ikki ustunli ‘bo‘yalish farqi’ sxemasini chizing. Tipik xato: barcha suyak turlarida bir xil bo‘yalish kutish.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bitta marker o‘rniga panel afzal? 2) Suyak gistologiyasi sudga taqdim etilishidan oldin qanday tasdiqlash kerak? Doskada: ikki ustunli xulosa jadvali (teri | suyak) va har biriga ‘bor’ hamda ‘yetishmaydi’ qatorini yozing. Tipik xato: teri va suyak natijalarini aralashtirish yoki ‘istiqbolli’ ni ‘tasdiqlangan’ deb tushunish.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Gistologik usulning potentsiallari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gistologik usul va uning sud-tibbiy o‘rni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Mikroskopiya suyakning o‘limdan keyingi buzilishini mikrostruktura darajasida baholashga imkon beradi.</a:t>
            </a:r>
          </a:p>
          <a:p>
            <a:pPr>
              <a:spcAft>
                <a:spcPts val="1200"/>
              </a:spcAft>
            </a:pPr>
            <a:r>
              <a:rPr sz="2200">
                <a:solidFill>
                  <a:srgbClr val="1F2937"/>
                </a:solidFill>
                <a:latin typeface="Calibri"/>
              </a:rPr>
              <a:t>▸  Teri jarohatlarida immunogistokimyo (IHC) biokimyo va molekulyar biologiya qatori jarohat yoshini o‘rganishda eng ko‘p qo‘llanadigan usullardandir.</a:t>
            </a:r>
          </a:p>
          <a:p>
            <a:pPr>
              <a:spcAft>
                <a:spcPts val="1200"/>
              </a:spcAft>
            </a:pPr>
            <a:r>
              <a:rPr sz="2200">
                <a:solidFill>
                  <a:srgbClr val="1F2937"/>
                </a:solidFill>
                <a:latin typeface="Calibri"/>
              </a:rPr>
              <a:t>▸  Suyakda yupqa kesmalar bo‘yaladi, shunda tafonomik (o‘limdan keyingi muhit ta’siridagi) o‘zgarishga uchraydigan kollagen va osteotsitlar ko‘rinadi.</a:t>
            </a:r>
          </a:p>
          <a:p>
            <a:pPr>
              <a:spcAft>
                <a:spcPts val="1200"/>
              </a:spcAft>
            </a:pPr>
            <a:r>
              <a:rPr sz="2200">
                <a:solidFill>
                  <a:srgbClr val="1F2937"/>
                </a:solidFill>
                <a:latin typeface="Calibri"/>
              </a:rPr>
              <a:t>▸  Suyak sharhida 45 ta istiqbolli bo‘yoq aniqlangan, ammo tafonomik tadqiqotlarda ularning faqat 3 tasi sinalgan.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Gistologik usulning sud-tibbiy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Teri: avval jarohat tirik paytda hosil bo‘lganini (vitalligi) aniqlash muhim.</a:t>
            </a:r>
          </a:p>
          <a:p>
            <a:pPr>
              <a:spcAft>
                <a:spcPts val="800"/>
              </a:spcAft>
            </a:pPr>
            <a:r>
              <a:rPr sz="1800">
                <a:solidFill>
                  <a:srgbClr val="1F2937"/>
                </a:solidFill>
                <a:latin typeface="Calibri"/>
              </a:rPr>
              <a:t>▸  Vitallik tasdiqlansa, jarohatdan keyingi vaqt (PTI) travma va o‘lim bog‘liqligini asoslaydi.</a:t>
            </a:r>
          </a:p>
          <a:p>
            <a:pPr>
              <a:spcAft>
                <a:spcPts val="800"/>
              </a:spcAft>
            </a:pPr>
            <a:r>
              <a:rPr sz="1800">
                <a:solidFill>
                  <a:srgbClr val="1F2937"/>
                </a:solidFill>
                <a:latin typeface="Calibri"/>
              </a:rPr>
              <a:t>▸  Suyak: o‘zgarishlar o‘limdan keyingi vaqt (PMI) yoki ko‘milish davri (BI) bilan bog‘liq bo‘lishi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Teri jarohati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Usul: IHC va immunoflyuoressensiya (IF)</a:t>
            </a:r>
          </a:p>
          <a:p>
            <a:pPr algn="l">
              <a:spcAft>
                <a:spcPts val="700"/>
              </a:spcAft>
            </a:pPr>
            <a:r>
              <a:rPr sz="1500" b="1">
                <a:solidFill>
                  <a:srgbClr val="C9A227"/>
                </a:solidFill>
                <a:latin typeface="Calibri"/>
              </a:rPr>
              <a:t>●  </a:t>
            </a:r>
            <a:r>
              <a:rPr sz="1500" b="0">
                <a:solidFill>
                  <a:srgbClr val="1F2937"/>
                </a:solidFill>
                <a:latin typeface="Calibri"/>
              </a:rPr>
              <a:t>Aniqlanadi: vitallik va PTI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Suyak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Usul: yupqa kesmani bo‘yash</a:t>
            </a:r>
          </a:p>
          <a:p>
            <a:pPr algn="l">
              <a:spcAft>
                <a:spcPts val="700"/>
              </a:spcAft>
            </a:pPr>
            <a:r>
              <a:rPr sz="1500" b="1">
                <a:solidFill>
                  <a:srgbClr val="C9A227"/>
                </a:solidFill>
                <a:latin typeface="Calibri"/>
              </a:rPr>
              <a:t>●  </a:t>
            </a:r>
            <a:r>
              <a:rPr sz="1500" b="0">
                <a:solidFill>
                  <a:srgbClr val="1F2937"/>
                </a:solidFill>
                <a:latin typeface="Calibri"/>
              </a:rPr>
              <a:t>Aniqlanadi: PMI yoki BI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ob’ekt: teri va suyak</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yoshini baholash muammosi va IHC afzalligi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yoshini baholash sud patologiyasida muhim muammo: oltin standart tizim taklif etilmagan, aniq vaqtni belgilash hamon qiyin.</a:t>
            </a:r>
          </a:p>
          <a:p>
            <a:pPr>
              <a:spcAft>
                <a:spcPts val="1200"/>
              </a:spcAft>
            </a:pPr>
            <a:r>
              <a:rPr sz="2200">
                <a:solidFill>
                  <a:srgbClr val="1F2937"/>
                </a:solidFill>
                <a:latin typeface="Calibri"/>
              </a:rPr>
              <a:t>▸  IHC bo‘yicha adabiyotda dalillar ko‘p; keng marker tanlovi (to‘qima molekulalari, sitokinlar, o‘sish omillari) vitallikni aniqlashga yordam beradi.</a:t>
            </a:r>
          </a:p>
          <a:p>
            <a:pPr>
              <a:spcAft>
                <a:spcPts val="1200"/>
              </a:spcAft>
            </a:pPr>
            <a:r>
              <a:rPr sz="2200">
                <a:solidFill>
                  <a:srgbClr val="1F2937"/>
                </a:solidFill>
                <a:latin typeface="Calibri"/>
              </a:rPr>
              <a:t>▸  IHC qulay, ishonchli va boshqa usullardan farqli ravishda kerakli molekulalar joylashuvini (lokalizatsiyasini) tahlil qila oladi.</a:t>
            </a:r>
          </a:p>
          <a:p>
            <a:pPr>
              <a:spcAft>
                <a:spcPts val="1200"/>
              </a:spcAft>
            </a:pPr>
            <a:r>
              <a:rPr sz="2200">
                <a:solidFill>
                  <a:srgbClr val="1F2937"/>
                </a:solidFill>
                <a:latin typeface="Calibri"/>
              </a:rPr>
              <a:t>▸  Diqqat: IHC natijalari ba’zan bir-biriga zid; bitta marker emas, marker paneli jarohat yoshini aniqlashda ishonchliroq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Vitallik va PTI: nima uchun muhim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Vital jarohat tirikligida hosil bo‘ladi; uni o‘limdan keyingi teri o‘zgarishidan ajratish asosiy vazifa.</a:t>
            </a:r>
          </a:p>
          <a:p>
            <a:pPr>
              <a:spcAft>
                <a:spcPts val="800"/>
              </a:spcAft>
            </a:pPr>
            <a:r>
              <a:rPr sz="1800">
                <a:solidFill>
                  <a:srgbClr val="1F2937"/>
                </a:solidFill>
                <a:latin typeface="Calibri"/>
              </a:rPr>
              <a:t>▸  Vitallik tasdiqlangach, jarohatdan keyingi interval (PTI, post-trauma interval) baholanadi.</a:t>
            </a:r>
          </a:p>
          <a:p>
            <a:pPr>
              <a:spcAft>
                <a:spcPts val="800"/>
              </a:spcAft>
            </a:pPr>
            <a:r>
              <a:rPr sz="1800">
                <a:solidFill>
                  <a:srgbClr val="1F2937"/>
                </a:solidFill>
                <a:latin typeface="Calibri"/>
              </a:rPr>
              <a:t>▸  Diqqat: vitallik ≠ PTI. Jarohat yoshini baholashning oltin standarti hali taklif etilmagan.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Teri jarohati aniqlandi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Vitallik: tirikligidami?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PTI baholanadi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Jarohat–o‘lim sababiy aloqasi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Vitallikdan PTI gacha zanjir</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Sharh metodikasi: qidiruv va PRISMA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Qidiruv 2023-yil 18-fevralda boshlandi: PubMed va Scopus, 1973–2022-yillardagi maqolalar.</a:t>
            </a:r>
          </a:p>
          <a:p>
            <a:pPr>
              <a:spcAft>
                <a:spcPts val="800"/>
              </a:spcAft>
            </a:pPr>
            <a:r>
              <a:rPr sz="1800">
                <a:solidFill>
                  <a:srgbClr val="1F2937"/>
                </a:solidFill>
                <a:latin typeface="Calibri"/>
              </a:rPr>
              <a:t>▸  Immunohistokimyo (IHC), immunofluoressensiya (IF) o‘rganildi; PRISMA (hisobot qoidalari) asos bo‘ldi.</a:t>
            </a:r>
          </a:p>
          <a:p>
            <a:pPr>
              <a:spcAft>
                <a:spcPts val="800"/>
              </a:spcAft>
            </a:pPr>
            <a:r>
              <a:rPr sz="1800">
                <a:solidFill>
                  <a:srgbClr val="1F2937"/>
                </a:solidFill>
                <a:latin typeface="Calibri"/>
              </a:rPr>
              <a:t>▸  Maqolalarni uch tadqiqotchi mustaqil baholadi; kelishmovchilik kelishuv orqali hal qilindi.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PubMed va Scopus qidiruvi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326 ta maqola topildi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Mezonlar bo‘yicha saralash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29 ta maqola + bibliografiyadan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Jami 46 ta maqola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Maqolalarni saralash yo‘li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Kiritish va chiqarish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Kiritish: ingliz tilidagi original, prospektiv va retrospektiv kohort tadqiqotlar.</a:t>
            </a:r>
          </a:p>
          <a:p>
            <a:pPr>
              <a:spcAft>
                <a:spcPts val="800"/>
              </a:spcAft>
            </a:pPr>
            <a:r>
              <a:rPr sz="1800">
                <a:solidFill>
                  <a:srgbClr val="1F2937"/>
                </a:solidFill>
                <a:latin typeface="Calibri"/>
              </a:rPr>
              <a:t>▸  Namuna: murda terisi, tirik odam biopsiyasi hamda sichqon, kalamush va cho‘chqa terisi.</a:t>
            </a:r>
          </a:p>
          <a:p>
            <a:pPr>
              <a:spcAft>
                <a:spcPts val="800"/>
              </a:spcAft>
            </a:pPr>
            <a:r>
              <a:rPr sz="1800">
                <a:solidFill>
                  <a:srgbClr val="1F2937"/>
                </a:solidFill>
                <a:latin typeface="Calibri"/>
              </a:rPr>
              <a:t>▸  Chiqarish: ingliz tilida bo‘lmagan, sharh maqolalar va IHC dan boshqa usullar.</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Kiritildi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Ingliz tilidagi to‘liq matn</a:t>
            </a:r>
          </a:p>
          <a:p>
            <a:pPr algn="l">
              <a:spcAft>
                <a:spcPts val="700"/>
              </a:spcAft>
            </a:pPr>
            <a:r>
              <a:rPr sz="1500" b="1">
                <a:solidFill>
                  <a:srgbClr val="C9A227"/>
                </a:solidFill>
                <a:latin typeface="Calibri"/>
              </a:rPr>
              <a:t>●  </a:t>
            </a:r>
            <a:r>
              <a:rPr sz="1500" b="0">
                <a:solidFill>
                  <a:srgbClr val="1F2937"/>
                </a:solidFill>
                <a:latin typeface="Calibri"/>
              </a:rPr>
              <a:t>Original, prospektiv/retrospektiv kohort</a:t>
            </a:r>
          </a:p>
          <a:p>
            <a:pPr algn="l">
              <a:spcAft>
                <a:spcPts val="700"/>
              </a:spcAft>
            </a:pPr>
            <a:r>
              <a:rPr sz="1500" b="1">
                <a:solidFill>
                  <a:srgbClr val="C9A227"/>
                </a:solidFill>
                <a:latin typeface="Calibri"/>
              </a:rPr>
              <a:t>●  </a:t>
            </a:r>
            <a:r>
              <a:rPr sz="1500" b="0">
                <a:solidFill>
                  <a:srgbClr val="1F2937"/>
                </a:solidFill>
                <a:latin typeface="Calibri"/>
              </a:rPr>
              <a:t>IHC va IF orqali PTI aniqlash</a:t>
            </a:r>
          </a:p>
          <a:p>
            <a:pPr algn="l">
              <a:spcAft>
                <a:spcPts val="700"/>
              </a:spcAft>
            </a:pPr>
            <a:r>
              <a:rPr sz="1500" b="1">
                <a:solidFill>
                  <a:srgbClr val="C9A227"/>
                </a:solidFill>
                <a:latin typeface="Calibri"/>
              </a:rPr>
              <a:t>●  </a:t>
            </a:r>
            <a:r>
              <a:rPr sz="1500" b="0">
                <a:solidFill>
                  <a:srgbClr val="1F2937"/>
                </a:solidFill>
                <a:latin typeface="Calibri"/>
              </a:rPr>
              <a:t>Odam va tajriba hayvonlari terisi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Chiqarildi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Ingliz tilida bo‘lmagan</a:t>
            </a:r>
          </a:p>
          <a:p>
            <a:pPr algn="l">
              <a:spcAft>
                <a:spcPts val="700"/>
              </a:spcAft>
            </a:pPr>
            <a:r>
              <a:rPr sz="1500" b="1">
                <a:solidFill>
                  <a:srgbClr val="C9A227"/>
                </a:solidFill>
                <a:latin typeface="Calibri"/>
              </a:rPr>
              <a:t>●  </a:t>
            </a:r>
            <a:r>
              <a:rPr sz="1500" b="0">
                <a:solidFill>
                  <a:srgbClr val="1F2937"/>
                </a:solidFill>
                <a:latin typeface="Calibri"/>
              </a:rPr>
              <a:t>Sharh va tizimli sharhlar</a:t>
            </a:r>
          </a:p>
          <a:p>
            <a:pPr algn="l">
              <a:spcAft>
                <a:spcPts val="700"/>
              </a:spcAft>
            </a:pPr>
            <a:r>
              <a:rPr sz="1500" b="1">
                <a:solidFill>
                  <a:srgbClr val="C9A227"/>
                </a:solidFill>
                <a:latin typeface="Calibri"/>
              </a:rPr>
              <a:t>●  </a:t>
            </a:r>
            <a:r>
              <a:rPr sz="1500" b="0">
                <a:solidFill>
                  <a:srgbClr val="1F2937"/>
                </a:solidFill>
                <a:latin typeface="Calibri"/>
              </a:rPr>
              <a:t>IHC dan boshqa usullar</a:t>
            </a:r>
          </a:p>
          <a:p>
            <a:pPr algn="l">
              <a:spcAft>
                <a:spcPts val="700"/>
              </a:spcAft>
            </a:pPr>
            <a:r>
              <a:rPr sz="1500" b="1">
                <a:solidFill>
                  <a:srgbClr val="C9A227"/>
                </a:solidFill>
                <a:latin typeface="Calibri"/>
              </a:rPr>
              <a:t>●  </a:t>
            </a:r>
            <a:r>
              <a:rPr sz="1500" b="0">
                <a:solidFill>
                  <a:srgbClr val="1F2937"/>
                </a:solidFill>
                <a:latin typeface="Calibri"/>
              </a:rPr>
              <a:t>Teridan boshqa to‘qima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Kiritish va chiqarish mezonlari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 maqolalarni saralash va usullar ulushi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326 maqoladan (PubMed 288, Scopus 38) 29 tasi kiritildi; ro‘yxatlardan qo‘shilib jami 46 ta bo‘ldi.</a:t>
            </a:r>
          </a:p>
          <a:p>
            <a:pPr>
              <a:spcAft>
                <a:spcPts val="800"/>
              </a:spcAft>
            </a:pPr>
            <a:r>
              <a:rPr sz="1800">
                <a:solidFill>
                  <a:srgbClr val="1F2937"/>
                </a:solidFill>
                <a:latin typeface="Calibri"/>
              </a:rPr>
              <a:t>▸  25 tadqiqotda ko‘p markerli, 21 tasida bitta markerli yondashuv qo‘llangan.</a:t>
            </a:r>
          </a:p>
          <a:p>
            <a:pPr>
              <a:spcAft>
                <a:spcPts val="800"/>
              </a:spcAft>
            </a:pPr>
            <a:r>
              <a:rPr sz="1800">
                <a:solidFill>
                  <a:srgbClr val="1F2937"/>
                </a:solidFill>
                <a:latin typeface="Calibri"/>
              </a:rPr>
              <a:t>▸  31 tadqiqotda statistik tahlil bo‘lgan, 15 tasida faqat sifat kuzatuvlari berilgan.</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Faqat IHC</a:t>
            </a:r>
          </a:p>
          <a:p>
            <a:pPr algn="l">
              <a:spcAft>
                <a:spcPts val="100"/>
              </a:spcAft>
            </a:pPr>
            <a:r>
              <a:rPr sz="3000" b="1">
                <a:solidFill>
                  <a:srgbClr val="0B1F3A"/>
                </a:solidFill>
                <a:latin typeface="Calibri"/>
              </a:rPr>
              <a:t>32 (70 %)</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Faqat IF</a:t>
            </a:r>
          </a:p>
          <a:p>
            <a:pPr algn="l">
              <a:spcAft>
                <a:spcPts val="100"/>
              </a:spcAft>
            </a:pPr>
            <a:r>
              <a:rPr sz="3000" b="1">
                <a:solidFill>
                  <a:srgbClr val="0B1F3A"/>
                </a:solidFill>
                <a:latin typeface="Calibri"/>
              </a:rPr>
              <a:t>5 (10 %)</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IHC va IF birga</a:t>
            </a:r>
          </a:p>
          <a:p>
            <a:pPr algn="l">
              <a:spcAft>
                <a:spcPts val="100"/>
              </a:spcAft>
            </a:pPr>
            <a:r>
              <a:rPr sz="3000" b="1">
                <a:solidFill>
                  <a:srgbClr val="0B1F3A"/>
                </a:solidFill>
                <a:latin typeface="Calibri"/>
              </a:rPr>
              <a:t>9 (20 %)</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Topilgan maqola</a:t>
            </a:r>
          </a:p>
          <a:p>
            <a:pPr algn="l">
              <a:spcAft>
                <a:spcPts val="100"/>
              </a:spcAft>
            </a:pPr>
            <a:r>
              <a:rPr sz="3000" b="1">
                <a:solidFill>
                  <a:srgbClr val="0B1F3A"/>
                </a:solidFill>
                <a:latin typeface="Calibri"/>
              </a:rPr>
              <a:t>326</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Kiritilgan (jami)</a:t>
            </a:r>
          </a:p>
          <a:p>
            <a:pPr algn="l">
              <a:spcAft>
                <a:spcPts val="100"/>
              </a:spcAft>
            </a:pPr>
            <a:r>
              <a:rPr sz="3000" b="1">
                <a:solidFill>
                  <a:srgbClr val="0B1F3A"/>
                </a:solidFill>
                <a:latin typeface="Calibri"/>
              </a:rPr>
              <a:t>29 → 46</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Usullar ulushi (46 maqola)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maqolalarni saralash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tadqiqotchilar PubMed va Scopus bazalaridan jarohat yoshini baholashga oid 326 ta maqola topdi.</a:t>
            </a:r>
          </a:p>
          <a:p>
            <a:pPr>
              <a:spcAft>
                <a:spcPts val="1200"/>
              </a:spcAft>
            </a:pPr>
            <a:r>
              <a:rPr sz="2200">
                <a:solidFill>
                  <a:srgbClr val="1F2937"/>
                </a:solidFill>
                <a:latin typeface="Calibri"/>
              </a:rPr>
              <a:t>▸  Chiqarilganlar: 19 tasi ingliz tilida emas, 14 tasi sharh, 235 tasi boshqa usul yoki boshqa to‘qima, 29 tasi dublikat.</a:t>
            </a:r>
          </a:p>
          <a:p>
            <a:pPr>
              <a:spcAft>
                <a:spcPts val="1200"/>
              </a:spcAft>
            </a:pPr>
            <a:r>
              <a:rPr sz="2200">
                <a:solidFill>
                  <a:srgbClr val="1F2937"/>
                </a:solidFill>
                <a:latin typeface="Calibri"/>
              </a:rPr>
              <a:t>▸  Hisob: 19+14+235+29 = 297 ta chiqarildi, qolgan 29 ta maqola tahlilga kiritildi.</a:t>
            </a:r>
          </a:p>
          <a:p>
            <a:pPr>
              <a:spcAft>
                <a:spcPts val="1200"/>
              </a:spcAft>
            </a:pPr>
            <a:r>
              <a:rPr sz="2200">
                <a:solidFill>
                  <a:srgbClr val="1F2937"/>
                </a:solidFill>
                <a:latin typeface="Calibri"/>
              </a:rPr>
              <a:t>▸  Savol: nega aynan shu mezonlar (til, maqola turi, usul, to‘qima) bo‘yicha saralash kerak bo‘lgan?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PTI nima? Javob: post-trauma interval, ya’ni jarohat hosil bo‘lgandan keyin o‘tgan vaqt.</a:t>
            </a:r>
          </a:p>
          <a:p>
            <a:pPr>
              <a:spcAft>
                <a:spcPts val="1200"/>
              </a:spcAft>
            </a:pPr>
            <a:r>
              <a:rPr sz="2200">
                <a:solidFill>
                  <a:srgbClr val="1F2937"/>
                </a:solidFill>
                <a:latin typeface="Calibri"/>
              </a:rPr>
              <a:t>▸  2-savol: PTI nima uchun muhim? Javob: jarohat bilan o‘lim o‘rtasidagi sababiy bog‘liqlikni aniqlashga yordam beradi.</a:t>
            </a:r>
          </a:p>
          <a:p>
            <a:pPr>
              <a:spcAft>
                <a:spcPts val="1200"/>
              </a:spcAft>
            </a:pPr>
            <a:r>
              <a:rPr sz="2200">
                <a:solidFill>
                  <a:srgbClr val="1F2937"/>
                </a:solidFill>
                <a:latin typeface="Calibri"/>
              </a:rPr>
              <a:t>▸  3-savol: IHC ning asosiy ustunligi? Javob: qo‘llash oson, ishonchli va molekulalar joylashuvini tahlil qila oladi.</a:t>
            </a:r>
          </a:p>
          <a:p>
            <a:pPr>
              <a:spcAft>
                <a:spcPts val="1200"/>
              </a:spcAft>
            </a:pPr>
            <a:r>
              <a:rPr sz="2200">
                <a:solidFill>
                  <a:srgbClr val="1F2937"/>
                </a:solidFill>
                <a:latin typeface="Calibri"/>
              </a:rPr>
              <a:t>▸  Diqqat: IHC va IF jarohat holati va rivojini kuzatadi, lekin o‘lim vaqtini (post-mortem interval) aniq belgilay 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bitishining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paydo bo‘lishi bilan bitish jarayoni darhol boshlanadi; avval qon oqishi to‘xtatiladi (gemostaz).</a:t>
            </a:r>
          </a:p>
          <a:p>
            <a:pPr>
              <a:spcAft>
                <a:spcPts val="800"/>
              </a:spcAft>
            </a:pPr>
            <a:r>
              <a:rPr sz="1800">
                <a:solidFill>
                  <a:srgbClr val="1F2937"/>
                </a:solidFill>
                <a:latin typeface="Calibri"/>
              </a:rPr>
              <a:t>▸  Keyin yallig‘lanish, hujayralar ko‘chishi va ko‘payishi, yangi qon tomirlar hosil bo‘lishi davom etadi.</a:t>
            </a:r>
          </a:p>
          <a:p>
            <a:pPr>
              <a:spcAft>
                <a:spcPts val="800"/>
              </a:spcAft>
            </a:pPr>
            <a:r>
              <a:rPr sz="1800">
                <a:solidFill>
                  <a:srgbClr val="1F2937"/>
                </a:solidFill>
                <a:latin typeface="Calibri"/>
              </a:rPr>
              <a:t>▸  Oxirida epiteliy jarohatni qoplaydi, kollagen sintezlanib to‘qimaga mustahkamlik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Gemostaz</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Yallig‘lanish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Proliferatsiya, migratsiya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Angiogenez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Re-epitelizatsiya, kollagen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Bitish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4-bo‘lim (Discussion)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Koagulyatsiya omillari: dastlabki soatlar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Van de Goot fibronektin, CD62p, VIII omil asosida jarohat yoshini baholovchi ballik tizim tuzgan.</a:t>
            </a:r>
          </a:p>
          <a:p>
            <a:pPr>
              <a:spcAft>
                <a:spcPts val="800"/>
              </a:spcAft>
            </a:pPr>
            <a:r>
              <a:rPr sz="1800">
                <a:solidFill>
                  <a:srgbClr val="1F2937"/>
                </a:solidFill>
                <a:latin typeface="Calibri"/>
              </a:rPr>
              <a:t>▸  Yangi jarohatlarda uchala markerning immunogistokimyo (IHC) bali nazoratdagi sog‘ teridan yuqori (p &lt; 0,001).</a:t>
            </a:r>
          </a:p>
          <a:p>
            <a:pPr>
              <a:spcAft>
                <a:spcPts val="800"/>
              </a:spcAft>
            </a:pPr>
            <a:r>
              <a:rPr sz="1800">
                <a:solidFill>
                  <a:srgbClr val="1F2937"/>
                </a:solidFill>
                <a:latin typeface="Calibri"/>
              </a:rPr>
              <a:t>▸  Bu markerlar erta jarohatda, ayniqsa jarohatdan keyingi interval (PTI) 0–1 soatda, musbat bo‘yaladi.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Van de Goot paneli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Fibronektin</a:t>
            </a:r>
          </a:p>
          <a:p>
            <a:pPr algn="l">
              <a:spcAft>
                <a:spcPts val="0"/>
              </a:spcAft>
            </a:pPr>
            <a:r>
              <a:rPr sz="1200" b="0">
                <a:solidFill>
                  <a:srgbClr val="1F2937"/>
                </a:solidFill>
                <a:latin typeface="Calibri"/>
              </a:rPr>
              <a:t>Yangi jarohatda IHC bali yuqori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CD62p</a:t>
            </a:r>
          </a:p>
          <a:p>
            <a:pPr algn="l">
              <a:spcAft>
                <a:spcPts val="0"/>
              </a:spcAft>
            </a:pPr>
            <a:r>
              <a:rPr sz="1200" b="0">
                <a:solidFill>
                  <a:srgbClr val="1F2937"/>
                </a:solidFill>
                <a:latin typeface="Calibri"/>
              </a:rPr>
              <a:t>Yangi jarohatda IHC bali yuqori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VIII omil</a:t>
            </a:r>
          </a:p>
          <a:p>
            <a:pPr algn="l">
              <a:spcAft>
                <a:spcPts val="0"/>
              </a:spcAft>
            </a:pPr>
            <a:r>
              <a:rPr sz="1200" b="0">
                <a:solidFill>
                  <a:srgbClr val="1F2937"/>
                </a:solidFill>
                <a:latin typeface="Calibri"/>
              </a:rPr>
              <a:t>Yangi jarohatda IHC bali yuqori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Natija</a:t>
            </a:r>
          </a:p>
          <a:p>
            <a:pPr algn="l">
              <a:spcAft>
                <a:spcPts val="0"/>
              </a:spcAft>
            </a:pPr>
            <a:r>
              <a:rPr sz="1200" b="0">
                <a:solidFill>
                  <a:srgbClr val="1F2937"/>
                </a:solidFill>
                <a:latin typeface="Calibri"/>
              </a:rPr>
              <a:t>Nazoratdan farq p &lt; 0,001  ·  PTI 0–1 soatda musbat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Koagulyatsiya markerlari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4.1-bo‘lim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FVIIIra, CD15 va triptaza: sezgirlik va o‘ziga xoslik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Gauchotte teshilgan teri jarohatlari vaqtini FVIIIra, CD15 va triptaza markerlari bilan o‘rgangan.</a:t>
            </a:r>
          </a:p>
          <a:p>
            <a:pPr>
              <a:spcAft>
                <a:spcPts val="800"/>
              </a:spcAft>
            </a:pPr>
            <a:r>
              <a:rPr sz="1800">
                <a:solidFill>
                  <a:srgbClr val="1F2937"/>
                </a:solidFill>
                <a:latin typeface="Calibri"/>
              </a:rPr>
              <a:t>▸  FVIIIra jarrohlik va nazorat jarohatlarida ham oshgan (53%), shu sababli o‘ziga xosligi past.</a:t>
            </a:r>
          </a:p>
          <a:p>
            <a:pPr>
              <a:spcAft>
                <a:spcPts val="800"/>
              </a:spcAft>
            </a:pPr>
            <a:r>
              <a:rPr sz="1800">
                <a:solidFill>
                  <a:srgbClr val="1F2937"/>
                </a:solidFill>
                <a:latin typeface="Calibri"/>
              </a:rPr>
              <a:t>▸  Diqqat: sezgirlik ≠ o‘ziga xoslik; yuqori sezgirlik markerni hali ishonchli qilmaydi.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FVIIIra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Sezgirlik 100 %</a:t>
            </a:r>
          </a:p>
          <a:p>
            <a:pPr algn="l">
              <a:spcAft>
                <a:spcPts val="700"/>
              </a:spcAft>
            </a:pPr>
            <a:r>
              <a:rPr sz="1500" b="1">
                <a:solidFill>
                  <a:srgbClr val="C9A227"/>
                </a:solidFill>
                <a:latin typeface="Calibri"/>
              </a:rPr>
              <a:t>●  </a:t>
            </a:r>
            <a:r>
              <a:rPr sz="1500" b="0">
                <a:solidFill>
                  <a:srgbClr val="1F2937"/>
                </a:solidFill>
                <a:latin typeface="Calibri"/>
              </a:rPr>
              <a:t>O‘ziga xoslik 47 %</a:t>
            </a:r>
          </a:p>
          <a:p>
            <a:pPr algn="l">
              <a:spcAft>
                <a:spcPts val="700"/>
              </a:spcAft>
            </a:pPr>
            <a:r>
              <a:rPr sz="1500" b="1">
                <a:solidFill>
                  <a:srgbClr val="C9A227"/>
                </a:solidFill>
                <a:latin typeface="Calibri"/>
              </a:rPr>
              <a:t>●  </a:t>
            </a:r>
            <a:r>
              <a:rPr sz="1500" b="0">
                <a:solidFill>
                  <a:srgbClr val="1F2937"/>
                </a:solidFill>
                <a:latin typeface="Calibri"/>
              </a:rPr>
              <a:t>Jarrohlik jarohatida ham oshadi (53 %)</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CD15 va triptaza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Yangi ante-mortem va post-mortemni ajratadi</a:t>
            </a:r>
          </a:p>
          <a:p>
            <a:pPr algn="l">
              <a:spcAft>
                <a:spcPts val="700"/>
              </a:spcAft>
            </a:pPr>
            <a:r>
              <a:rPr sz="1500" b="1">
                <a:solidFill>
                  <a:srgbClr val="C9A227"/>
                </a:solidFill>
                <a:latin typeface="Calibri"/>
              </a:rPr>
              <a:t>●  </a:t>
            </a:r>
            <a:r>
              <a:rPr sz="1500" b="0">
                <a:solidFill>
                  <a:srgbClr val="1F2937"/>
                </a:solidFill>
                <a:latin typeface="Calibri"/>
              </a:rPr>
              <a:t>Foydaliroq markerlar</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Sezgirlik ≠ o‘ziga xoslik</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4.1-bo‘lim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sezgirlik ≠ o‘ziga xoslik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Gauchotte va hamkasblari FVIIIra markerini tekshirdi. Uning sezgirligi 100% bo‘ldi, o‘ziga xosligi esa atigi 47%.</a:t>
            </a:r>
          </a:p>
          <a:p>
            <a:pPr>
              <a:spcAft>
                <a:spcPts val="800"/>
              </a:spcAft>
            </a:pPr>
            <a:r>
              <a:rPr sz="1800">
                <a:solidFill>
                  <a:srgbClr val="1F2937"/>
                </a:solidFill>
                <a:latin typeface="Calibri"/>
              </a:rPr>
              <a:t>▸  FVIIIra ning ortishi jarrohlik va salbiy nazorat jarohatlarida ham kuzatildi (53%). Ya’ni marker tirik jarohatga xos emas.</a:t>
            </a:r>
          </a:p>
          <a:p>
            <a:pPr>
              <a:spcAft>
                <a:spcPts val="800"/>
              </a:spcAft>
            </a:pPr>
            <a:r>
              <a:rPr sz="1800">
                <a:solidFill>
                  <a:srgbClr val="1F2937"/>
                </a:solidFill>
                <a:latin typeface="Calibri"/>
              </a:rPr>
              <a:t>▸  Shuning uchun FVIIIra jarohat vitalligining yuqori sezgir, lekin o‘ziga xos bo‘lmagan markeri hisoblanadi.</a:t>
            </a:r>
          </a:p>
          <a:p>
            <a:pPr>
              <a:spcAft>
                <a:spcPts val="800"/>
              </a:spcAft>
            </a:pPr>
            <a:r>
              <a:rPr sz="1800">
                <a:solidFill>
                  <a:srgbClr val="1F2937"/>
                </a:solidFill>
                <a:latin typeface="Calibri"/>
              </a:rPr>
              <a:t>▸  Yaqin vaqtdagi tirik jarohatni o‘limdan keyingisidan ajratishda CD15 va triptaza foydaliroq deb hisoblanadi.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FVIIIra sezgirligi</a:t>
            </a:r>
          </a:p>
          <a:p>
            <a:pPr algn="l">
              <a:spcAft>
                <a:spcPts val="100"/>
              </a:spcAft>
            </a:pPr>
            <a:r>
              <a:rPr sz="3000" b="1">
                <a:solidFill>
                  <a:srgbClr val="0B1F3A"/>
                </a:solidFill>
                <a:latin typeface="Calibri"/>
              </a:rPr>
              <a:t>100 %</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FVIIIra o‘ziga xosligi</a:t>
            </a:r>
          </a:p>
          <a:p>
            <a:pPr algn="l">
              <a:spcAft>
                <a:spcPts val="100"/>
              </a:spcAft>
            </a:pPr>
            <a:r>
              <a:rPr sz="3000" b="1">
                <a:solidFill>
                  <a:srgbClr val="0B1F3A"/>
                </a:solidFill>
                <a:latin typeface="Calibri"/>
              </a:rPr>
              <a:t>47 %</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Jarrohlik jarohatida</a:t>
            </a:r>
          </a:p>
          <a:p>
            <a:pPr algn="l">
              <a:spcAft>
                <a:spcPts val="100"/>
              </a:spcAft>
            </a:pPr>
            <a:r>
              <a:rPr sz="3000" b="1">
                <a:solidFill>
                  <a:srgbClr val="0B1F3A"/>
                </a:solidFill>
                <a:latin typeface="Calibri"/>
              </a:rPr>
              <a:t>53 %</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Gauchotte tadqiqoti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Yallig‘lanish sitokinlarining vaqt cho‘qqilari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Kondo (1996): TNFα va IL-1β ning statistik ahamiyatli cho‘qqisi jarohatdan 3 soat o‘tgach topildi.</a:t>
            </a:r>
          </a:p>
          <a:p>
            <a:pPr>
              <a:spcAft>
                <a:spcPts val="800"/>
              </a:spcAft>
            </a:pPr>
            <a:r>
              <a:rPr sz="1800">
                <a:solidFill>
                  <a:srgbClr val="1F2937"/>
                </a:solidFill>
                <a:latin typeface="Calibri"/>
              </a:rPr>
              <a:t>▸  IL-1β ning kichikroq, lekin muhim cho‘qqisi 6 soatda, IL-6 cho‘qqisi esa 12 soatda kuzatildi.</a:t>
            </a:r>
          </a:p>
          <a:p>
            <a:pPr>
              <a:spcAft>
                <a:spcPts val="800"/>
              </a:spcAft>
            </a:pPr>
            <a:r>
              <a:rPr sz="1800">
                <a:solidFill>
                  <a:srgbClr val="1F2937"/>
                </a:solidFill>
                <a:latin typeface="Calibri"/>
              </a:rPr>
              <a:t>▸  Neytrofillar 3–6 soatda, fagotsitlar 24 soatda (o‘tish fazasi) shu sitokinlar uchun musbat bo‘yaldi.</a:t>
            </a:r>
          </a:p>
        </p:txBody>
      </p:sp>
      <p:sp>
        <p:nvSpPr>
          <p:cNvPr id="9" name="Rounded Rectangle 8"/>
          <p:cNvSpPr/>
          <p:nvPr/>
        </p:nvSpPr>
        <p:spPr>
          <a:xfrm>
            <a:off x="5440680" y="1417320"/>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3 soat</a:t>
            </a:r>
          </a:p>
          <a:p>
            <a:pPr algn="l">
              <a:spcAft>
                <a:spcPts val="200"/>
              </a:spcAft>
            </a:pPr>
            <a:r>
              <a:rPr sz="1400" b="0">
                <a:solidFill>
                  <a:srgbClr val="1F2937"/>
                </a:solidFill>
                <a:latin typeface="Calibri"/>
              </a:rPr>
              <a:t>TNFα va IL-1β — ahamiyatli cho‘qqi</a:t>
            </a:r>
          </a:p>
        </p:txBody>
      </p:sp>
      <p:sp>
        <p:nvSpPr>
          <p:cNvPr id="12" name="Rounded Rectangle 11"/>
          <p:cNvSpPr/>
          <p:nvPr/>
        </p:nvSpPr>
        <p:spPr>
          <a:xfrm>
            <a:off x="5440680" y="2801112"/>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6080760" y="2801112"/>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6 soat</a:t>
            </a:r>
          </a:p>
          <a:p>
            <a:pPr algn="l">
              <a:spcAft>
                <a:spcPts val="200"/>
              </a:spcAft>
            </a:pPr>
            <a:r>
              <a:rPr sz="1400" b="0">
                <a:solidFill>
                  <a:srgbClr val="1F2937"/>
                </a:solidFill>
                <a:latin typeface="Calibri"/>
              </a:rPr>
              <a:t>IL-1β — kichikroq, lekin muhim cho‘qqi</a:t>
            </a:r>
          </a:p>
        </p:txBody>
      </p:sp>
      <p:sp>
        <p:nvSpPr>
          <p:cNvPr id="15" name="Rounded Rectangle 14"/>
          <p:cNvSpPr/>
          <p:nvPr/>
        </p:nvSpPr>
        <p:spPr>
          <a:xfrm>
            <a:off x="5440680" y="4184904"/>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4184904"/>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12 soat</a:t>
            </a:r>
          </a:p>
          <a:p>
            <a:pPr algn="l">
              <a:spcAft>
                <a:spcPts val="200"/>
              </a:spcAft>
            </a:pPr>
            <a:r>
              <a:rPr sz="1400" b="0">
                <a:solidFill>
                  <a:srgbClr val="1F2937"/>
                </a:solidFill>
                <a:latin typeface="Calibri"/>
              </a:rPr>
              <a:t>IL-6 — kechroq cho‘qqi</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Sitokin cho‘qqilari vaqt chizig‘i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IL-1α, IL-8, MCP-1 va MIP-1α</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Kondo (1999): neytrofillar jarohatdan 4 soat o‘tib paydo bo‘ldi. Ularning sitoplazmasi anti-IL-1α bilan bo‘yalib, bir sutkagacha musbat qoldi.</a:t>
            </a:r>
          </a:p>
          <a:p>
            <a:pPr>
              <a:spcAft>
                <a:spcPts val="1200"/>
              </a:spcAft>
            </a:pPr>
            <a:r>
              <a:rPr sz="2200">
                <a:solidFill>
                  <a:srgbClr val="1F2937"/>
                </a:solidFill>
                <a:latin typeface="Calibri"/>
              </a:rPr>
              <a:t>▸  IL-1α musbat hujayralar ulushi 30% dan oshsa, jarohat yoshi bir sutka yoki undan kam bo‘lishi mumkin.</a:t>
            </a:r>
          </a:p>
          <a:p>
            <a:pPr>
              <a:spcAft>
                <a:spcPts val="1200"/>
              </a:spcAft>
            </a:pPr>
            <a:r>
              <a:rPr sz="2200">
                <a:solidFill>
                  <a:srgbClr val="1F2937"/>
                </a:solidFill>
                <a:latin typeface="Calibri"/>
              </a:rPr>
              <a:t>▸  Grellner: IL-1, IL-6 va TNF-α tirik jarohatda erta paydo bo‘ladi. Eng erta javob 15 daqiqada kuzatilib, bir necha soat saqlandi.</a:t>
            </a:r>
          </a:p>
          <a:p>
            <a:pPr>
              <a:spcAft>
                <a:spcPts val="1200"/>
              </a:spcAft>
            </a:pPr>
            <a:r>
              <a:rPr sz="2200">
                <a:solidFill>
                  <a:srgbClr val="1F2937"/>
                </a:solidFill>
                <a:latin typeface="Calibri"/>
              </a:rPr>
              <a:t>▸  Kondo (2002): IL-8, MCP-1 (monotsit xemoattraktant oqsili) va MIP-1α dastlab 12 soatgacha neytrofillarda, keyin makrofag va fibroblastlarda topildi.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Immun hujayralar: neytrofil, makrofag, limfotsit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Fronczek tirik odamlar teri biopsiyasini o‘rgangan: immun hujayralar jarohat yoshiga qarab vaqtga bog‘liq naqsh beradi.</a:t>
            </a:r>
          </a:p>
          <a:p>
            <a:pPr>
              <a:spcAft>
                <a:spcPts val="800"/>
              </a:spcAft>
            </a:pPr>
            <a:r>
              <a:rPr sz="1800">
                <a:solidFill>
                  <a:srgbClr val="1F2937"/>
                </a:solidFill>
                <a:latin typeface="Calibri"/>
              </a:rPr>
              <a:t>▸  Neytrofillar va MIP-1 musbat yallig‘lanish hujayralari 0,2–4 kunlik jarohatda sezilarli ko‘p bo‘ladi.</a:t>
            </a:r>
          </a:p>
          <a:p>
            <a:pPr>
              <a:spcAft>
                <a:spcPts val="800"/>
              </a:spcAft>
            </a:pPr>
            <a:r>
              <a:rPr sz="1800">
                <a:solidFill>
                  <a:srgbClr val="1F2937"/>
                </a:solidFill>
                <a:latin typeface="Calibri"/>
              </a:rPr>
              <a:t>▸  Diqqat: epidermisdagi IL-8 ifodasi jarohat yoshi bilan bog‘liq emas.</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26755"/>
                <a:gridCol w="1538320"/>
                <a:gridCol w="1922900"/>
              </a:tblGrid>
              <a:tr h="614476">
                <a:tc>
                  <a:txBody>
                    <a:bodyPr/>
                    <a:lstStyle/>
                    <a:p>
                      <a:r>
                        <a:rPr sz="1600" b="1">
                          <a:solidFill>
                            <a:srgbClr val="FFFFFF"/>
                          </a:solidFill>
                        </a:rPr>
                        <a:t>Hujayra</a:t>
                      </a:r>
                    </a:p>
                  </a:txBody>
                  <a:tcPr marL="73152" marR="73152" marT="36576" marB="36576">
                    <a:solidFill>
                      <a:srgbClr val="0B1F3A"/>
                    </a:solidFill>
                  </a:tcPr>
                </a:tc>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Cho‘qqi davri</a:t>
                      </a:r>
                    </a:p>
                  </a:txBody>
                  <a:tcPr marL="73152" marR="73152" marT="36576" marB="36576">
                    <a:solidFill>
                      <a:srgbClr val="0B1F3A"/>
                    </a:solidFill>
                  </a:tcPr>
                </a:tc>
              </a:tr>
              <a:tr h="614476">
                <a:tc>
                  <a:txBody>
                    <a:bodyPr/>
                    <a:lstStyle/>
                    <a:p>
                      <a:r>
                        <a:rPr sz="1500" b="0">
                          <a:solidFill>
                            <a:srgbClr val="1F2937"/>
                          </a:solidFill>
                        </a:rPr>
                        <a:t>Neytrofil</a:t>
                      </a:r>
                    </a:p>
                  </a:txBody>
                  <a:tcPr marL="73152" marR="73152" marT="36576" marB="36576">
                    <a:solidFill>
                      <a:srgbClr val="E8EEF6"/>
                    </a:solidFill>
                  </a:tcPr>
                </a:tc>
                <a:tc>
                  <a:txBody>
                    <a:bodyPr/>
                    <a:lstStyle/>
                    <a:p>
                      <a:r>
                        <a:rPr sz="1500" b="0">
                          <a:solidFill>
                            <a:srgbClr val="1F2937"/>
                          </a:solidFill>
                        </a:rPr>
                        <a:t>Hujayra soni</a:t>
                      </a:r>
                    </a:p>
                  </a:txBody>
                  <a:tcPr marL="73152" marR="73152" marT="36576" marB="36576">
                    <a:solidFill>
                      <a:srgbClr val="E8EEF6"/>
                    </a:solidFill>
                  </a:tcPr>
                </a:tc>
                <a:tc>
                  <a:txBody>
                    <a:bodyPr/>
                    <a:lstStyle/>
                    <a:p>
                      <a:r>
                        <a:rPr sz="1500" b="0">
                          <a:solidFill>
                            <a:srgbClr val="1F2937"/>
                          </a:solidFill>
                        </a:rPr>
                        <a:t>0,2–4 kun</a:t>
                      </a:r>
                    </a:p>
                  </a:txBody>
                  <a:tcPr marL="73152" marR="73152" marT="36576" marB="36576">
                    <a:solidFill>
                      <a:srgbClr val="E8EEF6"/>
                    </a:solidFill>
                  </a:tcPr>
                </a:tc>
              </a:tr>
              <a:tr h="614476">
                <a:tc>
                  <a:txBody>
                    <a:bodyPr/>
                    <a:lstStyle/>
                    <a:p>
                      <a:r>
                        <a:rPr sz="1500" b="0">
                          <a:solidFill>
                            <a:srgbClr val="1F2937"/>
                          </a:solidFill>
                        </a:rPr>
                        <a:t>Faol makrofag</a:t>
                      </a:r>
                    </a:p>
                  </a:txBody>
                  <a:tcPr marL="73152" marR="73152" marT="36576" marB="36576">
                    <a:solidFill>
                      <a:srgbClr val="FFFFFF"/>
                    </a:solidFill>
                  </a:tcPr>
                </a:tc>
                <a:tc>
                  <a:txBody>
                    <a:bodyPr/>
                    <a:lstStyle/>
                    <a:p>
                      <a:r>
                        <a:rPr sz="1500" b="0">
                          <a:solidFill>
                            <a:srgbClr val="1F2937"/>
                          </a:solidFill>
                        </a:rPr>
                        <a:t>CD68</a:t>
                      </a:r>
                    </a:p>
                  </a:txBody>
                  <a:tcPr marL="73152" marR="73152" marT="36576" marB="36576">
                    <a:solidFill>
                      <a:srgbClr val="FFFFFF"/>
                    </a:solidFill>
                  </a:tcPr>
                </a:tc>
                <a:tc>
                  <a:txBody>
                    <a:bodyPr/>
                    <a:lstStyle/>
                    <a:p>
                      <a:r>
                        <a:rPr sz="1500" b="0">
                          <a:solidFill>
                            <a:srgbClr val="1F2937"/>
                          </a:solidFill>
                        </a:rPr>
                        <a:t>2–4 kun</a:t>
                      </a:r>
                    </a:p>
                  </a:txBody>
                  <a:tcPr marL="73152" marR="73152" marT="36576" marB="36576">
                    <a:solidFill>
                      <a:srgbClr val="FFFFFF"/>
                    </a:solidFill>
                  </a:tcPr>
                </a:tc>
              </a:tr>
              <a:tr h="614476">
                <a:tc>
                  <a:txBody>
                    <a:bodyPr/>
                    <a:lstStyle/>
                    <a:p>
                      <a:r>
                        <a:rPr sz="1500" b="0">
                          <a:solidFill>
                            <a:srgbClr val="1F2937"/>
                          </a:solidFill>
                        </a:rPr>
                        <a:t>Limfotsit</a:t>
                      </a:r>
                    </a:p>
                  </a:txBody>
                  <a:tcPr marL="73152" marR="73152" marT="36576" marB="36576">
                    <a:solidFill>
                      <a:srgbClr val="E8EEF6"/>
                    </a:solidFill>
                  </a:tcPr>
                </a:tc>
                <a:tc>
                  <a:txBody>
                    <a:bodyPr/>
                    <a:lstStyle/>
                    <a:p>
                      <a:r>
                        <a:rPr sz="1500" b="0">
                          <a:solidFill>
                            <a:srgbClr val="1F2937"/>
                          </a:solidFill>
                        </a:rPr>
                        <a:t>CD45</a:t>
                      </a:r>
                    </a:p>
                  </a:txBody>
                  <a:tcPr marL="73152" marR="73152" marT="36576" marB="36576">
                    <a:solidFill>
                      <a:srgbClr val="E8EEF6"/>
                    </a:solidFill>
                  </a:tcPr>
                </a:tc>
                <a:tc>
                  <a:txBody>
                    <a:bodyPr/>
                    <a:lstStyle/>
                    <a:p>
                      <a:r>
                        <a:rPr sz="1500" b="0">
                          <a:solidFill>
                            <a:srgbClr val="1F2937"/>
                          </a:solidFill>
                        </a:rPr>
                        <a:t>0,2–2 kun</a:t>
                      </a:r>
                    </a:p>
                  </a:txBody>
                  <a:tcPr marL="73152" marR="73152" marT="36576" marB="36576">
                    <a:solidFill>
                      <a:srgbClr val="E8EEF6"/>
                    </a:solidFill>
                  </a:tcPr>
                </a:tc>
              </a:tr>
              <a:tr h="614476">
                <a:tc>
                  <a:txBody>
                    <a:bodyPr/>
                    <a:lstStyle/>
                    <a:p>
                      <a:r>
                        <a:rPr sz="1500" b="0">
                          <a:solidFill>
                            <a:srgbClr val="1F2937"/>
                          </a:solidFill>
                        </a:rPr>
                        <a:t>Limfotsit kamayishi</a:t>
                      </a:r>
                    </a:p>
                  </a:txBody>
                  <a:tcPr marL="73152" marR="73152" marT="36576" marB="36576">
                    <a:solidFill>
                      <a:srgbClr val="FFFFFF"/>
                    </a:solidFill>
                  </a:tcPr>
                </a:tc>
                <a:tc>
                  <a:txBody>
                    <a:bodyPr/>
                    <a:lstStyle/>
                    <a:p>
                      <a:r>
                        <a:rPr sz="1500" b="0">
                          <a:solidFill>
                            <a:srgbClr val="1F2937"/>
                          </a:solidFill>
                        </a:rPr>
                        <a:t>CD45</a:t>
                      </a:r>
                    </a:p>
                  </a:txBody>
                  <a:tcPr marL="73152" marR="73152" marT="36576" marB="36576">
                    <a:solidFill>
                      <a:srgbClr val="FFFFFF"/>
                    </a:solidFill>
                  </a:tcPr>
                </a:tc>
                <a:tc>
                  <a:txBody>
                    <a:bodyPr/>
                    <a:lstStyle/>
                    <a:p>
                      <a:r>
                        <a:rPr sz="1500" b="0">
                          <a:solidFill>
                            <a:srgbClr val="1F2937"/>
                          </a:solidFill>
                        </a:rPr>
                        <a:t>10 kungacha pasayadi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Fronczek: hujayralar cho‘qqisi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CD14 va dendritik hujayralar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Yagi: CD14 jarohatdan keyin 2–5 kunda sezilarli ortadi. 1–5 kunlik jarohatni aniqlashda sezgirlik 100%, o‘ziga xoslik 87,2%.</a:t>
            </a:r>
          </a:p>
          <a:p>
            <a:pPr>
              <a:spcAft>
                <a:spcPts val="800"/>
              </a:spcAft>
            </a:pPr>
            <a:r>
              <a:rPr sz="1600">
                <a:solidFill>
                  <a:srgbClr val="1F2937"/>
                </a:solidFill>
                <a:latin typeface="Calibri"/>
              </a:rPr>
              <a:t>▸  CD14, CD32B va CD68 uchalasi musbat bo‘lsa jarohat 1–5 kunlik; uchalasi manfiy bo‘lsa, bir kundan yosh deb baholanadi.</a:t>
            </a:r>
          </a:p>
          <a:p>
            <a:pPr>
              <a:spcAft>
                <a:spcPts val="800"/>
              </a:spcAft>
            </a:pPr>
            <a:r>
              <a:rPr sz="1600">
                <a:solidFill>
                  <a:srgbClr val="1F2937"/>
                </a:solidFill>
                <a:latin typeface="Calibri"/>
              </a:rPr>
              <a:t>▸  Fouad: CD14 cho‘qqisi 1–3 kunda (96,40 ± 3,78%), 3 kundan keyin keskin pasayadi (14,80 ± 3,49%). Diqqat: Yagi va Fouad oraliqlari farq qiladi.</a:t>
            </a:r>
          </a:p>
          <a:p>
            <a:pPr>
              <a:spcAft>
                <a:spcPts val="800"/>
              </a:spcAft>
            </a:pPr>
            <a:r>
              <a:rPr sz="1600">
                <a:solidFill>
                  <a:srgbClr val="1F2937"/>
                </a:solidFill>
                <a:latin typeface="Calibri"/>
              </a:rPr>
              <a:t>▸  Kuninaka: CD11c+/HLA-DRα+ dendritik hujayralar soni 50 dan oshsa, jarohat yoshi 4–14 kun. Boshqa markerlar bilan oraliq toraytiriladi.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CD14: sezgirlik</a:t>
            </a:r>
          </a:p>
          <a:p>
            <a:pPr algn="l">
              <a:spcAft>
                <a:spcPts val="100"/>
              </a:spcAft>
            </a:pPr>
            <a:r>
              <a:rPr sz="3000" b="1">
                <a:solidFill>
                  <a:srgbClr val="0B1F3A"/>
                </a:solidFill>
                <a:latin typeface="Calibri"/>
              </a:rPr>
              <a:t>100 %</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CD14: o‘ziga xoslik</a:t>
            </a:r>
          </a:p>
          <a:p>
            <a:pPr algn="l">
              <a:spcAft>
                <a:spcPts val="100"/>
              </a:spcAft>
            </a:pPr>
            <a:r>
              <a:rPr sz="3000" b="1">
                <a:solidFill>
                  <a:srgbClr val="0B1F3A"/>
                </a:solidFill>
                <a:latin typeface="Calibri"/>
              </a:rPr>
              <a:t>87,2 %</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CD14 cho‘qqisi 1–3 kun</a:t>
            </a:r>
          </a:p>
          <a:p>
            <a:pPr algn="l">
              <a:spcAft>
                <a:spcPts val="100"/>
              </a:spcAft>
            </a:pPr>
            <a:r>
              <a:rPr sz="3000" b="1">
                <a:solidFill>
                  <a:srgbClr val="0B1F3A"/>
                </a:solidFill>
                <a:latin typeface="Calibri"/>
              </a:rPr>
              <a:t>96,40 %</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CD14, 3 kundan keyin</a:t>
            </a:r>
          </a:p>
          <a:p>
            <a:pPr algn="l">
              <a:spcAft>
                <a:spcPts val="100"/>
              </a:spcAft>
            </a:pPr>
            <a:r>
              <a:rPr sz="3000" b="1">
                <a:solidFill>
                  <a:srgbClr val="0B1F3A"/>
                </a:solidFill>
                <a:latin typeface="Calibri"/>
              </a:rPr>
              <a:t>14,80 %</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Dendritik hujayralar &gt;50</a:t>
            </a:r>
          </a:p>
          <a:p>
            <a:pPr algn="l">
              <a:spcAft>
                <a:spcPts val="100"/>
              </a:spcAft>
            </a:pPr>
            <a:r>
              <a:rPr sz="3000" b="1">
                <a:solidFill>
                  <a:srgbClr val="0B1F3A"/>
                </a:solidFill>
                <a:latin typeface="Calibri"/>
              </a:rPr>
              <a:t>4–14 kun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CD14 va dendritik hujayralar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Mast hujayralar, gistamin va VCAM-1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Bonelli: tirik jarohatda mast hujayralar soni 1–3 soatda cho‘qqiga chiqadi; o‘limdan keyingi holatlarda ular sezilarli kam.</a:t>
            </a:r>
          </a:p>
          <a:p>
            <a:pPr>
              <a:spcAft>
                <a:spcPts val="800"/>
              </a:spcAft>
            </a:pPr>
            <a:r>
              <a:rPr sz="1600">
                <a:solidFill>
                  <a:srgbClr val="1F2937"/>
                </a:solidFill>
                <a:latin typeface="Calibri"/>
              </a:rPr>
              <a:t>▸  Jebur: dermada mast hujayra zichligi nazoratdagidan yuqori va jarohatdan o‘tgan vaqt bilan to‘g‘ridan-to‘g‘ri bog‘liq.</a:t>
            </a:r>
          </a:p>
          <a:p>
            <a:pPr>
              <a:spcAft>
                <a:spcPts val="800"/>
              </a:spcAft>
            </a:pPr>
            <a:r>
              <a:rPr sz="1600">
                <a:solidFill>
                  <a:srgbClr val="1F2937"/>
                </a:solidFill>
                <a:latin typeface="Calibri"/>
              </a:rPr>
              <a:t>▸  Zhong va Zhen: odam va kalamush terisida gistamin miqdori jarohatdan keyin 30 daqiqagacha asta-sekin ortadi.</a:t>
            </a:r>
          </a:p>
          <a:p>
            <a:pPr>
              <a:spcAft>
                <a:spcPts val="800"/>
              </a:spcAft>
            </a:pPr>
            <a:r>
              <a:rPr sz="1600">
                <a:solidFill>
                  <a:srgbClr val="1F2937"/>
                </a:solidFill>
                <a:latin typeface="Calibri"/>
              </a:rPr>
              <a:t>▸  Dressler: VCAM-1 (tomir hujayra adgeziya molekulasi-1) ifodasi 4–6 soatda cho‘qqiga chiqib, so‘ng pasayadi. Yolg‘iz u jarohat yoshini baholashga yetmaydi.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Mast hujayra cho‘qqisi</a:t>
            </a:r>
          </a:p>
          <a:p>
            <a:pPr algn="l">
              <a:spcAft>
                <a:spcPts val="100"/>
              </a:spcAft>
            </a:pPr>
            <a:r>
              <a:rPr sz="2900" b="1">
                <a:solidFill>
                  <a:srgbClr val="0B1F3A"/>
                </a:solidFill>
                <a:latin typeface="Calibri"/>
              </a:rPr>
              <a:t>1–3 soat</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Gistamin ortishi</a:t>
            </a:r>
          </a:p>
          <a:p>
            <a:pPr algn="l">
              <a:spcAft>
                <a:spcPts val="100"/>
              </a:spcAft>
            </a:pPr>
            <a:r>
              <a:rPr sz="2300" b="1">
                <a:solidFill>
                  <a:srgbClr val="0B1F3A"/>
                </a:solidFill>
                <a:latin typeface="Calibri"/>
              </a:rPr>
              <a:t>30 daqiqagacha</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VCAM-1 cho‘qqisi</a:t>
            </a:r>
          </a:p>
          <a:p>
            <a:pPr algn="l">
              <a:spcAft>
                <a:spcPts val="100"/>
              </a:spcAft>
            </a:pPr>
            <a:r>
              <a:rPr sz="2900" b="1">
                <a:solidFill>
                  <a:srgbClr val="0B1F3A"/>
                </a:solidFill>
                <a:latin typeface="Calibri"/>
              </a:rPr>
              <a:t>4–6 soat</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Mast hujayra, gistamin, VCAM-1</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sitokin va immun markerlar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biopsiyada CD14 yuqori, CD14/CD32B/CD68 uchligi musbat. Yagi tadqiqotida CD14 jarohatdan 2–5 kun o‘tgach sezilarli oshgan.</a:t>
            </a:r>
          </a:p>
          <a:p>
            <a:pPr>
              <a:spcAft>
                <a:spcPts val="1200"/>
              </a:spcAft>
            </a:pPr>
            <a:r>
              <a:rPr sz="2200">
                <a:solidFill>
                  <a:srgbClr val="1F2937"/>
                </a:solidFill>
                <a:latin typeface="Calibri"/>
              </a:rPr>
              <a:t>▸  CD14/CD32B/CD68 uchligi musbat bo‘lsa jarohat yoshi 1–5 kun; uchlik manfiy bo‘lsa 1 kundan kam deb baholangan.</a:t>
            </a:r>
          </a:p>
          <a:p>
            <a:pPr>
              <a:spcAft>
                <a:spcPts val="1200"/>
              </a:spcAft>
            </a:pPr>
            <a:r>
              <a:rPr sz="2200">
                <a:solidFill>
                  <a:srgbClr val="1F2937"/>
                </a:solidFill>
                <a:latin typeface="Calibri"/>
              </a:rPr>
              <a:t>▸  Fouad: CD14 cho‘qqisi 1–3 kunda (96,40 ± 3,78%), 3 kundan keyin keskin pasaygan (14,80 ± 3,49%). Taxminiy yosh: 1–3 kun.</a:t>
            </a:r>
          </a:p>
          <a:p>
            <a:pPr>
              <a:spcAft>
                <a:spcPts val="1200"/>
              </a:spcAft>
            </a:pPr>
            <a:r>
              <a:rPr sz="2200">
                <a:solidFill>
                  <a:srgbClr val="1F2937"/>
                </a:solidFill>
                <a:latin typeface="Calibri"/>
              </a:rPr>
              <a:t>▸  Nega bitta marker yetmaydi: VCAM-1 yolg‘iz o‘zi aniq yosh uchun yetarli emas. Marker paneli bitta markerdan ishonchliroq.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4.3-bo‘lim, PMID 38248045, 4.3 va 4-bo‘limlar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qaysi markerlar erta, 0–1 soatda musbat bo‘ladi? Javob: fibronektin/CD62p/faktor VIII va FVIIIra/CD15/triptaza.</a:t>
            </a:r>
          </a:p>
          <a:p>
            <a:pPr>
              <a:spcAft>
                <a:spcPts val="1200"/>
              </a:spcAft>
            </a:pPr>
            <a:r>
              <a:rPr sz="2200">
                <a:solidFill>
                  <a:srgbClr val="1F2937"/>
                </a:solidFill>
                <a:latin typeface="Calibri"/>
              </a:rPr>
              <a:t>▸  2-savol: sitokinlarda 3 soatlik cho‘qqi kimda? Javob: TNFα va IL-1β; IL-6 cho‘qqisi esa jarohatdan 12 soat keyin.</a:t>
            </a:r>
          </a:p>
          <a:p>
            <a:pPr>
              <a:spcAft>
                <a:spcPts val="1200"/>
              </a:spcAft>
            </a:pPr>
            <a:r>
              <a:rPr sz="2200">
                <a:solidFill>
                  <a:srgbClr val="1F2937"/>
                </a:solidFill>
                <a:latin typeface="Calibri"/>
              </a:rPr>
              <a:t>▸  3-savol: qaysi ko‘rsatkich kechroq, 4–14 kunni bildiradi? Javob: dendritik hujayralar soni &gt;50 (CD11c+/HLA-DRα+).</a:t>
            </a:r>
          </a:p>
          <a:p>
            <a:pPr>
              <a:spcAft>
                <a:spcPts val="1200"/>
              </a:spcAft>
            </a:pPr>
            <a:r>
              <a:rPr sz="2200">
                <a:solidFill>
                  <a:srgbClr val="1F2937"/>
                </a:solidFill>
                <a:latin typeface="Calibri"/>
              </a:rPr>
              <a:t>▸  Diqqat: xato qilish xavfi. FVIIIra sezgirligi 100%, o‘ziga xosligi 47%; sezgirlik ≠ o‘ziga xoslik, yolg‘iz dalil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4.1-bo‘lim, PMID 38248045, 4.2-bo‘lim, PMID 38248045, 4.3-bo‘lim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O‘sish omillari: TGF va VEGF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TGF-α va TGF-β1 jarohatdan 10 daqiqada javob beradi, 30–60 daqiqada keskin kuchayadi.</a:t>
            </a:r>
          </a:p>
          <a:p>
            <a:pPr>
              <a:spcAft>
                <a:spcPts val="800"/>
              </a:spcAft>
            </a:pPr>
            <a:r>
              <a:rPr sz="1800">
                <a:solidFill>
                  <a:srgbClr val="1F2937"/>
                </a:solidFill>
                <a:latin typeface="Calibri"/>
              </a:rPr>
              <a:t>▸  TGF-α EGFga o‘xshash, erta angiogenezni boshqaradi; TGF-α va TGF-β1 o‘zaro bog‘liq emas.</a:t>
            </a:r>
          </a:p>
          <a:p>
            <a:pPr>
              <a:spcAft>
                <a:spcPts val="800"/>
              </a:spcAft>
            </a:pPr>
            <a:r>
              <a:rPr sz="1800">
                <a:solidFill>
                  <a:srgbClr val="1F2937"/>
                </a:solidFill>
                <a:latin typeface="Calibri"/>
              </a:rPr>
              <a:t>▸  VEGF-musbat hujayralar &gt;50% bo‘lsa, jarohat yoshi 7–14 kun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TGF-α/β1: 10 daqiqa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Kuchayish: 30–60 daqiqa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VEGF-siz neytrofil: 4 s–1 kun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VEGF+ &gt;50%: 7–14 kun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Kalamush: cho‘qqi 5–7 kun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O‘sish omillari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4.4-bo‘lim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Fermentlar: esteraza, MMP, COX-2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Nospetsifik esteraza vital jarohatlarning ~40% ida topilgan (1 soat–5 kun oralig‘ida).</a:t>
            </a:r>
          </a:p>
          <a:p>
            <a:pPr>
              <a:spcAft>
                <a:spcPts val="800"/>
              </a:spcAft>
            </a:pPr>
            <a:r>
              <a:rPr sz="1800">
                <a:solidFill>
                  <a:srgbClr val="1F2937"/>
                </a:solidFill>
                <a:latin typeface="Calibri"/>
              </a:rPr>
              <a:t>▸  MMP-2+ va MMP-9+ makrofaglar yara yoshi bilan ko‘payadi; MMP-9 oralig‘i manbada 4–14 va 3–14 kun deb berilgan.</a:t>
            </a:r>
          </a:p>
          <a:p>
            <a:pPr>
              <a:spcAft>
                <a:spcPts val="800"/>
              </a:spcAft>
            </a:pPr>
            <a:r>
              <a:rPr sz="1800">
                <a:solidFill>
                  <a:srgbClr val="1F2937"/>
                </a:solidFill>
                <a:latin typeface="Calibri"/>
              </a:rPr>
              <a:t>▸  Diqqat: COX-2 (siklooksigenaza-2) &gt;40% bo‘lsa 8 soat–3 kun; &gt;50% sud-tibbiy ahamiyatli bo‘lishi mumkin.</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995462"/>
                <a:gridCol w="1696142"/>
                <a:gridCol w="1596369"/>
              </a:tblGrid>
              <a:tr h="614476">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Chegara</a:t>
                      </a:r>
                    </a:p>
                  </a:txBody>
                  <a:tcPr marL="73152" marR="73152" marT="36576" marB="36576">
                    <a:solidFill>
                      <a:srgbClr val="0B1F3A"/>
                    </a:solidFill>
                  </a:tcPr>
                </a:tc>
                <a:tc>
                  <a:txBody>
                    <a:bodyPr/>
                    <a:lstStyle/>
                    <a:p>
                      <a:r>
                        <a:rPr sz="1600" b="1">
                          <a:solidFill>
                            <a:srgbClr val="FFFFFF"/>
                          </a:solidFill>
                        </a:rPr>
                        <a:t>Yara yoshi</a:t>
                      </a:r>
                    </a:p>
                  </a:txBody>
                  <a:tcPr marL="73152" marR="73152" marT="36576" marB="36576">
                    <a:solidFill>
                      <a:srgbClr val="0B1F3A"/>
                    </a:solidFill>
                  </a:tcPr>
                </a:tc>
              </a:tr>
              <a:tr h="614476">
                <a:tc>
                  <a:txBody>
                    <a:bodyPr/>
                    <a:lstStyle/>
                    <a:p>
                      <a:r>
                        <a:rPr sz="1500" b="0">
                          <a:solidFill>
                            <a:srgbClr val="1F2937"/>
                          </a:solidFill>
                        </a:rPr>
                        <a:t>Nospetsifik esteraza</a:t>
                      </a:r>
                    </a:p>
                  </a:txBody>
                  <a:tcPr marL="73152" marR="73152" marT="36576" marB="36576">
                    <a:solidFill>
                      <a:srgbClr val="E8EEF6"/>
                    </a:solidFill>
                  </a:tcPr>
                </a:tc>
                <a:tc>
                  <a:txBody>
                    <a:bodyPr/>
                    <a:lstStyle/>
                    <a:p>
                      <a:r>
                        <a:rPr sz="1500" b="0">
                          <a:solidFill>
                            <a:srgbClr val="1F2937"/>
                          </a:solidFill>
                        </a:rPr>
                        <a:t>~40% namunada</a:t>
                      </a:r>
                    </a:p>
                  </a:txBody>
                  <a:tcPr marL="73152" marR="73152" marT="36576" marB="36576">
                    <a:solidFill>
                      <a:srgbClr val="E8EEF6"/>
                    </a:solidFill>
                  </a:tcPr>
                </a:tc>
                <a:tc>
                  <a:txBody>
                    <a:bodyPr/>
                    <a:lstStyle/>
                    <a:p>
                      <a:r>
                        <a:rPr sz="1500" b="0">
                          <a:solidFill>
                            <a:srgbClr val="1F2937"/>
                          </a:solidFill>
                        </a:rPr>
                        <a:t>1 soat–5 kun</a:t>
                      </a:r>
                    </a:p>
                  </a:txBody>
                  <a:tcPr marL="73152" marR="73152" marT="36576" marB="36576">
                    <a:solidFill>
                      <a:srgbClr val="E8EEF6"/>
                    </a:solidFill>
                  </a:tcPr>
                </a:tc>
              </a:tr>
              <a:tr h="614476">
                <a:tc>
                  <a:txBody>
                    <a:bodyPr/>
                    <a:lstStyle/>
                    <a:p>
                      <a:r>
                        <a:rPr sz="1500" b="0">
                          <a:solidFill>
                            <a:srgbClr val="1F2937"/>
                          </a:solidFill>
                        </a:rPr>
                        <a:t>MMP-2+ makrofaglar</a:t>
                      </a:r>
                    </a:p>
                  </a:txBody>
                  <a:tcPr marL="73152" marR="73152" marT="36576" marB="36576">
                    <a:solidFill>
                      <a:srgbClr val="FFFFFF"/>
                    </a:solidFill>
                  </a:tcPr>
                </a:tc>
                <a:tc>
                  <a:txBody>
                    <a:bodyPr/>
                    <a:lstStyle/>
                    <a:p>
                      <a:r>
                        <a:rPr sz="1500" b="0">
                          <a:solidFill>
                            <a:srgbClr val="1F2937"/>
                          </a:solidFill>
                        </a:rPr>
                        <a:t>&gt;25 hujayra</a:t>
                      </a:r>
                    </a:p>
                  </a:txBody>
                  <a:tcPr marL="73152" marR="73152" marT="36576" marB="36576">
                    <a:solidFill>
                      <a:srgbClr val="FFFFFF"/>
                    </a:solidFill>
                  </a:tcPr>
                </a:tc>
                <a:tc>
                  <a:txBody>
                    <a:bodyPr/>
                    <a:lstStyle/>
                    <a:p>
                      <a:r>
                        <a:rPr sz="1500" b="0">
                          <a:solidFill>
                            <a:srgbClr val="1F2937"/>
                          </a:solidFill>
                        </a:rPr>
                        <a:t>9–12 kun</a:t>
                      </a:r>
                    </a:p>
                  </a:txBody>
                  <a:tcPr marL="73152" marR="73152" marT="36576" marB="36576">
                    <a:solidFill>
                      <a:srgbClr val="FFFFFF"/>
                    </a:solidFill>
                  </a:tcPr>
                </a:tc>
              </a:tr>
              <a:tr h="614476">
                <a:tc>
                  <a:txBody>
                    <a:bodyPr/>
                    <a:lstStyle/>
                    <a:p>
                      <a:r>
                        <a:rPr sz="1500" b="0">
                          <a:solidFill>
                            <a:srgbClr val="1F2937"/>
                          </a:solidFill>
                        </a:rPr>
                        <a:t>MMP-9+ makrofaglar</a:t>
                      </a:r>
                    </a:p>
                  </a:txBody>
                  <a:tcPr marL="73152" marR="73152" marT="36576" marB="36576">
                    <a:solidFill>
                      <a:srgbClr val="E8EEF6"/>
                    </a:solidFill>
                  </a:tcPr>
                </a:tc>
                <a:tc>
                  <a:txBody>
                    <a:bodyPr/>
                    <a:lstStyle/>
                    <a:p>
                      <a:r>
                        <a:rPr sz="1500" b="0">
                          <a:solidFill>
                            <a:srgbClr val="1F2937"/>
                          </a:solidFill>
                        </a:rPr>
                        <a:t>&gt;30 hujayra</a:t>
                      </a:r>
                    </a:p>
                  </a:txBody>
                  <a:tcPr marL="73152" marR="73152" marT="36576" marB="36576">
                    <a:solidFill>
                      <a:srgbClr val="E8EEF6"/>
                    </a:solidFill>
                  </a:tcPr>
                </a:tc>
                <a:tc>
                  <a:txBody>
                    <a:bodyPr/>
                    <a:lstStyle/>
                    <a:p>
                      <a:r>
                        <a:rPr sz="1500" b="0">
                          <a:solidFill>
                            <a:srgbClr val="1F2937"/>
                          </a:solidFill>
                        </a:rPr>
                        <a:t>3–14 kun</a:t>
                      </a:r>
                    </a:p>
                  </a:txBody>
                  <a:tcPr marL="73152" marR="73152" marT="36576" marB="36576">
                    <a:solidFill>
                      <a:srgbClr val="E8EEF6"/>
                    </a:solidFill>
                  </a:tcPr>
                </a:tc>
              </a:tr>
              <a:tr h="614476">
                <a:tc>
                  <a:txBody>
                    <a:bodyPr/>
                    <a:lstStyle/>
                    <a:p>
                      <a:r>
                        <a:rPr sz="1500" b="0">
                          <a:solidFill>
                            <a:srgbClr val="1F2937"/>
                          </a:solidFill>
                        </a:rPr>
                        <a:t>COX-2</a:t>
                      </a:r>
                    </a:p>
                  </a:txBody>
                  <a:tcPr marL="73152" marR="73152" marT="36576" marB="36576">
                    <a:solidFill>
                      <a:srgbClr val="FFFFFF"/>
                    </a:solidFill>
                  </a:tcPr>
                </a:tc>
                <a:tc>
                  <a:txBody>
                    <a:bodyPr/>
                    <a:lstStyle/>
                    <a:p>
                      <a:r>
                        <a:rPr sz="1500" b="0">
                          <a:solidFill>
                            <a:srgbClr val="1F2937"/>
                          </a:solidFill>
                        </a:rPr>
                        <a:t>musbat ulush &gt;40%</a:t>
                      </a:r>
                    </a:p>
                  </a:txBody>
                  <a:tcPr marL="73152" marR="73152" marT="36576" marB="36576">
                    <a:solidFill>
                      <a:srgbClr val="FFFFFF"/>
                    </a:solidFill>
                  </a:tcPr>
                </a:tc>
                <a:tc>
                  <a:txBody>
                    <a:bodyPr/>
                    <a:lstStyle/>
                    <a:p>
                      <a:r>
                        <a:rPr sz="1500" b="0">
                          <a:solidFill>
                            <a:srgbClr val="1F2937"/>
                          </a:solidFill>
                        </a:rPr>
                        <a:t>8 soat–3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Ferment belgilari chegaralari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4.5-bo‘lim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Kollagenlar va bazal membrana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Kollagen III 2,5 kundan oldin ko‘rinmaydi; V uch kunda paydo bo‘ladi va III dan kuchsizroq bo‘ladi.</a:t>
            </a:r>
          </a:p>
          <a:p>
            <a:pPr>
              <a:spcAft>
                <a:spcPts val="800"/>
              </a:spcAft>
            </a:pPr>
            <a:r>
              <a:rPr sz="1800">
                <a:solidFill>
                  <a:srgbClr val="1F2937"/>
                </a:solidFill>
                <a:latin typeface="Calibri"/>
              </a:rPr>
              <a:t>▸  I va VI kollagen ~6–7 kunda paydo bo‘ladi; yo‘qligi yara 6–7 kundan yosh ekaniga ishora qiladi.</a:t>
            </a:r>
          </a:p>
          <a:p>
            <a:pPr>
              <a:spcAft>
                <a:spcPts val="800"/>
              </a:spcAft>
            </a:pPr>
            <a:r>
              <a:rPr sz="1800">
                <a:solidFill>
                  <a:srgbClr val="1F2937"/>
                </a:solidFill>
                <a:latin typeface="Calibri"/>
              </a:rPr>
              <a:t>▸  Diqqat: VII tur — bazal membrana kollageni; bo‘laklari ~4 kunda, to‘liq qayta tuzilishi 8+ kunda.</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34775"/>
                <a:gridCol w="1809750"/>
                <a:gridCol w="2243449"/>
              </a:tblGrid>
              <a:tr h="614476">
                <a:tc>
                  <a:txBody>
                    <a:bodyPr/>
                    <a:lstStyle/>
                    <a:p>
                      <a:r>
                        <a:rPr sz="1600" b="1">
                          <a:solidFill>
                            <a:srgbClr val="FFFFFF"/>
                          </a:solidFill>
                        </a:rPr>
                        <a:t>Kollagen</a:t>
                      </a:r>
                    </a:p>
                  </a:txBody>
                  <a:tcPr marL="73152" marR="73152" marT="36576" marB="36576">
                    <a:solidFill>
                      <a:srgbClr val="0B1F3A"/>
                    </a:solidFill>
                  </a:tcPr>
                </a:tc>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Belgi</a:t>
                      </a:r>
                    </a:p>
                  </a:txBody>
                  <a:tcPr marL="73152" marR="73152" marT="36576" marB="36576">
                    <a:solidFill>
                      <a:srgbClr val="0B1F3A"/>
                    </a:solidFill>
                  </a:tcPr>
                </a:tc>
              </a:tr>
              <a:tr h="614476">
                <a:tc>
                  <a:txBody>
                    <a:bodyPr/>
                    <a:lstStyle/>
                    <a:p>
                      <a:r>
                        <a:rPr sz="1500" b="0">
                          <a:solidFill>
                            <a:srgbClr val="1F2937"/>
                          </a:solidFill>
                        </a:rPr>
                        <a:t>III</a:t>
                      </a:r>
                    </a:p>
                  </a:txBody>
                  <a:tcPr marL="73152" marR="73152" marT="36576" marB="36576">
                    <a:solidFill>
                      <a:srgbClr val="E8EEF6"/>
                    </a:solidFill>
                  </a:tcPr>
                </a:tc>
                <a:tc>
                  <a:txBody>
                    <a:bodyPr/>
                    <a:lstStyle/>
                    <a:p>
                      <a:r>
                        <a:rPr sz="1500" b="0">
                          <a:solidFill>
                            <a:srgbClr val="1F2937"/>
                          </a:solidFill>
                        </a:rPr>
                        <a:t>Interstitsial</a:t>
                      </a:r>
                    </a:p>
                  </a:txBody>
                  <a:tcPr marL="73152" marR="73152" marT="36576" marB="36576">
                    <a:solidFill>
                      <a:srgbClr val="E8EEF6"/>
                    </a:solidFill>
                  </a:tcPr>
                </a:tc>
                <a:tc>
                  <a:txBody>
                    <a:bodyPr/>
                    <a:lstStyle/>
                    <a:p>
                      <a:r>
                        <a:rPr sz="1500" b="0">
                          <a:solidFill>
                            <a:srgbClr val="1F2937"/>
                          </a:solidFill>
                        </a:rPr>
                        <a:t>&lt;2,5 kunda yo‘q; &gt;5 kunda kuchayadi</a:t>
                      </a:r>
                    </a:p>
                  </a:txBody>
                  <a:tcPr marL="73152" marR="73152" marT="36576" marB="36576">
                    <a:solidFill>
                      <a:srgbClr val="E8EEF6"/>
                    </a:solidFill>
                  </a:tcPr>
                </a:tc>
              </a:tr>
              <a:tr h="614476">
                <a:tc>
                  <a:txBody>
                    <a:bodyPr/>
                    <a:lstStyle/>
                    <a:p>
                      <a:r>
                        <a:rPr sz="1500" b="0">
                          <a:solidFill>
                            <a:srgbClr val="1F2937"/>
                          </a:solidFill>
                        </a:rPr>
                        <a:t>V</a:t>
                      </a:r>
                    </a:p>
                  </a:txBody>
                  <a:tcPr marL="73152" marR="73152" marT="36576" marB="36576">
                    <a:solidFill>
                      <a:srgbClr val="FFFFFF"/>
                    </a:solidFill>
                  </a:tcPr>
                </a:tc>
                <a:tc>
                  <a:txBody>
                    <a:bodyPr/>
                    <a:lstStyle/>
                    <a:p>
                      <a:r>
                        <a:rPr sz="1500" b="0">
                          <a:solidFill>
                            <a:srgbClr val="1F2937"/>
                          </a:solidFill>
                        </a:rPr>
                        <a:t>Interstitsial</a:t>
                      </a:r>
                    </a:p>
                  </a:txBody>
                  <a:tcPr marL="73152" marR="73152" marT="36576" marB="36576">
                    <a:solidFill>
                      <a:srgbClr val="FFFFFF"/>
                    </a:solidFill>
                  </a:tcPr>
                </a:tc>
                <a:tc>
                  <a:txBody>
                    <a:bodyPr/>
                    <a:lstStyle/>
                    <a:p>
                      <a:r>
                        <a:rPr sz="1500" b="0">
                          <a:solidFill>
                            <a:srgbClr val="1F2937"/>
                          </a:solidFill>
                        </a:rPr>
                        <a:t>~3 kun; III dan kuchsizroq</a:t>
                      </a:r>
                    </a:p>
                  </a:txBody>
                  <a:tcPr marL="73152" marR="73152" marT="36576" marB="36576">
                    <a:solidFill>
                      <a:srgbClr val="FFFFFF"/>
                    </a:solidFill>
                  </a:tcPr>
                </a:tc>
              </a:tr>
              <a:tr h="614476">
                <a:tc>
                  <a:txBody>
                    <a:bodyPr/>
                    <a:lstStyle/>
                    <a:p>
                      <a:r>
                        <a:rPr sz="1500" b="0">
                          <a:solidFill>
                            <a:srgbClr val="1F2937"/>
                          </a:solidFill>
                        </a:rPr>
                        <a:t>I va VI</a:t>
                      </a:r>
                    </a:p>
                  </a:txBody>
                  <a:tcPr marL="73152" marR="73152" marT="36576" marB="36576">
                    <a:solidFill>
                      <a:srgbClr val="E8EEF6"/>
                    </a:solidFill>
                  </a:tcPr>
                </a:tc>
                <a:tc>
                  <a:txBody>
                    <a:bodyPr/>
                    <a:lstStyle/>
                    <a:p>
                      <a:r>
                        <a:rPr sz="1500" b="0">
                          <a:solidFill>
                            <a:srgbClr val="1F2937"/>
                          </a:solidFill>
                        </a:rPr>
                        <a:t>Interstitsial</a:t>
                      </a:r>
                    </a:p>
                  </a:txBody>
                  <a:tcPr marL="73152" marR="73152" marT="36576" marB="36576">
                    <a:solidFill>
                      <a:srgbClr val="E8EEF6"/>
                    </a:solidFill>
                  </a:tcPr>
                </a:tc>
                <a:tc>
                  <a:txBody>
                    <a:bodyPr/>
                    <a:lstStyle/>
                    <a:p>
                      <a:r>
                        <a:rPr sz="1500" b="0">
                          <a:solidFill>
                            <a:srgbClr val="1F2937"/>
                          </a:solidFill>
                        </a:rPr>
                        <a:t>~6–7 kun</a:t>
                      </a:r>
                    </a:p>
                  </a:txBody>
                  <a:tcPr marL="73152" marR="73152" marT="36576" marB="36576">
                    <a:solidFill>
                      <a:srgbClr val="E8EEF6"/>
                    </a:solidFill>
                  </a:tcPr>
                </a:tc>
              </a:tr>
              <a:tr h="614476">
                <a:tc>
                  <a:txBody>
                    <a:bodyPr/>
                    <a:lstStyle/>
                    <a:p>
                      <a:r>
                        <a:rPr sz="1500" b="0">
                          <a:solidFill>
                            <a:srgbClr val="1F2937"/>
                          </a:solidFill>
                        </a:rPr>
                        <a:t>VII</a:t>
                      </a:r>
                    </a:p>
                  </a:txBody>
                  <a:tcPr marL="73152" marR="73152" marT="36576" marB="36576">
                    <a:solidFill>
                      <a:srgbClr val="FFFFFF"/>
                    </a:solidFill>
                  </a:tcPr>
                </a:tc>
                <a:tc>
                  <a:txBody>
                    <a:bodyPr/>
                    <a:lstStyle/>
                    <a:p>
                      <a:r>
                        <a:rPr sz="1500" b="0">
                          <a:solidFill>
                            <a:srgbClr val="1F2937"/>
                          </a:solidFill>
                        </a:rPr>
                        <a:t>Bazal membrana</a:t>
                      </a:r>
                    </a:p>
                  </a:txBody>
                  <a:tcPr marL="73152" marR="73152" marT="36576" marB="36576">
                    <a:solidFill>
                      <a:srgbClr val="FFFFFF"/>
                    </a:solidFill>
                  </a:tcPr>
                </a:tc>
                <a:tc>
                  <a:txBody>
                    <a:bodyPr/>
                    <a:lstStyle/>
                    <a:p>
                      <a:r>
                        <a:rPr sz="1500" b="0">
                          <a:solidFill>
                            <a:srgbClr val="1F2937"/>
                          </a:solidFill>
                        </a:rPr>
                        <a:t>~4 kun bo‘lak; 8+ kun to‘liq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Kollagenlar paydo bo‘lish vaqti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4.6-bo‘lim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Miofibroblast, laminin, fibronektin, tenastsin, selektin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α-SMA (alfa-silliq mushak aktini) pozitiv miofibroblastlar ~5 kunda paydo bo‘ladi; ~5 kunlik va undan eski yarani ko‘rsatadi, keksa yarani aniq belgilamaydi.</a:t>
            </a:r>
          </a:p>
          <a:p>
            <a:pPr>
              <a:spcAft>
                <a:spcPts val="1200"/>
              </a:spcAft>
            </a:pPr>
            <a:r>
              <a:rPr sz="2200">
                <a:solidFill>
                  <a:srgbClr val="1F2937"/>
                </a:solidFill>
                <a:latin typeface="Calibri"/>
              </a:rPr>
              <a:t>▸  Miofibroblast atrofida laminin va HSPG kamida 1,5 kunlik yarani bildiradi; laminin ko‘proq hujayra va yarada topilgani uchun foydaliroq.</a:t>
            </a:r>
          </a:p>
          <a:p>
            <a:pPr>
              <a:spcAft>
                <a:spcPts val="1200"/>
              </a:spcAft>
            </a:pPr>
            <a:r>
              <a:rPr sz="2200">
                <a:solidFill>
                  <a:srgbClr val="1F2937"/>
                </a:solidFill>
                <a:latin typeface="Calibri"/>
              </a:rPr>
              <a:t>▸  Diqqat: fibronektin vitallik belgisi sifatida o‘rganilgan, lekin o‘limdan keyingi musbat reaksiya qon komponentlari transudatsiyasidan bo‘lishi mumkin.</a:t>
            </a:r>
          </a:p>
          <a:p>
            <a:pPr>
              <a:spcAft>
                <a:spcPts val="1200"/>
              </a:spcAft>
            </a:pPr>
            <a:r>
              <a:rPr sz="2200">
                <a:solidFill>
                  <a:srgbClr val="1F2937"/>
                </a:solidFill>
                <a:latin typeface="Calibri"/>
              </a:rPr>
              <a:t>▸  Tenastsin bo‘yalishi yara yoshi bilan susayadi (~1,5 oyda ham ko‘rinadi); E-selektin 1 soat–17 kun topiladi, 12 soatda sezilarli kamayadi.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4.6-bo‘lim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markerlar: AQP, ORP150, ubikvitin, CHI3L1, EPC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Akvaporinlar (AQP) – suv tashuvchi kanal oqsillari bo‘lib, hujayralar ko‘chishida ishtirok etadi.</a:t>
            </a:r>
          </a:p>
          <a:p>
            <a:pPr>
              <a:spcAft>
                <a:spcPts val="800"/>
              </a:spcAft>
            </a:pPr>
            <a:r>
              <a:rPr sz="1800">
                <a:solidFill>
                  <a:srgbClr val="1F2937"/>
                </a:solidFill>
                <a:latin typeface="Calibri"/>
              </a:rPr>
              <a:t>▸  Ubikvitin: erta bosqichda neytrofillar va yadro ichida kuchli musbat reaksiya kuzatiladi.</a:t>
            </a:r>
          </a:p>
          <a:p>
            <a:pPr>
              <a:spcAft>
                <a:spcPts val="800"/>
              </a:spcAft>
            </a:pPr>
            <a:r>
              <a:rPr sz="1800">
                <a:solidFill>
                  <a:srgbClr val="1F2937"/>
                </a:solidFill>
                <a:latin typeface="Calibri"/>
              </a:rPr>
              <a:t>▸  ORP150 – hujayra stressida ortadigan oqsil; EPC – endotelial progenitor hujayralar.</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44229"/>
                <a:gridCol w="2566223"/>
                <a:gridCol w="1477522"/>
              </a:tblGrid>
              <a:tr h="614476">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Jarohat yoshi</a:t>
                      </a:r>
                    </a:p>
                  </a:txBody>
                  <a:tcPr marL="73152" marR="73152" marT="36576" marB="36576">
                    <a:solidFill>
                      <a:srgbClr val="0B1F3A"/>
                    </a:solidFill>
                  </a:tcPr>
                </a:tc>
              </a:tr>
              <a:tr h="614476">
                <a:tc>
                  <a:txBody>
                    <a:bodyPr/>
                    <a:lstStyle/>
                    <a:p>
                      <a:r>
                        <a:rPr sz="1500" b="0">
                          <a:solidFill>
                            <a:srgbClr val="1F2937"/>
                          </a:solidFill>
                        </a:rPr>
                        <a:t>AQP3</a:t>
                      </a:r>
                    </a:p>
                  </a:txBody>
                  <a:tcPr marL="73152" marR="73152" marT="36576" marB="36576">
                    <a:solidFill>
                      <a:srgbClr val="E8EEF6"/>
                    </a:solidFill>
                  </a:tcPr>
                </a:tc>
                <a:tc>
                  <a:txBody>
                    <a:bodyPr/>
                    <a:lstStyle/>
                    <a:p>
                      <a:r>
                        <a:rPr sz="1500" b="0">
                          <a:solidFill>
                            <a:srgbClr val="1F2937"/>
                          </a:solidFill>
                        </a:rPr>
                        <a:t>musbat hujayralar soni &gt;300</a:t>
                      </a:r>
                    </a:p>
                  </a:txBody>
                  <a:tcPr marL="73152" marR="73152" marT="36576" marB="36576">
                    <a:solidFill>
                      <a:srgbClr val="E8EEF6"/>
                    </a:solidFill>
                  </a:tcPr>
                </a:tc>
                <a:tc>
                  <a:txBody>
                    <a:bodyPr/>
                    <a:lstStyle/>
                    <a:p>
                      <a:r>
                        <a:rPr sz="1500" b="0">
                          <a:solidFill>
                            <a:srgbClr val="1F2937"/>
                          </a:solidFill>
                        </a:rPr>
                        <a:t>5–10 kun</a:t>
                      </a:r>
                    </a:p>
                  </a:txBody>
                  <a:tcPr marL="73152" marR="73152" marT="36576" marB="36576">
                    <a:solidFill>
                      <a:srgbClr val="E8EEF6"/>
                    </a:solidFill>
                  </a:tcPr>
                </a:tc>
              </a:tr>
              <a:tr h="614476">
                <a:tc>
                  <a:txBody>
                    <a:bodyPr/>
                    <a:lstStyle/>
                    <a:p>
                      <a:r>
                        <a:rPr sz="1500" b="0">
                          <a:solidFill>
                            <a:srgbClr val="1F2937"/>
                          </a:solidFill>
                        </a:rPr>
                        <a:t>ORP150</a:t>
                      </a:r>
                    </a:p>
                  </a:txBody>
                  <a:tcPr marL="73152" marR="73152" marT="36576" marB="36576">
                    <a:solidFill>
                      <a:srgbClr val="FFFFFF"/>
                    </a:solidFill>
                  </a:tcPr>
                </a:tc>
                <a:tc>
                  <a:txBody>
                    <a:bodyPr/>
                    <a:lstStyle/>
                    <a:p>
                      <a:r>
                        <a:rPr sz="1500" b="0">
                          <a:solidFill>
                            <a:srgbClr val="1F2937"/>
                          </a:solidFill>
                        </a:rPr>
                        <a:t>musbat ulush &gt;50%</a:t>
                      </a:r>
                    </a:p>
                  </a:txBody>
                  <a:tcPr marL="73152" marR="73152" marT="36576" marB="36576">
                    <a:solidFill>
                      <a:srgbClr val="FFFFFF"/>
                    </a:solidFill>
                  </a:tcPr>
                </a:tc>
                <a:tc>
                  <a:txBody>
                    <a:bodyPr/>
                    <a:lstStyle/>
                    <a:p>
                      <a:r>
                        <a:rPr sz="1500" b="0">
                          <a:solidFill>
                            <a:srgbClr val="1F2937"/>
                          </a:solidFill>
                        </a:rPr>
                        <a:t>7–14 kun</a:t>
                      </a:r>
                    </a:p>
                  </a:txBody>
                  <a:tcPr marL="73152" marR="73152" marT="36576" marB="36576">
                    <a:solidFill>
                      <a:srgbClr val="FFFFFF"/>
                    </a:solidFill>
                  </a:tcPr>
                </a:tc>
              </a:tr>
              <a:tr h="614476">
                <a:tc>
                  <a:txBody>
                    <a:bodyPr/>
                    <a:lstStyle/>
                    <a:p>
                      <a:r>
                        <a:rPr sz="1500" b="0">
                          <a:solidFill>
                            <a:srgbClr val="1F2937"/>
                          </a:solidFill>
                        </a:rPr>
                        <a:t>EPC</a:t>
                      </a:r>
                    </a:p>
                  </a:txBody>
                  <a:tcPr marL="73152" marR="73152" marT="36576" marB="36576">
                    <a:solidFill>
                      <a:srgbClr val="E8EEF6"/>
                    </a:solidFill>
                  </a:tcPr>
                </a:tc>
                <a:tc>
                  <a:txBody>
                    <a:bodyPr/>
                    <a:lstStyle/>
                    <a:p>
                      <a:r>
                        <a:rPr sz="1500" b="0">
                          <a:solidFill>
                            <a:srgbClr val="1F2937"/>
                          </a:solidFill>
                        </a:rPr>
                        <a:t>2-kundan paydo bo‘ladi, ko‘payadi</a:t>
                      </a:r>
                    </a:p>
                  </a:txBody>
                  <a:tcPr marL="73152" marR="73152" marT="36576" marB="36576">
                    <a:solidFill>
                      <a:srgbClr val="E8EEF6"/>
                    </a:solidFill>
                  </a:tcPr>
                </a:tc>
                <a:tc>
                  <a:txBody>
                    <a:bodyPr/>
                    <a:lstStyle/>
                    <a:p>
                      <a:r>
                        <a:rPr sz="1500" b="0">
                          <a:solidFill>
                            <a:srgbClr val="1F2937"/>
                          </a:solidFill>
                        </a:rPr>
                        <a:t>2 kundan keyin</a:t>
                      </a:r>
                    </a:p>
                  </a:txBody>
                  <a:tcPr marL="73152" marR="73152" marT="36576" marB="36576">
                    <a:solidFill>
                      <a:srgbClr val="E8EEF6"/>
                    </a:solidFill>
                  </a:tcPr>
                </a:tc>
              </a:tr>
              <a:tr h="614476">
                <a:tc>
                  <a:txBody>
                    <a:bodyPr/>
                    <a:lstStyle/>
                    <a:p>
                      <a:r>
                        <a:rPr sz="1500" b="0">
                          <a:solidFill>
                            <a:srgbClr val="1F2937"/>
                          </a:solidFill>
                        </a:rPr>
                        <a:t>CHI3L1</a:t>
                      </a:r>
                    </a:p>
                  </a:txBody>
                  <a:tcPr marL="73152" marR="73152" marT="36576" marB="36576">
                    <a:solidFill>
                      <a:srgbClr val="FFFFFF"/>
                    </a:solidFill>
                  </a:tcPr>
                </a:tc>
                <a:tc>
                  <a:txBody>
                    <a:bodyPr/>
                    <a:lstStyle/>
                    <a:p>
                      <a:r>
                        <a:rPr sz="1500" b="0">
                          <a:solidFill>
                            <a:srgbClr val="1F2937"/>
                          </a:solidFill>
                        </a:rPr>
                        <a:t>4–6-kunda keskin ko‘payadi</a:t>
                      </a:r>
                    </a:p>
                  </a:txBody>
                  <a:tcPr marL="73152" marR="73152" marT="36576" marB="36576">
                    <a:solidFill>
                      <a:srgbClr val="FFFFFF"/>
                    </a:solidFill>
                  </a:tcPr>
                </a:tc>
                <a:tc>
                  <a:txBody>
                    <a:bodyPr/>
                    <a:lstStyle/>
                    <a:p>
                      <a:r>
                        <a:rPr sz="1500" b="0">
                          <a:solidFill>
                            <a:srgbClr val="1F2937"/>
                          </a:solidFill>
                        </a:rPr>
                        <a:t>cho‘qqi 4–6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Kech bosqich markerlari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4.7-bo‘lim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Markerlar guruhlari bo‘yicha vaqt xaritasi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Koagulyatsiya omillari (fibronektin, CD62p, VIII omil) birinchi soatda eng aniq musbat bo‘ladi.</a:t>
            </a:r>
          </a:p>
          <a:p>
            <a:pPr>
              <a:spcAft>
                <a:spcPts val="800"/>
              </a:spcAft>
            </a:pPr>
            <a:r>
              <a:rPr sz="1800">
                <a:solidFill>
                  <a:srgbClr val="1F2937"/>
                </a:solidFill>
                <a:latin typeface="Calibri"/>
              </a:rPr>
              <a:t>▸  Sitokin va immun markerlar 1 soatdan 5 kungacha; dendritik hujayralar &gt;50 bo‘lsa, 14 kungacha.</a:t>
            </a:r>
          </a:p>
          <a:p>
            <a:pPr>
              <a:spcAft>
                <a:spcPts val="800"/>
              </a:spcAft>
            </a:pPr>
            <a:r>
              <a:rPr sz="1800">
                <a:solidFill>
                  <a:srgbClr val="1F2937"/>
                </a:solidFill>
                <a:latin typeface="Calibri"/>
              </a:rPr>
              <a:t>▸  Diqqat: bitta marker ishonchsiz; ko‘p markerli panel eng ishonchli yondashuv hisoblanadi.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1263592"/>
                <a:gridCol w="2214632"/>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Vaqt</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Koagulyatsiya</a:t>
                      </a:r>
                    </a:p>
                  </a:txBody>
                  <a:tcPr marL="73152" marR="73152" marT="36576" marB="36576">
                    <a:solidFill>
                      <a:srgbClr val="E8EEF6"/>
                    </a:solidFill>
                  </a:tcPr>
                </a:tc>
                <a:tc>
                  <a:txBody>
                    <a:bodyPr/>
                    <a:lstStyle/>
                    <a:p>
                      <a:r>
                        <a:rPr sz="1500" b="0">
                          <a:solidFill>
                            <a:srgbClr val="1F2937"/>
                          </a:solidFill>
                        </a:rPr>
                        <a:t>0–1 soat</a:t>
                      </a:r>
                    </a:p>
                  </a:txBody>
                  <a:tcPr marL="73152" marR="73152" marT="36576" marB="36576">
                    <a:solidFill>
                      <a:srgbClr val="E8EEF6"/>
                    </a:solidFill>
                  </a:tcPr>
                </a:tc>
                <a:tc>
                  <a:txBody>
                    <a:bodyPr/>
                    <a:lstStyle/>
                    <a:p>
                      <a:r>
                        <a:rPr sz="1500" b="0">
                          <a:solidFill>
                            <a:srgbClr val="1F2937"/>
                          </a:solidFill>
                        </a:rPr>
                        <a:t>fibronektin, CD62p, VIII omil</a:t>
                      </a:r>
                    </a:p>
                  </a:txBody>
                  <a:tcPr marL="73152" marR="73152" marT="36576" marB="36576">
                    <a:solidFill>
                      <a:srgbClr val="E8EEF6"/>
                    </a:solidFill>
                  </a:tcPr>
                </a:tc>
              </a:tr>
              <a:tr h="614476">
                <a:tc>
                  <a:txBody>
                    <a:bodyPr/>
                    <a:lstStyle/>
                    <a:p>
                      <a:r>
                        <a:rPr sz="1500" b="0">
                          <a:solidFill>
                            <a:srgbClr val="1F2937"/>
                          </a:solidFill>
                        </a:rPr>
                        <a:t>Sitokin va immun</a:t>
                      </a:r>
                    </a:p>
                  </a:txBody>
                  <a:tcPr marL="73152" marR="73152" marT="36576" marB="36576">
                    <a:solidFill>
                      <a:srgbClr val="FFFFFF"/>
                    </a:solidFill>
                  </a:tcPr>
                </a:tc>
                <a:tc>
                  <a:txBody>
                    <a:bodyPr/>
                    <a:lstStyle/>
                    <a:p>
                      <a:r>
                        <a:rPr sz="1500" b="0">
                          <a:solidFill>
                            <a:srgbClr val="1F2937"/>
                          </a:solidFill>
                        </a:rPr>
                        <a:t>1 soat–5 kun</a:t>
                      </a:r>
                    </a:p>
                  </a:txBody>
                  <a:tcPr marL="73152" marR="73152" marT="36576" marB="36576">
                    <a:solidFill>
                      <a:srgbClr val="FFFFFF"/>
                    </a:solidFill>
                  </a:tcPr>
                </a:tc>
                <a:tc>
                  <a:txBody>
                    <a:bodyPr/>
                    <a:lstStyle/>
                    <a:p>
                      <a:r>
                        <a:rPr sz="1500" b="0">
                          <a:solidFill>
                            <a:srgbClr val="1F2937"/>
                          </a:solidFill>
                        </a:rPr>
                        <a:t>IL-1, TNFα, CD14, makrofaglar</a:t>
                      </a:r>
                    </a:p>
                  </a:txBody>
                  <a:tcPr marL="73152" marR="73152" marT="36576" marB="36576">
                    <a:solidFill>
                      <a:srgbClr val="FFFFFF"/>
                    </a:solidFill>
                  </a:tcPr>
                </a:tc>
              </a:tr>
              <a:tr h="614476">
                <a:tc>
                  <a:txBody>
                    <a:bodyPr/>
                    <a:lstStyle/>
                    <a:p>
                      <a:r>
                        <a:rPr sz="1500" b="0">
                          <a:solidFill>
                            <a:srgbClr val="1F2937"/>
                          </a:solidFill>
                        </a:rPr>
                        <a:t>Dendritik hujayralar</a:t>
                      </a:r>
                    </a:p>
                  </a:txBody>
                  <a:tcPr marL="73152" marR="73152" marT="36576" marB="36576">
                    <a:solidFill>
                      <a:srgbClr val="E8EEF6"/>
                    </a:solidFill>
                  </a:tcPr>
                </a:tc>
                <a:tc>
                  <a:txBody>
                    <a:bodyPr/>
                    <a:lstStyle/>
                    <a:p>
                      <a:r>
                        <a:rPr sz="1500" b="0">
                          <a:solidFill>
                            <a:srgbClr val="1F2937"/>
                          </a:solidFill>
                        </a:rPr>
                        <a:t>14 kungacha</a:t>
                      </a:r>
                    </a:p>
                  </a:txBody>
                  <a:tcPr marL="73152" marR="73152" marT="36576" marB="36576">
                    <a:solidFill>
                      <a:srgbClr val="E8EEF6"/>
                    </a:solidFill>
                  </a:tcPr>
                </a:tc>
                <a:tc>
                  <a:txBody>
                    <a:bodyPr/>
                    <a:lstStyle/>
                    <a:p>
                      <a:r>
                        <a:rPr sz="1500" b="0">
                          <a:solidFill>
                            <a:srgbClr val="1F2937"/>
                          </a:solidFill>
                        </a:rPr>
                        <a:t>CD11c+/HLA-DRα+ soni &gt;50</a:t>
                      </a:r>
                    </a:p>
                  </a:txBody>
                  <a:tcPr marL="73152" marR="73152" marT="36576" marB="36576">
                    <a:solidFill>
                      <a:srgbClr val="E8EEF6"/>
                    </a:solidFill>
                  </a:tcPr>
                </a:tc>
              </a:tr>
              <a:tr h="614476">
                <a:tc>
                  <a:txBody>
                    <a:bodyPr/>
                    <a:lstStyle/>
                    <a:p>
                      <a:r>
                        <a:rPr sz="1500" b="0">
                          <a:solidFill>
                            <a:srgbClr val="1F2937"/>
                          </a:solidFill>
                        </a:rPr>
                        <a:t>Boshqa markerlar</a:t>
                      </a:r>
                    </a:p>
                  </a:txBody>
                  <a:tcPr marL="73152" marR="73152" marT="36576" marB="36576">
                    <a:solidFill>
                      <a:srgbClr val="FFFFFF"/>
                    </a:solidFill>
                  </a:tcPr>
                </a:tc>
                <a:tc>
                  <a:txBody>
                    <a:bodyPr/>
                    <a:lstStyle/>
                    <a:p>
                      <a:r>
                        <a:rPr sz="1500" b="0">
                          <a:solidFill>
                            <a:srgbClr val="1F2937"/>
                          </a:solidFill>
                        </a:rPr>
                        <a:t>2–14 kun</a:t>
                      </a:r>
                    </a:p>
                  </a:txBody>
                  <a:tcPr marL="73152" marR="73152" marT="36576" marB="36576">
                    <a:solidFill>
                      <a:srgbClr val="FFFFFF"/>
                    </a:solidFill>
                  </a:tcPr>
                </a:tc>
                <a:tc>
                  <a:txBody>
                    <a:bodyPr/>
                    <a:lstStyle/>
                    <a:p>
                      <a:r>
                        <a:rPr sz="1500" b="0">
                          <a:solidFill>
                            <a:srgbClr val="1F2937"/>
                          </a:solidFill>
                        </a:rPr>
                        <a:t>AQP, ORP150, ubikvitin, EPC</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Guruhlar va vaqt oralig‘i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4.1 va 5-bo‘limlar, PMID 38248045, 4.3 va 5-bo‘limlar, PMID 38248045, 4 va 5-bo‘limlar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fermentlar va kollagenlar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jarohat namunasida siklooksigenaza-2 (COX-2) musbat hujayralar ulushi &gt;40%, kollagen I va VI topilmadi.</a:t>
            </a:r>
          </a:p>
          <a:p>
            <a:pPr>
              <a:spcAft>
                <a:spcPts val="1200"/>
              </a:spcAft>
            </a:pPr>
            <a:r>
              <a:rPr sz="2200">
                <a:solidFill>
                  <a:srgbClr val="1F2937"/>
                </a:solidFill>
                <a:latin typeface="Calibri"/>
              </a:rPr>
              <a:t>▸  COX-2 ulushi &gt;40% jarohat yoshi 8 soatdan 3 kungacha ekanini ko‘rsatadi; &gt;50% sud-tibbiy ahamiyatga ega bo‘lishi mumkin.</a:t>
            </a:r>
          </a:p>
          <a:p>
            <a:pPr>
              <a:spcAft>
                <a:spcPts val="1200"/>
              </a:spcAft>
            </a:pPr>
            <a:r>
              <a:rPr sz="2200">
                <a:solidFill>
                  <a:srgbClr val="1F2937"/>
                </a:solidFill>
                <a:latin typeface="Calibri"/>
              </a:rPr>
              <a:t>▸  Kollagen I va VI odatda 6–7-kunlarda paydo bo‘ladi; ular yo‘qligi jarohat yoshi 6–7 kundan kam ekanini bildiradi.</a:t>
            </a:r>
          </a:p>
          <a:p>
            <a:pPr>
              <a:spcAft>
                <a:spcPts val="1200"/>
              </a:spcAft>
            </a:pPr>
            <a:r>
              <a:rPr sz="2200">
                <a:solidFill>
                  <a:srgbClr val="1F2937"/>
                </a:solidFill>
                <a:latin typeface="Calibri"/>
              </a:rPr>
              <a:t>▸  Xulosa: ikki natija bir-biriga zid emas, jarohat taxminan 8 soat–3 kun oralig‘ida. Savol: qaysi qo‘shimcha marker buni aniqlaydi?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4.5 va 4.6-bo‘limlar, PMID 38248045, 4.5 va 5-bo‘limlar, PMID 38248045, 4.6-bo‘lim, PMID 38248045, 4.5, 4.6 va 5-bo‘limlar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Teri bo‘limi xulosasi: ko‘p markerli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 nechta marker va usul birga qo‘llanganda sezgirlik va o‘ziga xoslik yuqori bo‘ladi, ammo ish ko‘proq vaqt va murakkablik talab qiladi.</a:t>
            </a:r>
          </a:p>
          <a:p>
            <a:pPr>
              <a:spcAft>
                <a:spcPts val="1200"/>
              </a:spcAft>
            </a:pPr>
            <a:r>
              <a:rPr sz="2200">
                <a:solidFill>
                  <a:srgbClr val="1F2937"/>
                </a:solidFill>
                <a:latin typeface="Calibri"/>
              </a:rPr>
              <a:t>▸  Marker paneli yolg‘iz markerdan ishonchliroq. Ko‘p markerli yondashuv jarohat yoshini baholashning eng ishonchli usuli deb hisoblanadi.</a:t>
            </a:r>
          </a:p>
          <a:p>
            <a:pPr>
              <a:spcAft>
                <a:spcPts val="1200"/>
              </a:spcAft>
            </a:pPr>
            <a:r>
              <a:rPr sz="2200">
                <a:solidFill>
                  <a:srgbClr val="1F2937"/>
                </a:solidFill>
                <a:latin typeface="Calibri"/>
              </a:rPr>
              <a:t>▸  Diqqat: immunogistokimyo (IHC) va immunofluoressensiya (IF) jarohat rivoji va hayotiyligini kuzatadi, lekin o‘limdan keyingi intervalni aniq belgilay olmaydi.</a:t>
            </a:r>
          </a:p>
          <a:p>
            <a:pPr>
              <a:spcAft>
                <a:spcPts val="1200"/>
              </a:spcAft>
            </a:pPr>
            <a:r>
              <a:rPr sz="2200">
                <a:solidFill>
                  <a:srgbClr val="1F2937"/>
                </a:solidFill>
                <a:latin typeface="Calibri"/>
              </a:rPr>
              <a:t>▸  Kelgusida o‘limdan keyingi jarohat yoshini baholash uchun yuqori sezgir va o‘ziga xos marker topish uchun yangi tadqiqotlar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gistologiyasi: diagenez va tafonomik muhit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Diagenez — suyakning kimyoviy va fizik o‘zgarishi: kollagen va gidroksiapatit nisbati siljiydi.</a:t>
            </a:r>
          </a:p>
          <a:p>
            <a:pPr>
              <a:spcAft>
                <a:spcPts val="800"/>
              </a:spcAft>
            </a:pPr>
            <a:r>
              <a:rPr sz="1800">
                <a:solidFill>
                  <a:srgbClr val="1F2937"/>
                </a:solidFill>
                <a:latin typeface="Calibri"/>
              </a:rPr>
              <a:t>▸  Harorat 10 °C ko‘tarilsa, reaksiya tezligi, jumladan mikrob faolligi, ikki baravar oshadi.</a:t>
            </a:r>
          </a:p>
          <a:p>
            <a:pPr>
              <a:spcAft>
                <a:spcPts val="800"/>
              </a:spcAft>
            </a:pPr>
            <a:r>
              <a:rPr sz="1800">
                <a:solidFill>
                  <a:srgbClr val="1F2937"/>
                </a:solidFill>
                <a:latin typeface="Calibri"/>
              </a:rPr>
              <a:t>▸  Diqqat: o‘limdan keyingi interval (PMI) va ko‘milish davri (BI) muhitga bog‘liq baholanadi.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Jasad parchalanishi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Atmosfera, litosfera, biosfera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Harorat, namlik, pH, mikroblar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Organik va noorganik nisbat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PMI/BI bilan bog‘lanish ehtimoli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 diagenezi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PMI tadqiqotlari: 13 maqola sharhi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Tizimli qidiruv PubMed va ScienceDirect da 1980–2023 yillar, faqat inglizcha maqolalar; suv muhitidagi parchalanish chiqarib tashlangan.</a:t>
            </a:r>
          </a:p>
          <a:p>
            <a:pPr>
              <a:spcAft>
                <a:spcPts val="800"/>
              </a:spcAft>
            </a:pPr>
            <a:r>
              <a:rPr sz="1600">
                <a:solidFill>
                  <a:srgbClr val="1F2937"/>
                </a:solidFill>
                <a:latin typeface="Calibri"/>
              </a:rPr>
              <a:t>▸  Yakuniy 13 maqolada uch tadqiqot Sirius Red/Fast Green, ikkitasi gematoksilin-eozin (HE), bittasi Picrosirius Red dan foydalangan.</a:t>
            </a:r>
          </a:p>
          <a:p>
            <a:pPr>
              <a:spcAft>
                <a:spcPts val="800"/>
              </a:spcAft>
            </a:pPr>
            <a:r>
              <a:rPr sz="1600">
                <a:solidFill>
                  <a:srgbClr val="1F2937"/>
                </a:solidFill>
                <a:latin typeface="Calibri"/>
              </a:rPr>
              <a:t>▸  Hamma tadqiqotda qolipga joylangan (embedded) suyak ishlatilgan; Delannoy (2018), Astolphi (2019) da suyak dekaltsifikatsiya qilingan.</a:t>
            </a:r>
          </a:p>
          <a:p>
            <a:pPr>
              <a:spcAft>
                <a:spcPts val="800"/>
              </a:spcAft>
            </a:pPr>
            <a:r>
              <a:rPr sz="1600">
                <a:solidFill>
                  <a:srgbClr val="1F2937"/>
                </a:solidFill>
                <a:latin typeface="Calibri"/>
              </a:rPr>
              <a:t>▸  Boaks (2014), Jellinghaus (2018, 2019) tadqiqotlarida dekaltsifikatsiya qilinmagan suyak ishlatilgan.</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Tahlilga kirgan maqola</a:t>
            </a:r>
          </a:p>
          <a:p>
            <a:pPr algn="l">
              <a:spcAft>
                <a:spcPts val="100"/>
              </a:spcAft>
            </a:pPr>
            <a:r>
              <a:rPr sz="3000" b="1">
                <a:solidFill>
                  <a:srgbClr val="0B1F3A"/>
                </a:solidFill>
                <a:latin typeface="Calibri"/>
              </a:rPr>
              <a:t>13</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Sirius Red/Fast Green</a:t>
            </a:r>
          </a:p>
          <a:p>
            <a:pPr algn="l">
              <a:spcAft>
                <a:spcPts val="100"/>
              </a:spcAft>
            </a:pPr>
            <a:r>
              <a:rPr sz="3000" b="1">
                <a:solidFill>
                  <a:srgbClr val="0B1F3A"/>
                </a:solidFill>
                <a:latin typeface="Calibri"/>
              </a:rPr>
              <a:t>3 tadqiqot</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HE</a:t>
            </a:r>
          </a:p>
          <a:p>
            <a:pPr algn="l">
              <a:spcAft>
                <a:spcPts val="100"/>
              </a:spcAft>
            </a:pPr>
            <a:r>
              <a:rPr sz="3000" b="1">
                <a:solidFill>
                  <a:srgbClr val="0B1F3A"/>
                </a:solidFill>
                <a:latin typeface="Calibri"/>
              </a:rPr>
              <a:t>2 tadqiqot</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Picrosirius Red</a:t>
            </a:r>
          </a:p>
          <a:p>
            <a:pPr algn="l">
              <a:spcAft>
                <a:spcPts val="100"/>
              </a:spcAft>
            </a:pPr>
            <a:r>
              <a:rPr sz="3000" b="1">
                <a:solidFill>
                  <a:srgbClr val="0B1F3A"/>
                </a:solidFill>
                <a:latin typeface="Calibri"/>
              </a:rPr>
              <a:t>1 tadqiqot</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Qidiruv yillari</a:t>
            </a:r>
          </a:p>
          <a:p>
            <a:pPr algn="l">
              <a:spcAft>
                <a:spcPts val="100"/>
              </a:spcAft>
            </a:pPr>
            <a:r>
              <a:rPr sz="3000" b="1">
                <a:solidFill>
                  <a:srgbClr val="0B1F3A"/>
                </a:solidFill>
                <a:latin typeface="Calibri"/>
              </a:rPr>
              <a:t>1980–2023</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Sluis va boshq. (2025): suyak sharhi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 Relevant studies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Suyakning tuzilishi, autoliz va chirish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Suyak ~20% g‘ovak va ~80% zich moddadan iborat. Tarkibi: organik qism 25%, noorganik 60–70%, suv 9,7%. Organik qism asosan I tip kollagen.</a:t>
            </a:r>
          </a:p>
          <a:p>
            <a:pPr>
              <a:spcAft>
                <a:spcPts val="800"/>
              </a:spcAft>
            </a:pPr>
            <a:r>
              <a:rPr sz="1600">
                <a:solidFill>
                  <a:srgbClr val="1F2937"/>
                </a:solidFill>
                <a:latin typeface="Calibri"/>
              </a:rPr>
              <a:t>▸  Autolizda fermentlar (proteaza, DNaza) suyak hujayralarini parchalaydi. Kollagen kabi hujayradan tashqari oqsillar autolizga chidamli.</a:t>
            </a:r>
          </a:p>
          <a:p>
            <a:pPr>
              <a:spcAft>
                <a:spcPts val="800"/>
              </a:spcAft>
            </a:pPr>
            <a:r>
              <a:rPr sz="1600">
                <a:solidFill>
                  <a:srgbClr val="1F2937"/>
                </a:solidFill>
                <a:latin typeface="Calibri"/>
              </a:rPr>
              <a:t>▸  Chirishda kislotali metabolitlar matritsani qisman eritadi. Mikroorganizmlar ichkariga kirib, kollagenazalar yordamida kollagenni gidroliz qiladi.</a:t>
            </a:r>
          </a:p>
          <a:p>
            <a:pPr>
              <a:spcAft>
                <a:spcPts val="800"/>
              </a:spcAft>
            </a:pPr>
            <a:r>
              <a:rPr sz="1600">
                <a:solidFill>
                  <a:srgbClr val="1F2937"/>
                </a:solidFill>
                <a:latin typeface="Calibri"/>
              </a:rPr>
              <a:t>▸  Hackett bo‘yicha tunnel turlari: Wedl (zamburug‘), chiziqli bo‘ylama, kurtakli va qatlamli (uchalasi bakterial).</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G‘ovak / zich suyak</a:t>
            </a:r>
          </a:p>
          <a:p>
            <a:pPr algn="l">
              <a:spcAft>
                <a:spcPts val="100"/>
              </a:spcAft>
            </a:pPr>
            <a:r>
              <a:rPr sz="3000" b="1">
                <a:solidFill>
                  <a:srgbClr val="0B1F3A"/>
                </a:solidFill>
                <a:latin typeface="Calibri"/>
              </a:rPr>
              <a:t>20 % / 80 %</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Organik qism</a:t>
            </a:r>
          </a:p>
          <a:p>
            <a:pPr algn="l">
              <a:spcAft>
                <a:spcPts val="100"/>
              </a:spcAft>
            </a:pPr>
            <a:r>
              <a:rPr sz="3000" b="1">
                <a:solidFill>
                  <a:srgbClr val="0B1F3A"/>
                </a:solidFill>
                <a:latin typeface="Calibri"/>
              </a:rPr>
              <a:t>25 %</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Noorganik qism</a:t>
            </a:r>
          </a:p>
          <a:p>
            <a:pPr algn="l">
              <a:spcAft>
                <a:spcPts val="100"/>
              </a:spcAft>
            </a:pPr>
            <a:r>
              <a:rPr sz="3000" b="1">
                <a:solidFill>
                  <a:srgbClr val="0B1F3A"/>
                </a:solidFill>
                <a:latin typeface="Calibri"/>
              </a:rPr>
              <a:t>60–70 %</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Suv</a:t>
            </a:r>
          </a:p>
          <a:p>
            <a:pPr algn="l">
              <a:spcAft>
                <a:spcPts val="100"/>
              </a:spcAft>
            </a:pPr>
            <a:r>
              <a:rPr sz="3000" b="1">
                <a:solidFill>
                  <a:srgbClr val="0B1F3A"/>
                </a:solidFill>
                <a:latin typeface="Calibri"/>
              </a:rPr>
              <a:t>9,7 %</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Suyak tarkibi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 va ishqorning suyakka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Kuchli kislotada (masalan, xlorid kislota, HCl) suyak soatlar ichida eriydi; kortikal suyak chidamliroq.</a:t>
            </a:r>
          </a:p>
          <a:p>
            <a:pPr>
              <a:spcAft>
                <a:spcPts val="800"/>
              </a:spcAft>
            </a:pPr>
            <a:r>
              <a:rPr sz="1800">
                <a:solidFill>
                  <a:srgbClr val="1F2937"/>
                </a:solidFill>
                <a:latin typeface="Calibri"/>
              </a:rPr>
              <a:t>▸  Sulfat kislota suyakni 7 kunda eritadi; ishqor esa faqat ilik bo‘shlig‘i mazmunini eritadi.</a:t>
            </a:r>
          </a:p>
          <a:p>
            <a:pPr>
              <a:spcAft>
                <a:spcPts val="800"/>
              </a:spcAft>
            </a:pPr>
            <a:r>
              <a:rPr sz="1800">
                <a:solidFill>
                  <a:srgbClr val="1F2937"/>
                </a:solidFill>
                <a:latin typeface="Calibri"/>
              </a:rPr>
              <a:t>▸  Kislota minerallarga, ishqor ilik bo‘shlig‘iga ta’sir etadi; kislota ta’siri dekaltsifikatsiyaga o‘xshaydi.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144334"/>
                <a:gridCol w="1809750"/>
                <a:gridCol w="2333890"/>
              </a:tblGrid>
              <a:tr h="614476">
                <a:tc>
                  <a:txBody>
                    <a:bodyPr/>
                    <a:lstStyle/>
                    <a:p>
                      <a:r>
                        <a:rPr sz="1600" b="1">
                          <a:solidFill>
                            <a:srgbClr val="FFFFFF"/>
                          </a:solidFill>
                        </a:rPr>
                        <a:t>Muhit</a:t>
                      </a:r>
                    </a:p>
                  </a:txBody>
                  <a:tcPr marL="73152" marR="73152" marT="36576" marB="36576">
                    <a:solidFill>
                      <a:srgbClr val="0B1F3A"/>
                    </a:solidFill>
                  </a:tcPr>
                </a:tc>
                <a:tc>
                  <a:txBody>
                    <a:bodyPr/>
                    <a:lstStyle/>
                    <a:p>
                      <a:r>
                        <a:rPr sz="1600" b="1">
                          <a:solidFill>
                            <a:srgbClr val="FFFFFF"/>
                          </a:solidFill>
                        </a:rPr>
                        <a:t>Ta’sir vaqti</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10% HCl</a:t>
                      </a:r>
                    </a:p>
                  </a:txBody>
                  <a:tcPr marL="73152" marR="73152" marT="36576" marB="36576">
                    <a:solidFill>
                      <a:srgbClr val="E8EEF6"/>
                    </a:solidFill>
                  </a:tcPr>
                </a:tc>
                <a:tc>
                  <a:txBody>
                    <a:bodyPr/>
                    <a:lstStyle/>
                    <a:p>
                      <a:r>
                        <a:rPr sz="1500" b="0">
                          <a:solidFill>
                            <a:srgbClr val="1F2937"/>
                          </a:solidFill>
                        </a:rPr>
                        <a:t>19 soat</a:t>
                      </a:r>
                    </a:p>
                  </a:txBody>
                  <a:tcPr marL="73152" marR="73152" marT="36576" marB="36576">
                    <a:solidFill>
                      <a:srgbClr val="E8EEF6"/>
                    </a:solidFill>
                  </a:tcPr>
                </a:tc>
                <a:tc>
                  <a:txBody>
                    <a:bodyPr/>
                    <a:lstStyle/>
                    <a:p>
                      <a:r>
                        <a:rPr sz="1500" b="0">
                          <a:solidFill>
                            <a:srgbClr val="1F2937"/>
                          </a:solidFill>
                        </a:rPr>
                        <a:t>Gistologik tuzilma ta’sirlanadi</a:t>
                      </a:r>
                    </a:p>
                  </a:txBody>
                  <a:tcPr marL="73152" marR="73152" marT="36576" marB="36576">
                    <a:solidFill>
                      <a:srgbClr val="E8EEF6"/>
                    </a:solidFill>
                  </a:tcPr>
                </a:tc>
              </a:tr>
              <a:tr h="614476">
                <a:tc>
                  <a:txBody>
                    <a:bodyPr/>
                    <a:lstStyle/>
                    <a:p>
                      <a:r>
                        <a:rPr sz="1500" b="0">
                          <a:solidFill>
                            <a:srgbClr val="1F2937"/>
                          </a:solidFill>
                        </a:rPr>
                        <a:t>37% HCl</a:t>
                      </a:r>
                    </a:p>
                  </a:txBody>
                  <a:tcPr marL="73152" marR="73152" marT="36576" marB="36576">
                    <a:solidFill>
                      <a:srgbClr val="FFFFFF"/>
                    </a:solidFill>
                  </a:tcPr>
                </a:tc>
                <a:tc>
                  <a:txBody>
                    <a:bodyPr/>
                    <a:lstStyle/>
                    <a:p>
                      <a:r>
                        <a:rPr sz="1500" b="0">
                          <a:solidFill>
                            <a:srgbClr val="1F2937"/>
                          </a:solidFill>
                        </a:rPr>
                        <a:t>3 soat</a:t>
                      </a:r>
                    </a:p>
                  </a:txBody>
                  <a:tcPr marL="73152" marR="73152" marT="36576" marB="36576">
                    <a:solidFill>
                      <a:srgbClr val="FFFFFF"/>
                    </a:solidFill>
                  </a:tcPr>
                </a:tc>
                <a:tc>
                  <a:txBody>
                    <a:bodyPr/>
                    <a:lstStyle/>
                    <a:p>
                      <a:r>
                        <a:rPr sz="1500" b="0">
                          <a:solidFill>
                            <a:srgbClr val="1F2937"/>
                          </a:solidFill>
                        </a:rPr>
                        <a:t>To‘liq parchalanadi</a:t>
                      </a:r>
                    </a:p>
                  </a:txBody>
                  <a:tcPr marL="73152" marR="73152" marT="36576" marB="36576">
                    <a:solidFill>
                      <a:srgbClr val="FFFFFF"/>
                    </a:solidFill>
                  </a:tcPr>
                </a:tc>
              </a:tr>
              <a:tr h="614476">
                <a:tc>
                  <a:txBody>
                    <a:bodyPr/>
                    <a:lstStyle/>
                    <a:p>
                      <a:r>
                        <a:rPr sz="1500" b="0">
                          <a:solidFill>
                            <a:srgbClr val="1F2937"/>
                          </a:solidFill>
                        </a:rPr>
                        <a:t>Sulfat kislota</a:t>
                      </a:r>
                    </a:p>
                  </a:txBody>
                  <a:tcPr marL="73152" marR="73152" marT="36576" marB="36576">
                    <a:solidFill>
                      <a:srgbClr val="E8EEF6"/>
                    </a:solidFill>
                  </a:tcPr>
                </a:tc>
                <a:tc>
                  <a:txBody>
                    <a:bodyPr/>
                    <a:lstStyle/>
                    <a:p>
                      <a:r>
                        <a:rPr sz="1500" b="0">
                          <a:solidFill>
                            <a:srgbClr val="1F2937"/>
                          </a:solidFill>
                        </a:rPr>
                        <a:t>1 kun / 7 kun</a:t>
                      </a:r>
                    </a:p>
                  </a:txBody>
                  <a:tcPr marL="73152" marR="73152" marT="36576" marB="36576">
                    <a:solidFill>
                      <a:srgbClr val="E8EEF6"/>
                    </a:solidFill>
                  </a:tcPr>
                </a:tc>
                <a:tc>
                  <a:txBody>
                    <a:bodyPr/>
                    <a:lstStyle/>
                    <a:p>
                      <a:r>
                        <a:rPr sz="1500" b="0">
                          <a:solidFill>
                            <a:srgbClr val="1F2937"/>
                          </a:solidFill>
                        </a:rPr>
                        <a:t>Yaxlitlik yo‘qoladi / eriydi</a:t>
                      </a:r>
                    </a:p>
                  </a:txBody>
                  <a:tcPr marL="73152" marR="73152" marT="36576" marB="36576">
                    <a:solidFill>
                      <a:srgbClr val="E8EEF6"/>
                    </a:solidFill>
                  </a:tcPr>
                </a:tc>
              </a:tr>
              <a:tr h="614476">
                <a:tc>
                  <a:txBody>
                    <a:bodyPr/>
                    <a:lstStyle/>
                    <a:p>
                      <a:r>
                        <a:rPr sz="1500" b="0">
                          <a:solidFill>
                            <a:srgbClr val="1F2937"/>
                          </a:solidFill>
                        </a:rPr>
                        <a:t>Ishqor (lye)</a:t>
                      </a:r>
                    </a:p>
                  </a:txBody>
                  <a:tcPr marL="73152" marR="73152" marT="36576" marB="36576">
                    <a:solidFill>
                      <a:srgbClr val="FFFFFF"/>
                    </a:solidFill>
                  </a:tcPr>
                </a:tc>
                <a:tc>
                  <a:txBody>
                    <a:bodyPr/>
                    <a:lstStyle/>
                    <a:p>
                      <a:r>
                        <a:rPr sz="1500" b="0">
                          <a:solidFill>
                            <a:srgbClr val="1F2937"/>
                          </a:solidFill>
                        </a:rPr>
                        <a:t>Vaqt keltirilmagan</a:t>
                      </a:r>
                    </a:p>
                  </a:txBody>
                  <a:tcPr marL="73152" marR="73152" marT="36576" marB="36576">
                    <a:solidFill>
                      <a:srgbClr val="FFFFFF"/>
                    </a:solidFill>
                  </a:tcPr>
                </a:tc>
                <a:tc>
                  <a:txBody>
                    <a:bodyPr/>
                    <a:lstStyle/>
                    <a:p>
                      <a:r>
                        <a:rPr sz="1500" b="0">
                          <a:solidFill>
                            <a:srgbClr val="1F2937"/>
                          </a:solidFill>
                        </a:rPr>
                        <a:t>Ilik mazmuni eriydi, tuzilma saqlanadi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Kimyoviy muhit ta’siri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 'The bone matrix and taphonomic agents' bo‘limi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45 ta bo‘yoq va protokollar bo‘shlig‘i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Kollagen va osteotsitni ko‘rsatadi: Mallory, Gomori trichrome, Weigert rezortsin-fuksin usullari.</a:t>
            </a:r>
          </a:p>
          <a:p>
            <a:pPr>
              <a:spcAft>
                <a:spcPts val="800"/>
              </a:spcAft>
            </a:pPr>
            <a:r>
              <a:rPr sz="1800">
                <a:solidFill>
                  <a:srgbClr val="1F2937"/>
                </a:solidFill>
                <a:latin typeface="Calibri"/>
              </a:rPr>
              <a:t>▸  Dekaltsifikatsiyalanmagan kesmada organik va noorganik qismlar nisbatini baholash mumkin.</a:t>
            </a:r>
          </a:p>
          <a:p>
            <a:pPr>
              <a:spcAft>
                <a:spcPts val="800"/>
              </a:spcAft>
            </a:pPr>
            <a:r>
              <a:rPr sz="1800">
                <a:solidFill>
                  <a:srgbClr val="1F2937"/>
                </a:solidFill>
                <a:latin typeface="Calibri"/>
              </a:rPr>
              <a:t>▸  Protokol yetishmasligi va 42 bo‘yoqning sinalmaganligi keyingi tadqiqot yo‘nalishini belgilaydi.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Istiqbolli bo‘yoqlar</a:t>
            </a:r>
          </a:p>
          <a:p>
            <a:pPr algn="l">
              <a:spcAft>
                <a:spcPts val="100"/>
              </a:spcAft>
            </a:pPr>
            <a:r>
              <a:rPr sz="3000" b="1">
                <a:solidFill>
                  <a:srgbClr val="0B1F3A"/>
                </a:solidFill>
                <a:latin typeface="Calibri"/>
              </a:rPr>
              <a:t>45</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Embedded protokol</a:t>
            </a:r>
          </a:p>
          <a:p>
            <a:pPr algn="l">
              <a:spcAft>
                <a:spcPts val="100"/>
              </a:spcAft>
            </a:pPr>
            <a:r>
              <a:rPr sz="3000" b="1">
                <a:solidFill>
                  <a:srgbClr val="0B1F3A"/>
                </a:solidFill>
                <a:latin typeface="Calibri"/>
              </a:rPr>
              <a:t>8</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Non-embedded protokol</a:t>
            </a:r>
          </a:p>
          <a:p>
            <a:pPr algn="l">
              <a:spcAft>
                <a:spcPts val="100"/>
              </a:spcAft>
            </a:pPr>
            <a:r>
              <a:rPr sz="3000" b="1">
                <a:solidFill>
                  <a:srgbClr val="0B1F3A"/>
                </a:solidFill>
                <a:latin typeface="Calibri"/>
              </a:rPr>
              <a:t>2</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Sinalgan bo‘yoq</a:t>
            </a:r>
          </a:p>
          <a:p>
            <a:pPr algn="l">
              <a:spcAft>
                <a:spcPts val="100"/>
              </a:spcAft>
            </a:pPr>
            <a:r>
              <a:rPr sz="3000" b="1">
                <a:solidFill>
                  <a:srgbClr val="0B1F3A"/>
                </a:solidFill>
                <a:latin typeface="Calibri"/>
              </a:rPr>
              <a:t>3</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Sinalmagan bo‘yoq</a:t>
            </a:r>
          </a:p>
          <a:p>
            <a:pPr algn="l">
              <a:spcAft>
                <a:spcPts val="100"/>
              </a:spcAft>
            </a:pPr>
            <a:r>
              <a:rPr sz="3000" b="1">
                <a:solidFill>
                  <a:srgbClr val="0B1F3A"/>
                </a:solidFill>
                <a:latin typeface="Calibri"/>
              </a:rPr>
              <a:t>42</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Bo‘yoqlar va protokollar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 Abstract, PMID 40637841, Introduction, PMID 40637841, Abstract; Discussion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butunligi indeksi va bo‘yoq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Osteotsit yadrolari va lakunalar nisbati — suyak butunligi indeksi; saqlanish darajasini ko‘rsatadi va PMI bilan bog‘lanishi mumkin.</a:t>
            </a:r>
          </a:p>
          <a:p>
            <a:pPr>
              <a:spcAft>
                <a:spcPts val="800"/>
              </a:spcAft>
            </a:pPr>
            <a:r>
              <a:rPr sz="1600">
                <a:solidFill>
                  <a:srgbClr val="1F2937"/>
                </a:solidFill>
                <a:latin typeface="Calibri"/>
              </a:rPr>
              <a:t>▸  Osteotsit uchun Heidenhain va Gomori trichrome, toluidin ko‘ki, Azan trichrome mos; HE xondrotsitlar kamayishini 28 kunda ko‘rsatgan.</a:t>
            </a:r>
          </a:p>
          <a:p>
            <a:pPr>
              <a:spcAft>
                <a:spcPts val="800"/>
              </a:spcAft>
            </a:pPr>
            <a:r>
              <a:rPr sz="1600">
                <a:solidFill>
                  <a:srgbClr val="1F2937"/>
                </a:solidFill>
                <a:latin typeface="Calibri"/>
              </a:rPr>
              <a:t>▸  Matriks (kollagen) uchun Picrosirius Red, pikrofuksin va Sirius Red/Fast Green qo‘llanishi mumkin.</a:t>
            </a:r>
          </a:p>
          <a:p>
            <a:pPr>
              <a:spcAft>
                <a:spcPts val="800"/>
              </a:spcAft>
            </a:pPr>
            <a:r>
              <a:rPr sz="1600">
                <a:solidFill>
                  <a:srgbClr val="1F2937"/>
                </a:solidFill>
                <a:latin typeface="Calibri"/>
              </a:rPr>
              <a:t>▸  Astolphi (2019): ko‘milish davri va butunlik indeksi teskari bog‘liq, lekin matriks yo‘qolishi davr bilan bog‘lanmagan; tasdiqlangan usul yo‘q.</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Bo‘yoq tanlash</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Osteotsit uchun (indeks)</a:t>
            </a:r>
          </a:p>
          <a:p>
            <a:pPr algn="l">
              <a:spcAft>
                <a:spcPts val="0"/>
              </a:spcAft>
            </a:pPr>
            <a:r>
              <a:rPr sz="1200" b="0">
                <a:solidFill>
                  <a:srgbClr val="1F2937"/>
                </a:solidFill>
                <a:latin typeface="Calibri"/>
              </a:rPr>
              <a:t>Heidenhain, Gomori trichrome  ·  Toluidin ko‘ki, Azan trichrome  ·  HE (xondrotsitlar, 28 kun)</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Matriks (kollagen) uchun</a:t>
            </a:r>
          </a:p>
          <a:p>
            <a:pPr algn="l">
              <a:spcAft>
                <a:spcPts val="0"/>
              </a:spcAft>
            </a:pPr>
            <a:r>
              <a:rPr sz="1200" b="0">
                <a:solidFill>
                  <a:srgbClr val="1F2937"/>
                </a:solidFill>
                <a:latin typeface="Calibri"/>
              </a:rPr>
              <a:t>Picrosirius Red  ·  Pikrofuksin  ·  Sirius Red/Fast Green</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Kelgusida sinash</a:t>
            </a:r>
          </a:p>
          <a:p>
            <a:pPr algn="l">
              <a:spcAft>
                <a:spcPts val="0"/>
              </a:spcAft>
            </a:pPr>
            <a:r>
              <a:rPr sz="1200" b="0">
                <a:solidFill>
                  <a:srgbClr val="1F2937"/>
                </a:solidFill>
                <a:latin typeface="Calibri"/>
              </a:rPr>
              <a:t>Van Gieson  ·  Mallory trichrome</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Maqsadga mos bo‘yoq</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 Discussion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Sinalgan bo‘yoqlar: Sirius Red/Fast Green, PSR, HE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Sirius Red/Fast Green cho‘chqa va odam suyagida o‘lim muddati (PMI) oralig‘ini toraytirishga yordam beradi.</a:t>
            </a:r>
          </a:p>
          <a:p>
            <a:pPr>
              <a:spcAft>
                <a:spcPts val="800"/>
              </a:spcAft>
            </a:pPr>
            <a:r>
              <a:rPr sz="1800">
                <a:solidFill>
                  <a:srgbClr val="1F2937"/>
                </a:solidFill>
                <a:latin typeface="Calibri"/>
              </a:rPr>
              <a:t>▸  HE suyak morfologiyasini va yaxlitlik indeksini (osteotsit yadrolari/bo‘shliqlar nisbati) ko‘rsatadi.</a:t>
            </a:r>
          </a:p>
          <a:p>
            <a:pPr>
              <a:spcAft>
                <a:spcPts val="800"/>
              </a:spcAft>
            </a:pPr>
            <a:r>
              <a:rPr sz="1800">
                <a:solidFill>
                  <a:srgbClr val="1F2937"/>
                </a:solidFill>
                <a:latin typeface="Calibri"/>
              </a:rPr>
              <a:t>▸  Noma’lum PMI ni bashorat qiluvchi model hali yo‘q; u tuproq va muhit sharoitiga moslanishi kerak.</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636520"/>
                <a:gridCol w="1715272"/>
                <a:gridCol w="936182"/>
              </a:tblGrid>
              <a:tr h="768096">
                <a:tc>
                  <a:txBody>
                    <a:bodyPr/>
                    <a:lstStyle/>
                    <a:p>
                      <a:r>
                        <a:rPr sz="1600" b="1">
                          <a:solidFill>
                            <a:srgbClr val="FFFFFF"/>
                          </a:solidFill>
                        </a:rPr>
                        <a:t>Bo‘yoq</a:t>
                      </a:r>
                    </a:p>
                  </a:txBody>
                  <a:tcPr marL="73152" marR="73152" marT="36576" marB="36576">
                    <a:solidFill>
                      <a:srgbClr val="0B1F3A"/>
                    </a:solidFill>
                  </a:tcPr>
                </a:tc>
                <a:tc>
                  <a:txBody>
                    <a:bodyPr/>
                    <a:lstStyle/>
                    <a:p>
                      <a:r>
                        <a:rPr sz="1600" b="1">
                          <a:solidFill>
                            <a:srgbClr val="FFFFFF"/>
                          </a:solidFill>
                        </a:rPr>
                        <a:t>Ko‘rsatadi</a:t>
                      </a:r>
                    </a:p>
                  </a:txBody>
                  <a:tcPr marL="73152" marR="73152" marT="36576" marB="36576">
                    <a:solidFill>
                      <a:srgbClr val="0B1F3A"/>
                    </a:solidFill>
                  </a:tcPr>
                </a:tc>
                <a:tc>
                  <a:txBody>
                    <a:bodyPr/>
                    <a:lstStyle/>
                    <a:p>
                      <a:r>
                        <a:rPr sz="1600" b="1">
                          <a:solidFill>
                            <a:srgbClr val="FFFFFF"/>
                          </a:solidFill>
                        </a:rPr>
                        <a:t>PMI uchun</a:t>
                      </a:r>
                    </a:p>
                  </a:txBody>
                  <a:tcPr marL="73152" marR="73152" marT="36576" marB="36576">
                    <a:solidFill>
                      <a:srgbClr val="0B1F3A"/>
                    </a:solidFill>
                  </a:tcPr>
                </a:tc>
              </a:tr>
              <a:tr h="768096">
                <a:tc>
                  <a:txBody>
                    <a:bodyPr/>
                    <a:lstStyle/>
                    <a:p>
                      <a:r>
                        <a:rPr sz="1500" b="0">
                          <a:solidFill>
                            <a:srgbClr val="1F2937"/>
                          </a:solidFill>
                        </a:rPr>
                        <a:t>Sirius Red/Fast Green</a:t>
                      </a:r>
                    </a:p>
                  </a:txBody>
                  <a:tcPr marL="73152" marR="73152" marT="36576" marB="36576">
                    <a:solidFill>
                      <a:srgbClr val="E8EEF6"/>
                    </a:solidFill>
                  </a:tcPr>
                </a:tc>
                <a:tc>
                  <a:txBody>
                    <a:bodyPr/>
                    <a:lstStyle/>
                    <a:p>
                      <a:r>
                        <a:rPr sz="1500" b="0">
                          <a:solidFill>
                            <a:srgbClr val="1F2937"/>
                          </a:solidFill>
                        </a:rPr>
                        <a:t>Kollagen yaxlitligi o‘zgarishi</a:t>
                      </a:r>
                    </a:p>
                  </a:txBody>
                  <a:tcPr marL="73152" marR="73152" marT="36576" marB="36576">
                    <a:solidFill>
                      <a:srgbClr val="E8EEF6"/>
                    </a:solidFill>
                  </a:tcPr>
                </a:tc>
                <a:tc>
                  <a:txBody>
                    <a:bodyPr/>
                    <a:lstStyle/>
                    <a:p>
                      <a:r>
                        <a:rPr sz="1500" b="0">
                          <a:solidFill>
                            <a:srgbClr val="1F2937"/>
                          </a:solidFill>
                        </a:rPr>
                        <a:t>Statistik ahamiyatli o‘zgarish</a:t>
                      </a:r>
                    </a:p>
                  </a:txBody>
                  <a:tcPr marL="73152" marR="73152" marT="36576" marB="36576">
                    <a:solidFill>
                      <a:srgbClr val="E8EEF6"/>
                    </a:solidFill>
                  </a:tcPr>
                </a:tc>
              </a:tr>
              <a:tr h="768096">
                <a:tc>
                  <a:txBody>
                    <a:bodyPr/>
                    <a:lstStyle/>
                    <a:p>
                      <a:r>
                        <a:rPr sz="1500" b="0">
                          <a:solidFill>
                            <a:srgbClr val="1F2937"/>
                          </a:solidFill>
                        </a:rPr>
                        <a:t>Picrosirius Red</a:t>
                      </a:r>
                    </a:p>
                  </a:txBody>
                  <a:tcPr marL="73152" marR="73152" marT="36576" marB="36576">
                    <a:solidFill>
                      <a:srgbClr val="FFFFFF"/>
                    </a:solidFill>
                  </a:tcPr>
                </a:tc>
                <a:tc>
                  <a:txBody>
                    <a:bodyPr/>
                    <a:lstStyle/>
                    <a:p>
                      <a:r>
                        <a:rPr sz="1500" b="0">
                          <a:solidFill>
                            <a:srgbClr val="1F2937"/>
                          </a:solidFill>
                        </a:rPr>
                        <a:t>Kollagen parchalanishi</a:t>
                      </a:r>
                    </a:p>
                  </a:txBody>
                  <a:tcPr marL="73152" marR="73152" marT="36576" marB="36576">
                    <a:solidFill>
                      <a:srgbClr val="FFFFFF"/>
                    </a:solidFill>
                  </a:tcPr>
                </a:tc>
                <a:tc>
                  <a:txBody>
                    <a:bodyPr/>
                    <a:lstStyle/>
                    <a:p>
                      <a:r>
                        <a:rPr sz="1500" b="0">
                          <a:solidFill>
                            <a:srgbClr val="1F2937"/>
                          </a:solidFill>
                        </a:rPr>
                        <a:t>Vaqtga bog‘liq o‘zgarish</a:t>
                      </a:r>
                    </a:p>
                  </a:txBody>
                  <a:tcPr marL="73152" marR="73152" marT="36576" marB="36576">
                    <a:solidFill>
                      <a:srgbClr val="FFFFFF"/>
                    </a:solidFill>
                  </a:tcPr>
                </a:tc>
              </a:tr>
              <a:tr h="768096">
                <a:tc>
                  <a:txBody>
                    <a:bodyPr/>
                    <a:lstStyle/>
                    <a:p>
                      <a:r>
                        <a:rPr sz="1500" b="0">
                          <a:solidFill>
                            <a:srgbClr val="1F2937"/>
                          </a:solidFill>
                        </a:rPr>
                        <a:t>HE (gematoksilin–eozin)</a:t>
                      </a:r>
                    </a:p>
                  </a:txBody>
                  <a:tcPr marL="73152" marR="73152" marT="36576" marB="36576">
                    <a:solidFill>
                      <a:srgbClr val="E8EEF6"/>
                    </a:solidFill>
                  </a:tcPr>
                </a:tc>
                <a:tc>
                  <a:txBody>
                    <a:bodyPr/>
                    <a:lstStyle/>
                    <a:p>
                      <a:r>
                        <a:rPr sz="1500" b="0">
                          <a:solidFill>
                            <a:srgbClr val="1F2937"/>
                          </a:solidFill>
                        </a:rPr>
                        <a:t>Morfologiya, yaxlitlik indeksi</a:t>
                      </a:r>
                    </a:p>
                  </a:txBody>
                  <a:tcPr marL="73152" marR="73152" marT="36576" marB="36576">
                    <a:solidFill>
                      <a:srgbClr val="E8EEF6"/>
                    </a:solidFill>
                  </a:tcPr>
                </a:tc>
                <a:tc>
                  <a:txBody>
                    <a:bodyPr/>
                    <a:lstStyle/>
                    <a:p>
                      <a:r>
                        <a:rPr sz="1500" b="0">
                          <a:solidFill>
                            <a:srgbClr val="1F2937"/>
                          </a:solidFill>
                        </a:rPr>
                        <a:t>Hozircha PMI uchun yaramaydi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bo‘yoqni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 Discussion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va tezkor savol: suyak gistologiyasi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ko‘milgan suyak kesmasida osteotsit yadrolarining lakunalarga nisbati past. Bu suyakning yomon saqlanganini bildiradi.</a:t>
            </a:r>
          </a:p>
          <a:p>
            <a:pPr>
              <a:spcAft>
                <a:spcPts val="1200"/>
              </a:spcAft>
            </a:pPr>
            <a:r>
              <a:rPr sz="2200">
                <a:solidFill>
                  <a:srgbClr val="1F2937"/>
                </a:solidFill>
                <a:latin typeface="Calibri"/>
              </a:rPr>
              <a:t>▸  Ko‘milish davri suyak butunligi indeksi bilan teskari bog‘liq: davr uzaysa, indeks pasayadi. Indeks yadro/lakuna nisbatiga tayanadi.</a:t>
            </a:r>
          </a:p>
          <a:p>
            <a:pPr>
              <a:spcAft>
                <a:spcPts val="1200"/>
              </a:spcAft>
            </a:pPr>
            <a:r>
              <a:rPr sz="2200">
                <a:solidFill>
                  <a:srgbClr val="1F2937"/>
                </a:solidFill>
                <a:latin typeface="Calibri"/>
              </a:rPr>
              <a:t>▸  Indeksni PMI (o‘limdan keyingi davr) bilan bog‘lovchi tasdiqlangan usul yo‘q. Tuproq kimyosi va gidrologiya natijani o‘zgartiradi.</a:t>
            </a:r>
          </a:p>
          <a:p>
            <a:pPr>
              <a:spcAft>
                <a:spcPts val="1200"/>
              </a:spcAft>
            </a:pPr>
            <a:r>
              <a:rPr sz="2200">
                <a:solidFill>
                  <a:srgbClr val="1F2937"/>
                </a:solidFill>
                <a:latin typeface="Calibri"/>
              </a:rPr>
              <a:t>▸  Tezkor savol: nega past indeks aniq muddatni bermaydi? Diqqat: saqlanish darajasi ≠ PMI; u ko‘mish sharoitiga ham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Cheklovlar, sub‘ektivlik va sun‘iy intellekt istiqboli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Mikroskopik rasmni baholash asosan sub‘ektiv: u tekshiruvchining tajribasi va talqiniga bog‘liq. Natijada talqin o‘zgaruvchan bo‘lishi mumkin.</a:t>
            </a:r>
          </a:p>
          <a:p>
            <a:pPr>
              <a:spcAft>
                <a:spcPts val="1200"/>
              </a:spcAft>
            </a:pPr>
            <a:r>
              <a:rPr sz="2200">
                <a:solidFill>
                  <a:srgbClr val="1F2937"/>
                </a:solidFill>
                <a:latin typeface="Calibri"/>
              </a:rPr>
              <a:t>▸  Kompakt va g‘ovak suyak bo‘yoqqa turlicha javob beradi. G‘ovak suyak bo‘shliqlarida bo‘yalgan noorganik modda kollagen nisbatini o‘zgartirgan.</a:t>
            </a:r>
          </a:p>
          <a:p>
            <a:pPr>
              <a:spcAft>
                <a:spcPts val="1200"/>
              </a:spcAft>
            </a:pPr>
            <a:r>
              <a:rPr sz="2200">
                <a:solidFill>
                  <a:srgbClr val="1F2937"/>
                </a:solidFill>
                <a:latin typeface="Calibri"/>
              </a:rPr>
              <a:t>▸  Gistologik rasmlar ko‘pincha Hedges indeksi bilan yoki muayyan belgilarning bor-yo‘qligiga qarab baholanadi. Sub‘ektivlikni bir nechta ekspert kamaytiradi.</a:t>
            </a:r>
          </a:p>
          <a:p>
            <a:pPr>
              <a:spcAft>
                <a:spcPts val="1200"/>
              </a:spcAft>
            </a:pPr>
            <a:r>
              <a:rPr sz="2200">
                <a:solidFill>
                  <a:srgbClr val="1F2937"/>
                </a:solidFill>
                <a:latin typeface="Calibri"/>
              </a:rPr>
              <a:t>▸  Kelajakda Cellpose kabi sun’iy intellekt (AI) vositalari tuzilmalarni tanib, organik va noorganik nisbatni hisoblashi mumkin. Bu inson xatosini kamaytiradi.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xulosa: gistologik usul potentsiali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Teri jarohati yoshini baholashda ko‘p markerli yondashuv eng ishonchli; u sezgirlik va o‘ziga xoslikni oshiradi, lekin ko‘proq vaqt va murakkablik talab qiladi.</a:t>
            </a:r>
          </a:p>
          <a:p>
            <a:pPr>
              <a:spcAft>
                <a:spcPts val="1200"/>
              </a:spcAft>
            </a:pPr>
            <a:r>
              <a:rPr sz="2000">
                <a:solidFill>
                  <a:srgbClr val="1F2937"/>
                </a:solidFill>
                <a:latin typeface="Calibri"/>
              </a:rPr>
              <a:t>▸  IHC va immunofluoressensiya jarohat rivoji va tirik vaqtda hosil bo‘lganini kuzatishda samarali; ular o‘limdan keyingi intervalni aniq belgilay olmaydi.</a:t>
            </a:r>
          </a:p>
          <a:p>
            <a:pPr>
              <a:spcAft>
                <a:spcPts val="1200"/>
              </a:spcAft>
            </a:pPr>
            <a:r>
              <a:rPr sz="2000">
                <a:solidFill>
                  <a:srgbClr val="1F2937"/>
                </a:solidFill>
                <a:latin typeface="Calibri"/>
              </a:rPr>
              <a:t>▸  Suyakda 45 ta bo‘yoq istiqbolli, ammo faqat 3 tasi sinalgan. Kollagen va osteotsit degradatsiyasi muddat ko‘rsatkichi bo‘lishi mumkin, tasdiqlangan model yo‘q.</a:t>
            </a:r>
          </a:p>
          <a:p>
            <a:pPr>
              <a:spcAft>
                <a:spcPts val="1200"/>
              </a:spcAft>
            </a:pPr>
            <a:r>
              <a:rPr sz="2000">
                <a:solidFill>
                  <a:srgbClr val="1F2937"/>
                </a:solidFill>
                <a:latin typeface="Calibri"/>
              </a:rPr>
              <a:t>▸  Keyingi qadam: qolgan bo‘yoqlarni dekalsifikatsiyalanmagan suyak kesmalarida sinash, ularni birlashtirish va usulni turli sharoitda tekshirib tasdiqlash.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Sezgirlik va o‘ziga xoslik bir narsa emas. FVIIIra yara hayotiyligini 100% sezgirlik bilan ko‘rsatgan, lekin o‘ziga xosligi atigi 47% bo‘lgan: u jarrohlik va nazorat yaralarida ham ortiqcha ifodalangan. Shu sababli recent ante-mortem yaralarni o‘limdan keyingilaridan ajratishda CD15 va triptaza foydaliroq hisoblangan. Eslab qoling: sezgir ≠ o‘ziga xos.</a:t>
            </a:r>
          </a:p>
          <a:p>
            <a:pPr>
              <a:spcAft>
                <a:spcPts val="1200"/>
              </a:spcAft>
            </a:pPr>
            <a:r>
              <a:rPr sz="1800">
                <a:solidFill>
                  <a:srgbClr val="1F2937"/>
                </a:solidFill>
                <a:latin typeface="Calibri"/>
              </a:rPr>
              <a:t>▸  Eslab qolish usuli — yara yoshi zinapoyasi. 0–1 soat: fibronektin, CD62p, VIII omil. 3 soat: TNFα va IL-1β cho‘qqisi. 1–5 kun: CD14 va makrofaglar. Taxminan 5 kun va undan keyin: alfa-SMA musbat miofibroblastlar. 6–7 kundan: I va VI tur kollagen. Ketma-ketlik: qon ivishi → yallig‘lanish → biriktiruvchi to‘qima.</a:t>
            </a:r>
          </a:p>
          <a:p>
            <a:pPr>
              <a:spcAft>
                <a:spcPts val="1200"/>
              </a:spcAft>
            </a:pPr>
            <a:r>
              <a:rPr sz="1800">
                <a:solidFill>
                  <a:srgbClr val="1F2937"/>
                </a:solidFill>
                <a:latin typeface="Calibri"/>
              </a:rPr>
              <a:t>▸  Hodisa tahlili: tadqiqotchilar suyakni bo‘yash uchun 45 ta bo‘yoq usulini istiqbolli deb topgan. Taponomik tadqiqotlarda esa faqat 3 tasi sinalgan: Sirius Red/Fast Green, gematoksilin–eozin va Picrosirius Red. Ya’ni 42 ta usul hali umuman sinalmagan. Bu o‘limdan keyingi vaqtni (PMI) suyak gistologiyasi orqali aniqlashdagi katta bilim bo‘shlig‘ini ko‘rsatadi.</a:t>
            </a:r>
          </a:p>
          <a:p>
            <a:pPr>
              <a:spcAft>
                <a:spcPts val="1200"/>
              </a:spcAft>
            </a:pPr>
            <a:r>
              <a:rPr sz="1800">
                <a:solidFill>
                  <a:srgbClr val="1F2937"/>
                </a:solidFill>
                <a:latin typeface="Calibri"/>
              </a:rPr>
              <a:t>▸  Harorat suyak parchalanishini tezlashtiradi: Arrhenius tenglamasiga ko‘ra 10 °C ko‘tarilish reaksiya tezligini, jumladan mikrob faolligini, ikki baravar oshiradi. Biroq bakteriyalarning o‘z optimal diapazoni bor. Shuning uchun suyak gistologiyasi bo‘yicha PMI baholashda atrof-muhit va ob-havo ma’lumotlari albatta hisobga olinishi kerak.</a:t>
            </a:r>
          </a:p>
          <a:p>
            <a:pPr>
              <a:spcAft>
                <a:spcPts val="1200"/>
              </a:spcAft>
            </a:pPr>
            <a:r>
              <a:rPr sz="1800">
                <a:solidFill>
                  <a:srgbClr val="1F2937"/>
                </a:solidFill>
                <a:latin typeface="Calibri"/>
              </a:rPr>
              <a:t>▸  Hodisa tahlili: Astolphi va hamkasblari ko‘milgan davr bilan suyak yaxlitlik indeksi (osteotsit yadrolari va lakunalar nisbati) o‘rtasida teskari bog‘liqlik topgan. Matritsa yo‘qolishi esa ko‘milish davriga bog‘liq bo‘lmagan, chunki tuproq kimyosi va gidrologiya har xil edi. Xulosa: indeks istiqbolli, ammo tasdiqlangan baholash modeli hali yo‘q.</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Luca Tomassini va boshq. Dating Skin Lesions of Forensic Interest by Immunohistochemistry and Immunofluorescence Techniques: A Scoping Literature Review, Diagnostics. 2024. PMID 38248045; DOI 10.3390/diagnostics14020168</a:t>
            </a:r>
          </a:p>
          <a:p>
            <a:pPr>
              <a:spcAft>
                <a:spcPts val="800"/>
              </a:spcAft>
            </a:pPr>
            <a:r>
              <a:rPr sz="2000">
                <a:solidFill>
                  <a:srgbClr val="1F2937"/>
                </a:solidFill>
                <a:latin typeface="Calibri"/>
              </a:rPr>
              <a:t>▸  Sluis I va boshq. Bone histology for forensic anthropology: a technical review on the advances in microstructural analysis of taphonomically altered buried or subaerially exposed bone, International Journal of Legal Medicine. 2025. PMID 40637841; DOI 10.1007/s00414-025-03536-9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