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klinik va sud-tibbiy travmatologiyaning maqsadi nimasi bilan farq qiladi? Talabalar jarohatdan keyin shifokor va ekspert qanday savol qo‘yishini aytsin. Doskada chizish: ikki ustun (klinik – sud-tibbiy) va ularning vazifalari. Tipik xato: sud-tibbiy travmatologiyani faqat davolash fani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nega tashqi va ichki ta’sirni farqlash ekspertiza uchun muhim? Huquqiy va tibbiy ta’rifni solishtiring. Doskada chizish: ‘tashqi ta’sir → tan jarohati’, ‘ichki ta’sir → kasallik’ sxemasi. Tipik xato: har qanday sog‘liq buzilishini tan jarohati deb atash.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fizik omilning qaysi turlari amaliyotda ko‘proq uchraydi? Nega ruhiy ta’sir sud psixiatriyasiga o‘tadi? Doskada chizish: jadvaldagi to‘rt omil va fizik omilning beshta kichik turi. Tipik xato: ruhiy ta’sirni sud-tibbiy travmatologiya predmeti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ruhiy ta’sir fizik omillar qatoriga kirmaydi? 2) Bir hodisada ikki omil birgalikda ta’sir etgan misol keltiring. Doskada: fizik omilning 5 turchasini shoxchali sxema ko‘rinishida chizdiring. Tipik xato: ruhiy ta’sirni fizik omil deb hisoblash va sud-psixiatrik ekspertizani unutish.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Is gazi qaysi guruhga kiradi va nima uchun? 2) Elektr toki nima uchun jism ham, modda ham emas? Doskada: uch ustunli guruhlash jadvali (jism / modda / hodisa) chizdiring va talabalar misollarini yozdiring. Tipik xato: moddani (masalan, tosh) jism bilan aralashtirish, shakl turg‘unligi mezonini unutish.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Bosh miya chayqalishi va qorin qontalashi qaysi turga kiradi? 2) Klinik diagnozda nega avval shu tasnif mezonlari aniqlanadi? Doskada: berilgan uch holat uchun tasnif jadvalini to‘ldirishni topshiring. Tipik xato: ’murakkab’ deganda jarohatning og‘irligini tushunish, aslida bu ikki va undan ortiq tur ta’sirini bildiradi.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Oddiy va murakkab jarohat qaysi mezon bilan ajraladi? 2) Nima uchun klinik va sud-tibbiy diagnozda avval tasnif aniqlashtiriladi? Doskada: uch ustunli jadvalni (omil soni, soha soni, jarohat soni) chizdiring va unga misollarni joylashtirtiring. Tipik xato: talabalar cheklangan/qo‘sh tushunchasini oddiy/murakkab bilan almashtirib yuboradi.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Nima uchun ba’zi jarohatlarda morfologik o‘zgarish yaqqol, boshqalarida funksiya buzilishi birinchi o‘ringa chiqadi? 2) Shok qaysi guruhga kiradi? Doskada: ikki ustunli ro‘yxat (anatomik va funksional) tuzdiring. Tipik xato: guruhlar shartli ekanini unutish; talabalar shokni anatomik jarohat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juftlikda ishlash. Muhokama: 1) 3-holatda nima uchun jarohat murakkab hisoblanadi? 2) Yangi holat o‘ylab toping va uni tasniflang. Doskada: har holat uchun uch savolli tekshiruv ro‘yxatini (nechta omil, nechta soha, nechta jarohat) chizdiring. Tipik xato: bitta omil va ikki sohani murakkab jarohat deb belgilash.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Travmatizm bitta jarohatdan nimasi bilan farq qiladi? 2) Sizning hududingizda qaysi turi ko‘proq uchraydi deb o‘ylaysiz? Doskada: 7 ta travmatizm turi daraxtini chizdiring (ishlab chiqarish va transport shoxlari bilan). Tipik xato: travmatizmni bitta jarohat deb tushunish; aslida bu guruhdagi turdosh jarohatlar majmui.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Tibbiy profilaktika mutaxassisi sifatida qaysi omilni bartaraf etish eng samarali? 2) Ekspertiza materiallari profilaktikaga qanday xizmat qiladi? Doskada: ’sabab → omil → profilaktika choralari’ zanjirini chizdiring. Tipik xato: sababni faqat tasodif deb hisoblash; manbada qoidaga rioya qilmaslik va gangituvchi moddalar alohida ta’kidlangan.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Yana qaysi vaziyatlar maishiy yoki ko‘cha travmatizmiga kiradi? 2) Har bir holatda qaysi profilaktika choralari taklif qilinadi? Doskada: ikki vaziyat uchun ’tur → ko‘rinish’ jadvalini talabalar bilan to‘ldiring. Tipik xato: transport travmatizmini ko‘cha travmatizmi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murdada hosil bo‘lgan jarohatni hayotiy jarohatdan farqlash kerak? 2) Reanimatsiya paytida qanday jarohat paydo bo‘lishi mumkin? Doskada chizing: ikki ustunli ro‘yxat (qasddan / tasodifan) va har biriga misollar. Tipik xato: talaba har qanday jarohatni hayotiy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aspiratsiya hayotiylik belgisi hisoblanadi? 2) Qaysi belgilar qon aylanishi bilan bog‘liq? Doskada chizing: 8 ta umumiy belgini a’zolar bo‘yicha (qon, nafas yo‘li, oshqozon-ichak, siydik, limfa) guruhlang. Tipik xato: eritrofagiyani qon ketishi bilan adashtirish; u regional limfa tugunlaridagi belgi.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bitta belgi o‘zi yetarli emas? 2) Filogenetik yosh nimani anglatadi va nega xatoga olib kelishi mumkin? Doskada chizing: jadvaldagi to‘rt guruhni jarohat atrofidagi to‘qima sxemasida ko‘rsating. Tipik xato: umumiy belgilarni mahalliylar bilan aralashtirish (masalan, mioglobin umumiy, tromb mahalliy).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Qaysi holatlarda jarohat o‘limdan keyin yetkazilishi mumkin? 2) Nima uchun filogenetik yosh hayotiylik belgilariga ta’sir qiladi? Doskaga chizish: «hayotiy – o‘limdan keyingi jarohat» ustunli solishtirma jadval (belgilar yozilmagan holda), talabalar to‘ldiradi. Tipik xato: bitta belgiga tayanib xulosa qilish va to‘qimaning filogenetik yoshini hisobga olmaslik.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makroskopik tekshiruv birinchi o‘rinda turadi? 2) Qaysi usul jarohat muddatini aniqlashda yordam beradi? Doskaga chizish: yara tavsifi sxemasi (uchlari, chetlari, tubi, chekka devori). Tipik xato: rentgenografiyani hayotiylikni aniqlovchi usul deb o‘ylash; manbaga ko‘ra hayotiylik va muddat gistologik tekshiruv bilan aniqlanadi.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faqat diagnozni yozish yetarli emas? 2) Vrach hujjati ekspertizaga qanday yetib boradi? Doskaga chizish: «jarohat – vrach tavsifi – tibbiy hujjat – ekspertiza» zanjiri. Tipik xato: klinik hujjatni ekspertiza uchun ahamiyatsiz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harakatsiz jism jarohat bermaydi? 2) Massa va tezlik jarohat ko‘lamiga qanday ta’sir qiladi? Doskada: jadvalni chizib, har ustunga o‘z misolini yozdiring. Tipik xato: bolta va pichoqni ‘qurol’ deb atash; kitobga ko‘ra ular anjom. Tezkor savol: ‘Tayoq qaysi guruhga kiradi?’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Bir xil zarb yosh va keksa odamda nega turlicha jarohat beradi? 2) Ekspert nima uchun faqat jismning o‘zini emas, sohani ham o‘rganadi? Doskada: ‘vosita — soha — o‘zaro ta’sir’ uchburchagini chizdiring. Tipik xato: faqat jism massasini hisobga olib, shaxs xususiyatlarini unutish. Tezkor savol: ‘Omillarning uchta guruhini ayting.’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Ikkilamchi sabab misollari (sepsis, gaz gangrenasi, qoqshol) kitobning 33-betidan olingan. Muhokama: 1) Birlamchi va ikkilamchi sabab farqi nimada? 2) Nega hayot bilan nomutanosib jarohatda davolash imkonsiz? Doskada: ikki ustunli jadvalni chizib, vaqt o‘qini qo‘shing. Tipik xato: sepsisni birlamchi sabab deb hisoblash. Voqea tahlili: transport hodisasida boshi tanadan ajragan shaxs — o‘lim sababi qaysi guruhga kiradi? Tezkor savol: ‘Yurak chayqalishi nimaga olib kelishi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oz miqdorda qon yo‘qotilsa ham o‘lim tez sodir bo‘lishi mumkin? 2) Taloq holati ikki holatda qanday farqlanadi? Doskada: ikki ustunli jadvalni talabalar bilan birga chizing. Tipik xato: Minakov dog‘larini faqat ko‘p qon yo‘qotishga xos deb o‘ylash; ular o‘tkir yo‘qotishning xos belgisi.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Shokda qon miqdori va qon tomir hajmi o‘rtasidagi nomutanosiblik nimani anglatadi? 2) Qaysi jarohatlarda qisilish asorati kutiladi? Doskada: tananing uch sohasi (bosh, umurtqa, ko‘krak) va har birida qisilish sababini yozing. Tipik xato: shokni faqat qon yo‘qotish bilan tenglashtirish; shok nerv, yurak-qon tomir va endokrin tizim buzilishidir.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havoning kirish tezligi uning miqdoridan kam ahamiyatli emas? 2) Nima uchun ichki tekshiruv aynan ko‘krak qafasidan boshlanadi? Doskada: sinama bosqichlarini ketma-ket chizing. Tipik xato: har qanday oz miqdordagi havoni xavfli deb hisoblash; 5–7 kub sm sekin erib ketishi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yog‘ emboliyasida o‘lim shikastlanishdan keyin darhol emas, kechikib sodir bo‘ladi? 2) Sudan III va Sudan IV yog‘ tomchilarini qaysi ranglarda ko‘rsatadi? Doskada chizish: suyak sinishi → yog‘ zarralari → o‘pka tomirlari → 2-3 kundan so‘ng o‘lim zanjirini chizing. Tipik xato: yog‘ emboliyasini havo emboliyasi bilan aralashtirish. Havo emboliyasida Sunsov sinamasi, yog‘ emboliyasida Sudan bo‘yoqlari qo‘llanadi.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Bu holat birlamchi yoki ikkilamchi sababga kiradimi? 2) Ko‘p qon yo‘qotishda (50% dan ortiq, ya’ni 2,5 litr va undan ko‘p) manzara qanday farq qiladi? To‘g‘ri javob: birlamchi sabab, o‘tkir qon yo‘qotish. Ko‘p qon yo‘qotishda jarayon soatlab sekin kechadi, terida oqarish, taloq kamqon va qisqargan, murda dog‘lari kech paydo bo‘ladi, Minakov dog‘lari faqat ayrim holatlarda topiladi. Doskada chizish: birlamchi va ikkilamchi sabablar ustunini bir-biriga qarama-qarshi qo‘yib yozing. Tipik xato: Minakov dog‘larini har qanday qon yo‘qotishning doimiy belgisi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o‘tmas jismning yuzasi cheklangan yoki cheklanmagan bo‘lishi shikastlangan sohaning kattaligiga bog‘liq? 2) Bevosita va bilvosita jarohat qanday farqlanadi? Doskada chizish: kichik jism – katta soha va katta jism – kichik soha ko‘rinishidagi ikki sxemani yonma-yon chizing. Tipik xato: cheklangan yuzani jismning absolyut kichikligi deb tushunish, aslida solishtirish shikastlangan soha bilan qilinadi.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bir xil jism bir holatda impression, boshqasida inersion travma beradi? 2) Aks zarb jarohati qayerda paydo bo‘ladi? Doskada: ikki ustunli jadvalni talabalar bilan to‘ldiring. Tipik xato: faqat jism og‘irligiga qarab, tana sohasi massasi bilan solishtirishni unutish.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Qaysi mexanizmda faqat bevosita jarohat bo‘ladi? 2) Tishlama yara qaysi mexanizm bilan bog‘liq? Doskada: siqilish va cho‘zilishda kuch yo‘nalishini o‘qlar bilan chizing. Tipik xato: siqilishni cho‘zilish bilan almashtirish (kuch yo‘nalishi qarama-qarshi).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Yuzaki va chuqur shilinma nimasi bilan farq qiladi? 2) Bo‘yindagi yoysimon shilinmalar nimani ko‘rsatishi mumkin? Doskada: to‘rt bosqichli zanjirni muddatlari bilan chizing. Tipik xato: murdadagi pergament dog‘ini shilinma deb olish (unda qoplama va hayotiy o‘zgarishlar bo‘lmaydi).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Murda ekspertizasida shilinmani pergament dog‘idan qaysi belgilar bo‘yicha ajratasiz? 2) Faqat sathiga qarab xulosa qilish nega xato? Doskada chizish: ikki ustunli (shilinma / pergament dog‘i) solishtirma jadval tuzing. Tipik xato: talabalar har qanday quruq sariq dog‘ni hayotiy shilinma deb hisoblaydi; yangi shilinma sathi sog‘lom teridan past bo‘lishi pergament dog‘iga ham o‘xshashdir, shuning uchun qoplama va hayotiylik belgilariga qarash kerak.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Rang nega vaqt o‘tishi bilan o‘zgaradi? 2) Bilvosita qontalashda shakl va jism yuzasi o‘rtasida bog‘liqlik bo‘ladimi? Doskada chizish: rang o‘zgarishi zanjirini (oksigemoglobin → yashil → sariq) chizing. Tipik xato: muddatlarni qat’iy deb olish; kitobda ular taxminiy ekani qayd etilgan. Ko‘z, lab shilliq qavati va bo‘yindagi qontalash ranglanmasligini ham eslatib o‘ting.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Lat va yirtma yaralar qaysi mexanizmlar bilan farqlanadi? 2) “Ko‘prikchalar” belgisi ekspertga nimani ko‘rsatadi? Doskada chizish: yaraning to‘rt elementini (chet, uch, chekka devor, tub) belgilab sxema chizing. Tipik xato: o‘tmas jism yarasini o‘tkir jism yarasi bilan almashtirish; o‘tkir jismda chetlari tekis, o‘tmasda esa notekis va shilingan bo‘lishini eslatib o‘ting.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yara shakli bo‘yicha jismni aniqlash mumkin? Yorilish va yarani qaysi belgilar farqlaydi? Doskada: jadvalni chizib, har yuzaga yara shaklini yozdiring. Tipik xato: yorilishni yara deb olish; uning bilvosita jarohat ekanini unutish.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ex. qobirg‘aning ko‘krak qafasiga ta’sirda egilib, qaytib tiklanishi qaysi deformatsiya? Sinish turlari tirik shaxs ekspertizasida nimaga kerak? Doskada: sinishlarni uch belgi bo‘yicha (to‘liqlik, ochiqlik, chiziq yo‘nalishi) guruhlab chizing. Tipik xato: muvaqqat va doimiy deformatsiyani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sinish avval cho‘zilish tomonida boshlanadi? Sinish bo‘laklarini yaqinlashtirish nimani ko‘rsatadi? Doskada: egilgan suyak sxemasini chizib, ikki tomonni belgilang. Tipik xato: siqilish va cho‘zilish tomonidagi sinish belgilarini almashtirib yuborish. Egilish – ekspertizada doimiy deformatsiyaning eng ko‘p uchraydigan turi.</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Qobirg‘ada bevosita va bilvosita sinishni qaysi belgilar farqlaydi? 2) Reanimatsiyadagi sinish ekspertizada nega muammo bo‘ladi? Doskada chizing: qobirg‘a kesimi, tashqi va ichki plastinkada siqilish hamda cho‘zilish tomonlari. Tipik xato: bevosita sinishni ‘zarb joyida tashqi jarohat bor’ degan belgi bilan cheklab qo‘yish, plastinkalardagi belgilarni e’tiborsiz qoldirish.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asosiy jarohatlar V bosqichda hosil bo‘ladi? 2) Bevosita, bosqichli va erkin bo‘lmagan yiqilish nimasi bilan farq qiladi? Doskada chizing: olti bosqichli zanjir va har bosqichga mos jarohat. Tipik xato: IV bosqichda (parvoz) jarohat hosil bo‘ladi deb o‘ylash. Aslida to‘siq bo‘lmasa, tanada xos jarohat paydo bo‘lmaydi.</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Orqaga va yuz bilan yiqilishda miya shikasti nima bilan farq qiladi? 2) Kiyim-poyafzalni saqlash nima uchun muhim? Doskada chizing: bosh, zarblanish nuqtasi va qarama-qarshi akszarb soha. Tipik xato: yuzaga yiqilishni ham balandlikdan yiqilishdagidek ikkilamchi jarohatli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 Muhokama: 1) Nega bir pichoq turli xil yara qoldirishi mumkin? 2) Kesma va sanchma yarani qaysi belgilar bilan ajratamiz? Doskada: uchta jismning (kesuvchi, sanchuvchi, sanchuvchi-kesuvchi) yara shaklini chizing. Tipik xato: sanchma yaraning tashqi o‘lchamini chuqurligi bilan adashtirish. Aslida tashqi o‘lcham chuqurlikdan ancha kichik bo‘ladi.</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Bolta bilan yetkazilgan jarohat nega ko‘pincha bosh va qo‘lda uchraydi? 2) Voqea tafsiloti ekspertga qanday yordam beradi? Doskada: bolta chopqisining tanaga to‘liq va qisman kirishida yara uchlari qanday bo‘lishini chizing. Tipik xato: chopma jarohatni doim qasddan yetkazilgan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O‘tkir va o‘tmas jismdan jarohat farqini o‘z so‘zingiz bilan ayting. 2) Kiyim nega ekspertiza uchun muhim? Doskada: o‘tkir jismlar turlari bo‘yicha qisqa tayanch sxema tuzing. Tipik xato: kiyimni tez echish uchun kesish yoki ho‘l holda o‘rash. Keyingi mavzuga o‘tish tartibi o‘qituvchi tomonidan aniqlanadi.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№2. Ma’ruza: Sud-tibbiy travmatologiya.</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Sud-tibbiy travmatologiya: kirish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Travmatologiya (grekcha: trauma – shikast, logos – ta’limot) shikastlanishlar haqidagi fandir.</a:t>
            </a:r>
          </a:p>
          <a:p>
            <a:pPr>
              <a:spcAft>
                <a:spcPts val="1200"/>
              </a:spcAft>
            </a:pPr>
            <a:r>
              <a:rPr sz="2200">
                <a:solidFill>
                  <a:srgbClr val="1F2937"/>
                </a:solidFill>
                <a:latin typeface="Calibri"/>
              </a:rPr>
              <a:t>▸  Klinik tibbiyotda u asosan jarohatlarni aniqlash (diagnostika), davolash va oldini olish (profilaktika) bilan shug‘ullanadi.</a:t>
            </a:r>
          </a:p>
          <a:p>
            <a:pPr>
              <a:spcAft>
                <a:spcPts val="1200"/>
              </a:spcAft>
            </a:pPr>
            <a:r>
              <a:rPr sz="2200">
                <a:solidFill>
                  <a:srgbClr val="1F2937"/>
                </a:solidFill>
                <a:latin typeface="Calibri"/>
              </a:rPr>
              <a:t>▸  Sud-tibbiy travmatologiya shikastlanish mexanizmi va vaqtini, jarohat etkazgan jismni aniqlaydi, jarohatni sud-tibbiy baholaydi.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Tan jarohati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Jinoyat huquqida tan jarohati – qasddan yoki ehtiyotsizlik orqasida sodir etilgan g‘ayriqonuniy harakatlar natijasida sog‘liqqa yetkazilgan ziyon.</a:t>
            </a:r>
          </a:p>
          <a:p>
            <a:pPr>
              <a:spcAft>
                <a:spcPts val="1200"/>
              </a:spcAft>
            </a:pPr>
            <a:r>
              <a:rPr sz="2200">
                <a:solidFill>
                  <a:srgbClr val="1F2937"/>
                </a:solidFill>
                <a:latin typeface="Calibri"/>
              </a:rPr>
              <a:t>▸  Sud tibbiyotida tan jarohati – tashqi ta’sir natijasida a’zo va to‘qimalarning anatomik butunligi yoki fiziologik funksiyasi buzilishi.</a:t>
            </a:r>
          </a:p>
          <a:p>
            <a:pPr>
              <a:spcAft>
                <a:spcPts val="1200"/>
              </a:spcAft>
            </a:pPr>
            <a:r>
              <a:rPr sz="2200">
                <a:solidFill>
                  <a:srgbClr val="1F2937"/>
                </a:solidFill>
                <a:latin typeface="Calibri"/>
              </a:rPr>
              <a:t>▸  Bunday buzilish sog‘liqning yomonlashuviga yoki o‘limga olib kelishi mumkin.</a:t>
            </a:r>
          </a:p>
          <a:p>
            <a:pPr>
              <a:spcAft>
                <a:spcPts val="1200"/>
              </a:spcAft>
            </a:pPr>
            <a:r>
              <a:rPr sz="2200">
                <a:solidFill>
                  <a:srgbClr val="1F2937"/>
                </a:solidFill>
                <a:latin typeface="Calibri"/>
              </a:rPr>
              <a:t>▸  Diqqat: xato qilish xavfi. Tan jarohati ≠ kasallik: bir xil buzilish ichki ta’sir tufayli bo‘lsa, kasallik deyiladi.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Shikastlovchi omillar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Shikastlovchi tashqi ta’sirning to‘rt turi farqlanadi: fizik, kimyoviy, biologik va ruhiy.</a:t>
            </a:r>
          </a:p>
          <a:p>
            <a:pPr>
              <a:spcAft>
                <a:spcPts val="800"/>
              </a:spcAft>
            </a:pPr>
            <a:r>
              <a:rPr sz="1800">
                <a:solidFill>
                  <a:srgbClr val="1F2937"/>
                </a:solidFill>
                <a:latin typeface="Calibri"/>
              </a:rPr>
              <a:t>▸  Ruhiy ta’sir natijalarini odatda sud psixiatriyasi o‘rganadi; bunda sud-psixiatrik ekspertiza tayinlanadi.</a:t>
            </a:r>
          </a:p>
          <a:p>
            <a:pPr>
              <a:spcAft>
                <a:spcPts val="800"/>
              </a:spcAft>
            </a:pPr>
            <a:r>
              <a:rPr sz="1800">
                <a:solidFill>
                  <a:srgbClr val="1F2937"/>
                </a:solidFill>
                <a:latin typeface="Calibri"/>
              </a:rPr>
              <a:t>▸  Ba’zan bir necha tashqi omilning birgalikdagi ta’siri ham kuzatilishi mumkin.</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Omil turi</a:t>
                      </a:r>
                    </a:p>
                  </a:txBody>
                  <a:tcPr marL="73152" marR="73152" marT="36576" marB="36576">
                    <a:solidFill>
                      <a:srgbClr val="0B1F3A"/>
                    </a:solidFill>
                  </a:tcPr>
                </a:tc>
                <a:tc>
                  <a:txBody>
                    <a:bodyPr/>
                    <a:lstStyle/>
                    <a:p>
                      <a:r>
                        <a:rPr sz="1400" b="1">
                          <a:solidFill>
                            <a:srgbClr val="FFFFFF"/>
                          </a:solidFill>
                        </a:rPr>
                        <a:t>Ta’sir turlari</a:t>
                      </a:r>
                    </a:p>
                  </a:txBody>
                  <a:tcPr marL="73152" marR="73152" marT="36576" marB="36576">
                    <a:solidFill>
                      <a:srgbClr val="0B1F3A"/>
                    </a:solidFill>
                  </a:tcPr>
                </a:tc>
              </a:tr>
              <a:tr h="411480">
                <a:tc>
                  <a:txBody>
                    <a:bodyPr/>
                    <a:lstStyle/>
                    <a:p>
                      <a:r>
                        <a:rPr sz="1300" b="0">
                          <a:solidFill>
                            <a:srgbClr val="1F2937"/>
                          </a:solidFill>
                        </a:rPr>
                        <a:t>Fizik</a:t>
                      </a:r>
                    </a:p>
                  </a:txBody>
                  <a:tcPr marL="73152" marR="73152" marT="36576" marB="36576">
                    <a:solidFill>
                      <a:srgbClr val="E8EEF6"/>
                    </a:solidFill>
                  </a:tcPr>
                </a:tc>
                <a:tc>
                  <a:txBody>
                    <a:bodyPr/>
                    <a:lstStyle/>
                    <a:p>
                      <a:r>
                        <a:rPr sz="1300" b="0">
                          <a:solidFill>
                            <a:srgbClr val="1F2937"/>
                          </a:solidFill>
                        </a:rPr>
                        <a:t>mexanik, termik, elektr, barometrik, nur</a:t>
                      </a:r>
                    </a:p>
                  </a:txBody>
                  <a:tcPr marL="73152" marR="73152" marT="36576" marB="36576">
                    <a:solidFill>
                      <a:srgbClr val="E8EEF6"/>
                    </a:solidFill>
                  </a:tcPr>
                </a:tc>
              </a:tr>
              <a:tr h="411480">
                <a:tc>
                  <a:txBody>
                    <a:bodyPr/>
                    <a:lstStyle/>
                    <a:p>
                      <a:r>
                        <a:rPr sz="1300" b="0">
                          <a:solidFill>
                            <a:srgbClr val="1F2937"/>
                          </a:solidFill>
                        </a:rPr>
                        <a:t>Kimyoviy</a:t>
                      </a:r>
                    </a:p>
                  </a:txBody>
                  <a:tcPr marL="73152" marR="73152" marT="36576" marB="36576">
                    <a:solidFill>
                      <a:srgbClr val="FFFFFF"/>
                    </a:solidFill>
                  </a:tcPr>
                </a:tc>
                <a:tc>
                  <a:txBody>
                    <a:bodyPr/>
                    <a:lstStyle/>
                    <a:p>
                      <a:r>
                        <a:rPr sz="1300" b="0">
                          <a:solidFill>
                            <a:srgbClr val="1F2937"/>
                          </a:solidFill>
                        </a:rPr>
                        <a:t>zaharlar, kimikatlar, dori-darmonlar</a:t>
                      </a:r>
                    </a:p>
                  </a:txBody>
                  <a:tcPr marL="73152" marR="73152" marT="36576" marB="36576">
                    <a:solidFill>
                      <a:srgbClr val="FFFFFF"/>
                    </a:solidFill>
                  </a:tcPr>
                </a:tc>
              </a:tr>
              <a:tr h="411480">
                <a:tc>
                  <a:txBody>
                    <a:bodyPr/>
                    <a:lstStyle/>
                    <a:p>
                      <a:r>
                        <a:rPr sz="1300" b="0">
                          <a:solidFill>
                            <a:srgbClr val="1F2937"/>
                          </a:solidFill>
                        </a:rPr>
                        <a:t>Biologik</a:t>
                      </a:r>
                    </a:p>
                  </a:txBody>
                  <a:tcPr marL="73152" marR="73152" marT="36576" marB="36576">
                    <a:solidFill>
                      <a:srgbClr val="E8EEF6"/>
                    </a:solidFill>
                  </a:tcPr>
                </a:tc>
                <a:tc>
                  <a:txBody>
                    <a:bodyPr/>
                    <a:lstStyle/>
                    <a:p>
                      <a:r>
                        <a:rPr sz="1300" b="0">
                          <a:solidFill>
                            <a:srgbClr val="1F2937"/>
                          </a:solidFill>
                        </a:rPr>
                        <a:t>o‘simlik/hayvon toksinlari, mikroorganizmlar</a:t>
                      </a:r>
                    </a:p>
                  </a:txBody>
                  <a:tcPr marL="73152" marR="73152" marT="36576" marB="36576">
                    <a:solidFill>
                      <a:srgbClr val="E8EEF6"/>
                    </a:solidFill>
                  </a:tcPr>
                </a:tc>
              </a:tr>
              <a:tr h="411480">
                <a:tc>
                  <a:txBody>
                    <a:bodyPr/>
                    <a:lstStyle/>
                    <a:p>
                      <a:r>
                        <a:rPr sz="1300" b="0">
                          <a:solidFill>
                            <a:srgbClr val="1F2937"/>
                          </a:solidFill>
                        </a:rPr>
                        <a:t>Ruhiy</a:t>
                      </a:r>
                    </a:p>
                  </a:txBody>
                  <a:tcPr marL="73152" marR="73152" marT="36576" marB="36576">
                    <a:solidFill>
                      <a:srgbClr val="FFFFFF"/>
                    </a:solidFill>
                  </a:tcPr>
                </a:tc>
                <a:tc>
                  <a:txBody>
                    <a:bodyPr/>
                    <a:lstStyle/>
                    <a:p>
                      <a:r>
                        <a:rPr sz="1300" b="0">
                          <a:solidFill>
                            <a:srgbClr val="1F2937"/>
                          </a:solidFill>
                        </a:rPr>
                        <a:t>kuchli hayajon, qo‘rquv</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Omillar va ularning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Fizik omil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Fizik ta’sir beshta turchaga bo‘linadi: mexanik, termik, barometrik, elektr va nur ta’siri.</a:t>
            </a:r>
          </a:p>
          <a:p>
            <a:pPr>
              <a:spcAft>
                <a:spcPts val="1200"/>
              </a:spcAft>
            </a:pPr>
            <a:r>
              <a:rPr sz="2200">
                <a:solidFill>
                  <a:srgbClr val="1F2937"/>
                </a:solidFill>
                <a:latin typeface="Calibri"/>
              </a:rPr>
              <a:t>▸  Mexanik ta’sirga o‘tmas va o‘tkir jism, o‘q otar qurol va portlovchi moddalar kiradi. Termik ta’sir — yuqori va past harorat.</a:t>
            </a:r>
          </a:p>
          <a:p>
            <a:pPr>
              <a:spcAft>
                <a:spcPts val="1200"/>
              </a:spcAft>
            </a:pPr>
            <a:r>
              <a:rPr sz="2200">
                <a:solidFill>
                  <a:srgbClr val="1F2937"/>
                </a:solidFill>
                <a:latin typeface="Calibri"/>
              </a:rPr>
              <a:t>▸  Barometrik — yuqori va past atmosfera bosimi; elektr — texnik va atmosfera elektr toki; nur — rentgen nurlari, izotoplar.</a:t>
            </a:r>
          </a:p>
          <a:p>
            <a:pPr>
              <a:spcAft>
                <a:spcPts val="1200"/>
              </a:spcAft>
            </a:pPr>
            <a:r>
              <a:rPr sz="2200">
                <a:solidFill>
                  <a:srgbClr val="1F2937"/>
                </a:solidFill>
                <a:latin typeface="Calibri"/>
              </a:rPr>
              <a:t>▸  Bir necha omil birgalikda ta’sir etishi mumkin. Diqqat: ruhiy ta’sir fizik emas, uni sud psixiatriyasi o‘rganadi.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25-26, 25, 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Omil ko‘rinishlari: jism, modda, hodisa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Shikastlovchi omil jism, modda yoki holat (hodisa) ko‘rinishida bo‘lishi mumkin.</a:t>
            </a:r>
          </a:p>
          <a:p>
            <a:pPr>
              <a:spcAft>
                <a:spcPts val="1200"/>
              </a:spcAft>
            </a:pPr>
            <a:r>
              <a:rPr sz="2200">
                <a:solidFill>
                  <a:srgbClr val="1F2937"/>
                </a:solidFill>
                <a:latin typeface="Calibri"/>
              </a:rPr>
              <a:t>▸  Jismlar turg‘un o‘lchamli shaklga ega. Diqqat: jism ≠ modda, chunki moddalar turg‘un shaklga ega emas.</a:t>
            </a:r>
          </a:p>
          <a:p>
            <a:pPr>
              <a:spcAft>
                <a:spcPts val="1200"/>
              </a:spcAft>
            </a:pPr>
            <a:r>
              <a:rPr sz="2200">
                <a:solidFill>
                  <a:srgbClr val="1F2937"/>
                </a:solidFill>
                <a:latin typeface="Calibri"/>
              </a:rPr>
              <a:t>▸  Moddalar uch holatda bo‘ladi: qattiq (qum, tuproq), suyuq (kislota, ishqor) va gazsimon (is gazi, metan).</a:t>
            </a:r>
          </a:p>
          <a:p>
            <a:pPr>
              <a:spcAft>
                <a:spcPts val="1200"/>
              </a:spcAft>
            </a:pPr>
            <a:r>
              <a:rPr sz="2200">
                <a:solidFill>
                  <a:srgbClr val="1F2937"/>
                </a:solidFill>
                <a:latin typeface="Calibri"/>
              </a:rPr>
              <a:t>▸  Holat yoki hodisalar qatoriga elektr toki va bosimning o‘zgarishi kiritiladi.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Travma tasnifi mezonlari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Tasnifda ta’sir turi, shikastlanish sohasi va jarohatlar soni (yakka yoki ko‘p) hisobga olinadi.</a:t>
            </a:r>
          </a:p>
          <a:p>
            <a:pPr>
              <a:spcAft>
                <a:spcPts val="800"/>
              </a:spcAft>
            </a:pPr>
            <a:r>
              <a:rPr sz="1800">
                <a:solidFill>
                  <a:srgbClr val="1F2937"/>
                </a:solidFill>
                <a:latin typeface="Calibri"/>
              </a:rPr>
              <a:t>▸  Misol: ko‘krak qafasidagi sanchma yara — oddiy cheklangan yakka shikastlanish.</a:t>
            </a:r>
          </a:p>
          <a:p>
            <a:pPr>
              <a:spcAft>
                <a:spcPts val="800"/>
              </a:spcAft>
            </a:pPr>
            <a:r>
              <a:rPr sz="1800">
                <a:solidFill>
                  <a:srgbClr val="1F2937"/>
                </a:solidFill>
                <a:latin typeface="Calibri"/>
              </a:rPr>
              <a:t>▸  Diqqat: qobirg‘a sinishi va termik kuyish — murakkab qo‘sh ko‘p jarohat; oddiy ≠ murakkab.</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321993"/>
                <a:gridCol w="1321993"/>
                <a:gridCol w="2643987"/>
              </a:tblGrid>
              <a:tr h="411480">
                <a:tc>
                  <a:txBody>
                    <a:bodyPr/>
                    <a:lstStyle/>
                    <a:p>
                      <a:r>
                        <a:rPr sz="1300" b="1">
                          <a:solidFill>
                            <a:srgbClr val="FFFFFF"/>
                          </a:solidFill>
                        </a:rPr>
                        <a:t>Mezon</a:t>
                      </a:r>
                    </a:p>
                  </a:txBody>
                  <a:tcPr marL="73152" marR="73152" marT="36576" marB="36576">
                    <a:solidFill>
                      <a:srgbClr val="0B1F3A"/>
                    </a:solidFill>
                  </a:tcPr>
                </a:tc>
                <a:tc>
                  <a:txBody>
                    <a:bodyPr/>
                    <a:lstStyle/>
                    <a:p>
                      <a:r>
                        <a:rPr sz="1300" b="1">
                          <a:solidFill>
                            <a:srgbClr val="FFFFFF"/>
                          </a:solidFill>
                        </a:rPr>
                        <a:t>Turi</a:t>
                      </a:r>
                    </a:p>
                  </a:txBody>
                  <a:tcPr marL="73152" marR="73152" marT="36576" marB="36576">
                    <a:solidFill>
                      <a:srgbClr val="0B1F3A"/>
                    </a:solidFill>
                  </a:tcPr>
                </a:tc>
                <a:tc>
                  <a:txBody>
                    <a:bodyPr/>
                    <a:lstStyle/>
                    <a:p>
                      <a:r>
                        <a:rPr sz="1300" b="1">
                          <a:solidFill>
                            <a:srgbClr val="FFFFFF"/>
                          </a:solidFill>
                        </a:rPr>
                        <a:t>Ma’nosi</a:t>
                      </a:r>
                    </a:p>
                  </a:txBody>
                  <a:tcPr marL="73152" marR="73152" marT="36576" marB="36576">
                    <a:solidFill>
                      <a:srgbClr val="0B1F3A"/>
                    </a:solidFill>
                  </a:tcPr>
                </a:tc>
              </a:tr>
              <a:tr h="411480">
                <a:tc>
                  <a:txBody>
                    <a:bodyPr/>
                    <a:lstStyle/>
                    <a:p>
                      <a:r>
                        <a:rPr sz="1200" b="0">
                          <a:solidFill>
                            <a:srgbClr val="1F2937"/>
                          </a:solidFill>
                        </a:rPr>
                        <a:t>Ta’sir turi</a:t>
                      </a:r>
                    </a:p>
                  </a:txBody>
                  <a:tcPr marL="73152" marR="73152" marT="36576" marB="36576">
                    <a:solidFill>
                      <a:srgbClr val="E8EEF6"/>
                    </a:solidFill>
                  </a:tcPr>
                </a:tc>
                <a:tc>
                  <a:txBody>
                    <a:bodyPr/>
                    <a:lstStyle/>
                    <a:p>
                      <a:r>
                        <a:rPr sz="1200" b="0">
                          <a:solidFill>
                            <a:srgbClr val="1F2937"/>
                          </a:solidFill>
                        </a:rPr>
                        <a:t>Oddiy</a:t>
                      </a:r>
                    </a:p>
                  </a:txBody>
                  <a:tcPr marL="73152" marR="73152" marT="36576" marB="36576">
                    <a:solidFill>
                      <a:srgbClr val="E8EEF6"/>
                    </a:solidFill>
                  </a:tcPr>
                </a:tc>
                <a:tc>
                  <a:txBody>
                    <a:bodyPr/>
                    <a:lstStyle/>
                    <a:p>
                      <a:r>
                        <a:rPr sz="1200" b="0">
                          <a:solidFill>
                            <a:srgbClr val="1F2937"/>
                          </a:solidFill>
                        </a:rPr>
                        <a:t>Bitta omil ta’siri</a:t>
                      </a:r>
                    </a:p>
                  </a:txBody>
                  <a:tcPr marL="73152" marR="73152" marT="36576" marB="36576">
                    <a:solidFill>
                      <a:srgbClr val="E8EEF6"/>
                    </a:solidFill>
                  </a:tcPr>
                </a:tc>
              </a:tr>
              <a:tr h="411480">
                <a:tc>
                  <a:txBody>
                    <a:bodyPr/>
                    <a:lstStyle/>
                    <a:p>
                      <a:r>
                        <a:rPr sz="1200" b="0">
                          <a:solidFill>
                            <a:srgbClr val="1F2937"/>
                          </a:solidFill>
                        </a:rPr>
                        <a:t>Ta’sir turi</a:t>
                      </a:r>
                    </a:p>
                  </a:txBody>
                  <a:tcPr marL="73152" marR="73152" marT="36576" marB="36576">
                    <a:solidFill>
                      <a:srgbClr val="FFFFFF"/>
                    </a:solidFill>
                  </a:tcPr>
                </a:tc>
                <a:tc>
                  <a:txBody>
                    <a:bodyPr/>
                    <a:lstStyle/>
                    <a:p>
                      <a:r>
                        <a:rPr sz="1200" b="0">
                          <a:solidFill>
                            <a:srgbClr val="1F2937"/>
                          </a:solidFill>
                        </a:rPr>
                        <a:t>Murakkab</a:t>
                      </a:r>
                    </a:p>
                  </a:txBody>
                  <a:tcPr marL="73152" marR="73152" marT="36576" marB="36576">
                    <a:solidFill>
                      <a:srgbClr val="FFFFFF"/>
                    </a:solidFill>
                  </a:tcPr>
                </a:tc>
                <a:tc>
                  <a:txBody>
                    <a:bodyPr/>
                    <a:lstStyle/>
                    <a:p>
                      <a:r>
                        <a:rPr sz="1200" b="0">
                          <a:solidFill>
                            <a:srgbClr val="1F2937"/>
                          </a:solidFill>
                        </a:rPr>
                        <a:t>Ikki va undan ortiq tur ta’siri</a:t>
                      </a:r>
                    </a:p>
                  </a:txBody>
                  <a:tcPr marL="73152" marR="73152" marT="36576" marB="36576">
                    <a:solidFill>
                      <a:srgbClr val="FFFFFF"/>
                    </a:solidFill>
                  </a:tcPr>
                </a:tc>
              </a:tr>
              <a:tr h="411480">
                <a:tc>
                  <a:txBody>
                    <a:bodyPr/>
                    <a:lstStyle/>
                    <a:p>
                      <a:r>
                        <a:rPr sz="1200" b="0">
                          <a:solidFill>
                            <a:srgbClr val="1F2937"/>
                          </a:solidFill>
                        </a:rPr>
                        <a:t>Soha</a:t>
                      </a:r>
                    </a:p>
                  </a:txBody>
                  <a:tcPr marL="73152" marR="73152" marT="36576" marB="36576">
                    <a:solidFill>
                      <a:srgbClr val="E8EEF6"/>
                    </a:solidFill>
                  </a:tcPr>
                </a:tc>
                <a:tc>
                  <a:txBody>
                    <a:bodyPr/>
                    <a:lstStyle/>
                    <a:p>
                      <a:r>
                        <a:rPr sz="1200" b="0">
                          <a:solidFill>
                            <a:srgbClr val="1F2937"/>
                          </a:solidFill>
                        </a:rPr>
                        <a:t>Cheklangan</a:t>
                      </a:r>
                    </a:p>
                  </a:txBody>
                  <a:tcPr marL="73152" marR="73152" marT="36576" marB="36576">
                    <a:solidFill>
                      <a:srgbClr val="E8EEF6"/>
                    </a:solidFill>
                  </a:tcPr>
                </a:tc>
                <a:tc>
                  <a:txBody>
                    <a:bodyPr/>
                    <a:lstStyle/>
                    <a:p>
                      <a:r>
                        <a:rPr sz="1200" b="0">
                          <a:solidFill>
                            <a:srgbClr val="1F2937"/>
                          </a:solidFill>
                        </a:rPr>
                        <a:t>Bir soha yoki bir segment</a:t>
                      </a:r>
                    </a:p>
                  </a:txBody>
                  <a:tcPr marL="73152" marR="73152" marT="36576" marB="36576">
                    <a:solidFill>
                      <a:srgbClr val="E8EEF6"/>
                    </a:solidFill>
                  </a:tcPr>
                </a:tc>
              </a:tr>
              <a:tr h="411480">
                <a:tc>
                  <a:txBody>
                    <a:bodyPr/>
                    <a:lstStyle/>
                    <a:p>
                      <a:r>
                        <a:rPr sz="1200" b="0">
                          <a:solidFill>
                            <a:srgbClr val="1F2937"/>
                          </a:solidFill>
                        </a:rPr>
                        <a:t>Soha</a:t>
                      </a:r>
                    </a:p>
                  </a:txBody>
                  <a:tcPr marL="73152" marR="73152" marT="36576" marB="36576">
                    <a:solidFill>
                      <a:srgbClr val="FFFFFF"/>
                    </a:solidFill>
                  </a:tcPr>
                </a:tc>
                <a:tc>
                  <a:txBody>
                    <a:bodyPr/>
                    <a:lstStyle/>
                    <a:p>
                      <a:r>
                        <a:rPr sz="1200" b="0">
                          <a:solidFill>
                            <a:srgbClr val="1F2937"/>
                          </a:solidFill>
                        </a:rPr>
                        <a:t>Qo‘sh</a:t>
                      </a:r>
                    </a:p>
                  </a:txBody>
                  <a:tcPr marL="73152" marR="73152" marT="36576" marB="36576">
                    <a:solidFill>
                      <a:srgbClr val="FFFFFF"/>
                    </a:solidFill>
                  </a:tcPr>
                </a:tc>
                <a:tc>
                  <a:txBody>
                    <a:bodyPr/>
                    <a:lstStyle/>
                    <a:p>
                      <a:r>
                        <a:rPr sz="1200" b="0">
                          <a:solidFill>
                            <a:srgbClr val="1F2937"/>
                          </a:solidFill>
                        </a:rPr>
                        <a:t>Ikki va undan ortiq soha/segment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Travma tasnifi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Cheklangan va qo‘sh, yakka va ko‘p jarohat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Jarohat bir anatomik sohani yoki tayanch-harakat tizimining bir segmentini egallasa, u cheklangan jarohat deyiladi.</a:t>
            </a:r>
          </a:p>
          <a:p>
            <a:pPr>
              <a:spcAft>
                <a:spcPts val="800"/>
              </a:spcAft>
            </a:pPr>
            <a:r>
              <a:rPr sz="1800">
                <a:solidFill>
                  <a:srgbClr val="1F2937"/>
                </a:solidFill>
                <a:latin typeface="Calibri"/>
              </a:rPr>
              <a:t>▸  Ikki va undan ortiq soha yoki segment shikastlansa, qo‘sh jarohat. Soniga qarab yakka va ko‘p jarohat farqlanadi.</a:t>
            </a:r>
          </a:p>
          <a:p>
            <a:pPr>
              <a:spcAft>
                <a:spcPts val="800"/>
              </a:spcAft>
            </a:pPr>
            <a:r>
              <a:rPr sz="1800">
                <a:solidFill>
                  <a:srgbClr val="1F2937"/>
                </a:solidFill>
                <a:latin typeface="Calibri"/>
              </a:rPr>
              <a:t>▸  Diqqat: oddiy/murakkab omil soniga, cheklangan/qo‘sh soha soniga bog‘liq. Bular bir tushuncha emas.</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2535330"/>
                <a:gridCol w="1159008"/>
                <a:gridCol w="1593636"/>
              </a:tblGrid>
              <a:tr h="411480">
                <a:tc>
                  <a:txBody>
                    <a:bodyPr/>
                    <a:lstStyle/>
                    <a:p>
                      <a:r>
                        <a:rPr sz="1300" b="1">
                          <a:solidFill>
                            <a:srgbClr val="FFFFFF"/>
                          </a:solidFill>
                        </a:rPr>
                        <a:t>Holat</a:t>
                      </a:r>
                    </a:p>
                  </a:txBody>
                  <a:tcPr marL="73152" marR="73152" marT="36576" marB="36576">
                    <a:solidFill>
                      <a:srgbClr val="0B1F3A"/>
                    </a:solidFill>
                  </a:tcPr>
                </a:tc>
                <a:tc>
                  <a:txBody>
                    <a:bodyPr/>
                    <a:lstStyle/>
                    <a:p>
                      <a:r>
                        <a:rPr sz="1300" b="1">
                          <a:solidFill>
                            <a:srgbClr val="FFFFFF"/>
                          </a:solidFill>
                        </a:rPr>
                        <a:t>Omil</a:t>
                      </a:r>
                    </a:p>
                  </a:txBody>
                  <a:tcPr marL="73152" marR="73152" marT="36576" marB="36576">
                    <a:solidFill>
                      <a:srgbClr val="0B1F3A"/>
                    </a:solidFill>
                  </a:tcPr>
                </a:tc>
                <a:tc>
                  <a:txBody>
                    <a:bodyPr/>
                    <a:lstStyle/>
                    <a:p>
                      <a:r>
                        <a:rPr sz="1300" b="1">
                          <a:solidFill>
                            <a:srgbClr val="FFFFFF"/>
                          </a:solidFill>
                        </a:rPr>
                        <a:t>Tasnif</a:t>
                      </a:r>
                    </a:p>
                  </a:txBody>
                  <a:tcPr marL="73152" marR="73152" marT="36576" marB="36576">
                    <a:solidFill>
                      <a:srgbClr val="0B1F3A"/>
                    </a:solidFill>
                  </a:tcPr>
                </a:tc>
              </a:tr>
              <a:tr h="411480">
                <a:tc>
                  <a:txBody>
                    <a:bodyPr/>
                    <a:lstStyle/>
                    <a:p>
                      <a:r>
                        <a:rPr sz="1200" b="0">
                          <a:solidFill>
                            <a:srgbClr val="1F2937"/>
                          </a:solidFill>
                        </a:rPr>
                        <a:t>Ko‘krakda sanchma yara</a:t>
                      </a:r>
                    </a:p>
                  </a:txBody>
                  <a:tcPr marL="73152" marR="73152" marT="36576" marB="36576">
                    <a:solidFill>
                      <a:srgbClr val="E8EEF6"/>
                    </a:solidFill>
                  </a:tcPr>
                </a:tc>
                <a:tc>
                  <a:txBody>
                    <a:bodyPr/>
                    <a:lstStyle/>
                    <a:p>
                      <a:r>
                        <a:rPr sz="1200" b="0">
                          <a:solidFill>
                            <a:srgbClr val="1F2937"/>
                          </a:solidFill>
                        </a:rPr>
                        <a:t>Bitta omil</a:t>
                      </a:r>
                    </a:p>
                  </a:txBody>
                  <a:tcPr marL="73152" marR="73152" marT="36576" marB="36576">
                    <a:solidFill>
                      <a:srgbClr val="E8EEF6"/>
                    </a:solidFill>
                  </a:tcPr>
                </a:tc>
                <a:tc>
                  <a:txBody>
                    <a:bodyPr/>
                    <a:lstStyle/>
                    <a:p>
                      <a:r>
                        <a:rPr sz="1200" b="0">
                          <a:solidFill>
                            <a:srgbClr val="1F2937"/>
                          </a:solidFill>
                        </a:rPr>
                        <a:t>Oddiy cheklangan yakka</a:t>
                      </a:r>
                    </a:p>
                  </a:txBody>
                  <a:tcPr marL="73152" marR="73152" marT="36576" marB="36576">
                    <a:solidFill>
                      <a:srgbClr val="E8EEF6"/>
                    </a:solidFill>
                  </a:tcPr>
                </a:tc>
              </a:tr>
              <a:tr h="411480">
                <a:tc>
                  <a:txBody>
                    <a:bodyPr/>
                    <a:lstStyle/>
                    <a:p>
                      <a:r>
                        <a:rPr sz="1200" b="0">
                          <a:solidFill>
                            <a:srgbClr val="1F2937"/>
                          </a:solidFill>
                        </a:rPr>
                        <a:t>Miya chayqalishi + qorin qontalashi</a:t>
                      </a:r>
                    </a:p>
                  </a:txBody>
                  <a:tcPr marL="73152" marR="73152" marT="36576" marB="36576">
                    <a:solidFill>
                      <a:srgbClr val="FFFFFF"/>
                    </a:solidFill>
                  </a:tcPr>
                </a:tc>
                <a:tc>
                  <a:txBody>
                    <a:bodyPr/>
                    <a:lstStyle/>
                    <a:p>
                      <a:r>
                        <a:rPr sz="1200" b="0">
                          <a:solidFill>
                            <a:srgbClr val="1F2937"/>
                          </a:solidFill>
                        </a:rPr>
                        <a:t>Bitta omil</a:t>
                      </a:r>
                    </a:p>
                  </a:txBody>
                  <a:tcPr marL="73152" marR="73152" marT="36576" marB="36576">
                    <a:solidFill>
                      <a:srgbClr val="FFFFFF"/>
                    </a:solidFill>
                  </a:tcPr>
                </a:tc>
                <a:tc>
                  <a:txBody>
                    <a:bodyPr/>
                    <a:lstStyle/>
                    <a:p>
                      <a:r>
                        <a:rPr sz="1200" b="0">
                          <a:solidFill>
                            <a:srgbClr val="1F2937"/>
                          </a:solidFill>
                        </a:rPr>
                        <a:t>Oddiy qo‘sh ko‘p</a:t>
                      </a:r>
                    </a:p>
                  </a:txBody>
                  <a:tcPr marL="73152" marR="73152" marT="36576" marB="36576">
                    <a:solidFill>
                      <a:srgbClr val="FFFFFF"/>
                    </a:solidFill>
                  </a:tcPr>
                </a:tc>
              </a:tr>
              <a:tr h="411480">
                <a:tc>
                  <a:txBody>
                    <a:bodyPr/>
                    <a:lstStyle/>
                    <a:p>
                      <a:r>
                        <a:rPr sz="1200" b="0">
                          <a:solidFill>
                            <a:srgbClr val="1F2937"/>
                          </a:solidFill>
                        </a:rPr>
                        <a:t>Qobirg‘a sinishi + termik kuyish</a:t>
                      </a:r>
                    </a:p>
                  </a:txBody>
                  <a:tcPr marL="73152" marR="73152" marT="36576" marB="36576">
                    <a:solidFill>
                      <a:srgbClr val="E8EEF6"/>
                    </a:solidFill>
                  </a:tcPr>
                </a:tc>
                <a:tc>
                  <a:txBody>
                    <a:bodyPr/>
                    <a:lstStyle/>
                    <a:p>
                      <a:r>
                        <a:rPr sz="1200" b="0">
                          <a:solidFill>
                            <a:srgbClr val="1F2937"/>
                          </a:solidFill>
                        </a:rPr>
                        <a:t>Mexanik + termik</a:t>
                      </a:r>
                    </a:p>
                  </a:txBody>
                  <a:tcPr marL="73152" marR="73152" marT="36576" marB="36576">
                    <a:solidFill>
                      <a:srgbClr val="E8EEF6"/>
                    </a:solidFill>
                  </a:tcPr>
                </a:tc>
                <a:tc>
                  <a:txBody>
                    <a:bodyPr/>
                    <a:lstStyle/>
                    <a:p>
                      <a:r>
                        <a:rPr sz="1200" b="0">
                          <a:solidFill>
                            <a:srgbClr val="1F2937"/>
                          </a:solidFill>
                        </a:rPr>
                        <a:t>Murakkab qo‘sh ko‘p</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Diagnoz misollari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Anatomik va funksional shikastlanishlar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Sud-tibbiy ekspertizada, ayniqsa murda va tirik shaxslar ekspertizasida, mexanik jarohatlar etakchi o‘rinni egallaydi.</a:t>
            </a:r>
          </a:p>
          <a:p>
            <a:pPr>
              <a:spcAft>
                <a:spcPts val="1200"/>
              </a:spcAft>
            </a:pPr>
            <a:r>
              <a:rPr sz="2200">
                <a:solidFill>
                  <a:srgbClr val="1F2937"/>
                </a:solidFill>
                <a:latin typeface="Calibri"/>
              </a:rPr>
              <a:t>▸  So‘nggi yillarda o‘lim sabablari tarkibida mexanik jarohatlar yurak-qon tomir va onkologik kasalliklardan keyin turadi.</a:t>
            </a:r>
          </a:p>
          <a:p>
            <a:pPr>
              <a:spcAft>
                <a:spcPts val="1200"/>
              </a:spcAft>
            </a:pPr>
            <a:r>
              <a:rPr sz="2200">
                <a:solidFill>
                  <a:srgbClr val="1F2937"/>
                </a:solidFill>
                <a:latin typeface="Calibri"/>
              </a:rPr>
              <a:t>▸  Asosan anatomik guruhga shilinma, qontalash, yara, sinish, chiqish, majaqlanish va ichki a’zolar yorilishi kiradi.</a:t>
            </a:r>
          </a:p>
          <a:p>
            <a:pPr>
              <a:spcAft>
                <a:spcPts val="1200"/>
              </a:spcAft>
            </a:pPr>
            <a:r>
              <a:rPr sz="2200">
                <a:solidFill>
                  <a:srgbClr val="1F2937"/>
                </a:solidFill>
                <a:latin typeface="Calibri"/>
              </a:rPr>
              <a:t>▸  Asosan funksional guruhga refleksogen sohaga zarbdan shok, miya va ichki a’zolar chayqalishi, aspiratsion asfiksiya kiradi.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jarohat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1-holat: ko‘krak qafasida sanchma yara aniqlangan. Manbada bu oddiy cheklangan yakka shikastlanish deb tasniflanadi.</a:t>
            </a:r>
          </a:p>
          <a:p>
            <a:pPr>
              <a:spcAft>
                <a:spcPts val="1200"/>
              </a:spcAft>
            </a:pPr>
            <a:r>
              <a:rPr sz="2200">
                <a:solidFill>
                  <a:srgbClr val="1F2937"/>
                </a:solidFill>
                <a:latin typeface="Calibri"/>
              </a:rPr>
              <a:t>▸  2-holat: bosh miya chayqalishi va qorin sohasida qontalashlar bor. Manbada oddiy qo‘sh ko‘p shikastlanish deyiladi.</a:t>
            </a:r>
          </a:p>
          <a:p>
            <a:pPr>
              <a:spcAft>
                <a:spcPts val="1200"/>
              </a:spcAft>
            </a:pPr>
            <a:r>
              <a:rPr sz="2200">
                <a:solidFill>
                  <a:srgbClr val="1F2937"/>
                </a:solidFill>
                <a:latin typeface="Calibri"/>
              </a:rPr>
              <a:t>▸  3-holat: qobirg‘a sinishi va termik kuyish birga uchragan. Manbada murakkab qo‘sh ko‘p shikastlanish deb baholanadi.</a:t>
            </a:r>
          </a:p>
          <a:p>
            <a:pPr>
              <a:spcAft>
                <a:spcPts val="1200"/>
              </a:spcAft>
            </a:pPr>
            <a:r>
              <a:rPr sz="2200">
                <a:solidFill>
                  <a:srgbClr val="1F2937"/>
                </a:solidFill>
                <a:latin typeface="Calibri"/>
              </a:rPr>
              <a:t>▸  Savol: har bir holatni omil soni, soha soni va jarohat soni bo‘yicha asoslab tasniflang.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Travmatizm tushunchasi va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Travmatizm — bir xil mehnat va turmush sharoitidagi shaxslar guruhida uchraydigan turdosh jarohatlar majmui.</a:t>
            </a:r>
          </a:p>
          <a:p>
            <a:pPr>
              <a:spcAft>
                <a:spcPts val="800"/>
              </a:spcAft>
            </a:pPr>
            <a:r>
              <a:rPr sz="1800">
                <a:solidFill>
                  <a:srgbClr val="1F2937"/>
                </a:solidFill>
                <a:latin typeface="Calibri"/>
              </a:rPr>
              <a:t>▸  Travmatizm turlari asosan shaxslar faoliyatining xususiyatlari bilan bog‘liq.</a:t>
            </a:r>
          </a:p>
          <a:p>
            <a:pPr>
              <a:spcAft>
                <a:spcPts val="800"/>
              </a:spcAft>
            </a:pPr>
            <a:r>
              <a:rPr sz="1800">
                <a:solidFill>
                  <a:srgbClr val="1F2937"/>
                </a:solidFill>
                <a:latin typeface="Calibri"/>
              </a:rPr>
              <a:t>▸  Ishlab chiqarish, transport va harbiy travmatizm yana ichki ko‘rinishlarga bo‘linadi.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Turi</a:t>
                      </a:r>
                    </a:p>
                  </a:txBody>
                  <a:tcPr marL="73152" marR="73152" marT="36576" marB="36576">
                    <a:solidFill>
                      <a:srgbClr val="0B1F3A"/>
                    </a:solidFill>
                  </a:tcPr>
                </a:tc>
                <a:tc>
                  <a:txBody>
                    <a:bodyPr/>
                    <a:lstStyle/>
                    <a:p>
                      <a:r>
                        <a:rPr sz="1400" b="1">
                          <a:solidFill>
                            <a:srgbClr val="FFFFFF"/>
                          </a:solidFill>
                        </a:rPr>
                        <a:t>Ko‘rinishlari</a:t>
                      </a:r>
                    </a:p>
                  </a:txBody>
                  <a:tcPr marL="73152" marR="73152" marT="36576" marB="36576">
                    <a:solidFill>
                      <a:srgbClr val="0B1F3A"/>
                    </a:solidFill>
                  </a:tcPr>
                </a:tc>
              </a:tr>
              <a:tr h="411480">
                <a:tc>
                  <a:txBody>
                    <a:bodyPr/>
                    <a:lstStyle/>
                    <a:p>
                      <a:r>
                        <a:rPr sz="1300" b="0">
                          <a:solidFill>
                            <a:srgbClr val="1F2937"/>
                          </a:solidFill>
                        </a:rPr>
                        <a:t>Ishlab chiqarish</a:t>
                      </a:r>
                    </a:p>
                  </a:txBody>
                  <a:tcPr marL="73152" marR="73152" marT="36576" marB="36576">
                    <a:solidFill>
                      <a:srgbClr val="E8EEF6"/>
                    </a:solidFill>
                  </a:tcPr>
                </a:tc>
                <a:tc>
                  <a:txBody>
                    <a:bodyPr/>
                    <a:lstStyle/>
                    <a:p>
                      <a:r>
                        <a:rPr sz="1300" b="0">
                          <a:solidFill>
                            <a:srgbClr val="1F2937"/>
                          </a:solidFill>
                        </a:rPr>
                        <a:t>sanoat, qishloq xo‘jaligi, qurilish</a:t>
                      </a:r>
                    </a:p>
                  </a:txBody>
                  <a:tcPr marL="73152" marR="73152" marT="36576" marB="36576">
                    <a:solidFill>
                      <a:srgbClr val="E8EEF6"/>
                    </a:solidFill>
                  </a:tcPr>
                </a:tc>
              </a:tr>
              <a:tr h="411480">
                <a:tc>
                  <a:txBody>
                    <a:bodyPr/>
                    <a:lstStyle/>
                    <a:p>
                      <a:r>
                        <a:rPr sz="1300" b="0">
                          <a:solidFill>
                            <a:srgbClr val="1F2937"/>
                          </a:solidFill>
                        </a:rPr>
                        <a:t>Transport</a:t>
                      </a:r>
                    </a:p>
                  </a:txBody>
                  <a:tcPr marL="73152" marR="73152" marT="36576" marB="36576">
                    <a:solidFill>
                      <a:srgbClr val="FFFFFF"/>
                    </a:solidFill>
                  </a:tcPr>
                </a:tc>
                <a:tc>
                  <a:txBody>
                    <a:bodyPr/>
                    <a:lstStyle/>
                    <a:p>
                      <a:r>
                        <a:rPr sz="1300" b="0">
                          <a:solidFill>
                            <a:srgbClr val="1F2937"/>
                          </a:solidFill>
                        </a:rPr>
                        <a:t>avto, moto, velosiped, temir yo‘l, havo, suv</a:t>
                      </a:r>
                    </a:p>
                  </a:txBody>
                  <a:tcPr marL="73152" marR="73152" marT="36576" marB="36576">
                    <a:solidFill>
                      <a:srgbClr val="FFFFFF"/>
                    </a:solidFill>
                  </a:tcPr>
                </a:tc>
              </a:tr>
              <a:tr h="411480">
                <a:tc>
                  <a:txBody>
                    <a:bodyPr/>
                    <a:lstStyle/>
                    <a:p>
                      <a:r>
                        <a:rPr sz="1300" b="0">
                          <a:solidFill>
                            <a:srgbClr val="1F2937"/>
                          </a:solidFill>
                        </a:rPr>
                        <a:t>Harbiy</a:t>
                      </a:r>
                    </a:p>
                  </a:txBody>
                  <a:tcPr marL="73152" marR="73152" marT="36576" marB="36576">
                    <a:solidFill>
                      <a:srgbClr val="E8EEF6"/>
                    </a:solidFill>
                  </a:tcPr>
                </a:tc>
                <a:tc>
                  <a:txBody>
                    <a:bodyPr/>
                    <a:lstStyle/>
                    <a:p>
                      <a:r>
                        <a:rPr sz="1300" b="0">
                          <a:solidFill>
                            <a:srgbClr val="1F2937"/>
                          </a:solidFill>
                        </a:rPr>
                        <a:t>urush va tinchlik davri</a:t>
                      </a:r>
                    </a:p>
                  </a:txBody>
                  <a:tcPr marL="73152" marR="73152" marT="36576" marB="36576">
                    <a:solidFill>
                      <a:srgbClr val="E8EEF6"/>
                    </a:solidFill>
                  </a:tcPr>
                </a:tc>
              </a:tr>
              <a:tr h="411480">
                <a:tc>
                  <a:txBody>
                    <a:bodyPr/>
                    <a:lstStyle/>
                    <a:p>
                      <a:r>
                        <a:rPr sz="1300" b="0">
                          <a:solidFill>
                            <a:srgbClr val="1F2937"/>
                          </a:solidFill>
                        </a:rPr>
                        <a:t>Boshqalar</a:t>
                      </a:r>
                    </a:p>
                  </a:txBody>
                  <a:tcPr marL="73152" marR="73152" marT="36576" marB="36576">
                    <a:solidFill>
                      <a:srgbClr val="FFFFFF"/>
                    </a:solidFill>
                  </a:tcPr>
                </a:tc>
                <a:tc>
                  <a:txBody>
                    <a:bodyPr/>
                    <a:lstStyle/>
                    <a:p>
                      <a:r>
                        <a:rPr sz="1300" b="0">
                          <a:solidFill>
                            <a:srgbClr val="1F2937"/>
                          </a:solidFill>
                        </a:rPr>
                        <a:t>ko‘cha, sport, maktab, maishiy</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Travmatizm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Travmatizm sabablari va profilaktika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Shikastlanishlarning aksariyati belgilangan qoida va tartib talablariga rioya qilmaslik natijasida vujudga keladi.</a:t>
            </a:r>
          </a:p>
          <a:p>
            <a:pPr>
              <a:spcAft>
                <a:spcPts val="1200"/>
              </a:spcAft>
            </a:pPr>
            <a:r>
              <a:rPr sz="2200">
                <a:solidFill>
                  <a:srgbClr val="1F2937"/>
                </a:solidFill>
                <a:latin typeface="Calibri"/>
              </a:rPr>
              <a:t>▸  Bunga spirtli ichimlik, narkotiklar va boshqa gangituvchi moddalarni iste’mol qilish ham kiradi.</a:t>
            </a:r>
          </a:p>
          <a:p>
            <a:pPr>
              <a:spcAft>
                <a:spcPts val="1200"/>
              </a:spcAft>
            </a:pPr>
            <a:r>
              <a:rPr sz="2200">
                <a:solidFill>
                  <a:srgbClr val="1F2937"/>
                </a:solidFill>
                <a:latin typeface="Calibri"/>
              </a:rPr>
              <a:t>▸  So‘nggi davrda jahonning barcha mamlakatlarida shikastlanishlar ko‘paymoqda, ular orasida murakkab jarohatlar ulushi ortmoqda.</a:t>
            </a:r>
          </a:p>
          <a:p>
            <a:pPr>
              <a:spcAft>
                <a:spcPts val="1200"/>
              </a:spcAft>
            </a:pPr>
            <a:r>
              <a:rPr sz="2200">
                <a:solidFill>
                  <a:srgbClr val="1F2937"/>
                </a:solidFill>
                <a:latin typeface="Calibri"/>
              </a:rPr>
              <a:t>▸  Sud-tibbiy ekspertiza materiallari asosida shikastlanishga sabab omillar o‘rganiladi va oldini olish bo‘yicha aniq taklif-tavsiyalar beriladi.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27, 27-28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va voqea tahlili: travmatizm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Tezkor savol: qurilish maydonida ishchi jarohat oldi. Bu travmatizmning qaysi turi va qaysi ichki ko‘rinishi?</a:t>
            </a:r>
          </a:p>
          <a:p>
            <a:pPr>
              <a:spcAft>
                <a:spcPts val="1200"/>
              </a:spcAft>
            </a:pPr>
            <a:r>
              <a:rPr sz="2200">
                <a:solidFill>
                  <a:srgbClr val="1F2937"/>
                </a:solidFill>
                <a:latin typeface="Calibri"/>
              </a:rPr>
              <a:t>▸  Voqea tahlili: mototsiklchi haydovchi ko‘chada qoidani buzib shikastlandi. Qaysi turga kiradi va qanday omil ahamiyatli?</a:t>
            </a:r>
          </a:p>
          <a:p>
            <a:pPr>
              <a:spcAft>
                <a:spcPts val="1200"/>
              </a:spcAft>
            </a:pPr>
            <a:r>
              <a:rPr sz="2200">
                <a:solidFill>
                  <a:srgbClr val="1F2937"/>
                </a:solidFill>
                <a:latin typeface="Calibri"/>
              </a:rPr>
              <a:t>▸  Javob: birinchisi — ishlab chiqarish (qurilish); ikkinchisi — transport (mototsikl), sababi qoidaga rioya qilmaslik.</a:t>
            </a:r>
          </a:p>
          <a:p>
            <a:pPr>
              <a:spcAft>
                <a:spcPts val="1200"/>
              </a:spcAft>
            </a:pPr>
            <a:r>
              <a:rPr sz="2200">
                <a:solidFill>
                  <a:srgbClr val="1F2937"/>
                </a:solidFill>
                <a:latin typeface="Calibri"/>
              </a:rPr>
              <a:t>▸  Diqqat: travmatizm — alohida jarohat emas, turdosh jarohatlar majmui; uni bitta tan jarohati bilan adashtirmang.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Jarohatlar hayotiyligini aniqlash: ahamiyati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Jarohat hayotiyligini aniqlash sud-tibbiy ekspertizada o‘ta muhim: jarohat odam o‘lganidan keyin ham yetkazilishi mumkin.</a:t>
            </a:r>
          </a:p>
          <a:p>
            <a:pPr>
              <a:spcAft>
                <a:spcPts val="1200"/>
              </a:spcAft>
            </a:pPr>
            <a:r>
              <a:rPr sz="2200">
                <a:solidFill>
                  <a:srgbClr val="1F2937"/>
                </a:solidFill>
                <a:latin typeface="Calibri"/>
              </a:rPr>
              <a:t>▸  Qasddan yetkazish: murdani qismlarga ajratish yoki o‘lim sababiga oid asl holatni o‘zgartirish.</a:t>
            </a:r>
          </a:p>
          <a:p>
            <a:pPr>
              <a:spcAft>
                <a:spcPts val="1200"/>
              </a:spcAft>
            </a:pPr>
            <a:r>
              <a:rPr sz="2200">
                <a:solidFill>
                  <a:srgbClr val="1F2937"/>
                </a:solidFill>
                <a:latin typeface="Calibri"/>
              </a:rPr>
              <a:t>▸  Tasodifan yetkazish: reanimatsiya, murdani tekshirish va tashish paytida, shuningdek hayvon, qush, baliqlar tomonidan.</a:t>
            </a:r>
          </a:p>
          <a:p>
            <a:pPr>
              <a:spcAft>
                <a:spcPts val="1200"/>
              </a:spcAft>
            </a:pPr>
            <a:r>
              <a:rPr sz="2200">
                <a:solidFill>
                  <a:srgbClr val="1F2937"/>
                </a:solidFill>
                <a:latin typeface="Calibri"/>
              </a:rPr>
              <a:t>▸  Hayotiylik organizm yoki a’zo, to‘qimaning shikastga reaksiya belgilari orqali aniqlanadi. Amalda asosan qon aylanish tizimi o‘zgarishlari muhim.</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Hayotiylikning umumiy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Tashqi va ichki qon ketishi hamda ichki a’zolarning umumiy kamqonligi hayotiylikni ko‘rsatadi.</a:t>
            </a:r>
          </a:p>
          <a:p>
            <a:pPr>
              <a:spcAft>
                <a:spcPts val="1200"/>
              </a:spcAft>
            </a:pPr>
            <a:r>
              <a:rPr sz="2200">
                <a:solidFill>
                  <a:srgbClr val="1F2937"/>
                </a:solidFill>
                <a:latin typeface="Calibri"/>
              </a:rPr>
              <a:t>▸  Nafas yo‘llarida qon va yot moddalar aspiratsiyasi. Oshqozon va ichakda qon, yot moddalar, shikastlangan a’zolarda mayda bo‘lakchalar topiladi.</a:t>
            </a:r>
          </a:p>
          <a:p>
            <a:pPr>
              <a:spcAft>
                <a:spcPts val="1200"/>
              </a:spcAft>
            </a:pPr>
            <a:r>
              <a:rPr sz="2200">
                <a:solidFill>
                  <a:srgbClr val="1F2937"/>
                </a:solidFill>
                <a:latin typeface="Calibri"/>
              </a:rPr>
              <a:t>▸  Siydik va buyrak naychalarida mioglobin bo‘ladi. Yog‘ to‘qimali sohalar shikastlanganda limfada eritrotsit va yog‘ topiladi.</a:t>
            </a:r>
          </a:p>
          <a:p>
            <a:pPr>
              <a:spcAft>
                <a:spcPts val="1200"/>
              </a:spcAft>
            </a:pPr>
            <a:r>
              <a:rPr sz="2200">
                <a:solidFill>
                  <a:srgbClr val="1F2937"/>
                </a:solidFill>
                <a:latin typeface="Calibri"/>
              </a:rPr>
              <a:t>▸  Regional limfa tugunlarida eritrotsitlar bo‘ladi (eritrofagiya). Shuningdek havo, yog‘, to‘qima yoki yot modda emboli aniqlanadi.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Hayotiylikning mahalliy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Mahalliy belgilar jarohat sohasining o‘zida topilib, shikastlanish hayotiyligini tasdiqlaydi.</a:t>
            </a:r>
          </a:p>
          <a:p>
            <a:pPr>
              <a:spcAft>
                <a:spcPts val="800"/>
              </a:spcAft>
            </a:pPr>
            <a:r>
              <a:rPr sz="1800">
                <a:solidFill>
                  <a:srgbClr val="1F2937"/>
                </a:solidFill>
                <a:latin typeface="Calibri"/>
              </a:rPr>
              <a:t>▸  Belgilar aniqligi jarohat turi, soni, ko‘lamiga hamda organizm va soha xususiyatlariga bog‘liq.</a:t>
            </a:r>
          </a:p>
          <a:p>
            <a:pPr>
              <a:spcAft>
                <a:spcPts val="800"/>
              </a:spcAft>
            </a:pPr>
            <a:r>
              <a:rPr sz="1800">
                <a:solidFill>
                  <a:srgbClr val="1F2937"/>
                </a:solidFill>
                <a:latin typeface="Calibri"/>
              </a:rPr>
              <a:t>▸  Diqqat: filogenetik qari to‘qimalarda o‘limdan keyingi jarohat hayotiyga o‘xshashi mumkin.</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38320"/>
                <a:gridCol w="3749655"/>
              </a:tblGrid>
              <a:tr h="411480">
                <a:tc>
                  <a:txBody>
                    <a:bodyPr/>
                    <a:lstStyle/>
                    <a:p>
                      <a:r>
                        <a:rPr sz="1400" b="1">
                          <a:solidFill>
                            <a:srgbClr val="FFFFFF"/>
                          </a:solidFill>
                        </a:rPr>
                        <a:t>Guruh</a:t>
                      </a:r>
                    </a:p>
                  </a:txBody>
                  <a:tcPr marL="73152" marR="73152" marT="36576" marB="36576">
                    <a:solidFill>
                      <a:srgbClr val="0B1F3A"/>
                    </a:solidFill>
                  </a:tcPr>
                </a:tc>
                <a:tc>
                  <a:txBody>
                    <a:bodyPr/>
                    <a:lstStyle/>
                    <a:p>
                      <a:r>
                        <a:rPr sz="1400" b="1">
                          <a:solidFill>
                            <a:srgbClr val="FFFFFF"/>
                          </a:solidFill>
                        </a:rPr>
                        <a:t>Belgi</a:t>
                      </a:r>
                    </a:p>
                  </a:txBody>
                  <a:tcPr marL="73152" marR="73152" marT="36576" marB="36576">
                    <a:solidFill>
                      <a:srgbClr val="0B1F3A"/>
                    </a:solidFill>
                  </a:tcPr>
                </a:tc>
              </a:tr>
              <a:tr h="411480">
                <a:tc>
                  <a:txBody>
                    <a:bodyPr/>
                    <a:lstStyle/>
                    <a:p>
                      <a:r>
                        <a:rPr sz="1300" b="0">
                          <a:solidFill>
                            <a:srgbClr val="1F2937"/>
                          </a:solidFill>
                        </a:rPr>
                        <a:t>Qon va tomir</a:t>
                      </a:r>
                    </a:p>
                  </a:txBody>
                  <a:tcPr marL="73152" marR="73152" marT="36576" marB="36576">
                    <a:solidFill>
                      <a:srgbClr val="E8EEF6"/>
                    </a:solidFill>
                  </a:tcPr>
                </a:tc>
                <a:tc>
                  <a:txBody>
                    <a:bodyPr/>
                    <a:lstStyle/>
                    <a:p>
                      <a:r>
                        <a:rPr sz="1300" b="0">
                          <a:solidFill>
                            <a:srgbClr val="1F2937"/>
                          </a:solidFill>
                        </a:rPr>
                        <a:t>Qon quyilishi; qon tomirda tromb</a:t>
                      </a:r>
                    </a:p>
                  </a:txBody>
                  <a:tcPr marL="73152" marR="73152" marT="36576" marB="36576">
                    <a:solidFill>
                      <a:srgbClr val="E8EEF6"/>
                    </a:solidFill>
                  </a:tcPr>
                </a:tc>
              </a:tr>
              <a:tr h="411480">
                <a:tc>
                  <a:txBody>
                    <a:bodyPr/>
                    <a:lstStyle/>
                    <a:p>
                      <a:r>
                        <a:rPr sz="1300" b="0">
                          <a:solidFill>
                            <a:srgbClr val="1F2937"/>
                          </a:solidFill>
                        </a:rPr>
                        <a:t>Reaksiya</a:t>
                      </a:r>
                    </a:p>
                  </a:txBody>
                  <a:tcPr marL="73152" marR="73152" marT="36576" marB="36576">
                    <a:solidFill>
                      <a:srgbClr val="FFFFFF"/>
                    </a:solidFill>
                  </a:tcPr>
                </a:tc>
                <a:tc>
                  <a:txBody>
                    <a:bodyPr/>
                    <a:lstStyle/>
                    <a:p>
                      <a:r>
                        <a:rPr sz="1300" b="0">
                          <a:solidFill>
                            <a:srgbClr val="1F2937"/>
                          </a:solidFill>
                        </a:rPr>
                        <a:t>Reaktiv shish; yallig‘lanish alomatlari</a:t>
                      </a:r>
                    </a:p>
                  </a:txBody>
                  <a:tcPr marL="73152" marR="73152" marT="36576" marB="36576">
                    <a:solidFill>
                      <a:srgbClr val="FFFFFF"/>
                    </a:solidFill>
                  </a:tcPr>
                </a:tc>
              </a:tr>
              <a:tr h="411480">
                <a:tc>
                  <a:txBody>
                    <a:bodyPr/>
                    <a:lstStyle/>
                    <a:p>
                      <a:r>
                        <a:rPr sz="1300" b="0">
                          <a:solidFill>
                            <a:srgbClr val="1F2937"/>
                          </a:solidFill>
                        </a:rPr>
                        <a:t>Mushak, hujayra</a:t>
                      </a:r>
                    </a:p>
                  </a:txBody>
                  <a:tcPr marL="73152" marR="73152" marT="36576" marB="36576">
                    <a:solidFill>
                      <a:srgbClr val="E8EEF6"/>
                    </a:solidFill>
                  </a:tcPr>
                </a:tc>
                <a:tc>
                  <a:txBody>
                    <a:bodyPr/>
                    <a:lstStyle/>
                    <a:p>
                      <a:r>
                        <a:rPr sz="1300" b="0">
                          <a:solidFill>
                            <a:srgbClr val="1F2937"/>
                          </a:solidFill>
                        </a:rPr>
                        <a:t>Mushak qisqarishi; hujayralar nekrozi</a:t>
                      </a:r>
                    </a:p>
                  </a:txBody>
                  <a:tcPr marL="73152" marR="73152" marT="36576" marB="36576">
                    <a:solidFill>
                      <a:srgbClr val="E8EEF6"/>
                    </a:solidFill>
                  </a:tcPr>
                </a:tc>
              </a:tr>
              <a:tr h="411480">
                <a:tc>
                  <a:txBody>
                    <a:bodyPr/>
                    <a:lstStyle/>
                    <a:p>
                      <a:r>
                        <a:rPr sz="1300" b="0">
                          <a:solidFill>
                            <a:srgbClr val="1F2937"/>
                          </a:solidFill>
                        </a:rPr>
                        <a:t>Kimyoviy</a:t>
                      </a:r>
                    </a:p>
                  </a:txBody>
                  <a:tcPr marL="73152" marR="73152" marT="36576" marB="36576">
                    <a:solidFill>
                      <a:srgbClr val="FFFFFF"/>
                    </a:solidFill>
                  </a:tcPr>
                </a:tc>
                <a:tc>
                  <a:txBody>
                    <a:bodyPr/>
                    <a:lstStyle/>
                    <a:p>
                      <a:r>
                        <a:rPr sz="1300" b="0">
                          <a:solidFill>
                            <a:srgbClr val="1F2937"/>
                          </a:solidFill>
                        </a:rPr>
                        <a:t>Turli gistokimyoviy o‘zgarishlar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Mahalliy belgilar guruhi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 28-29, 29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hayotiylik masalasi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murdada jarohat topildi. Uni hayotlikda yetkazilganmi yoki o‘limdan keyinmi, aniqlash kerak. O‘limdan keyin jarohat qasddan yoki tasodifan (reanimatsiya, tashish, hayvonlar) yetkazilishi mumkin.</a:t>
            </a:r>
          </a:p>
          <a:p>
            <a:pPr>
              <a:spcAft>
                <a:spcPts val="1200"/>
              </a:spcAft>
            </a:pPr>
            <a:r>
              <a:rPr sz="2000">
                <a:solidFill>
                  <a:srgbClr val="1F2937"/>
                </a:solidFill>
                <a:latin typeface="Calibri"/>
              </a:rPr>
              <a:t>▸  Hayotiylik belgilarining aniqligi jarohatning turi, soni va ko‘lamiga, shuningdek organizm va shikastlangan sohaning xususiyatlariga bog‘liq.</a:t>
            </a:r>
          </a:p>
          <a:p>
            <a:pPr>
              <a:spcAft>
                <a:spcPts val="1200"/>
              </a:spcAft>
            </a:pPr>
            <a:r>
              <a:rPr sz="2000">
                <a:solidFill>
                  <a:srgbClr val="1F2937"/>
                </a:solidFill>
                <a:latin typeface="Calibri"/>
              </a:rPr>
              <a:t>▸  Biologik o‘limdan so‘ng to‘qimalarda hayotiy jarayonlarning to‘xtashi ularning filogenetik yoshiga bog‘liq. Filogenetik katta to‘qimalarda o‘limdan keyingi jarohat hayotiyga o‘xshashi mumkin.</a:t>
            </a:r>
          </a:p>
          <a:p>
            <a:pPr>
              <a:spcAft>
                <a:spcPts val="1200"/>
              </a:spcAft>
            </a:pPr>
            <a:r>
              <a:rPr sz="2000">
                <a:solidFill>
                  <a:srgbClr val="1F2937"/>
                </a:solidFill>
                <a:latin typeface="Calibri"/>
              </a:rPr>
              <a:t>▸  Diqqat: o‘limdan keyingi jarohat ≠ hayotiy jarohat. Savol: nega faqat tashqi ko‘rinishga qarab, o‘limdan keyingi jarohatni hayotiy deb baholash xato bo‘lishi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 28-29, 29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Jarohatlarni tekshirish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Tan jarohatlari avvalo makroskopik tekshiriladi. Barcha holatlarda tegishli o‘lchov tekshiruvlari o‘tkaziladi.</a:t>
            </a:r>
          </a:p>
          <a:p>
            <a:pPr>
              <a:spcAft>
                <a:spcPts val="800"/>
              </a:spcAft>
            </a:pPr>
            <a:r>
              <a:rPr sz="1800">
                <a:solidFill>
                  <a:srgbClr val="1F2937"/>
                </a:solidFill>
                <a:latin typeface="Calibri"/>
              </a:rPr>
              <a:t>▸  Jarohatning tananing ma’lum sohasidan masofasi ham o‘lchanadi (avtotravma, o‘z-o‘zini o‘ldirish, qotillik hollarida).</a:t>
            </a:r>
          </a:p>
          <a:p>
            <a:pPr>
              <a:spcAft>
                <a:spcPts val="800"/>
              </a:spcAft>
            </a:pPr>
            <a:r>
              <a:rPr sz="1800">
                <a:solidFill>
                  <a:srgbClr val="1F2937"/>
                </a:solidFill>
                <a:latin typeface="Calibri"/>
              </a:rPr>
              <a:t>▸  Stereomikroskopiya fazoviy o‘rganish, trasologik tekshiruv esa shikastlovchi jismni aniqlash uchun qo‘llanadi.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938924"/>
                <a:gridCol w="3349050"/>
              </a:tblGrid>
              <a:tr h="411480">
                <a:tc>
                  <a:txBody>
                    <a:bodyPr/>
                    <a:lstStyle/>
                    <a:p>
                      <a:r>
                        <a:rPr sz="1400" b="1">
                          <a:solidFill>
                            <a:srgbClr val="FFFFFF"/>
                          </a:solidFill>
                        </a:rPr>
                        <a:t>Usul</a:t>
                      </a:r>
                    </a:p>
                  </a:txBody>
                  <a:tcPr marL="73152" marR="73152" marT="36576" marB="36576">
                    <a:solidFill>
                      <a:srgbClr val="0B1F3A"/>
                    </a:solidFill>
                  </a:tcPr>
                </a:tc>
                <a:tc>
                  <a:txBody>
                    <a:bodyPr/>
                    <a:lstStyle/>
                    <a:p>
                      <a:r>
                        <a:rPr sz="1400" b="1">
                          <a:solidFill>
                            <a:srgbClr val="FFFFFF"/>
                          </a:solidFill>
                        </a:rPr>
                        <a:t>Nimani aniqlaydi</a:t>
                      </a:r>
                    </a:p>
                  </a:txBody>
                  <a:tcPr marL="73152" marR="73152" marT="36576" marB="36576">
                    <a:solidFill>
                      <a:srgbClr val="0B1F3A"/>
                    </a:solidFill>
                  </a:tcPr>
                </a:tc>
              </a:tr>
              <a:tr h="411480">
                <a:tc>
                  <a:txBody>
                    <a:bodyPr/>
                    <a:lstStyle/>
                    <a:p>
                      <a:r>
                        <a:rPr sz="1300" b="0">
                          <a:solidFill>
                            <a:srgbClr val="1F2937"/>
                          </a:solidFill>
                        </a:rPr>
                        <a:t>Makroskopik, o‘lchov</a:t>
                      </a:r>
                    </a:p>
                  </a:txBody>
                  <a:tcPr marL="73152" marR="73152" marT="36576" marB="36576">
                    <a:solidFill>
                      <a:srgbClr val="E8EEF6"/>
                    </a:solidFill>
                  </a:tcPr>
                </a:tc>
                <a:tc>
                  <a:txBody>
                    <a:bodyPr/>
                    <a:lstStyle/>
                    <a:p>
                      <a:r>
                        <a:rPr sz="1300" b="0">
                          <a:solidFill>
                            <a:srgbClr val="1F2937"/>
                          </a:solidFill>
                        </a:rPr>
                        <a:t>Turi, joyi, shakli, o‘lchami, masofasi</a:t>
                      </a:r>
                    </a:p>
                  </a:txBody>
                  <a:tcPr marL="73152" marR="73152" marT="36576" marB="36576">
                    <a:solidFill>
                      <a:srgbClr val="E8EEF6"/>
                    </a:solidFill>
                  </a:tcPr>
                </a:tc>
              </a:tr>
              <a:tr h="411480">
                <a:tc>
                  <a:txBody>
                    <a:bodyPr/>
                    <a:lstStyle/>
                    <a:p>
                      <a:r>
                        <a:rPr sz="1300" b="0">
                          <a:solidFill>
                            <a:srgbClr val="1F2937"/>
                          </a:solidFill>
                        </a:rPr>
                        <a:t>Rentgenografiya</a:t>
                      </a:r>
                    </a:p>
                  </a:txBody>
                  <a:tcPr marL="73152" marR="73152" marT="36576" marB="36576">
                    <a:solidFill>
                      <a:srgbClr val="FFFFFF"/>
                    </a:solidFill>
                  </a:tcPr>
                </a:tc>
                <a:tc>
                  <a:txBody>
                    <a:bodyPr/>
                    <a:lstStyle/>
                    <a:p>
                      <a:r>
                        <a:rPr sz="1300" b="0">
                          <a:solidFill>
                            <a:srgbClr val="1F2937"/>
                          </a:solidFill>
                        </a:rPr>
                        <a:t>Yot jism, suyak shikasti</a:t>
                      </a:r>
                    </a:p>
                  </a:txBody>
                  <a:tcPr marL="73152" marR="73152" marT="36576" marB="36576">
                    <a:solidFill>
                      <a:srgbClr val="FFFFFF"/>
                    </a:solidFill>
                  </a:tcPr>
                </a:tc>
              </a:tr>
              <a:tr h="411480">
                <a:tc>
                  <a:txBody>
                    <a:bodyPr/>
                    <a:lstStyle/>
                    <a:p>
                      <a:r>
                        <a:rPr sz="1300" b="0">
                          <a:solidFill>
                            <a:srgbClr val="1F2937"/>
                          </a:solidFill>
                        </a:rPr>
                        <a:t>Rangli bosma, spektral</a:t>
                      </a:r>
                    </a:p>
                  </a:txBody>
                  <a:tcPr marL="73152" marR="73152" marT="36576" marB="36576">
                    <a:solidFill>
                      <a:srgbClr val="E8EEF6"/>
                    </a:solidFill>
                  </a:tcPr>
                </a:tc>
                <a:tc>
                  <a:txBody>
                    <a:bodyPr/>
                    <a:lstStyle/>
                    <a:p>
                      <a:r>
                        <a:rPr sz="1300" b="0">
                          <a:solidFill>
                            <a:srgbClr val="1F2937"/>
                          </a:solidFill>
                        </a:rPr>
                        <a:t>Metall zarralari va izlari</a:t>
                      </a:r>
                    </a:p>
                  </a:txBody>
                  <a:tcPr marL="73152" marR="73152" marT="36576" marB="36576">
                    <a:solidFill>
                      <a:srgbClr val="E8EEF6"/>
                    </a:solidFill>
                  </a:tcPr>
                </a:tc>
              </a:tr>
              <a:tr h="411480">
                <a:tc>
                  <a:txBody>
                    <a:bodyPr/>
                    <a:lstStyle/>
                    <a:p>
                      <a:r>
                        <a:rPr sz="1300" b="0">
                          <a:solidFill>
                            <a:srgbClr val="1F2937"/>
                          </a:solidFill>
                        </a:rPr>
                        <a:t>Gistologik</a:t>
                      </a:r>
                    </a:p>
                  </a:txBody>
                  <a:tcPr marL="73152" marR="73152" marT="36576" marB="36576">
                    <a:solidFill>
                      <a:srgbClr val="FFFFFF"/>
                    </a:solidFill>
                  </a:tcPr>
                </a:tc>
                <a:tc>
                  <a:txBody>
                    <a:bodyPr/>
                    <a:lstStyle/>
                    <a:p>
                      <a:r>
                        <a:rPr sz="1300" b="0">
                          <a:solidFill>
                            <a:srgbClr val="1F2937"/>
                          </a:solidFill>
                        </a:rPr>
                        <a:t>Hayotiylik va yetkazilish muddati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Tekshirish usullari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Klinitsist hujjatlari va ekspertiza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Tibbiy yordamga murojaat qilinganda klinitsist vrachlar jarohatlarni xuddi shu yo‘sinda o‘rganib, tibbiy hujjatlarda to‘liq tavsiflashi muhim.</a:t>
            </a:r>
          </a:p>
          <a:p>
            <a:pPr>
              <a:spcAft>
                <a:spcPts val="1200"/>
              </a:spcAft>
            </a:pPr>
            <a:r>
              <a:rPr sz="2200">
                <a:solidFill>
                  <a:srgbClr val="1F2937"/>
                </a:solidFill>
                <a:latin typeface="Calibri"/>
              </a:rPr>
              <a:t>▸  Bu hujjatlar ma’lum muddatdan so‘ng tayinlangan sud-tibbiy ekspertiza ixtiyoriga taqdim etiladi.</a:t>
            </a:r>
          </a:p>
          <a:p>
            <a:pPr>
              <a:spcAft>
                <a:spcPts val="1200"/>
              </a:spcAft>
            </a:pPr>
            <a:r>
              <a:rPr sz="2200">
                <a:solidFill>
                  <a:srgbClr val="1F2937"/>
                </a:solidFill>
                <a:latin typeface="Calibri"/>
              </a:rPr>
              <a:t>▸  Jarohatning yuzaki o‘rganilishi, notoliq tavsif yoki faqat diagnoz bilan cheklanish ekspertiza vazifalarini bajarishda jiddiy qiyinchilik tug‘diradi.</a:t>
            </a:r>
          </a:p>
          <a:p>
            <a:pPr>
              <a:spcAft>
                <a:spcPts val="1200"/>
              </a:spcAft>
            </a:pPr>
            <a:r>
              <a:rPr sz="2200">
                <a:solidFill>
                  <a:srgbClr val="1F2937"/>
                </a:solidFill>
                <a:latin typeface="Calibri"/>
              </a:rPr>
              <a:t>▸  Ayrim hollarda masalalarni hal etish uchun sud-biologik, sud-kimyoviy, gistokimyoviy va boshqa labotoriya usullari qo‘llanadi.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Mexanik jarohatlar: asosiy shart va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Asosiy shart — harakat: shikastlovchi jism yoki tana harakatda bo‘lishi lozim. Xususiyati kinetik energiyaga bog‘liq.</a:t>
            </a:r>
          </a:p>
          <a:p>
            <a:pPr>
              <a:spcAft>
                <a:spcPts val="800"/>
              </a:spcAft>
            </a:pPr>
            <a:r>
              <a:rPr sz="1800">
                <a:solidFill>
                  <a:srgbClr val="1F2937"/>
                </a:solidFill>
                <a:latin typeface="Calibri"/>
              </a:rPr>
              <a:t>▸  Ko‘lami massa va tezlikka to‘g‘ri proporsional. Tasnif: o‘tmas jism, o‘tkir jism, o‘q otar qurol.</a:t>
            </a:r>
          </a:p>
          <a:p>
            <a:pPr>
              <a:spcAft>
                <a:spcPts val="800"/>
              </a:spcAft>
            </a:pPr>
            <a:r>
              <a:rPr sz="1800">
                <a:solidFill>
                  <a:srgbClr val="1F2937"/>
                </a:solidFill>
                <a:latin typeface="Calibri"/>
              </a:rPr>
              <a:t>▸  Diqqat: qurol ≠ anjom ≠ jism. Tosh va tayoq — jism, bolta — anjom, pistolet — qurol.</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057595"/>
                <a:gridCol w="2643987"/>
                <a:gridCol w="1586392"/>
              </a:tblGrid>
              <a:tr h="411480">
                <a:tc>
                  <a:txBody>
                    <a:bodyPr/>
                    <a:lstStyle/>
                    <a:p>
                      <a:r>
                        <a:rPr sz="1300" b="1">
                          <a:solidFill>
                            <a:srgbClr val="FFFFFF"/>
                          </a:solidFill>
                        </a:rPr>
                        <a:t>Vosita</a:t>
                      </a:r>
                    </a:p>
                  </a:txBody>
                  <a:tcPr marL="73152" marR="73152" marT="36576" marB="36576">
                    <a:solidFill>
                      <a:srgbClr val="0B1F3A"/>
                    </a:solidFill>
                  </a:tcPr>
                </a:tc>
                <a:tc>
                  <a:txBody>
                    <a:bodyPr/>
                    <a:lstStyle/>
                    <a:p>
                      <a:r>
                        <a:rPr sz="1300" b="1">
                          <a:solidFill>
                            <a:srgbClr val="FFFFFF"/>
                          </a:solidFill>
                        </a:rPr>
                        <a:t>Ta’rifi</a:t>
                      </a:r>
                    </a:p>
                  </a:txBody>
                  <a:tcPr marL="73152" marR="73152" marT="36576" marB="36576">
                    <a:solidFill>
                      <a:srgbClr val="0B1F3A"/>
                    </a:solidFill>
                  </a:tcPr>
                </a:tc>
                <a:tc>
                  <a:txBody>
                    <a:bodyPr/>
                    <a:lstStyle/>
                    <a:p>
                      <a:r>
                        <a:rPr sz="1300" b="1">
                          <a:solidFill>
                            <a:srgbClr val="FFFFFF"/>
                          </a:solidFill>
                        </a:rPr>
                        <a:t>Misol</a:t>
                      </a:r>
                    </a:p>
                  </a:txBody>
                  <a:tcPr marL="73152" marR="73152" marT="36576" marB="36576">
                    <a:solidFill>
                      <a:srgbClr val="0B1F3A"/>
                    </a:solidFill>
                  </a:tcPr>
                </a:tc>
              </a:tr>
              <a:tr h="411480">
                <a:tc>
                  <a:txBody>
                    <a:bodyPr/>
                    <a:lstStyle/>
                    <a:p>
                      <a:r>
                        <a:rPr sz="1200" b="0">
                          <a:solidFill>
                            <a:srgbClr val="1F2937"/>
                          </a:solidFill>
                        </a:rPr>
                        <a:t>Qurol</a:t>
                      </a:r>
                    </a:p>
                  </a:txBody>
                  <a:tcPr marL="73152" marR="73152" marT="36576" marB="36576">
                    <a:solidFill>
                      <a:srgbClr val="E8EEF6"/>
                    </a:solidFill>
                  </a:tcPr>
                </a:tc>
                <a:tc>
                  <a:txBody>
                    <a:bodyPr/>
                    <a:lstStyle/>
                    <a:p>
                      <a:r>
                        <a:rPr sz="1200" b="0">
                          <a:solidFill>
                            <a:srgbClr val="1F2937"/>
                          </a:solidFill>
                        </a:rPr>
                        <a:t>Hujum/mudofaa uchun maxsus tayyorlangan</a:t>
                      </a:r>
                    </a:p>
                  </a:txBody>
                  <a:tcPr marL="73152" marR="73152" marT="36576" marB="36576">
                    <a:solidFill>
                      <a:srgbClr val="E8EEF6"/>
                    </a:solidFill>
                  </a:tcPr>
                </a:tc>
                <a:tc>
                  <a:txBody>
                    <a:bodyPr/>
                    <a:lstStyle/>
                    <a:p>
                      <a:r>
                        <a:rPr sz="1200" b="0">
                          <a:solidFill>
                            <a:srgbClr val="1F2937"/>
                          </a:solidFill>
                        </a:rPr>
                        <a:t>Pistolet, miltiq, hanjar</a:t>
                      </a:r>
                    </a:p>
                  </a:txBody>
                  <a:tcPr marL="73152" marR="73152" marT="36576" marB="36576">
                    <a:solidFill>
                      <a:srgbClr val="E8EEF6"/>
                    </a:solidFill>
                  </a:tcPr>
                </a:tc>
              </a:tr>
              <a:tr h="411480">
                <a:tc>
                  <a:txBody>
                    <a:bodyPr/>
                    <a:lstStyle/>
                    <a:p>
                      <a:r>
                        <a:rPr sz="1200" b="0">
                          <a:solidFill>
                            <a:srgbClr val="1F2937"/>
                          </a:solidFill>
                        </a:rPr>
                        <a:t>Anjom</a:t>
                      </a:r>
                    </a:p>
                  </a:txBody>
                  <a:tcPr marL="73152" marR="73152" marT="36576" marB="36576">
                    <a:solidFill>
                      <a:srgbClr val="FFFFFF"/>
                    </a:solidFill>
                  </a:tcPr>
                </a:tc>
                <a:tc>
                  <a:txBody>
                    <a:bodyPr/>
                    <a:lstStyle/>
                    <a:p>
                      <a:r>
                        <a:rPr sz="1200" b="0">
                          <a:solidFill>
                            <a:srgbClr val="1F2937"/>
                          </a:solidFill>
                        </a:rPr>
                        <a:t>Ishlab chiqarish, uy-ro‘zg‘orda ishlatiladi</a:t>
                      </a:r>
                    </a:p>
                  </a:txBody>
                  <a:tcPr marL="73152" marR="73152" marT="36576" marB="36576">
                    <a:solidFill>
                      <a:srgbClr val="FFFFFF"/>
                    </a:solidFill>
                  </a:tcPr>
                </a:tc>
                <a:tc>
                  <a:txBody>
                    <a:bodyPr/>
                    <a:lstStyle/>
                    <a:p>
                      <a:r>
                        <a:rPr sz="1200" b="0">
                          <a:solidFill>
                            <a:srgbClr val="1F2937"/>
                          </a:solidFill>
                        </a:rPr>
                        <a:t>Bolta, arra, qaychi</a:t>
                      </a:r>
                    </a:p>
                  </a:txBody>
                  <a:tcPr marL="73152" marR="73152" marT="36576" marB="36576">
                    <a:solidFill>
                      <a:srgbClr val="FFFFFF"/>
                    </a:solidFill>
                  </a:tcPr>
                </a:tc>
              </a:tr>
              <a:tr h="411480">
                <a:tc>
                  <a:txBody>
                    <a:bodyPr/>
                    <a:lstStyle/>
                    <a:p>
                      <a:r>
                        <a:rPr sz="1200" b="0">
                          <a:solidFill>
                            <a:srgbClr val="1F2937"/>
                          </a:solidFill>
                        </a:rPr>
                        <a:t>Jism</a:t>
                      </a:r>
                    </a:p>
                  </a:txBody>
                  <a:tcPr marL="73152" marR="73152" marT="36576" marB="36576">
                    <a:solidFill>
                      <a:srgbClr val="E8EEF6"/>
                    </a:solidFill>
                  </a:tcPr>
                </a:tc>
                <a:tc>
                  <a:txBody>
                    <a:bodyPr/>
                    <a:lstStyle/>
                    <a:p>
                      <a:r>
                        <a:rPr sz="1200" b="0">
                          <a:solidFill>
                            <a:srgbClr val="1F2937"/>
                          </a:solidFill>
                        </a:rPr>
                        <a:t>Aniq qo‘llanish maqsadi yo‘q narsa</a:t>
                      </a:r>
                    </a:p>
                  </a:txBody>
                  <a:tcPr marL="73152" marR="73152" marT="36576" marB="36576">
                    <a:solidFill>
                      <a:srgbClr val="E8EEF6"/>
                    </a:solidFill>
                  </a:tcPr>
                </a:tc>
                <a:tc>
                  <a:txBody>
                    <a:bodyPr/>
                    <a:lstStyle/>
                    <a:p>
                      <a:r>
                        <a:rPr sz="1200" b="0">
                          <a:solidFill>
                            <a:srgbClr val="1F2937"/>
                          </a:solidFill>
                        </a:rPr>
                        <a:t>Tosh, tayoq</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Jarohat etkazuvchi vositalar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29-30, 30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Mexanik jarohat turi bog‘liq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Jarohatning turi va ko‘lami uch narsaga bog‘liq: shikastlovchi vosita, shikastlanayotgan soha va ularning o‘zaro ta’siri.</a:t>
            </a:r>
          </a:p>
          <a:p>
            <a:pPr>
              <a:spcAft>
                <a:spcPts val="1200"/>
              </a:spcAft>
            </a:pPr>
            <a:r>
              <a:rPr sz="2200">
                <a:solidFill>
                  <a:srgbClr val="1F2937"/>
                </a:solidFill>
                <a:latin typeface="Calibri"/>
              </a:rPr>
              <a:t>▸  Vosita jihatidan: jismning massasi, qattiqligi, tezligi, shikastlovchi yuza yoki o‘tkir uch va tig‘ning xususiyatlari.</a:t>
            </a:r>
          </a:p>
          <a:p>
            <a:pPr>
              <a:spcAft>
                <a:spcPts val="1200"/>
              </a:spcAft>
            </a:pPr>
            <a:r>
              <a:rPr sz="2200">
                <a:solidFill>
                  <a:srgbClr val="1F2937"/>
                </a:solidFill>
                <a:latin typeface="Calibri"/>
              </a:rPr>
              <a:t>▸  Soha jihatidan: anatomik va fiziologik xususiyatlari, shaxsning yoshi va kasalliklarning mavjudligi.</a:t>
            </a:r>
          </a:p>
          <a:p>
            <a:pPr>
              <a:spcAft>
                <a:spcPts val="1200"/>
              </a:spcAft>
            </a:pPr>
            <a:r>
              <a:rPr sz="2200">
                <a:solidFill>
                  <a:srgbClr val="1F2937"/>
                </a:solidFill>
                <a:latin typeface="Calibri"/>
              </a:rPr>
              <a:t>▸  O‘zaro ta’sirning soni va davomiyligi ham muhim. Ba’zan atrof-muhit sharoiti ham hisobga olinadi.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Mexanik jarohatdan o‘lim: birlamchi sabablar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Hayot bilan nomutanosib jarohat: boshning ajrashi, tananing ikkiga bo‘linishi, boshning majaqlanishi.</a:t>
            </a:r>
          </a:p>
          <a:p>
            <a:pPr>
              <a:spcAft>
                <a:spcPts val="800"/>
              </a:spcAft>
            </a:pPr>
            <a:r>
              <a:rPr sz="1800">
                <a:solidFill>
                  <a:srgbClr val="1F2937"/>
                </a:solidFill>
                <a:latin typeface="Calibri"/>
              </a:rPr>
              <a:t>▸  Bunday jarohatlar asosan transport travmasi, katta balandlikdan yiqilish va portlashda uchraydi.</a:t>
            </a:r>
          </a:p>
          <a:p>
            <a:pPr>
              <a:spcAft>
                <a:spcPts val="800"/>
              </a:spcAft>
            </a:pPr>
            <a:r>
              <a:rPr sz="1800">
                <a:solidFill>
                  <a:srgbClr val="1F2937"/>
                </a:solidFill>
                <a:latin typeface="Calibri"/>
              </a:rPr>
              <a:t>▸  Hayot uchun muhim a’zolar: bosh miya va yurakning lat eyishi; yurak chayqalishi reflektor to‘xtashga olib keladi.</a:t>
            </a:r>
          </a:p>
        </p:txBody>
      </p:sp>
      <p:graphicFrame>
        <p:nvGraphicFramePr>
          <p:cNvPr id="9" name="Table 8"/>
          <p:cNvGraphicFramePr>
            <a:graphicFrameLocks noGrp="1"/>
          </p:cNvGraphicFramePr>
          <p:nvPr/>
        </p:nvGraphicFramePr>
        <p:xfrm>
          <a:off x="6263640" y="1463040"/>
          <a:ext cx="5287974" cy="1234440"/>
        </p:xfrm>
        <a:graphic>
          <a:graphicData uri="http://schemas.openxmlformats.org/drawingml/2006/table">
            <a:tbl>
              <a:tblPr firstRow="1" bandRow="1">
                <a:tableStyleId>{5C22544A-7EE6-4342-B048-85BDC9FD1C3A}</a:tableStyleId>
              </a:tblPr>
              <a:tblGrid>
                <a:gridCol w="940084"/>
                <a:gridCol w="2350211"/>
                <a:gridCol w="1997679"/>
              </a:tblGrid>
              <a:tr h="411480">
                <a:tc>
                  <a:txBody>
                    <a:bodyPr/>
                    <a:lstStyle/>
                    <a:p>
                      <a:r>
                        <a:rPr sz="1300" b="1">
                          <a:solidFill>
                            <a:srgbClr val="FFFFFF"/>
                          </a:solidFill>
                        </a:rPr>
                        <a:t>Sabab</a:t>
                      </a:r>
                    </a:p>
                  </a:txBody>
                  <a:tcPr marL="73152" marR="73152" marT="36576" marB="36576">
                    <a:solidFill>
                      <a:srgbClr val="0B1F3A"/>
                    </a:solidFill>
                  </a:tcPr>
                </a:tc>
                <a:tc>
                  <a:txBody>
                    <a:bodyPr/>
                    <a:lstStyle/>
                    <a:p>
                      <a:r>
                        <a:rPr sz="1300" b="1">
                          <a:solidFill>
                            <a:srgbClr val="FFFFFF"/>
                          </a:solidFill>
                        </a:rPr>
                        <a:t>O‘lim vaqti</a:t>
                      </a:r>
                    </a:p>
                  </a:txBody>
                  <a:tcPr marL="73152" marR="73152" marT="36576" marB="36576">
                    <a:solidFill>
                      <a:srgbClr val="0B1F3A"/>
                    </a:solidFill>
                  </a:tcPr>
                </a:tc>
                <a:tc>
                  <a:txBody>
                    <a:bodyPr/>
                    <a:lstStyle/>
                    <a:p>
                      <a:r>
                        <a:rPr sz="1300" b="1">
                          <a:solidFill>
                            <a:srgbClr val="FFFFFF"/>
                          </a:solidFill>
                        </a:rPr>
                        <a:t>Misol</a:t>
                      </a:r>
                    </a:p>
                  </a:txBody>
                  <a:tcPr marL="73152" marR="73152" marT="36576" marB="36576">
                    <a:solidFill>
                      <a:srgbClr val="0B1F3A"/>
                    </a:solidFill>
                  </a:tcPr>
                </a:tc>
              </a:tr>
              <a:tr h="411480">
                <a:tc>
                  <a:txBody>
                    <a:bodyPr/>
                    <a:lstStyle/>
                    <a:p>
                      <a:r>
                        <a:rPr sz="1200" b="0">
                          <a:solidFill>
                            <a:srgbClr val="1F2937"/>
                          </a:solidFill>
                        </a:rPr>
                        <a:t>Birlamchi</a:t>
                      </a:r>
                    </a:p>
                  </a:txBody>
                  <a:tcPr marL="73152" marR="73152" marT="36576" marB="36576">
                    <a:solidFill>
                      <a:srgbClr val="E8EEF6"/>
                    </a:solidFill>
                  </a:tcPr>
                </a:tc>
                <a:tc>
                  <a:txBody>
                    <a:bodyPr/>
                    <a:lstStyle/>
                    <a:p>
                      <a:r>
                        <a:rPr sz="1200" b="0">
                          <a:solidFill>
                            <a:srgbClr val="1F2937"/>
                          </a:solidFill>
                        </a:rPr>
                        <a:t>Shikastda yoki undan keyin qisqa vaqt ichida</a:t>
                      </a:r>
                    </a:p>
                  </a:txBody>
                  <a:tcPr marL="73152" marR="73152" marT="36576" marB="36576">
                    <a:solidFill>
                      <a:srgbClr val="E8EEF6"/>
                    </a:solidFill>
                  </a:tcPr>
                </a:tc>
                <a:tc>
                  <a:txBody>
                    <a:bodyPr/>
                    <a:lstStyle/>
                    <a:p>
                      <a:r>
                        <a:rPr sz="1200" b="0">
                          <a:solidFill>
                            <a:srgbClr val="1F2937"/>
                          </a:solidFill>
                        </a:rPr>
                        <a:t>Boshning ajrashi, yurak lat eyishi</a:t>
                      </a:r>
                    </a:p>
                  </a:txBody>
                  <a:tcPr marL="73152" marR="73152" marT="36576" marB="36576">
                    <a:solidFill>
                      <a:srgbClr val="E8EEF6"/>
                    </a:solidFill>
                  </a:tcPr>
                </a:tc>
              </a:tr>
              <a:tr h="411480">
                <a:tc>
                  <a:txBody>
                    <a:bodyPr/>
                    <a:lstStyle/>
                    <a:p>
                      <a:r>
                        <a:rPr sz="1200" b="0">
                          <a:solidFill>
                            <a:srgbClr val="1F2937"/>
                          </a:solidFill>
                        </a:rPr>
                        <a:t>Ikkilamchi</a:t>
                      </a:r>
                    </a:p>
                  </a:txBody>
                  <a:tcPr marL="73152" marR="73152" marT="36576" marB="36576">
                    <a:solidFill>
                      <a:srgbClr val="FFFFFF"/>
                    </a:solidFill>
                  </a:tcPr>
                </a:tc>
                <a:tc>
                  <a:txBody>
                    <a:bodyPr/>
                    <a:lstStyle/>
                    <a:p>
                      <a:r>
                        <a:rPr sz="1200" b="0">
                          <a:solidFill>
                            <a:srgbClr val="1F2937"/>
                          </a:solidFill>
                        </a:rPr>
                        <a:t>Birmuncha muddatdan so‘ng</a:t>
                      </a:r>
                    </a:p>
                  </a:txBody>
                  <a:tcPr marL="73152" marR="73152" marT="36576" marB="36576">
                    <a:solidFill>
                      <a:srgbClr val="FFFFFF"/>
                    </a:solidFill>
                  </a:tcPr>
                </a:tc>
                <a:tc>
                  <a:txBody>
                    <a:bodyPr/>
                    <a:lstStyle/>
                    <a:p>
                      <a:r>
                        <a:rPr sz="1200" b="0">
                          <a:solidFill>
                            <a:srgbClr val="1F2937"/>
                          </a:solidFill>
                        </a:rPr>
                        <a:t>Infeksion asorat: sepsis, qoqshol</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Birlamchi va ikkilamchi sabab</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yo‘qotish va Minakov dog‘lari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Qon yo‘qotishda nafaqat yo‘qotilgan qon hajmi, balki yo‘qotish sur’ati ham muhim.</a:t>
            </a:r>
          </a:p>
          <a:p>
            <a:pPr>
              <a:spcAft>
                <a:spcPts val="800"/>
              </a:spcAft>
            </a:pPr>
            <a:r>
              <a:rPr sz="1800">
                <a:solidFill>
                  <a:srgbClr val="1F2937"/>
                </a:solidFill>
                <a:latin typeface="Calibri"/>
              </a:rPr>
              <a:t>▸  Minakov dog‘lari — yurak chap qorinchasi endokardi ostidagi tasmasimon qon quyilishlar; o‘tkir qon yo‘qotish belgisi.</a:t>
            </a:r>
          </a:p>
          <a:p>
            <a:pPr>
              <a:spcAft>
                <a:spcPts val="800"/>
              </a:spcAft>
            </a:pPr>
            <a:r>
              <a:rPr sz="1800">
                <a:solidFill>
                  <a:srgbClr val="1F2937"/>
                </a:solidFill>
                <a:latin typeface="Calibri"/>
              </a:rPr>
              <a:t>▸  Diqqat: Minakov dog‘lari ko‘p qon yo‘qotishda faqat ayrim hollarda topiladi.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929753"/>
                <a:gridCol w="2324384"/>
                <a:gridCol w="2033836"/>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O‘tkir</a:t>
                      </a:r>
                    </a:p>
                  </a:txBody>
                  <a:tcPr marL="73152" marR="73152" marT="36576" marB="36576">
                    <a:solidFill>
                      <a:srgbClr val="0B1F3A"/>
                    </a:solidFill>
                  </a:tcPr>
                </a:tc>
                <a:tc>
                  <a:txBody>
                    <a:bodyPr/>
                    <a:lstStyle/>
                    <a:p>
                      <a:r>
                        <a:rPr sz="1300" b="1">
                          <a:solidFill>
                            <a:srgbClr val="FFFFFF"/>
                          </a:solidFill>
                        </a:rPr>
                        <a:t>Ko‘p yo‘qotish</a:t>
                      </a:r>
                    </a:p>
                  </a:txBody>
                  <a:tcPr marL="73152" marR="73152" marT="36576" marB="36576">
                    <a:solidFill>
                      <a:srgbClr val="0B1F3A"/>
                    </a:solidFill>
                  </a:tcPr>
                </a:tc>
              </a:tr>
              <a:tr h="411480">
                <a:tc>
                  <a:txBody>
                    <a:bodyPr/>
                    <a:lstStyle/>
                    <a:p>
                      <a:r>
                        <a:rPr sz="1200" b="0">
                          <a:solidFill>
                            <a:srgbClr val="1F2937"/>
                          </a:solidFill>
                        </a:rPr>
                        <a:t>Miqdor</a:t>
                      </a:r>
                    </a:p>
                  </a:txBody>
                  <a:tcPr marL="73152" marR="73152" marT="36576" marB="36576">
                    <a:solidFill>
                      <a:srgbClr val="E8EEF6"/>
                    </a:solidFill>
                  </a:tcPr>
                </a:tc>
                <a:tc>
                  <a:txBody>
                    <a:bodyPr/>
                    <a:lstStyle/>
                    <a:p>
                      <a:r>
                        <a:rPr sz="1200" b="0">
                          <a:solidFill>
                            <a:srgbClr val="1F2937"/>
                          </a:solidFill>
                        </a:rPr>
                        <a:t>Yirik arteriya; 500 ml gacha ham</a:t>
                      </a:r>
                    </a:p>
                  </a:txBody>
                  <a:tcPr marL="73152" marR="73152" marT="36576" marB="36576">
                    <a:solidFill>
                      <a:srgbClr val="E8EEF6"/>
                    </a:solidFill>
                  </a:tcPr>
                </a:tc>
                <a:tc>
                  <a:txBody>
                    <a:bodyPr/>
                    <a:lstStyle/>
                    <a:p>
                      <a:r>
                        <a:rPr sz="1200" b="0">
                          <a:solidFill>
                            <a:srgbClr val="1F2937"/>
                          </a:solidFill>
                        </a:rPr>
                        <a:t>50% dan ortiq (2,5 l va undan ko‘p)</a:t>
                      </a:r>
                    </a:p>
                  </a:txBody>
                  <a:tcPr marL="73152" marR="73152" marT="36576" marB="36576">
                    <a:solidFill>
                      <a:srgbClr val="E8EEF6"/>
                    </a:solidFill>
                  </a:tcPr>
                </a:tc>
              </a:tr>
              <a:tr h="411480">
                <a:tc>
                  <a:txBody>
                    <a:bodyPr/>
                    <a:lstStyle/>
                    <a:p>
                      <a:r>
                        <a:rPr sz="1200" b="0">
                          <a:solidFill>
                            <a:srgbClr val="1F2937"/>
                          </a:solidFill>
                        </a:rPr>
                        <a:t>Davomiyligi</a:t>
                      </a:r>
                    </a:p>
                  </a:txBody>
                  <a:tcPr marL="73152" marR="73152" marT="36576" marB="36576">
                    <a:solidFill>
                      <a:srgbClr val="FFFFFF"/>
                    </a:solidFill>
                  </a:tcPr>
                </a:tc>
                <a:tc>
                  <a:txBody>
                    <a:bodyPr/>
                    <a:lstStyle/>
                    <a:p>
                      <a:r>
                        <a:rPr sz="1200" b="0">
                          <a:solidFill>
                            <a:srgbClr val="1F2937"/>
                          </a:solidFill>
                        </a:rPr>
                        <a:t>Dastlabki minutlarda o‘lim (fibrillyatsiya)</a:t>
                      </a:r>
                    </a:p>
                  </a:txBody>
                  <a:tcPr marL="73152" marR="73152" marT="36576" marB="36576">
                    <a:solidFill>
                      <a:srgbClr val="FFFFFF"/>
                    </a:solidFill>
                  </a:tcPr>
                </a:tc>
                <a:tc>
                  <a:txBody>
                    <a:bodyPr/>
                    <a:lstStyle/>
                    <a:p>
                      <a:r>
                        <a:rPr sz="1200" b="0">
                          <a:solidFill>
                            <a:srgbClr val="1F2937"/>
                          </a:solidFill>
                        </a:rPr>
                        <a:t>Bir necha soat</a:t>
                      </a:r>
                    </a:p>
                  </a:txBody>
                  <a:tcPr marL="73152" marR="73152" marT="36576" marB="36576">
                    <a:solidFill>
                      <a:srgbClr val="FFFFFF"/>
                    </a:solidFill>
                  </a:tcPr>
                </a:tc>
              </a:tr>
              <a:tr h="411480">
                <a:tc>
                  <a:txBody>
                    <a:bodyPr/>
                    <a:lstStyle/>
                    <a:p>
                      <a:r>
                        <a:rPr sz="1200" b="0">
                          <a:solidFill>
                            <a:srgbClr val="1F2937"/>
                          </a:solidFill>
                        </a:rPr>
                        <a:t>Ichki a’zolar</a:t>
                      </a:r>
                    </a:p>
                  </a:txBody>
                  <a:tcPr marL="73152" marR="73152" marT="36576" marB="36576">
                    <a:solidFill>
                      <a:srgbClr val="E8EEF6"/>
                    </a:solidFill>
                  </a:tcPr>
                </a:tc>
                <a:tc>
                  <a:txBody>
                    <a:bodyPr/>
                    <a:lstStyle/>
                    <a:p>
                      <a:r>
                        <a:rPr sz="1200" b="0">
                          <a:solidFill>
                            <a:srgbClr val="1F2937"/>
                          </a:solidFill>
                        </a:rPr>
                        <a:t>Faqat miya, yurak kamqon; taloq to‘q</a:t>
                      </a:r>
                    </a:p>
                  </a:txBody>
                  <a:tcPr marL="73152" marR="73152" marT="36576" marB="36576">
                    <a:solidFill>
                      <a:srgbClr val="E8EEF6"/>
                    </a:solidFill>
                  </a:tcPr>
                </a:tc>
                <a:tc>
                  <a:txBody>
                    <a:bodyPr/>
                    <a:lstStyle/>
                    <a:p>
                      <a:r>
                        <a:rPr sz="1200" b="0">
                          <a:solidFill>
                            <a:srgbClr val="1F2937"/>
                          </a:solidFill>
                        </a:rPr>
                        <a:t>Umumiy kamqonlik, taloq qisqargan</a:t>
                      </a:r>
                    </a:p>
                  </a:txBody>
                  <a:tcPr marL="73152" marR="73152" marT="36576" marB="36576">
                    <a:solidFill>
                      <a:srgbClr val="E8EEF6"/>
                    </a:solidFill>
                  </a:tcPr>
                </a:tc>
              </a:tr>
              <a:tr h="411480">
                <a:tc>
                  <a:txBody>
                    <a:bodyPr/>
                    <a:lstStyle/>
                    <a:p>
                      <a:r>
                        <a:rPr sz="1200" b="0">
                          <a:solidFill>
                            <a:srgbClr val="1F2937"/>
                          </a:solidFill>
                        </a:rPr>
                        <a:t>Murda dog‘lari</a:t>
                      </a:r>
                    </a:p>
                  </a:txBody>
                  <a:tcPr marL="73152" marR="73152" marT="36576" marB="36576">
                    <a:solidFill>
                      <a:srgbClr val="FFFFFF"/>
                    </a:solidFill>
                  </a:tcPr>
                </a:tc>
                <a:tc>
                  <a:txBody>
                    <a:bodyPr/>
                    <a:lstStyle/>
                    <a:p>
                      <a:r>
                        <a:rPr sz="1200" b="0">
                          <a:solidFill>
                            <a:srgbClr val="1F2937"/>
                          </a:solidFill>
                        </a:rPr>
                        <a:t>Odatdagidek</a:t>
                      </a:r>
                    </a:p>
                  </a:txBody>
                  <a:tcPr marL="73152" marR="73152" marT="36576" marB="36576">
                    <a:solidFill>
                      <a:srgbClr val="FFFFFF"/>
                    </a:solidFill>
                  </a:tcPr>
                </a:tc>
                <a:tc>
                  <a:txBody>
                    <a:bodyPr/>
                    <a:lstStyle/>
                    <a:p>
                      <a:r>
                        <a:rPr sz="1200" b="0">
                          <a:solidFill>
                            <a:srgbClr val="1F2937"/>
                          </a:solidFill>
                        </a:rPr>
                        <a:t>Kech, kamroq; mushak qotishi kuchli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O‘tkir va ko‘p qon yo‘qotish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 31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Travmatik shok va a’zolarning qisilishi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Travmatik shok — markaziy nerv, yurak-qon tomir va endokrin tizimlar faoliyatining jiddiy buzilishi ko‘rinishidagi javob reaksiyasi. Periferik qon aylanishi yetishmaydi.</a:t>
            </a:r>
          </a:p>
          <a:p>
            <a:pPr>
              <a:spcAft>
                <a:spcPts val="1200"/>
              </a:spcAft>
            </a:pPr>
            <a:r>
              <a:rPr sz="2000">
                <a:solidFill>
                  <a:srgbClr val="1F2937"/>
                </a:solidFill>
                <a:latin typeface="Calibri"/>
              </a:rPr>
              <a:t>▸  Odatda og‘ir III–IV darajali shok o‘limga olib keladi. Venoz to‘laqonlik, jigar va taloqda qon depolanishi, mikrotsirkulyatsiya buzilishi aniqlanishi mumkin.</a:t>
            </a:r>
          </a:p>
          <a:p>
            <a:pPr>
              <a:spcAft>
                <a:spcPts val="1200"/>
              </a:spcAft>
            </a:pPr>
            <a:r>
              <a:rPr sz="2000">
                <a:solidFill>
                  <a:srgbClr val="1F2937"/>
                </a:solidFill>
                <a:latin typeface="Calibri"/>
              </a:rPr>
              <a:t>▸  Kalla-miya jarohatida epidural, subdural, subaraxnoidal, qorinchalar ichi va miya to‘qimasi gematomalari miyani qisadi. Bo‘yin va ko‘krak umurtqalari jarohatida orqa miya qisiladi.</a:t>
            </a:r>
          </a:p>
          <a:p>
            <a:pPr>
              <a:spcAft>
                <a:spcPts val="1200"/>
              </a:spcAft>
            </a:pPr>
            <a:r>
              <a:rPr sz="2000">
                <a:solidFill>
                  <a:srgbClr val="1F2937"/>
                </a:solidFill>
                <a:latin typeface="Calibri"/>
              </a:rPr>
              <a:t>▸  Ko‘krak qafasi shikastlanishida gemoperikard, pnevmotoraks va gemotoraks vujudga kelib, yurak va o‘pkani qisishi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Havo emboliyasi va Sunsov sinamasi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Havo emboliyasi yirik venalar shikastlanishida va jinoiy abortda rivojlanishi mumkin.</a:t>
            </a:r>
          </a:p>
          <a:p>
            <a:pPr>
              <a:spcAft>
                <a:spcPts val="800"/>
              </a:spcAft>
            </a:pPr>
            <a:r>
              <a:rPr sz="1800">
                <a:solidFill>
                  <a:srgbClr val="1F2937"/>
                </a:solidFill>
                <a:latin typeface="Calibri"/>
              </a:rPr>
              <a:t>▸  5–7 kub sm havo sekin erib ketadi; 10 kub sm va undan ko‘pi tez kirsa, o‘lim xavfi bor.</a:t>
            </a:r>
          </a:p>
          <a:p>
            <a:pPr>
              <a:spcAft>
                <a:spcPts val="800"/>
              </a:spcAft>
            </a:pPr>
            <a:r>
              <a:rPr sz="1800">
                <a:solidFill>
                  <a:srgbClr val="1F2937"/>
                </a:solidFill>
                <a:latin typeface="Calibri"/>
              </a:rPr>
              <a:t>▸  Sunsov sinamasida suvdan havo pufakchalari chiqishi musbat natija hisoblanadi.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Ko‘krak qafasidan boshlash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To‘sh suyagi ajratiladi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Perikardga suv quyiladi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O‘ng qorincha devori teshiladi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Suvdan pufakchalar = musbat</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Sunsov sinamasi bosqichlari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 32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Yog‘ emboliyasi va aspiratsion asfiksiya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Yog‘ emboliyasi asosan uzun naysimon suyaklar singanda va teri osti yog‘ qavati majaqlanganda kuzatiladi.</a:t>
            </a:r>
          </a:p>
          <a:p>
            <a:pPr>
              <a:spcAft>
                <a:spcPts val="1200"/>
              </a:spcAft>
            </a:pPr>
            <a:r>
              <a:rPr sz="2200">
                <a:solidFill>
                  <a:srgbClr val="1F2937"/>
                </a:solidFill>
                <a:latin typeface="Calibri"/>
              </a:rPr>
              <a:t>▸  Mayda yog‘ zarralari o‘pka tomirlarida to‘planib, bo‘shliqni sekin yopadi. Shu sabab o‘lim darhol emas, taxminan 2-3 kundan so‘ng yuz beradi.</a:t>
            </a:r>
          </a:p>
          <a:p>
            <a:pPr>
              <a:spcAft>
                <a:spcPts val="1200"/>
              </a:spcAft>
            </a:pPr>
            <a:r>
              <a:rPr sz="2200">
                <a:solidFill>
                  <a:srgbClr val="1F2937"/>
                </a:solidFill>
                <a:latin typeface="Calibri"/>
              </a:rPr>
              <a:t>▸  Diagnostika: o‘pka va bosh miyaning muzlatilgan kesmalari bo‘yaladi. Sudan III yog‘ni olovrang qizil, Sudan IV qora rangda ko‘rsatadi.</a:t>
            </a:r>
          </a:p>
          <a:p>
            <a:pPr>
              <a:spcAft>
                <a:spcPts val="1200"/>
              </a:spcAft>
            </a:pPr>
            <a:r>
              <a:rPr sz="2200">
                <a:solidFill>
                  <a:srgbClr val="1F2937"/>
                </a:solidFill>
                <a:latin typeface="Calibri"/>
              </a:rPr>
              <a:t>▸  Aspiratsion asfiksiya: halqum, nafas yo‘llari shikastlanganda yoki kalla asosi, burun suyaklari singanda qon nafas yo‘llariga tushadi. Murdada nafas yo‘llarida qon topiladi.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Ikkilamchi sabablar va voqea tahlili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Ikkilamchi sabablar: infeksion asoratlar (sepsisga olib kelgan yiringli peritonit, plevrit, meningit, osteomielit, gaz gangrenasi, qoqshol).</a:t>
            </a:r>
          </a:p>
          <a:p>
            <a:pPr>
              <a:spcAft>
                <a:spcPts val="1200"/>
              </a:spcAft>
            </a:pPr>
            <a:r>
              <a:rPr sz="2000">
                <a:solidFill>
                  <a:srgbClr val="1F2937"/>
                </a:solidFill>
                <a:latin typeface="Calibri"/>
              </a:rPr>
              <a:t>▸  Yana intoksikatsiya (travmatik toksikoz). Ba’zan keyinroq ikkilamchi qon yo‘qotish, shok, emboliya yoki shikastlangan joyda xavfli o‘sma ham rivojlanadi.</a:t>
            </a:r>
          </a:p>
          <a:p>
            <a:pPr>
              <a:spcAft>
                <a:spcPts val="1200"/>
              </a:spcAft>
            </a:pPr>
            <a:r>
              <a:rPr sz="2000">
                <a:solidFill>
                  <a:srgbClr val="1F2937"/>
                </a:solidFill>
                <a:latin typeface="Calibri"/>
              </a:rPr>
              <a:t>▸  Voqea tahlili: yirik arteriya shikastlangan, 500 ml gacha qon ketgan. O‘lim dastlabki minutlarda yurak qorinchalari fibrillyatsiyasidan yuz bergan.</a:t>
            </a:r>
          </a:p>
          <a:p>
            <a:pPr>
              <a:spcAft>
                <a:spcPts val="1200"/>
              </a:spcAft>
            </a:pPr>
            <a:r>
              <a:rPr sz="2000">
                <a:solidFill>
                  <a:srgbClr val="1F2937"/>
                </a:solidFill>
                <a:latin typeface="Calibri"/>
              </a:rPr>
              <a:t>▸  Murdada miya va yurak mushagida kamqonlik, taloq esa qonga to‘yingan; chap qorincha endokardi ostida Minakov dog‘lari bor. Savol: bu qaysi sabab, ko‘p qon yo‘qotishdan farqi nima?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33, 31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O‘tmas jismlar: turlari va yuzasi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Shikastni ma’lum bir yuza ta’siri bilan etkazgan jism o‘tmas hisoblanadi. U qattiq (tosh, tayoq), yumshoq (sharf, sochiq) yoki elastik (rezina to‘pi) bo‘ladi.</a:t>
            </a:r>
          </a:p>
          <a:p>
            <a:pPr>
              <a:spcAft>
                <a:spcPts val="1200"/>
              </a:spcAft>
            </a:pPr>
            <a:r>
              <a:rPr sz="2200">
                <a:solidFill>
                  <a:srgbClr val="1F2937"/>
                </a:solidFill>
                <a:latin typeface="Calibri"/>
              </a:rPr>
              <a:t>▸  Jarohat jism ta’sir etgan joyda bo‘lsa, bevosita jarohat deyiladi. Ta’sir joyidan boshqa sohada hosil bo‘lsa, bilvosita jarohat deb belgilanadi.</a:t>
            </a:r>
          </a:p>
          <a:p>
            <a:pPr>
              <a:spcAft>
                <a:spcPts val="1200"/>
              </a:spcAft>
            </a:pPr>
            <a:r>
              <a:rPr sz="2200">
                <a:solidFill>
                  <a:srgbClr val="1F2937"/>
                </a:solidFill>
                <a:latin typeface="Calibri"/>
              </a:rPr>
              <a:t>▸  Jism ta’sir yuzasi shikastlangan soha yuzasidan kichik bo‘lsa, yuza cheklangan; shikastlangan sohadan katta bo‘lsa, cheklanmagan, keng yuza hisoblanadi.</a:t>
            </a:r>
          </a:p>
          <a:p>
            <a:pPr>
              <a:spcAft>
                <a:spcPts val="1200"/>
              </a:spcAft>
            </a:pPr>
            <a:r>
              <a:rPr sz="2200">
                <a:solidFill>
                  <a:srgbClr val="1F2937"/>
                </a:solidFill>
                <a:latin typeface="Calibri"/>
              </a:rPr>
              <a:t>▸  Diqqat: bu bo‘linish nisbiy. Bir jism bir holatda cheklangan, boshqasida cheklanmagan yuzaga ega bo‘lishi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33, 33-34, 34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Impression va inersion travma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Travma turi shikastlovchi jismning massasi va ta’sir kuchiga qarab impression yoki inersion bo‘ladi.</a:t>
            </a:r>
          </a:p>
          <a:p>
            <a:pPr>
              <a:spcAft>
                <a:spcPts val="800"/>
              </a:spcAft>
            </a:pPr>
            <a:r>
              <a:rPr sz="1800">
                <a:solidFill>
                  <a:srgbClr val="1F2937"/>
                </a:solidFill>
                <a:latin typeface="Calibri"/>
              </a:rPr>
              <a:t>▸  Impression travmada shikastlanish faqat ta’sir sohasi bilan cheklanadi.</a:t>
            </a:r>
          </a:p>
          <a:p>
            <a:pPr>
              <a:spcAft>
                <a:spcPts val="800"/>
              </a:spcAft>
            </a:pPr>
            <a:r>
              <a:rPr sz="1800">
                <a:solidFill>
                  <a:srgbClr val="1F2937"/>
                </a:solidFill>
                <a:latin typeface="Calibri"/>
              </a:rPr>
              <a:t>▸  Diqqat: bilvosita jarohat va aks zarb inersion travmaga xos; impression ≠ inersion.</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929753"/>
                <a:gridCol w="2033836"/>
                <a:gridCol w="2324384"/>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Impression</a:t>
                      </a:r>
                    </a:p>
                  </a:txBody>
                  <a:tcPr marL="73152" marR="73152" marT="36576" marB="36576">
                    <a:solidFill>
                      <a:srgbClr val="0B1F3A"/>
                    </a:solidFill>
                  </a:tcPr>
                </a:tc>
                <a:tc>
                  <a:txBody>
                    <a:bodyPr/>
                    <a:lstStyle/>
                    <a:p>
                      <a:r>
                        <a:rPr sz="1300" b="1">
                          <a:solidFill>
                            <a:srgbClr val="FFFFFF"/>
                          </a:solidFill>
                        </a:rPr>
                        <a:t>Inersion</a:t>
                      </a:r>
                    </a:p>
                  </a:txBody>
                  <a:tcPr marL="73152" marR="73152" marT="36576" marB="36576">
                    <a:solidFill>
                      <a:srgbClr val="0B1F3A"/>
                    </a:solidFill>
                  </a:tcPr>
                </a:tc>
              </a:tr>
              <a:tr h="411480">
                <a:tc>
                  <a:txBody>
                    <a:bodyPr/>
                    <a:lstStyle/>
                    <a:p>
                      <a:r>
                        <a:rPr sz="1200" b="0">
                          <a:solidFill>
                            <a:srgbClr val="1F2937"/>
                          </a:solidFill>
                        </a:rPr>
                        <a:t>Massa va kuch</a:t>
                      </a:r>
                    </a:p>
                  </a:txBody>
                  <a:tcPr marL="73152" marR="73152" marT="36576" marB="36576">
                    <a:solidFill>
                      <a:srgbClr val="E8EEF6"/>
                    </a:solidFill>
                  </a:tcPr>
                </a:tc>
                <a:tc>
                  <a:txBody>
                    <a:bodyPr/>
                    <a:lstStyle/>
                    <a:p>
                      <a:r>
                        <a:rPr sz="1200" b="0">
                          <a:solidFill>
                            <a:srgbClr val="1F2937"/>
                          </a:solidFill>
                        </a:rPr>
                        <a:t>Jism massasi soha massasidan kichik</a:t>
                      </a:r>
                    </a:p>
                  </a:txBody>
                  <a:tcPr marL="73152" marR="73152" marT="36576" marB="36576">
                    <a:solidFill>
                      <a:srgbClr val="E8EEF6"/>
                    </a:solidFill>
                  </a:tcPr>
                </a:tc>
                <a:tc>
                  <a:txBody>
                    <a:bodyPr/>
                    <a:lstStyle/>
                    <a:p>
                      <a:r>
                        <a:rPr sz="1200" b="0">
                          <a:solidFill>
                            <a:srgbClr val="1F2937"/>
                          </a:solidFill>
                        </a:rPr>
                        <a:t>Kuch soha (ba’zan tana) massasidan katta</a:t>
                      </a:r>
                    </a:p>
                  </a:txBody>
                  <a:tcPr marL="73152" marR="73152" marT="36576" marB="36576">
                    <a:solidFill>
                      <a:srgbClr val="E8EEF6"/>
                    </a:solidFill>
                  </a:tcPr>
                </a:tc>
              </a:tr>
              <a:tr h="411480">
                <a:tc>
                  <a:txBody>
                    <a:bodyPr/>
                    <a:lstStyle/>
                    <a:p>
                      <a:r>
                        <a:rPr sz="1200" b="0">
                          <a:solidFill>
                            <a:srgbClr val="1F2937"/>
                          </a:solidFill>
                        </a:rPr>
                        <a:t>Jarohat joyi</a:t>
                      </a:r>
                    </a:p>
                  </a:txBody>
                  <a:tcPr marL="73152" marR="73152" marT="36576" marB="36576">
                    <a:solidFill>
                      <a:srgbClr val="FFFFFF"/>
                    </a:solidFill>
                  </a:tcPr>
                </a:tc>
                <a:tc>
                  <a:txBody>
                    <a:bodyPr/>
                    <a:lstStyle/>
                    <a:p>
                      <a:r>
                        <a:rPr sz="1200" b="0">
                          <a:solidFill>
                            <a:srgbClr val="1F2937"/>
                          </a:solidFill>
                        </a:rPr>
                        <a:t>Faqat ta’sir sohasida</a:t>
                      </a:r>
                    </a:p>
                  </a:txBody>
                  <a:tcPr marL="73152" marR="73152" marT="36576" marB="36576">
                    <a:solidFill>
                      <a:srgbClr val="FFFFFF"/>
                    </a:solidFill>
                  </a:tcPr>
                </a:tc>
                <a:tc>
                  <a:txBody>
                    <a:bodyPr/>
                    <a:lstStyle/>
                    <a:p>
                      <a:r>
                        <a:rPr sz="1200" b="0">
                          <a:solidFill>
                            <a:srgbClr val="1F2937"/>
                          </a:solidFill>
                        </a:rPr>
                        <a:t>Bilvosita jarohatlar ham bo‘ladi</a:t>
                      </a:r>
                    </a:p>
                  </a:txBody>
                  <a:tcPr marL="73152" marR="73152" marT="36576" marB="36576">
                    <a:solidFill>
                      <a:srgbClr val="FFFFFF"/>
                    </a:solidFill>
                  </a:tcPr>
                </a:tc>
              </a:tr>
              <a:tr h="411480">
                <a:tc>
                  <a:txBody>
                    <a:bodyPr/>
                    <a:lstStyle/>
                    <a:p>
                      <a:r>
                        <a:rPr sz="1200" b="0">
                          <a:solidFill>
                            <a:srgbClr val="1F2937"/>
                          </a:solidFill>
                        </a:rPr>
                        <a:t>Xos belgi</a:t>
                      </a:r>
                    </a:p>
                  </a:txBody>
                  <a:tcPr marL="73152" marR="73152" marT="36576" marB="36576">
                    <a:solidFill>
                      <a:srgbClr val="E8EEF6"/>
                    </a:solidFill>
                  </a:tcPr>
                </a:tc>
                <a:tc>
                  <a:txBody>
                    <a:bodyPr/>
                    <a:lstStyle/>
                    <a:p>
                      <a:r>
                        <a:rPr sz="1200" b="0">
                          <a:solidFill>
                            <a:srgbClr val="1F2937"/>
                          </a:solidFill>
                        </a:rPr>
                        <a:t>Ta’sir sohasi bilan cheklanadi</a:t>
                      </a:r>
                    </a:p>
                  </a:txBody>
                  <a:tcPr marL="73152" marR="73152" marT="36576" marB="36576">
                    <a:solidFill>
                      <a:srgbClr val="E8EEF6"/>
                    </a:solidFill>
                  </a:tcPr>
                </a:tc>
                <a:tc>
                  <a:txBody>
                    <a:bodyPr/>
                    <a:lstStyle/>
                    <a:p>
                      <a:r>
                        <a:rPr sz="1200" b="0">
                          <a:solidFill>
                            <a:srgbClr val="1F2937"/>
                          </a:solidFill>
                        </a:rPr>
                        <a:t>Tana chayqalishi, aks zarb</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Impression va inersion travma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O‘tmas jismlarning ta’sir mexanizmlari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Asosiy mexanizmlar: zarb, qisilish, cho‘zilish, ishqalanish; ba’zan buralish va chayqalish ham kuzatiladi.</a:t>
            </a:r>
          </a:p>
          <a:p>
            <a:pPr>
              <a:spcAft>
                <a:spcPts val="800"/>
              </a:spcAft>
            </a:pPr>
            <a:r>
              <a:rPr sz="1800">
                <a:solidFill>
                  <a:srgbClr val="1F2937"/>
                </a:solidFill>
                <a:latin typeface="Calibri"/>
              </a:rPr>
              <a:t>▸  Zarb — bir tomonga yo‘nalgan qisqa ta’sir; chayqalish odatda zarbdan so‘ng yoki tana silkinishida paydo bo‘ladi.</a:t>
            </a:r>
          </a:p>
          <a:p>
            <a:pPr>
              <a:spcAft>
                <a:spcPts val="800"/>
              </a:spcAft>
            </a:pPr>
            <a:r>
              <a:rPr sz="1800">
                <a:solidFill>
                  <a:srgbClr val="1F2937"/>
                </a:solidFill>
                <a:latin typeface="Calibri"/>
              </a:rPr>
              <a:t>▸  Ko‘pincha ikki va undan ortiq mexanizm birga ishlaydi va jarohat xususiyatiga ta’sir qiladi.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031800"/>
                <a:gridCol w="1805650"/>
                <a:gridCol w="2450525"/>
              </a:tblGrid>
              <a:tr h="411480">
                <a:tc>
                  <a:txBody>
                    <a:bodyPr/>
                    <a:lstStyle/>
                    <a:p>
                      <a:r>
                        <a:rPr sz="1300" b="1">
                          <a:solidFill>
                            <a:srgbClr val="FFFFFF"/>
                          </a:solidFill>
                        </a:rPr>
                        <a:t>Mexanizm</a:t>
                      </a:r>
                    </a:p>
                  </a:txBody>
                  <a:tcPr marL="73152" marR="73152" marT="36576" marB="36576">
                    <a:solidFill>
                      <a:srgbClr val="0B1F3A"/>
                    </a:solidFill>
                  </a:tcPr>
                </a:tc>
                <a:tc>
                  <a:txBody>
                    <a:bodyPr/>
                    <a:lstStyle/>
                    <a:p>
                      <a:r>
                        <a:rPr sz="1300" b="1">
                          <a:solidFill>
                            <a:srgbClr val="FFFFFF"/>
                          </a:solidFill>
                        </a:rPr>
                        <a:t>Kuch</a:t>
                      </a:r>
                    </a:p>
                  </a:txBody>
                  <a:tcPr marL="73152" marR="73152" marT="36576" marB="36576">
                    <a:solidFill>
                      <a:srgbClr val="0B1F3A"/>
                    </a:solidFill>
                  </a:tcPr>
                </a:tc>
                <a:tc>
                  <a:txBody>
                    <a:bodyPr/>
                    <a:lstStyle/>
                    <a:p>
                      <a:r>
                        <a:rPr sz="1300" b="1">
                          <a:solidFill>
                            <a:srgbClr val="FFFFFF"/>
                          </a:solidFill>
                        </a:rPr>
                        <a:t>Xos jarohat</a:t>
                      </a:r>
                    </a:p>
                  </a:txBody>
                  <a:tcPr marL="73152" marR="73152" marT="36576" marB="36576">
                    <a:solidFill>
                      <a:srgbClr val="0B1F3A"/>
                    </a:solidFill>
                  </a:tcPr>
                </a:tc>
              </a:tr>
              <a:tr h="411480">
                <a:tc>
                  <a:txBody>
                    <a:bodyPr/>
                    <a:lstStyle/>
                    <a:p>
                      <a:r>
                        <a:rPr sz="1200" b="0">
                          <a:solidFill>
                            <a:srgbClr val="1F2937"/>
                          </a:solidFill>
                        </a:rPr>
                        <a:t>Siqilish</a:t>
                      </a:r>
                    </a:p>
                  </a:txBody>
                  <a:tcPr marL="73152" marR="73152" marT="36576" marB="36576">
                    <a:solidFill>
                      <a:srgbClr val="E8EEF6"/>
                    </a:solidFill>
                  </a:tcPr>
                </a:tc>
                <a:tc>
                  <a:txBody>
                    <a:bodyPr/>
                    <a:lstStyle/>
                    <a:p>
                      <a:r>
                        <a:rPr sz="1200" b="0">
                          <a:solidFill>
                            <a:srgbClr val="1F2937"/>
                          </a:solidFill>
                        </a:rPr>
                        <a:t>Markazga intiluvchi kuchlar</a:t>
                      </a:r>
                    </a:p>
                  </a:txBody>
                  <a:tcPr marL="73152" marR="73152" marT="36576" marB="36576">
                    <a:solidFill>
                      <a:srgbClr val="E8EEF6"/>
                    </a:solidFill>
                  </a:tcPr>
                </a:tc>
                <a:tc>
                  <a:txBody>
                    <a:bodyPr/>
                    <a:lstStyle/>
                    <a:p>
                      <a:r>
                        <a:rPr sz="1200" b="0">
                          <a:solidFill>
                            <a:srgbClr val="1F2937"/>
                          </a:solidFill>
                        </a:rPr>
                        <a:t>Ichki a’zo, suyak jiddiy shikastlanadi</a:t>
                      </a:r>
                    </a:p>
                  </a:txBody>
                  <a:tcPr marL="73152" marR="73152" marT="36576" marB="36576">
                    <a:solidFill>
                      <a:srgbClr val="E8EEF6"/>
                    </a:solidFill>
                  </a:tcPr>
                </a:tc>
              </a:tr>
              <a:tr h="411480">
                <a:tc>
                  <a:txBody>
                    <a:bodyPr/>
                    <a:lstStyle/>
                    <a:p>
                      <a:r>
                        <a:rPr sz="1200" b="0">
                          <a:solidFill>
                            <a:srgbClr val="1F2937"/>
                          </a:solidFill>
                        </a:rPr>
                        <a:t>Cho‘zilish</a:t>
                      </a:r>
                    </a:p>
                  </a:txBody>
                  <a:tcPr marL="73152" marR="73152" marT="36576" marB="36576">
                    <a:solidFill>
                      <a:srgbClr val="FFFFFF"/>
                    </a:solidFill>
                  </a:tcPr>
                </a:tc>
                <a:tc>
                  <a:txBody>
                    <a:bodyPr/>
                    <a:lstStyle/>
                    <a:p>
                      <a:r>
                        <a:rPr sz="1200" b="0">
                          <a:solidFill>
                            <a:srgbClr val="1F2937"/>
                          </a:solidFill>
                        </a:rPr>
                        <a:t>Markazdan qochuvchi kuchlar</a:t>
                      </a:r>
                    </a:p>
                  </a:txBody>
                  <a:tcPr marL="73152" marR="73152" marT="36576" marB="36576">
                    <a:solidFill>
                      <a:srgbClr val="FFFFFF"/>
                    </a:solidFill>
                  </a:tcPr>
                </a:tc>
                <a:tc>
                  <a:txBody>
                    <a:bodyPr/>
                    <a:lstStyle/>
                    <a:p>
                      <a:r>
                        <a:rPr sz="1200" b="0">
                          <a:solidFill>
                            <a:srgbClr val="1F2937"/>
                          </a:solidFill>
                        </a:rPr>
                        <a:t>Yirtma yara, yorilish, ajralish</a:t>
                      </a:r>
                    </a:p>
                  </a:txBody>
                  <a:tcPr marL="73152" marR="73152" marT="36576" marB="36576">
                    <a:solidFill>
                      <a:srgbClr val="FFFFFF"/>
                    </a:solidFill>
                  </a:tcPr>
                </a:tc>
              </a:tr>
              <a:tr h="411480">
                <a:tc>
                  <a:txBody>
                    <a:bodyPr/>
                    <a:lstStyle/>
                    <a:p>
                      <a:r>
                        <a:rPr sz="1200" b="0">
                          <a:solidFill>
                            <a:srgbClr val="1F2937"/>
                          </a:solidFill>
                        </a:rPr>
                        <a:t>Ishqalanish</a:t>
                      </a:r>
                    </a:p>
                  </a:txBody>
                  <a:tcPr marL="73152" marR="73152" marT="36576" marB="36576">
                    <a:solidFill>
                      <a:srgbClr val="E8EEF6"/>
                    </a:solidFill>
                  </a:tcPr>
                </a:tc>
                <a:tc>
                  <a:txBody>
                    <a:bodyPr/>
                    <a:lstStyle/>
                    <a:p>
                      <a:r>
                        <a:rPr sz="1200" b="0">
                          <a:solidFill>
                            <a:srgbClr val="1F2937"/>
                          </a:solidFill>
                        </a:rPr>
                        <a:t>Burchak ostida harakat</a:t>
                      </a:r>
                    </a:p>
                  </a:txBody>
                  <a:tcPr marL="73152" marR="73152" marT="36576" marB="36576">
                    <a:solidFill>
                      <a:srgbClr val="E8EEF6"/>
                    </a:solidFill>
                  </a:tcPr>
                </a:tc>
                <a:tc>
                  <a:txBody>
                    <a:bodyPr/>
                    <a:lstStyle/>
                    <a:p>
                      <a:r>
                        <a:rPr sz="1200" b="0">
                          <a:solidFill>
                            <a:srgbClr val="1F2937"/>
                          </a:solidFill>
                        </a:rPr>
                        <a:t>Faqat bevosita, shilinma</a:t>
                      </a:r>
                    </a:p>
                  </a:txBody>
                  <a:tcPr marL="73152" marR="73152" marT="36576" marB="36576">
                    <a:solidFill>
                      <a:srgbClr val="E8EEF6"/>
                    </a:solidFill>
                  </a:tcPr>
                </a:tc>
              </a:tr>
              <a:tr h="411480">
                <a:tc>
                  <a:txBody>
                    <a:bodyPr/>
                    <a:lstStyle/>
                    <a:p>
                      <a:r>
                        <a:rPr sz="1200" b="0">
                          <a:solidFill>
                            <a:srgbClr val="1F2937"/>
                          </a:solidFill>
                        </a:rPr>
                        <a:t>Buralish</a:t>
                      </a:r>
                    </a:p>
                  </a:txBody>
                  <a:tcPr marL="73152" marR="73152" marT="36576" marB="36576">
                    <a:solidFill>
                      <a:srgbClr val="FFFFFF"/>
                    </a:solidFill>
                  </a:tcPr>
                </a:tc>
                <a:tc>
                  <a:txBody>
                    <a:bodyPr/>
                    <a:lstStyle/>
                    <a:p>
                      <a:r>
                        <a:rPr sz="1200" b="0">
                          <a:solidFill>
                            <a:srgbClr val="1F2937"/>
                          </a:solidFill>
                        </a:rPr>
                        <a:t>Qarama-qarshi aylana kuchlar</a:t>
                      </a:r>
                    </a:p>
                  </a:txBody>
                  <a:tcPr marL="73152" marR="73152" marT="36576" marB="36576">
                    <a:solidFill>
                      <a:srgbClr val="FFFFFF"/>
                    </a:solidFill>
                  </a:tcPr>
                </a:tc>
                <a:tc>
                  <a:txBody>
                    <a:bodyPr/>
                    <a:lstStyle/>
                    <a:p>
                      <a:r>
                        <a:rPr sz="1200" b="0">
                          <a:solidFill>
                            <a:srgbClr val="1F2937"/>
                          </a:solidFill>
                        </a:rPr>
                        <a:t>Suyakning spiralsimon sinishi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Mexanizmlarni solishtirish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34, 35-36, 36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Shilinma va uning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Shilinma — epidermis va so‘rg‘ichsimon qavat butunligining buzilishi: yuzaki yoki chuqur bo‘ladi.</a:t>
            </a:r>
          </a:p>
          <a:p>
            <a:pPr>
              <a:spcAft>
                <a:spcPts val="800"/>
              </a:spcAft>
            </a:pPr>
            <a:r>
              <a:rPr sz="1800">
                <a:solidFill>
                  <a:srgbClr val="1F2937"/>
                </a:solidFill>
                <a:latin typeface="Calibri"/>
              </a:rPr>
              <a:t>▸  Sud-tibbiy ahamiyati: mexanik ta’sirni, mexanizm va muddatni, ba’zan hodisa tafsilotini aniqlash.</a:t>
            </a:r>
          </a:p>
          <a:p>
            <a:pPr>
              <a:spcAft>
                <a:spcPts val="800"/>
              </a:spcAft>
            </a:pPr>
            <a:r>
              <a:rPr sz="1800">
                <a:solidFill>
                  <a:srgbClr val="1F2937"/>
                </a:solidFill>
                <a:latin typeface="Calibri"/>
              </a:rPr>
              <a:t>▸  Muddatlar shartli: yosh, sog‘liq, teri xususiyati va jarohat chuqurligiga bog‘liq (Taykov bo‘yicha).</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Yangi — 12 soatgacha</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Qoplama — 2-3 sutkagacha</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Epitelizatsiya — 7-9 sutka</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Iz — 10-15 sutkada yo‘qoladi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Taykov bo‘yicha bosqichlar</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36, 37, 36-37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Shilinma va pergament dog‘i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Shilinma — terining yuza qavatlari (epidermis, dermaning so‘rg‘ichsimon qavati) butunligining buzilishi. Faqat epidermis zararlansa yuzaki, so‘rg‘ichsimon qavatga o‘tsa chuqur shilinma bo‘ladi.</a:t>
            </a:r>
          </a:p>
          <a:p>
            <a:pPr>
              <a:spcAft>
                <a:spcPts val="1200"/>
              </a:spcAft>
            </a:pPr>
            <a:r>
              <a:rPr sz="2000">
                <a:solidFill>
                  <a:srgbClr val="1F2937"/>
                </a:solidFill>
                <a:latin typeface="Calibri"/>
              </a:rPr>
              <a:t>▸  Shilinma o‘tmas jism burchak ostida ta’sir etganda zarb, siqilish va ishqalanish mexanizmlari bilan hosil bo‘ladi. Chiziqsimon shilinma timalma deyiladi.</a:t>
            </a:r>
          </a:p>
          <a:p>
            <a:pPr>
              <a:spcAft>
                <a:spcPts val="1200"/>
              </a:spcAft>
            </a:pPr>
            <a:r>
              <a:rPr sz="2000">
                <a:solidFill>
                  <a:srgbClr val="1F2937"/>
                </a:solidFill>
                <a:latin typeface="Calibri"/>
              </a:rPr>
              <a:t>▸  Sud-tibbiy ahamiyati: mexanik ta’sirni tasdiqlaydi, mexanizm va muddatni aniqlashga yordam beradi, ba’zan hodisa tafsilotini va jarohat og‘irligini taxmin qilishga imkon beradi.</a:t>
            </a:r>
          </a:p>
          <a:p>
            <a:pPr>
              <a:spcAft>
                <a:spcPts val="1200"/>
              </a:spcAft>
            </a:pPr>
            <a:r>
              <a:rPr sz="2000">
                <a:solidFill>
                  <a:srgbClr val="1F2937"/>
                </a:solidFill>
                <a:latin typeface="Calibri"/>
              </a:rPr>
              <a:t>▸  Diqqat: xato qilish xavfi! Shilinma ≠ pergament dog‘i. Pergament dog‘i o‘limdan keyingi qurish alomati: sariq, jigar rang, qoplama hosil bo‘lmaydi, hayotiy jarohat belgilari yo‘q. U atrofdagi teri bilan bir sathda yoki pastroq turadi.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36, 37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Qontalash, gematoma va rang o‘zgarishi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Qontalash — qon tomir yorilib, to‘qimalarga qon quyilishi; bo‘shliqda qon to‘planishi — gematoma.</a:t>
            </a:r>
          </a:p>
          <a:p>
            <a:pPr>
              <a:spcAft>
                <a:spcPts val="800"/>
              </a:spcAft>
            </a:pPr>
            <a:r>
              <a:rPr sz="1800">
                <a:solidFill>
                  <a:srgbClr val="1F2937"/>
                </a:solidFill>
                <a:latin typeface="Calibri"/>
              </a:rPr>
              <a:t>▸  Cheklanmagan yuzada qontalash dumaloq, oval; cheklangan yuzada jism shakliga o‘xshaydi.</a:t>
            </a:r>
          </a:p>
          <a:p>
            <a:pPr>
              <a:spcAft>
                <a:spcPts val="800"/>
              </a:spcAft>
            </a:pPr>
            <a:r>
              <a:rPr sz="1800">
                <a:solidFill>
                  <a:srgbClr val="1F2937"/>
                </a:solidFill>
                <a:latin typeface="Calibri"/>
              </a:rPr>
              <a:t>▸  Rang o‘zgarishi chekkadan boshlanadi; muddatlar taxminiy, jism va sohaga bog‘liq.</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800161"/>
                <a:gridCol w="1856416"/>
                <a:gridCol w="1631396"/>
              </a:tblGrid>
              <a:tr h="411480">
                <a:tc>
                  <a:txBody>
                    <a:bodyPr/>
                    <a:lstStyle/>
                    <a:p>
                      <a:r>
                        <a:rPr sz="1300" b="1">
                          <a:solidFill>
                            <a:srgbClr val="FFFFFF"/>
                          </a:solidFill>
                        </a:rPr>
                        <a:t>Muddat</a:t>
                      </a:r>
                    </a:p>
                  </a:txBody>
                  <a:tcPr marL="73152" marR="73152" marT="36576" marB="36576">
                    <a:solidFill>
                      <a:srgbClr val="0B1F3A"/>
                    </a:solidFill>
                  </a:tcPr>
                </a:tc>
                <a:tc>
                  <a:txBody>
                    <a:bodyPr/>
                    <a:lstStyle/>
                    <a:p>
                      <a:r>
                        <a:rPr sz="1300" b="1">
                          <a:solidFill>
                            <a:srgbClr val="FFFFFF"/>
                          </a:solidFill>
                        </a:rPr>
                        <a:t>Rang</a:t>
                      </a:r>
                    </a:p>
                  </a:txBody>
                  <a:tcPr marL="73152" marR="73152" marT="36576" marB="36576">
                    <a:solidFill>
                      <a:srgbClr val="0B1F3A"/>
                    </a:solidFill>
                  </a:tcPr>
                </a:tc>
                <a:tc>
                  <a:txBody>
                    <a:bodyPr/>
                    <a:lstStyle/>
                    <a:p>
                      <a:r>
                        <a:rPr sz="1300" b="1">
                          <a:solidFill>
                            <a:srgbClr val="FFFFFF"/>
                          </a:solidFill>
                        </a:rPr>
                        <a:t>Sabab</a:t>
                      </a:r>
                    </a:p>
                  </a:txBody>
                  <a:tcPr marL="73152" marR="73152" marT="36576" marB="36576">
                    <a:solidFill>
                      <a:srgbClr val="0B1F3A"/>
                    </a:solidFill>
                  </a:tcPr>
                </a:tc>
              </a:tr>
              <a:tr h="411480">
                <a:tc>
                  <a:txBody>
                    <a:bodyPr/>
                    <a:lstStyle/>
                    <a:p>
                      <a:r>
                        <a:rPr sz="1200" b="0">
                          <a:solidFill>
                            <a:srgbClr val="1F2937"/>
                          </a:solidFill>
                        </a:rPr>
                        <a:t>Dastlabki kunlar</a:t>
                      </a:r>
                    </a:p>
                  </a:txBody>
                  <a:tcPr marL="73152" marR="73152" marT="36576" marB="36576">
                    <a:solidFill>
                      <a:srgbClr val="E8EEF6"/>
                    </a:solidFill>
                  </a:tcPr>
                </a:tc>
                <a:tc>
                  <a:txBody>
                    <a:bodyPr/>
                    <a:lstStyle/>
                    <a:p>
                      <a:r>
                        <a:rPr sz="1200" b="0">
                          <a:solidFill>
                            <a:srgbClr val="1F2937"/>
                          </a:solidFill>
                        </a:rPr>
                        <a:t>Qizg‘ish-ko‘kimtir, ko‘kimtir</a:t>
                      </a:r>
                    </a:p>
                  </a:txBody>
                  <a:tcPr marL="73152" marR="73152" marT="36576" marB="36576">
                    <a:solidFill>
                      <a:srgbClr val="E8EEF6"/>
                    </a:solidFill>
                  </a:tcPr>
                </a:tc>
                <a:tc>
                  <a:txBody>
                    <a:bodyPr/>
                    <a:lstStyle/>
                    <a:p>
                      <a:r>
                        <a:rPr sz="1200" b="0">
                          <a:solidFill>
                            <a:srgbClr val="1F2937"/>
                          </a:solidFill>
                        </a:rPr>
                        <a:t>Oksigemoglobin qaytarilishi</a:t>
                      </a:r>
                    </a:p>
                  </a:txBody>
                  <a:tcPr marL="73152" marR="73152" marT="36576" marB="36576">
                    <a:solidFill>
                      <a:srgbClr val="E8EEF6"/>
                    </a:solidFill>
                  </a:tcPr>
                </a:tc>
              </a:tr>
              <a:tr h="411480">
                <a:tc>
                  <a:txBody>
                    <a:bodyPr/>
                    <a:lstStyle/>
                    <a:p>
                      <a:r>
                        <a:rPr sz="1200" b="0">
                          <a:solidFill>
                            <a:srgbClr val="1F2937"/>
                          </a:solidFill>
                        </a:rPr>
                        <a:t>3-4 sutka</a:t>
                      </a:r>
                    </a:p>
                  </a:txBody>
                  <a:tcPr marL="73152" marR="73152" marT="36576" marB="36576">
                    <a:solidFill>
                      <a:srgbClr val="FFFFFF"/>
                    </a:solidFill>
                  </a:tcPr>
                </a:tc>
                <a:tc>
                  <a:txBody>
                    <a:bodyPr/>
                    <a:lstStyle/>
                    <a:p>
                      <a:r>
                        <a:rPr sz="1200" b="0">
                          <a:solidFill>
                            <a:srgbClr val="1F2937"/>
                          </a:solidFill>
                        </a:rPr>
                        <a:t>Yashil tus</a:t>
                      </a:r>
                    </a:p>
                  </a:txBody>
                  <a:tcPr marL="73152" marR="73152" marT="36576" marB="36576">
                    <a:solidFill>
                      <a:srgbClr val="FFFFFF"/>
                    </a:solidFill>
                  </a:tcPr>
                </a:tc>
                <a:tc>
                  <a:txBody>
                    <a:bodyPr/>
                    <a:lstStyle/>
                    <a:p>
                      <a:r>
                        <a:rPr sz="1200" b="0">
                          <a:solidFill>
                            <a:srgbClr val="1F2937"/>
                          </a:solidFill>
                        </a:rPr>
                        <a:t>Verdogemoxromogen, biliverdin</a:t>
                      </a:r>
                    </a:p>
                  </a:txBody>
                  <a:tcPr marL="73152" marR="73152" marT="36576" marB="36576">
                    <a:solidFill>
                      <a:srgbClr val="FFFFFF"/>
                    </a:solidFill>
                  </a:tcPr>
                </a:tc>
              </a:tr>
              <a:tr h="411480">
                <a:tc>
                  <a:txBody>
                    <a:bodyPr/>
                    <a:lstStyle/>
                    <a:p>
                      <a:r>
                        <a:rPr sz="1200" b="0">
                          <a:solidFill>
                            <a:srgbClr val="1F2937"/>
                          </a:solidFill>
                        </a:rPr>
                        <a:t>6-8 sutka</a:t>
                      </a:r>
                    </a:p>
                  </a:txBody>
                  <a:tcPr marL="73152" marR="73152" marT="36576" marB="36576">
                    <a:solidFill>
                      <a:srgbClr val="E8EEF6"/>
                    </a:solidFill>
                  </a:tcPr>
                </a:tc>
                <a:tc>
                  <a:txBody>
                    <a:bodyPr/>
                    <a:lstStyle/>
                    <a:p>
                      <a:r>
                        <a:rPr sz="1200" b="0">
                          <a:solidFill>
                            <a:srgbClr val="1F2937"/>
                          </a:solidFill>
                        </a:rPr>
                        <a:t>Sariq tus</a:t>
                      </a:r>
                    </a:p>
                  </a:txBody>
                  <a:tcPr marL="73152" marR="73152" marT="36576" marB="36576">
                    <a:solidFill>
                      <a:srgbClr val="E8EEF6"/>
                    </a:solidFill>
                  </a:tcPr>
                </a:tc>
                <a:tc>
                  <a:txBody>
                    <a:bodyPr/>
                    <a:lstStyle/>
                    <a:p>
                      <a:r>
                        <a:rPr sz="1200" b="0">
                          <a:solidFill>
                            <a:srgbClr val="1F2937"/>
                          </a:solidFill>
                        </a:rPr>
                        <a:t>Bilirubin, gemosiderin</a:t>
                      </a:r>
                    </a:p>
                  </a:txBody>
                  <a:tcPr marL="73152" marR="73152" marT="36576" marB="36576">
                    <a:solidFill>
                      <a:srgbClr val="E8EEF6"/>
                    </a:solidFill>
                  </a:tcPr>
                </a:tc>
              </a:tr>
              <a:tr h="411480">
                <a:tc>
                  <a:txBody>
                    <a:bodyPr/>
                    <a:lstStyle/>
                    <a:p>
                      <a:r>
                        <a:rPr sz="1200" b="0">
                          <a:solidFill>
                            <a:srgbClr val="1F2937"/>
                          </a:solidFill>
                        </a:rPr>
                        <a:t>Ko‘z, lab shilliq qavati, bo‘yin</a:t>
                      </a:r>
                    </a:p>
                  </a:txBody>
                  <a:tcPr marL="73152" marR="73152" marT="36576" marB="36576">
                    <a:solidFill>
                      <a:srgbClr val="FFFFFF"/>
                    </a:solidFill>
                  </a:tcPr>
                </a:tc>
                <a:tc>
                  <a:txBody>
                    <a:bodyPr/>
                    <a:lstStyle/>
                    <a:p>
                      <a:r>
                        <a:rPr sz="1200" b="0">
                          <a:solidFill>
                            <a:srgbClr val="1F2937"/>
                          </a:solidFill>
                        </a:rPr>
                        <a:t>Qizg‘ish-ko‘kimtir, keyin oqaradi</a:t>
                      </a:r>
                    </a:p>
                  </a:txBody>
                  <a:tcPr marL="73152" marR="73152" marT="36576" marB="36576">
                    <a:solidFill>
                      <a:srgbClr val="FFFFFF"/>
                    </a:solidFill>
                  </a:tcPr>
                </a:tc>
                <a:tc>
                  <a:txBody>
                    <a:bodyPr/>
                    <a:lstStyle/>
                    <a:p>
                      <a:r>
                        <a:rPr sz="1200" b="0">
                          <a:solidFill>
                            <a:srgbClr val="1F2937"/>
                          </a:solidFill>
                        </a:rPr>
                        <a:t>Turli ranglarga tuslanmaydi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Qontalash rangi dinamikasi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37,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O‘tmas jism yaralari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Yara — terining barcha qavatlari va chuqur yumshoq to‘qimalar ajralishi. Yuzaki yarada faqat teri, chuqur yarada teri ostidagi yumshoq to‘qimalar ham zararlanadi.</a:t>
            </a:r>
          </a:p>
          <a:p>
            <a:pPr>
              <a:spcAft>
                <a:spcPts val="1200"/>
              </a:spcAft>
            </a:pPr>
            <a:r>
              <a:rPr sz="2000">
                <a:solidFill>
                  <a:srgbClr val="1F2937"/>
                </a:solidFill>
                <a:latin typeface="Calibri"/>
              </a:rPr>
              <a:t>▸  Mexanizmga qarab: zarb va siqilishdan lat yara; kuchli zarb va siqilishdan majaqlangan; zarb va cho‘zilishdan yirtma; o‘tkir burchakdagi zarb va cho‘zilishdan laxtaksimon yara.</a:t>
            </a:r>
          </a:p>
          <a:p>
            <a:pPr>
              <a:spcAft>
                <a:spcPts val="1200"/>
              </a:spcAft>
            </a:pPr>
            <a:r>
              <a:rPr sz="2000">
                <a:solidFill>
                  <a:srgbClr val="1F2937"/>
                </a:solidFill>
                <a:latin typeface="Calibri"/>
              </a:rPr>
              <a:t>▸  Chetlari notekis, shilingan, qon quyilgan, ba’zan majaqlangan; uchlari odatda o‘tmas. Devorlari notekis, orasida to‘qimali “ko‘prikchalar” bor; tubi ham notekis.</a:t>
            </a:r>
          </a:p>
          <a:p>
            <a:pPr>
              <a:spcAft>
                <a:spcPts val="1200"/>
              </a:spcAft>
            </a:pPr>
            <a:r>
              <a:rPr sz="2000">
                <a:solidFill>
                  <a:srgbClr val="1F2937"/>
                </a:solidFill>
                <a:latin typeface="Calibri"/>
              </a:rPr>
              <a:t>▸  Tashqi qon ketishi odatda kuchli bo‘lmaydi. Yordam ko‘rsatilmasa, yara ikkilamchi tortilish bilan bitib, qo‘pol chandiq qoldiradi.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Yara shakli va jismni identifikatsiya qilish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Yara shakli asosan shikastlovchi yuza xususiyatiga bog‘liq; shu orqali jarohat yetkazgan jism aniqlanadi.</a:t>
            </a:r>
          </a:p>
          <a:p>
            <a:pPr>
              <a:spcAft>
                <a:spcPts val="800"/>
              </a:spcAft>
            </a:pPr>
            <a:r>
              <a:rPr sz="1800">
                <a:solidFill>
                  <a:srgbClr val="1F2937"/>
                </a:solidFill>
                <a:latin typeface="Calibri"/>
              </a:rPr>
              <a:t>▸  Tishlama yara – ikki yarim halqa: kurak tish uzunchoq, qoziq tish halqasimon, jag‘ tishi to‘rtburchak iz beradi.</a:t>
            </a:r>
          </a:p>
          <a:p>
            <a:pPr>
              <a:spcAft>
                <a:spcPts val="800"/>
              </a:spcAft>
            </a:pPr>
            <a:r>
              <a:rPr sz="1800">
                <a:solidFill>
                  <a:srgbClr val="1F2937"/>
                </a:solidFill>
                <a:latin typeface="Calibri"/>
              </a:rPr>
              <a:t>▸  Diqqat: yorilish ≠ yara. Yorilish bilvosita; uchlari o‘tkir, chetlari tekis, shilinishsiz.</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982990"/>
                <a:gridCol w="3304984"/>
              </a:tblGrid>
              <a:tr h="411480">
                <a:tc>
                  <a:txBody>
                    <a:bodyPr/>
                    <a:lstStyle/>
                    <a:p>
                      <a:r>
                        <a:rPr sz="1400" b="1">
                          <a:solidFill>
                            <a:srgbClr val="FFFFFF"/>
                          </a:solidFill>
                        </a:rPr>
                        <a:t>Yuza</a:t>
                      </a:r>
                    </a:p>
                  </a:txBody>
                  <a:tcPr marL="73152" marR="73152" marT="36576" marB="36576">
                    <a:solidFill>
                      <a:srgbClr val="0B1F3A"/>
                    </a:solidFill>
                  </a:tcPr>
                </a:tc>
                <a:tc>
                  <a:txBody>
                    <a:bodyPr/>
                    <a:lstStyle/>
                    <a:p>
                      <a:r>
                        <a:rPr sz="1400" b="1">
                          <a:solidFill>
                            <a:srgbClr val="FFFFFF"/>
                          </a:solidFill>
                        </a:rPr>
                        <a:t>Yara shakli</a:t>
                      </a:r>
                    </a:p>
                  </a:txBody>
                  <a:tcPr marL="73152" marR="73152" marT="36576" marB="36576">
                    <a:solidFill>
                      <a:srgbClr val="0B1F3A"/>
                    </a:solidFill>
                  </a:tcPr>
                </a:tc>
              </a:tr>
              <a:tr h="411480">
                <a:tc>
                  <a:txBody>
                    <a:bodyPr/>
                    <a:lstStyle/>
                    <a:p>
                      <a:r>
                        <a:rPr sz="1300" b="0">
                          <a:solidFill>
                            <a:srgbClr val="1F2937"/>
                          </a:solidFill>
                        </a:rPr>
                        <a:t>Cheklanmagan yassi</a:t>
                      </a:r>
                    </a:p>
                  </a:txBody>
                  <a:tcPr marL="73152" marR="73152" marT="36576" marB="36576">
                    <a:solidFill>
                      <a:srgbClr val="E8EEF6"/>
                    </a:solidFill>
                  </a:tcPr>
                </a:tc>
                <a:tc>
                  <a:txBody>
                    <a:bodyPr/>
                    <a:lstStyle/>
                    <a:p>
                      <a:r>
                        <a:rPr sz="1300" b="0">
                          <a:solidFill>
                            <a:srgbClr val="1F2937"/>
                          </a:solidFill>
                        </a:rPr>
                        <a:t>Shoxsimon, zigzagsimon, yulduzsimon</a:t>
                      </a:r>
                    </a:p>
                  </a:txBody>
                  <a:tcPr marL="73152" marR="73152" marT="36576" marB="36576">
                    <a:solidFill>
                      <a:srgbClr val="E8EEF6"/>
                    </a:solidFill>
                  </a:tcPr>
                </a:tc>
              </a:tr>
              <a:tr h="411480">
                <a:tc>
                  <a:txBody>
                    <a:bodyPr/>
                    <a:lstStyle/>
                    <a:p>
                      <a:r>
                        <a:rPr sz="1300" b="0">
                          <a:solidFill>
                            <a:srgbClr val="1F2937"/>
                          </a:solidFill>
                        </a:rPr>
                        <a:t>Cheklangan yassi (tikka)</a:t>
                      </a:r>
                    </a:p>
                  </a:txBody>
                  <a:tcPr marL="73152" marR="73152" marT="36576" marB="36576">
                    <a:solidFill>
                      <a:srgbClr val="FFFFFF"/>
                    </a:solidFill>
                  </a:tcPr>
                </a:tc>
                <a:tc>
                  <a:txBody>
                    <a:bodyPr/>
                    <a:lstStyle/>
                    <a:p>
                      <a:r>
                        <a:rPr sz="1300" b="0">
                          <a:solidFill>
                            <a:srgbClr val="1F2937"/>
                          </a:solidFill>
                        </a:rPr>
                        <a:t>Uch, to‘rt, ko‘p nurli yulduzsimon</a:t>
                      </a:r>
                    </a:p>
                  </a:txBody>
                  <a:tcPr marL="73152" marR="73152" marT="36576" marB="36576">
                    <a:solidFill>
                      <a:srgbClr val="FFFFFF"/>
                    </a:solidFill>
                  </a:tcPr>
                </a:tc>
              </a:tr>
              <a:tr h="411480">
                <a:tc>
                  <a:txBody>
                    <a:bodyPr/>
                    <a:lstStyle/>
                    <a:p>
                      <a:r>
                        <a:rPr sz="1300" b="0">
                          <a:solidFill>
                            <a:srgbClr val="1F2937"/>
                          </a:solidFill>
                        </a:rPr>
                        <a:t>Sferik yuza</a:t>
                      </a:r>
                    </a:p>
                  </a:txBody>
                  <a:tcPr marL="73152" marR="73152" marT="36576" marB="36576">
                    <a:solidFill>
                      <a:srgbClr val="E8EEF6"/>
                    </a:solidFill>
                  </a:tcPr>
                </a:tc>
                <a:tc>
                  <a:txBody>
                    <a:bodyPr/>
                    <a:lstStyle/>
                    <a:p>
                      <a:r>
                        <a:rPr sz="1300" b="0">
                          <a:solidFill>
                            <a:srgbClr val="1F2937"/>
                          </a:solidFill>
                        </a:rPr>
                        <a:t>Nurlari teng yulduzsimon, markazi botiq</a:t>
                      </a:r>
                    </a:p>
                  </a:txBody>
                  <a:tcPr marL="73152" marR="73152" marT="36576" marB="36576">
                    <a:solidFill>
                      <a:srgbClr val="E8EEF6"/>
                    </a:solidFill>
                  </a:tcPr>
                </a:tc>
              </a:tr>
              <a:tr h="411480">
                <a:tc>
                  <a:txBody>
                    <a:bodyPr/>
                    <a:lstStyle/>
                    <a:p>
                      <a:r>
                        <a:rPr sz="1300" b="0">
                          <a:solidFill>
                            <a:srgbClr val="1F2937"/>
                          </a:solidFill>
                        </a:rPr>
                        <a:t>Silindr yuza</a:t>
                      </a:r>
                    </a:p>
                  </a:txBody>
                  <a:tcPr marL="73152" marR="73152" marT="36576" marB="36576">
                    <a:solidFill>
                      <a:srgbClr val="FFFFFF"/>
                    </a:solidFill>
                  </a:tcPr>
                </a:tc>
                <a:tc>
                  <a:txBody>
                    <a:bodyPr/>
                    <a:lstStyle/>
                    <a:p>
                      <a:r>
                        <a:rPr sz="1300" b="0">
                          <a:solidFill>
                            <a:srgbClr val="1F2937"/>
                          </a:solidFill>
                        </a:rPr>
                        <a:t>Yoriqsimon, chiziqsimon, chetlari shilingan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Yuza turi va yara shakli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39, 39-40,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Suyak deformatsiyasi va sinish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Tashqi mexanik ta’sirda suyak shakli o‘zgaradi. Muvaqqat deformatsiyada ta’sir tugagach shakl tiklanadi; doimiy deformatsiyada sinish hosil bo‘ladi.</a:t>
            </a:r>
          </a:p>
          <a:p>
            <a:pPr>
              <a:spcAft>
                <a:spcPts val="1200"/>
              </a:spcAft>
            </a:pPr>
            <a:r>
              <a:rPr sz="2200">
                <a:solidFill>
                  <a:srgbClr val="1F2937"/>
                </a:solidFill>
                <a:latin typeface="Calibri"/>
              </a:rPr>
              <a:t>▸  To‘liq sinishda ikki yangi yuza bir necha yo‘nalishda harakat beradi. To‘liqsizda (darz ketish, chala sinish) faqat bir yo‘nalishda.</a:t>
            </a:r>
          </a:p>
          <a:p>
            <a:pPr>
              <a:spcAft>
                <a:spcPts val="1200"/>
              </a:spcAft>
            </a:pPr>
            <a:r>
              <a:rPr sz="2200">
                <a:solidFill>
                  <a:srgbClr val="1F2937"/>
                </a:solidFill>
                <a:latin typeface="Calibri"/>
              </a:rPr>
              <a:t>▸  Ochiq sinishda suyakning shikastlangan sohasi tashqi muhit bilan bevosita bog‘langan bo‘ladi; yopiq sinishda bunday bog‘lanish yo‘q.</a:t>
            </a:r>
          </a:p>
          <a:p>
            <a:pPr>
              <a:spcAft>
                <a:spcPts val="1200"/>
              </a:spcAft>
            </a:pPr>
            <a:r>
              <a:rPr sz="2200">
                <a:solidFill>
                  <a:srgbClr val="1F2937"/>
                </a:solidFill>
                <a:latin typeface="Calibri"/>
              </a:rPr>
              <a:t>▸  Sinish shakli: chiziqli, siniqli, teshiksimon, ayvonsimon, botiq. Chiziq yo‘nalishi: ko‘ndalang, bo‘ylama, diagonal, halqasimon, spiralsimon.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41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Egilishda sinish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Egilishda ta’sir tomonida siqilish, qarama-qarshi tomonda cho‘zilish hosil bo‘ladi.</a:t>
            </a:r>
          </a:p>
          <a:p>
            <a:pPr>
              <a:spcAft>
                <a:spcPts val="800"/>
              </a:spcAft>
            </a:pPr>
            <a:r>
              <a:rPr sz="1800">
                <a:solidFill>
                  <a:srgbClr val="1F2937"/>
                </a:solidFill>
                <a:latin typeface="Calibri"/>
              </a:rPr>
              <a:t>▸  Suyak cho‘zilishga chidamsizroq: sinish avval cho‘zilish tomonida boshlanadi.</a:t>
            </a:r>
          </a:p>
          <a:p>
            <a:pPr>
              <a:spcAft>
                <a:spcPts val="800"/>
              </a:spcAft>
            </a:pPr>
            <a:r>
              <a:rPr sz="1800">
                <a:solidFill>
                  <a:srgbClr val="1F2937"/>
                </a:solidFill>
                <a:latin typeface="Calibri"/>
              </a:rPr>
              <a:t>▸  Kuch ta’sir qilgan tomon cho‘zilish va siqilish belgilarini farqlash orqali aniqlanadi.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900080"/>
                <a:gridCol w="2137692"/>
                <a:gridCol w="2250202"/>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Cho‘zilish</a:t>
                      </a:r>
                    </a:p>
                  </a:txBody>
                  <a:tcPr marL="73152" marR="73152" marT="36576" marB="36576">
                    <a:solidFill>
                      <a:srgbClr val="0B1F3A"/>
                    </a:solidFill>
                  </a:tcPr>
                </a:tc>
                <a:tc>
                  <a:txBody>
                    <a:bodyPr/>
                    <a:lstStyle/>
                    <a:p>
                      <a:r>
                        <a:rPr sz="1300" b="1">
                          <a:solidFill>
                            <a:srgbClr val="FFFFFF"/>
                          </a:solidFill>
                        </a:rPr>
                        <a:t>Siqilish</a:t>
                      </a:r>
                    </a:p>
                  </a:txBody>
                  <a:tcPr marL="73152" marR="73152" marT="36576" marB="36576">
                    <a:solidFill>
                      <a:srgbClr val="0B1F3A"/>
                    </a:solidFill>
                  </a:tcPr>
                </a:tc>
              </a:tr>
              <a:tr h="411480">
                <a:tc>
                  <a:txBody>
                    <a:bodyPr/>
                    <a:lstStyle/>
                    <a:p>
                      <a:r>
                        <a:rPr sz="1200" b="0">
                          <a:solidFill>
                            <a:srgbClr val="1F2937"/>
                          </a:solidFill>
                        </a:rPr>
                        <a:t>Sinish chizig‘i</a:t>
                      </a:r>
                    </a:p>
                  </a:txBody>
                  <a:tcPr marL="73152" marR="73152" marT="36576" marB="36576">
                    <a:solidFill>
                      <a:srgbClr val="E8EEF6"/>
                    </a:solidFill>
                  </a:tcPr>
                </a:tc>
                <a:tc>
                  <a:txBody>
                    <a:bodyPr/>
                    <a:lstStyle/>
                    <a:p>
                      <a:r>
                        <a:rPr sz="1200" b="0">
                          <a:solidFill>
                            <a:srgbClr val="1F2937"/>
                          </a:solidFill>
                        </a:rPr>
                        <a:t>Bitta to‘g‘ri, ko‘ndalang</a:t>
                      </a:r>
                    </a:p>
                  </a:txBody>
                  <a:tcPr marL="73152" marR="73152" marT="36576" marB="36576">
                    <a:solidFill>
                      <a:srgbClr val="E8EEF6"/>
                    </a:solidFill>
                  </a:tcPr>
                </a:tc>
                <a:tc>
                  <a:txBody>
                    <a:bodyPr/>
                    <a:lstStyle/>
                    <a:p>
                      <a:r>
                        <a:rPr sz="1200" b="0">
                          <a:solidFill>
                            <a:srgbClr val="1F2937"/>
                          </a:solidFill>
                        </a:rPr>
                        <a:t>1-2 ta, zigzag, qiyshiq yoki uzunasiga</a:t>
                      </a:r>
                    </a:p>
                  </a:txBody>
                  <a:tcPr marL="73152" marR="73152" marT="36576" marB="36576">
                    <a:solidFill>
                      <a:srgbClr val="E8EEF6"/>
                    </a:solidFill>
                  </a:tcPr>
                </a:tc>
              </a:tr>
              <a:tr h="411480">
                <a:tc>
                  <a:txBody>
                    <a:bodyPr/>
                    <a:lstStyle/>
                    <a:p>
                      <a:r>
                        <a:rPr sz="1200" b="0">
                          <a:solidFill>
                            <a:srgbClr val="1F2937"/>
                          </a:solidFill>
                        </a:rPr>
                        <a:t>Sinish yuzasi</a:t>
                      </a:r>
                    </a:p>
                  </a:txBody>
                  <a:tcPr marL="73152" marR="73152" marT="36576" marB="36576">
                    <a:solidFill>
                      <a:srgbClr val="FFFFFF"/>
                    </a:solidFill>
                  </a:tcPr>
                </a:tc>
                <a:tc>
                  <a:txBody>
                    <a:bodyPr/>
                    <a:lstStyle/>
                    <a:p>
                      <a:r>
                        <a:rPr sz="1200" b="0">
                          <a:solidFill>
                            <a:srgbClr val="1F2937"/>
                          </a:solidFill>
                        </a:rPr>
                        <a:t>Suyakka perpendikulyar</a:t>
                      </a:r>
                    </a:p>
                  </a:txBody>
                  <a:tcPr marL="73152" marR="73152" marT="36576" marB="36576">
                    <a:solidFill>
                      <a:srgbClr val="FFFFFF"/>
                    </a:solidFill>
                  </a:tcPr>
                </a:tc>
                <a:tc>
                  <a:txBody>
                    <a:bodyPr/>
                    <a:lstStyle/>
                    <a:p>
                      <a:r>
                        <a:rPr sz="1200" b="0">
                          <a:solidFill>
                            <a:srgbClr val="1F2937"/>
                          </a:solidFill>
                        </a:rPr>
                        <a:t>Suyakka burchak ostida</a:t>
                      </a:r>
                    </a:p>
                  </a:txBody>
                  <a:tcPr marL="73152" marR="73152" marT="36576" marB="36576">
                    <a:solidFill>
                      <a:srgbClr val="FFFFFF"/>
                    </a:solidFill>
                  </a:tcPr>
                </a:tc>
              </a:tr>
              <a:tr h="411480">
                <a:tc>
                  <a:txBody>
                    <a:bodyPr/>
                    <a:lstStyle/>
                    <a:p>
                      <a:r>
                        <a:rPr sz="1200" b="0">
                          <a:solidFill>
                            <a:srgbClr val="1F2937"/>
                          </a:solidFill>
                        </a:rPr>
                        <a:t>Sinish chetlari</a:t>
                      </a:r>
                    </a:p>
                  </a:txBody>
                  <a:tcPr marL="73152" marR="73152" marT="36576" marB="36576">
                    <a:solidFill>
                      <a:srgbClr val="E8EEF6"/>
                    </a:solidFill>
                  </a:tcPr>
                </a:tc>
                <a:tc>
                  <a:txBody>
                    <a:bodyPr/>
                    <a:lstStyle/>
                    <a:p>
                      <a:r>
                        <a:rPr sz="1200" b="0">
                          <a:solidFill>
                            <a:srgbClr val="1F2937"/>
                          </a:solidFill>
                        </a:rPr>
                        <a:t>Tekis yoki mayda tishli, edirilishsiz</a:t>
                      </a:r>
                    </a:p>
                  </a:txBody>
                  <a:tcPr marL="73152" marR="73152" marT="36576" marB="36576">
                    <a:solidFill>
                      <a:srgbClr val="E8EEF6"/>
                    </a:solidFill>
                  </a:tcPr>
                </a:tc>
                <a:tc>
                  <a:txBody>
                    <a:bodyPr/>
                    <a:lstStyle/>
                    <a:p>
                      <a:r>
                        <a:rPr sz="1200" b="0">
                          <a:solidFill>
                            <a:srgbClr val="1F2937"/>
                          </a:solidFill>
                        </a:rPr>
                        <a:t>Notekis, yirik tishli, edirilish bilan</a:t>
                      </a:r>
                    </a:p>
                  </a:txBody>
                  <a:tcPr marL="73152" marR="73152" marT="36576" marB="36576">
                    <a:solidFill>
                      <a:srgbClr val="E8EEF6"/>
                    </a:solidFill>
                  </a:tcPr>
                </a:tc>
              </a:tr>
              <a:tr h="411480">
                <a:tc>
                  <a:txBody>
                    <a:bodyPr/>
                    <a:lstStyle/>
                    <a:p>
                      <a:r>
                        <a:rPr sz="1200" b="0">
                          <a:solidFill>
                            <a:srgbClr val="1F2937"/>
                          </a:solidFill>
                        </a:rPr>
                        <a:t>Bo‘laklar</a:t>
                      </a:r>
                    </a:p>
                  </a:txBody>
                  <a:tcPr marL="73152" marR="73152" marT="36576" marB="36576">
                    <a:solidFill>
                      <a:srgbClr val="FFFFFF"/>
                    </a:solidFill>
                  </a:tcPr>
                </a:tc>
                <a:tc>
                  <a:txBody>
                    <a:bodyPr/>
                    <a:lstStyle/>
                    <a:p>
                      <a:r>
                        <a:rPr sz="1200" b="0">
                          <a:solidFill>
                            <a:srgbClr val="1F2937"/>
                          </a:solidFill>
                        </a:rPr>
                        <a:t>Siniq bo‘laklari yo‘q; zich mos keladi</a:t>
                      </a:r>
                    </a:p>
                  </a:txBody>
                  <a:tcPr marL="73152" marR="73152" marT="36576" marB="36576">
                    <a:solidFill>
                      <a:srgbClr val="FFFFFF"/>
                    </a:solidFill>
                  </a:tcPr>
                </a:tc>
                <a:tc>
                  <a:txBody>
                    <a:bodyPr/>
                    <a:lstStyle/>
                    <a:p>
                      <a:r>
                        <a:rPr sz="1200" b="0">
                          <a:solidFill>
                            <a:srgbClr val="1F2937"/>
                          </a:solidFill>
                        </a:rPr>
                        <a:t>Bo‘laklar bo‘lishi mumkin; mos tushmaydi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Egilishda ikki tomon belgilari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42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Boshqa deformatsiyalar va qobirg‘a sinishi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Siqilishda ikki kuch bir-biriga qarab ta’sir etadi. Rels g‘ildiragi majaqlangan sinish, balandlikdan yiqilish umurtqaning kompression sinishini beradi.</a:t>
            </a:r>
          </a:p>
          <a:p>
            <a:pPr>
              <a:spcAft>
                <a:spcPts val="1200"/>
              </a:spcAft>
            </a:pPr>
            <a:r>
              <a:rPr sz="2000">
                <a:solidFill>
                  <a:srgbClr val="1F2937"/>
                </a:solidFill>
                <a:latin typeface="Calibri"/>
              </a:rPr>
              <a:t>▸  Cho‘zilish kam uchraydi va bilvosita sinish beradi. Buralish ko‘proq son va boldirda bilvosita spiralsimon sinish hosil qiladi.</a:t>
            </a:r>
          </a:p>
          <a:p>
            <a:pPr>
              <a:spcAft>
                <a:spcPts val="1200"/>
              </a:spcAft>
            </a:pPr>
            <a:r>
              <a:rPr sz="2000">
                <a:solidFill>
                  <a:srgbClr val="1F2937"/>
                </a:solidFill>
                <a:latin typeface="Calibri"/>
              </a:rPr>
              <a:t>▸  Qobirg‘aning bevosita sinishida tashqi plastinkada siqilish, ichki plastinkada cho‘zilish belgilari bo‘ladi. Bilvosita sinishda teskarisi, tashqi jarohat odatda yo‘q.</a:t>
            </a:r>
          </a:p>
          <a:p>
            <a:pPr>
              <a:spcAft>
                <a:spcPts val="1200"/>
              </a:spcAft>
            </a:pPr>
            <a:r>
              <a:rPr sz="2000">
                <a:solidFill>
                  <a:srgbClr val="1F2937"/>
                </a:solidFill>
                <a:latin typeface="Calibri"/>
              </a:rPr>
              <a:t>▸  Diqqat: yurak massajida to‘sh bevosita, qobirg‘alar bilvosita sinadi; uni zarbdan farqlash qiyin. Chiqishlar esa hamisha bilvosita, tashqi jarohat xos emas.</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42, 42-43, 43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Yiqilish jarohatlari: balandlikdan yiqilish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86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Balandlikdan yiqilish: bevosita, bosqichli, erkin bo‘lmagan; aktiv yiqilishda tana dastlabki tezlanish oladi.</a:t>
            </a:r>
          </a:p>
          <a:p>
            <a:pPr>
              <a:spcAft>
                <a:spcPts val="800"/>
              </a:spcAft>
            </a:pPr>
            <a:r>
              <a:rPr sz="1800">
                <a:solidFill>
                  <a:srgbClr val="1F2937"/>
                </a:solidFill>
                <a:latin typeface="Calibri"/>
              </a:rPr>
              <a:t>▸  Asosiy jarohatlarning aksariyati V bosqichda, yuza bilan zarblanganda hosil bo‘ladi; ikkilamchi jarohatlar VI bosqichda.</a:t>
            </a:r>
          </a:p>
          <a:p>
            <a:pPr>
              <a:spcAft>
                <a:spcPts val="800"/>
              </a:spcAft>
            </a:pPr>
            <a:r>
              <a:rPr sz="1800">
                <a:solidFill>
                  <a:srgbClr val="1F2937"/>
                </a:solidFill>
                <a:latin typeface="Calibri"/>
              </a:rPr>
              <a:t>▸  Bosh bilan tushsa kalla va miya, oyoq panjasi bilan tushsa tovon, tupiq, boldir-oshiq shikastlanadi.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I-II: burilish va aylanish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III: tayanchdan ajralish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IV: parvoz</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 yuza bilan zarblanish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VI: inersiya, ikkilamchi zarb</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Yiqilish bosqichlari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44, 45-46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Yuzaga yiqilish va tibbiy yordam talablari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Yuzaga yiqilish uch bosqichli: muvozanat yo‘qoladi, yiqilish boshlanadi (jarohat yo‘q), yuza bilan zarblanganda asosiy jarohat hosil bo‘ladi.</a:t>
            </a:r>
          </a:p>
          <a:p>
            <a:pPr>
              <a:spcAft>
                <a:spcPts val="1200"/>
              </a:spcAft>
            </a:pPr>
            <a:r>
              <a:rPr sz="2200">
                <a:solidFill>
                  <a:srgbClr val="1F2937"/>
                </a:solidFill>
                <a:latin typeface="Calibri"/>
              </a:rPr>
              <a:t>▸  Orqaga yiqilganda miya shikasti zarb joyiga qarama-qarshi (akszarb) sohada kuchliroq. Yuz bilan yiqilganda akszarb jarohat bo‘lmaydi.</a:t>
            </a:r>
          </a:p>
          <a:p>
            <a:pPr>
              <a:spcAft>
                <a:spcPts val="1200"/>
              </a:spcAft>
            </a:pPr>
            <a:r>
              <a:rPr sz="2200">
                <a:solidFill>
                  <a:srgbClr val="1F2937"/>
                </a:solidFill>
                <a:latin typeface="Calibri"/>
              </a:rPr>
              <a:t>▸  Diqqat: balandlikdan yiqilishdan farqli, yuzaga yiqilishda ikkilamchi jarohatlar bo‘lmaydi va ichki a’zolar lat eyishi xos emas.</a:t>
            </a:r>
          </a:p>
          <a:p>
            <a:pPr>
              <a:spcAft>
                <a:spcPts val="1200"/>
              </a:spcAft>
            </a:pPr>
            <a:r>
              <a:rPr sz="2200">
                <a:solidFill>
                  <a:srgbClr val="1F2937"/>
                </a:solidFill>
                <a:latin typeface="Calibri"/>
              </a:rPr>
              <a:t>▸  Jabrlanganning kiyim va poyafzali qo‘shimcha shikastsiz olinib, qisqa vaqtda huquqni muhofaza etuvchi idoralarga beriladi: unda hodisa izlari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47, 47-48</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O‘tkir jismlardan shikastlanish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Yoy radiusi 0,1 mm va undan kichik bo‘lsa, jism chekkasi o‘tkir uch yoki o‘tkir dam hisoblanadi.</a:t>
            </a:r>
          </a:p>
          <a:p>
            <a:pPr>
              <a:spcAft>
                <a:spcPts val="800"/>
              </a:spcAft>
            </a:pPr>
            <a:r>
              <a:rPr sz="1800">
                <a:solidFill>
                  <a:srgbClr val="1F2937"/>
                </a:solidFill>
                <a:latin typeface="Calibri"/>
              </a:rPr>
              <a:t>▸  O‘tkir jismda to‘qima avval ajraladi, keyin ezilishi mumkin. Jarohat doim bevosita bo‘ladi.</a:t>
            </a:r>
          </a:p>
          <a:p>
            <a:pPr>
              <a:spcAft>
                <a:spcPts val="800"/>
              </a:spcAft>
            </a:pPr>
            <a:r>
              <a:rPr sz="1800">
                <a:solidFill>
                  <a:srgbClr val="1F2937"/>
                </a:solidFill>
                <a:latin typeface="Calibri"/>
              </a:rPr>
              <a:t>▸  Diqqat: bitta pichoq ta’sir burchagiga qarab sanchma, kesma yoki sanchma-kesma yara qoldiradi.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128893"/>
                <a:gridCol w="2138956"/>
                <a:gridCol w="2020125"/>
              </a:tblGrid>
              <a:tr h="411480">
                <a:tc>
                  <a:txBody>
                    <a:bodyPr/>
                    <a:lstStyle/>
                    <a:p>
                      <a:r>
                        <a:rPr sz="1300" b="1">
                          <a:solidFill>
                            <a:srgbClr val="FFFFFF"/>
                          </a:solidFill>
                        </a:rPr>
                        <a:t>Jism</a:t>
                      </a:r>
                    </a:p>
                  </a:txBody>
                  <a:tcPr marL="73152" marR="73152" marT="36576" marB="36576">
                    <a:solidFill>
                      <a:srgbClr val="0B1F3A"/>
                    </a:solidFill>
                  </a:tcPr>
                </a:tc>
                <a:tc>
                  <a:txBody>
                    <a:bodyPr/>
                    <a:lstStyle/>
                    <a:p>
                      <a:r>
                        <a:rPr sz="1300" b="1">
                          <a:solidFill>
                            <a:srgbClr val="FFFFFF"/>
                          </a:solidFill>
                        </a:rPr>
                        <a:t>Yara shakli</a:t>
                      </a:r>
                    </a:p>
                  </a:txBody>
                  <a:tcPr marL="73152" marR="73152" marT="36576" marB="36576">
                    <a:solidFill>
                      <a:srgbClr val="0B1F3A"/>
                    </a:solidFill>
                  </a:tcPr>
                </a:tc>
                <a:tc>
                  <a:txBody>
                    <a:bodyPr/>
                    <a:lstStyle/>
                    <a:p>
                      <a:r>
                        <a:rPr sz="1300" b="1">
                          <a:solidFill>
                            <a:srgbClr val="FFFFFF"/>
                          </a:solidFill>
                        </a:rPr>
                        <a:t>Muhim belgi</a:t>
                      </a:r>
                    </a:p>
                  </a:txBody>
                  <a:tcPr marL="73152" marR="73152" marT="36576" marB="36576">
                    <a:solidFill>
                      <a:srgbClr val="0B1F3A"/>
                    </a:solidFill>
                  </a:tcPr>
                </a:tc>
              </a:tr>
              <a:tr h="411480">
                <a:tc>
                  <a:txBody>
                    <a:bodyPr/>
                    <a:lstStyle/>
                    <a:p>
                      <a:r>
                        <a:rPr sz="1200" b="0">
                          <a:solidFill>
                            <a:srgbClr val="1F2937"/>
                          </a:solidFill>
                        </a:rPr>
                        <a:t>Kesuvchi</a:t>
                      </a:r>
                    </a:p>
                  </a:txBody>
                  <a:tcPr marL="73152" marR="73152" marT="36576" marB="36576">
                    <a:solidFill>
                      <a:srgbClr val="E8EEF6"/>
                    </a:solidFill>
                  </a:tcPr>
                </a:tc>
                <a:tc>
                  <a:txBody>
                    <a:bodyPr/>
                    <a:lstStyle/>
                    <a:p>
                      <a:r>
                        <a:rPr sz="1200" b="0">
                          <a:solidFill>
                            <a:srgbClr val="1F2937"/>
                          </a:solidFill>
                        </a:rPr>
                        <a:t>Urchuqsimon, chetlari ochilib turadi</a:t>
                      </a:r>
                    </a:p>
                  </a:txBody>
                  <a:tcPr marL="73152" marR="73152" marT="36576" marB="36576">
                    <a:solidFill>
                      <a:srgbClr val="E8EEF6"/>
                    </a:solidFill>
                  </a:tcPr>
                </a:tc>
                <a:tc>
                  <a:txBody>
                    <a:bodyPr/>
                    <a:lstStyle/>
                    <a:p>
                      <a:r>
                        <a:rPr sz="1200" b="0">
                          <a:solidFill>
                            <a:srgbClr val="1F2937"/>
                          </a:solidFill>
                        </a:rPr>
                        <a:t>Uzunligi chuqurligidan ancha katta</a:t>
                      </a:r>
                    </a:p>
                  </a:txBody>
                  <a:tcPr marL="73152" marR="73152" marT="36576" marB="36576">
                    <a:solidFill>
                      <a:srgbClr val="E8EEF6"/>
                    </a:solidFill>
                  </a:tcPr>
                </a:tc>
              </a:tr>
              <a:tr h="411480">
                <a:tc>
                  <a:txBody>
                    <a:bodyPr/>
                    <a:lstStyle/>
                    <a:p>
                      <a:r>
                        <a:rPr sz="1200" b="0">
                          <a:solidFill>
                            <a:srgbClr val="1F2937"/>
                          </a:solidFill>
                        </a:rPr>
                        <a:t>Sanchuvchi</a:t>
                      </a:r>
                    </a:p>
                  </a:txBody>
                  <a:tcPr marL="73152" marR="73152" marT="36576" marB="36576">
                    <a:solidFill>
                      <a:srgbClr val="FFFFFF"/>
                    </a:solidFill>
                  </a:tcPr>
                </a:tc>
                <a:tc>
                  <a:txBody>
                    <a:bodyPr/>
                    <a:lstStyle/>
                    <a:p>
                      <a:r>
                        <a:rPr sz="1200" b="0">
                          <a:solidFill>
                            <a:srgbClr val="1F2937"/>
                          </a:solidFill>
                        </a:rPr>
                        <a:t>Jism kesimiga mos (oval, yoriqsimon)</a:t>
                      </a:r>
                    </a:p>
                  </a:txBody>
                  <a:tcPr marL="73152" marR="73152" marT="36576" marB="36576">
                    <a:solidFill>
                      <a:srgbClr val="FFFFFF"/>
                    </a:solidFill>
                  </a:tcPr>
                </a:tc>
                <a:tc>
                  <a:txBody>
                    <a:bodyPr/>
                    <a:lstStyle/>
                    <a:p>
                      <a:r>
                        <a:rPr sz="1200" b="0">
                          <a:solidFill>
                            <a:srgbClr val="1F2937"/>
                          </a:solidFill>
                        </a:rPr>
                        <a:t>Ichki qon ketish tashqidan kuchli</a:t>
                      </a:r>
                    </a:p>
                  </a:txBody>
                  <a:tcPr marL="73152" marR="73152" marT="36576" marB="36576">
                    <a:solidFill>
                      <a:srgbClr val="FFFFFF"/>
                    </a:solidFill>
                  </a:tcPr>
                </a:tc>
              </a:tr>
              <a:tr h="411480">
                <a:tc>
                  <a:txBody>
                    <a:bodyPr/>
                    <a:lstStyle/>
                    <a:p>
                      <a:r>
                        <a:rPr sz="1200" b="0">
                          <a:solidFill>
                            <a:srgbClr val="1F2937"/>
                          </a:solidFill>
                        </a:rPr>
                        <a:t>Sanchuvchi-kesuvchi</a:t>
                      </a:r>
                    </a:p>
                  </a:txBody>
                  <a:tcPr marL="73152" marR="73152" marT="36576" marB="36576">
                    <a:solidFill>
                      <a:srgbClr val="E8EEF6"/>
                    </a:solidFill>
                  </a:tcPr>
                </a:tc>
                <a:tc>
                  <a:txBody>
                    <a:bodyPr/>
                    <a:lstStyle/>
                    <a:p>
                      <a:r>
                        <a:rPr sz="1200" b="0">
                          <a:solidFill>
                            <a:srgbClr val="1F2937"/>
                          </a:solidFill>
                        </a:rPr>
                        <a:t>Bir dam o‘tkir bo‘lsa — “P” simon</a:t>
                      </a:r>
                    </a:p>
                  </a:txBody>
                  <a:tcPr marL="73152" marR="73152" marT="36576" marB="36576">
                    <a:solidFill>
                      <a:srgbClr val="E8EEF6"/>
                    </a:solidFill>
                  </a:tcPr>
                </a:tc>
                <a:tc>
                  <a:txBody>
                    <a:bodyPr/>
                    <a:lstStyle/>
                    <a:p>
                      <a:r>
                        <a:rPr sz="1200" b="0">
                          <a:solidFill>
                            <a:srgbClr val="1F2937"/>
                          </a:solidFill>
                        </a:rPr>
                        <a:t>Chetlarida shilinish xos emas</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O‘tkir jism turlari va yaralari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48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Chopuvchi va arralovchi jismlar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Chopuvchi jismlar (bolta, tesha, o‘roq, belkurak) o‘tkir dam va katta massaga ega. Zarb bilan to‘qimani kesib ajratadi.</a:t>
            </a:r>
          </a:p>
          <a:p>
            <a:pPr>
              <a:spcAft>
                <a:spcPts val="1200"/>
              </a:spcAft>
            </a:pPr>
            <a:r>
              <a:rPr sz="2200">
                <a:solidFill>
                  <a:srgbClr val="1F2937"/>
                </a:solidFill>
                <a:latin typeface="Calibri"/>
              </a:rPr>
              <a:t>▸  Chopma jarohatlar ko‘lamli bo‘lib, ko‘pincha bosh va qo‘lda joylashadi. Suyak, miya shikastlanishi va tana qismining ajralishi mumkin.</a:t>
            </a:r>
          </a:p>
          <a:p>
            <a:pPr>
              <a:spcAft>
                <a:spcPts val="1200"/>
              </a:spcAft>
            </a:pPr>
            <a:r>
              <a:rPr sz="2200">
                <a:solidFill>
                  <a:srgbClr val="1F2937"/>
                </a:solidFill>
                <a:latin typeface="Calibri"/>
              </a:rPr>
              <a:t>▸  Voqea tafsiloti bo‘yicha chopma jarohatlar ko‘pincha baxtsiz hodisada hosil bo‘ladi. Qotillik va o‘z-o‘zini o‘ldirishda juda kam uchraydi.</a:t>
            </a:r>
          </a:p>
          <a:p>
            <a:pPr>
              <a:spcAft>
                <a:spcPts val="1200"/>
              </a:spcAft>
            </a:pPr>
            <a:r>
              <a:rPr sz="2200">
                <a:solidFill>
                  <a:srgbClr val="1F2937"/>
                </a:solidFill>
                <a:latin typeface="Calibri"/>
              </a:rPr>
              <a:t>▸  Arralovchi jismlardan jarohat kam uchraydi. U uy-ro‘zg‘orda va o‘rmon sanoatida baxtsiz hodisa bo‘ladi, ba’zan murdani qismlashda uchraydi.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53, 54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mustahkamlash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O‘tmas jismdan farqli, o‘tkir jismda to‘qimaning ajralishi birlamchi bo‘ladi. Jarohat doim bevosita bo‘ladi.</a:t>
            </a:r>
          </a:p>
          <a:p>
            <a:pPr>
              <a:spcAft>
                <a:spcPts val="1200"/>
              </a:spcAft>
            </a:pPr>
            <a:r>
              <a:rPr sz="2200">
                <a:solidFill>
                  <a:srgbClr val="1F2937"/>
                </a:solidFill>
                <a:latin typeface="Calibri"/>
              </a:rPr>
              <a:t>▸  Tipik xato: kesma, sanchma va chopma yaralarni aralashtirish. Yara shakli jism tig‘ining tuzilishiga va ta’sir yo‘nalishiga bog‘liq.</a:t>
            </a:r>
          </a:p>
          <a:p>
            <a:pPr>
              <a:spcAft>
                <a:spcPts val="1200"/>
              </a:spcAft>
            </a:pPr>
            <a:r>
              <a:rPr sz="2200">
                <a:solidFill>
                  <a:srgbClr val="1F2937"/>
                </a:solidFill>
                <a:latin typeface="Calibri"/>
              </a:rPr>
              <a:t>▸  Jabrlanganning kiyimini avaylab yechish, xona haroratida quritish va qog‘ozli o‘ramga solib tergovchiga topshirish kerak.</a:t>
            </a:r>
          </a:p>
          <a:p>
            <a:pPr>
              <a:spcAft>
                <a:spcPts val="1200"/>
              </a:spcAft>
            </a:pPr>
            <a:r>
              <a:rPr sz="2200">
                <a:solidFill>
                  <a:srgbClr val="1F2937"/>
                </a:solidFill>
                <a:latin typeface="Calibri"/>
              </a:rPr>
              <a:t>▸  Mexanik jarohatlar o‘tmas, o‘tkir jismlar va o‘q otar qurollardan etkazilganlarga bo‘linadi. Keyingi bo‘lim o‘q otar jarohatlar bo‘lishi mumkin. (?)</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48, 48, 51, 53, 30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86</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Eslab qolish: tashqi ta’sirning 4 turi – fizik, kimyoviy, biologik, ruhiy. Fizik ta’sir esa 5 ta: mexanik, termik, barometrik, elektr, nur. Ruhiy ta’sir natijasini sud psixiatriyasi o‘rganadi.</a:t>
            </a:r>
          </a:p>
          <a:p>
            <a:pPr>
              <a:spcAft>
                <a:spcPts val="1200"/>
              </a:spcAft>
            </a:pPr>
            <a:r>
              <a:rPr sz="1800">
                <a:solidFill>
                  <a:srgbClr val="1F2937"/>
                </a:solidFill>
                <a:latin typeface="Calibri"/>
              </a:rPr>
              <a:t>▸  Hodisa tahlili: yirik arteriya shikastlansa, 500 ml gacha qon ketganda ham o‘lim dastlabki minutlarda yurak qorinchalari fibrillyatsiyasidan bo‘lishi mumkin. Chap qorincha endokardi ostidagi Minakov dog‘lari o‘tkir qon yo‘qotish belgisi.</a:t>
            </a:r>
          </a:p>
          <a:p>
            <a:pPr>
              <a:spcAft>
                <a:spcPts val="1200"/>
              </a:spcAft>
            </a:pPr>
            <a:r>
              <a:rPr sz="1800">
                <a:solidFill>
                  <a:srgbClr val="1F2937"/>
                </a:solidFill>
                <a:latin typeface="Calibri"/>
              </a:rPr>
              <a:t>▸  Qiziqarli fakt: venaga 5-7 kub sm havo kirsa, u sekin qonda erib ketishi mumkin. 10 kub sm va undan ko‘pi tez kirsa o‘limga olib kelishi mumkin. Tekshiruvda Sunsov sinamasi qo‘llanadi: o‘ng qorincha suv ostida teshiladi, havo pufagi chiqsa natija musbat.</a:t>
            </a:r>
          </a:p>
          <a:p>
            <a:pPr>
              <a:spcAft>
                <a:spcPts val="1200"/>
              </a:spcAft>
            </a:pPr>
            <a:r>
              <a:rPr sz="1800">
                <a:solidFill>
                  <a:srgbClr val="1F2937"/>
                </a:solidFill>
                <a:latin typeface="Calibri"/>
              </a:rPr>
              <a:t>▸  Hodisa tahlili: qontalash rangi vaqt bilan o‘zgaradi. Dastlab qizg‘ish-ko‘kimtir, 3-4 sutkada yashil, 6-8 sutkada sariq tus paydo bo‘la boshlaydi. Ko‘z, lab shilliq qavati va bo‘yindagi qontalashlar tuslanmaydi, faqat oqarib yo‘qoladi.</a:t>
            </a:r>
          </a:p>
          <a:p>
            <a:pPr>
              <a:spcAft>
                <a:spcPts val="1200"/>
              </a:spcAft>
            </a:pPr>
            <a:r>
              <a:rPr sz="1800">
                <a:solidFill>
                  <a:srgbClr val="1F2937"/>
                </a:solidFill>
                <a:latin typeface="Calibri"/>
              </a:rPr>
              <a:t>▸  Diqqat, xato xavfi: shilinma ≠ pergament dog‘i. Pergament dog‘i o‘limdan keyingi qurish belgisi, sariq-jigarrang, qoplama hosil bo‘lmaydi va hayotiy jarohat belgilari topilmaydi.</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86</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Bemorning ko‘krak qafasida bitta sanchma yara aniqlandi. Boshqa shikast yo‘q. Jarohat tasnifi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Murakkab, qo‘sh, ko‘p shikastlanish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Oddiy, cheklangan, yakka shikastlanish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Oddiy, qo‘sh, ko‘p shikastlanish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Murakkab, cheklangan, yakka shikastlanish</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86</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Zarbdan so‘ng refleksogen sohada shok rivojlandi. Morfologik o‘zgarish ozroq, funksiya buzilishi birinchi o‘rinda. U qaysi guruhga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Shilinma va yara kabi anatomik guruhga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murakkab jarohatlar guruhiga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Asosan funksional shikastlanishlar guruhiga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Ruhiy ta’sir natijalari guruhiga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86</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Qurilish maydonida ishlovchi bir guruh ishchilarda turdosh jarohatlar kuzatildi. Bu qaysi travmatizm turiga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Ishlab chiqarish travmatizmiga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Transport travmatizmiga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Maishiy travmatizmga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Maktab travmatizmiga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86</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Shikastlovchi tashqi ta’sirning to‘rt turidan qaysi birining natijalarini odatda sud psixiatriyasi o‘rganadi?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Fizik ta’sir natijalarini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Kimyoviy ta’sir natijalarini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Biologik ta’sir natijalarini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Ruhiy ta’sir natijalarini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86</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Radiatsion izotop manbai bilan ishlagan xodim nurlanish natijasida shikastlandi. Bu fizik ta’sirning qaysi turchasi?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Mexanik ta’sir</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Nur ta’sir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Termik ta’sir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Barometrik ta’sir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86</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Qurilish maydonida bir xil mehnat sharoitidagi ishchilarda turdosh jarohatlar kuzatildi. Bu jarohatlar majmui nima deb ataladi?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Yakka jarohat</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Travmatizm</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Qo‘sh jarohat</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Oddiy jarohat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86</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Sud-tibbiy amaliyotda jarohatlarning hayotiyligini aniqlash nima uchun o‘ta muhim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Jarohat turini nomlash uchun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Davolash usulini tanlash uchun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Jarohat joyini o‘lchash uchun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O‘limdan keyingi jarohatni ajratish uchun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86</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 tekshiruvida nafas yo‘llarida qon aspiratsiyasi va regional limfa tugunlarida eritrotsitlar topildi. Bu belgilar hayotiylikning qaysi guruhiga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Umumiy belgilar</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Mahalliy belgilar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Tasniflash belgilari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Murdaviy belgilar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86</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Quyidagilardan qaysi biri jarohat hayotiyligining mahalliy belgisi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Siydikda mioglobin bo‘lishi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Nafas yo‘llarida qon aspiratsiyasi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Jarohat atrofidagi reaktiv shish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Limfa tugunlarida eritrofagiya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86</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Klinitsist jarohatni yuzaki o‘rganib, tibbiy hujjatga faqat diagnozni yozdi. Keyingi ekspertiza uchun bu qanday oqibat tug‘diradi?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Ekspertiza avtomatik tezlashadi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Ekspertiza vazifalarini bajarish qiyinlashadi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Jarohat hayotiyligi aniqlanadi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Jarohat muddati qat’iy belgilanadi</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86</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Yirik arteriya shikastlangan, 500 ml gacha qon yo‘qotilgan va o‘lim dastlabki minutlarda yuz bergan. Murda ochilganda chap qorincha endokardi ostida tasmasimon qon quyilishlar topildi. Bu qon quyilishlar nima deb ataladi?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Minakov dog‘lari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Pergament dog‘lari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Murda dog‘lari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Endokard dog‘lari</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86</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Murdada havo emboliyasiga shubha bor. Perikard bo‘shlig‘iga suv quyilib, skalpel uchi bilan o‘ng qorincha devori teshilganda suvdan havo pufakchalari chiqdi. Qaysi sinama musbat natija berdi?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Sudan III bilan bo‘yash usuli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Sunsov sinamasi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Minakov dog‘lari topilishi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Rentgenografik tekshiruv</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86</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Son suyagi sinishidan 2-3 kun o‘tib shaxs vafot etdi, yog‘ emboliyasiga shubha bor. Diagnostikada qaysi usul qo‘llanadi?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Perikardga suv quyib, qorinchani teshish sinamasi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Chap qorincha endokardini tashqi ko‘zdan kechirish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O‘pka va miya muzlatilgan kesmalarini Sudan bilan bo‘yash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Siydik va buyrak naychalarida mioglobinni aniqlash</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86</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Impression travma qachon vujudga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Ta’sir kuchi tana massasidan ancha katta bo‘lganda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Tana yuza bo‘ylab burchak ostida harakatlanganda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Ikki kuch bir-biriga qarab uzoq ta’sir etganda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Jism massasi shikastlangan soha massasidan kichik bo‘lganda</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86</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Shilinma yuzasi avval nam, keyin quruq, sog‘lom teri sathidan past. Shilinmaning qaysi bosqichi bu?</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Qoplama hosil bo‘lish bosqichi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Yangi shilinma bosqichi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Epitelizatsiya bosqichi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Iz bosqichi</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86</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 ekspertizasida terida sariq-jigarrang dog‘ topildi. U atrofdagi teri sathida yoki pastroq, qoplama hosil bo‘lmagan, hayotiy jarohat belgilari yo‘q. Bu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Pergament dog‘i, o‘limdan keyingi qurish belgisi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Yangi shilinma, hayotiy jarohatning dastlabki bosqichi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Chuqur shilinma, qoplama hosil bo‘layotgan bosqich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Timalma, chiziqsimon shilinmaning bir ko‘rinishi</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86</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Qontalashda biokimyoviy o‘zgarishlar tufayli yashil tus taxminan qaysi sutkalarda paydo bo‘la boshlaydi?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Birinchi-ikkinchi sutkalarda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Uchinchi-to‘rtinchi sutkalarda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Oltinchi-sakkizinchi sutkalarda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O‘ninchi-o‘n beshinchi sutkalarda</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86</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Qobirg‘a sinishi sohasida tashqi suyak plastinkasida siqilish, ichki plastinkada cho‘zilish belgilari aniqlandi. Bu qanday sinish?</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Bilvosita sinish, yurak massaji jarayonida hosil bo‘lgan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Chala sinish, darz ketish ko‘rinishidagi noto‘liq turi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Bevosita sinish, zarb ta’siri joyida vujudga kelgan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Spiralsimon sinish, buralish mexanizmida hosil bo‘lgan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86</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Shaxs o‘z bo‘yi balandligidan orqaga yiqilib, ensasi bilan urildi. Bosh miya shikastlanishi qayerda kuchliroq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zarb tushgan ensa ostidagi miya qismida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Miya shikastlanmaydi, faqat teri jarohati bo‘ladi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orqa miyaning bo‘yin qismi sohasida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Zarb sohasiga qarama-qarshi joylarda, aks zarb sohalarida</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86</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Bolta chopqisi tanaga to‘liq kirgan holatda yara uchlari qanday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O‘tmas, ba’zan qo‘shimcha yoriqlar bilan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O‘tkir, chetlari mayda tishli bo‘lib</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yoysimon, chetlari tekis shaklda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O‘tkir va hech qanday yoriqsiz holatda</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86</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Oddiy, cheklangan, yakka shikastlanish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Bitta omil ta’siri oddiy jarohat deyiladi. Bitta anatomik soha (ko‘krak) cheklangan jarohatdir. Bitta yara esa yakka shikastlanishdir.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86</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Asosan funksional shikastlanishlar guruhiga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Refleksogen sohaga zarbdan shok, miya chayqalishi, aspiratsion asfiksiya asosan funksional shikastlanishlarga kiradi. Anatomik guruhga shilinma, yara, sinish kiradi.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86</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Ishlab chiqarish travmatizmiga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Ishlab chiqarish travmatizmi sanoat, qishloq xo‘jaligi va qurilish travmatizmiga bo‘linadi. Shuning uchun qurilishdagi jarohatlar shu turga kiradi.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27-bet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86</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Ruhiy ta’sir natijalarini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Fizik, kimyoviy, biologik va ruhiy ta’sirlardan faqat ruhiy ta’sir natijalarini sud psixiatriyasi o‘rganadi. Bunda sud-psixiatrik ekspertiza tayinlanadi.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86</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Nur ta’sir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Fizik ta’sir turchalari: mexanik, termik, barometrik, elektr va nur. Rentgen nurlari, izotoplar va boshqa nurlanish manbalari nur ta’sirga kiradi.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86</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Travmatizm</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Bir xil mehnat va turmush sharoitidagi shaxslar guruhida kuzatiladigan turdosh jarohatlar majmui travmatizm deb ataladi. Qurilish ishlab chiqarish travmatizmining bir ko‘rinishidir. Yakka, qo‘sh va oddiy jarohat esa jarohatlarni soni, sohasi va omiliga qarab tasniflash atamalaridir.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27-bet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86</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O‘limdan keyingi jarohatni ajratish uchun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Ba’zan jarohatlar shaxs o‘limidan so‘ng qasddan yoki tasodifan etkazilishi mumkin. Hayotiylik belgilari ularni tirik paytda olingan jarohatlardan farqlashga imkon beradi.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28-bet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86</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Umumiy belgilar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Nafas yo‘llarida qon va yot moddalar aspiratsiyasi hamda regional limfa tugunlarida eritrotsitlar bo‘lishi (eritrofagiya) hayotiylikning umumiy belgilari ro‘yxatiga kiradi.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28-bet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86</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Jarohat atrofidagi reaktiv shish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Shikastlangan to‘qimaning reaktiv shishi mahalliy belgilar qatoriga kiradi. Qolgan variantlar umumiy belgilar ro‘yxatida keltirilgan.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28-bet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86</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Ekspertiza vazifalarini bajarish qiyinlashadi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Hujjatlar keyinchalik ekspertizaga taqdim etiladi. Jarohatning yuzaki o‘rganilishi, notoliq tavsif yoki faqat diagnoz yozilishi ekspertiza vazifalarini bajarishda jiddiy qiyinchilik tug‘diradi.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29-bet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86</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Minakov dog‘lari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Chap qorincha endokardi ostidagi tasmasimon qon quyilishlar Minakov dog‘lari deyiladi va o‘tkir qon yo‘qotish uchun xos. Ular yurak ichidagi bosim keskin pasayishi va adashgan nervning kuchli ta’sirlanishidan paydo bo‘ladi. Pergament dog‘lari esa o‘limdan keyingi qurish belgisi.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31-bet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86</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Sunsov sinamasi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Havo emboliyasiga shubha bo‘lganda ichki tekshiruv ko‘krak qafasidan boshlanadi. Suvga havo pufakchalarining chiqishi Sunsov sinamasining musbat natijasi hisoblanadi. Sudan III va IV esa yog‘ emboliyasini aniqlashda ishlatiladi.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31-32-bet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86</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O‘pka va miya muzlatilgan kesmalarini Sudan bilan bo‘yash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Yog‘ emboliyasida o‘pka va bosh miyaning muzlatilgan kesmalari Sudan III yoki Sudan IV bilan bo‘yaladi. Mikroskopda qon tomirlardagi yog‘ tomchilari Sudan III da olovrang qizil, Sudan IV da qora ko‘rinadi. O‘lim odatda shikastlanishdan 2-3 kun o‘tib sodir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32-bet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86</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Jism massasi shikastlangan soha massasidan kichik bo‘lganda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Shikastlovchi jism massasi tananing shikastlanayotgan sohasi massasidan kichik bo‘lsa, impression travma vujudga keladi va shikastlanish faqat ta’sir sohasi bilan cheklanadi. Ta’sir kuchi juda katta bo‘lganda inersion (tezlanish) travmasi rivojlanadi.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34-bet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86</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Yangi shilinma bosqichi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Yangi shilinma bosqichida yuza avval nam bo‘ladi, so‘ng quriydi va sog‘lom teri sathidan past turadi. Bu bosqich 12 soatgacha davom etadi. Keyingi bosqichlarda qoplama hosil bo‘ladi, so‘ng epitelizatsiya va iz bosqichlari keladi.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36-bet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81 / 86</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Pergament dog‘i, o‘limdan keyingi qurish belgisi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Pergament dog‘i o‘limdan keyin qurish natijasida paydo bo‘ladi. U sariq-jigarrang, atrofdagi teri sathida yoki undan pastroq bo‘ladi, qoplama hosil qilmaydi va hayotiy jarohatga xos o‘zgarishlar uchramaydi. Shuning uchun uni shilinmadan farqlash kerak.</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37-bet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82 / 86</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Uchinchi-to‘rtinchi sutkalarda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Dastlab qontalash qizg‘ish-ko‘kimtir bo‘ladi. Verdogemoxromogen va biliverdin hosil bo‘lgach, 3-4 sutkada yashil tus paydo bo‘ladi. Sariq tus (bilirubin, gemosiderin) 6-8 sutkada ko‘rinadi. Muddatlar taxminiy.</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38-bet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83 / 86</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Bevosita sinish, zarb ta’siri joyida vujudga kelgan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Bevosita sinishda tashqi plastinkada siqilish, ichki plastinkada cho‘zilish belgilari bo‘ladi. Bilvosita sinishda buning teskarisi kuzatiladi va odatda sinish sohasida tashqi jarohat bo‘lmaydi.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43-bet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84 / 86</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Zarb sohasiga qarama-qarshi joylarda, aks zarb sohalarida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Orqaga yiqilganda ensa sohasida shilinma, qontalash, lat yaralar bo‘lishi mumkin. Biroq bosh miya shikastlanishi zarb sohasiga qarama-qarshi joylarda, ya’ni aks zarb sohalarida kuchliroq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47-bet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85 / 86</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O‘tmas, ba’zan qo‘shimcha yoriqlar bilan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Chopqi qism tanaga to‘liq kirganda yara uchlari o‘tmas, ba’zan qo‘shimcha yoriqlar bilan bo‘ladi. Chopqining qalinligi tufayli chekka devorlarda ezilish va majaqlanish belgilari ham paydo bo‘ladi. Faqat o‘tkir dam yoyi ta’sirida yara uchlari o‘tkir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54-bet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Ma’ruza: Sud-tibbiy travmatologiya.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86 / 86</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Sud tibbiyoti: darslik, Toshkent: Global Books nashriyoti. 2018. Bob 2. Sud-tibbiy travmatologiya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