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fizik omillardan o‘lim holatlarida voqea tafsiloti muhim? 2) Qaysi omilda baxtsiz hodisa ko‘proq uchraydi? Doskada chizish: bobning to‘rt bo‘limini (harorat, elektr, bosim, radiatsiya) to‘rt ustun qilib yozing. Tipik xato: talabalar umumiy va mahalliy ta’sirni (issiq urish va kuyish)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issiqlikning yarmidan ko‘pi nurlanish orqali chiqadi? 2) Umumiy va mahalliy ta’sir qanday farqlanadi? Doskada chizish: jadvaldagi to‘rt yo‘lni ulushlari bilan chizing. Tipik xato: ter bilan ajralish ulushini (27%) o‘tkazish ulushi (15%)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Sportchi va harbiy xizmatchilarda issiq urish nima uchun xavfli? 2) Qon quyuqlashishi gipoksiyani qanday kuchaytiradi? Doskada chizish: zanjirni o‘qlar bilan chizing va har bosqichga bittadan sabab yozing. Tipik xato: issiq urishni faqat tashqi haroratga bog‘lash, kiyim va kasalliklar kabi moyillik omillarini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o‘tkir shakl faqat o‘rganmagan organizmda tez o‘limga olib keladi? 2) Qaysi davrda tana harorati eng yuqori bo‘ladi va nega u predagonal deyiladi? Doskada: uch davr zanjirini chizib, har davrga 2 ta asosiy belgini yozdiring (qo‘zg‘alishda taxikardiya, hansirash; holsizlikda koma, talvasa). Tipik xato: talabalar qo‘zg‘alish davrini holsizlik davri bilan almashtirib yuboradi va 42-43°S dan keyingi o‘lim sababini (nafasning birlamchi to‘xtashi) unutadi.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Ikkala holatda murdadagi o‘zgarishlar nega spetsifik emas va bu ekspertizada qanday qiyinchilik tug‘diradi? 2) Nega murda dog‘lari kech va oz paydo bo‘ladi, murda qotishi esa tez? Doskada: jadvalni ko‘chiring va ’murdada’ qatoriga miya, o‘pka, qotish, dog‘larni qo‘shing. Tipik xato: talabalar quyosh urishida ham issiq urishdagidek yuqori harorat bo‘ladi deb o‘ylaydi, murdada esa ikkala holat uchun maxsus belgi borligini taxmin qiladi.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Talabalarga savollarni og‘zaki berib, 2-3 kishidan javob oling. Muhokama: 1) Bir yoshgacha bo‘lgan bolalar nega issiq urishga o‘ta sezgir? 2) Spetsifik klinik belgilar yo‘qligi nega xato diagnoz qo‘yilishiga olib keladi? Doskada: ’issiq urish ≠ quyosh urishi’ juftligini yozib, ostiga farqlovchi bittadan belgi qo‘ydiring. Tipik xato: moyillik omillari ro‘yxatida sababni (issiqlikning ko‘p ishlanishi, kam ajralishi) omillar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nega yupqa terili sohalarda kuyish chuqurroq bo‘ladi? Murdada I va II daraja farqi nimada? Doskada: to‘rt darajali jadvalni talabalar bilan birga chizing. Tipik xato: IV darajani har qanday manbadan bo‘ladi deb o‘ylash; u faqat alanga ta’sirida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issiq suyuqlik oqmalari nega kiyim ostidagi sohalarni ham kuydirishi mumkin? Kuyish izlari jabrlanganning holatini qanday ko‘rsatadi? Doskada: oqmalar va alanga tillari yo‘nalishini ikki tana sxemasida chizing. Tipik xato: tamg‘asimon kuyishni alangadan deb baholash; u qizdirilgan jismga xos.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to‘qqizliklar qoidasi bilan kaft qoidasi qaysi holatda qulay? Kasr shaklidagi diagnozda qavs ichidagi son nimani bildiradi? Doskada: tana sxemasiga 9% va 18% bo‘laklarini yozing. Tipik xato: kasrning surat va mahrajini adashtirish; suratda yuza, mahrajda daraja yoziladi.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shok davrida is gazi va nafas yo‘llari kuyishi xavfni oshiradi? 2) Toksemiya davrida intoksikatsiya nimadan kelib chiqadi (kuyish sohasidagi oqsil parchalanishi mahsulotlarining qonga so‘rilishi)? Doskada chizish: to‘rt davrni o‘q bilan bog‘lab, har davrga muddat va asosiy belgini yozing. Tipik xato: shok davri 1 sutkagacha, ba’zan 2-3 sutkagacha cho‘zilishini va septikotoksemiya muddati oygacha borishini unutish; toksemiyani septikotoksemiya bilan aralashtirish (yiringlash faqat septikotoksemiyada).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qon yurak kameralari va chuqur tomirlardan, mushak esa chuqur qatlamdan olinadi (yuzaki tomirda o‘limdan keyin ham 20%gacha bo‘lishi mumkin)? 2) Yong‘inda o‘lim sababi ko‘pincha nima (is gazi) va murda qachon ko‘mirlanadi? Doskada chizish: qovoq burmasi kesimi va “g‘oz panjasi” belgisini sxematik tasvirlang. Tipik xato: karboksigemoglobin topilishining o‘zini hayotiylik isboti deb hisoblash; foiz chegarasini (20% va 60%) farqlamaslik.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Bokser pozasi alanganing hayotiy ta’sirini isbotlaydimi? (yo‘q, bu o‘limdan keyingi mushak zichlashuvi natijasi). 2) Hayotiylikni isbotlash uchun qaysi belgilarni jamlaysiz (qurum, karboksigemoglobin, karboksimioglobin, g‘oz panjasi, gistologiya)? Doskada chizish: urchuqsimon va o‘roqsimon epidural gematomaning kesimdagi shaklini yonma-yon chizing. Tipik xato: bitta belgiga tayanib xulosa qilish; urchuqsimon va o‘roqsimon gematomani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alkogol mastligi sovuq qotish xavfini oshiradi (teri tomirlari kengayib, issiqlik ajralishi kuchayadi)? 2) Nega sovuq suvda o‘lim havodagiga nisbatan tezroq sodir bo‘ladi? Doskada: to‘rt tugunli bosqichlar zanjirini harorat qiymatlari bilan chizdiring. Tipik xato: kompensatsiya bosqichida tana harorati pasayadi deb o‘ylash; aslida bu bosqichda organizm haroratni normada ushlab turishga harakat qiladi.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bu poza tana yuzasidagi issiqlik ajralishini kamaytiradi? 2) Murda dog‘lari rangi haroratga qanday bog‘liq? Doskada: jadvalni ko‘chirib, har belgi yoniga muallif nomini yozdiring. Tipik xato: qor tagidagi muzni sovuq qotishning spetsifik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Nega Vishnevskiy dog‘lari kichik bolalarda ko‘pincha kuzatilmaydi (o‘lim tez sodir bo‘ladi)? 2) Qip-qizil qon laxtalarining chap yurakda topilishi nimani bildiradi (o‘lim sekin kechgan)? Doskada: jadvaldagi to‘rt belgini muallif nomi bilan juftlab yozdiring. Tipik xato: Puxnarevich (oshqozon) va Fabrikantov (buyrak jomi) belgilarini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tez o‘limda va bolalarda dog‘lar kam bo‘ladi? 2) Dog‘lar nega qo‘ng‘ir-jigar rang tusga kiradi (xlorid kislota ta’sirida nordon gematin hosil bo‘lishi)? Doskada: mexanizm zanjirini chizing va dog‘larning joylashuvini (burmalar tepasi, oshqozonning kirish qismi) belgilang. Tipik xato: dog‘lar yo‘qligidan sovuq qotishni butunlay inkor etish; tez o‘limda ular bo‘lmasligi mumkin.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Siydik va qondagi alkogol miqdori farqi ekspertiza xulosasiga qanday ta’sir qiladi? 2) Muzlashdan hosil bo‘lgan yoriqlarni hayotiy jarohatlardan nega farqlash kerak? Doskada: muzlagan murdani eritish bosqichlarini yozing (xona harorati; tezlatish uchun iliq havo yoki +50°S gacha issiq suv). Tipik xato: muzlash natijasidagi kalla suyaklari sinishini travma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Yashirin va reaktiv davr farqi nimada? 2) Repersussiya fenomeni jabrlangan tomonni baholashda qanday xatoga olib keladi? Doskada: jadvalni ko‘chiring va yoniga og‘irlik mezonlarini (10%, 15%, 20%) yozing. Tipik xato: tananing sovuq qotishi (umumiy ta’sir) bilan sovuq urishini (mahalliy ta’sir) aralashtirish; sovuq qotishdan o‘lganda murdada mahalliy sovuq urish belgilari odatda bo‘lmaydi.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 Muhokama: 1) Poza yo‘q bo‘lsa, sovuq qotishni butunlay inkor etish mumkinmi? 2) Qonda alkogolning pastligi mastlik bo‘lmaganini bildiradimi? Doskaga chizing: murdani ko‘zdan kechirish bosqichlari (poza, tashqi belgilar, ichki belgilar, laboratoriya). Tipik xato: qor tagidagi muz qatlamini past haroratning spetsifik belgisi deb olish. Manbaga ko‘ra bu belgi spetsifik emas, sovub ulgurmagan murda qorga qo‘yilganda ham hosil bo‘ladi (192-bet). Diqqat: Vishnevskiy dog‘larining yo‘qligi sovuq qotishni inkor etmaydi.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kuchlanishi 3000 V dan baland tokda o‘lim kamroq uchraydi (elektr yoyi, kirish sohasida kuyish, qarshilik ortishi)? 2) Nega yuqori chastotali tok fizioterapiyada qo‘llanadi? Doskaga chizing: jadvaldagi to‘rt omilni va ularning chegaralarini. Tipik xato: o‘zgaruvchan tok doim xavfliroq deb o‘ylash. Aslida 500 V da ikkala tokning xavfi tenglashadi, undan yuqorida o‘zgarmas tok xavfliroq. Tezkor savol: xavfsiz kuchlanishning xalqaro me’yori qancha?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elektrotravmada mavsumiylik kuzatiladi? 2) Nega tokning izlari asosan teri va suyakda topiladi? Doskaga chizing: to‘qimalar qarshiligi zanjirini (qondan teriga qarab ortib boradi). Tipik xato: terining qarshiligini doimiy deb hisoblash. Aslida u shox qavat qalinligi, namlik, terlash, ifloslanishga bog‘liq. Eslab qolish: qon eng yaxshi o‘tkazadi, teri eng ko‘p qarshilik qiladi.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nima uchun yurak va miya orqali o‘tadigan sirtmoqlar xavfli? Qadam kuchlanishida qurbon nega yiqilgandan keyin xavf ortadi? Doskada: elektr kraterini va undagi ikki nuqtani (0,8 m) chizdiring. Tipik xato: pastki sirtmoqni har doim xavfsiz deb hisoblash — xavf yiqilgandan so‘ng to‘liq sirtmoq paydo bo‘lganda ortadi.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spetsifik va nospetsifik ta’sirning asosiy farqi nimada? Elektr yoyi ko‘zga qanday ta’sir qiladi? Doskada: to‘rt qatorli jadvalni talabalar bilan birga to‘ldiring. Tipik xato: kiyim alangalanishidan kuyishni spetsifik ta’sir deb hisoblash — bu energiya tanadan tashqarida aylanganda hosil bo‘ladi (nospetsifik).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tamg‘a rangi bo‘yicha o‘tkazgich metallini qanday aniqlash mumkin? Tamg‘a bo‘lmasa elektrotravmani inkor etish mumkinmi? Doskada: tamg‘aning kesimini (krater, ko‘tarilgan chekka) chizing. Eslatma: metall zarrachalarini rangli bosmalar, rentgenologik va emission spektrografiya usullari aniqlaydi. Tipik xato: tamg‘a yo‘qligini tok ta’sirining yo‘qligi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Elektr kuyish nega og‘riqsiz bo‘ladi? 2) Nega dastlabki baho keyin o‘zgaradi? Doskada: 4 o‘lim turi zanjirini chizing, har biriga bittadan misol yozing. Tipik xato: uzilgan o‘limni sekin o‘lim bilan aralashtirish; uzilganda jabrlangan o‘ziga kelib, keyin vafot etadi. Diqqat: o‘ziga kelgan jabrlanganni kuzatuvsiz qoldirish xavfli.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Yashin bilvosita qanday ta’sir qiladi? 2) Kiyim butun bo‘lsa, yashin urishini istisno qilish mumkinmi? Doskada: yashinning 4 ta shikastlovchi omilini diagramma shaklida chizing. Tipik xato: yashin figurasini terining qon quyilishi yoki elektr tamg‘a bilan bir xil deb o‘ylash; figura beqaror, tamg‘a esa kirish-chiqish joyida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Tamg‘a bo‘lmasa, elektrotravmani istisno qilish mumkinmi? 2) Hodisa joyida soxta o‘limni nega hisobga olish kerak? Doskada: tamg‘a belgilarini (shakli, chekkasi, markazi, atrofdagi teri) sxema qilib chizing. Tipik xato: nam yoki yupqa teridagi tamg‘asizlikni elektrotravma yo‘qligi deb baholash; bunday holatlar elektrotravmaning 10-20%ida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suv ostida olingan jarohat sezilmay qolishi mumkin? 2) Murdada o‘pka barotravmasini qanday isbotlaymiz (yurak va o‘pka tomirlarini bog‘lab, suvda havo yuborish)? Doskada zanjirni chizdiring. Diqqat: niqob yoki nafas naychasi bilan sho‘ng‘ishda o‘pka barotravmasi bo‘lmaydi, akvalangda esa bo‘ladi. Tipik xato: shu ikkisini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Kislorod va karbonat angidridi zaharlanishi murdada nega faqat o‘lim tafsilotlari, klinika va boshqa sabablarning yo‘qligi bilan tashxislanadi? 2) Azot ta’siri nega tez qaytadi? Doskada jadvalni ko‘chirtiring. Tipik xato: neyrotoksik (o‘tkir) va o‘pka formasini bosim va muddat bo‘yicha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Bosim sekin pasayganda gazlar nega xavf tug‘dirmaydi? 2) Tog‘da topilgan murdada o‘lim sabablarini yana nimalar tushuntirishi mumkin (yurak-qon tomir kasalligi, yashin, quyosh urishi, yiqilish)? Doskada zanjirni chizdiring. Tipik xato: dekompression kasallikni gipoksik balandlik kasalligi bilan bir deb o‘ylash; ikkalasida ham gaz emboliyasi belgilari uchrashi mumkin.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suv yuzasiga ko‘tarilishda nafasni to‘xtatish xavfli? 2) Murdada havo emboliyasi qanday tasdiqlanadi? Doskada chizing: suv sathi, 10 m chuqurlik, o‘pkadagi havo hajmi o‘zgarishi o‘qlari. Tipik xato: niqob yoki nafas naychasi bilan sho‘ng‘ishni akvalang bilan adashtirish. Naychada o‘pka barotravmasi rivojlanmaydi. Diqqat: xato qilish xavfi: eshitish va burun bo‘shliqlari barotravmasi o‘limga olib kelmaydi, o‘pka barotravmasi esa olib keladi.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bo‘linishi tez to‘qimalar nurga sezgir? 2) Alfa va beta zarrachalar nega tashqi nurlanishda kam xavfli? Doskada chizing: dozalar bo‘yicha to‘rt formali shkala (1 grey = 100 rad). Tipik xato: o‘tuvchanlikni (neytron, gamma) zarracha turlari bilan (alfa, beta) adashtirish. Eslab qoling: doza ortgan sari shikast suyak miyadan miyagacha ‘ko‘tariladi‘.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dastlabki soatlardagi o‘limda faqat tez o‘lim belgilari topiladi? 2) Infeksion asoratlar qanday ko‘rinishda bo‘ladi? Doskada chizing: uch davr vaqt chizig‘i. Tipik xato: latent davrni tuzalish deb o‘ylash. Ahvol faqat yaxshilangandek bo‘ladi. Eslatma: 50 grey dozada o‘lim odatda ikki sutkada, 150 greydan katta dozada darhol sodir bo‘ladi.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nur yarasi termik kuyishdan uzoq bitadi? 2) Ekspertiza vazifalarini hal etishda qaysi hujjatlar kerak? Doskada: ekspertizaning 5 vazifasini ro‘yxat qilib yozdiring. Tipik xato: surunkali kasallikni o‘tkir formadagi davrlar (birlamchi reaksiya, latent davr)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 va B vaziyatlarda murda tekshiruvi qanday farq qiladi? 2) 50 grey qaysi formaga to‘g‘ri keladi? Doskada: doza (grey) bo‘yicha to‘rt formani shkala ko‘rinishida chizdiring. Tipik xato: dastlabki soatlardagi o‘limda ham spetsifik nur belgilarini kutish.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Yakuniy savollar: 1) Alanganing hayotiy ta’sirini qaysi belgilar isbotlaydi? 2) Sovuq qotishni qaysi belgilar tasdiqlaydi? 3) Elektr tamg‘a yo‘q bo‘lishi mumkinmi? Mustaqil ish: har bir omil (harorat, elektr, bosim, radiatsiya) uchun hayotiy ta’sir belgilari jadvalini tuzing. Doskada: bitta omilni tanlab, “belgi - nimani bildiradi” sxemasini chizdiring. Tipik xato: o‘limdan keyingi ta’sir belgilarini (karboksigemoglobin, qor ostidagi muz) hayotiy ta’sir deb baholash.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Fizik omillar ta’siridan o‘lim hollarida murdalar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fizik omillar va mashg‘ulot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Bobda to‘rt guruh fizik omil ko‘riladi: yuqori va past harorat, elektr toki, bosim o‘zgarishi hamda radiatsiya.</a:t>
            </a:r>
          </a:p>
          <a:p>
            <a:pPr>
              <a:spcAft>
                <a:spcPts val="1200"/>
              </a:spcAft>
            </a:pPr>
            <a:r>
              <a:rPr sz="2200">
                <a:solidFill>
                  <a:srgbClr val="1F2937"/>
                </a:solidFill>
                <a:latin typeface="Calibri"/>
              </a:rPr>
              <a:t>▸  Past haroratning ta’siri deyarli barcha holatlarda baxtsiz hodisa oqibatida ro‘y beradi.</a:t>
            </a:r>
          </a:p>
          <a:p>
            <a:pPr>
              <a:spcAft>
                <a:spcPts val="1200"/>
              </a:spcAft>
            </a:pPr>
            <a:r>
              <a:rPr sz="2200">
                <a:solidFill>
                  <a:srgbClr val="1F2937"/>
                </a:solidFill>
                <a:latin typeface="Calibri"/>
              </a:rPr>
              <a:t>▸  Elektrotravma shikastlanishlarning 1-2,5% ini tashkil etadi. Biroq nogironlik va o‘limga olib kelishda u etakchi o‘rinlardan birini egallaydi.</a:t>
            </a:r>
          </a:p>
          <a:p>
            <a:pPr>
              <a:spcAft>
                <a:spcPts val="1200"/>
              </a:spcAft>
            </a:pPr>
            <a:r>
              <a:rPr sz="2200">
                <a:solidFill>
                  <a:srgbClr val="1F2937"/>
                </a:solidFill>
                <a:latin typeface="Calibri"/>
              </a:rPr>
              <a:t>▸  Yong‘indan keyin topilgan murdada alanga ta’sirining hayotiyligini (o‘limdan oldin yoki keyin ekanini) aniqlash zarur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 191, 196, 188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 harorati va issiqlik ajralish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Tana harorati me’yorda 36-37°S; issiqlik hosil bo‘lishi va ajralishi tartibga solinadi.</a:t>
            </a:r>
          </a:p>
          <a:p>
            <a:pPr>
              <a:spcAft>
                <a:spcPts val="800"/>
              </a:spcAft>
            </a:pPr>
            <a:r>
              <a:rPr sz="1800">
                <a:solidFill>
                  <a:srgbClr val="1F2937"/>
                </a:solidFill>
                <a:latin typeface="Calibri"/>
              </a:rPr>
              <a:t>▸  22-25°S dan past yoki 43-44°S dan baland haroratda to‘qimalar hayot bilan nomutanosib o‘zgaradi.</a:t>
            </a:r>
          </a:p>
          <a:p>
            <a:pPr>
              <a:spcAft>
                <a:spcPts val="800"/>
              </a:spcAft>
            </a:pPr>
            <a:r>
              <a:rPr sz="1800">
                <a:solidFill>
                  <a:srgbClr val="1F2937"/>
                </a:solidFill>
                <a:latin typeface="Calibri"/>
              </a:rPr>
              <a:t>▸  Umumiy ta’sir — issiq urish yoki sovuq qotish; mahalliy ta’sir — kuyish yoki sovuq urishi.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643987"/>
                <a:gridCol w="2643987"/>
              </a:tblGrid>
              <a:tr h="411480">
                <a:tc>
                  <a:txBody>
                    <a:bodyPr/>
                    <a:lstStyle/>
                    <a:p>
                      <a:r>
                        <a:rPr sz="1400" b="1">
                          <a:solidFill>
                            <a:srgbClr val="FFFFFF"/>
                          </a:solidFill>
                        </a:rPr>
                        <a:t>Yo‘l</a:t>
                      </a:r>
                    </a:p>
                  </a:txBody>
                  <a:tcPr marL="73152" marR="73152" marT="36576" marB="36576">
                    <a:solidFill>
                      <a:srgbClr val="0B1F3A"/>
                    </a:solidFill>
                  </a:tcPr>
                </a:tc>
                <a:tc>
                  <a:txBody>
                    <a:bodyPr/>
                    <a:lstStyle/>
                    <a:p>
                      <a:r>
                        <a:rPr sz="1400" b="1">
                          <a:solidFill>
                            <a:srgbClr val="FFFFFF"/>
                          </a:solidFill>
                        </a:rPr>
                        <a:t>Ulushi</a:t>
                      </a:r>
                    </a:p>
                  </a:txBody>
                  <a:tcPr marL="73152" marR="73152" marT="36576" marB="36576">
                    <a:solidFill>
                      <a:srgbClr val="0B1F3A"/>
                    </a:solidFill>
                  </a:tcPr>
                </a:tc>
              </a:tr>
              <a:tr h="411480">
                <a:tc>
                  <a:txBody>
                    <a:bodyPr/>
                    <a:lstStyle/>
                    <a:p>
                      <a:r>
                        <a:rPr sz="1300" b="0">
                          <a:solidFill>
                            <a:srgbClr val="1F2937"/>
                          </a:solidFill>
                        </a:rPr>
                        <a:t>Nurlanish</a:t>
                      </a:r>
                    </a:p>
                  </a:txBody>
                  <a:tcPr marL="73152" marR="73152" marT="36576" marB="36576">
                    <a:solidFill>
                      <a:srgbClr val="E8EEF6"/>
                    </a:solidFill>
                  </a:tcPr>
                </a:tc>
                <a:tc>
                  <a:txBody>
                    <a:bodyPr/>
                    <a:lstStyle/>
                    <a:p>
                      <a:r>
                        <a:rPr sz="1300" b="0">
                          <a:solidFill>
                            <a:srgbClr val="1F2937"/>
                          </a:solidFill>
                        </a:rPr>
                        <a:t>55%</a:t>
                      </a:r>
                    </a:p>
                  </a:txBody>
                  <a:tcPr marL="73152" marR="73152" marT="36576" marB="36576">
                    <a:solidFill>
                      <a:srgbClr val="E8EEF6"/>
                    </a:solidFill>
                  </a:tcPr>
                </a:tc>
              </a:tr>
              <a:tr h="411480">
                <a:tc>
                  <a:txBody>
                    <a:bodyPr/>
                    <a:lstStyle/>
                    <a:p>
                      <a:r>
                        <a:rPr sz="1300" b="0">
                          <a:solidFill>
                            <a:srgbClr val="1F2937"/>
                          </a:solidFill>
                        </a:rPr>
                        <a:t>Ter bilan</a:t>
                      </a:r>
                    </a:p>
                  </a:txBody>
                  <a:tcPr marL="73152" marR="73152" marT="36576" marB="36576">
                    <a:solidFill>
                      <a:srgbClr val="FFFFFF"/>
                    </a:solidFill>
                  </a:tcPr>
                </a:tc>
                <a:tc>
                  <a:txBody>
                    <a:bodyPr/>
                    <a:lstStyle/>
                    <a:p>
                      <a:r>
                        <a:rPr sz="1300" b="0">
                          <a:solidFill>
                            <a:srgbClr val="1F2937"/>
                          </a:solidFill>
                        </a:rPr>
                        <a:t>27%</a:t>
                      </a:r>
                    </a:p>
                  </a:txBody>
                  <a:tcPr marL="73152" marR="73152" marT="36576" marB="36576">
                    <a:solidFill>
                      <a:srgbClr val="FFFFFF"/>
                    </a:solidFill>
                  </a:tcPr>
                </a:tc>
              </a:tr>
              <a:tr h="411480">
                <a:tc>
                  <a:txBody>
                    <a:bodyPr/>
                    <a:lstStyle/>
                    <a:p>
                      <a:r>
                        <a:rPr sz="1300" b="0">
                          <a:solidFill>
                            <a:srgbClr val="1F2937"/>
                          </a:solidFill>
                        </a:rPr>
                        <a:t>O‘tkazish</a:t>
                      </a:r>
                    </a:p>
                  </a:txBody>
                  <a:tcPr marL="73152" marR="73152" marT="36576" marB="36576">
                    <a:solidFill>
                      <a:srgbClr val="E8EEF6"/>
                    </a:solidFill>
                  </a:tcPr>
                </a:tc>
                <a:tc>
                  <a:txBody>
                    <a:bodyPr/>
                    <a:lstStyle/>
                    <a:p>
                      <a:r>
                        <a:rPr sz="1300" b="0">
                          <a:solidFill>
                            <a:srgbClr val="1F2937"/>
                          </a:solidFill>
                        </a:rPr>
                        <a:t>15%</a:t>
                      </a:r>
                    </a:p>
                  </a:txBody>
                  <a:tcPr marL="73152" marR="73152" marT="36576" marB="36576">
                    <a:solidFill>
                      <a:srgbClr val="E8EEF6"/>
                    </a:solidFill>
                  </a:tcPr>
                </a:tc>
              </a:tr>
              <a:tr h="411480">
                <a:tc>
                  <a:txBody>
                    <a:bodyPr/>
                    <a:lstStyle/>
                    <a:p>
                      <a:r>
                        <a:rPr sz="1300" b="0">
                          <a:solidFill>
                            <a:srgbClr val="1F2937"/>
                          </a:solidFill>
                        </a:rPr>
                        <a:t>Turli ajratmalar</a:t>
                      </a:r>
                    </a:p>
                  </a:txBody>
                  <a:tcPr marL="73152" marR="73152" marT="36576" marB="36576">
                    <a:solidFill>
                      <a:srgbClr val="FFFFFF"/>
                    </a:solidFill>
                  </a:tcPr>
                </a:tc>
                <a:tc>
                  <a:txBody>
                    <a:bodyPr/>
                    <a:lstStyle/>
                    <a:p>
                      <a:r>
                        <a:rPr sz="1300" b="0">
                          <a:solidFill>
                            <a:srgbClr val="1F2937"/>
                          </a:solidFill>
                        </a:rPr>
                        <a:t>3%</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Issiqlik ajralishi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 sabablar va rivojlanish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Sabab: issiq ko‘p hosil bo‘lib, kam ajraladi — baland harorat va namlik, shamolsizlik, og‘ir mehnat.</a:t>
            </a:r>
          </a:p>
          <a:p>
            <a:pPr>
              <a:spcAft>
                <a:spcPts val="800"/>
              </a:spcAft>
            </a:pPr>
            <a:r>
              <a:rPr sz="1800">
                <a:solidFill>
                  <a:srgbClr val="1F2937"/>
                </a:solidFill>
                <a:latin typeface="Calibri"/>
              </a:rPr>
              <a:t>▸  Moyillik: havo o‘tkazmas kiyim, yurak-qon tomir kasalligi, semizlik, keksalik.</a:t>
            </a:r>
          </a:p>
          <a:p>
            <a:pPr>
              <a:spcAft>
                <a:spcPts val="800"/>
              </a:spcAft>
            </a:pPr>
            <a:r>
              <a:rPr sz="1800">
                <a:solidFill>
                  <a:srgbClr val="1F2937"/>
                </a:solidFill>
                <a:latin typeface="Calibri"/>
              </a:rPr>
              <a:t>▸  Asosiy o‘rinda gemodinamika buzilishi: qon quyuqlashib, aylanish sustlashadi, gipoksiya rivojlanadi.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Issiq ko‘p hosil, kam ajraladi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quyuqlashadi, oqim sekin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Gipertermiya, so‘ng gipoksiya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Stress: katexolamin, staz</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Modda almashinuvi buzilishi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Issiq urish mexanizmi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urishning o‘tkir va uzaytirilgan shakli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O‘tkir shakl: o‘rganmagan organizmda birdan hush yo‘qolib, koma rivojlanadi va qisqa muddatda o‘lim bo‘ladi.</a:t>
            </a:r>
          </a:p>
          <a:p>
            <a:pPr>
              <a:spcAft>
                <a:spcPts val="800"/>
              </a:spcAft>
            </a:pPr>
            <a:r>
              <a:rPr sz="1800">
                <a:solidFill>
                  <a:srgbClr val="1F2937"/>
                </a:solidFill>
                <a:latin typeface="Calibri"/>
              </a:rPr>
              <a:t>▸  Uzaytirilgan shaklda belgilar sekin kuchayadi; markaziy nerv tizimi (MNT) avval susayadi.</a:t>
            </a:r>
          </a:p>
          <a:p>
            <a:pPr>
              <a:spcAft>
                <a:spcPts val="800"/>
              </a:spcAft>
            </a:pPr>
            <a:r>
              <a:rPr sz="1800">
                <a:solidFill>
                  <a:srgbClr val="1F2937"/>
                </a:solidFill>
                <a:latin typeface="Calibri"/>
              </a:rPr>
              <a:t>▸  Tana harorati 42-43°S dan oshsa, nafas olishning birlamchi to‘xtashidan o‘lim sodir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Susayish (latent) davri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Qo‘zg‘alish davri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Holsizlik: 41-42°S+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Predagonal: koma, talvasa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42-43°S+: nafas to‘xtashi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Uzaytirilgan issiq urish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183-184, 184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Quyosh urishi va murdadagi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Murdada miya va pardalar to‘laqon, shishgan; miya to‘qimasida mayda perivaskulyar qon quyilishlar topiladi.</a:t>
            </a:r>
          </a:p>
          <a:p>
            <a:pPr>
              <a:spcAft>
                <a:spcPts val="800"/>
              </a:spcAft>
            </a:pPr>
            <a:r>
              <a:rPr sz="1800">
                <a:solidFill>
                  <a:srgbClr val="1F2937"/>
                </a:solidFill>
                <a:latin typeface="Calibri"/>
              </a:rPr>
              <a:t>▸  Ichki a’zolarda to‘laqonlik, yurak va yirik tomirlarda quyuq qon; o‘pka qo‘ng‘ir tusda bo‘ladi.</a:t>
            </a:r>
          </a:p>
          <a:p>
            <a:pPr>
              <a:spcAft>
                <a:spcPts val="800"/>
              </a:spcAft>
            </a:pPr>
            <a:r>
              <a:rPr sz="1800">
                <a:solidFill>
                  <a:srgbClr val="1F2937"/>
                </a:solidFill>
                <a:latin typeface="Calibri"/>
              </a:rPr>
              <a:t>▸  Murda qotishi tez va kuchli rivojlanadi, murda dog‘lari esa kech paydo bo‘lib, oz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069207"/>
                <a:gridCol w="2299119"/>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Issiq urish</a:t>
                      </a:r>
                    </a:p>
                  </a:txBody>
                  <a:tcPr marL="73152" marR="73152" marT="36576" marB="36576">
                    <a:solidFill>
                      <a:srgbClr val="0B1F3A"/>
                    </a:solidFill>
                  </a:tcPr>
                </a:tc>
                <a:tc>
                  <a:txBody>
                    <a:bodyPr/>
                    <a:lstStyle/>
                    <a:p>
                      <a:r>
                        <a:rPr sz="1300" b="1">
                          <a:solidFill>
                            <a:srgbClr val="FFFFFF"/>
                          </a:solidFill>
                        </a:rPr>
                        <a:t>Quyosh urishi</a:t>
                      </a:r>
                    </a:p>
                  </a:txBody>
                  <a:tcPr marL="73152" marR="73152" marT="36576" marB="36576">
                    <a:solidFill>
                      <a:srgbClr val="0B1F3A"/>
                    </a:solidFill>
                  </a:tcPr>
                </a:tc>
              </a:tr>
              <a:tr h="411480">
                <a:tc>
                  <a:txBody>
                    <a:bodyPr/>
                    <a:lstStyle/>
                    <a:p>
                      <a:r>
                        <a:rPr sz="1200" b="0">
                          <a:solidFill>
                            <a:srgbClr val="1F2937"/>
                          </a:solidFill>
                        </a:rPr>
                        <a:t>Sababi</a:t>
                      </a:r>
                    </a:p>
                  </a:txBody>
                  <a:tcPr marL="73152" marR="73152" marT="36576" marB="36576">
                    <a:solidFill>
                      <a:srgbClr val="E8EEF6"/>
                    </a:solidFill>
                  </a:tcPr>
                </a:tc>
                <a:tc>
                  <a:txBody>
                    <a:bodyPr/>
                    <a:lstStyle/>
                    <a:p>
                      <a:r>
                        <a:rPr sz="1200" b="0">
                          <a:solidFill>
                            <a:srgbClr val="1F2937"/>
                          </a:solidFill>
                        </a:rPr>
                        <a:t>Issiqlik ko‘p ishlanib, kam ajraladi</a:t>
                      </a:r>
                    </a:p>
                  </a:txBody>
                  <a:tcPr marL="73152" marR="73152" marT="36576" marB="36576">
                    <a:solidFill>
                      <a:srgbClr val="E8EEF6"/>
                    </a:solidFill>
                  </a:tcPr>
                </a:tc>
                <a:tc>
                  <a:txBody>
                    <a:bodyPr/>
                    <a:lstStyle/>
                    <a:p>
                      <a:r>
                        <a:rPr sz="1200" b="0">
                          <a:solidFill>
                            <a:srgbClr val="1F2937"/>
                          </a:solidFill>
                        </a:rPr>
                        <a:t>Quyosh nurlari uzoq vaqt boshga ta’sir etadi</a:t>
                      </a:r>
                    </a:p>
                  </a:txBody>
                  <a:tcPr marL="73152" marR="73152" marT="36576" marB="36576">
                    <a:solidFill>
                      <a:srgbClr val="E8EEF6"/>
                    </a:solidFill>
                  </a:tcPr>
                </a:tc>
              </a:tr>
              <a:tr h="411480">
                <a:tc>
                  <a:txBody>
                    <a:bodyPr/>
                    <a:lstStyle/>
                    <a:p>
                      <a:r>
                        <a:rPr sz="1200" b="0">
                          <a:solidFill>
                            <a:srgbClr val="1F2937"/>
                          </a:solidFill>
                        </a:rPr>
                        <a:t>Harorat</a:t>
                      </a:r>
                    </a:p>
                  </a:txBody>
                  <a:tcPr marL="73152" marR="73152" marT="36576" marB="36576">
                    <a:solidFill>
                      <a:srgbClr val="FFFFFF"/>
                    </a:solidFill>
                  </a:tcPr>
                </a:tc>
                <a:tc>
                  <a:txBody>
                    <a:bodyPr/>
                    <a:lstStyle/>
                    <a:p>
                      <a:r>
                        <a:rPr sz="1200" b="0">
                          <a:solidFill>
                            <a:srgbClr val="1F2937"/>
                          </a:solidFill>
                        </a:rPr>
                        <a:t>41-42°S dan oshishi mumkin</a:t>
                      </a:r>
                    </a:p>
                  </a:txBody>
                  <a:tcPr marL="73152" marR="73152" marT="36576" marB="36576">
                    <a:solidFill>
                      <a:srgbClr val="FFFFFF"/>
                    </a:solidFill>
                  </a:tcPr>
                </a:tc>
                <a:tc>
                  <a:txBody>
                    <a:bodyPr/>
                    <a:lstStyle/>
                    <a:p>
                      <a:r>
                        <a:rPr sz="1200" b="0">
                          <a:solidFill>
                            <a:srgbClr val="1F2937"/>
                          </a:solidFill>
                        </a:rPr>
                        <a:t>Salmoqli ko‘tarilish xos emas</a:t>
                      </a:r>
                    </a:p>
                  </a:txBody>
                  <a:tcPr marL="73152" marR="73152" marT="36576" marB="36576">
                    <a:solidFill>
                      <a:srgbClr val="FFFFFF"/>
                    </a:solidFill>
                  </a:tcPr>
                </a:tc>
              </a:tr>
              <a:tr h="411480">
                <a:tc>
                  <a:txBody>
                    <a:bodyPr/>
                    <a:lstStyle/>
                    <a:p>
                      <a:r>
                        <a:rPr sz="1200" b="0">
                          <a:solidFill>
                            <a:srgbClr val="1F2937"/>
                          </a:solidFill>
                        </a:rPr>
                        <a:t>Belgilar</a:t>
                      </a:r>
                    </a:p>
                  </a:txBody>
                  <a:tcPr marL="73152" marR="73152" marT="36576" marB="36576">
                    <a:solidFill>
                      <a:srgbClr val="E8EEF6"/>
                    </a:solidFill>
                  </a:tcPr>
                </a:tc>
                <a:tc>
                  <a:txBody>
                    <a:bodyPr/>
                    <a:lstStyle/>
                    <a:p>
                      <a:r>
                        <a:rPr sz="1200" b="0">
                          <a:solidFill>
                            <a:srgbClr val="1F2937"/>
                          </a:solidFill>
                        </a:rPr>
                        <a:t>Koma, talvasa, nafas sekinlashishi</a:t>
                      </a:r>
                    </a:p>
                  </a:txBody>
                  <a:tcPr marL="73152" marR="73152" marT="36576" marB="36576">
                    <a:solidFill>
                      <a:srgbClr val="E8EEF6"/>
                    </a:solidFill>
                  </a:tcPr>
                </a:tc>
                <a:tc>
                  <a:txBody>
                    <a:bodyPr/>
                    <a:lstStyle/>
                    <a:p>
                      <a:r>
                        <a:rPr sz="1200" b="0">
                          <a:solidFill>
                            <a:srgbClr val="1F2937"/>
                          </a:solidFill>
                        </a:rPr>
                        <a:t>Bosh og‘rig‘i, gallyusinatsiya, talvasa</a:t>
                      </a:r>
                    </a:p>
                  </a:txBody>
                  <a:tcPr marL="73152" marR="73152" marT="36576" marB="36576">
                    <a:solidFill>
                      <a:srgbClr val="E8EEF6"/>
                    </a:solidFill>
                  </a:tcPr>
                </a:tc>
              </a:tr>
              <a:tr h="411480">
                <a:tc>
                  <a:txBody>
                    <a:bodyPr/>
                    <a:lstStyle/>
                    <a:p>
                      <a:r>
                        <a:rPr sz="1200" b="0">
                          <a:solidFill>
                            <a:srgbClr val="1F2937"/>
                          </a:solidFill>
                        </a:rPr>
                        <a:t>Murdada</a:t>
                      </a:r>
                    </a:p>
                  </a:txBody>
                  <a:tcPr marL="73152" marR="73152" marT="36576" marB="36576">
                    <a:solidFill>
                      <a:srgbClr val="FFFFFF"/>
                    </a:solidFill>
                  </a:tcPr>
                </a:tc>
                <a:tc>
                  <a:txBody>
                    <a:bodyPr/>
                    <a:lstStyle/>
                    <a:p>
                      <a:r>
                        <a:rPr sz="1200" b="0">
                          <a:solidFill>
                            <a:srgbClr val="1F2937"/>
                          </a:solidFill>
                        </a:rPr>
                        <a:t>Morfologik o‘zgarish o‘xshash</a:t>
                      </a:r>
                    </a:p>
                  </a:txBody>
                  <a:tcPr marL="73152" marR="73152" marT="36576" marB="36576">
                    <a:solidFill>
                      <a:srgbClr val="FFFFFF"/>
                    </a:solidFill>
                  </a:tcPr>
                </a:tc>
                <a:tc>
                  <a:txBody>
                    <a:bodyPr/>
                    <a:lstStyle/>
                    <a:p>
                      <a:r>
                        <a:rPr sz="1200" b="0">
                          <a:solidFill>
                            <a:srgbClr val="1F2937"/>
                          </a:solidFill>
                        </a:rPr>
                        <a:t>Spetsifik xususiyati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Issiq urish va quyosh urishi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issiq va quyosh urishi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issiq urishning uzaytirilgan shaklida nechta davr bor? Javob: uchta — susayish, qo‘zg‘alish va holsizlik.</a:t>
            </a:r>
          </a:p>
          <a:p>
            <a:pPr>
              <a:spcAft>
                <a:spcPts val="1200"/>
              </a:spcAft>
            </a:pPr>
            <a:r>
              <a:rPr sz="2000">
                <a:solidFill>
                  <a:srgbClr val="1F2937"/>
                </a:solidFill>
                <a:latin typeface="Calibri"/>
              </a:rPr>
              <a:t>▸  Savol: issiq urishga qanday omillar moyillik yaratadi? Javob: yuqori harorat va namlik, shamolsizlik, og‘ir ish, havo o‘tkazmaydigan kiyim, semizlik, keksalik, yurak-qon tomir kasalliklari.</a:t>
            </a:r>
          </a:p>
          <a:p>
            <a:pPr>
              <a:spcAft>
                <a:spcPts val="1200"/>
              </a:spcAft>
            </a:pPr>
            <a:r>
              <a:rPr sz="2000">
                <a:solidFill>
                  <a:srgbClr val="1F2937"/>
                </a:solidFill>
                <a:latin typeface="Calibri"/>
              </a:rPr>
              <a:t>▸  Savol: murdada issiq yoki quyosh urishiga xos maxsus morfologik belgi bormi? Javob: yo‘q, o‘zgarishlar o‘xshash va spetsifik emas.</a:t>
            </a:r>
          </a:p>
          <a:p>
            <a:pPr>
              <a:spcAft>
                <a:spcPts val="1200"/>
              </a:spcAft>
            </a:pPr>
            <a:r>
              <a:rPr sz="2000">
                <a:solidFill>
                  <a:srgbClr val="1F2937"/>
                </a:solidFill>
                <a:latin typeface="Calibri"/>
              </a:rPr>
              <a:t>▸  Diqqat: xato qilish xavfi — issiq urish ≠ quyosh urishi. Issiq urishda tananing umumiy qizishi, quyosh urishida esa boshning nur ta’sirida isishi asosiy; quyoshda harorat salmoqli ko‘tarilmaydi.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184, 183, 183-184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Termik kuyish: manbalar va to‘rt daraja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Sabab: alanga, quyushqoq moddalar, 60°S dan issiq suv, bug‘, gaz yoki qizdirilgan jism.</a:t>
            </a:r>
          </a:p>
          <a:p>
            <a:pPr>
              <a:spcAft>
                <a:spcPts val="800"/>
              </a:spcAft>
            </a:pPr>
            <a:r>
              <a:rPr sz="1800">
                <a:solidFill>
                  <a:srgbClr val="1F2937"/>
                </a:solidFill>
                <a:latin typeface="Calibri"/>
              </a:rPr>
              <a:t>▸  Murdada I daraja ko‘pincha sezilmaydi. II darajada pufak tubi qo‘ng‘ir, zich; kesilsa qon chiqmaydi.</a:t>
            </a:r>
          </a:p>
          <a:p>
            <a:pPr>
              <a:spcAft>
                <a:spcPts val="800"/>
              </a:spcAft>
            </a:pPr>
            <a:r>
              <a:rPr sz="1800">
                <a:solidFill>
                  <a:srgbClr val="1F2937"/>
                </a:solidFill>
                <a:latin typeface="Calibri"/>
              </a:rPr>
              <a:t>▸  I-III darajali kuyish har qanday manbadan bo‘ladi. IV daraja faqat alanga ta’sirida hosil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40084"/>
                <a:gridCol w="2056434"/>
                <a:gridCol w="2291455"/>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Belgisi</a:t>
                      </a:r>
                    </a:p>
                  </a:txBody>
                  <a:tcPr marL="73152" marR="73152" marT="36576" marB="36576">
                    <a:solidFill>
                      <a:srgbClr val="0B1F3A"/>
                    </a:solidFill>
                  </a:tcPr>
                </a:tc>
                <a:tc>
                  <a:txBody>
                    <a:bodyPr/>
                    <a:lstStyle/>
                    <a:p>
                      <a:r>
                        <a:rPr sz="1300" b="1">
                          <a:solidFill>
                            <a:srgbClr val="FFFFFF"/>
                          </a:solidFill>
                        </a:rPr>
                        <a:t>Tuzalishi</a:t>
                      </a:r>
                    </a:p>
                  </a:txBody>
                  <a:tcPr marL="73152" marR="73152" marT="36576" marB="36576">
                    <a:solidFill>
                      <a:srgbClr val="0B1F3A"/>
                    </a:solidFill>
                  </a:tcPr>
                </a:tc>
              </a:tr>
              <a:tr h="411480">
                <a:tc>
                  <a:txBody>
                    <a:bodyPr/>
                    <a:lstStyle/>
                    <a:p>
                      <a:r>
                        <a:rPr sz="1200" b="0">
                          <a:solidFill>
                            <a:srgbClr val="1F2937"/>
                          </a:solidFill>
                        </a:rPr>
                        <a:t>I</a:t>
                      </a:r>
                    </a:p>
                  </a:txBody>
                  <a:tcPr marL="73152" marR="73152" marT="36576" marB="36576">
                    <a:solidFill>
                      <a:srgbClr val="E8EEF6"/>
                    </a:solidFill>
                  </a:tcPr>
                </a:tc>
                <a:tc>
                  <a:txBody>
                    <a:bodyPr/>
                    <a:lstStyle/>
                    <a:p>
                      <a:r>
                        <a:rPr sz="1200" b="0">
                          <a:solidFill>
                            <a:srgbClr val="1F2937"/>
                          </a:solidFill>
                        </a:rPr>
                        <a:t>Eritema, yengil shish, og‘riq</a:t>
                      </a:r>
                    </a:p>
                  </a:txBody>
                  <a:tcPr marL="73152" marR="73152" marT="36576" marB="36576">
                    <a:solidFill>
                      <a:srgbClr val="E8EEF6"/>
                    </a:solidFill>
                  </a:tcPr>
                </a:tc>
                <a:tc>
                  <a:txBody>
                    <a:bodyPr/>
                    <a:lstStyle/>
                    <a:p>
                      <a:r>
                        <a:rPr sz="1200" b="0">
                          <a:solidFill>
                            <a:srgbClr val="1F2937"/>
                          </a:solidFill>
                        </a:rPr>
                        <a:t>3-4 kunda izsiz o‘tadi</a:t>
                      </a:r>
                    </a:p>
                  </a:txBody>
                  <a:tcPr marL="73152" marR="73152" marT="36576" marB="36576">
                    <a:solidFill>
                      <a:srgbClr val="E8EEF6"/>
                    </a:solidFill>
                  </a:tcPr>
                </a:tc>
              </a:tr>
              <a:tr h="411480">
                <a:tc>
                  <a:txBody>
                    <a:bodyPr/>
                    <a:lstStyle/>
                    <a:p>
                      <a:r>
                        <a:rPr sz="1200" b="0">
                          <a:solidFill>
                            <a:srgbClr val="1F2937"/>
                          </a:solidFill>
                        </a:rPr>
                        <a:t>II</a:t>
                      </a:r>
                    </a:p>
                  </a:txBody>
                  <a:tcPr marL="73152" marR="73152" marT="36576" marB="36576">
                    <a:solidFill>
                      <a:srgbClr val="FFFFFF"/>
                    </a:solidFill>
                  </a:tcPr>
                </a:tc>
                <a:tc>
                  <a:txBody>
                    <a:bodyPr/>
                    <a:lstStyle/>
                    <a:p>
                      <a:r>
                        <a:rPr sz="1200" b="0">
                          <a:solidFill>
                            <a:srgbClr val="1F2937"/>
                          </a:solidFill>
                        </a:rPr>
                        <a:t>Seroz suyuqlikli pufaklar</a:t>
                      </a:r>
                    </a:p>
                  </a:txBody>
                  <a:tcPr marL="73152" marR="73152" marT="36576" marB="36576">
                    <a:solidFill>
                      <a:srgbClr val="FFFFFF"/>
                    </a:solidFill>
                  </a:tcPr>
                </a:tc>
                <a:tc>
                  <a:txBody>
                    <a:bodyPr/>
                    <a:lstStyle/>
                    <a:p>
                      <a:r>
                        <a:rPr sz="1200" b="0">
                          <a:solidFill>
                            <a:srgbClr val="1F2937"/>
                          </a:solidFill>
                        </a:rPr>
                        <a:t>10-20 kunda, chandiqsiz</a:t>
                      </a:r>
                    </a:p>
                  </a:txBody>
                  <a:tcPr marL="73152" marR="73152" marT="36576" marB="36576">
                    <a:solidFill>
                      <a:srgbClr val="FFFFFF"/>
                    </a:solidFill>
                  </a:tcPr>
                </a:tc>
              </a:tr>
              <a:tr h="411480">
                <a:tc>
                  <a:txBody>
                    <a:bodyPr/>
                    <a:lstStyle/>
                    <a:p>
                      <a:r>
                        <a:rPr sz="1200" b="0">
                          <a:solidFill>
                            <a:srgbClr val="1F2937"/>
                          </a:solidFill>
                        </a:rPr>
                        <a:t>III</a:t>
                      </a:r>
                    </a:p>
                  </a:txBody>
                  <a:tcPr marL="73152" marR="73152" marT="36576" marB="36576">
                    <a:solidFill>
                      <a:srgbClr val="E8EEF6"/>
                    </a:solidFill>
                  </a:tcPr>
                </a:tc>
                <a:tc>
                  <a:txBody>
                    <a:bodyPr/>
                    <a:lstStyle/>
                    <a:p>
                      <a:r>
                        <a:rPr sz="1200" b="0">
                          <a:solidFill>
                            <a:srgbClr val="1F2937"/>
                          </a:solidFill>
                        </a:rPr>
                        <a:t>Nekroz: III-A yuzaki, III-B to‘liq</a:t>
                      </a:r>
                    </a:p>
                  </a:txBody>
                  <a:tcPr marL="73152" marR="73152" marT="36576" marB="36576">
                    <a:solidFill>
                      <a:srgbClr val="E8EEF6"/>
                    </a:solidFill>
                  </a:tcPr>
                </a:tc>
                <a:tc>
                  <a:txBody>
                    <a:bodyPr/>
                    <a:lstStyle/>
                    <a:p>
                      <a:r>
                        <a:rPr sz="1200" b="0">
                          <a:solidFill>
                            <a:srgbClr val="1F2937"/>
                          </a:solidFill>
                        </a:rPr>
                        <a:t>2-3 haftada granulyasiya, so‘ng chandiq</a:t>
                      </a:r>
                    </a:p>
                  </a:txBody>
                  <a:tcPr marL="73152" marR="73152" marT="36576" marB="36576">
                    <a:solidFill>
                      <a:srgbClr val="E8EEF6"/>
                    </a:solidFill>
                  </a:tcPr>
                </a:tc>
              </a:tr>
              <a:tr h="411480">
                <a:tc>
                  <a:txBody>
                    <a:bodyPr/>
                    <a:lstStyle/>
                    <a:p>
                      <a:r>
                        <a:rPr sz="1200" b="0">
                          <a:solidFill>
                            <a:srgbClr val="1F2937"/>
                          </a:solidFill>
                        </a:rPr>
                        <a:t>IV</a:t>
                      </a:r>
                    </a:p>
                  </a:txBody>
                  <a:tcPr marL="73152" marR="73152" marT="36576" marB="36576">
                    <a:solidFill>
                      <a:srgbClr val="FFFFFF"/>
                    </a:solidFill>
                  </a:tcPr>
                </a:tc>
                <a:tc>
                  <a:txBody>
                    <a:bodyPr/>
                    <a:lstStyle/>
                    <a:p>
                      <a:r>
                        <a:rPr sz="1200" b="0">
                          <a:solidFill>
                            <a:srgbClr val="1F2937"/>
                          </a:solidFill>
                        </a:rPr>
                        <a:t>Teri, mushak, boylam, suyak nekrozi</a:t>
                      </a:r>
                    </a:p>
                  </a:txBody>
                  <a:tcPr marL="73152" marR="73152" marT="36576" marB="36576">
                    <a:solidFill>
                      <a:srgbClr val="FFFFFF"/>
                    </a:solidFill>
                  </a:tcPr>
                </a:tc>
                <a:tc>
                  <a:txBody>
                    <a:bodyPr/>
                    <a:lstStyle/>
                    <a:p>
                      <a:r>
                        <a:rPr sz="1200" b="0">
                          <a:solidFill>
                            <a:srgbClr val="1F2937"/>
                          </a:solidFill>
                        </a:rPr>
                        <a:t>Manbada ko‘rsatilmagan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Kuyish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185, 185-186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manbaini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Oqmalar tananing past sohalariga, “alanga tillari” esa yuqori sohalarga yo‘naladi.</a:t>
            </a:r>
          </a:p>
          <a:p>
            <a:pPr>
              <a:spcAft>
                <a:spcPts val="800"/>
              </a:spcAft>
            </a:pPr>
            <a:r>
              <a:rPr sz="1800">
                <a:solidFill>
                  <a:srgbClr val="1F2937"/>
                </a:solidFill>
                <a:latin typeface="Calibri"/>
              </a:rPr>
              <a:t>▸  Yo‘nalish jabrlanganning hodisa paytidagi holatini baholashga yordam beradi.</a:t>
            </a:r>
          </a:p>
          <a:p>
            <a:pPr>
              <a:spcAft>
                <a:spcPts val="800"/>
              </a:spcAft>
            </a:pPr>
            <a:r>
              <a:rPr sz="1800">
                <a:solidFill>
                  <a:srgbClr val="1F2937"/>
                </a:solidFill>
                <a:latin typeface="Calibri"/>
              </a:rPr>
              <a:t>▸  Diqqat: nafas yo‘llari kuyishi faqat bug‘ va issiq gaz ta’siri uchun xos jarohat deb keltiriladi.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84712"/>
                <a:gridCol w="1491480"/>
                <a:gridCol w="2711782"/>
              </a:tblGrid>
              <a:tr h="411480">
                <a:tc>
                  <a:txBody>
                    <a:bodyPr/>
                    <a:lstStyle/>
                    <a:p>
                      <a:r>
                        <a:rPr sz="1300" b="1">
                          <a:solidFill>
                            <a:srgbClr val="FFFFFF"/>
                          </a:solidFill>
                        </a:rPr>
                        <a:t>Manba</a:t>
                      </a:r>
                    </a:p>
                  </a:txBody>
                  <a:tcPr marL="73152" marR="73152" marT="36576" marB="36576">
                    <a:solidFill>
                      <a:srgbClr val="0B1F3A"/>
                    </a:solidFill>
                  </a:tcPr>
                </a:tc>
                <a:tc>
                  <a:txBody>
                    <a:bodyPr/>
                    <a:lstStyle/>
                    <a:p>
                      <a:r>
                        <a:rPr sz="1300" b="1">
                          <a:solidFill>
                            <a:srgbClr val="FFFFFF"/>
                          </a:solidFill>
                        </a:rPr>
                        <a:t>Soch, kiyim</a:t>
                      </a:r>
                    </a:p>
                  </a:txBody>
                  <a:tcPr marL="73152" marR="73152" marT="36576" marB="36576">
                    <a:solidFill>
                      <a:srgbClr val="0B1F3A"/>
                    </a:solidFill>
                  </a:tcPr>
                </a:tc>
                <a:tc>
                  <a:txBody>
                    <a:bodyPr/>
                    <a:lstStyle/>
                    <a:p>
                      <a:r>
                        <a:rPr sz="1300" b="1">
                          <a:solidFill>
                            <a:srgbClr val="FFFFFF"/>
                          </a:solidFill>
                        </a:rPr>
                        <a:t>Jarohat xususiyati</a:t>
                      </a:r>
                    </a:p>
                  </a:txBody>
                  <a:tcPr marL="73152" marR="73152" marT="36576" marB="36576">
                    <a:solidFill>
                      <a:srgbClr val="0B1F3A"/>
                    </a:solidFill>
                  </a:tcPr>
                </a:tc>
              </a:tr>
              <a:tr h="411480">
                <a:tc>
                  <a:txBody>
                    <a:bodyPr/>
                    <a:lstStyle/>
                    <a:p>
                      <a:r>
                        <a:rPr sz="1200" b="0">
                          <a:solidFill>
                            <a:srgbClr val="1F2937"/>
                          </a:solidFill>
                        </a:rPr>
                        <a:t>Issiq suyuqlik</a:t>
                      </a:r>
                    </a:p>
                  </a:txBody>
                  <a:tcPr marL="73152" marR="73152" marT="36576" marB="36576">
                    <a:solidFill>
                      <a:srgbClr val="E8EEF6"/>
                    </a:solidFill>
                  </a:tcPr>
                </a:tc>
                <a:tc>
                  <a:txBody>
                    <a:bodyPr/>
                    <a:lstStyle/>
                    <a:p>
                      <a:r>
                        <a:rPr sz="1200" b="0">
                          <a:solidFill>
                            <a:srgbClr val="1F2937"/>
                          </a:solidFill>
                        </a:rPr>
                        <a:t>Shikastlanmaydi</a:t>
                      </a:r>
                    </a:p>
                  </a:txBody>
                  <a:tcPr marL="73152" marR="73152" marT="36576" marB="36576">
                    <a:solidFill>
                      <a:srgbClr val="E8EEF6"/>
                    </a:solidFill>
                  </a:tcPr>
                </a:tc>
                <a:tc>
                  <a:txBody>
                    <a:bodyPr/>
                    <a:lstStyle/>
                    <a:p>
                      <a:r>
                        <a:rPr sz="1200" b="0">
                          <a:solidFill>
                            <a:srgbClr val="1F2937"/>
                          </a:solidFill>
                        </a:rPr>
                        <a:t>Yuzaki, oqmasimon; yopiq joyga ham oqadi</a:t>
                      </a:r>
                    </a:p>
                  </a:txBody>
                  <a:tcPr marL="73152" marR="73152" marT="36576" marB="36576">
                    <a:solidFill>
                      <a:srgbClr val="E8EEF6"/>
                    </a:solidFill>
                  </a:tcPr>
                </a:tc>
              </a:tr>
              <a:tr h="411480">
                <a:tc>
                  <a:txBody>
                    <a:bodyPr/>
                    <a:lstStyle/>
                    <a:p>
                      <a:r>
                        <a:rPr sz="1200" b="0">
                          <a:solidFill>
                            <a:srgbClr val="1F2937"/>
                          </a:solidFill>
                        </a:rPr>
                        <a:t>Alanga</a:t>
                      </a:r>
                    </a:p>
                  </a:txBody>
                  <a:tcPr marL="73152" marR="73152" marT="36576" marB="36576">
                    <a:solidFill>
                      <a:srgbClr val="FFFFFF"/>
                    </a:solidFill>
                  </a:tcPr>
                </a:tc>
                <a:tc>
                  <a:txBody>
                    <a:bodyPr/>
                    <a:lstStyle/>
                    <a:p>
                      <a:r>
                        <a:rPr sz="1200" b="0">
                          <a:solidFill>
                            <a:srgbClr val="1F2937"/>
                          </a:solidFill>
                        </a:rPr>
                        <a:t>Shikastlanadi</a:t>
                      </a:r>
                    </a:p>
                  </a:txBody>
                  <a:tcPr marL="73152" marR="73152" marT="36576" marB="36576">
                    <a:solidFill>
                      <a:srgbClr val="FFFFFF"/>
                    </a:solidFill>
                  </a:tcPr>
                </a:tc>
                <a:tc>
                  <a:txBody>
                    <a:bodyPr/>
                    <a:lstStyle/>
                    <a:p>
                      <a:r>
                        <a:rPr sz="1200" b="0">
                          <a:solidFill>
                            <a:srgbClr val="1F2937"/>
                          </a:solidFill>
                        </a:rPr>
                        <a:t>Chuqur, tilsimon; qurum izi bor</a:t>
                      </a:r>
                    </a:p>
                  </a:txBody>
                  <a:tcPr marL="73152" marR="73152" marT="36576" marB="36576">
                    <a:solidFill>
                      <a:srgbClr val="FFFFFF"/>
                    </a:solidFill>
                  </a:tcPr>
                </a:tc>
              </a:tr>
              <a:tr h="411480">
                <a:tc>
                  <a:txBody>
                    <a:bodyPr/>
                    <a:lstStyle/>
                    <a:p>
                      <a:r>
                        <a:rPr sz="1200" b="0">
                          <a:solidFill>
                            <a:srgbClr val="1F2937"/>
                          </a:solidFill>
                        </a:rPr>
                        <a:t>Qizdirilgan jism</a:t>
                      </a:r>
                    </a:p>
                  </a:txBody>
                  <a:tcPr marL="73152" marR="73152" marT="36576" marB="36576">
                    <a:solidFill>
                      <a:srgbClr val="E8EEF6"/>
                    </a:solidFill>
                  </a:tcPr>
                </a:tc>
                <a:tc>
                  <a:txBody>
                    <a:bodyPr/>
                    <a:lstStyle/>
                    <a:p>
                      <a:r>
                        <a:rPr sz="1200" b="0">
                          <a:solidFill>
                            <a:srgbClr val="1F2937"/>
                          </a:solidFill>
                        </a:rPr>
                        <a:t>Manbada ko‘rsatilmagan</a:t>
                      </a:r>
                    </a:p>
                  </a:txBody>
                  <a:tcPr marL="73152" marR="73152" marT="36576" marB="36576">
                    <a:solidFill>
                      <a:srgbClr val="E8EEF6"/>
                    </a:solidFill>
                  </a:tcPr>
                </a:tc>
                <a:tc>
                  <a:txBody>
                    <a:bodyPr/>
                    <a:lstStyle/>
                    <a:p>
                      <a:r>
                        <a:rPr sz="1200" b="0">
                          <a:solidFill>
                            <a:srgbClr val="1F2937"/>
                          </a:solidFill>
                        </a:rPr>
                        <a:t>Chuqur, cheklangan, kontakt shakliga mos</a:t>
                      </a:r>
                    </a:p>
                  </a:txBody>
                  <a:tcPr marL="73152" marR="73152" marT="36576" marB="36576">
                    <a:solidFill>
                      <a:srgbClr val="E8EEF6"/>
                    </a:solidFill>
                  </a:tcPr>
                </a:tc>
              </a:tr>
              <a:tr h="411480">
                <a:tc>
                  <a:txBody>
                    <a:bodyPr/>
                    <a:lstStyle/>
                    <a:p>
                      <a:r>
                        <a:rPr sz="1200" b="0">
                          <a:solidFill>
                            <a:srgbClr val="1F2937"/>
                          </a:solidFill>
                        </a:rPr>
                        <a:t>Bug‘, issiq gaz</a:t>
                      </a:r>
                    </a:p>
                  </a:txBody>
                  <a:tcPr marL="73152" marR="73152" marT="36576" marB="36576">
                    <a:solidFill>
                      <a:srgbClr val="FFFFFF"/>
                    </a:solidFill>
                  </a:tcPr>
                </a:tc>
                <a:tc>
                  <a:txBody>
                    <a:bodyPr/>
                    <a:lstStyle/>
                    <a:p>
                      <a:r>
                        <a:rPr sz="1200" b="0">
                          <a:solidFill>
                            <a:srgbClr val="1F2937"/>
                          </a:solidFill>
                        </a:rPr>
                        <a:t>Manbada ko‘rsatilmagan</a:t>
                      </a:r>
                    </a:p>
                  </a:txBody>
                  <a:tcPr marL="73152" marR="73152" marT="36576" marB="36576">
                    <a:solidFill>
                      <a:srgbClr val="FFFFFF"/>
                    </a:solidFill>
                  </a:tcPr>
                </a:tc>
                <a:tc>
                  <a:txBody>
                    <a:bodyPr/>
                    <a:lstStyle/>
                    <a:p>
                      <a:r>
                        <a:rPr sz="1200" b="0">
                          <a:solidFill>
                            <a:srgbClr val="1F2937"/>
                          </a:solidFill>
                        </a:rPr>
                        <a:t>Nafas yo‘llari kuyishi xos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Manbalar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maydoni va og‘irlik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Kaft qoidasi: bir kishining kafti tana yuzasining taxminan 1% ini tashkil etadi.</a:t>
            </a:r>
          </a:p>
          <a:p>
            <a:pPr>
              <a:spcAft>
                <a:spcPts val="800"/>
              </a:spcAft>
            </a:pPr>
            <a:r>
              <a:rPr sz="1800">
                <a:solidFill>
                  <a:srgbClr val="1F2937"/>
                </a:solidFill>
                <a:latin typeface="Calibri"/>
              </a:rPr>
              <a:t>▸  Diagnoz kasr shaklida yoziladi: suratda yuza, mahrajda daraja. Masalan: 30% (10%) / II-III.</a:t>
            </a:r>
          </a:p>
          <a:p>
            <a:pPr>
              <a:spcAft>
                <a:spcPts val="800"/>
              </a:spcAft>
            </a:pPr>
            <a:r>
              <a:rPr sz="1800">
                <a:solidFill>
                  <a:srgbClr val="1F2937"/>
                </a:solidFill>
                <a:latin typeface="Calibri"/>
              </a:rPr>
              <a:t>▸  Kuyish kasalligi yoki nafas yo‘llari shishi bo‘lsa, kichikroq yuza ham hayotga xavfli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57595"/>
                <a:gridCol w="2247389"/>
                <a:gridCol w="1982990"/>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III-IV daraja</a:t>
                      </a:r>
                    </a:p>
                  </a:txBody>
                  <a:tcPr marL="73152" marR="73152" marT="36576" marB="36576">
                    <a:solidFill>
                      <a:srgbClr val="E8EEF6"/>
                    </a:solidFill>
                  </a:tcPr>
                </a:tc>
                <a:tc>
                  <a:txBody>
                    <a:bodyPr/>
                    <a:lstStyle/>
                    <a:p>
                      <a:r>
                        <a:rPr sz="1200" b="0">
                          <a:solidFill>
                            <a:srgbClr val="1F2937"/>
                          </a:solidFill>
                        </a:rPr>
                        <a:t>Yuzaning 10% dan ortig‘i</a:t>
                      </a:r>
                    </a:p>
                  </a:txBody>
                  <a:tcPr marL="73152" marR="73152" marT="36576" marB="36576">
                    <a:solidFill>
                      <a:srgbClr val="E8EEF6"/>
                    </a:solidFill>
                  </a:tcPr>
                </a:tc>
                <a:tc>
                  <a:txBody>
                    <a:bodyPr/>
                    <a:lstStyle/>
                    <a:p>
                      <a:r>
                        <a:rPr sz="1200" b="0">
                          <a:solidFill>
                            <a:srgbClr val="1F2937"/>
                          </a:solidFill>
                        </a:rPr>
                        <a:t>Hayot uchun xavfli</a:t>
                      </a:r>
                    </a:p>
                  </a:txBody>
                  <a:tcPr marL="73152" marR="73152" marT="36576" marB="36576">
                    <a:solidFill>
                      <a:srgbClr val="E8EEF6"/>
                    </a:solidFill>
                  </a:tcPr>
                </a:tc>
              </a:tr>
              <a:tr h="411480">
                <a:tc>
                  <a:txBody>
                    <a:bodyPr/>
                    <a:lstStyle/>
                    <a:p>
                      <a:r>
                        <a:rPr sz="1200" b="0">
                          <a:solidFill>
                            <a:srgbClr val="1F2937"/>
                          </a:solidFill>
                        </a:rPr>
                        <a:t>III daraja</a:t>
                      </a:r>
                    </a:p>
                  </a:txBody>
                  <a:tcPr marL="73152" marR="73152" marT="36576" marB="36576">
                    <a:solidFill>
                      <a:srgbClr val="FFFFFF"/>
                    </a:solidFill>
                  </a:tcPr>
                </a:tc>
                <a:tc>
                  <a:txBody>
                    <a:bodyPr/>
                    <a:lstStyle/>
                    <a:p>
                      <a:r>
                        <a:rPr sz="1200" b="0">
                          <a:solidFill>
                            <a:srgbClr val="1F2937"/>
                          </a:solidFill>
                        </a:rPr>
                        <a:t>Yuzaning 15% dan ortig‘i</a:t>
                      </a:r>
                    </a:p>
                  </a:txBody>
                  <a:tcPr marL="73152" marR="73152" marT="36576" marB="36576">
                    <a:solidFill>
                      <a:srgbClr val="FFFFFF"/>
                    </a:solidFill>
                  </a:tcPr>
                </a:tc>
                <a:tc>
                  <a:txBody>
                    <a:bodyPr/>
                    <a:lstStyle/>
                    <a:p>
                      <a:r>
                        <a:rPr sz="1200" b="0">
                          <a:solidFill>
                            <a:srgbClr val="1F2937"/>
                          </a:solidFill>
                        </a:rPr>
                        <a:t>Hayot uchun xavfli</a:t>
                      </a:r>
                    </a:p>
                  </a:txBody>
                  <a:tcPr marL="73152" marR="73152" marT="36576" marB="36576">
                    <a:solidFill>
                      <a:srgbClr val="FFFFFF"/>
                    </a:solidFill>
                  </a:tcPr>
                </a:tc>
              </a:tr>
              <a:tr h="411480">
                <a:tc>
                  <a:txBody>
                    <a:bodyPr/>
                    <a:lstStyle/>
                    <a:p>
                      <a:r>
                        <a:rPr sz="1200" b="0">
                          <a:solidFill>
                            <a:srgbClr val="1F2937"/>
                          </a:solidFill>
                        </a:rPr>
                        <a:t>II daraja</a:t>
                      </a:r>
                    </a:p>
                  </a:txBody>
                  <a:tcPr marL="73152" marR="73152" marT="36576" marB="36576">
                    <a:solidFill>
                      <a:srgbClr val="E8EEF6"/>
                    </a:solidFill>
                  </a:tcPr>
                </a:tc>
                <a:tc>
                  <a:txBody>
                    <a:bodyPr/>
                    <a:lstStyle/>
                    <a:p>
                      <a:r>
                        <a:rPr sz="1200" b="0">
                          <a:solidFill>
                            <a:srgbClr val="1F2937"/>
                          </a:solidFill>
                        </a:rPr>
                        <a:t>Yuzaning 20% dan ortig‘i</a:t>
                      </a:r>
                    </a:p>
                  </a:txBody>
                  <a:tcPr marL="73152" marR="73152" marT="36576" marB="36576">
                    <a:solidFill>
                      <a:srgbClr val="E8EEF6"/>
                    </a:solidFill>
                  </a:tcPr>
                </a:tc>
                <a:tc>
                  <a:txBody>
                    <a:bodyPr/>
                    <a:lstStyle/>
                    <a:p>
                      <a:r>
                        <a:rPr sz="1200" b="0">
                          <a:solidFill>
                            <a:srgbClr val="1F2937"/>
                          </a:solidFill>
                        </a:rPr>
                        <a:t>Hayot uchun xavfli</a:t>
                      </a:r>
                    </a:p>
                  </a:txBody>
                  <a:tcPr marL="73152" marR="73152" marT="36576" marB="36576">
                    <a:solidFill>
                      <a:srgbClr val="E8EEF6"/>
                    </a:solidFill>
                  </a:tcPr>
                </a:tc>
              </a:tr>
              <a:tr h="411480">
                <a:tc>
                  <a:txBody>
                    <a:bodyPr/>
                    <a:lstStyle/>
                    <a:p>
                      <a:r>
                        <a:rPr sz="1200" b="0">
                          <a:solidFill>
                            <a:srgbClr val="1F2937"/>
                          </a:solidFill>
                        </a:rPr>
                        <a:t>To‘qqizliklar</a:t>
                      </a:r>
                    </a:p>
                  </a:txBody>
                  <a:tcPr marL="73152" marR="73152" marT="36576" marB="36576">
                    <a:solidFill>
                      <a:srgbClr val="FFFFFF"/>
                    </a:solidFill>
                  </a:tcPr>
                </a:tc>
                <a:tc>
                  <a:txBody>
                    <a:bodyPr/>
                    <a:lstStyle/>
                    <a:p>
                      <a:r>
                        <a:rPr sz="1200" b="0">
                          <a:solidFill>
                            <a:srgbClr val="1F2937"/>
                          </a:solidFill>
                        </a:rPr>
                        <a:t>Bosh/bo‘yin, qo‘l, son, boldir: 9%</a:t>
                      </a:r>
                    </a:p>
                  </a:txBody>
                  <a:tcPr marL="73152" marR="73152" marT="36576" marB="36576">
                    <a:solidFill>
                      <a:srgbClr val="FFFFFF"/>
                    </a:solidFill>
                  </a:tcPr>
                </a:tc>
                <a:tc>
                  <a:txBody>
                    <a:bodyPr/>
                    <a:lstStyle/>
                    <a:p>
                      <a:r>
                        <a:rPr sz="1200" b="0">
                          <a:solidFill>
                            <a:srgbClr val="1F2937"/>
                          </a:solidFill>
                        </a:rPr>
                        <a:t>Old, orqa yuza: 18%; oraliq 1%</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Maydon va xavf chegaralari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187, 188, 187-188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kasalligining to‘rt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Nafas yo‘llari kuyishi va is gazi qo‘shilsa, shokda o‘lim ehtimoli ikki va undan ko‘p marta ortadi.</a:t>
            </a:r>
          </a:p>
          <a:p>
            <a:pPr>
              <a:spcAft>
                <a:spcPts val="800"/>
              </a:spcAft>
            </a:pPr>
            <a:r>
              <a:rPr sz="1800">
                <a:solidFill>
                  <a:srgbClr val="1F2937"/>
                </a:solidFill>
                <a:latin typeface="Calibri"/>
              </a:rPr>
              <a:t>▸  Septikotoksemiyada pnevmoniya, abssess, flegmona, pielonefrit, sepsis va kaxeksiya (o‘ta ozish) kuzatiladi.</a:t>
            </a:r>
          </a:p>
          <a:p>
            <a:pPr>
              <a:spcAft>
                <a:spcPts val="800"/>
              </a:spcAft>
            </a:pPr>
            <a:r>
              <a:rPr sz="1800">
                <a:solidFill>
                  <a:srgbClr val="1F2937"/>
                </a:solidFill>
                <a:latin typeface="Calibri"/>
              </a:rPr>
              <a:t>▸  Kichik yoshdagi bolalarda va keksalarda kuyish kasalligi og‘irroq kechadi.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Kuyish shoki: 1 sutkagacha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Toksemiya: 1-2 hafta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Septikotoksemiya: 2-3 hafta–oy</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Rekonvalessensiya: tuzalish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Kuyish kasalligi davrlari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Alanga ta’sirining hayotiyligini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Qurum peshona suyagi bo‘shlig‘i, qon tomirlar, leykotsitlar va jigar Kupfer hujayralarida ham topiladi.</a:t>
            </a:r>
          </a:p>
          <a:p>
            <a:pPr>
              <a:spcAft>
                <a:spcPts val="800"/>
              </a:spcAft>
            </a:pPr>
            <a:r>
              <a:rPr sz="1800">
                <a:solidFill>
                  <a:srgbClr val="1F2937"/>
                </a:solidFill>
                <a:latin typeface="Calibri"/>
              </a:rPr>
              <a:t>▸  Ko‘z olmalari odatda shikastlanmaydi; qovoq terisi yoyilganda kuygan va kuymagan joylar navbatlashadi.</a:t>
            </a:r>
          </a:p>
          <a:p>
            <a:pPr>
              <a:spcAft>
                <a:spcPts val="800"/>
              </a:spcAft>
            </a:pPr>
            <a:r>
              <a:rPr sz="1800">
                <a:solidFill>
                  <a:srgbClr val="1F2937"/>
                </a:solidFill>
                <a:latin typeface="Calibri"/>
              </a:rPr>
              <a:t>▸  Arterial tromblar, o‘pka yog‘ emboliyasi va pufaklarda oqsilning ikki baravar ko‘pligi ham tiriklik belgisi.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01932"/>
                <a:gridCol w="2059527"/>
                <a:gridCol w="222651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Joyi</a:t>
                      </a:r>
                    </a:p>
                  </a:txBody>
                  <a:tcPr marL="73152" marR="73152" marT="36576" marB="36576">
                    <a:solidFill>
                      <a:srgbClr val="0B1F3A"/>
                    </a:solidFill>
                  </a:tcPr>
                </a:tc>
                <a:tc>
                  <a:txBody>
                    <a:bodyPr/>
                    <a:lstStyle/>
                    <a:p>
                      <a:r>
                        <a:rPr sz="1300" b="1">
                          <a:solidFill>
                            <a:srgbClr val="FFFFFF"/>
                          </a:solidFill>
                        </a:rPr>
                        <a:t>Ahamiyati</a:t>
                      </a:r>
                    </a:p>
                  </a:txBody>
                  <a:tcPr marL="73152" marR="73152" marT="36576" marB="36576">
                    <a:solidFill>
                      <a:srgbClr val="0B1F3A"/>
                    </a:solidFill>
                  </a:tcPr>
                </a:tc>
              </a:tr>
              <a:tr h="411480">
                <a:tc>
                  <a:txBody>
                    <a:bodyPr/>
                    <a:lstStyle/>
                    <a:p>
                      <a:r>
                        <a:rPr sz="1200" b="0">
                          <a:solidFill>
                            <a:srgbClr val="1F2937"/>
                          </a:solidFill>
                        </a:rPr>
                        <a:t>Qurum</a:t>
                      </a:r>
                    </a:p>
                  </a:txBody>
                  <a:tcPr marL="73152" marR="73152" marT="36576" marB="36576">
                    <a:solidFill>
                      <a:srgbClr val="E8EEF6"/>
                    </a:solidFill>
                  </a:tcPr>
                </a:tc>
                <a:tc>
                  <a:txBody>
                    <a:bodyPr/>
                    <a:lstStyle/>
                    <a:p>
                      <a:r>
                        <a:rPr sz="1200" b="0">
                          <a:solidFill>
                            <a:srgbClr val="1F2937"/>
                          </a:solidFill>
                        </a:rPr>
                        <a:t>Nafas yo‘li, qizilo‘ngach, oshqozon</a:t>
                      </a:r>
                    </a:p>
                  </a:txBody>
                  <a:tcPr marL="73152" marR="73152" marT="36576" marB="36576">
                    <a:solidFill>
                      <a:srgbClr val="E8EEF6"/>
                    </a:solidFill>
                  </a:tcPr>
                </a:tc>
                <a:tc>
                  <a:txBody>
                    <a:bodyPr/>
                    <a:lstStyle/>
                    <a:p>
                      <a:r>
                        <a:rPr sz="1200" b="0">
                          <a:solidFill>
                            <a:srgbClr val="1F2937"/>
                          </a:solidFill>
                        </a:rPr>
                        <a:t>Alanga hayotda ta’sir qilgan</a:t>
                      </a:r>
                    </a:p>
                  </a:txBody>
                  <a:tcPr marL="73152" marR="73152" marT="36576" marB="36576">
                    <a:solidFill>
                      <a:srgbClr val="E8EEF6"/>
                    </a:solidFill>
                  </a:tcPr>
                </a:tc>
              </a:tr>
              <a:tr h="411480">
                <a:tc>
                  <a:txBody>
                    <a:bodyPr/>
                    <a:lstStyle/>
                    <a:p>
                      <a:r>
                        <a:rPr sz="1200" b="0">
                          <a:solidFill>
                            <a:srgbClr val="1F2937"/>
                          </a:solidFill>
                        </a:rPr>
                        <a:t>Karboksigemoglobin</a:t>
                      </a:r>
                    </a:p>
                  </a:txBody>
                  <a:tcPr marL="73152" marR="73152" marT="36576" marB="36576">
                    <a:solidFill>
                      <a:srgbClr val="FFFFFF"/>
                    </a:solidFill>
                  </a:tcPr>
                </a:tc>
                <a:tc>
                  <a:txBody>
                    <a:bodyPr/>
                    <a:lstStyle/>
                    <a:p>
                      <a:r>
                        <a:rPr sz="1200" b="0">
                          <a:solidFill>
                            <a:srgbClr val="1F2937"/>
                          </a:solidFill>
                        </a:rPr>
                        <a:t>Yurak kameralari, chuqur qon tomirlar</a:t>
                      </a:r>
                    </a:p>
                  </a:txBody>
                  <a:tcPr marL="73152" marR="73152" marT="36576" marB="36576">
                    <a:solidFill>
                      <a:srgbClr val="FFFFFF"/>
                    </a:solidFill>
                  </a:tcPr>
                </a:tc>
                <a:tc>
                  <a:txBody>
                    <a:bodyPr/>
                    <a:lstStyle/>
                    <a:p>
                      <a:r>
                        <a:rPr sz="1200" b="0">
                          <a:solidFill>
                            <a:srgbClr val="1F2937"/>
                          </a:solidFill>
                        </a:rPr>
                        <a:t>Hayotda 60%gacha, keyin 20%dan oshmaydi</a:t>
                      </a:r>
                    </a:p>
                  </a:txBody>
                  <a:tcPr marL="73152" marR="73152" marT="36576" marB="36576">
                    <a:solidFill>
                      <a:srgbClr val="FFFFFF"/>
                    </a:solidFill>
                  </a:tcPr>
                </a:tc>
              </a:tr>
              <a:tr h="411480">
                <a:tc>
                  <a:txBody>
                    <a:bodyPr/>
                    <a:lstStyle/>
                    <a:p>
                      <a:r>
                        <a:rPr sz="1200" b="0">
                          <a:solidFill>
                            <a:srgbClr val="1F2937"/>
                          </a:solidFill>
                        </a:rPr>
                        <a:t>Karboksimioglobin</a:t>
                      </a:r>
                    </a:p>
                  </a:txBody>
                  <a:tcPr marL="73152" marR="73152" marT="36576" marB="36576">
                    <a:solidFill>
                      <a:srgbClr val="E8EEF6"/>
                    </a:solidFill>
                  </a:tcPr>
                </a:tc>
                <a:tc>
                  <a:txBody>
                    <a:bodyPr/>
                    <a:lstStyle/>
                    <a:p>
                      <a:r>
                        <a:rPr sz="1200" b="0">
                          <a:solidFill>
                            <a:srgbClr val="1F2937"/>
                          </a:solidFill>
                        </a:rPr>
                        <a:t>Chuqur joylashgan mushaklar</a:t>
                      </a:r>
                    </a:p>
                  </a:txBody>
                  <a:tcPr marL="73152" marR="73152" marT="36576" marB="36576">
                    <a:solidFill>
                      <a:srgbClr val="E8EEF6"/>
                    </a:solidFill>
                  </a:tcPr>
                </a:tc>
                <a:tc>
                  <a:txBody>
                    <a:bodyPr/>
                    <a:lstStyle/>
                    <a:p>
                      <a:r>
                        <a:rPr sz="1200" b="0">
                          <a:solidFill>
                            <a:srgbClr val="1F2937"/>
                          </a:solidFill>
                        </a:rPr>
                        <a:t>Tiriklik belgisi, namuna chuqurdan olinadi</a:t>
                      </a:r>
                    </a:p>
                  </a:txBody>
                  <a:tcPr marL="73152" marR="73152" marT="36576" marB="36576">
                    <a:solidFill>
                      <a:srgbClr val="E8EEF6"/>
                    </a:solidFill>
                  </a:tcPr>
                </a:tc>
              </a:tr>
              <a:tr h="411480">
                <a:tc>
                  <a:txBody>
                    <a:bodyPr/>
                    <a:lstStyle/>
                    <a:p>
                      <a:r>
                        <a:rPr sz="1200" b="0">
                          <a:solidFill>
                            <a:srgbClr val="1F2937"/>
                          </a:solidFill>
                        </a:rPr>
                        <a:t>“G‘oz panjasi”</a:t>
                      </a:r>
                    </a:p>
                  </a:txBody>
                  <a:tcPr marL="73152" marR="73152" marT="36576" marB="36576">
                    <a:solidFill>
                      <a:srgbClr val="FFFFFF"/>
                    </a:solidFill>
                  </a:tcPr>
                </a:tc>
                <a:tc>
                  <a:txBody>
                    <a:bodyPr/>
                    <a:lstStyle/>
                    <a:p>
                      <a:r>
                        <a:rPr sz="1200" b="0">
                          <a:solidFill>
                            <a:srgbClr val="1F2937"/>
                          </a:solidFill>
                        </a:rPr>
                        <a:t>Qovoq burmalari terisi</a:t>
                      </a:r>
                    </a:p>
                  </a:txBody>
                  <a:tcPr marL="73152" marR="73152" marT="36576" marB="36576">
                    <a:solidFill>
                      <a:srgbClr val="FFFFFF"/>
                    </a:solidFill>
                  </a:tcPr>
                </a:tc>
                <a:tc>
                  <a:txBody>
                    <a:bodyPr/>
                    <a:lstStyle/>
                    <a:p>
                      <a:r>
                        <a:rPr sz="1200" b="0">
                          <a:solidFill>
                            <a:srgbClr val="1F2937"/>
                          </a:solidFill>
                        </a:rPr>
                        <a:t>Burma tubi qurumsiz, yuqorisi qurumli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Hayotiylik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yong‘indan topilgan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yong‘indan so‘ng tana to‘liq ko‘mirlangan, qo‘l-oyoqlari bukilgan “bokser pozasi”da topildi. Poza namlik bug‘lanishi, oqsil ivishi va mushaklar kaltalashishidan hosil bo‘ladi.</a:t>
            </a:r>
          </a:p>
          <a:p>
            <a:pPr>
              <a:spcAft>
                <a:spcPts val="1200"/>
              </a:spcAft>
            </a:pPr>
            <a:r>
              <a:rPr sz="2000">
                <a:solidFill>
                  <a:srgbClr val="1F2937"/>
                </a:solidFill>
                <a:latin typeface="Calibri"/>
              </a:rPr>
              <a:t>▸  Kalla ichida epidural gematoma aniqlandi. Savol: alanga o‘limdan oldin ta’sir qilganmi yoki keyinmi? Qaysi belgi va namunalarni tekshirasiz?</a:t>
            </a:r>
          </a:p>
          <a:p>
            <a:pPr>
              <a:spcAft>
                <a:spcPts val="1200"/>
              </a:spcAft>
            </a:pPr>
            <a:r>
              <a:rPr sz="2000">
                <a:solidFill>
                  <a:srgbClr val="1F2937"/>
                </a:solidFill>
                <a:latin typeface="Calibri"/>
              </a:rPr>
              <a:t>▸  Yong‘in o‘limi ko‘pincha is gazidan zaharlanishdan bo‘ladi, murda esa o‘limdan so‘ng ko‘mirlanadi. Shuning uchun teri va ichki a’zolarning mikroskopik tekshiruvi zarur.</a:t>
            </a:r>
          </a:p>
          <a:p>
            <a:pPr>
              <a:spcAft>
                <a:spcPts val="1200"/>
              </a:spcAft>
            </a:pPr>
            <a:r>
              <a:rPr sz="2000">
                <a:solidFill>
                  <a:srgbClr val="1F2937"/>
                </a:solidFill>
                <a:latin typeface="Calibri"/>
              </a:rPr>
              <a:t>▸  Diqqat: travmadan kelgan epidural gematoma urchuqsimon va qattiq pardaga birikkan; o‘limdan keyingi alanga ta’siridagisi o‘roqsimon va birikmagan.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190, 189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 omillar va sovuq qotish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Namlik, shamol, noto‘g‘ri kiyim, charchoq va mastlik sovuq qotishga moyillik yaratadi.</a:t>
            </a:r>
          </a:p>
          <a:p>
            <a:pPr>
              <a:spcAft>
                <a:spcPts val="800"/>
              </a:spcAft>
            </a:pPr>
            <a:r>
              <a:rPr sz="1800">
                <a:solidFill>
                  <a:srgbClr val="1F2937"/>
                </a:solidFill>
                <a:latin typeface="Calibri"/>
              </a:rPr>
              <a:t>▸  Go‘daklar termoregulyasiya to‘liq shakllanmagani va tana yuzasi nisbatan katta bo‘lgani uchun o‘ta sezgir.</a:t>
            </a:r>
          </a:p>
          <a:p>
            <a:pPr>
              <a:spcAft>
                <a:spcPts val="800"/>
              </a:spcAft>
            </a:pPr>
            <a:r>
              <a:rPr sz="1800">
                <a:solidFill>
                  <a:srgbClr val="1F2937"/>
                </a:solidFill>
                <a:latin typeface="Calibri"/>
              </a:rPr>
              <a:t>▸  Sovuq suvda o‘lim 1–1,5 soatda; to‘satdan tushganda qon tomir kollapsi yoki shokdan ham bo‘lishi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Kompensatsiya: issiqlik ↑</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Dekompensatsiya: harorat ↓</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+30…+28°S: po‘stloq buziladi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+25…+22°S: yakuniy bosqich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Sovuq qotish bosqichlari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qotishning murdadagi tashqi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qor tagidagi muz qatlami spetsifik emas — sovub ulgurmagan murdada ham hosil bo‘ladi.</a:t>
            </a:r>
          </a:p>
          <a:p>
            <a:pPr>
              <a:spcAft>
                <a:spcPts val="800"/>
              </a:spcAft>
            </a:pPr>
            <a:r>
              <a:rPr sz="1800">
                <a:solidFill>
                  <a:srgbClr val="1F2937"/>
                </a:solidFill>
                <a:latin typeface="Calibri"/>
              </a:rPr>
              <a:t>▸  Kuchli mastlikda “sovuq qotgan odam pozasi” bo‘lmasligi mumkin.</a:t>
            </a:r>
          </a:p>
          <a:p>
            <a:pPr>
              <a:spcAft>
                <a:spcPts val="800"/>
              </a:spcAft>
            </a:pPr>
            <a:r>
              <a:rPr sz="1800">
                <a:solidFill>
                  <a:srgbClr val="1F2937"/>
                </a:solidFill>
                <a:latin typeface="Calibri"/>
              </a:rPr>
              <a:t>▸  Musbat haroratda (+10°S gacha) dog‘lar ko‘kimtir-binafsha; manfiy haroratda pushti-qizg‘ish.</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82990"/>
                <a:gridCol w="3304984"/>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Ko‘rinishi</a:t>
                      </a:r>
                    </a:p>
                  </a:txBody>
                  <a:tcPr marL="73152" marR="73152" marT="36576" marB="36576">
                    <a:solidFill>
                      <a:srgbClr val="0B1F3A"/>
                    </a:solidFill>
                  </a:tcPr>
                </a:tc>
              </a:tr>
              <a:tr h="411480">
                <a:tc>
                  <a:txBody>
                    <a:bodyPr/>
                    <a:lstStyle/>
                    <a:p>
                      <a:r>
                        <a:rPr sz="1300" b="0">
                          <a:solidFill>
                            <a:srgbClr val="1F2937"/>
                          </a:solidFill>
                        </a:rPr>
                        <a:t>Sovuq qotgan odam pozasi</a:t>
                      </a:r>
                    </a:p>
                  </a:txBody>
                  <a:tcPr marL="73152" marR="73152" marT="36576" marB="36576">
                    <a:solidFill>
                      <a:srgbClr val="E8EEF6"/>
                    </a:solidFill>
                  </a:tcPr>
                </a:tc>
                <a:tc>
                  <a:txBody>
                    <a:bodyPr/>
                    <a:lstStyle/>
                    <a:p>
                      <a:r>
                        <a:rPr sz="1300" b="0">
                          <a:solidFill>
                            <a:srgbClr val="1F2937"/>
                          </a:solidFill>
                        </a:rPr>
                        <a:t>Qo‘llar ko‘krakka, oyoqlar qoringa bukilgan</a:t>
                      </a:r>
                    </a:p>
                  </a:txBody>
                  <a:tcPr marL="73152" marR="73152" marT="36576" marB="36576">
                    <a:solidFill>
                      <a:srgbClr val="E8EEF6"/>
                    </a:solidFill>
                  </a:tcPr>
                </a:tc>
              </a:tr>
              <a:tr h="411480">
                <a:tc>
                  <a:txBody>
                    <a:bodyPr/>
                    <a:lstStyle/>
                    <a:p>
                      <a:r>
                        <a:rPr sz="1300" b="0">
                          <a:solidFill>
                            <a:srgbClr val="1F2937"/>
                          </a:solidFill>
                        </a:rPr>
                        <a:t>Rayskiy belgilari</a:t>
                      </a:r>
                    </a:p>
                  </a:txBody>
                  <a:tcPr marL="73152" marR="73152" marT="36576" marB="36576">
                    <a:solidFill>
                      <a:srgbClr val="FFFFFF"/>
                    </a:solidFill>
                  </a:tcPr>
                </a:tc>
                <a:tc>
                  <a:txBody>
                    <a:bodyPr/>
                    <a:lstStyle/>
                    <a:p>
                      <a:r>
                        <a:rPr sz="1300" b="0">
                          <a:solidFill>
                            <a:srgbClr val="1F2937"/>
                          </a:solidFill>
                        </a:rPr>
                        <a:t>Og‘iz-burunda muz, qosh-kiprikda qirov</a:t>
                      </a:r>
                    </a:p>
                  </a:txBody>
                  <a:tcPr marL="73152" marR="73152" marT="36576" marB="36576">
                    <a:solidFill>
                      <a:srgbClr val="FFFFFF"/>
                    </a:solidFill>
                  </a:tcPr>
                </a:tc>
              </a:tr>
              <a:tr h="411480">
                <a:tc>
                  <a:txBody>
                    <a:bodyPr/>
                    <a:lstStyle/>
                    <a:p>
                      <a:r>
                        <a:rPr sz="1300" b="0">
                          <a:solidFill>
                            <a:srgbClr val="1F2937"/>
                          </a:solidFill>
                        </a:rPr>
                        <a:t>Puparev belgisi</a:t>
                      </a:r>
                    </a:p>
                  </a:txBody>
                  <a:tcPr marL="73152" marR="73152" marT="36576" marB="36576">
                    <a:solidFill>
                      <a:srgbClr val="E8EEF6"/>
                    </a:solidFill>
                  </a:tcPr>
                </a:tc>
                <a:tc>
                  <a:txBody>
                    <a:bodyPr/>
                    <a:lstStyle/>
                    <a:p>
                      <a:r>
                        <a:rPr sz="1300" b="0">
                          <a:solidFill>
                            <a:srgbClr val="1F2937"/>
                          </a:solidFill>
                        </a:rPr>
                        <a:t>Moyak qisqargan, yorg‘oq tepaga tortilgan</a:t>
                      </a:r>
                    </a:p>
                  </a:txBody>
                  <a:tcPr marL="73152" marR="73152" marT="36576" marB="36576">
                    <a:solidFill>
                      <a:srgbClr val="E8EEF6"/>
                    </a:solidFill>
                  </a:tcPr>
                </a:tc>
              </a:tr>
              <a:tr h="411480">
                <a:tc>
                  <a:txBody>
                    <a:bodyPr/>
                    <a:lstStyle/>
                    <a:p>
                      <a:r>
                        <a:rPr sz="1300" b="0">
                          <a:solidFill>
                            <a:srgbClr val="1F2937"/>
                          </a:solidFill>
                        </a:rPr>
                        <a:t>Dog‘lar rangi</a:t>
                      </a:r>
                    </a:p>
                  </a:txBody>
                  <a:tcPr marL="73152" marR="73152" marT="36576" marB="36576">
                    <a:solidFill>
                      <a:srgbClr val="FFFFFF"/>
                    </a:solidFill>
                  </a:tcPr>
                </a:tc>
                <a:tc>
                  <a:txBody>
                    <a:bodyPr/>
                    <a:lstStyle/>
                    <a:p>
                      <a:r>
                        <a:rPr sz="1300" b="0">
                          <a:solidFill>
                            <a:srgbClr val="1F2937"/>
                          </a:solidFill>
                        </a:rPr>
                        <a:t>Pushti-qizg‘ish, qonda kislorod ko‘p</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Tashqi belgilar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192, 192–193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qotishning ichki a’zolardagi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 tomir devori o‘tkazuvchanligi oshgani sababli ichki a’zolarda diapedez qon quyilishlar topiladi.</a:t>
            </a:r>
          </a:p>
          <a:p>
            <a:pPr>
              <a:spcAft>
                <a:spcPts val="800"/>
              </a:spcAft>
            </a:pPr>
            <a:r>
              <a:rPr sz="1800">
                <a:solidFill>
                  <a:srgbClr val="1F2937"/>
                </a:solidFill>
                <a:latin typeface="Calibri"/>
              </a:rPr>
              <a:t>▸  Innervatsiya buzilib, silliq mushaklar falajlanadi va siydik qopi siydikka to‘lgan bo‘ladi.</a:t>
            </a:r>
          </a:p>
          <a:p>
            <a:pPr>
              <a:spcAft>
                <a:spcPts val="800"/>
              </a:spcAft>
            </a:pPr>
            <a:r>
              <a:rPr sz="1800">
                <a:solidFill>
                  <a:srgbClr val="1F2937"/>
                </a:solidFill>
                <a:latin typeface="Calibri"/>
              </a:rPr>
              <a:t>▸  Vishnevskiy dog‘lari (oshqozon shilliq qavatida) 80–90% holatda uchraydi; tez o‘limda kam yoki yo‘q.</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02907"/>
                <a:gridCol w="3585067"/>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Topilma</a:t>
                      </a:r>
                    </a:p>
                  </a:txBody>
                  <a:tcPr marL="73152" marR="73152" marT="36576" marB="36576">
                    <a:solidFill>
                      <a:srgbClr val="0B1F3A"/>
                    </a:solidFill>
                  </a:tcPr>
                </a:tc>
              </a:tr>
              <a:tr h="411480">
                <a:tc>
                  <a:txBody>
                    <a:bodyPr/>
                    <a:lstStyle/>
                    <a:p>
                      <a:r>
                        <a:rPr sz="1300" b="0">
                          <a:solidFill>
                            <a:srgbClr val="1F2937"/>
                          </a:solidFill>
                        </a:rPr>
                        <a:t>To‘laqonlik, tus</a:t>
                      </a:r>
                    </a:p>
                  </a:txBody>
                  <a:tcPr marL="73152" marR="73152" marT="36576" marB="36576">
                    <a:solidFill>
                      <a:srgbClr val="E8EEF6"/>
                    </a:solidFill>
                  </a:tcPr>
                </a:tc>
                <a:tc>
                  <a:txBody>
                    <a:bodyPr/>
                    <a:lstStyle/>
                    <a:p>
                      <a:r>
                        <a:rPr sz="1300" b="0">
                          <a:solidFill>
                            <a:srgbClr val="1F2937"/>
                          </a:solidFill>
                        </a:rPr>
                        <a:t>A’zolar to‘laqon, to‘qimalar pushti-qizg‘ish</a:t>
                      </a:r>
                    </a:p>
                  </a:txBody>
                  <a:tcPr marL="73152" marR="73152" marT="36576" marB="36576">
                    <a:solidFill>
                      <a:srgbClr val="E8EEF6"/>
                    </a:solidFill>
                  </a:tcPr>
                </a:tc>
              </a:tr>
              <a:tr h="411480">
                <a:tc>
                  <a:txBody>
                    <a:bodyPr/>
                    <a:lstStyle/>
                    <a:p>
                      <a:r>
                        <a:rPr sz="1300" b="0">
                          <a:solidFill>
                            <a:srgbClr val="1F2937"/>
                          </a:solidFill>
                        </a:rPr>
                        <a:t>Qon</a:t>
                      </a:r>
                    </a:p>
                  </a:txBody>
                  <a:tcPr marL="73152" marR="73152" marT="36576" marB="36576">
                    <a:solidFill>
                      <a:srgbClr val="FFFFFF"/>
                    </a:solidFill>
                  </a:tcPr>
                </a:tc>
                <a:tc>
                  <a:txBody>
                    <a:bodyPr/>
                    <a:lstStyle/>
                    <a:p>
                      <a:r>
                        <a:rPr sz="1300" b="0">
                          <a:solidFill>
                            <a:srgbClr val="1F2937"/>
                          </a:solidFill>
                        </a:rPr>
                        <a:t>Chap yurak, aortada laxtali qip-qizil qon</a:t>
                      </a:r>
                    </a:p>
                  </a:txBody>
                  <a:tcPr marL="73152" marR="73152" marT="36576" marB="36576">
                    <a:solidFill>
                      <a:srgbClr val="FFFFFF"/>
                    </a:solidFill>
                  </a:tcPr>
                </a:tc>
              </a:tr>
              <a:tr h="411480">
                <a:tc>
                  <a:txBody>
                    <a:bodyPr/>
                    <a:lstStyle/>
                    <a:p>
                      <a:r>
                        <a:rPr sz="1300" b="0">
                          <a:solidFill>
                            <a:srgbClr val="1F2937"/>
                          </a:solidFill>
                        </a:rPr>
                        <a:t>Puxnarevich belgisi</a:t>
                      </a:r>
                    </a:p>
                  </a:txBody>
                  <a:tcPr marL="73152" marR="73152" marT="36576" marB="36576">
                    <a:solidFill>
                      <a:srgbClr val="E8EEF6"/>
                    </a:solidFill>
                  </a:tcPr>
                </a:tc>
                <a:tc>
                  <a:txBody>
                    <a:bodyPr/>
                    <a:lstStyle/>
                    <a:p>
                      <a:r>
                        <a:rPr sz="1300" b="0">
                          <a:solidFill>
                            <a:srgbClr val="1F2937"/>
                          </a:solidFill>
                        </a:rPr>
                        <a:t>Oshqozon bo‘sh, o‘lchami ancha kichik</a:t>
                      </a:r>
                    </a:p>
                  </a:txBody>
                  <a:tcPr marL="73152" marR="73152" marT="36576" marB="36576">
                    <a:solidFill>
                      <a:srgbClr val="E8EEF6"/>
                    </a:solidFill>
                  </a:tcPr>
                </a:tc>
              </a:tr>
              <a:tr h="411480">
                <a:tc>
                  <a:txBody>
                    <a:bodyPr/>
                    <a:lstStyle/>
                    <a:p>
                      <a:r>
                        <a:rPr sz="1300" b="0">
                          <a:solidFill>
                            <a:srgbClr val="1F2937"/>
                          </a:solidFill>
                        </a:rPr>
                        <a:t>Fabrikantov belgisi</a:t>
                      </a:r>
                    </a:p>
                  </a:txBody>
                  <a:tcPr marL="73152" marR="73152" marT="36576" marB="36576">
                    <a:solidFill>
                      <a:srgbClr val="FFFFFF"/>
                    </a:solidFill>
                  </a:tcPr>
                </a:tc>
                <a:tc>
                  <a:txBody>
                    <a:bodyPr/>
                    <a:lstStyle/>
                    <a:p>
                      <a:r>
                        <a:rPr sz="1300" b="0">
                          <a:solidFill>
                            <a:srgbClr val="1F2937"/>
                          </a:solidFill>
                        </a:rPr>
                        <a:t>Buyrak jomida mayda qon quyilishlar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belgilar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Vishnevskiy dog‘lari: belgi va mexanizm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Oshqozon, ba’zan o‘n ikki barmoqli ichak shilliq qavatida diametri 0,5 sm gacha mayda qon quyilishlar bo‘ladi.</a:t>
            </a:r>
          </a:p>
          <a:p>
            <a:pPr>
              <a:spcAft>
                <a:spcPts val="800"/>
              </a:spcAft>
            </a:pPr>
            <a:r>
              <a:rPr sz="1800">
                <a:solidFill>
                  <a:srgbClr val="1F2937"/>
                </a:solidFill>
                <a:latin typeface="Calibri"/>
              </a:rPr>
              <a:t>▸  Sovuq qotishdan o‘lganlarning 80-90%ida uchraydi, o‘limdan 6-9 oy keyin ham aniqlanishi mumkin.</a:t>
            </a:r>
          </a:p>
          <a:p>
            <a:pPr>
              <a:spcAft>
                <a:spcPts val="800"/>
              </a:spcAft>
            </a:pPr>
            <a:r>
              <a:rPr sz="1800">
                <a:solidFill>
                  <a:srgbClr val="1F2937"/>
                </a:solidFill>
                <a:latin typeface="Calibri"/>
              </a:rPr>
              <a:t>▸  Tez o‘limda dog‘lar kam yoki yo‘q, bolalarda ko‘pincha kuzatilmaydi; sekin o‘limda ko‘p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Past harorat ta’siri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Vegetativ nerv buzilishi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tomir spazmi, diapedez</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Gemorragik infarkt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Vishnevskiy dog‘lari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Dog‘lar paydo bo‘lish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193, 193-194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Mikroskopiya, gistokimyo va muzlagan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Mikroskopiyada buyrak to‘g‘ri naychalari epiteliysining proliferatsiyasi va nekrobiotik o‘zgarishlari topiladi (Kasyanov belgisi).</a:t>
            </a:r>
          </a:p>
          <a:p>
            <a:pPr>
              <a:spcAft>
                <a:spcPts val="1200"/>
              </a:spcAft>
            </a:pPr>
            <a:r>
              <a:rPr sz="2000">
                <a:solidFill>
                  <a:srgbClr val="1F2937"/>
                </a:solidFill>
                <a:latin typeface="Calibri"/>
              </a:rPr>
              <a:t>▸  Jigar, oshqozon osti bezi, yurak va miyada glikogen, buyrak usti bezi po‘stlog‘ida lipoidlar yo‘qoladi. Juda tez o‘limda qand kamayadi, jigarda glikogen esa saqlanib qolishi mumkin.</a:t>
            </a:r>
          </a:p>
          <a:p>
            <a:pPr>
              <a:spcAft>
                <a:spcPts val="1200"/>
              </a:spcAft>
            </a:pPr>
            <a:r>
              <a:rPr sz="2000">
                <a:solidFill>
                  <a:srgbClr val="1F2937"/>
                </a:solidFill>
                <a:latin typeface="Calibri"/>
              </a:rPr>
              <a:t>▸  Kuchli mastlikda sovuq ta’sirida qonda alkogol kam, siydikda esa ko‘p bo‘lishi mumkin; sababi alkogolning kuchli utilizatsiyasi.</a:t>
            </a:r>
          </a:p>
          <a:p>
            <a:pPr>
              <a:spcAft>
                <a:spcPts val="1200"/>
              </a:spcAft>
            </a:pPr>
            <a:r>
              <a:rPr sz="2000">
                <a:solidFill>
                  <a:srgbClr val="1F2937"/>
                </a:solidFill>
                <a:latin typeface="Calibri"/>
              </a:rPr>
              <a:t>▸  Minus haroratda muzlagan murdada mayda yoriqlar paydo bo‘ladi, miya muzlashi kalla suyaklarini sindirishi mumkin. Tez eritish gemoliz va imbibitsiyani kuchaytiradi.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194, 194-195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urish: darajalar va xususiyatlar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Yashirin davr — sovish vaqti; reaktiv davr isishdan so‘ng boshlanib, chuqurlikka qarab daraja ajratiladi.</a:t>
            </a:r>
          </a:p>
          <a:p>
            <a:pPr>
              <a:spcAft>
                <a:spcPts val="800"/>
              </a:spcAft>
            </a:pPr>
            <a:r>
              <a:rPr sz="1800">
                <a:solidFill>
                  <a:srgbClr val="1F2937"/>
                </a:solidFill>
                <a:latin typeface="Calibri"/>
              </a:rPr>
              <a:t>▸  Repersussiya: bir tomon sovuq ursa, qarama-qarshi qo‘l yoki oyoqda ham o‘zgarish rivojlanishi mumkin.</a:t>
            </a:r>
          </a:p>
          <a:p>
            <a:pPr>
              <a:spcAft>
                <a:spcPts val="800"/>
              </a:spcAft>
            </a:pPr>
            <a:r>
              <a:rPr sz="1800">
                <a:solidFill>
                  <a:srgbClr val="1F2937"/>
                </a:solidFill>
                <a:latin typeface="Calibri"/>
              </a:rPr>
              <a:t>▸  10%dan ortiq yuzaning III-IV, 15%dan ortiq III, 20%dan ortiq II daraja sovuq urishi hayot uchun xavfli.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09759"/>
                <a:gridCol w="2217537"/>
                <a:gridCol w="2160677"/>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Asosiy belgi</a:t>
                      </a:r>
                    </a:p>
                  </a:txBody>
                  <a:tcPr marL="73152" marR="73152" marT="36576" marB="36576">
                    <a:solidFill>
                      <a:srgbClr val="0B1F3A"/>
                    </a:solidFill>
                  </a:tcPr>
                </a:tc>
                <a:tc>
                  <a:txBody>
                    <a:bodyPr/>
                    <a:lstStyle/>
                    <a:p>
                      <a:r>
                        <a:rPr sz="1300" b="1">
                          <a:solidFill>
                            <a:srgbClr val="FFFFFF"/>
                          </a:solidFill>
                        </a:rPr>
                        <a:t>Tuzalish</a:t>
                      </a:r>
                    </a:p>
                  </a:txBody>
                  <a:tcPr marL="73152" marR="73152" marT="36576" marB="36576">
                    <a:solidFill>
                      <a:srgbClr val="0B1F3A"/>
                    </a:solidFill>
                  </a:tcPr>
                </a:tc>
              </a:tr>
              <a:tr h="411480">
                <a:tc>
                  <a:txBody>
                    <a:bodyPr/>
                    <a:lstStyle/>
                    <a:p>
                      <a:r>
                        <a:rPr sz="1200" b="0">
                          <a:solidFill>
                            <a:srgbClr val="1F2937"/>
                          </a:solidFill>
                        </a:rPr>
                        <a:t>I</a:t>
                      </a:r>
                    </a:p>
                  </a:txBody>
                  <a:tcPr marL="73152" marR="73152" marT="36576" marB="36576">
                    <a:solidFill>
                      <a:srgbClr val="E8EEF6"/>
                    </a:solidFill>
                  </a:tcPr>
                </a:tc>
                <a:tc>
                  <a:txBody>
                    <a:bodyPr/>
                    <a:lstStyle/>
                    <a:p>
                      <a:r>
                        <a:rPr sz="1200" b="0">
                          <a:solidFill>
                            <a:srgbClr val="1F2937"/>
                          </a:solidFill>
                        </a:rPr>
                        <a:t>Qizg‘ish-ko‘kimtir, biroz shishgan teri</a:t>
                      </a:r>
                    </a:p>
                  </a:txBody>
                  <a:tcPr marL="73152" marR="73152" marT="36576" marB="36576">
                    <a:solidFill>
                      <a:srgbClr val="E8EEF6"/>
                    </a:solidFill>
                  </a:tcPr>
                </a:tc>
                <a:tc>
                  <a:txBody>
                    <a:bodyPr/>
                    <a:lstStyle/>
                    <a:p>
                      <a:r>
                        <a:rPr sz="1200" b="0">
                          <a:solidFill>
                            <a:srgbClr val="1F2937"/>
                          </a:solidFill>
                        </a:rPr>
                        <a:t>3-7 kunda o‘tadi</a:t>
                      </a:r>
                    </a:p>
                  </a:txBody>
                  <a:tcPr marL="73152" marR="73152" marT="36576" marB="36576">
                    <a:solidFill>
                      <a:srgbClr val="E8EEF6"/>
                    </a:solidFill>
                  </a:tcPr>
                </a:tc>
              </a:tr>
              <a:tr h="411480">
                <a:tc>
                  <a:txBody>
                    <a:bodyPr/>
                    <a:lstStyle/>
                    <a:p>
                      <a:r>
                        <a:rPr sz="1200" b="0">
                          <a:solidFill>
                            <a:srgbClr val="1F2937"/>
                          </a:solidFill>
                        </a:rPr>
                        <a:t>II</a:t>
                      </a:r>
                    </a:p>
                  </a:txBody>
                  <a:tcPr marL="73152" marR="73152" marT="36576" marB="36576">
                    <a:solidFill>
                      <a:srgbClr val="FFFFFF"/>
                    </a:solidFill>
                  </a:tcPr>
                </a:tc>
                <a:tc>
                  <a:txBody>
                    <a:bodyPr/>
                    <a:lstStyle/>
                    <a:p>
                      <a:r>
                        <a:rPr sz="1200" b="0">
                          <a:solidFill>
                            <a:srgbClr val="1F2937"/>
                          </a:solidFill>
                        </a:rPr>
                        <a:t>Tiniq suyuqlikli pufaklar</a:t>
                      </a:r>
                    </a:p>
                  </a:txBody>
                  <a:tcPr marL="73152" marR="73152" marT="36576" marB="36576">
                    <a:solidFill>
                      <a:srgbClr val="FFFFFF"/>
                    </a:solidFill>
                  </a:tcPr>
                </a:tc>
                <a:tc>
                  <a:txBody>
                    <a:bodyPr/>
                    <a:lstStyle/>
                    <a:p>
                      <a:r>
                        <a:rPr sz="1200" b="0">
                          <a:solidFill>
                            <a:srgbClr val="1F2937"/>
                          </a:solidFill>
                        </a:rPr>
                        <a:t>10-20 kun, chandiqsiz</a:t>
                      </a:r>
                    </a:p>
                  </a:txBody>
                  <a:tcPr marL="73152" marR="73152" marT="36576" marB="36576">
                    <a:solidFill>
                      <a:srgbClr val="FFFFFF"/>
                    </a:solidFill>
                  </a:tcPr>
                </a:tc>
              </a:tr>
              <a:tr h="411480">
                <a:tc>
                  <a:txBody>
                    <a:bodyPr/>
                    <a:lstStyle/>
                    <a:p>
                      <a:r>
                        <a:rPr sz="1200" b="0">
                          <a:solidFill>
                            <a:srgbClr val="1F2937"/>
                          </a:solidFill>
                        </a:rPr>
                        <a:t>III</a:t>
                      </a:r>
                    </a:p>
                  </a:txBody>
                  <a:tcPr marL="73152" marR="73152" marT="36576" marB="36576">
                    <a:solidFill>
                      <a:srgbClr val="E8EEF6"/>
                    </a:solidFill>
                  </a:tcPr>
                </a:tc>
                <a:tc>
                  <a:txBody>
                    <a:bodyPr/>
                    <a:lstStyle/>
                    <a:p>
                      <a:r>
                        <a:rPr sz="1200" b="0">
                          <a:solidFill>
                            <a:srgbClr val="1F2937"/>
                          </a:solidFill>
                        </a:rPr>
                        <a:t>Teri nekrozi, gemorragik pufaklar</a:t>
                      </a:r>
                    </a:p>
                  </a:txBody>
                  <a:tcPr marL="73152" marR="73152" marT="36576" marB="36576">
                    <a:solidFill>
                      <a:srgbClr val="E8EEF6"/>
                    </a:solidFill>
                  </a:tcPr>
                </a:tc>
                <a:tc>
                  <a:txBody>
                    <a:bodyPr/>
                    <a:lstStyle/>
                    <a:p>
                      <a:r>
                        <a:rPr sz="1200" b="0">
                          <a:solidFill>
                            <a:srgbClr val="1F2937"/>
                          </a:solidFill>
                        </a:rPr>
                        <a:t>1-2 oy, chandiq bilan</a:t>
                      </a:r>
                    </a:p>
                  </a:txBody>
                  <a:tcPr marL="73152" marR="73152" marT="36576" marB="36576">
                    <a:solidFill>
                      <a:srgbClr val="E8EEF6"/>
                    </a:solidFill>
                  </a:tcPr>
                </a:tc>
              </a:tr>
              <a:tr h="411480">
                <a:tc>
                  <a:txBody>
                    <a:bodyPr/>
                    <a:lstStyle/>
                    <a:p>
                      <a:r>
                        <a:rPr sz="1200" b="0">
                          <a:solidFill>
                            <a:srgbClr val="1F2937"/>
                          </a:solidFill>
                        </a:rPr>
                        <a:t>IV</a:t>
                      </a:r>
                    </a:p>
                  </a:txBody>
                  <a:tcPr marL="73152" marR="73152" marT="36576" marB="36576">
                    <a:solidFill>
                      <a:srgbClr val="FFFFFF"/>
                    </a:solidFill>
                  </a:tcPr>
                </a:tc>
                <a:tc>
                  <a:txBody>
                    <a:bodyPr/>
                    <a:lstStyle/>
                    <a:p>
                      <a:r>
                        <a:rPr sz="1200" b="0">
                          <a:solidFill>
                            <a:srgbClr val="1F2937"/>
                          </a:solidFill>
                        </a:rPr>
                        <a:t>To‘qima va suyak nekrozi</a:t>
                      </a:r>
                    </a:p>
                  </a:txBody>
                  <a:tcPr marL="73152" marR="73152" marT="36576" marB="36576">
                    <a:solidFill>
                      <a:srgbClr val="FFFFFF"/>
                    </a:solidFill>
                  </a:tcPr>
                </a:tc>
                <a:tc>
                  <a:txBody>
                    <a:bodyPr/>
                    <a:lstStyle/>
                    <a:p>
                      <a:r>
                        <a:rPr sz="1200" b="0">
                          <a:solidFill>
                            <a:srgbClr val="1F2937"/>
                          </a:solidFill>
                        </a:rPr>
                        <a:t>Hafta-oylarda ajralib, cho‘ltoq qoladi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Sovuq urish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195, 196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sovuq qotish va sovuq urish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qishda ochiq joyda mast shaxs murdasi topildi, qo‘llari ko‘krakka, oyoqlari qorinka bukilgan. Savol: qaysi belgilar past harorat hayotiy ta’sir qilganini tasdiqlaydi?</a:t>
            </a:r>
          </a:p>
          <a:p>
            <a:pPr>
              <a:spcAft>
                <a:spcPts val="1200"/>
              </a:spcAft>
            </a:pPr>
            <a:r>
              <a:rPr sz="2000">
                <a:solidFill>
                  <a:srgbClr val="1F2937"/>
                </a:solidFill>
                <a:latin typeface="Calibri"/>
              </a:rPr>
              <a:t>▸  Bukilgan “sovuq qotgan odam pozasi” hayotiy ta’sirdan dalolat beradi. Kuchli mast shaxslarda bu poza bo‘lmasligi mumkin, shuning uchun uning yo‘qligi ta’sirni inkor etmaydi.</a:t>
            </a:r>
          </a:p>
          <a:p>
            <a:pPr>
              <a:spcAft>
                <a:spcPts val="1200"/>
              </a:spcAft>
            </a:pPr>
            <a:r>
              <a:rPr sz="2000">
                <a:solidFill>
                  <a:srgbClr val="1F2937"/>
                </a:solidFill>
                <a:latin typeface="Calibri"/>
              </a:rPr>
              <a:t>▸  Oshqozon shilliq qavatidagi mayda (0,5 sm gacha) qon quyilishlar, ya’ni Vishnevskiy dog‘lari, 80-90% holatda uchraydi. O‘lim tez bo‘lsa, ular kam yoki umuman bo‘lmasligi mumkin.</a:t>
            </a:r>
          </a:p>
          <a:p>
            <a:pPr>
              <a:spcAft>
                <a:spcPts val="1200"/>
              </a:spcAft>
            </a:pPr>
            <a:r>
              <a:rPr sz="2000">
                <a:solidFill>
                  <a:srgbClr val="1F2937"/>
                </a:solidFill>
                <a:latin typeface="Calibri"/>
              </a:rPr>
              <a:t>▸  Kuchli mastlikda sovuq ta’sirida qonda alkogol past, siydikda esa baland bo‘lishi mumkin. Sababi organizmning alkogolni kuchli utilizatsiya qilishidir.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192, 193, 194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Elektrotravma: xususiyatlari va tok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Elektrotravma jarohatlarning 1-2,5% ini tashkil etsa-da, nogironlik va o‘lim bo‘yicha etakchi o‘rinda turadi.</a:t>
            </a:r>
          </a:p>
          <a:p>
            <a:pPr>
              <a:spcAft>
                <a:spcPts val="800"/>
              </a:spcAft>
            </a:pPr>
            <a:r>
              <a:rPr sz="1800">
                <a:solidFill>
                  <a:srgbClr val="1F2937"/>
                </a:solidFill>
                <a:latin typeface="Calibri"/>
              </a:rPr>
              <a:t>▸  Tokni maxsus asbobsiz aniqlab bo‘lmaydi; u kontakt, bilvosita yoki masofadan ta’sir qilishi mumkin.</a:t>
            </a:r>
          </a:p>
          <a:p>
            <a:pPr>
              <a:spcAft>
                <a:spcPts val="800"/>
              </a:spcAft>
            </a:pPr>
            <a:r>
              <a:rPr sz="1800">
                <a:solidFill>
                  <a:srgbClr val="1F2937"/>
                </a:solidFill>
                <a:latin typeface="Calibri"/>
              </a:rPr>
              <a:t>▸  Ta’sir qisqa bo‘lsa ham, jarohat hajmi va og‘irligi o‘rtasida nomutanosiblik kuzatiladi.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38320"/>
                <a:gridCol w="3749655"/>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Muhim ma’lumot</a:t>
                      </a:r>
                    </a:p>
                  </a:txBody>
                  <a:tcPr marL="73152" marR="73152" marT="36576" marB="36576">
                    <a:solidFill>
                      <a:srgbClr val="0B1F3A"/>
                    </a:solidFill>
                  </a:tcPr>
                </a:tc>
              </a:tr>
              <a:tr h="411480">
                <a:tc>
                  <a:txBody>
                    <a:bodyPr/>
                    <a:lstStyle/>
                    <a:p>
                      <a:r>
                        <a:rPr sz="1300" b="0">
                          <a:solidFill>
                            <a:srgbClr val="1F2937"/>
                          </a:solidFill>
                        </a:rPr>
                        <a:t>Tok turi</a:t>
                      </a:r>
                    </a:p>
                  </a:txBody>
                  <a:tcPr marL="73152" marR="73152" marT="36576" marB="36576">
                    <a:solidFill>
                      <a:srgbClr val="E8EEF6"/>
                    </a:solidFill>
                  </a:tcPr>
                </a:tc>
                <a:tc>
                  <a:txBody>
                    <a:bodyPr/>
                    <a:lstStyle/>
                    <a:p>
                      <a:r>
                        <a:rPr sz="1300" b="0">
                          <a:solidFill>
                            <a:srgbClr val="1F2937"/>
                          </a:solidFill>
                        </a:rPr>
                        <a:t>500 V gacha o‘zgaruvchan tok xavfliroq</a:t>
                      </a:r>
                    </a:p>
                  </a:txBody>
                  <a:tcPr marL="73152" marR="73152" marT="36576" marB="36576">
                    <a:solidFill>
                      <a:srgbClr val="E8EEF6"/>
                    </a:solidFill>
                  </a:tcPr>
                </a:tc>
              </a:tr>
              <a:tr h="411480">
                <a:tc>
                  <a:txBody>
                    <a:bodyPr/>
                    <a:lstStyle/>
                    <a:p>
                      <a:r>
                        <a:rPr sz="1300" b="0">
                          <a:solidFill>
                            <a:srgbClr val="1F2937"/>
                          </a:solidFill>
                        </a:rPr>
                        <a:t>Kuchlanish</a:t>
                      </a:r>
                    </a:p>
                  </a:txBody>
                  <a:tcPr marL="73152" marR="73152" marT="36576" marB="36576">
                    <a:solidFill>
                      <a:srgbClr val="FFFFFF"/>
                    </a:solidFill>
                  </a:tcPr>
                </a:tc>
                <a:tc>
                  <a:txBody>
                    <a:bodyPr/>
                    <a:lstStyle/>
                    <a:p>
                      <a:r>
                        <a:rPr sz="1300" b="0">
                          <a:solidFill>
                            <a:srgbClr val="1F2937"/>
                          </a:solidFill>
                        </a:rPr>
                        <a:t>24 V xavfsiz; o‘limlar ko‘pi 220-380 V</a:t>
                      </a:r>
                    </a:p>
                  </a:txBody>
                  <a:tcPr marL="73152" marR="73152" marT="36576" marB="36576">
                    <a:solidFill>
                      <a:srgbClr val="FFFFFF"/>
                    </a:solidFill>
                  </a:tcPr>
                </a:tc>
              </a:tr>
              <a:tr h="411480">
                <a:tc>
                  <a:txBody>
                    <a:bodyPr/>
                    <a:lstStyle/>
                    <a:p>
                      <a:r>
                        <a:rPr sz="1300" b="0">
                          <a:solidFill>
                            <a:srgbClr val="1F2937"/>
                          </a:solidFill>
                        </a:rPr>
                        <a:t>Tok kuchi</a:t>
                      </a:r>
                    </a:p>
                  </a:txBody>
                  <a:tcPr marL="73152" marR="73152" marT="36576" marB="36576">
                    <a:solidFill>
                      <a:srgbClr val="E8EEF6"/>
                    </a:solidFill>
                  </a:tcPr>
                </a:tc>
                <a:tc>
                  <a:txBody>
                    <a:bodyPr/>
                    <a:lstStyle/>
                    <a:p>
                      <a:r>
                        <a:rPr sz="1300" b="0">
                          <a:solidFill>
                            <a:srgbClr val="1F2937"/>
                          </a:solidFill>
                        </a:rPr>
                        <a:t>50 mA xavfli; 100 mA da ko‘pincha o‘lim</a:t>
                      </a:r>
                    </a:p>
                  </a:txBody>
                  <a:tcPr marL="73152" marR="73152" marT="36576" marB="36576">
                    <a:solidFill>
                      <a:srgbClr val="E8EEF6"/>
                    </a:solidFill>
                  </a:tcPr>
                </a:tc>
              </a:tr>
              <a:tr h="411480">
                <a:tc>
                  <a:txBody>
                    <a:bodyPr/>
                    <a:lstStyle/>
                    <a:p>
                      <a:r>
                        <a:rPr sz="1300" b="0">
                          <a:solidFill>
                            <a:srgbClr val="1F2937"/>
                          </a:solidFill>
                        </a:rPr>
                        <a:t>Chastota</a:t>
                      </a:r>
                    </a:p>
                  </a:txBody>
                  <a:tcPr marL="73152" marR="73152" marT="36576" marB="36576">
                    <a:solidFill>
                      <a:srgbClr val="FFFFFF"/>
                    </a:solidFill>
                  </a:tcPr>
                </a:tc>
                <a:tc>
                  <a:txBody>
                    <a:bodyPr/>
                    <a:lstStyle/>
                    <a:p>
                      <a:r>
                        <a:rPr sz="1300" b="0">
                          <a:solidFill>
                            <a:srgbClr val="1F2937"/>
                          </a:solidFill>
                        </a:rPr>
                        <a:t>40-60 gers o‘ta xavfli; 10000+ zararsiz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Tok omillari: xavfli va xavfsiz chegaralar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196, 197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omillari va to‘qimalar qarshiligi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Bolalar, keksalar, homilador ayollar sezgirroq. Yurak, nerv, nafas kasalliklari, gipoksiya, mastlik va issiq urish organizm qarshiligini pasaytiradi.</a:t>
            </a:r>
          </a:p>
          <a:p>
            <a:pPr>
              <a:spcAft>
                <a:spcPts val="1200"/>
              </a:spcAft>
            </a:pPr>
            <a:r>
              <a:rPr sz="2000">
                <a:solidFill>
                  <a:srgbClr val="1F2937"/>
                </a:solidFill>
                <a:latin typeface="Calibri"/>
              </a:rPr>
              <a:t>▸  “Diqqat omili”: tok ehtimolini kutish ehtiyotkorlikka, tok urganda esa manbadan tez uzilishga olib keladi. Elektromonterlarda elektrotravma kam uchrashi shu bilan izohlanadi.</a:t>
            </a:r>
          </a:p>
          <a:p>
            <a:pPr>
              <a:spcAft>
                <a:spcPts val="1200"/>
              </a:spcAft>
            </a:pPr>
            <a:r>
              <a:rPr sz="2000">
                <a:solidFill>
                  <a:srgbClr val="1F2937"/>
                </a:solidFill>
                <a:latin typeface="Calibri"/>
              </a:rPr>
              <a:t>▸  Qarshilik oshib borishi: qon, shilliq qavat, jigar, buyrak, mushak, miya, o‘pka, boylam, tog‘ay, nerv, suyak, teri. Morfologik o‘zgarishlar asosan suyak va terida.</a:t>
            </a:r>
          </a:p>
          <a:p>
            <a:pPr>
              <a:spcAft>
                <a:spcPts val="1200"/>
              </a:spcAft>
            </a:pPr>
            <a:r>
              <a:rPr sz="2000">
                <a:solidFill>
                  <a:srgbClr val="1F2937"/>
                </a:solidFill>
                <a:latin typeface="Calibri"/>
              </a:rPr>
              <a:t>▸  Nam teri va terlash xavfni oshiradi, shuning uchun o‘lim yozda ko‘proq. Rezina, teri, shoyi qarshiligi katta; nam kiyim va metall bezaklar qarshilikni kamaytiradi.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 sirtmog‘i va qadam kuchlanishi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 yurak va bosh miya orqali o‘tsa xavfli: yuqori, chap, chap egri, chap to‘liq sirtmoqlar.</a:t>
            </a:r>
          </a:p>
          <a:p>
            <a:pPr>
              <a:spcAft>
                <a:spcPts val="800"/>
              </a:spcAft>
            </a:pPr>
            <a:r>
              <a:rPr sz="1800">
                <a:solidFill>
                  <a:srgbClr val="1F2937"/>
                </a:solidFill>
                <a:latin typeface="Calibri"/>
              </a:rPr>
              <a:t>▸  Ikki qutbli yoki yerga ulangan holatda tok tarqaladi; izolyatsiyalangan bir qutbli ulanish odatda xavfsiz.</a:t>
            </a:r>
          </a:p>
          <a:p>
            <a:pPr>
              <a:spcAft>
                <a:spcPts val="800"/>
              </a:spcAft>
            </a:pPr>
            <a:r>
              <a:rPr sz="1800">
                <a:solidFill>
                  <a:srgbClr val="1F2937"/>
                </a:solidFill>
                <a:latin typeface="Calibri"/>
              </a:rPr>
              <a:t>▸  Qadam kuchlanishi — 0,8 m oraliqdagi ikki nuqta potensiallari farqi; uzilgan sim yaqiniga 10 m dan yaqin bormang.</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Uzilgan sim yerga tushadi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Yerda elektr krateri hosil bo‘ladi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Oyoqlar potensiali farq qiladi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Pastki sirtmoq, oyoq talvasasi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Yiqilish: to‘liq sirtmoq xavfi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Qadam kuchlanishi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199, 200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 tokining spetsifik va nospetsifik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Umumiy ta’sirda hujayra elektr jarayonlari buziladi: qorinchalar fibrillyasiyasi, nafas buzilishi, shok.</a:t>
            </a:r>
          </a:p>
          <a:p>
            <a:pPr>
              <a:spcAft>
                <a:spcPts val="800"/>
              </a:spcAft>
            </a:pPr>
            <a:r>
              <a:rPr sz="1800">
                <a:solidFill>
                  <a:srgbClr val="1F2937"/>
                </a:solidFill>
                <a:latin typeface="Calibri"/>
              </a:rPr>
              <a:t>▸  Suyakda kalsiy fosfat erib qotib, 1–5 mm li ichi bo‘sh oq sharchalar — “marvarid marjonlari” hosil bo‘ladi.</a:t>
            </a:r>
          </a:p>
          <a:p>
            <a:pPr>
              <a:spcAft>
                <a:spcPts val="800"/>
              </a:spcAft>
            </a:pPr>
            <a:r>
              <a:rPr sz="1800">
                <a:solidFill>
                  <a:srgbClr val="1F2937"/>
                </a:solidFill>
                <a:latin typeface="Calibri"/>
              </a:rPr>
              <a:t>▸  Terida metall zarrachalari impregnatsiyasi — kimyoviy ta’sir; mexanik ta’sir yuqori kuchlanishda ko‘p.</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09759"/>
                <a:gridCol w="2103818"/>
                <a:gridCol w="2274397"/>
              </a:tblGrid>
              <a:tr h="411480">
                <a:tc>
                  <a:txBody>
                    <a:bodyPr/>
                    <a:lstStyle/>
                    <a:p>
                      <a:r>
                        <a:rPr sz="1300" b="1">
                          <a:solidFill>
                            <a:srgbClr val="FFFFFF"/>
                          </a:solidFill>
                        </a:rPr>
                        <a:t>Ta’sir</a:t>
                      </a:r>
                    </a:p>
                  </a:txBody>
                  <a:tcPr marL="73152" marR="73152" marT="36576" marB="36576">
                    <a:solidFill>
                      <a:srgbClr val="0B1F3A"/>
                    </a:solidFill>
                  </a:tcPr>
                </a:tc>
                <a:tc>
                  <a:txBody>
                    <a:bodyPr/>
                    <a:lstStyle/>
                    <a:p>
                      <a:r>
                        <a:rPr sz="1300" b="1">
                          <a:solidFill>
                            <a:srgbClr val="FFFFFF"/>
                          </a:solidFill>
                        </a:rPr>
                        <a:t>Mexanizm</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Kimyoviy</a:t>
                      </a:r>
                    </a:p>
                  </a:txBody>
                  <a:tcPr marL="73152" marR="73152" marT="36576" marB="36576">
                    <a:solidFill>
                      <a:srgbClr val="E8EEF6"/>
                    </a:solidFill>
                  </a:tcPr>
                </a:tc>
                <a:tc>
                  <a:txBody>
                    <a:bodyPr/>
                    <a:lstStyle/>
                    <a:p>
                      <a:r>
                        <a:rPr sz="1200" b="0">
                          <a:solidFill>
                            <a:srgbClr val="1F2937"/>
                          </a:solidFill>
                        </a:rPr>
                        <a:t>Ion muvozanati va qutblanish buziladi</a:t>
                      </a:r>
                    </a:p>
                  </a:txBody>
                  <a:tcPr marL="73152" marR="73152" marT="36576" marB="36576">
                    <a:solidFill>
                      <a:srgbClr val="E8EEF6"/>
                    </a:solidFill>
                  </a:tcPr>
                </a:tc>
                <a:tc>
                  <a:txBody>
                    <a:bodyPr/>
                    <a:lstStyle/>
                    <a:p>
                      <a:r>
                        <a:rPr sz="1200" b="0">
                          <a:solidFill>
                            <a:srgbClr val="1F2937"/>
                          </a:solidFill>
                        </a:rPr>
                        <a:t>Anod: koagulyatsion, katod: kollikvatsion</a:t>
                      </a:r>
                    </a:p>
                  </a:txBody>
                  <a:tcPr marL="73152" marR="73152" marT="36576" marB="36576">
                    <a:solidFill>
                      <a:srgbClr val="E8EEF6"/>
                    </a:solidFill>
                  </a:tcPr>
                </a:tc>
              </a:tr>
              <a:tr h="411480">
                <a:tc>
                  <a:txBody>
                    <a:bodyPr/>
                    <a:lstStyle/>
                    <a:p>
                      <a:r>
                        <a:rPr sz="1200" b="0">
                          <a:solidFill>
                            <a:srgbClr val="1F2937"/>
                          </a:solidFill>
                        </a:rPr>
                        <a:t>Termik</a:t>
                      </a:r>
                    </a:p>
                  </a:txBody>
                  <a:tcPr marL="73152" marR="73152" marT="36576" marB="36576">
                    <a:solidFill>
                      <a:srgbClr val="FFFFFF"/>
                    </a:solidFill>
                  </a:tcPr>
                </a:tc>
                <a:tc>
                  <a:txBody>
                    <a:bodyPr/>
                    <a:lstStyle/>
                    <a:p>
                      <a:r>
                        <a:rPr sz="1200" b="0">
                          <a:solidFill>
                            <a:srgbClr val="1F2937"/>
                          </a:solidFill>
                        </a:rPr>
                        <a:t>Tok issiqlikka aylanadi</a:t>
                      </a:r>
                    </a:p>
                  </a:txBody>
                  <a:tcPr marL="73152" marR="73152" marT="36576" marB="36576">
                    <a:solidFill>
                      <a:srgbClr val="FFFFFF"/>
                    </a:solidFill>
                  </a:tcPr>
                </a:tc>
                <a:tc>
                  <a:txBody>
                    <a:bodyPr/>
                    <a:lstStyle/>
                    <a:p>
                      <a:r>
                        <a:rPr sz="1200" b="0">
                          <a:solidFill>
                            <a:srgbClr val="1F2937"/>
                          </a:solidFill>
                        </a:rPr>
                        <a:t>Kuyish; suyakda marvarid marjonlari</a:t>
                      </a:r>
                    </a:p>
                  </a:txBody>
                  <a:tcPr marL="73152" marR="73152" marT="36576" marB="36576">
                    <a:solidFill>
                      <a:srgbClr val="FFFFFF"/>
                    </a:solidFill>
                  </a:tcPr>
                </a:tc>
              </a:tr>
              <a:tr h="411480">
                <a:tc>
                  <a:txBody>
                    <a:bodyPr/>
                    <a:lstStyle/>
                    <a:p>
                      <a:r>
                        <a:rPr sz="1200" b="0">
                          <a:solidFill>
                            <a:srgbClr val="1F2937"/>
                          </a:solidFill>
                        </a:rPr>
                        <a:t>Mexanik</a:t>
                      </a:r>
                    </a:p>
                  </a:txBody>
                  <a:tcPr marL="73152" marR="73152" marT="36576" marB="36576">
                    <a:solidFill>
                      <a:srgbClr val="E8EEF6"/>
                    </a:solidFill>
                  </a:tcPr>
                </a:tc>
                <a:tc>
                  <a:txBody>
                    <a:bodyPr/>
                    <a:lstStyle/>
                    <a:p>
                      <a:r>
                        <a:rPr sz="1200" b="0">
                          <a:solidFill>
                            <a:srgbClr val="1F2937"/>
                          </a:solidFill>
                        </a:rPr>
                        <a:t>Skelet mushaklari talvasasi</a:t>
                      </a:r>
                    </a:p>
                  </a:txBody>
                  <a:tcPr marL="73152" marR="73152" marT="36576" marB="36576">
                    <a:solidFill>
                      <a:srgbClr val="E8EEF6"/>
                    </a:solidFill>
                  </a:tcPr>
                </a:tc>
                <a:tc>
                  <a:txBody>
                    <a:bodyPr/>
                    <a:lstStyle/>
                    <a:p>
                      <a:r>
                        <a:rPr sz="1200" b="0">
                          <a:solidFill>
                            <a:srgbClr val="1F2937"/>
                          </a:solidFill>
                        </a:rPr>
                        <a:t>Bo‘g‘im chiqishi, suyak siniqlari, yaralar</a:t>
                      </a:r>
                    </a:p>
                  </a:txBody>
                  <a:tcPr marL="73152" marR="73152" marT="36576" marB="36576">
                    <a:solidFill>
                      <a:srgbClr val="E8EEF6"/>
                    </a:solidFill>
                  </a:tcPr>
                </a:tc>
              </a:tr>
              <a:tr h="411480">
                <a:tc>
                  <a:txBody>
                    <a:bodyPr/>
                    <a:lstStyle/>
                    <a:p>
                      <a:r>
                        <a:rPr sz="1200" b="0">
                          <a:solidFill>
                            <a:srgbClr val="1F2937"/>
                          </a:solidFill>
                        </a:rPr>
                        <a:t>Nospetsifik</a:t>
                      </a:r>
                    </a:p>
                  </a:txBody>
                  <a:tcPr marL="73152" marR="73152" marT="36576" marB="36576">
                    <a:solidFill>
                      <a:srgbClr val="FFFFFF"/>
                    </a:solidFill>
                  </a:tcPr>
                </a:tc>
                <a:tc>
                  <a:txBody>
                    <a:bodyPr/>
                    <a:lstStyle/>
                    <a:p>
                      <a:r>
                        <a:rPr sz="1200" b="0">
                          <a:solidFill>
                            <a:srgbClr val="1F2937"/>
                          </a:solidFill>
                        </a:rPr>
                        <a:t>Energiya tanadan tashqarida aylanadi</a:t>
                      </a:r>
                    </a:p>
                  </a:txBody>
                  <a:tcPr marL="73152" marR="73152" marT="36576" marB="36576">
                    <a:solidFill>
                      <a:srgbClr val="FFFFFF"/>
                    </a:solidFill>
                  </a:tcPr>
                </a:tc>
                <a:tc>
                  <a:txBody>
                    <a:bodyPr/>
                    <a:lstStyle/>
                    <a:p>
                      <a:r>
                        <a:rPr sz="1200" b="0">
                          <a:solidFill>
                            <a:srgbClr val="1F2937"/>
                          </a:solidFill>
                        </a:rPr>
                        <a:t>Kiyim alangasi, ko‘z kuyishi, yiqilish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Ta’sir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200, 201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 tamg‘a va metallizatsiya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 kirish-chiqish joyida hosil bo‘ladi; dumaloq yoki oval, zich, chekkasi ko‘tarilgan, o‘rtasi kraterdek.</a:t>
            </a:r>
          </a:p>
          <a:p>
            <a:pPr>
              <a:spcAft>
                <a:spcPts val="800"/>
              </a:spcAft>
            </a:pPr>
            <a:r>
              <a:rPr sz="1800">
                <a:solidFill>
                  <a:srgbClr val="1F2937"/>
                </a:solidFill>
                <a:latin typeface="Calibri"/>
              </a:rPr>
              <a:t>▸  Mikroskopda shox va yaltiroq qavatda bo‘shliqlar, hujayralar supurgisimon, metall zarrachalari uyasimon.</a:t>
            </a:r>
          </a:p>
          <a:p>
            <a:pPr>
              <a:spcAft>
                <a:spcPts val="800"/>
              </a:spcAft>
            </a:pPr>
            <a:r>
              <a:rPr sz="1800">
                <a:solidFill>
                  <a:srgbClr val="1F2937"/>
                </a:solidFill>
                <a:latin typeface="Calibri"/>
              </a:rPr>
              <a:t>▸  Yupqa yoki nam terida tamg‘a hosil bo‘lmaydi; bu elektrotravmaning 10–20% ida bo‘lishi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27069"/>
                <a:gridCol w="3660905"/>
              </a:tblGrid>
              <a:tr h="411480">
                <a:tc>
                  <a:txBody>
                    <a:bodyPr/>
                    <a:lstStyle/>
                    <a:p>
                      <a:r>
                        <a:rPr sz="1400" b="1">
                          <a:solidFill>
                            <a:srgbClr val="FFFFFF"/>
                          </a:solidFill>
                        </a:rPr>
                        <a:t>Metall</a:t>
                      </a:r>
                    </a:p>
                  </a:txBody>
                  <a:tcPr marL="73152" marR="73152" marT="36576" marB="36576">
                    <a:solidFill>
                      <a:srgbClr val="0B1F3A"/>
                    </a:solidFill>
                  </a:tcPr>
                </a:tc>
                <a:tc>
                  <a:txBody>
                    <a:bodyPr/>
                    <a:lstStyle/>
                    <a:p>
                      <a:r>
                        <a:rPr sz="1400" b="1">
                          <a:solidFill>
                            <a:srgbClr val="FFFFFF"/>
                          </a:solidFill>
                        </a:rPr>
                        <a:t>Tamg‘a rang tusi</a:t>
                      </a:r>
                    </a:p>
                  </a:txBody>
                  <a:tcPr marL="73152" marR="73152" marT="36576" marB="36576">
                    <a:solidFill>
                      <a:srgbClr val="0B1F3A"/>
                    </a:solidFill>
                  </a:tcPr>
                </a:tc>
              </a:tr>
              <a:tr h="411480">
                <a:tc>
                  <a:txBody>
                    <a:bodyPr/>
                    <a:lstStyle/>
                    <a:p>
                      <a:r>
                        <a:rPr sz="1300" b="0">
                          <a:solidFill>
                            <a:srgbClr val="1F2937"/>
                          </a:solidFill>
                        </a:rPr>
                        <a:t>Mis</a:t>
                      </a:r>
                    </a:p>
                  </a:txBody>
                  <a:tcPr marL="73152" marR="73152" marT="36576" marB="36576">
                    <a:solidFill>
                      <a:srgbClr val="E8EEF6"/>
                    </a:solidFill>
                  </a:tcPr>
                </a:tc>
                <a:tc>
                  <a:txBody>
                    <a:bodyPr/>
                    <a:lstStyle/>
                    <a:p>
                      <a:r>
                        <a:rPr sz="1300" b="0">
                          <a:solidFill>
                            <a:srgbClr val="1F2937"/>
                          </a:solidFill>
                        </a:rPr>
                        <a:t>Havorang, yashil, sarg‘ish-jigarrang</a:t>
                      </a:r>
                    </a:p>
                  </a:txBody>
                  <a:tcPr marL="73152" marR="73152" marT="36576" marB="36576">
                    <a:solidFill>
                      <a:srgbClr val="E8EEF6"/>
                    </a:solidFill>
                  </a:tcPr>
                </a:tc>
              </a:tr>
              <a:tr h="411480">
                <a:tc>
                  <a:txBody>
                    <a:bodyPr/>
                    <a:lstStyle/>
                    <a:p>
                      <a:r>
                        <a:rPr sz="1300" b="0">
                          <a:solidFill>
                            <a:srgbClr val="1F2937"/>
                          </a:solidFill>
                        </a:rPr>
                        <a:t>Temir</a:t>
                      </a:r>
                    </a:p>
                  </a:txBody>
                  <a:tcPr marL="73152" marR="73152" marT="36576" marB="36576">
                    <a:solidFill>
                      <a:srgbClr val="FFFFFF"/>
                    </a:solidFill>
                  </a:tcPr>
                </a:tc>
                <a:tc>
                  <a:txBody>
                    <a:bodyPr/>
                    <a:lstStyle/>
                    <a:p>
                      <a:r>
                        <a:rPr sz="1300" b="0">
                          <a:solidFill>
                            <a:srgbClr val="1F2937"/>
                          </a:solidFill>
                        </a:rPr>
                        <a:t>Sariq, jigarrang, qora</a:t>
                      </a:r>
                    </a:p>
                  </a:txBody>
                  <a:tcPr marL="73152" marR="73152" marT="36576" marB="36576">
                    <a:solidFill>
                      <a:srgbClr val="FFFFFF"/>
                    </a:solidFill>
                  </a:tcPr>
                </a:tc>
              </a:tr>
              <a:tr h="411480">
                <a:tc>
                  <a:txBody>
                    <a:bodyPr/>
                    <a:lstStyle/>
                    <a:p>
                      <a:r>
                        <a:rPr sz="1300" b="0">
                          <a:solidFill>
                            <a:srgbClr val="1F2937"/>
                          </a:solidFill>
                        </a:rPr>
                        <a:t>Alyuminiy</a:t>
                      </a:r>
                    </a:p>
                  </a:txBody>
                  <a:tcPr marL="73152" marR="73152" marT="36576" marB="36576">
                    <a:solidFill>
                      <a:srgbClr val="E8EEF6"/>
                    </a:solidFill>
                  </a:tcPr>
                </a:tc>
                <a:tc>
                  <a:txBody>
                    <a:bodyPr/>
                    <a:lstStyle/>
                    <a:p>
                      <a:r>
                        <a:rPr sz="1300" b="0">
                          <a:solidFill>
                            <a:srgbClr val="1F2937"/>
                          </a:solidFill>
                        </a:rPr>
                        <a:t>Kulrang, sarg‘ish-jigarrang</a:t>
                      </a:r>
                    </a:p>
                  </a:txBody>
                  <a:tcPr marL="73152" marR="73152" marT="36576" marB="36576">
                    <a:solidFill>
                      <a:srgbClr val="E8EEF6"/>
                    </a:solidFill>
                  </a:tcPr>
                </a:tc>
              </a:tr>
              <a:tr h="411480">
                <a:tc>
                  <a:txBody>
                    <a:bodyPr/>
                    <a:lstStyle/>
                    <a:p>
                      <a:r>
                        <a:rPr sz="1300" b="0">
                          <a:solidFill>
                            <a:srgbClr val="1F2937"/>
                          </a:solidFill>
                        </a:rPr>
                        <a:t>Qo‘rg‘oshin</a:t>
                      </a:r>
                    </a:p>
                  </a:txBody>
                  <a:tcPr marL="73152" marR="73152" marT="36576" marB="36576">
                    <a:solidFill>
                      <a:srgbClr val="FFFFFF"/>
                    </a:solidFill>
                  </a:tcPr>
                </a:tc>
                <a:tc>
                  <a:txBody>
                    <a:bodyPr/>
                    <a:lstStyle/>
                    <a:p>
                      <a:r>
                        <a:rPr sz="1300" b="0">
                          <a:solidFill>
                            <a:srgbClr val="1F2937"/>
                          </a:solidFill>
                        </a:rPr>
                        <a:t>Kulrang, qoramtir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Metallizatsiya ranglari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201–202, 202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 kuyish va o‘lim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Elektr kuyish og‘riqsiz, atrofida yallig‘lanish yo‘q: sezuvchi nerv oxirlari buzilgan.</a:t>
            </a:r>
          </a:p>
          <a:p>
            <a:pPr>
              <a:spcAft>
                <a:spcPts val="800"/>
              </a:spcAft>
            </a:pPr>
            <a:r>
              <a:rPr sz="1800">
                <a:solidFill>
                  <a:srgbClr val="1F2937"/>
                </a:solidFill>
                <a:latin typeface="Calibri"/>
              </a:rPr>
              <a:t>▸  Haqiqiy yuza 2-3 haftada ayon bo‘ladi; keyin tomir arroziyasi ikkilamchi qon ketishi mumkin.</a:t>
            </a:r>
          </a:p>
          <a:p>
            <a:pPr>
              <a:spcAft>
                <a:spcPts val="800"/>
              </a:spcAft>
            </a:pPr>
            <a:r>
              <a:rPr sz="1800">
                <a:solidFill>
                  <a:srgbClr val="1F2937"/>
                </a:solidFill>
                <a:latin typeface="Calibri"/>
              </a:rPr>
              <a:t>▸  Soxta o‘lim (vita minima) ko‘p uchraydi: ishonchli belgi yo‘q bo‘lsa, reanimatsiya o‘tkaziladi.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O‘ta tez: darhol to‘xtash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Sekin: hayot alomatlari bor</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Uzilgan: o‘ziga kelgach o‘lim</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Kech: soatlar-sutkadan so‘ng</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Avdeev bo‘yicha 4 o‘lim turi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203, 203-204, 204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Yashin urishi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Yashinning shikastlovchi omillari: elektr toki, yorug‘lik, tovush va zarb to‘lqini. U bevosita yoki bilvosita (telefon, televizor, radio) ta’sir qiladi.</a:t>
            </a:r>
          </a:p>
          <a:p>
            <a:pPr>
              <a:spcAft>
                <a:spcPts val="1200"/>
              </a:spcAft>
            </a:pPr>
            <a:r>
              <a:rPr sz="2000">
                <a:solidFill>
                  <a:srgbClr val="1F2937"/>
                </a:solidFill>
                <a:latin typeface="Calibri"/>
              </a:rPr>
              <a:t>▸  Terida qizil yoki pushti daraxtsimon “yashin figurasi” paydo bo‘ladi: tomirlar kengayadi, mayda qon quyilishlar bo‘ladi. Belgi beqaror, soatlar-sutkada yo‘qoladi, shuning uchun darhol suratga olinadi.</a:t>
            </a:r>
          </a:p>
          <a:p>
            <a:pPr>
              <a:spcAft>
                <a:spcPts val="1200"/>
              </a:spcAft>
            </a:pPr>
            <a:r>
              <a:rPr sz="2000">
                <a:solidFill>
                  <a:srgbClr val="1F2937"/>
                </a:solidFill>
                <a:latin typeface="Calibri"/>
              </a:rPr>
              <a:t>▸  Kiyimda kuyish va shikast bo‘ladi. Ba’zan tashqi kiyim butun, ichki kiyim yoki tana shikastlangan bo‘ladi; metall detallar va tangalar erishi mumkin.</a:t>
            </a:r>
          </a:p>
          <a:p>
            <a:pPr>
              <a:spcAft>
                <a:spcPts val="1200"/>
              </a:spcAft>
            </a:pPr>
            <a:r>
              <a:rPr sz="2000">
                <a:solidFill>
                  <a:srgbClr val="1F2937"/>
                </a:solidFill>
                <a:latin typeface="Calibri"/>
              </a:rPr>
              <a:t>▸  Tirik qolganlarda figura bir necha kun saqlanishi, simmetrik parez va falajlar rivojlanishi mumkin. Ba’zan tana va kiyimda jarohat umuman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elektrotravma va yashin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uyda nam sharoitda murda topildi. Kaftda dumaloq, chekkasi ko‘tarilgan, markazi chuqur zich dog‘; atrofdagi teri o‘zgarmagan, bu elektr tamg‘aga mos.</a:t>
            </a:r>
          </a:p>
          <a:p>
            <a:pPr>
              <a:spcAft>
                <a:spcPts val="1200"/>
              </a:spcAft>
            </a:pPr>
            <a:r>
              <a:rPr sz="2000">
                <a:solidFill>
                  <a:srgbClr val="1F2937"/>
                </a:solidFill>
                <a:latin typeface="Calibri"/>
              </a:rPr>
              <a:t>▸  Metallizatsiya tamg‘a rangini beradi: mis o‘tkazgichdan havorang-yashil, temirdan sariq-qora. Metall rangli bosma, rentgen va emission spektrografiya bilan aniqlanadi.</a:t>
            </a:r>
          </a:p>
          <a:p>
            <a:pPr>
              <a:spcAft>
                <a:spcPts val="1200"/>
              </a:spcAft>
            </a:pPr>
            <a:r>
              <a:rPr sz="2000">
                <a:solidFill>
                  <a:srgbClr val="1F2937"/>
                </a:solidFill>
                <a:latin typeface="Calibri"/>
              </a:rPr>
              <a:t>▸  Nam teri tokka qulay sharoit yaratadi. Ishonchli o‘lim belgisi bo‘lmasa, soxta o‘lim ehtimoli bor: murda dog‘lari paydo bo‘lguncha reanimatsiya o‘tkaziladi.</a:t>
            </a:r>
          </a:p>
          <a:p>
            <a:pPr>
              <a:spcAft>
                <a:spcPts val="1200"/>
              </a:spcAft>
            </a:pPr>
            <a:r>
              <a:rPr sz="2000">
                <a:solidFill>
                  <a:srgbClr val="1F2937"/>
                </a:solidFill>
                <a:latin typeface="Calibri"/>
              </a:rPr>
              <a:t>▸  Savol: yashin figurasi nima uchun darhol suratga olinadi? Javob: u beqaror belgi bo‘lib, bir necha soatdan, ba’zan sutkadan so‘ng yo‘qoladi.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202, 198, 204, 205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Yuqori bosim: barotravma va o‘pka shikastlanishi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Suv ostida atmosfera bosimiga gidrostatik bosim qo‘shiladi: 10 m da bosim 2 marta, 20 m da 3 marta ortadi.</a:t>
            </a:r>
          </a:p>
          <a:p>
            <a:pPr>
              <a:spcAft>
                <a:spcPts val="800"/>
              </a:spcAft>
            </a:pPr>
            <a:r>
              <a:rPr sz="1800">
                <a:solidFill>
                  <a:srgbClr val="1F2937"/>
                </a:solidFill>
                <a:latin typeface="Calibri"/>
              </a:rPr>
              <a:t>▸  Akvalangda ko‘tarilayotib 10 m chuqurlikda nafasni ushlash o‘pka ichi bosimini keskin oshiradi.</a:t>
            </a:r>
          </a:p>
          <a:p>
            <a:pPr>
              <a:spcAft>
                <a:spcPts val="800"/>
              </a:spcAft>
            </a:pPr>
            <a:r>
              <a:rPr sz="1800">
                <a:solidFill>
                  <a:srgbClr val="1F2937"/>
                </a:solidFill>
                <a:latin typeface="Calibri"/>
              </a:rPr>
              <a:t>▸  Bosim 80–100 mm Hg ustuniga keskin o‘zgarsa, o‘pka barotravmasi (bosim bilan bog‘liq shikast) rivojlanadi.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Bosimning keskin o‘zgarishi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Bronx va alveolalar yorilishi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Havo kapillyarlarga o‘tadi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Arterial havo emboliyasi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Murdada suv ostida pufakchalar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Barotravmadan emboliyagacha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206, 206–207, 207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G‘avvoslikdagi siqilish va gaz zaharlanishlari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Tananing siqilishi g‘avvoslarga xos: skafandr nosoz bo‘lsa, qon boshga intilib, yuz ko‘karadi.</a:t>
            </a:r>
          </a:p>
          <a:p>
            <a:pPr>
              <a:spcAft>
                <a:spcPts val="800"/>
              </a:spcAft>
            </a:pPr>
            <a:r>
              <a:rPr sz="1800">
                <a:solidFill>
                  <a:srgbClr val="1F2937"/>
                </a:solidFill>
                <a:latin typeface="Calibri"/>
              </a:rPr>
              <a:t>▸  Karbonat angidridi 3% va undan ko‘p bo‘lsa, hansirash, holsizlik, bosh og‘rig‘i va terlash kuzatiladi.</a:t>
            </a:r>
          </a:p>
          <a:p>
            <a:pPr>
              <a:spcAft>
                <a:spcPts val="800"/>
              </a:spcAft>
            </a:pPr>
            <a:r>
              <a:rPr sz="1800">
                <a:solidFill>
                  <a:srgbClr val="1F2937"/>
                </a:solidFill>
                <a:latin typeface="Calibri"/>
              </a:rPr>
              <a:t>▸  Azot yog‘da qondan 5 barobar yaxshi eriydi; miyada mastlikka o‘xshash eyforiya paydo bo‘ladi.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425970"/>
                <a:gridCol w="1782463"/>
                <a:gridCol w="2079540"/>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Neyrotoksik</a:t>
                      </a:r>
                    </a:p>
                  </a:txBody>
                  <a:tcPr marL="73152" marR="73152" marT="36576" marB="36576">
                    <a:solidFill>
                      <a:srgbClr val="0B1F3A"/>
                    </a:solidFill>
                  </a:tcPr>
                </a:tc>
                <a:tc>
                  <a:txBody>
                    <a:bodyPr/>
                    <a:lstStyle/>
                    <a:p>
                      <a:r>
                        <a:rPr sz="1300" b="1">
                          <a:solidFill>
                            <a:srgbClr val="FFFFFF"/>
                          </a:solidFill>
                        </a:rPr>
                        <a:t>O‘pka formasi</a:t>
                      </a:r>
                    </a:p>
                  </a:txBody>
                  <a:tcPr marL="73152" marR="73152" marT="36576" marB="36576">
                    <a:solidFill>
                      <a:srgbClr val="0B1F3A"/>
                    </a:solidFill>
                  </a:tcPr>
                </a:tc>
              </a:tr>
              <a:tr h="411480">
                <a:tc>
                  <a:txBody>
                    <a:bodyPr/>
                    <a:lstStyle/>
                    <a:p>
                      <a:r>
                        <a:rPr sz="1200" b="0">
                          <a:solidFill>
                            <a:srgbClr val="1F2937"/>
                          </a:solidFill>
                        </a:rPr>
                        <a:t>Bosim (MPa — megapaskal)</a:t>
                      </a:r>
                    </a:p>
                  </a:txBody>
                  <a:tcPr marL="73152" marR="73152" marT="36576" marB="36576">
                    <a:solidFill>
                      <a:srgbClr val="E8EEF6"/>
                    </a:solidFill>
                  </a:tcPr>
                </a:tc>
                <a:tc>
                  <a:txBody>
                    <a:bodyPr/>
                    <a:lstStyle/>
                    <a:p>
                      <a:r>
                        <a:rPr sz="1200" b="0">
                          <a:solidFill>
                            <a:srgbClr val="1F2937"/>
                          </a:solidFill>
                        </a:rPr>
                        <a:t>2,5–3,0 va yuqori, qisqa vaqt</a:t>
                      </a:r>
                    </a:p>
                  </a:txBody>
                  <a:tcPr marL="73152" marR="73152" marT="36576" marB="36576">
                    <a:solidFill>
                      <a:srgbClr val="E8EEF6"/>
                    </a:solidFill>
                  </a:tcPr>
                </a:tc>
                <a:tc>
                  <a:txBody>
                    <a:bodyPr/>
                    <a:lstStyle/>
                    <a:p>
                      <a:r>
                        <a:rPr sz="1200" b="0">
                          <a:solidFill>
                            <a:srgbClr val="1F2937"/>
                          </a:solidFill>
                        </a:rPr>
                        <a:t>1,0–1,5, 2 soatdan ko‘p yoki takror</a:t>
                      </a:r>
                    </a:p>
                  </a:txBody>
                  <a:tcPr marL="73152" marR="73152" marT="36576" marB="36576">
                    <a:solidFill>
                      <a:srgbClr val="E8EEF6"/>
                    </a:solidFill>
                  </a:tcPr>
                </a:tc>
              </a:tr>
              <a:tr h="411480">
                <a:tc>
                  <a:txBody>
                    <a:bodyPr/>
                    <a:lstStyle/>
                    <a:p>
                      <a:r>
                        <a:rPr sz="1200" b="0">
                          <a:solidFill>
                            <a:srgbClr val="1F2937"/>
                          </a:solidFill>
                        </a:rPr>
                        <a:t>Asosiy zarar</a:t>
                      </a:r>
                    </a:p>
                  </a:txBody>
                  <a:tcPr marL="73152" marR="73152" marT="36576" marB="36576">
                    <a:solidFill>
                      <a:srgbClr val="FFFFFF"/>
                    </a:solidFill>
                  </a:tcPr>
                </a:tc>
                <a:tc>
                  <a:txBody>
                    <a:bodyPr/>
                    <a:lstStyle/>
                    <a:p>
                      <a:r>
                        <a:rPr sz="1200" b="0">
                          <a:solidFill>
                            <a:srgbClr val="1F2937"/>
                          </a:solidFill>
                        </a:rPr>
                        <a:t>Miya: hush yo‘qolishi, talvasa</a:t>
                      </a:r>
                    </a:p>
                  </a:txBody>
                  <a:tcPr marL="73152" marR="73152" marT="36576" marB="36576">
                    <a:solidFill>
                      <a:srgbClr val="FFFFFF"/>
                    </a:solidFill>
                  </a:tcPr>
                </a:tc>
                <a:tc>
                  <a:txBody>
                    <a:bodyPr/>
                    <a:lstStyle/>
                    <a:p>
                      <a:r>
                        <a:rPr sz="1200" b="0">
                          <a:solidFill>
                            <a:srgbClr val="1F2937"/>
                          </a:solidFill>
                        </a:rPr>
                        <a:t>O‘pka kuyishi, pnevmoniya</a:t>
                      </a:r>
                    </a:p>
                  </a:txBody>
                  <a:tcPr marL="73152" marR="73152" marT="36576" marB="36576">
                    <a:solidFill>
                      <a:srgbClr val="FFFFFF"/>
                    </a:solidFill>
                  </a:tcPr>
                </a:tc>
              </a:tr>
              <a:tr h="411480">
                <a:tc>
                  <a:txBody>
                    <a:bodyPr/>
                    <a:lstStyle/>
                    <a:p>
                      <a:r>
                        <a:rPr sz="1200" b="0">
                          <a:solidFill>
                            <a:srgbClr val="1F2937"/>
                          </a:solidFill>
                        </a:rPr>
                        <a:t>Murdada</a:t>
                      </a:r>
                    </a:p>
                  </a:txBody>
                  <a:tcPr marL="73152" marR="73152" marT="36576" marB="36576">
                    <a:solidFill>
                      <a:srgbClr val="E8EEF6"/>
                    </a:solidFill>
                  </a:tcPr>
                </a:tc>
                <a:tc>
                  <a:txBody>
                    <a:bodyPr/>
                    <a:lstStyle/>
                    <a:p>
                      <a:r>
                        <a:rPr sz="1200" b="0">
                          <a:solidFill>
                            <a:srgbClr val="1F2937"/>
                          </a:solidFill>
                        </a:rPr>
                        <a:t>Spetsifik o‘zgarish yo‘q</a:t>
                      </a:r>
                    </a:p>
                  </a:txBody>
                  <a:tcPr marL="73152" marR="73152" marT="36576" marB="36576">
                    <a:solidFill>
                      <a:srgbClr val="E8EEF6"/>
                    </a:solidFill>
                  </a:tcPr>
                </a:tc>
                <a:tc>
                  <a:txBody>
                    <a:bodyPr/>
                    <a:lstStyle/>
                    <a:p>
                      <a:r>
                        <a:rPr sz="1200" b="0">
                          <a:solidFill>
                            <a:srgbClr val="1F2937"/>
                          </a:solidFill>
                        </a:rPr>
                        <a:t>Spetsifik o‘zgarish 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Kislorod bilan zaharlanish formalari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207–208, 209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Dekompression kasallik va past bosim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Tez ko‘tarilganda qon va to‘qimadagi azot ajralib, erkin gaz pufaklari qon tomirlarini yopadi.</a:t>
            </a:r>
          </a:p>
          <a:p>
            <a:pPr>
              <a:spcAft>
                <a:spcPts val="800"/>
              </a:spcAft>
            </a:pPr>
            <a:r>
              <a:rPr sz="1800">
                <a:solidFill>
                  <a:srgbClr val="1F2937"/>
                </a:solidFill>
                <a:latin typeface="Calibri"/>
              </a:rPr>
              <a:t>▸  Murdada: o‘ng yurak va venalarda gazli laxtalar, teri osti emfizemasi, jigarda ko‘pikli suyuqlik.</a:t>
            </a:r>
          </a:p>
          <a:p>
            <a:pPr>
              <a:spcAft>
                <a:spcPts val="800"/>
              </a:spcAft>
            </a:pPr>
            <a:r>
              <a:rPr sz="1800">
                <a:solidFill>
                  <a:srgbClr val="1F2937"/>
                </a:solidFill>
                <a:latin typeface="Calibri"/>
              </a:rPr>
              <a:t>▸  Balandlik kasalligi — kislorod tanqisligi; 6 kilopaskalda (18000 m) to‘qima suyuqligi “qaynaydi”.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Chuqurdan tez ko‘tarilish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Bosim keskin pasayadi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Azot gaz pufaklariga aylanadi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Dekompression (kesson) kasallik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Murdada: qonda gaz pufaklari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Kesson kasalligi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209, 210, 210–211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bosim o‘zgarishi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g‘avvos akvalang bilan suv yuzasiga ko‘tarilmoqda va 10 m chuqurlikda nafasini to‘xtatib qo‘ygan.</a:t>
            </a:r>
          </a:p>
          <a:p>
            <a:pPr>
              <a:spcAft>
                <a:spcPts val="1200"/>
              </a:spcAft>
            </a:pPr>
            <a:r>
              <a:rPr sz="2200">
                <a:solidFill>
                  <a:srgbClr val="1F2937"/>
                </a:solidFill>
                <a:latin typeface="Calibri"/>
              </a:rPr>
              <a:t>▸  Bunda o‘pkadagi havo hajmi oshadi, o‘pka ichidagi bosim keskin ko‘tariladi. Natijada o‘pka barotravmasi paydo bo‘ladi.</a:t>
            </a:r>
          </a:p>
          <a:p>
            <a:pPr>
              <a:spcAft>
                <a:spcPts val="1200"/>
              </a:spcAft>
            </a:pPr>
            <a:r>
              <a:rPr sz="2200">
                <a:solidFill>
                  <a:srgbClr val="1F2937"/>
                </a:solidFill>
                <a:latin typeface="Calibri"/>
              </a:rPr>
              <a:t>▸  O‘pka yorilsa, havo qon tomirga o‘tadi. Bosh miya arteriyalarining havo emboliyasi eng xavfli hisoblanadi.</a:t>
            </a:r>
          </a:p>
          <a:p>
            <a:pPr>
              <a:spcAft>
                <a:spcPts val="1200"/>
              </a:spcAft>
            </a:pPr>
            <a:r>
              <a:rPr sz="2200">
                <a:solidFill>
                  <a:srgbClr val="1F2937"/>
                </a:solidFill>
                <a:latin typeface="Calibri"/>
              </a:rPr>
              <a:t>▸  Murdada yurak va o‘pka qon tomirlari bog‘lanib suvga solinadi, o‘pkaga havo yuboriladi. Yorilgan joydan pufakchalar chiqadi.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Radiatsiya: ta’sir mexanizmi va doza formalari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Neytron, gamma va rentgen nurlari chuqur o‘tadi. Alfa va beta zarrachalar o‘tuvchanligi past, kiyimda ushlanadi.</a:t>
            </a:r>
          </a:p>
          <a:p>
            <a:pPr>
              <a:spcAft>
                <a:spcPts val="800"/>
              </a:spcAft>
            </a:pPr>
            <a:r>
              <a:rPr sz="1800">
                <a:solidFill>
                  <a:srgbClr val="1F2937"/>
                </a:solidFill>
                <a:latin typeface="Calibri"/>
              </a:rPr>
              <a:t>▸  Ionlashtiruvchi nur suv radiolizi va DNK shikastini chaqiradi. Hujayra bo‘linishi so‘nadi.</a:t>
            </a:r>
          </a:p>
          <a:p>
            <a:pPr>
              <a:spcAft>
                <a:spcPts val="800"/>
              </a:spcAft>
            </a:pPr>
            <a:r>
              <a:rPr sz="1800">
                <a:solidFill>
                  <a:srgbClr val="1F2937"/>
                </a:solidFill>
                <a:latin typeface="Calibri"/>
              </a:rPr>
              <a:t>▸  Eng sezgir: suyak miya, teri, ichak, jinsiy bezlar. Suyak miya formasi 6 greydan yuqorida o‘limga olib keladi.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350211"/>
                <a:gridCol w="2937763"/>
              </a:tblGrid>
              <a:tr h="411480">
                <a:tc>
                  <a:txBody>
                    <a:bodyPr/>
                    <a:lstStyle/>
                    <a:p>
                      <a:r>
                        <a:rPr sz="1400" b="1">
                          <a:solidFill>
                            <a:srgbClr val="FFFFFF"/>
                          </a:solidFill>
                        </a:rPr>
                        <a:t>Doza</a:t>
                      </a:r>
                    </a:p>
                  </a:txBody>
                  <a:tcPr marL="73152" marR="73152" marT="36576" marB="36576">
                    <a:solidFill>
                      <a:srgbClr val="0B1F3A"/>
                    </a:solidFill>
                  </a:tcPr>
                </a:tc>
                <a:tc>
                  <a:txBody>
                    <a:bodyPr/>
                    <a:lstStyle/>
                    <a:p>
                      <a:r>
                        <a:rPr sz="1400" b="1">
                          <a:solidFill>
                            <a:srgbClr val="FFFFFF"/>
                          </a:solidFill>
                        </a:rPr>
                        <a:t>Forma</a:t>
                      </a:r>
                    </a:p>
                  </a:txBody>
                  <a:tcPr marL="73152" marR="73152" marT="36576" marB="36576">
                    <a:solidFill>
                      <a:srgbClr val="0B1F3A"/>
                    </a:solidFill>
                  </a:tcPr>
                </a:tc>
              </a:tr>
              <a:tr h="411480">
                <a:tc>
                  <a:txBody>
                    <a:bodyPr/>
                    <a:lstStyle/>
                    <a:p>
                      <a:r>
                        <a:rPr sz="1300" b="0">
                          <a:solidFill>
                            <a:srgbClr val="1F2937"/>
                          </a:solidFill>
                        </a:rPr>
                        <a:t>10 greygacha</a:t>
                      </a:r>
                    </a:p>
                  </a:txBody>
                  <a:tcPr marL="73152" marR="73152" marT="36576" marB="36576">
                    <a:solidFill>
                      <a:srgbClr val="E8EEF6"/>
                    </a:solidFill>
                  </a:tcPr>
                </a:tc>
                <a:tc>
                  <a:txBody>
                    <a:bodyPr/>
                    <a:lstStyle/>
                    <a:p>
                      <a:r>
                        <a:rPr sz="1300" b="0">
                          <a:solidFill>
                            <a:srgbClr val="1F2937"/>
                          </a:solidFill>
                        </a:rPr>
                        <a:t>Suyak miya</a:t>
                      </a:r>
                    </a:p>
                  </a:txBody>
                  <a:tcPr marL="73152" marR="73152" marT="36576" marB="36576">
                    <a:solidFill>
                      <a:srgbClr val="E8EEF6"/>
                    </a:solidFill>
                  </a:tcPr>
                </a:tc>
              </a:tr>
              <a:tr h="411480">
                <a:tc>
                  <a:txBody>
                    <a:bodyPr/>
                    <a:lstStyle/>
                    <a:p>
                      <a:r>
                        <a:rPr sz="1300" b="0">
                          <a:solidFill>
                            <a:srgbClr val="1F2937"/>
                          </a:solidFill>
                        </a:rPr>
                        <a:t>10-20 grey</a:t>
                      </a:r>
                    </a:p>
                  </a:txBody>
                  <a:tcPr marL="73152" marR="73152" marT="36576" marB="36576">
                    <a:solidFill>
                      <a:srgbClr val="FFFFFF"/>
                    </a:solidFill>
                  </a:tcPr>
                </a:tc>
                <a:tc>
                  <a:txBody>
                    <a:bodyPr/>
                    <a:lstStyle/>
                    <a:p>
                      <a:r>
                        <a:rPr sz="1300" b="0">
                          <a:solidFill>
                            <a:srgbClr val="1F2937"/>
                          </a:solidFill>
                        </a:rPr>
                        <a:t>Ichak</a:t>
                      </a:r>
                    </a:p>
                  </a:txBody>
                  <a:tcPr marL="73152" marR="73152" marT="36576" marB="36576">
                    <a:solidFill>
                      <a:srgbClr val="FFFFFF"/>
                    </a:solidFill>
                  </a:tcPr>
                </a:tc>
              </a:tr>
              <a:tr h="411480">
                <a:tc>
                  <a:txBody>
                    <a:bodyPr/>
                    <a:lstStyle/>
                    <a:p>
                      <a:r>
                        <a:rPr sz="1300" b="0">
                          <a:solidFill>
                            <a:srgbClr val="1F2937"/>
                          </a:solidFill>
                        </a:rPr>
                        <a:t>20-80 grey</a:t>
                      </a:r>
                    </a:p>
                  </a:txBody>
                  <a:tcPr marL="73152" marR="73152" marT="36576" marB="36576">
                    <a:solidFill>
                      <a:srgbClr val="E8EEF6"/>
                    </a:solidFill>
                  </a:tcPr>
                </a:tc>
                <a:tc>
                  <a:txBody>
                    <a:bodyPr/>
                    <a:lstStyle/>
                    <a:p>
                      <a:r>
                        <a:rPr sz="1300" b="0">
                          <a:solidFill>
                            <a:srgbClr val="1F2937"/>
                          </a:solidFill>
                        </a:rPr>
                        <a:t>Toksemik (qon tomir)</a:t>
                      </a:r>
                    </a:p>
                  </a:txBody>
                  <a:tcPr marL="73152" marR="73152" marT="36576" marB="36576">
                    <a:solidFill>
                      <a:srgbClr val="E8EEF6"/>
                    </a:solidFill>
                  </a:tcPr>
                </a:tc>
              </a:tr>
              <a:tr h="411480">
                <a:tc>
                  <a:txBody>
                    <a:bodyPr/>
                    <a:lstStyle/>
                    <a:p>
                      <a:r>
                        <a:rPr sz="1300" b="0">
                          <a:solidFill>
                            <a:srgbClr val="1F2937"/>
                          </a:solidFill>
                        </a:rPr>
                        <a:t>80 greydan katta</a:t>
                      </a:r>
                    </a:p>
                  </a:txBody>
                  <a:tcPr marL="73152" marR="73152" marT="36576" marB="36576">
                    <a:solidFill>
                      <a:srgbClr val="FFFFFF"/>
                    </a:solidFill>
                  </a:tcPr>
                </a:tc>
                <a:tc>
                  <a:txBody>
                    <a:bodyPr/>
                    <a:lstStyle/>
                    <a:p>
                      <a:r>
                        <a:rPr sz="1300" b="0">
                          <a:solidFill>
                            <a:srgbClr val="1F2937"/>
                          </a:solidFill>
                        </a:rPr>
                        <a:t>Serebral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Doza va forma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O‘tkir nur kasalligi va murdadagi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Birlamchi reaksiya: ko‘ngil aynishi, qusish, holsizlik. Latent davr 2-4 hafta, sochlar to‘kila boshlaydi.</a:t>
            </a:r>
          </a:p>
          <a:p>
            <a:pPr>
              <a:spcAft>
                <a:spcPts val="800"/>
              </a:spcAft>
            </a:pPr>
            <a:r>
              <a:rPr sz="1800">
                <a:solidFill>
                  <a:srgbClr val="1F2937"/>
                </a:solidFill>
                <a:latin typeface="Calibri"/>
              </a:rPr>
              <a:t>▸  Yaqqol davrda o‘lim: ko‘plab qon quyilishlar, suyak miya, limfa tugunlari va taloqda destruktiv o‘zgarishlar.</a:t>
            </a:r>
          </a:p>
          <a:p>
            <a:pPr>
              <a:spcAft>
                <a:spcPts val="800"/>
              </a:spcAft>
            </a:pPr>
            <a:r>
              <a:rPr sz="1800">
                <a:solidFill>
                  <a:srgbClr val="1F2937"/>
                </a:solidFill>
                <a:latin typeface="Calibri"/>
              </a:rPr>
              <a:t>▸  Jinsiy bezlar: yorg‘oq kichrayadi, tuxumdonda follikullar atrofiyaga uchraydi.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Birlamchi reaksiya (3-4 sutka)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Latent davr (2-4 hafta)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Yaqqol klinik davr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quyilish, infeksiya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O‘lim: 4-hafta oxiri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O‘tkir nur kasalligi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213, 214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mahalliy nur shikastlanishi va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Surunkali nur kasalligi kichik dozalar takror ta’sir etganda rivojlanadi: qon hosil bo‘lishi buziladi, qon ketish kuchayadi. O‘lim ko‘pincha infeksiyadan, ko‘pincha leykoz qo‘shiladi.</a:t>
            </a:r>
          </a:p>
          <a:p>
            <a:pPr>
              <a:spcAft>
                <a:spcPts val="1200"/>
              </a:spcAft>
            </a:pPr>
            <a:r>
              <a:rPr sz="2000">
                <a:solidFill>
                  <a:srgbClr val="1F2937"/>
                </a:solidFill>
                <a:latin typeface="Calibri"/>
              </a:rPr>
              <a:t>▸  Nur kuyishlari termik kuyishga o‘xshaydi; neytron, gamma va rentgen nurlari mushak, suyak, ichki a’zolarni ham shikastlaydi. Nur yaralari uzoq bitmaydi, yiringlash va o‘sma xavfi bor.</a:t>
            </a:r>
          </a:p>
          <a:p>
            <a:pPr>
              <a:spcAft>
                <a:spcPts val="1200"/>
              </a:spcAft>
            </a:pPr>
            <a:r>
              <a:rPr sz="2000">
                <a:solidFill>
                  <a:srgbClr val="1F2937"/>
                </a:solidFill>
                <a:latin typeface="Calibri"/>
              </a:rPr>
              <a:t>▸  Ekspertiza vazifalari: shikastlovchi omil turi, manbaning fizik xususiyatlari, doza, ta’sir necha marta va qachon bo‘lgani, tan jarohatining og‘irlik darajasi.</a:t>
            </a:r>
          </a:p>
          <a:p>
            <a:pPr>
              <a:spcAft>
                <a:spcPts val="1200"/>
              </a:spcAft>
            </a:pPr>
            <a:r>
              <a:rPr sz="2000">
                <a:solidFill>
                  <a:srgbClr val="1F2937"/>
                </a:solidFill>
                <a:latin typeface="Calibri"/>
              </a:rPr>
              <a:t>▸  Hal etishda voqea tafsiloti, mehnat sharoiti, manbaning texnik xususiyatlari, dispanser hujjatlari, radiometriya va murdaning makro-, mikroskopik tekshiruvi ishlatiladi.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214, 215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nurlanish bilan bog‘liq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A: nurlanishdan keyingi dastlabki soatlarda o‘lim. Murdada faqat tez sodir bo‘lgan o‘limga xos belgilar kutiladi, nur kasalligiga xos o‘zgarishlar hali yo‘q.</a:t>
            </a:r>
          </a:p>
          <a:p>
            <a:pPr>
              <a:spcAft>
                <a:spcPts val="1200"/>
              </a:spcAft>
            </a:pPr>
            <a:r>
              <a:rPr sz="2000">
                <a:solidFill>
                  <a:srgbClr val="1F2937"/>
                </a:solidFill>
                <a:latin typeface="Calibri"/>
              </a:rPr>
              <a:t>▸  Vaziyat B: yaqqol klinik belgilar davrida o‘lim. Ko‘p qon quyilish, suyak miya, limfa tugunlari, taloqda destruksiya, pnevmoniya, peritonit, sepsis kutiladi.</a:t>
            </a:r>
          </a:p>
          <a:p>
            <a:pPr>
              <a:spcAft>
                <a:spcPts val="1200"/>
              </a:spcAft>
            </a:pPr>
            <a:r>
              <a:rPr sz="2000">
                <a:solidFill>
                  <a:srgbClr val="1F2937"/>
                </a:solidFill>
                <a:latin typeface="Calibri"/>
              </a:rPr>
              <a:t>▸  Doza va forma: 10 greygacha suyak miya, 10-20 ichak, 20-80 toksemik, 80 dan yuqori serebral forma. Suyak miya formasi 6 greydan yuqorida o‘limga olib keladi.</a:t>
            </a:r>
          </a:p>
          <a:p>
            <a:pPr>
              <a:spcAft>
                <a:spcPts val="1200"/>
              </a:spcAft>
            </a:pPr>
            <a:r>
              <a:rPr sz="2000">
                <a:solidFill>
                  <a:srgbClr val="1F2937"/>
                </a:solidFill>
                <a:latin typeface="Calibri"/>
              </a:rPr>
              <a:t>▸  Savol: bir martalik 50 grey dozada o‘lim qachon kutiladi, 150 greydan yuqorida-chi? Javob: odatda dastlabki ikki sutkada; 150 dan yuqorida miya markazlari falajidan darhol.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213, 212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fizik omillar ekspertizasi bo‘yicha asosiy nuqtalar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Alanga hayotiy ta’sirida nafas yo‘llari, qizilo‘ngach, oshqozonda qurum bo‘ladi. Diqqat: karboksigemoglobin o‘limdan keyin ham topiladi, lekin 20% dan oshmaydi; hayotda 60% gacha.</a:t>
            </a:r>
          </a:p>
          <a:p>
            <a:pPr>
              <a:spcAft>
                <a:spcPts val="1200"/>
              </a:spcAft>
            </a:pPr>
            <a:r>
              <a:rPr sz="2000">
                <a:solidFill>
                  <a:srgbClr val="1F2937"/>
                </a:solidFill>
                <a:latin typeface="Calibri"/>
              </a:rPr>
              <a:t>▸  Sovuq qotishda “sovuq qotgan odam pozasi” va oshqozon shilliq qavatida Vishnevskiy dog‘lari. Diqqat: tez o‘limda dog‘lar kam yoki yo‘q, bolalarda ko‘pincha bo‘lmaydi.</a:t>
            </a:r>
          </a:p>
          <a:p>
            <a:pPr>
              <a:spcAft>
                <a:spcPts val="1200"/>
              </a:spcAft>
            </a:pPr>
            <a:r>
              <a:rPr sz="2000">
                <a:solidFill>
                  <a:srgbClr val="1F2937"/>
                </a:solidFill>
                <a:latin typeface="Calibri"/>
              </a:rPr>
              <a:t>▸  Elektrotravmada tok kirish-chiqish joyida elektr tamg‘a hosil bo‘ladi; soxta o‘limda reanimatsiya o‘tkaziladi. “Yashin figurasi” tez yo‘qoladi, darhol suratga olinadi.</a:t>
            </a:r>
          </a:p>
          <a:p>
            <a:pPr>
              <a:spcAft>
                <a:spcPts val="1200"/>
              </a:spcAft>
            </a:pPr>
            <a:r>
              <a:rPr sz="2000">
                <a:solidFill>
                  <a:srgbClr val="1F2937"/>
                </a:solidFill>
                <a:latin typeface="Calibri"/>
              </a:rPr>
              <a:t>▸  O‘pka barotravmasida o‘pka, yurak, bosh miya tomirlarida havo emboliyasi topilishi uni tasdiqlaydi. Nur shikastlanishining og‘irligi avvalo dozaga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189, 192-193, 201, 204, 205, 207, 212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qoling: sovuq qotishda “oshqozon” belgisini izlang. S.M.Vishnevskiy dog‘lari, ya’ni oshqozon shilliq qavatidagi mayda qon quyilishlar, bu o‘limlarning 80-90%ida uchraydi. Ular o‘limdan 6-9 oy o‘tgach ham aniqlanishi mumkin.</a:t>
            </a:r>
          </a:p>
          <a:p>
            <a:pPr>
              <a:spcAft>
                <a:spcPts val="1200"/>
              </a:spcAft>
            </a:pPr>
            <a:r>
              <a:rPr sz="1800">
                <a:solidFill>
                  <a:srgbClr val="1F2937"/>
                </a:solidFill>
                <a:latin typeface="Calibri"/>
              </a:rPr>
              <a:t>▸  Qiziqarli belgi: “g‘oz panjasi”. Alanga tirik odamga ta’sir qilganda qovoq terisining burmalar tubida kuyish va qurum bo‘lmaydi. Teri yoyilganda shikastlangan va shikastlanmagan sohalar navbatma-navbat ko‘rinadi.</a:t>
            </a:r>
          </a:p>
          <a:p>
            <a:pPr>
              <a:spcAft>
                <a:spcPts val="1200"/>
              </a:spcAft>
            </a:pPr>
            <a:r>
              <a:rPr sz="1800">
                <a:solidFill>
                  <a:srgbClr val="1F2937"/>
                </a:solidFill>
                <a:latin typeface="Calibri"/>
              </a:rPr>
              <a:t>▸  Hodisa tahlili: yong‘indan keyin topilgan murdada epidural gematoma bor. Urchuqsimon va qattiq pardaga birikkan bo‘lsa, travmadan hosil bo‘lgan. O‘roqsimon va birikmagan bo‘lsa, o‘limdan keyin alanga ta’sirida paydo bo‘lgan.</a:t>
            </a:r>
          </a:p>
          <a:p>
            <a:pPr>
              <a:spcAft>
                <a:spcPts val="1200"/>
              </a:spcAft>
            </a:pPr>
            <a:r>
              <a:rPr sz="1800">
                <a:solidFill>
                  <a:srgbClr val="1F2937"/>
                </a:solidFill>
                <a:latin typeface="Calibri"/>
              </a:rPr>
              <a:t>▸  Amaliy maslahat: “yashin figurasi” terida qizil yoki pushti daraxtsimon shakl ko‘rinishida bo‘ladi. U bir necha soatdan sutkagacha yo‘qolishi mumkin, shuning uchun murdada uni darhol suratga olish kerak.</a:t>
            </a:r>
          </a:p>
          <a:p>
            <a:pPr>
              <a:spcAft>
                <a:spcPts val="1200"/>
              </a:spcAft>
            </a:pPr>
            <a:r>
              <a:rPr sz="1800">
                <a:solidFill>
                  <a:srgbClr val="1F2937"/>
                </a:solidFill>
                <a:latin typeface="Calibri"/>
              </a:rPr>
              <a:t>▸  Eslab qolish usuli: “to‘qqizliklar qoidasi”. Bosh va bo‘yin 9%, tananing old yuzasi 18%, orqa yuzasi 18%, oraliq soha 1%. Qo‘l kafti esa taxminan 1%. Bu raqamlar kuyish maydonini tez baholashga yordam beradi.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Tanadagi ortiqcha issiqlikning eng katta qismi qaysi yo‘l bilan tashqariga chiqariladi?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O‘tkazish orqali ajralish yo‘li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 bilan ajralish yo‘li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Nurlanish orqali ajralish yo‘li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Turli ajratmalar bilan ajralish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Issiq sexda og‘ir ishlagan, issiqqa o‘rganmagan ishchi birdan hushini yo‘qotib, komaga tushdi va qisqa muddatda vafot etdi.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Issiq urishning o‘tkir shakli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Issiq urishning uzaytirilgan shakli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Quyosh urishi (insolyatsiya) holati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Kuyish kasalligining shok davri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Dalada bosh kiyimsiz ishlagan odamda bosh og‘rig‘i, ko‘rishning buzilishi, gallyusinatsiya va talvasa kuzatildi. Tana harorati salmoqli ko‘tarilmagan.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Issiq urishning holsizlik davri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Termik kuyishning I darajasi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Issiq urishning o‘tkir shakli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Quyosh urishi (insolyatsiya) holati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Yong‘in joyida topilgan jabrlanganda soch va kiyim shikastlangan, kuyish yaralari tilsimon shaklda, yaralarda qurum izlari bor. Kuyish manbai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Qaynoq suyuqlik ta’siri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Ochiq alanga ta’siri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Qaynoq bug‘ ta’siri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Qizdirilgan jism ta’siri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Jabrlanganning faqat tananing old yuzasi to‘liq kuygan. “To‘qqizliklar qoidasi” bo‘yicha kuyish maydoni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yuzasining 9% 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 yuzasining 1% 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 yuzasining 18% 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 yuzasining 36% 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Kuyishdan keyin 1–2 hafta o‘tdi: kuyish sohalaridagi oqsil parchalanishidan hosil moddalar qonga so‘rilib, intoksikatsiya yuz bermoqda. Bu kuyish kasalligining qaysi davri?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Kuyish shoki davri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Septikotoksemiya davri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Kuyish toksemiyasi davri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Rekonvalessensiya davri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Yong‘indan keyin topilgan murdada nafas yo‘llari, qizilo‘ngach va oshqozonda qurum aniqlandi. Bu nimadan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Alanga ta’siri o‘limdan keyin bo‘lganidan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Alanga hayot paytida ta’sir qilganidan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qizdirilgan jism bilan tegganidan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Epidural gematoma o‘roqsimon ekanidan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S.M.Vishnevskiy dog‘lari sovuq qotishdan o‘lim holatlarining taxminan qancha qismida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80–90% holatda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50–60% holatda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20–30% holatda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Barcha holatda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Sovuq qotish manfiy haroratli sharoitda sodir bo‘lgan. Murdada murda dog‘lari qanday rangda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Ko‘kimtir-binafsha rangda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Qora-yashil rangda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Sarg‘ish-kulrang rangda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Pushti-qizg‘ish rangda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Bemorning bitta qo‘lini sovuq urdi. Keyin sovuq urishga xos o‘zgarishlar sovuq ta’sir qilmagan qarama-qarshi qo‘lda ham rivojlandi. Bu holat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Puparev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Kasyanov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Reperkussiya fenomeni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Vishnevskiy belgisi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Sovuq qotishdan o‘lgan odam murdasida oshqozon shilliq qavati burmalarining tepasida diametri 0,5 sm gacha mayda qon quyilishlar topildi. Ular pichoq orqasi bilan oson olinadi. Bu qaysi belgi?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M.I.Rayskiy belgilari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S.M.Vishnevskiy dog‘lari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K.V.Puparev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P.A.Fabrikantov belgisi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Korxonada kuchlanishi 380 volt bo‘lgan o‘zgaruvchan tok bilan elektrotravma ro‘y berdi. Kuchlanish 500 voltdan past bo‘lsa, qaysi tok turi xavfliroq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O‘zgaruvchan tok xavfliroq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O‘zgarmas tok xavfliroq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tok turi bir xil xavfli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Xavfni faqat tok chastotasi hal qiladi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Elektrotravmadan o‘lgan jabrlanganda tok kirgan joyda o‘zgarishlar asosan suyak va terida aniqlandi. Buning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 to‘qimalarda o‘tkazuvchanlik eng baland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 to‘qimalar qonga eng boy bo‘lgani uchun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 to‘qimalar tokni umuman o‘tkazmagani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Bu to‘qimalarning tokka qarshiligi katta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Yuqori kuchlanishli sim yerga uzilib tushgan joyda “qadam kuchlanishi” hosil bo‘ladi. Pastki tok sirtmog‘i hayot uchun xavfsiz bo‘lsa ham, qachon hayotga xavf tug‘iladi?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Qadam uzunligi 0,8 m dan kam bo‘lganda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Tok faqat oyoqlardan o‘tib turganda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Jabrlangan talvasadan yiqilib, to‘liq sirtmoq hosil bo‘lganda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Jabrlangan yerdan izolyatsiya qilingan bo‘lganda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Qo‘l kaftidagi dumaloq elektr tamg‘aning markazi chuqur, chekkalari ko‘tarilgan, rangi havorang-yashil. Qaysi metalldan yasalgan o‘tkazgich tegilgan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Temir o‘tkazgich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Mis o‘tkazgich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Alyuminiy o‘tkazgich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Qo‘rg‘oshin o‘tkazgich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Akvalangli g‘avvos suv yuzasiga ko‘tarilayotib, 10 m chuqurlikda nafasini ushlab qoldi. Unda eng ehtimoliy shikastlanish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Nog‘ora pardaning alohida yorilishi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O‘pkaning barotravmasi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Azotning narkotik ta’siri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Karbonat angidridi bilan zaharlanish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Suv ostidan tez ko‘tarilgan g‘avvos murdasida yurakning o‘ng kameralarida mayda gaz pufaklari bor qon laxtalari topildi. Eng ehtimoliy tashxis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Kislorodning o‘pka formasi bilan zaharlanish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Tananing siqilishi (kompression asfiksiya)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 tomonlama pnevmotoraksdan o‘lim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Dekompression (kesson) kasallik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G‘avvos skafandri shikastlanib, shlem ostida bosim keskin pasaygan. Murdada bosh kattalashgan, yuz ko‘kargan, o‘mrov suyagi pastki chekkasi bo‘ylab simmetrik qon quyilishlar bor.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Tananing siqilishi (skafandr travmasi)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Azot bilan zaharlanish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Kislorodning neyrotoksik formasi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Balandlik (tog‘) kasalligi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Jabrlanganda nurlanishdan so‘ng dastlab ko‘ngil aynishi va qusish bo‘lgan. Keyin 2–4 hafta ahvol yaxshilangandek bo‘lib, sochlari to‘kila boshladi. Bu o‘tkir nur kasalligining qaysi davri?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Umumiy birlamchi reaksiya davri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Yaqqol klinik belgilar davri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Latent davr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Predagonal davr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Nurlanish dozasi 10–20 grey bo‘lganda qaysi klinik forma rivojlanadi?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Suyak miya formasi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Ichak formasi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Toksemik (qon tomir) forma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Serebral forma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Nurlanish orqali ajralish yo‘li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Issiqlikning 55% nurlanish orqali chiqadi. Ter bilan 27%, o‘tkazish bilan 15%, turli ajratmalar bilan 3% ajraladi. Shu sababli nurlanish eng katta ulushni tashkil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183-bet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Issiq urishning o‘tkir shakli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O‘rganmagan organizmda o‘ta baland harorat ta’sirida o‘tkir shakl rivojlanadi: birdan hush yo‘qoladi, koma boshlanadi va qisqa muddatda o‘lim sodir bo‘ladi. Uzaytirilgan shaklda belgilar sekin-asta kuchayadi va uch davr o‘tadi.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183-184-bet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Quyosh urishi (insolyatsiya) holati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Quyosh urishi uzoq vaqt quyosh nurlarining boshga ta’siridan kelib chiqadi va MNT (markaziy nerv tizimi) faoliyati buziladi. Uning uchun tana haroratining salmoqli ko‘tarilishi xos emas. Issiq urishning holsizlik davrida esa harorat 41-42°S dan ham oshishi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184-bet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Ochiq alanga ta’siri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Alangadan kuyishda soch va kiyim shikastlanadi, yaralar tilsimon shaklda bo‘ladi va qurum izlari topiladi. Issiq suyuqlikda esa soch va kiyim shikastlanmaydi, jarohatlar oqmalar shaklida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186-bet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Tana yuzasining 18% 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To‘qqizliklar qoidasiga ko‘ra tananing old yuzasi 18%, orqa yuzasi ham 18% ni egallaydi. Bosh va bo‘yin, qo‘l, son, boldir va tovon esa 9% dan, oraliq soha 1% ni tashkil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187-bet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Kuyish toksemiyasi davri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Toksemiya davrida kuyish sohalaridagi oqsil moddalar parchalanadi, hosil bo‘lgan moddalar qonga so‘riladi va intoksikatsiya yuzaga keladi. Davr 1–2 hafta davom etadi. Shok davri odatda bir sutkagacha, septikotoksemiya esa yiringlash va asoratlar bilan bog‘liq.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188-bet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Alanga hayot paytida ta’sir qilganidan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Nafas yo‘llari, qizilo‘ngach va oshqozonda qurum bo‘lishi alanga hayot paytida ta’sir qilganini ko‘rsatadi. Qurum o‘limdan keyin shu a’zolarga tushmaydi, chunki nafas olish to‘xtagan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189-bet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80–90% holatda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Oshqozon shilliq qavatidagi mayda qon quyilishlar (Vishnevskiy dog‘lari) sovuq qotishdan o‘lim holatlarining 80–90%ida uchraydi. Ular har doim bo‘lavermaydi: o‘lim tez sodir bo‘lganda ular juda kam bo‘lishi yoki umuman bo‘lmasligi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193-bet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Pushti-qizg‘ish rangda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Qonda kislorod ko‘p bo‘lgani uchun murda dog‘lari pushti-qizg‘ish bo‘ladi. Musbat haroratda (+10°S gacha) to‘qimalar kislorodni o‘zlashtirib ulguradi va dog‘lar ko‘kimtir-binafsha tusda bo‘ladi. Manfiy haroratda bu holat kuzatilmaydi.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192–193-bet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Reperkussiya fenomeni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Sovuq urishda o‘zgarishlar sovuq ta’sir qilmagan qarama-qarshi qo‘l yoki oyoqda ham rivojlansa, bu reperkussiya fenomeni deyiladi. Puparev, Kasyanov va Vishnevskiy belgilari boshqa o‘zgarishlarni ifodalaydi.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S.M.Vishnevskiy dog‘lari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Oshqozon (ba’zan o‘n ikki barmoqli ichak) shilliq qavatidagi mayda qon quyilishlar Vishnevskiy dog‘lari deyiladi. Ular sovuq qotishdan o‘lim holatlarining 80-90 foizida uchraydi. Rayskiy belgilari – og‘iz va burun atrofidagi muz sumalaklari hamda qosh va kipriklardagi qirov. Puparev belgisi – moyakning qisqarishi. Fabrikantov belgisi – buyrak jomlaridagi qon quyilishlar.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193-bet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O‘zgaruvchan tok xavfliroq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Kuchlanish 500 voltgacha bo‘lganda o‘zgaruvchan tok o‘zgarmasdan xavfliroq. 500 voltda ikkalasining xavfi tenglashadi, undan yuqorida esa o‘zgarmas tok xavfliroq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197-bet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Bu to‘qimalarning tokka qarshiligi katta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Elektr toki o‘tkazuvchanligi baland, qarshiligi kichik to‘qimalardan o‘tadi. Qarshilik qatorida suyak va teri oxirida turadi. Shuning uchun elektrotravmaga xos morfologik o‘zgarishlar asosan shu to‘qimalarda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198-bet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Jabrlangan talvasadan yiqilib, to‘liq sirtmoq hosil bo‘lganda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Pastki tok sirtmog‘i hayot uchun xavf tug‘dirmaydi. Lekin oyoq mushaklari talvasasi tufayli jabrlangan yiqilsa, to‘liq tok sirtmog‘i vujudga keladi va xavf paydo bo‘ladi. Shu sababli uzilgan simga 10 m dan kam masofada yaqinlashmaslik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200-bet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Mis o‘tkazgich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Metallizatsiya tamg‘aga metallga xos tus beradi. Mis o‘tkazgichdan havorang, yashil yoki sarg‘ish-jigarrang tus hosil bo‘ladi. Temirdan sariq, jigarrang, qora tus; alyuminiydan kulrang, sarg‘ish-jigarrang tus; qo‘rg‘oshindan kulrang, qoramtir tus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202-bet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O‘pkaning barotravmasi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Ko‘tarilishda nafas ushlansa, o‘pkadagi havo hajmi oshadi va o‘pka ichi bosimi keskin ko‘tariladi. Natijada o‘pkaning barotravmasi yuz beradi. Quloq barotravmasi esa odatda o‘pka shikasti bilan birga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207-bet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Dekompression (kesson) kasallik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Tez ko‘tarilganda qon va to‘qimalarda erigan azot erkin gaz pufaklariga aylanadi. Murdada o‘ng yurak kameralari va venalarda gaz pufakli laxtalar, teri osti emfizemasi topiladi. Bu dekompression kasallikka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210-bet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Tananing siqilishi (skafandr travmasi)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Skafandr shikastlanganda shlem ostida bosim pasayadi va qon boshga intiladi. Bosh kattalashadi, yuz ko‘karadi, shlem chekkasiga mos simmetrik qon quyilishlar paydo bo‘ladi. Bular g‘avvoslarga xos tananing siqilishi belgilari.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Latent davr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Latent davr 2–4 hafta davom etadi. Umumiy ahvol yaxshilangandek tuyuladi, ammo sochlar to‘kilib, qondagi hujayralar soni kamayadi. Birlamchi reaksiya esa dastlabki soatlarda boshlanib 3–4 sutkagacha davom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213-bet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Ichak formasi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Doza 10 greygacha bo‘lsa suyak miya formasi, 10–20 grey bo‘lsa ichak formasi rivojlanadi. 20–80 greyda toksemik forma, 80 greydan katta dozada esa serebral forma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212-bet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7. Fizik omillar ta'siri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