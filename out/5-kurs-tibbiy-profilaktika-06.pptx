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Nima uchun go‘dak murdasi ekspertizasi alohida savollar bilan o‘tkaziladi? 2) Tibbiy profilaktika shifokori bunday holatga qayerda duch kelishi mumkin? Doskada: dars rejasini 7 bandli ro‘yxat ko‘rinishida yozdiring. Tipik xato: talabalar bu ekspertizani oddiy murda ekspertizasi bilan bir xil deb o‘ylaydi.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Onasi nomaʼlum go‘dak topilsa, qaysi savollar birinchi o‘rinda turadi? 2) Tibbiy yordamga shikoyat bo‘lsa, ekspertiza nimani aniqlashi kerak? Doskada: uchta holatni uchta ustun qilib chizdiring. Tipik xato: talabalar faqat jinoyat shubhasi bo‘lgandagina ekspertiza o‘tkaziladi deb hisoblaydi.</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Nima uchun avval yangi tug‘ilganlik, keyin tirik tug‘ilganlik aniqlanadi? 2) Qarov masalasi huquqiy baholashga qanday taʼsir qiladi? Doskada: 5 tugunli sxemani talabalar bilan birga chizing. Tipik xato: yangi tug‘ilgan va tirik tug‘ilgan tushunchalarini bir xil deb olish (yangi tug‘ilgan ≠ tirik tug‘ilgan).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Nega umumiy savollar maxsus savollardan alohida turadi? 2) Jarohat mexanizmini bilish nima uchun muhim? Doskada: chap ustunga maxsus savollar, o‘ng ustunga umumiy savollarni yozdiring. Tipik xato: talabalar umumiy savollarni unutib, faqat maxsus savollarni sanaydi.</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Nima uchun sud tibbiyoti eng qisqa muddatni oladi? 2) Bu farq qaysi qonun talabiga bog‘liq? Doskada: uch fanli jadvalni talabalar o‘zi chizsin. Tipik xato: neonatal davr (4 hafta) bilan sud-tibbiy davrni (24 soat) almashtirib yuborish.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99- va 97-moddalar farqi nimada? 2) Nega ona holati alohida hisobga olinadi? Doskada: ikki shoxli sxema — ona (99-modda) va boshqa shaxs (97-modda). Tipik xato: 99-modda har qanday shaxsga tegishli deb o‘ylash; u faqat onaga taalluqli.</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4-5 daq. Muhokama: nega sud tibbiyoti uchun davr aynan 24 soat? Ona holati (og‘riq, psixo-emotsional holat) bu yerda qanday rol o‘ynaydi? Doskada chizing: uch ustunli sodda taqqoslash (sud tibbiyoti / pediatriya / akusherlik) va ularning muddatlari. Tipik xato: talabalar 7 kunni yoki 4 haftani sud-tibbiy davr deb yozadi.</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nima uchun onasi noma’lum go‘dak topilganda aynan shu 6 ta savol muhim? Doskada chizing: 6 ta maxsus savolni ro‘yxat qilib yozing. Javob: o‘lim sababi, muddati, tan jarohatlari va ularning yetkazilish mexanizmi. Tipik xato: talabalar maxsus savollarni umumiy savollar bilan aralashtiradi.</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tanada qon izi topilmasa, bu go‘dakka qarov bo‘lganini bildiradimi? Nima uchun burmalar va qo‘ltiq osti muhim? Doskada chizing: mo‘msimon qoplama tarkibining 4 ta qismini sxema qilib yozing. Tipik xato: yuvilgan go‘dakda qon izi va qoplama yo‘qligini yangi tug‘ilmaganlik belgisi deb o‘ylash.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tug‘ruq shishi tor tosda ko‘p uchraydi? 2) Shish 2-3 kundan keyin yo‘q bo‘lsa, bu nimani anglatadi? Doskada: homila boshining tos halqasida qisilishi va shish hosil bo‘lish zanjirini chizing. Tipik xato: tug‘ruq shishini kefalogematoma bilan adashtirish, shishning kesmadagi ko‘rinishini unutish.</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Chok chegarasi nega farqlovchi belgi? 2) Chaqaloq 5 kunlik, shish saqlangan — qaysi biri ko‘proq? Doskada: kalla suyagi kesmasini chizib, suyak usti pardasi ostidagi qonni belgilang. Diqqat: tug‘ruq shishi ≠ kefalogematoma. Tipik xato: ikkalasining so‘rilish muddatini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norasolarda mekoniy kechroq chiqadi deb o‘ylaysiz? 2) Mekoniy topilishi chaqaloq yashagan muddat haqida nima beradi? Doskada: mekoniy topiladigan joylarni tana sxemasida belgilang. Tipik xato: mekoniy rangi va tarkibini oddiy najas bilan aralashtirish, 1-2 kun muddatini unutish.</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1) Demarkatsion halqa nima uchun go‘dakning tirik tug‘ilganini ko‘rsatadi? 2) Halqa yo‘qligi nimadan dalolat beradi? Doskada kindik o‘zgarishlari zanjirini vaqt o‘qida chizdiring. Tipik xato: demarkatsion halqani kindikning ajralishi bilan aralashtirish; halqa avval hosil bo‘ladi, ajralish 5-7 kundan keyin sodir bo‘ladi.</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1) Nega nafas olmagan o‘pkada go‘dak uzoq yashay olmaydi? 2) Ikkilamchi atelektaz o‘pka sinamasi natijasiga qanday ta’sir qiladi? Doskada ikki o‘pkani yonma-yon chizing: nafas olmagan va avval nafas olib keyin atelektazga uchragan. Tipik xato: ikkilamchi atelektazni birlamchi atelektaz bilan aralashtirish va soxta manfiy natijani o‘lik tug‘ilish deb baholash.</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1) Nega faqat ikki belgi mutlaq ishonchli hisoblanadi? 2) Nisbiy belgi topilganda ekspert qanday xulosa chiqaradi? Doskada ikki ustunli jadval chizdiring: absolyut va nisbiy belgilar. Tipik xato: mekoniy yoki mo‘msimon qoplamani yangi tug‘ilganlikning mutlaq belgisi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 daq. Muhokama: 1) Chok chizig‘idan o‘tgan shish qaysi holatga xos? 2) Nega mo‘msimon qoplama absolyut belgi emas? Doskada: ikki ustunli ro‘yxat chizing (absolyut / nisbiy belgilar). Tipik xato: talabalar tug‘ruq shishini kefalogematoma bilan almashtiradi va barcha belgilarni mutloq ishonchli deb hisoblaydi.</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3 daq. Savollarni og‘zaki so‘rang, 2-3 talabadan javob oling. Muhokama: mekoniy muddati norasolarda nega uzoqroq bo‘lishi mumkin? Doskada: kindik o‘zgarishlarining vaqt chizig‘ini chizing (soatlar, 1-kun oxiri, 5-7 kun). Tipik xato: kindikning ajralish muddati bilan demarkatsion halqa paydo bo‘lish muddatini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Qaysi belgi bu holatda hal qiluvchi? 2) Yangi tug‘ilganlik tirik tug‘ilganlikni isbotlaydimi? Doskada: belgilarni ‘absolyut‘ va ‘nisbiy‘ ustunlariga ajratib yozing. Tipik xato: yangi tug‘ilganlikni tirik tug‘ilganlik bilan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1) Nima uchun murdada yurak urishi va kindik pulsatsiyasini tekshirib bo‘lmaydi? 2) Nafas olganlik nega hal qiluvchi belgi hisoblanadi? Doskada: JSST mezonlarini yozib, nafas olishni ajratib belgilang. Tipik xato: talabalar to‘rtala mezon ham murdada tekshiriladi deb o‘ylaydi. Qo‘shimcha: aniqlash sinamalar, makro-, mikroskopik va laboratoriya tekshiruvlari bilan olib boriladi (259-bet).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1) Nima uchun avval butun kompleks, keyin alohida bo‘laklar suvga solinadi? 2) Cho‘kish va suzish nimani bildiradi? Doskada: bosqichlar zanjirini chizing va yonida 1,05–1,06 va 1,0 dan past qiymatlarni yozing. Tipik xato: musbat natijadan keyin ham keyingi bosqichlarni davom ettirish, yoki cho‘kish bilan suzishni teskari tushunish.</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1) Chirish gazini haqiqiy nafasdan qanday farqlaysiz? 2) Ikkilamchi atelektazda nega past bosim usuli kerak? Doskada: jadvalni ko‘chirib, har holatga yo‘nalish (musbat/manfiy) belgilang. Tipik xato: ikkilamchi atelektazni birlamchi atelektaz bilan aralashtirish va soxta manfiyni soxta musbat deb yozish. Eslatma: to‘liq erigan muzlagan o‘pka suvda cho‘kadi (259-bet).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1) Nega oddiy o‘pka sinamasida soxta manfiy natija chiqadi? 2) Past bosim bo‘lakchadagi qolgan havoga qanday ta’sir qiladi? Doskada chizish: kolba, suv, bo‘lakcha va havo tortib olish sxemasini (oddiy bosim va past bosim) chizing. Tipik xato: birlamchi atelektaz (nafas olmagan o‘pka) bilan ikkilamchi atelektazni (nafas olgandan keyingi) adashtirish.</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daqiqa. Muhokama: 1) Nega chirigan murdada bu sinama ishonchsiz? 2) Havoning ichakdagi joylashuvi qanday qilib yashash muddatini ko‘rsatadi? Doskada chizish: oshqozon, ingichka va yo‘g‘on ichakni va ligatura qo‘yiladigan nuqtalarni chizing. Tipik xato: muddatlarni aniq qiymat deb olish. Darslikda ular taxminiy, ko‘p belgi bilan baholanadi.</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 daqiqa. Muhokama: 1) Havo borligini ko‘rsatgan rentgen tirik tug‘ilganlikni isbotlaydimi? 2) Qaysi usullar bu cheklovni bartaraf etadi? Doskada chizish: uchta sababli (nafas, sun’iy ventilyatsiya, chirish) bitta rentgen manzarasi sxemasini chizing. Tipik xato: rentgenda havo ko‘rinsa, uni avtomatik nafas olish belgisi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nega nafas olgan o‘pka ko‘krak qafasini to‘ldirib turadi? Chirish joyi tirik va o‘lik tug‘ilganda nimasi bilan farq qiladi? Doskada: jadvalni (qafas, diafragma, o‘pka) o‘zlari chizsin. Tipik xato: diafragma sathini (VI–VII va IV–V) chalkashtirish.</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nega gialin membrana bo‘lsa, chaqaloq tirik tug‘ilgan deb hisoblanadi? Arteriya bo‘rtiqlari qaysi holatda uchraydi? Doskada: ikki alveola (yoyilgan va yoyilmagan) sxemasini chizing. Tipik xato: epiteliy shaklini teskari yozish (o‘likda kubsimon, tirikda yassi).</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Talabalarga savollarni og‘zaki berib, javob so‘rang. Muhokama: soxta musbat va soxta manfiy natija sabablari qanday farqlanadi? Doskada: o‘pka sinamasi bosqichlari ketma-ketligini chizing. Tipik xato: soxta musbat bilan soxta manfiyni almashtirib yuborish.</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6–7 daqiqa. Muhokama: 1) Chirigan murdada musbat o‘pka sinamasiga qanday ishonish mumkin? 2) Nega bunday holatda oshqozon-ichak sinamasi tavsiya etilmaydi? Doskada: ‘suzdi’ degan natijadan keyingi ekspert qadamlarini ketma-ket chizdiring. Tipik xato: o‘pka suzdi, demak go‘dak tirik tug‘ilgan, deb xulosa qilish.</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5–6 daqiqa. Muhokama: 1) Go‘dak yetuk bo‘lsa-yu raso bo‘lmasa, bu mumkinmi? 2) Tergovga rasolik emas, nima muhimroq? Doskada: ikki ustunli ‘Raso | Yetuk’ taqqoslash jadvalini chizdiring (muddat, uzunlik, vazn). Tipik xato: ikkala tushunchani bir xil deb o‘ylash va 45 sm bilan 50–54 sm ni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8–10 daqiqa. Muhokama: 1) Nega Gaaze formulasida homiladorlik yarmiga qarab qoida o‘zgaradi? 2) 224 kun necha homila oyiga to‘g‘ri keladi? Doskada: jadvaldagi to‘rt misolni talabalar bilan birga hisoblang. Tipik xato: ikkinchi yarimda ham kvadrat ildiz olish yoki kun bilan oyni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gestatsion yoshni faqat bitta ko‘rsatkichga tayanib belgilamaslik kerak? 2) Kindik va yo‘ldosh murda bilan birga taqdim etilishi nimaga muhim? Doskada: jadvalni chizib, IX oy qatorini talabalar o‘zlari to‘ldirsin (47 sm, 470 g). Tipik xato: homila oyini kalendar oy yoki hafta bilan adashtirish.</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Nima uchun o‘zaklar kechikib paydo bo‘lishi mumkin? 2) Mekoniyda tuk-soch topilishi homila haqida nimani bildiradi? Doskada: V dan IX oygacha vaqt chizig‘ini chizib, to‘rtta belgini joylashtiring. Tipik xato: Beklyar yadrosini (IX oy) tovon suyagi o‘zagi (V oy) bilan almashtirish.</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Javob: 34 ÷ 3,4 = 10 homila oyi. Muhokama: 1) Gaaze formulasi natijani oyda, Baltazar-Derve indeksi esa kunda beradi — farqi nimada? 2) Qaysi formulani qachon qo‘llash kerak? Doskada: uch formulani (Gaaze, Baltazar-Derve, Yakupov) ustun qilib yozib, bittadan misol yeching. Tipik xato: yarim (birinchi/ikkinchi) bo‘yicha formulani chalkashtirish va oy bilan kunni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tashqi nuqson topilganda ichki a’zolar ham tekshiriladi? 2) Nega JSST mezonidagi go‘dakda murda ochilmaydi? Doskaga chizish: hayotga layoqatsizlik sabablari (norasolik, nuqson, tug‘ruq travmasi) ko‘rinishidagi uch shoxli sxema. Tipik xato: «tirik tug‘ilgan» tushunchasini «hayotga layoqatli» bilan aralashtirish. Tirik tug‘ilgan go‘dak ham layoqatsiz bo‘lishi mumkin.</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10 daq. Muhokama: 1) Oshqozonda havo bor, ichakda yo‘q: go‘dak necha soat yashagan? 2) Nima uchun bitta belgi bilan chegaralanmaymiz? Doskaga chizish: soatlar va kunlar bo‘yicha vaqt chizig‘i (1-2 soat, 3 soat, 5-6 soat, 1 sutka, 2-3 kun). Tipik xato: muddatlarni aniq kafolat deb olish. Ular taxminiy. Shuningdek, gialin membranalar bilan ikkilamchi atelektaz muddatlarini almashtirib yuborish.</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Qaysi belgilar tashqi, qaysi biri ichki tekshiruvda aniqlanadi? 2) Qarov belgilari go‘dakni tashlab ketish masalasida nima uchun muhim? Doskaga chizish: qarov belgilarining ro‘yxati (yo‘rgak, kiyim, kindik, tozalik, oshqozonda sut). Tipik xato: faqat tozalanganlikka tayanish. Belgilar majmuini baholash kerak.</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Savollarni talabalarga navbat bilan bering, javobni kitobsiz so‘rang. Muhokama: qarov belgilaridan qaysi biri huquqiy baho uchun eng muhim? Hayot davomiyligi nega faqat taxminiy aytiladi? Doskada: hayot davomiyligi bo‘yicha vaqt chizig‘ini (1-2 soat, 3 soat, 5-6 soat, 1 sutka, 2-3 kun) chizdiring. Tipik xato: muddatlarni aniq deb o‘ylash; kitobda ular taxminiy va ko‘p belgi birga baholanadi.</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nega homila ichi asfiksiyada yo‘ldosh va kindik ham tekshiriladi? Tug‘ruq travmasini boshqa jarohatdan nimasi farqlaydi? Doskada: jadvalni chizib, har davrga sabablarni qo‘shimcha yozdiring. Diqqat: nozo‘raki o‘lim uch davrda ham bo‘lishi mumkin, zo‘raki o‘lim esa asosan postnatal davrda. Tipik xato: tug‘ruq travmasida tashqi yara kutish.</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nega ekspertizada o‘limning aniq sababini ko‘rsatish muhim? Passiv o‘ldirishda o‘lim sabablari qaysilar? Doskada: aktiv va passiv usullarni ikki ustunda yozdiring. Tipik xato: ekspert vazifasi aktiv yoki passivligini aniqlash deb o‘ylash; kitobga ko‘ra asosiy vazifa o‘lim sababini aniq ko‘rsatish.</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10 daq. Muhokama: 1) Nega kesma iyakdan emas, pastki labdan boshlanadi? 2) Nega kalla bo‘shlig‘ida darchalar ochiladi? Doskada chizish: ekspertiza bosqichlari zanjiri (tashqi, antropometrik, ichki, laboratoriya). Tipik xato: talabalar yo‘ldosh va kindikni tekshirishni unutadi.</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Tug‘ruq travmasida suyak va miya shikastlari qaysi sharoitda paydo bo‘ladi? 2) Jarohat mexanizmini aniqlash nega huquqiy jihatdan muhim? Doskada chizish: ikki ustunli taqqoslash (A: tug‘ruq travmasi, B: ayol qo‘li bilan shikast). Tipik xato: tashqi jarohat yo‘qligini go‘dakka zarar yetkazilmaganligi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Nega sud tibbiyotida yangi tug‘ilganlik davri 24 soat deb olinadi? 2) Mutloq va nisbiy belgilar farqi nimada? Doskada chizish: yangi tug‘ilganlik belgilari ro‘yxati, mutloqlari ajratib belgilanadi. Tipik xato: pediatriya (4 hafta) va akusherlik (7 kun) muddatlarini sud-tibbiy 24 soat bilan aralashtirish.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4069080"/>
            <a:ext cx="2743200" cy="7315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737360"/>
            <a:ext cx="10911535" cy="2194560"/>
          </a:xfrm>
          <a:prstGeom prst="rect">
            <a:avLst/>
          </a:prstGeom>
          <a:noFill/>
        </p:spPr>
        <p:txBody>
          <a:bodyPr wrap="square" anchor="b">
            <a:spAutoFit/>
          </a:bodyPr>
          <a:lstStyle/>
          <a:p>
            <a:r>
              <a:rPr sz="4000" b="1">
                <a:solidFill>
                  <a:srgbClr val="FFFFFF"/>
                </a:solidFill>
                <a:latin typeface="Georgia"/>
              </a:rPr>
              <a:t>Amaliy mashg’ulot: Yangi tug‘ilgan chaqaloq</a:t>
            </a:r>
          </a:p>
        </p:txBody>
      </p:sp>
      <p:sp>
        <p:nvSpPr>
          <p:cNvPr id="5" name="TextBox 4"/>
          <p:cNvSpPr txBox="1"/>
          <p:nvPr/>
        </p:nvSpPr>
        <p:spPr>
          <a:xfrm>
            <a:off x="640080" y="4343400"/>
            <a:ext cx="10911535" cy="548640"/>
          </a:xfrm>
          <a:prstGeom prst="rect">
            <a:avLst/>
          </a:prstGeom>
          <a:noFill/>
        </p:spPr>
        <p:txBody>
          <a:bodyPr wrap="square">
            <a:spAutoFit/>
          </a:bodyPr>
          <a:lstStyle/>
          <a:p>
            <a:r>
              <a:rPr sz="2000" b="0">
                <a:solidFill>
                  <a:srgbClr val="C9A227"/>
                </a:solidFill>
                <a:latin typeface="Calibri"/>
              </a:rPr>
              <a:t>Sud tibbiyoti · ma’ruza taqdimoti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Mavzuga kirish va dars maqsadi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chaqaloq</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 / 45</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Homila va yangi tug‘ilgan go‘dak murdasining ekspertizasi zo‘raki o‘lim alomatlari yoki unga shubha bo‘lgan holatlarda o‘tkaziladi.</a:t>
            </a:r>
          </a:p>
          <a:p>
            <a:pPr>
              <a:spcAft>
                <a:spcPts val="1200"/>
              </a:spcAft>
            </a:pPr>
            <a:r>
              <a:rPr sz="2200">
                <a:solidFill>
                  <a:srgbClr val="1F2937"/>
                </a:solidFill>
                <a:latin typeface="Calibri"/>
              </a:rPr>
              <a:t>▸  Bunday ekspertizada maxsus savollar qo‘yiladi: go‘dak yangi va tirik tug‘ilganmi, yoshi qanday, hayotga layoqatlimi.</a:t>
            </a:r>
          </a:p>
          <a:p>
            <a:pPr>
              <a:spcAft>
                <a:spcPts val="1200"/>
              </a:spcAft>
            </a:pPr>
            <a:r>
              <a:rPr sz="2200">
                <a:solidFill>
                  <a:srgbClr val="1F2937"/>
                </a:solidFill>
                <a:latin typeface="Calibri"/>
              </a:rPr>
              <a:t>▸  Dars maqsadi: yangi tug‘ilganlik va tirik tug‘ilganlik belgilari, gestatsion yosh, layoqat, yashash muddati, qarov hamda o‘lim sabablarini o‘zlashtirish.</a:t>
            </a:r>
          </a:p>
          <a:p>
            <a:pPr>
              <a:spcAft>
                <a:spcPts val="1200"/>
              </a:spcAft>
            </a:pPr>
            <a:r>
              <a:rPr sz="2200">
                <a:solidFill>
                  <a:srgbClr val="1F2937"/>
                </a:solidFill>
                <a:latin typeface="Calibri"/>
              </a:rPr>
              <a:t>▸  Dars rejasi bobning 10.1–10.9 bo‘limlariga tayanadi. Oxirida murdani tekshirish xususiyatlari va nazorat savollari ko‘rib chiqiladi.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256, 256-266, 256-267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Ekspertiza o‘tkaziladigan holatlar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chaqaloq</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 / 45</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Onasi nomaʼlum bo‘lgan go‘dakning murdasi topilganda ekspertiza tayinlanadi.</a:t>
            </a:r>
          </a:p>
          <a:p>
            <a:pPr>
              <a:spcAft>
                <a:spcPts val="800"/>
              </a:spcAft>
            </a:pPr>
            <a:r>
              <a:rPr sz="1800">
                <a:solidFill>
                  <a:srgbClr val="1F2937"/>
                </a:solidFill>
                <a:latin typeface="Calibri"/>
              </a:rPr>
              <a:t>▸  Davolash muassasasidan tashqarida tug‘ruq bo‘lib, bola o‘lik tug‘ilgan hollarda ham ekspertiza o‘tkaziladi.</a:t>
            </a:r>
          </a:p>
          <a:p>
            <a:pPr>
              <a:spcAft>
                <a:spcPts val="800"/>
              </a:spcAft>
            </a:pPr>
            <a:r>
              <a:rPr sz="1800">
                <a:solidFill>
                  <a:srgbClr val="1F2937"/>
                </a:solidFill>
                <a:latin typeface="Calibri"/>
              </a:rPr>
              <a:t>▸  Homilador ayolga ko‘rsatilgan tibbiy yordamga nisbatan shikoyat bo‘lganda ham ekspertiza tayinlanadi.</a:t>
            </a:r>
          </a:p>
          <a:p>
            <a:pPr>
              <a:spcAft>
                <a:spcPts val="800"/>
              </a:spcAft>
            </a:pPr>
            <a:r>
              <a:rPr sz="1800">
                <a:solidFill>
                  <a:srgbClr val="1F2937"/>
                </a:solidFill>
                <a:latin typeface="Calibri"/>
              </a:rPr>
              <a:t>▸  Uchala holatda ham zo‘raki o‘lim alomatlari yoki unga shubha asos bo‘ladi.</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Ekspertiza tayinlanadi</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2063496"/>
            <a:ext cx="0" cy="2731008"/>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206349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Onasi noma’lum murda</a:t>
            </a:r>
          </a:p>
          <a:p>
            <a:pPr algn="l">
              <a:spcAft>
                <a:spcPts val="0"/>
              </a:spcAft>
            </a:pPr>
            <a:r>
              <a:rPr sz="1200" b="0">
                <a:solidFill>
                  <a:srgbClr val="1F2937"/>
                </a:solidFill>
                <a:latin typeface="Calibri"/>
              </a:rPr>
              <a:t>Zo‘raki o‘lim yoki shubha</a:t>
            </a:r>
          </a:p>
        </p:txBody>
      </p:sp>
      <p:cxnSp>
        <p:nvCxnSpPr>
          <p:cNvPr id="15" name="Connector 14"/>
          <p:cNvCxnSpPr/>
          <p:nvPr/>
        </p:nvCxnSpPr>
        <p:spPr>
          <a:xfrm>
            <a:off x="761238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782824"/>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782824"/>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Tashqarida tug‘ruq, o‘lik</a:t>
            </a:r>
          </a:p>
          <a:p>
            <a:pPr algn="l">
              <a:spcAft>
                <a:spcPts val="0"/>
              </a:spcAft>
            </a:pPr>
            <a:r>
              <a:rPr sz="1200" b="0">
                <a:solidFill>
                  <a:srgbClr val="1F2937"/>
                </a:solidFill>
                <a:latin typeface="Calibri"/>
              </a:rPr>
              <a:t>Davolash muassasasidan tashqarida</a:t>
            </a:r>
          </a:p>
        </p:txBody>
      </p:sp>
      <p:cxnSp>
        <p:nvCxnSpPr>
          <p:cNvPr id="18" name="Connector 17"/>
          <p:cNvCxnSpPr/>
          <p:nvPr/>
        </p:nvCxnSpPr>
        <p:spPr>
          <a:xfrm>
            <a:off x="7612380" y="479450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4148328"/>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4148328"/>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Yordamga shikoyat</a:t>
            </a:r>
          </a:p>
          <a:p>
            <a:pPr algn="l">
              <a:spcAft>
                <a:spcPts val="0"/>
              </a:spcAft>
            </a:pPr>
            <a:r>
              <a:rPr sz="1200" b="0">
                <a:solidFill>
                  <a:srgbClr val="1F2937"/>
                </a:solidFill>
                <a:latin typeface="Calibri"/>
              </a:rPr>
              <a:t>Homilador ayolga ko‘rsatilgan yordam</a:t>
            </a:r>
          </a:p>
        </p:txBody>
      </p:sp>
      <p:sp>
        <p:nvSpPr>
          <p:cNvPr id="21" name="TextBox 20"/>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Uch holat</a:t>
            </a:r>
          </a:p>
        </p:txBody>
      </p:sp>
      <p:sp>
        <p:nvSpPr>
          <p:cNvPr id="22" name="TextBox 21"/>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256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Ekspertiza oldiga qo‘yiladigan asosiy savollar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chaqaloq</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 / 45</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Savollar maxsus tusga ega: ular go‘dakning yoshi, tirik tug‘ilishi va hayotga layoqatiga qaratilgan.</a:t>
            </a:r>
          </a:p>
          <a:p>
            <a:pPr>
              <a:spcAft>
                <a:spcPts val="800"/>
              </a:spcAft>
            </a:pPr>
            <a:r>
              <a:rPr sz="1800">
                <a:solidFill>
                  <a:srgbClr val="1F2937"/>
                </a:solidFill>
                <a:latin typeface="Calibri"/>
              </a:rPr>
              <a:t>▸  Tirik tug‘ilgan bo‘lsa, qancha yashagani va unga qarov bo‘lgan-bo‘lmagani ham so‘raladi.</a:t>
            </a:r>
          </a:p>
          <a:p>
            <a:pPr>
              <a:spcAft>
                <a:spcPts val="800"/>
              </a:spcAft>
            </a:pPr>
            <a:r>
              <a:rPr sz="1800">
                <a:solidFill>
                  <a:srgbClr val="1F2937"/>
                </a:solidFill>
                <a:latin typeface="Calibri"/>
              </a:rPr>
              <a:t>▸  Qo‘shimcha: o‘lim sababi, muddati, jarohatlar va ularning yetkazilish mexanizmi.</a:t>
            </a:r>
          </a:p>
        </p:txBody>
      </p:sp>
      <p:sp>
        <p:nvSpPr>
          <p:cNvPr id="9" name="Rounded Rectangle 8"/>
          <p:cNvSpPr/>
          <p:nvPr/>
        </p:nvSpPr>
        <p:spPr>
          <a:xfrm>
            <a:off x="5440680" y="1417320"/>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550408" y="1816608"/>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1</a:t>
            </a:r>
          </a:p>
        </p:txBody>
      </p:sp>
      <p:sp>
        <p:nvSpPr>
          <p:cNvPr id="11" name="TextBox 10"/>
          <p:cNvSpPr txBox="1"/>
          <p:nvPr/>
        </p:nvSpPr>
        <p:spPr>
          <a:xfrm>
            <a:off x="6080760" y="1417320"/>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Yangi tug‘ilgan</a:t>
            </a:r>
          </a:p>
          <a:p>
            <a:pPr algn="l">
              <a:spcAft>
                <a:spcPts val="200"/>
              </a:spcAft>
            </a:pPr>
            <a:r>
              <a:rPr sz="1400" b="0">
                <a:solidFill>
                  <a:srgbClr val="1F2937"/>
                </a:solidFill>
                <a:latin typeface="Calibri"/>
              </a:rPr>
              <a:t>Yangi tug‘ilganmi?</a:t>
            </a:r>
          </a:p>
        </p:txBody>
      </p:sp>
      <p:sp>
        <p:nvSpPr>
          <p:cNvPr id="12" name="Rounded Rectangle 11"/>
          <p:cNvSpPr/>
          <p:nvPr/>
        </p:nvSpPr>
        <p:spPr>
          <a:xfrm>
            <a:off x="8578443" y="1417320"/>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688171" y="1816608"/>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2</a:t>
            </a:r>
          </a:p>
        </p:txBody>
      </p:sp>
      <p:sp>
        <p:nvSpPr>
          <p:cNvPr id="14" name="TextBox 13"/>
          <p:cNvSpPr txBox="1"/>
          <p:nvPr/>
        </p:nvSpPr>
        <p:spPr>
          <a:xfrm>
            <a:off x="9218523" y="1417320"/>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Tirik tug‘ilgan</a:t>
            </a:r>
          </a:p>
          <a:p>
            <a:pPr algn="l">
              <a:spcAft>
                <a:spcPts val="200"/>
              </a:spcAft>
            </a:pPr>
            <a:r>
              <a:rPr sz="1400" b="0">
                <a:solidFill>
                  <a:srgbClr val="1F2937"/>
                </a:solidFill>
                <a:latin typeface="Calibri"/>
              </a:rPr>
              <a:t>Tirik tug‘ilganmi?</a:t>
            </a:r>
          </a:p>
        </p:txBody>
      </p:sp>
      <p:sp>
        <p:nvSpPr>
          <p:cNvPr id="15" name="Rounded Rectangle 14"/>
          <p:cNvSpPr/>
          <p:nvPr/>
        </p:nvSpPr>
        <p:spPr>
          <a:xfrm>
            <a:off x="5440680" y="2801112"/>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550408" y="3200400"/>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3</a:t>
            </a:r>
          </a:p>
        </p:txBody>
      </p:sp>
      <p:sp>
        <p:nvSpPr>
          <p:cNvPr id="17" name="TextBox 16"/>
          <p:cNvSpPr txBox="1"/>
          <p:nvPr/>
        </p:nvSpPr>
        <p:spPr>
          <a:xfrm>
            <a:off x="6080760" y="2801112"/>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Gestatsion yosh</a:t>
            </a:r>
          </a:p>
          <a:p>
            <a:pPr algn="l">
              <a:spcAft>
                <a:spcPts val="200"/>
              </a:spcAft>
            </a:pPr>
            <a:r>
              <a:rPr sz="1400" b="0">
                <a:solidFill>
                  <a:srgbClr val="1F2937"/>
                </a:solidFill>
                <a:latin typeface="Calibri"/>
              </a:rPr>
              <a:t>Yoshi qanday?</a:t>
            </a:r>
          </a:p>
        </p:txBody>
      </p:sp>
      <p:sp>
        <p:nvSpPr>
          <p:cNvPr id="18" name="Rounded Rectangle 17"/>
          <p:cNvSpPr/>
          <p:nvPr/>
        </p:nvSpPr>
        <p:spPr>
          <a:xfrm>
            <a:off x="8578443" y="2801112"/>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688171" y="3200400"/>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4</a:t>
            </a:r>
          </a:p>
        </p:txBody>
      </p:sp>
      <p:sp>
        <p:nvSpPr>
          <p:cNvPr id="20" name="TextBox 19"/>
          <p:cNvSpPr txBox="1"/>
          <p:nvPr/>
        </p:nvSpPr>
        <p:spPr>
          <a:xfrm>
            <a:off x="9218523" y="2801112"/>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Layoqat</a:t>
            </a:r>
          </a:p>
          <a:p>
            <a:pPr algn="l">
              <a:spcAft>
                <a:spcPts val="200"/>
              </a:spcAft>
            </a:pPr>
            <a:r>
              <a:rPr sz="1400" b="0">
                <a:solidFill>
                  <a:srgbClr val="1F2937"/>
                </a:solidFill>
                <a:latin typeface="Calibri"/>
              </a:rPr>
              <a:t>Hayotga layoqatlimi?</a:t>
            </a:r>
          </a:p>
        </p:txBody>
      </p:sp>
      <p:sp>
        <p:nvSpPr>
          <p:cNvPr id="21" name="Rounded Rectangle 20"/>
          <p:cNvSpPr/>
          <p:nvPr/>
        </p:nvSpPr>
        <p:spPr>
          <a:xfrm>
            <a:off x="5440680" y="4184904"/>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550408" y="4584192"/>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5</a:t>
            </a:r>
          </a:p>
        </p:txBody>
      </p:sp>
      <p:sp>
        <p:nvSpPr>
          <p:cNvPr id="23" name="TextBox 22"/>
          <p:cNvSpPr txBox="1"/>
          <p:nvPr/>
        </p:nvSpPr>
        <p:spPr>
          <a:xfrm>
            <a:off x="6080760" y="4184904"/>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Muddat, qarov</a:t>
            </a:r>
          </a:p>
          <a:p>
            <a:pPr algn="l">
              <a:spcAft>
                <a:spcPts val="200"/>
              </a:spcAft>
            </a:pPr>
            <a:r>
              <a:rPr sz="1400" b="0">
                <a:solidFill>
                  <a:srgbClr val="1F2937"/>
                </a:solidFill>
                <a:latin typeface="Calibri"/>
              </a:rPr>
              <a:t>Qancha yashagan, qarov bormi?</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Asosiy savollar</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256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Qo‘shimcha umumiy savollar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chaqaloq</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 / 45</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Homila va go‘dak murdasida ham boshqa murda ekspertizalaridagidek o‘limning sababi aniqlanadi.</a:t>
            </a:r>
          </a:p>
          <a:p>
            <a:pPr>
              <a:spcAft>
                <a:spcPts val="1200"/>
              </a:spcAft>
            </a:pPr>
            <a:r>
              <a:rPr sz="2200">
                <a:solidFill>
                  <a:srgbClr val="1F2937"/>
                </a:solidFill>
                <a:latin typeface="Calibri"/>
              </a:rPr>
              <a:t>▸  O‘lim muddati, ya’ni o‘lim qachon sodir bo‘lgani ham ekspertiza oldiga savol qilib qo‘yiladi.</a:t>
            </a:r>
          </a:p>
          <a:p>
            <a:pPr>
              <a:spcAft>
                <a:spcPts val="1200"/>
              </a:spcAft>
            </a:pPr>
            <a:r>
              <a:rPr sz="2200">
                <a:solidFill>
                  <a:srgbClr val="1F2937"/>
                </a:solidFill>
                <a:latin typeface="Calibri"/>
              </a:rPr>
              <a:t>▸  Tan jarohatlari bor-yo‘qligi va ularning yetkazilish mexanizmi aniqlanadi.</a:t>
            </a:r>
          </a:p>
          <a:p>
            <a:pPr>
              <a:spcAft>
                <a:spcPts val="1200"/>
              </a:spcAft>
            </a:pPr>
            <a:r>
              <a:rPr sz="2200">
                <a:solidFill>
                  <a:srgbClr val="1F2937"/>
                </a:solidFill>
                <a:latin typeface="Calibri"/>
              </a:rPr>
              <a:t>▸  Bu savollar maxsus savollarga (yangi tug‘ilganmi, tirik tug‘ilganmi va h.k.) qo‘shimcha tarzda beriladi.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256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Yangi tug‘ilganlik tushunchasi: uch yondashuv</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chaqaloq</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 / 45</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Sud tibbiyotidagi “yangi tug‘ilganlik” pediatriya va akusherlikdagi tushunchadan farq qiladi.</a:t>
            </a:r>
          </a:p>
          <a:p>
            <a:pPr>
              <a:spcAft>
                <a:spcPts val="800"/>
              </a:spcAft>
            </a:pPr>
            <a:r>
              <a:rPr sz="1800">
                <a:solidFill>
                  <a:srgbClr val="1F2937"/>
                </a:solidFill>
                <a:latin typeface="Calibri"/>
              </a:rPr>
              <a:t>▸  Sud-tibbiy ma’noda bu davr faqat tug‘ilgandan keyingi dastlabki 24 soatni tashkil etadi.</a:t>
            </a:r>
          </a:p>
          <a:p>
            <a:pPr>
              <a:spcAft>
                <a:spcPts val="800"/>
              </a:spcAft>
            </a:pPr>
            <a:r>
              <a:rPr sz="1800">
                <a:solidFill>
                  <a:srgbClr val="1F2937"/>
                </a:solidFill>
                <a:latin typeface="Calibri"/>
              </a:rPr>
              <a:t>▸  Diqqat: xato qilish xavfi — 24 soat ≠ 7 kun ≠ 4 hafta, muddatlarni aralashtirmang.</a:t>
            </a:r>
          </a:p>
        </p:txBody>
      </p:sp>
      <p:sp>
        <p:nvSpPr>
          <p:cNvPr id="9" name="Rounded Rectangle 8"/>
          <p:cNvSpPr/>
          <p:nvPr/>
        </p:nvSpPr>
        <p:spPr>
          <a:xfrm>
            <a:off x="5440680" y="1417320"/>
            <a:ext cx="1927250"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40680" y="1508760"/>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50408" y="1417320"/>
            <a:ext cx="1817522"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Pediatriya</a:t>
            </a:r>
          </a:p>
          <a:p>
            <a:pPr algn="l">
              <a:spcAft>
                <a:spcPts val="100"/>
              </a:spcAft>
            </a:pPr>
            <a:r>
              <a:rPr sz="3000" b="1">
                <a:solidFill>
                  <a:srgbClr val="0B1F3A"/>
                </a:solidFill>
                <a:latin typeface="Calibri"/>
              </a:rPr>
              <a:t>4</a:t>
            </a:r>
            <a:r>
              <a:rPr sz="1500" b="0">
                <a:solidFill>
                  <a:srgbClr val="6B7280"/>
                </a:solidFill>
                <a:latin typeface="Calibri"/>
              </a:rPr>
              <a:t>  hafta</a:t>
            </a:r>
          </a:p>
        </p:txBody>
      </p:sp>
      <p:sp>
        <p:nvSpPr>
          <p:cNvPr id="12" name="Rounded Rectangle 11"/>
          <p:cNvSpPr/>
          <p:nvPr/>
        </p:nvSpPr>
        <p:spPr>
          <a:xfrm>
            <a:off x="7532522" y="1417320"/>
            <a:ext cx="1927250"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532522" y="1508760"/>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42250" y="1417320"/>
            <a:ext cx="1817522"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Akusherlik-ginekologiya</a:t>
            </a:r>
          </a:p>
          <a:p>
            <a:pPr algn="l">
              <a:spcAft>
                <a:spcPts val="100"/>
              </a:spcAft>
            </a:pPr>
            <a:r>
              <a:rPr sz="3000" b="1">
                <a:solidFill>
                  <a:srgbClr val="0B1F3A"/>
                </a:solidFill>
                <a:latin typeface="Calibri"/>
              </a:rPr>
              <a:t>7</a:t>
            </a:r>
            <a:r>
              <a:rPr sz="1500" b="0">
                <a:solidFill>
                  <a:srgbClr val="6B7280"/>
                </a:solidFill>
                <a:latin typeface="Calibri"/>
              </a:rPr>
              <a:t>  kun</a:t>
            </a:r>
          </a:p>
        </p:txBody>
      </p:sp>
      <p:sp>
        <p:nvSpPr>
          <p:cNvPr id="15" name="Rounded Rectangle 14"/>
          <p:cNvSpPr/>
          <p:nvPr/>
        </p:nvSpPr>
        <p:spPr>
          <a:xfrm>
            <a:off x="9624364" y="1417320"/>
            <a:ext cx="1927250"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9624364" y="1508760"/>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734092" y="1417320"/>
            <a:ext cx="1817522"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Sud tibbiyoti</a:t>
            </a:r>
          </a:p>
          <a:p>
            <a:pPr algn="l">
              <a:spcAft>
                <a:spcPts val="100"/>
              </a:spcAft>
            </a:pPr>
            <a:r>
              <a:rPr sz="3000" b="1">
                <a:solidFill>
                  <a:srgbClr val="0B1F3A"/>
                </a:solidFill>
                <a:latin typeface="Calibri"/>
              </a:rPr>
              <a:t>24</a:t>
            </a:r>
            <a:r>
              <a:rPr sz="1500" b="0">
                <a:solidFill>
                  <a:srgbClr val="6B7280"/>
                </a:solidFill>
                <a:latin typeface="Calibri"/>
              </a:rPr>
              <a:t>  soat</a:t>
            </a:r>
          </a:p>
        </p:txBody>
      </p:sp>
      <p:sp>
        <p:nvSpPr>
          <p:cNvPr id="18" name="TextBox 17"/>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Yangi tug‘ilganlik davri</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256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Yangi tug‘ilganlikning huquqiy ahamiyati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chaqaloq</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 / 45</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O‘zbekiston Respublikasi Jinoyat kodeksining (JK) 99-moddasi: ona go‘dagini tug‘ish vaqtida yoki tug‘ilishi hamon qasddan o‘ldirishi alohida ajratilgan.</a:t>
            </a:r>
          </a:p>
          <a:p>
            <a:pPr>
              <a:spcAft>
                <a:spcPts val="1200"/>
              </a:spcAft>
            </a:pPr>
            <a:r>
              <a:rPr sz="2200">
                <a:solidFill>
                  <a:srgbClr val="1F2937"/>
                </a:solidFill>
                <a:latin typeface="Calibri"/>
              </a:rPr>
              <a:t>▸  Bu modda bo‘yicha belgilangan jazo qasddan odam o‘ldirishga nisbatan ancha yengil.</a:t>
            </a:r>
          </a:p>
          <a:p>
            <a:pPr>
              <a:spcAft>
                <a:spcPts val="1200"/>
              </a:spcAft>
            </a:pPr>
            <a:r>
              <a:rPr sz="2200">
                <a:solidFill>
                  <a:srgbClr val="1F2937"/>
                </a:solidFill>
                <a:latin typeface="Calibri"/>
              </a:rPr>
              <a:t>▸  Tug‘ruq bir sutkaga yaqin davom etadi; og‘riq va psixo-emotsional holat tufayli ona o‘zi to‘liq anglamay go‘dakka shikast yetkazishi mumkin.</a:t>
            </a:r>
          </a:p>
          <a:p>
            <a:pPr>
              <a:spcAft>
                <a:spcPts val="1200"/>
              </a:spcAft>
            </a:pPr>
            <a:r>
              <a:rPr sz="2200">
                <a:solidFill>
                  <a:srgbClr val="1F2937"/>
                </a:solidFill>
                <a:latin typeface="Calibri"/>
              </a:rPr>
              <a:t>▸  Agar harakat boshqa shaxs tomonidan sodir etilsa, u JK 97-modda bo‘yicha qasddan odam o‘ldirish deb baholanadi.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256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yangi tug‘ilganlik tushunchasi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chaqaloq</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 / 45</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Savol: “yangi tug‘ilganlik” davri sud tibbiyotida, pediatriyada va akusherlik-ginekologiyada qancha davom etadi? Javobni o‘ylab ko‘ring.</a:t>
            </a:r>
          </a:p>
          <a:p>
            <a:pPr>
              <a:spcAft>
                <a:spcPts val="1200"/>
              </a:spcAft>
            </a:pPr>
            <a:r>
              <a:rPr sz="2200">
                <a:solidFill>
                  <a:srgbClr val="1F2937"/>
                </a:solidFill>
                <a:latin typeface="Calibri"/>
              </a:rPr>
              <a:t>▸  Sud tibbiyotida bu davr dastlabki 24 soat. Pediatriyada 4 hafta (neonatal davr), akusherlik-ginekologiyada 7 kun hisoblanadi.</a:t>
            </a:r>
          </a:p>
          <a:p>
            <a:pPr>
              <a:spcAft>
                <a:spcPts val="1200"/>
              </a:spcAft>
            </a:pPr>
            <a:r>
              <a:rPr sz="2200">
                <a:solidFill>
                  <a:srgbClr val="1F2937"/>
                </a:solidFill>
                <a:latin typeface="Calibri"/>
              </a:rPr>
              <a:t>▸  Huquqiy asos: Jinoyat kodeksining 99-moddasi.</a:t>
            </a:r>
          </a:p>
          <a:p>
            <a:pPr>
              <a:spcAft>
                <a:spcPts val="1200"/>
              </a:spcAft>
            </a:pPr>
            <a:r>
              <a:rPr sz="2200">
                <a:solidFill>
                  <a:srgbClr val="1F2937"/>
                </a:solidFill>
                <a:latin typeface="Calibri"/>
              </a:rPr>
              <a:t>▸  Ona go‘dagini tug‘ish vaqtida yoki tug‘ilishi hamon qasddan o‘ldirsa, jazo qasddan odam o‘ldirishdagidan ancha yengil.</a:t>
            </a:r>
          </a:p>
          <a:p>
            <a:pPr>
              <a:spcAft>
                <a:spcPts val="1200"/>
              </a:spcAft>
            </a:pPr>
            <a:r>
              <a:rPr sz="2200">
                <a:solidFill>
                  <a:srgbClr val="1F2937"/>
                </a:solidFill>
                <a:latin typeface="Calibri"/>
              </a:rPr>
              <a:t>▸  Diqqat: xato qilish xavfi! 24 soat ≠ 7 kun ≠ 4 hafta. Go‘dakni boshqa shaxs o‘ldirsa, bu 97-modda (qasddan odam o‘ldirish) bo‘yicha baholanadi.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256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1-bo‘lim bo‘yicha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chaqaloq</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9 / 45</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onasi noma’lum go‘dakning murdasi topildi. Boshqa holat: davolash muassasasidan tashqarida tug‘ruq bo‘ldi va bola o‘lik tug‘ildi.</a:t>
            </a:r>
          </a:p>
          <a:p>
            <a:pPr>
              <a:spcAft>
                <a:spcPts val="1200"/>
              </a:spcAft>
            </a:pPr>
            <a:r>
              <a:rPr sz="2200">
                <a:solidFill>
                  <a:srgbClr val="1F2937"/>
                </a:solidFill>
                <a:latin typeface="Calibri"/>
              </a:rPr>
              <a:t>▸  Bunday hollarda zo‘raki o‘lim alomatlari yoki unga shubha bo‘lsa, sud-tibbiy ekspertiza o‘tkaziladi.</a:t>
            </a:r>
          </a:p>
          <a:p>
            <a:pPr>
              <a:spcAft>
                <a:spcPts val="1200"/>
              </a:spcAft>
            </a:pPr>
            <a:r>
              <a:rPr sz="2200">
                <a:solidFill>
                  <a:srgbClr val="1F2937"/>
                </a:solidFill>
                <a:latin typeface="Calibri"/>
              </a:rPr>
              <a:t>▸  Homilador ayolga ko‘rsatilgan yordamga shikoyat bo‘lganda ham ekspertiza tayinlanadi.</a:t>
            </a:r>
          </a:p>
          <a:p>
            <a:pPr>
              <a:spcAft>
                <a:spcPts val="1200"/>
              </a:spcAft>
            </a:pPr>
            <a:r>
              <a:rPr sz="2200">
                <a:solidFill>
                  <a:srgbClr val="1F2937"/>
                </a:solidFill>
                <a:latin typeface="Calibri"/>
              </a:rPr>
              <a:t>▸  Ekspertiza oldiga maxsus savollar qo‘yiladi: yangi tug‘ilganmi, tirik tug‘ilganmi, gestatsion yoshi, hayotga layoqati, necha vaqt yashagani, qarov bo‘lganmi.</a:t>
            </a:r>
          </a:p>
          <a:p>
            <a:pPr>
              <a:spcAft>
                <a:spcPts val="1200"/>
              </a:spcAft>
            </a:pPr>
            <a:r>
              <a:rPr sz="2200">
                <a:solidFill>
                  <a:srgbClr val="1F2937"/>
                </a:solidFill>
                <a:latin typeface="Calibri"/>
              </a:rPr>
              <a:t>▸  Savol: bu maxsus savollardan tashqari, har qanday murda ekspertizasidagi qaysi umumiy savollar ham qo‘yiladi?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256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Yangi tug‘ilganlik belgilari: qon izlari va mo‘msimon qoplama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chaqaloq</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10 / 45</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Tashqi jarohat bo‘lmasa, qon izlari yangi tug‘ilganlik belgisi: tug‘ruq yo‘llari yumshoq to‘qimalari yorilishidan hosil bo‘lib, yuvilganda yo‘qoladi.</a:t>
            </a:r>
          </a:p>
          <a:p>
            <a:pPr>
              <a:spcAft>
                <a:spcPts val="1200"/>
              </a:spcAft>
            </a:pPr>
            <a:r>
              <a:rPr sz="2200">
                <a:solidFill>
                  <a:srgbClr val="1F2937"/>
                </a:solidFill>
                <a:latin typeface="Calibri"/>
              </a:rPr>
              <a:t>▸  Mo‘msimon qoplama — tana yuzasidagi oqimtir-kulrang, yarim quyuq-yarim qattiq massa.</a:t>
            </a:r>
          </a:p>
          <a:p>
            <a:pPr>
              <a:spcAft>
                <a:spcPts val="1200"/>
              </a:spcAft>
            </a:pPr>
            <a:r>
              <a:rPr sz="2200">
                <a:solidFill>
                  <a:srgbClr val="1F2937"/>
                </a:solidFill>
                <a:latin typeface="Calibri"/>
              </a:rPr>
              <a:t>▸  Tarkibi: teri yog‘ bezlari sekreti (V homila oyidan), ko‘chgan epidermis hujayralari, tuk-soch, qog‘onoq suvlari.</a:t>
            </a:r>
          </a:p>
          <a:p>
            <a:pPr>
              <a:spcAft>
                <a:spcPts val="1200"/>
              </a:spcAft>
            </a:pPr>
            <a:r>
              <a:rPr sz="2200">
                <a:solidFill>
                  <a:srgbClr val="1F2937"/>
                </a:solidFill>
                <a:latin typeface="Calibri"/>
              </a:rPr>
              <a:t>▸  Mo‘msimon qoplama bachadonda terini matseratsiyadan himoya qiladi.</a:t>
            </a:r>
          </a:p>
          <a:p>
            <a:pPr>
              <a:spcAft>
                <a:spcPts val="1200"/>
              </a:spcAft>
            </a:pPr>
            <a:r>
              <a:rPr sz="2200">
                <a:solidFill>
                  <a:srgbClr val="1F2937"/>
                </a:solidFill>
                <a:latin typeface="Calibri"/>
              </a:rPr>
              <a:t>▸  Ko‘proq terining tabiiy burmalarida, qo‘ltiq osti va oraliq sohalarda bo‘ladi. Tana yuvilmasa, qoplama bir haftagacha saqlanishi mumkin.</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257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Tug‘ruq shishi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chaqaloq</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11 / 45</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Tug‘ruqda homila tanasining oldingi qismi tos halqasiga qisiladi. Mahalliy qon aylanishi buzilib, yumshoq to‘qimalar shishadi.</a:t>
            </a:r>
          </a:p>
          <a:p>
            <a:pPr>
              <a:spcAft>
                <a:spcPts val="1200"/>
              </a:spcAft>
            </a:pPr>
            <a:r>
              <a:rPr sz="2200">
                <a:solidFill>
                  <a:srgbClr val="1F2937"/>
                </a:solidFill>
                <a:latin typeface="Calibri"/>
              </a:rPr>
              <a:t>▸  Asosan tor tosda va tug‘ruq faoliyati sust bo‘lganda uchraydi. Ko‘pincha bosh, ba’zan dumba sohasida aniqlanadi.</a:t>
            </a:r>
          </a:p>
          <a:p>
            <a:pPr>
              <a:spcAft>
                <a:spcPts val="1200"/>
              </a:spcAft>
            </a:pPr>
            <a:r>
              <a:rPr sz="2200">
                <a:solidFill>
                  <a:srgbClr val="1F2937"/>
                </a:solidFill>
                <a:latin typeface="Calibri"/>
              </a:rPr>
              <a:t>▸  Shish yumshoq. Kesib ko‘rilganda qizg‘ish-sarg‘ish: qon aralash seroz suyuqlik singigan bo‘ladi.</a:t>
            </a:r>
          </a:p>
          <a:p>
            <a:pPr>
              <a:spcAft>
                <a:spcPts val="1200"/>
              </a:spcAft>
            </a:pPr>
            <a:r>
              <a:rPr sz="2200">
                <a:solidFill>
                  <a:srgbClr val="1F2937"/>
                </a:solidFill>
                <a:latin typeface="Calibri"/>
              </a:rPr>
              <a:t>▸  Odatda 2-3 kun ichida so‘rilib ketadi. Shu sabab u yangi tug‘ilganlikning nisbiy belgisi hisoblanadi.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257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Tug‘ruq shishi va kefalogematoma farqi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chaqaloq</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12 / 45</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Kefalogematoma — kalla gumbazi suyaklarida suyak usti pardasi ostiga qon quyilishi.</a:t>
            </a:r>
          </a:p>
          <a:p>
            <a:pPr>
              <a:spcAft>
                <a:spcPts val="800"/>
              </a:spcAft>
            </a:pPr>
            <a:r>
              <a:rPr sz="1800">
                <a:solidFill>
                  <a:srgbClr val="1F2937"/>
                </a:solidFill>
                <a:latin typeface="Calibri"/>
              </a:rPr>
              <a:t>▸  Kefalogematoma suyaklararo choklar bilan chegaralanadi; tug‘ruq shishi choklar proeksiyasida ham topiladi.</a:t>
            </a:r>
          </a:p>
          <a:p>
            <a:pPr>
              <a:spcAft>
                <a:spcPts val="800"/>
              </a:spcAft>
            </a:pPr>
            <a:r>
              <a:rPr sz="1800">
                <a:solidFill>
                  <a:srgbClr val="1F2937"/>
                </a:solidFill>
                <a:latin typeface="Calibri"/>
              </a:rPr>
              <a:t>▸  Tug‘ruq shishi 2-3 kunda so‘riladi, kefalogematoma esa 2 hafta va undan ortiq.</a:t>
            </a:r>
          </a:p>
        </p:txBody>
      </p:sp>
      <p:sp>
        <p:nvSpPr>
          <p:cNvPr id="9" name="Rounded Rectangle 8"/>
          <p:cNvSpPr/>
          <p:nvPr/>
        </p:nvSpPr>
        <p:spPr>
          <a:xfrm>
            <a:off x="5440680" y="1417320"/>
            <a:ext cx="2986887"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Tug‘ruq shishi</a:t>
            </a:r>
          </a:p>
        </p:txBody>
      </p:sp>
      <p:sp>
        <p:nvSpPr>
          <p:cNvPr id="10" name="Rectangle 9"/>
          <p:cNvSpPr/>
          <p:nvPr/>
        </p:nvSpPr>
        <p:spPr>
          <a:xfrm>
            <a:off x="5440680"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Yumshoq to‘qimalar shishi</a:t>
            </a:r>
          </a:p>
          <a:p>
            <a:pPr algn="l">
              <a:spcAft>
                <a:spcPts val="700"/>
              </a:spcAft>
            </a:pPr>
            <a:r>
              <a:rPr sz="1500" b="1">
                <a:solidFill>
                  <a:srgbClr val="C9A227"/>
                </a:solidFill>
                <a:latin typeface="Calibri"/>
              </a:rPr>
              <a:t>●  </a:t>
            </a:r>
            <a:r>
              <a:rPr sz="1500" b="0">
                <a:solidFill>
                  <a:srgbClr val="1F2937"/>
                </a:solidFill>
                <a:latin typeface="Calibri"/>
              </a:rPr>
              <a:t>Choklar proeksiyasida ham bor</a:t>
            </a:r>
          </a:p>
          <a:p>
            <a:pPr algn="l">
              <a:spcAft>
                <a:spcPts val="700"/>
              </a:spcAft>
            </a:pPr>
            <a:r>
              <a:rPr sz="1500" b="1">
                <a:solidFill>
                  <a:srgbClr val="C9A227"/>
                </a:solidFill>
                <a:latin typeface="Calibri"/>
              </a:rPr>
              <a:t>●  </a:t>
            </a:r>
            <a:r>
              <a:rPr sz="1500" b="0">
                <a:solidFill>
                  <a:srgbClr val="1F2937"/>
                </a:solidFill>
                <a:latin typeface="Calibri"/>
              </a:rPr>
              <a:t>Qisilishdan qon aylanishi buzilgan</a:t>
            </a:r>
          </a:p>
          <a:p>
            <a:pPr algn="l">
              <a:spcAft>
                <a:spcPts val="700"/>
              </a:spcAft>
            </a:pPr>
            <a:r>
              <a:rPr sz="1500" b="1">
                <a:solidFill>
                  <a:srgbClr val="C9A227"/>
                </a:solidFill>
                <a:latin typeface="Calibri"/>
              </a:rPr>
              <a:t>●  </a:t>
            </a:r>
            <a:r>
              <a:rPr sz="1500" b="0">
                <a:solidFill>
                  <a:srgbClr val="1F2937"/>
                </a:solidFill>
                <a:latin typeface="Calibri"/>
              </a:rPr>
              <a:t>2-3 kunda so‘riladi</a:t>
            </a:r>
          </a:p>
        </p:txBody>
      </p:sp>
      <p:sp>
        <p:nvSpPr>
          <p:cNvPr id="11" name="Rounded Rectangle 10"/>
          <p:cNvSpPr/>
          <p:nvPr/>
        </p:nvSpPr>
        <p:spPr>
          <a:xfrm>
            <a:off x="8564727" y="1417320"/>
            <a:ext cx="2986887" cy="5486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Kefalogematoma</a:t>
            </a:r>
          </a:p>
        </p:txBody>
      </p:sp>
      <p:sp>
        <p:nvSpPr>
          <p:cNvPr id="12" name="Rectangle 11"/>
          <p:cNvSpPr/>
          <p:nvPr/>
        </p:nvSpPr>
        <p:spPr>
          <a:xfrm>
            <a:off x="8564727"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Suyak usti pardasi ostiga qon</a:t>
            </a:r>
          </a:p>
          <a:p>
            <a:pPr algn="l">
              <a:spcAft>
                <a:spcPts val="700"/>
              </a:spcAft>
            </a:pPr>
            <a:r>
              <a:rPr sz="1500" b="1">
                <a:solidFill>
                  <a:srgbClr val="C9A227"/>
                </a:solidFill>
                <a:latin typeface="Calibri"/>
              </a:rPr>
              <a:t>●  </a:t>
            </a:r>
            <a:r>
              <a:rPr sz="1500" b="0">
                <a:solidFill>
                  <a:srgbClr val="1F2937"/>
                </a:solidFill>
                <a:latin typeface="Calibri"/>
              </a:rPr>
              <a:t>Choklar bilan chegaralangan</a:t>
            </a:r>
          </a:p>
          <a:p>
            <a:pPr algn="l">
              <a:spcAft>
                <a:spcPts val="700"/>
              </a:spcAft>
            </a:pPr>
            <a:r>
              <a:rPr sz="1500" b="1">
                <a:solidFill>
                  <a:srgbClr val="C9A227"/>
                </a:solidFill>
                <a:latin typeface="Calibri"/>
              </a:rPr>
              <a:t>●  </a:t>
            </a:r>
            <a:r>
              <a:rPr sz="1500" b="0">
                <a:solidFill>
                  <a:srgbClr val="1F2937"/>
                </a:solidFill>
                <a:latin typeface="Calibri"/>
              </a:rPr>
              <a:t>Tug‘ruq travmasi</a:t>
            </a:r>
          </a:p>
          <a:p>
            <a:pPr algn="l">
              <a:spcAft>
                <a:spcPts val="700"/>
              </a:spcAft>
            </a:pPr>
            <a:r>
              <a:rPr sz="1500" b="1">
                <a:solidFill>
                  <a:srgbClr val="C9A227"/>
                </a:solidFill>
                <a:latin typeface="Calibri"/>
              </a:rPr>
              <a:t>●  </a:t>
            </a:r>
            <a:r>
              <a:rPr sz="1500" b="0">
                <a:solidFill>
                  <a:srgbClr val="1F2937"/>
                </a:solidFill>
                <a:latin typeface="Calibri"/>
              </a:rPr>
              <a:t>2 hafta va undan ko‘p</a:t>
            </a:r>
          </a:p>
        </p:txBody>
      </p:sp>
      <p:sp>
        <p:nvSpPr>
          <p:cNvPr id="13" name="TextBox 12"/>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Ikki shishning solishtirmasi</a:t>
            </a:r>
          </a:p>
        </p:txBody>
      </p:sp>
      <p:sp>
        <p:nvSpPr>
          <p:cNvPr id="14" name="TextBox 13"/>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257</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Mekoniy</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chaqaloq</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13 / 45</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Mekoniy — birlamchi najas: to‘q yashil yoki qo‘ng‘ir-yashil, yarim suyuq, bir xil massa.</a:t>
            </a:r>
          </a:p>
          <a:p>
            <a:pPr>
              <a:spcAft>
                <a:spcPts val="800"/>
              </a:spcAft>
            </a:pPr>
            <a:r>
              <a:rPr sz="1800">
                <a:solidFill>
                  <a:srgbClr val="1F2937"/>
                </a:solidFill>
                <a:latin typeface="Calibri"/>
              </a:rPr>
              <a:t>▸  Tarkibida shilliq, o‘t pigmentlari, ko‘chgan ichak epiteliysi, qog‘onoq suvlari va tuk sochlari bo‘ladi.</a:t>
            </a:r>
          </a:p>
          <a:p>
            <a:pPr>
              <a:spcAft>
                <a:spcPts val="800"/>
              </a:spcAft>
            </a:pPr>
            <a:r>
              <a:rPr sz="1800">
                <a:solidFill>
                  <a:srgbClr val="1F2937"/>
                </a:solidFill>
                <a:latin typeface="Calibri"/>
              </a:rPr>
              <a:t>▸  Yo‘g‘on ichakda, orqa chiqaruv teshigi atrofida, dumba va son sohalarida topiladi.</a:t>
            </a:r>
          </a:p>
          <a:p>
            <a:pPr>
              <a:spcAft>
                <a:spcPts val="800"/>
              </a:spcAft>
            </a:pPr>
            <a:r>
              <a:rPr sz="1800">
                <a:solidFill>
                  <a:srgbClr val="1F2937"/>
                </a:solidFill>
                <a:latin typeface="Calibri"/>
              </a:rPr>
              <a:t>▸  Odatda tug‘ruqdan keyin 1-2 kunda ichakdan to‘liq chiqadi. Norasolarda bu muddat uzoqroq, 3-4 kungacha.</a:t>
            </a:r>
          </a:p>
        </p:txBody>
      </p:sp>
      <p:sp>
        <p:nvSpPr>
          <p:cNvPr id="9" name="Rounded Rectangle 8"/>
          <p:cNvSpPr/>
          <p:nvPr/>
        </p:nvSpPr>
        <p:spPr>
          <a:xfrm>
            <a:off x="5440680" y="1417320"/>
            <a:ext cx="2973171"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40680" y="1508760"/>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50408" y="1417320"/>
            <a:ext cx="2863443"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Raso go‘dakda chiqishi</a:t>
            </a:r>
          </a:p>
          <a:p>
            <a:pPr algn="l">
              <a:spcAft>
                <a:spcPts val="100"/>
              </a:spcAft>
            </a:pPr>
            <a:r>
              <a:rPr sz="3000" b="1">
                <a:solidFill>
                  <a:srgbClr val="0B1F3A"/>
                </a:solidFill>
                <a:latin typeface="Calibri"/>
              </a:rPr>
              <a:t>1–2</a:t>
            </a:r>
            <a:r>
              <a:rPr sz="1500" b="0">
                <a:solidFill>
                  <a:srgbClr val="6B7280"/>
                </a:solidFill>
                <a:latin typeface="Calibri"/>
              </a:rPr>
              <a:t>  kun</a:t>
            </a:r>
          </a:p>
        </p:txBody>
      </p:sp>
      <p:sp>
        <p:nvSpPr>
          <p:cNvPr id="12" name="Rounded Rectangle 11"/>
          <p:cNvSpPr/>
          <p:nvPr/>
        </p:nvSpPr>
        <p:spPr>
          <a:xfrm>
            <a:off x="8578443" y="1417320"/>
            <a:ext cx="2973171"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578443" y="1508760"/>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8171" y="1417320"/>
            <a:ext cx="2863443"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Norasolarda chiqishi</a:t>
            </a:r>
          </a:p>
          <a:p>
            <a:pPr algn="l">
              <a:spcAft>
                <a:spcPts val="100"/>
              </a:spcAft>
            </a:pPr>
            <a:r>
              <a:rPr sz="3000" b="1">
                <a:solidFill>
                  <a:srgbClr val="0B1F3A"/>
                </a:solidFill>
                <a:latin typeface="Calibri"/>
              </a:rPr>
              <a:t>3–4</a:t>
            </a:r>
            <a:r>
              <a:rPr sz="1500" b="0">
                <a:solidFill>
                  <a:srgbClr val="6B7280"/>
                </a:solidFill>
                <a:latin typeface="Calibri"/>
              </a:rPr>
              <a:t>  kun</a:t>
            </a:r>
          </a:p>
        </p:txBody>
      </p:sp>
      <p:sp>
        <p:nvSpPr>
          <p:cNvPr id="15" name="TextBox 14"/>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Mekoniy chiqib ketishi</a:t>
            </a:r>
          </a:p>
        </p:txBody>
      </p:sp>
      <p:sp>
        <p:nvSpPr>
          <p:cNvPr id="16" name="TextBox 15"/>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257</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Kindik va demarkatsion halqa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chaqaloq</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14 / 45</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Raso go‘dakda kindik uzunligi 50-60 sm, qalinligi 1,5-2 sm bo‘ladi; u homilani yo‘ldosh bilan bog‘laydi.</a:t>
            </a:r>
          </a:p>
          <a:p>
            <a:pPr>
              <a:spcAft>
                <a:spcPts val="800"/>
              </a:spcAft>
            </a:pPr>
            <a:r>
              <a:rPr sz="1800">
                <a:solidFill>
                  <a:srgbClr val="1F2937"/>
                </a:solidFill>
                <a:latin typeface="Calibri"/>
              </a:rPr>
              <a:t>▸  Tirik tug‘ilganda kindik tekis quriydi; asosida qizg‘ish reaktiv yallig‘lanish halqasi paydo bo‘ladi.</a:t>
            </a:r>
          </a:p>
          <a:p>
            <a:pPr>
              <a:spcAft>
                <a:spcPts val="800"/>
              </a:spcAft>
            </a:pPr>
            <a:r>
              <a:rPr sz="1800">
                <a:solidFill>
                  <a:srgbClr val="1F2937"/>
                </a:solidFill>
                <a:latin typeface="Calibri"/>
              </a:rPr>
              <a:t>▸  Halqa bir necha soatda, ba’zan 1-kun oxirida hosil bo‘ladi; 5-7 kundan so‘ng kindik ajraladi.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Nam, yaltiroq, oqimtir-qizgish</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Bujmayadi, qo‘ng‘ir-sariq</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Qo‘ng‘ir-qora tusga kiradi</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Qizg‘ish demarkatsion halqa</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5-7 kunda kindik ajraladi</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Kindikning o‘zgarish bosqichlari</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258</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O‘pkaning birlamchi atelektazi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chaqaloq</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15 / 45</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Nafas olmagan o‘pka birlamchi atelektaz holatida bo‘ladi.</a:t>
            </a:r>
          </a:p>
          <a:p>
            <a:pPr>
              <a:spcAft>
                <a:spcPts val="800"/>
              </a:spcAft>
            </a:pPr>
            <a:r>
              <a:rPr sz="1800">
                <a:solidFill>
                  <a:srgbClr val="1F2937"/>
                </a:solidFill>
                <a:latin typeface="Calibri"/>
              </a:rPr>
              <a:t>▸  Bunday holatda go‘dak faqat bir necha soniya yashashi mumkin.</a:t>
            </a:r>
          </a:p>
          <a:p>
            <a:pPr>
              <a:spcAft>
                <a:spcPts val="800"/>
              </a:spcAft>
            </a:pPr>
            <a:r>
              <a:rPr sz="1800">
                <a:solidFill>
                  <a:srgbClr val="1F2937"/>
                </a:solidFill>
                <a:latin typeface="Calibri"/>
              </a:rPr>
              <a:t>▸  Birlamchi atelektaz yangi tug‘ilganlikning absolyut, ya’ni mutlaq ishonchli belgilaridan biridir.</a:t>
            </a:r>
          </a:p>
          <a:p>
            <a:pPr>
              <a:spcAft>
                <a:spcPts val="800"/>
              </a:spcAft>
            </a:pPr>
            <a:r>
              <a:rPr sz="1800">
                <a:solidFill>
                  <a:srgbClr val="1F2937"/>
                </a:solidFill>
                <a:latin typeface="Calibri"/>
              </a:rPr>
              <a:t>▸  Diqqat: birlamchi atelektaz ≠ ikkilamchi atelektaz. Ikkilamchisida o‘pka avval nafas olgan, keyin atelektazga uchragan.</a:t>
            </a:r>
          </a:p>
          <a:p>
            <a:pPr>
              <a:spcAft>
                <a:spcPts val="800"/>
              </a:spcAft>
            </a:pPr>
            <a:r>
              <a:rPr sz="1800">
                <a:solidFill>
                  <a:srgbClr val="1F2937"/>
                </a:solidFill>
                <a:latin typeface="Calibri"/>
              </a:rPr>
              <a:t>▸  Ikkilamchi atelektazda oddiy o‘pka sinamasi soxta manfiy bo‘lishi mumkin.</a:t>
            </a:r>
          </a:p>
        </p:txBody>
      </p:sp>
      <p:sp>
        <p:nvSpPr>
          <p:cNvPr id="9" name="Rounded Rectangle 8"/>
          <p:cNvSpPr/>
          <p:nvPr/>
        </p:nvSpPr>
        <p:spPr>
          <a:xfrm>
            <a:off x="5440680" y="1417320"/>
            <a:ext cx="2986887"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Birlamchi atelektaz</a:t>
            </a:r>
          </a:p>
        </p:txBody>
      </p:sp>
      <p:sp>
        <p:nvSpPr>
          <p:cNvPr id="10" name="Rectangle 9"/>
          <p:cNvSpPr/>
          <p:nvPr/>
        </p:nvSpPr>
        <p:spPr>
          <a:xfrm>
            <a:off x="5440680"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Nafas olmagan o‘pka</a:t>
            </a:r>
          </a:p>
          <a:p>
            <a:pPr algn="l">
              <a:spcAft>
                <a:spcPts val="700"/>
              </a:spcAft>
            </a:pPr>
            <a:r>
              <a:rPr sz="1500" b="1">
                <a:solidFill>
                  <a:srgbClr val="C9A227"/>
                </a:solidFill>
                <a:latin typeface="Calibri"/>
              </a:rPr>
              <a:t>●  </a:t>
            </a:r>
            <a:r>
              <a:rPr sz="1500" b="0">
                <a:solidFill>
                  <a:srgbClr val="1F2937"/>
                </a:solidFill>
                <a:latin typeface="Calibri"/>
              </a:rPr>
              <a:t>Absolyut (mutlaq) belgi</a:t>
            </a:r>
          </a:p>
          <a:p>
            <a:pPr algn="l">
              <a:spcAft>
                <a:spcPts val="700"/>
              </a:spcAft>
            </a:pPr>
            <a:r>
              <a:rPr sz="1500" b="1">
                <a:solidFill>
                  <a:srgbClr val="C9A227"/>
                </a:solidFill>
                <a:latin typeface="Calibri"/>
              </a:rPr>
              <a:t>●  </a:t>
            </a:r>
            <a:r>
              <a:rPr sz="1500" b="0">
                <a:solidFill>
                  <a:srgbClr val="1F2937"/>
                </a:solidFill>
                <a:latin typeface="Calibri"/>
              </a:rPr>
              <a:t>Go‘dak bir necha soniya yashaydi</a:t>
            </a:r>
          </a:p>
        </p:txBody>
      </p:sp>
      <p:sp>
        <p:nvSpPr>
          <p:cNvPr id="11" name="Rounded Rectangle 10"/>
          <p:cNvSpPr/>
          <p:nvPr/>
        </p:nvSpPr>
        <p:spPr>
          <a:xfrm>
            <a:off x="8564727" y="1417320"/>
            <a:ext cx="2986887" cy="5486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Ikkilamchi atelektaz</a:t>
            </a:r>
          </a:p>
        </p:txBody>
      </p:sp>
      <p:sp>
        <p:nvSpPr>
          <p:cNvPr id="12" name="Rectangle 11"/>
          <p:cNvSpPr/>
          <p:nvPr/>
        </p:nvSpPr>
        <p:spPr>
          <a:xfrm>
            <a:off x="8564727"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Avval nafas olgan o‘pka</a:t>
            </a:r>
          </a:p>
          <a:p>
            <a:pPr algn="l">
              <a:spcAft>
                <a:spcPts val="700"/>
              </a:spcAft>
            </a:pPr>
            <a:r>
              <a:rPr sz="1500" b="1">
                <a:solidFill>
                  <a:srgbClr val="C9A227"/>
                </a:solidFill>
                <a:latin typeface="Calibri"/>
              </a:rPr>
              <a:t>●  </a:t>
            </a:r>
            <a:r>
              <a:rPr sz="1500" b="0">
                <a:solidFill>
                  <a:srgbClr val="1F2937"/>
                </a:solidFill>
                <a:latin typeface="Calibri"/>
              </a:rPr>
              <a:t>Keyin atelektazga uchragan</a:t>
            </a:r>
          </a:p>
          <a:p>
            <a:pPr algn="l">
              <a:spcAft>
                <a:spcPts val="700"/>
              </a:spcAft>
            </a:pPr>
            <a:r>
              <a:rPr sz="1500" b="1">
                <a:solidFill>
                  <a:srgbClr val="C9A227"/>
                </a:solidFill>
                <a:latin typeface="Calibri"/>
              </a:rPr>
              <a:t>●  </a:t>
            </a:r>
            <a:r>
              <a:rPr sz="1500" b="0">
                <a:solidFill>
                  <a:srgbClr val="1F2937"/>
                </a:solidFill>
                <a:latin typeface="Calibri"/>
              </a:rPr>
              <a:t>Sinama soxta manfiy bo‘lishi mumkin</a:t>
            </a:r>
          </a:p>
        </p:txBody>
      </p:sp>
      <p:sp>
        <p:nvSpPr>
          <p:cNvPr id="13" name="TextBox 12"/>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Atelektaz turlari</a:t>
            </a:r>
          </a:p>
        </p:txBody>
      </p:sp>
      <p:sp>
        <p:nvSpPr>
          <p:cNvPr id="14" name="TextBox 13"/>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258, 258-259, 259</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Absolyut va nisbiy belgilar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chaqaloq</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16 / 45</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Faqat o‘pkaning birlamchi atelektazi hamda kindik belgilari absolyut, ya’ni mutlaq ishonchli hisoblanadi.</a:t>
            </a:r>
          </a:p>
          <a:p>
            <a:pPr>
              <a:spcAft>
                <a:spcPts val="800"/>
              </a:spcAft>
            </a:pPr>
            <a:r>
              <a:rPr sz="1800">
                <a:solidFill>
                  <a:srgbClr val="1F2937"/>
                </a:solidFill>
                <a:latin typeface="Calibri"/>
              </a:rPr>
              <a:t>▸  Qolgan belgilar nisbiy: ular go‘dak hayotining ikkinchi va keyingi kunlarida ham aniqlanishi mumkin.</a:t>
            </a:r>
          </a:p>
          <a:p>
            <a:pPr>
              <a:spcAft>
                <a:spcPts val="800"/>
              </a:spcAft>
            </a:pPr>
            <a:r>
              <a:rPr sz="1800">
                <a:solidFill>
                  <a:srgbClr val="1F2937"/>
                </a:solidFill>
                <a:latin typeface="Calibri"/>
              </a:rPr>
              <a:t>▸  Diqqat: nisbiy belgi (masalan, mo‘msimon qoplama) yuvilmasa, bir haftagacha saqlanishi mumkin.</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Yangi tug‘ilganlik belgilari</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2404872"/>
            <a:ext cx="0" cy="2048256"/>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2404872"/>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1975104"/>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1975104"/>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Absolyut</a:t>
            </a:r>
          </a:p>
          <a:p>
            <a:pPr algn="l">
              <a:spcAft>
                <a:spcPts val="0"/>
              </a:spcAft>
            </a:pPr>
            <a:r>
              <a:rPr sz="1200" b="0">
                <a:solidFill>
                  <a:srgbClr val="1F2937"/>
                </a:solidFill>
                <a:latin typeface="Calibri"/>
              </a:rPr>
              <a:t>O‘pkaning birlamchi atelektazi  ·  Kindikda halqa yo‘qligi / dastlabki  ·  Ajratilmagan kindik</a:t>
            </a:r>
          </a:p>
        </p:txBody>
      </p:sp>
      <p:cxnSp>
        <p:nvCxnSpPr>
          <p:cNvPr id="15" name="Connector 14"/>
          <p:cNvCxnSpPr/>
          <p:nvPr/>
        </p:nvCxnSpPr>
        <p:spPr>
          <a:xfrm>
            <a:off x="7612380" y="4453128"/>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3465576"/>
            <a:ext cx="3779215" cy="1975104"/>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3465576"/>
            <a:ext cx="3779215" cy="1975104"/>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Nisbiy</a:t>
            </a:r>
          </a:p>
          <a:p>
            <a:pPr algn="l">
              <a:spcAft>
                <a:spcPts val="0"/>
              </a:spcAft>
            </a:pPr>
            <a:r>
              <a:rPr sz="1200" b="0">
                <a:solidFill>
                  <a:srgbClr val="1F2937"/>
                </a:solidFill>
                <a:latin typeface="Calibri"/>
              </a:rPr>
              <a:t>Qon izi, mo‘msimon qoplama  ·  Mekoniy  ·  2-kun va keyin ham uchraydi</a:t>
            </a:r>
          </a:p>
        </p:txBody>
      </p:sp>
      <p:sp>
        <p:nvSpPr>
          <p:cNvPr id="18" name="TextBox 17"/>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Absolyut va nisbiy belgilar</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258-259, 259, 257</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Diqqat: belgilarni adashtirmang</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chaqaloq</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17 / 45</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Tug‘ruq shishi ≠ kefalogematoma. Tug‘ruq shishi suyaklararo choklar proeksiyasida ham aniqlanadi va odatda 2-3 kunda so‘riladi.</a:t>
            </a:r>
          </a:p>
          <a:p>
            <a:pPr>
              <a:spcAft>
                <a:spcPts val="1200"/>
              </a:spcAft>
            </a:pPr>
            <a:r>
              <a:rPr sz="2200">
                <a:solidFill>
                  <a:srgbClr val="1F2937"/>
                </a:solidFill>
                <a:latin typeface="Calibri"/>
              </a:rPr>
              <a:t>▸  Kefalogematoma suyak usti pardasi ostiga qon quyilishidan hosil bo‘ladi. U choklar bilan chegaralanadi va 2 hafta yoki undan uzoq so‘riladi.</a:t>
            </a:r>
          </a:p>
          <a:p>
            <a:pPr>
              <a:spcAft>
                <a:spcPts val="1200"/>
              </a:spcAft>
            </a:pPr>
            <a:r>
              <a:rPr sz="2200">
                <a:solidFill>
                  <a:srgbClr val="1F2937"/>
                </a:solidFill>
                <a:latin typeface="Calibri"/>
              </a:rPr>
              <a:t>▸  Absolyut (mutloq ishonchli) belgilar: o‘pkaning birlamchi atelektazi, demarkatsion halqaning yo‘qligi yoki dastlabki belgilari, ajratilmagan kindik.</a:t>
            </a:r>
          </a:p>
          <a:p>
            <a:pPr>
              <a:spcAft>
                <a:spcPts val="1200"/>
              </a:spcAft>
            </a:pPr>
            <a:r>
              <a:rPr sz="2200">
                <a:solidFill>
                  <a:srgbClr val="1F2937"/>
                </a:solidFill>
                <a:latin typeface="Calibri"/>
              </a:rPr>
              <a:t>▸  Absolyut ≠ nisbiy. Qolgan belgilar nisbiy: ular go‘dak hayotining ikkinchi va keyingi kunlarida ham aniqlanishi mumkin.</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257, 258-259, 259</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yangi tug‘ilganlik belgilari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chaqaloq</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18 / 45</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Savol: qaysi belgilar yangi tug‘ilganlikni mutloq ishonchli ko‘rsatadi?</a:t>
            </a:r>
          </a:p>
          <a:p>
            <a:pPr>
              <a:spcAft>
                <a:spcPts val="1200"/>
              </a:spcAft>
            </a:pPr>
            <a:r>
              <a:rPr sz="2000">
                <a:solidFill>
                  <a:srgbClr val="1F2937"/>
                </a:solidFill>
                <a:latin typeface="Calibri"/>
              </a:rPr>
              <a:t>▸  Javob: o‘pkaning birlamchi atelektazi, demarkatsion halqaning yo‘qligi yoki ajratilmagan kindik.</a:t>
            </a:r>
          </a:p>
          <a:p>
            <a:pPr>
              <a:spcAft>
                <a:spcPts val="1200"/>
              </a:spcAft>
            </a:pPr>
            <a:r>
              <a:rPr sz="2000">
                <a:solidFill>
                  <a:srgbClr val="1F2937"/>
                </a:solidFill>
                <a:latin typeface="Calibri"/>
              </a:rPr>
              <a:t>▸  Savol: kindik qachon o‘zgaradi? Javob: demarkatsion halqa bir necha soatdan, ba’zan birinchi kun oxirida paydo bo‘ladi. Kindik 5-7 kundan so‘ng ajraladi.</a:t>
            </a:r>
          </a:p>
          <a:p>
            <a:pPr>
              <a:spcAft>
                <a:spcPts val="1200"/>
              </a:spcAft>
            </a:pPr>
            <a:r>
              <a:rPr sz="2000">
                <a:solidFill>
                  <a:srgbClr val="1F2937"/>
                </a:solidFill>
                <a:latin typeface="Calibri"/>
              </a:rPr>
              <a:t>▸  Savol: mekoniy qachon chiqib ketadi? Javob: odatda 1-2 kunda to‘liq chiqadi. Noraso tug‘ilgan go‘daklarda bu muddat 3-4 kungacha cho‘ziladi.</a:t>
            </a:r>
          </a:p>
          <a:p>
            <a:pPr>
              <a:spcAft>
                <a:spcPts val="1200"/>
              </a:spcAft>
            </a:pPr>
            <a:r>
              <a:rPr sz="2000">
                <a:solidFill>
                  <a:srgbClr val="1F2937"/>
                </a:solidFill>
                <a:latin typeface="Calibri"/>
              </a:rPr>
              <a:t>▸  Savol: qon izlari va mo‘msimon qoplama-chi? Javob: tana yuvilganda qon izlari yo‘qoladi. Yuvilmasa mo‘msimon qoplama bir haftagacha saqlanadi.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258-259, 258, 257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2-bo‘lim bo‘yicha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chaqaloq</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19 / 45</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(o‘quv misoli): go‘dak murdasida tabiiy burmalarda mo‘msimon qoplama, orqa chiqaruv teshigi atrofida mekoniy, kindik tana va yo‘ldoshdan ajratilmagan.</a:t>
            </a:r>
          </a:p>
          <a:p>
            <a:pPr>
              <a:spcAft>
                <a:spcPts val="1200"/>
              </a:spcAft>
            </a:pPr>
            <a:r>
              <a:rPr sz="2200">
                <a:solidFill>
                  <a:srgbClr val="1F2937"/>
                </a:solidFill>
                <a:latin typeface="Calibri"/>
              </a:rPr>
              <a:t>▸  Mo‘msimon qoplama va mekoniy nisbiy belgilar. Ular yangi tug‘ilganlikni ko‘rsatadi, lekin yagona asos bo‘la olmaydi.</a:t>
            </a:r>
          </a:p>
          <a:p>
            <a:pPr>
              <a:spcAft>
                <a:spcPts val="1200"/>
              </a:spcAft>
            </a:pPr>
            <a:r>
              <a:rPr sz="2200">
                <a:solidFill>
                  <a:srgbClr val="1F2937"/>
                </a:solidFill>
                <a:latin typeface="Calibri"/>
              </a:rPr>
              <a:t>▸  Ajratilmagan kindik absolyut belgi, shuning uchun go‘dak yangi tug‘ilgan deb baholanadi. Sud tibbiyotida bu davr dastlabki 24 soat.</a:t>
            </a:r>
          </a:p>
          <a:p>
            <a:pPr>
              <a:spcAft>
                <a:spcPts val="1200"/>
              </a:spcAft>
            </a:pPr>
            <a:r>
              <a:rPr sz="2200">
                <a:solidFill>
                  <a:srgbClr val="1F2937"/>
                </a:solidFill>
                <a:latin typeface="Calibri"/>
              </a:rPr>
              <a:t>▸  Savol: tirik tug‘ilganlik masalasi qanday hal etiladi? Javob: asosan go‘dak nafas olgan yoki olmaganligini aniqlash orqali.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257-258, 257-259, 256, 258-259, 259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Tirik tug‘ilganlik mezonlari (JSST)</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chaqaloq</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20 / 45</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Jahon sog‘liqni saqlash tashkiloti (JSST) mezonlari: ona organizmidan tashqarida nafas olish, yurak urishi, kindik pulsatsiyasi yoki ixtiyoriy harakat.</a:t>
            </a:r>
          </a:p>
          <a:p>
            <a:pPr>
              <a:spcAft>
                <a:spcPts val="800"/>
              </a:spcAft>
            </a:pPr>
            <a:r>
              <a:rPr sz="1600">
                <a:solidFill>
                  <a:srgbClr val="1F2937"/>
                </a:solidFill>
                <a:latin typeface="Calibri"/>
              </a:rPr>
              <a:t>▸  Sud tibbiyotida o‘limdan keyin yurak urishi, kindik pulsatsiyasi va ixtiyoriy harakatni aniqlash usullari hozircha ishlab chiqilmagan.</a:t>
            </a:r>
          </a:p>
          <a:p>
            <a:pPr>
              <a:spcAft>
                <a:spcPts val="800"/>
              </a:spcAft>
            </a:pPr>
            <a:r>
              <a:rPr sz="1600">
                <a:solidFill>
                  <a:srgbClr val="1F2937"/>
                </a:solidFill>
                <a:latin typeface="Calibri"/>
              </a:rPr>
              <a:t>▸  Shu sababli tirik tug‘ilganlik masalasi asosan go‘dak nafas olgan yoki olmaganini aniqlash orqali hal etiladi.</a:t>
            </a:r>
          </a:p>
          <a:p>
            <a:pPr>
              <a:spcAft>
                <a:spcPts val="800"/>
              </a:spcAft>
            </a:pPr>
            <a:r>
              <a:rPr sz="1600">
                <a:solidFill>
                  <a:srgbClr val="1F2937"/>
                </a:solidFill>
                <a:latin typeface="Calibri"/>
              </a:rPr>
              <a:t>▸  Diqqat: xato qilish xavfi. JSST mezonlari to‘rtta, lekin murdada amalda faqat nafas olganlik tekshiriladi.</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Tirik tug‘ilganlik (JSST)</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1892808"/>
            <a:ext cx="0" cy="3072384"/>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1892808"/>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Nafas olish</a:t>
            </a:r>
          </a:p>
          <a:p>
            <a:pPr algn="l">
              <a:spcAft>
                <a:spcPts val="0"/>
              </a:spcAft>
            </a:pPr>
            <a:r>
              <a:rPr sz="1200" b="0">
                <a:solidFill>
                  <a:srgbClr val="1F2937"/>
                </a:solidFill>
                <a:latin typeface="Calibri"/>
              </a:rPr>
              <a:t>Murdada amalda shu tekshiriladi</a:t>
            </a:r>
          </a:p>
        </p:txBody>
      </p:sp>
      <p:cxnSp>
        <p:nvCxnSpPr>
          <p:cNvPr id="15" name="Connector 14"/>
          <p:cNvCxnSpPr/>
          <p:nvPr/>
        </p:nvCxnSpPr>
        <p:spPr>
          <a:xfrm>
            <a:off x="7612380" y="291693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441448"/>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441448"/>
            <a:ext cx="3779215" cy="950976"/>
          </a:xfrm>
          <a:prstGeom prst="rect">
            <a:avLst/>
          </a:prstGeom>
          <a:noFill/>
        </p:spPr>
        <p:txBody>
          <a:bodyPr wrap="square" anchor="ctr" tIns="36576" bIns="36576">
            <a:spAutoFit/>
          </a:bodyPr>
          <a:lstStyle/>
          <a:p>
            <a:pPr algn="l">
              <a:spcAft>
                <a:spcPts val="0"/>
              </a:spcAft>
            </a:pPr>
            <a:r>
              <a:rPr sz="1500" b="1">
                <a:solidFill>
                  <a:srgbClr val="0B1F3A"/>
                </a:solidFill>
                <a:latin typeface="Calibri"/>
              </a:rPr>
              <a:t>Yurak urishi</a:t>
            </a:r>
          </a:p>
        </p:txBody>
      </p:sp>
      <p:cxnSp>
        <p:nvCxnSpPr>
          <p:cNvPr id="18" name="Connector 17"/>
          <p:cNvCxnSpPr/>
          <p:nvPr/>
        </p:nvCxnSpPr>
        <p:spPr>
          <a:xfrm>
            <a:off x="7612380" y="394106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3465576"/>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3465576"/>
            <a:ext cx="3779215" cy="950976"/>
          </a:xfrm>
          <a:prstGeom prst="rect">
            <a:avLst/>
          </a:prstGeom>
          <a:noFill/>
        </p:spPr>
        <p:txBody>
          <a:bodyPr wrap="square" anchor="ctr" tIns="36576" bIns="36576">
            <a:spAutoFit/>
          </a:bodyPr>
          <a:lstStyle/>
          <a:p>
            <a:pPr algn="l">
              <a:spcAft>
                <a:spcPts val="0"/>
              </a:spcAft>
            </a:pPr>
            <a:r>
              <a:rPr sz="1500" b="1">
                <a:solidFill>
                  <a:srgbClr val="0B1F3A"/>
                </a:solidFill>
                <a:latin typeface="Calibri"/>
              </a:rPr>
              <a:t>Kindik pulsatsiyasi</a:t>
            </a:r>
          </a:p>
        </p:txBody>
      </p:sp>
      <p:cxnSp>
        <p:nvCxnSpPr>
          <p:cNvPr id="21" name="Connector 20"/>
          <p:cNvCxnSpPr/>
          <p:nvPr/>
        </p:nvCxnSpPr>
        <p:spPr>
          <a:xfrm>
            <a:off x="7612380" y="4965192"/>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72400" y="4489704"/>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0" y="4489704"/>
            <a:ext cx="3779215" cy="950976"/>
          </a:xfrm>
          <a:prstGeom prst="rect">
            <a:avLst/>
          </a:prstGeom>
          <a:noFill/>
        </p:spPr>
        <p:txBody>
          <a:bodyPr wrap="square" anchor="ctr" tIns="36576" bIns="36576">
            <a:spAutoFit/>
          </a:bodyPr>
          <a:lstStyle/>
          <a:p>
            <a:pPr algn="l">
              <a:spcAft>
                <a:spcPts val="0"/>
              </a:spcAft>
            </a:pPr>
            <a:r>
              <a:rPr sz="1500" b="1">
                <a:solidFill>
                  <a:srgbClr val="0B1F3A"/>
                </a:solidFill>
                <a:latin typeface="Calibri"/>
              </a:rPr>
              <a:t>Ixtiyoriy harakat</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Murdada faqat nafas olganlik tekshiriladi</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259</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O‘pka (Galen–Raugher–Schreyer) sinamasi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chaqaloq</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21 / 45</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Nafas olmagan o‘pkaning solishtirma og‘irligi 1,05–1,06; nafas olganda havo hisobiga 1,0 dan past bo‘ladi.</a:t>
            </a:r>
          </a:p>
          <a:p>
            <a:pPr>
              <a:spcAft>
                <a:spcPts val="800"/>
              </a:spcAft>
            </a:pPr>
            <a:r>
              <a:rPr sz="1800">
                <a:solidFill>
                  <a:srgbClr val="1F2937"/>
                </a:solidFill>
                <a:latin typeface="Calibri"/>
              </a:rPr>
              <a:t>▸  Sinama sud-tibbiy amaliyotda 1681 yilda I. Shreer tomonidan ilk bor qo‘llangan.</a:t>
            </a:r>
          </a:p>
          <a:p>
            <a:pPr>
              <a:spcAft>
                <a:spcPts val="800"/>
              </a:spcAft>
            </a:pPr>
            <a:r>
              <a:rPr sz="1800">
                <a:solidFill>
                  <a:srgbClr val="1F2937"/>
                </a:solidFill>
                <a:latin typeface="Calibri"/>
              </a:rPr>
              <a:t>▸  Musbat natija olingan bosqichda sinama to‘xtatiladi.</a:t>
            </a:r>
          </a:p>
        </p:txBody>
      </p:sp>
      <p:sp>
        <p:nvSpPr>
          <p:cNvPr id="9" name="Rounded Rectangle 8"/>
          <p:cNvSpPr/>
          <p:nvPr/>
        </p:nvSpPr>
        <p:spPr>
          <a:xfrm>
            <a:off x="5440680" y="1417320"/>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550408" y="1816608"/>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1</a:t>
            </a:r>
          </a:p>
        </p:txBody>
      </p:sp>
      <p:sp>
        <p:nvSpPr>
          <p:cNvPr id="11" name="TextBox 10"/>
          <p:cNvSpPr txBox="1"/>
          <p:nvPr/>
        </p:nvSpPr>
        <p:spPr>
          <a:xfrm>
            <a:off x="6080760" y="1417320"/>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Ligatura</a:t>
            </a:r>
          </a:p>
          <a:p>
            <a:pPr algn="l">
              <a:spcAft>
                <a:spcPts val="200"/>
              </a:spcAft>
            </a:pPr>
            <a:r>
              <a:rPr sz="1400" b="0">
                <a:solidFill>
                  <a:srgbClr val="1F2937"/>
                </a:solidFill>
                <a:latin typeface="Calibri"/>
              </a:rPr>
              <a:t>Traxeya, qizilo‘ngachga</a:t>
            </a:r>
          </a:p>
        </p:txBody>
      </p:sp>
      <p:sp>
        <p:nvSpPr>
          <p:cNvPr id="12" name="Rounded Rectangle 11"/>
          <p:cNvSpPr/>
          <p:nvPr/>
        </p:nvSpPr>
        <p:spPr>
          <a:xfrm>
            <a:off x="8578443" y="1417320"/>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688171" y="1816608"/>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2</a:t>
            </a:r>
          </a:p>
        </p:txBody>
      </p:sp>
      <p:sp>
        <p:nvSpPr>
          <p:cNvPr id="14" name="TextBox 13"/>
          <p:cNvSpPr txBox="1"/>
          <p:nvPr/>
        </p:nvSpPr>
        <p:spPr>
          <a:xfrm>
            <a:off x="9218523" y="1417320"/>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Suvga solish</a:t>
            </a:r>
          </a:p>
          <a:p>
            <a:pPr algn="l">
              <a:spcAft>
                <a:spcPts val="200"/>
              </a:spcAft>
            </a:pPr>
            <a:r>
              <a:rPr sz="1400" b="0">
                <a:solidFill>
                  <a:srgbClr val="1F2937"/>
                </a:solidFill>
                <a:latin typeface="Calibri"/>
              </a:rPr>
              <a:t>Organ kompleksi suvga solinadi</a:t>
            </a:r>
          </a:p>
        </p:txBody>
      </p:sp>
      <p:sp>
        <p:nvSpPr>
          <p:cNvPr id="15" name="Rounded Rectangle 14"/>
          <p:cNvSpPr/>
          <p:nvPr/>
        </p:nvSpPr>
        <p:spPr>
          <a:xfrm>
            <a:off x="5440680" y="2801112"/>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550408" y="3200400"/>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3</a:t>
            </a:r>
          </a:p>
        </p:txBody>
      </p:sp>
      <p:sp>
        <p:nvSpPr>
          <p:cNvPr id="17" name="TextBox 16"/>
          <p:cNvSpPr txBox="1"/>
          <p:nvPr/>
        </p:nvSpPr>
        <p:spPr>
          <a:xfrm>
            <a:off x="6080760" y="2801112"/>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Cho‘kdi</a:t>
            </a:r>
          </a:p>
          <a:p>
            <a:pPr algn="l">
              <a:spcAft>
                <a:spcPts val="200"/>
              </a:spcAft>
            </a:pPr>
            <a:r>
              <a:rPr sz="1400" b="0">
                <a:solidFill>
                  <a:srgbClr val="1F2937"/>
                </a:solidFill>
                <a:latin typeface="Calibri"/>
              </a:rPr>
              <a:t>O‘pkalar alohida solinadi</a:t>
            </a:r>
          </a:p>
        </p:txBody>
      </p:sp>
      <p:sp>
        <p:nvSpPr>
          <p:cNvPr id="18" name="Rounded Rectangle 17"/>
          <p:cNvSpPr/>
          <p:nvPr/>
        </p:nvSpPr>
        <p:spPr>
          <a:xfrm>
            <a:off x="8578443" y="2801112"/>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688171" y="3200400"/>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4</a:t>
            </a:r>
          </a:p>
        </p:txBody>
      </p:sp>
      <p:sp>
        <p:nvSpPr>
          <p:cNvPr id="20" name="TextBox 19"/>
          <p:cNvSpPr txBox="1"/>
          <p:nvPr/>
        </p:nvSpPr>
        <p:spPr>
          <a:xfrm>
            <a:off x="9218523" y="2801112"/>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Bo‘laklar</a:t>
            </a:r>
          </a:p>
          <a:p>
            <a:pPr algn="l">
              <a:spcAft>
                <a:spcPts val="200"/>
              </a:spcAft>
            </a:pPr>
            <a:r>
              <a:rPr sz="1400" b="0">
                <a:solidFill>
                  <a:srgbClr val="1F2937"/>
                </a:solidFill>
                <a:latin typeface="Calibri"/>
              </a:rPr>
              <a:t>Bo‘laklar, bo‘lakchalar sinaladi</a:t>
            </a:r>
          </a:p>
        </p:txBody>
      </p:sp>
      <p:sp>
        <p:nvSpPr>
          <p:cNvPr id="21" name="Rounded Rectangle 20"/>
          <p:cNvSpPr/>
          <p:nvPr/>
        </p:nvSpPr>
        <p:spPr>
          <a:xfrm>
            <a:off x="5440680" y="4184904"/>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550408" y="4584192"/>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5</a:t>
            </a:r>
          </a:p>
        </p:txBody>
      </p:sp>
      <p:sp>
        <p:nvSpPr>
          <p:cNvPr id="23" name="TextBox 22"/>
          <p:cNvSpPr txBox="1"/>
          <p:nvPr/>
        </p:nvSpPr>
        <p:spPr>
          <a:xfrm>
            <a:off x="6080760" y="4184904"/>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Suzsa</a:t>
            </a:r>
          </a:p>
          <a:p>
            <a:pPr algn="l">
              <a:spcAft>
                <a:spcPts val="200"/>
              </a:spcAft>
            </a:pPr>
            <a:r>
              <a:rPr sz="1400" b="0">
                <a:solidFill>
                  <a:srgbClr val="1F2937"/>
                </a:solidFill>
                <a:latin typeface="Calibri"/>
              </a:rPr>
              <a:t>Musbat — to‘xtatiladi</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Sinama bosqichlari</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259</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O‘pka sinamasida soxta natijalar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chaqaloq</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22 / 45</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Chirish gazidan suzgan bo‘lakcha suv ostida qo‘l bilan siqilsa, yuzaga qayta suzib chiqmaydi.</a:t>
            </a:r>
          </a:p>
          <a:p>
            <a:pPr>
              <a:spcAft>
                <a:spcPts val="800"/>
              </a:spcAft>
            </a:pPr>
            <a:r>
              <a:rPr sz="1800">
                <a:solidFill>
                  <a:srgbClr val="1F2937"/>
                </a:solidFill>
                <a:latin typeface="Calibri"/>
              </a:rPr>
              <a:t>▸  Ikkilamchi atelektazda Taranuxin usuli (1907) yoki Traxtenberg modifikatsiyasi (1958) tavsiya etiladi.</a:t>
            </a:r>
          </a:p>
          <a:p>
            <a:pPr>
              <a:spcAft>
                <a:spcPts val="800"/>
              </a:spcAft>
            </a:pPr>
            <a:r>
              <a:rPr sz="1800">
                <a:solidFill>
                  <a:srgbClr val="1F2937"/>
                </a:solidFill>
                <a:latin typeface="Calibri"/>
              </a:rPr>
              <a:t>▸  Past bosimli kolbada bo‘lakcha qalqib chiqsa, unda qolgan havo bor.</a:t>
            </a:r>
          </a:p>
        </p:txBody>
      </p:sp>
      <p:sp>
        <p:nvSpPr>
          <p:cNvPr id="9" name="Rounded Rectangle 8"/>
          <p:cNvSpPr/>
          <p:nvPr/>
        </p:nvSpPr>
        <p:spPr>
          <a:xfrm>
            <a:off x="5440680" y="1417320"/>
            <a:ext cx="2986887"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Soxta musbat</a:t>
            </a:r>
          </a:p>
        </p:txBody>
      </p:sp>
      <p:sp>
        <p:nvSpPr>
          <p:cNvPr id="10" name="Rectangle 9"/>
          <p:cNvSpPr/>
          <p:nvPr/>
        </p:nvSpPr>
        <p:spPr>
          <a:xfrm>
            <a:off x="5440680"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Chirish (chirish gazlari)</a:t>
            </a:r>
          </a:p>
          <a:p>
            <a:pPr algn="l">
              <a:spcAft>
                <a:spcPts val="700"/>
              </a:spcAft>
            </a:pPr>
            <a:r>
              <a:rPr sz="1500" b="1">
                <a:solidFill>
                  <a:srgbClr val="C9A227"/>
                </a:solidFill>
                <a:latin typeface="Calibri"/>
              </a:rPr>
              <a:t>●  </a:t>
            </a:r>
            <a:r>
              <a:rPr sz="1500" b="0">
                <a:solidFill>
                  <a:srgbClr val="1F2937"/>
                </a:solidFill>
                <a:latin typeface="Calibri"/>
              </a:rPr>
              <a:t>Sun’iy nafas oldirish</a:t>
            </a:r>
          </a:p>
          <a:p>
            <a:pPr algn="l">
              <a:spcAft>
                <a:spcPts val="700"/>
              </a:spcAft>
            </a:pPr>
            <a:r>
              <a:rPr sz="1500" b="1">
                <a:solidFill>
                  <a:srgbClr val="C9A227"/>
                </a:solidFill>
                <a:latin typeface="Calibri"/>
              </a:rPr>
              <a:t>●  </a:t>
            </a:r>
            <a:r>
              <a:rPr sz="1500" b="0">
                <a:solidFill>
                  <a:srgbClr val="1F2937"/>
                </a:solidFill>
                <a:latin typeface="Calibri"/>
              </a:rPr>
              <a:t>Muzlash (yaxshi erimagan o‘pka)</a:t>
            </a:r>
          </a:p>
        </p:txBody>
      </p:sp>
      <p:sp>
        <p:nvSpPr>
          <p:cNvPr id="11" name="Rounded Rectangle 10"/>
          <p:cNvSpPr/>
          <p:nvPr/>
        </p:nvSpPr>
        <p:spPr>
          <a:xfrm>
            <a:off x="8564727" y="1417320"/>
            <a:ext cx="2986887" cy="5486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Soxta manfiy</a:t>
            </a:r>
          </a:p>
        </p:txBody>
      </p:sp>
      <p:sp>
        <p:nvSpPr>
          <p:cNvPr id="12" name="Rectangle 11"/>
          <p:cNvSpPr/>
          <p:nvPr/>
        </p:nvSpPr>
        <p:spPr>
          <a:xfrm>
            <a:off x="8564727"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Ikkilamchi atelektaz</a:t>
            </a:r>
          </a:p>
          <a:p>
            <a:pPr algn="l">
              <a:spcAft>
                <a:spcPts val="700"/>
              </a:spcAft>
            </a:pPr>
            <a:r>
              <a:rPr sz="1500" b="1">
                <a:solidFill>
                  <a:srgbClr val="C9A227"/>
                </a:solidFill>
                <a:latin typeface="Calibri"/>
              </a:rPr>
              <a:t>●  </a:t>
            </a:r>
            <a:r>
              <a:rPr sz="1500" b="0">
                <a:solidFill>
                  <a:srgbClr val="1F2937"/>
                </a:solidFill>
                <a:latin typeface="Calibri"/>
              </a:rPr>
              <a:t>Nafas olgan o‘pka keyin yopilgan</a:t>
            </a:r>
          </a:p>
          <a:p>
            <a:pPr algn="l">
              <a:spcAft>
                <a:spcPts val="700"/>
              </a:spcAft>
            </a:pPr>
            <a:r>
              <a:rPr sz="1500" b="1">
                <a:solidFill>
                  <a:srgbClr val="C9A227"/>
                </a:solidFill>
                <a:latin typeface="Calibri"/>
              </a:rPr>
              <a:t>●  </a:t>
            </a:r>
            <a:r>
              <a:rPr sz="1500" b="0">
                <a:solidFill>
                  <a:srgbClr val="1F2937"/>
                </a:solidFill>
                <a:latin typeface="Calibri"/>
              </a:rPr>
              <a:t>Taranuxin yoki Traxtenberg usuli</a:t>
            </a:r>
          </a:p>
        </p:txBody>
      </p:sp>
      <p:sp>
        <p:nvSpPr>
          <p:cNvPr id="13" name="TextBox 12"/>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Soxta natijalar</a:t>
            </a:r>
          </a:p>
        </p:txBody>
      </p:sp>
      <p:sp>
        <p:nvSpPr>
          <p:cNvPr id="14" name="TextBox 13"/>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259</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Taranuxin usuli va Traxtenberg modifikatsiyasi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chaqaloq</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23 / 45</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Ikkilamchi atelektazda avval nafas olgan o‘pka yallig‘lanish yoki nafas yo‘llarining yopilishi kabi sabablar bilan keyin yoyilmay qoladi.</a:t>
            </a:r>
          </a:p>
          <a:p>
            <a:pPr>
              <a:spcAft>
                <a:spcPts val="1200"/>
              </a:spcAft>
            </a:pPr>
            <a:r>
              <a:rPr sz="2200">
                <a:solidFill>
                  <a:srgbClr val="1F2937"/>
                </a:solidFill>
                <a:latin typeface="Calibri"/>
              </a:rPr>
              <a:t>▸  Oddiy sinama soxta manfiy berishi mumkin.</a:t>
            </a:r>
          </a:p>
          <a:p>
            <a:pPr>
              <a:spcAft>
                <a:spcPts val="1200"/>
              </a:spcAft>
            </a:pPr>
            <a:r>
              <a:rPr sz="2200">
                <a:solidFill>
                  <a:srgbClr val="1F2937"/>
                </a:solidFill>
                <a:latin typeface="Calibri"/>
              </a:rPr>
              <a:t>▸  Bunday holatda o‘pka sinamasini V. Taranuxin usulida (1907) yoki uning L. Y. Traxtenberg modifikatsiyasida (1958) bajarish tavsiya etiladi.</a:t>
            </a:r>
          </a:p>
          <a:p>
            <a:pPr>
              <a:spcAft>
                <a:spcPts val="1200"/>
              </a:spcAft>
            </a:pPr>
            <a:r>
              <a:rPr sz="2200">
                <a:solidFill>
                  <a:srgbClr val="1F2937"/>
                </a:solidFill>
                <a:latin typeface="Calibri"/>
              </a:rPr>
              <a:t>▸  O‘pka bo‘lakchasi suvli kolbaga solinadi. Havo tortib olinib, kolbada past bosimli sharoit yaratiladi.</a:t>
            </a:r>
          </a:p>
          <a:p>
            <a:pPr>
              <a:spcAft>
                <a:spcPts val="1200"/>
              </a:spcAft>
            </a:pPr>
            <a:r>
              <a:rPr sz="2200">
                <a:solidFill>
                  <a:srgbClr val="1F2937"/>
                </a:solidFill>
                <a:latin typeface="Calibri"/>
              </a:rPr>
              <a:t>▸  Bo‘lakcha odatdagi bosimda suv tubiga cho‘kib, past bosimda qalqib chiqsa, ikkilamchi atelektaz bor. U ichida qolgan havo hisobiga qalqiydi.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259</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Oshqozon-ichak (Breslau) sinamasi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chaqaloq</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24 / 45</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Sinama V. Breslau (1865) nomi bilan bog‘liq. U nafas olganda havoning bir qismi qizilo‘ngach orqali oshqozon va ichaklarga o‘tishiga asoslanadi.</a:t>
            </a:r>
          </a:p>
          <a:p>
            <a:pPr>
              <a:spcAft>
                <a:spcPts val="1200"/>
              </a:spcAft>
            </a:pPr>
            <a:r>
              <a:rPr sz="2200">
                <a:solidFill>
                  <a:srgbClr val="1F2937"/>
                </a:solidFill>
                <a:latin typeface="Calibri"/>
              </a:rPr>
              <a:t>▸  Oshqozon, ichakning havoli joylari va to‘g‘ri ichakka ligatura qo‘yilib, a’zolar suvli idishga solinadi; havoli joylar suzib chiqadi.</a:t>
            </a:r>
          </a:p>
          <a:p>
            <a:pPr>
              <a:spcAft>
                <a:spcPts val="1200"/>
              </a:spcAft>
            </a:pPr>
            <a:r>
              <a:rPr sz="2200">
                <a:solidFill>
                  <a:srgbClr val="1F2937"/>
                </a:solidFill>
                <a:latin typeface="Calibri"/>
              </a:rPr>
              <a:t>▸  Yashash muddati: faqat oshqozonda havo bo‘lsa 3 soatdan kam; 5-6 soatda ingichka ichak to‘ladi; 6 soatdan keyin havo yo‘g‘on ichakka o‘tadi.</a:t>
            </a:r>
          </a:p>
          <a:p>
            <a:pPr>
              <a:spcAft>
                <a:spcPts val="1200"/>
              </a:spcAft>
            </a:pPr>
            <a:r>
              <a:rPr sz="2200">
                <a:solidFill>
                  <a:srgbClr val="1F2937"/>
                </a:solidFill>
                <a:latin typeface="Calibri"/>
              </a:rPr>
              <a:t>▸  Diqqat: chirish gazlari va o‘pkaning sun’iy ventilyatsiyasida soxta musbat natija chiqadi. Shu holatlarda sinamadan foydalanish tavsiya etilmaydi.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260, 264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Rentgenologik sinama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chaqaloq</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25 / 45</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Sinama murdani ochishdan oldin o‘pka, oshqozon va ichaklarda havo borligini aniqlashga asoslangan.</a:t>
            </a:r>
          </a:p>
          <a:p>
            <a:pPr>
              <a:spcAft>
                <a:spcPts val="1200"/>
              </a:spcAft>
            </a:pPr>
            <a:r>
              <a:rPr sz="2200">
                <a:solidFill>
                  <a:srgbClr val="1F2937"/>
                </a:solidFill>
                <a:latin typeface="Calibri"/>
              </a:rPr>
              <a:t>▸  Uni Y. G. Dillon 1939 yilda taklif qilgan.</a:t>
            </a:r>
          </a:p>
          <a:p>
            <a:pPr>
              <a:spcAft>
                <a:spcPts val="1200"/>
              </a:spcAft>
            </a:pPr>
            <a:r>
              <a:rPr sz="2200">
                <a:solidFill>
                  <a:srgbClr val="1F2937"/>
                </a:solidFill>
                <a:latin typeface="Calibri"/>
              </a:rPr>
              <a:t>▸  Asosiy kamchilik: rentgenda nafas olgan o‘pkani sun’iy ventilyatsiya qilingan yoki chirish gazlari bor holatdan farqlab bo‘lmaydi.</a:t>
            </a:r>
          </a:p>
          <a:p>
            <a:pPr>
              <a:spcAft>
                <a:spcPts val="1200"/>
              </a:spcAft>
            </a:pPr>
            <a:r>
              <a:rPr sz="2200">
                <a:solidFill>
                  <a:srgbClr val="1F2937"/>
                </a:solidFill>
                <a:latin typeface="Calibri"/>
              </a:rPr>
              <a:t>▸  Maxsus jihoz kerak va diagnostik imkoniyati cheklangan. Shu sababli hozir sud-tibbiy amaliyotda qo‘llanmaydi.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260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Makroskopik belgilar: tirik va o‘lik tug‘ilgan</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chaqaloq</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26 / 45</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Nafas olmagan o‘pka vazni 55–60 g, nafas olgandan keyin qon aylanishi boshlanib 85–90 g gacha yetadi.</a:t>
            </a:r>
          </a:p>
          <a:p>
            <a:pPr>
              <a:spcAft>
                <a:spcPts val="800"/>
              </a:spcAft>
            </a:pPr>
            <a:r>
              <a:rPr sz="1800">
                <a:solidFill>
                  <a:srgbClr val="1F2937"/>
                </a:solidFill>
                <a:latin typeface="Calibri"/>
              </a:rPr>
              <a:t>▸  Nafas olgan o‘pka qisilsa, kesmadan ko‘pikli qon ajraladi; nafas olmaganda qon ozroq chiqadi.</a:t>
            </a:r>
          </a:p>
          <a:p>
            <a:pPr>
              <a:spcAft>
                <a:spcPts val="800"/>
              </a:spcAft>
            </a:pPr>
            <a:r>
              <a:rPr sz="1800">
                <a:solidFill>
                  <a:srgbClr val="1F2937"/>
                </a:solidFill>
                <a:latin typeface="Calibri"/>
              </a:rPr>
              <a:t>▸  Chirish tirik tug‘ilganda nafas a’zolaridan, o‘lik tug‘ilganda odatda tabiiy teshiklardan boshlanadi.</a:t>
            </a:r>
          </a:p>
        </p:txBody>
      </p:sp>
      <p:sp>
        <p:nvSpPr>
          <p:cNvPr id="9" name="Rounded Rectangle 8"/>
          <p:cNvSpPr/>
          <p:nvPr/>
        </p:nvSpPr>
        <p:spPr>
          <a:xfrm>
            <a:off x="5440680" y="1417320"/>
            <a:ext cx="2986887"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Tirik tug‘ilgan</a:t>
            </a:r>
          </a:p>
        </p:txBody>
      </p:sp>
      <p:sp>
        <p:nvSpPr>
          <p:cNvPr id="10" name="Rectangle 9"/>
          <p:cNvSpPr/>
          <p:nvPr/>
        </p:nvSpPr>
        <p:spPr>
          <a:xfrm>
            <a:off x="5440680"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Ko‘krak qafasi bochkasimon</a:t>
            </a:r>
          </a:p>
          <a:p>
            <a:pPr algn="l">
              <a:spcAft>
                <a:spcPts val="700"/>
              </a:spcAft>
            </a:pPr>
            <a:r>
              <a:rPr sz="1500" b="1">
                <a:solidFill>
                  <a:srgbClr val="C9A227"/>
                </a:solidFill>
                <a:latin typeface="Calibri"/>
              </a:rPr>
              <a:t>●  </a:t>
            </a:r>
            <a:r>
              <a:rPr sz="1500" b="0">
                <a:solidFill>
                  <a:srgbClr val="1F2937"/>
                </a:solidFill>
                <a:latin typeface="Calibri"/>
              </a:rPr>
              <a:t>Diafragma VI–VII qobirg‘a sathida</a:t>
            </a:r>
          </a:p>
          <a:p>
            <a:pPr algn="l">
              <a:spcAft>
                <a:spcPts val="700"/>
              </a:spcAft>
            </a:pPr>
            <a:r>
              <a:rPr sz="1500" b="1">
                <a:solidFill>
                  <a:srgbClr val="C9A227"/>
                </a:solidFill>
                <a:latin typeface="Calibri"/>
              </a:rPr>
              <a:t>●  </a:t>
            </a:r>
            <a:r>
              <a:rPr sz="1500" b="0">
                <a:solidFill>
                  <a:srgbClr val="1F2937"/>
                </a:solidFill>
                <a:latin typeface="Calibri"/>
              </a:rPr>
              <a:t>O‘pka qafasni to‘ldiradi</a:t>
            </a:r>
          </a:p>
          <a:p>
            <a:pPr algn="l">
              <a:spcAft>
                <a:spcPts val="700"/>
              </a:spcAft>
            </a:pPr>
            <a:r>
              <a:rPr sz="1500" b="1">
                <a:solidFill>
                  <a:srgbClr val="C9A227"/>
                </a:solidFill>
                <a:latin typeface="Calibri"/>
              </a:rPr>
              <a:t>●  </a:t>
            </a:r>
            <a:r>
              <a:rPr sz="1500" b="0">
                <a:solidFill>
                  <a:srgbClr val="1F2937"/>
                </a:solidFill>
                <a:latin typeface="Calibri"/>
              </a:rPr>
              <a:t>O‘pka marmarsimon (Bush–Xaberda)</a:t>
            </a:r>
          </a:p>
        </p:txBody>
      </p:sp>
      <p:sp>
        <p:nvSpPr>
          <p:cNvPr id="11" name="Rounded Rectangle 10"/>
          <p:cNvSpPr/>
          <p:nvPr/>
        </p:nvSpPr>
        <p:spPr>
          <a:xfrm>
            <a:off x="8564727" y="1417320"/>
            <a:ext cx="2986887" cy="5486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O‘lik tug‘ilgan</a:t>
            </a:r>
          </a:p>
        </p:txBody>
      </p:sp>
      <p:sp>
        <p:nvSpPr>
          <p:cNvPr id="12" name="Rectangle 11"/>
          <p:cNvSpPr/>
          <p:nvPr/>
        </p:nvSpPr>
        <p:spPr>
          <a:xfrm>
            <a:off x="8564727"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Ko‘krak qafasi yassi</a:t>
            </a:r>
          </a:p>
          <a:p>
            <a:pPr algn="l">
              <a:spcAft>
                <a:spcPts val="700"/>
              </a:spcAft>
            </a:pPr>
            <a:r>
              <a:rPr sz="1500" b="1">
                <a:solidFill>
                  <a:srgbClr val="C9A227"/>
                </a:solidFill>
                <a:latin typeface="Calibri"/>
              </a:rPr>
              <a:t>●  </a:t>
            </a:r>
            <a:r>
              <a:rPr sz="1500" b="0">
                <a:solidFill>
                  <a:srgbClr val="1F2937"/>
                </a:solidFill>
                <a:latin typeface="Calibri"/>
              </a:rPr>
              <a:t>Diafragma IV–V qobirg‘a sathida</a:t>
            </a:r>
          </a:p>
          <a:p>
            <a:pPr algn="l">
              <a:spcAft>
                <a:spcPts val="700"/>
              </a:spcAft>
            </a:pPr>
            <a:r>
              <a:rPr sz="1500" b="1">
                <a:solidFill>
                  <a:srgbClr val="C9A227"/>
                </a:solidFill>
                <a:latin typeface="Calibri"/>
              </a:rPr>
              <a:t>●  </a:t>
            </a:r>
            <a:r>
              <a:rPr sz="1500" b="0">
                <a:solidFill>
                  <a:srgbClr val="1F2937"/>
                </a:solidFill>
                <a:latin typeface="Calibri"/>
              </a:rPr>
              <a:t>O‘pka kichik, zichroq</a:t>
            </a:r>
          </a:p>
          <a:p>
            <a:pPr algn="l">
              <a:spcAft>
                <a:spcPts val="700"/>
              </a:spcAft>
            </a:pPr>
            <a:r>
              <a:rPr sz="1500" b="1">
                <a:solidFill>
                  <a:srgbClr val="C9A227"/>
                </a:solidFill>
                <a:latin typeface="Calibri"/>
              </a:rPr>
              <a:t>●  </a:t>
            </a:r>
            <a:r>
              <a:rPr sz="1500" b="0">
                <a:solidFill>
                  <a:srgbClr val="1F2937"/>
                </a:solidFill>
                <a:latin typeface="Calibri"/>
              </a:rPr>
              <a:t>O‘pka tekis, ko‘kimtir-to‘q qizil</a:t>
            </a:r>
          </a:p>
        </p:txBody>
      </p:sp>
      <p:sp>
        <p:nvSpPr>
          <p:cNvPr id="13" name="TextBox 12"/>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Tirik va o‘lik tug‘ilgan o‘pka</a:t>
            </a:r>
          </a:p>
        </p:txBody>
      </p:sp>
      <p:sp>
        <p:nvSpPr>
          <p:cNvPr id="14" name="TextBox 13"/>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260, 260-261</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Mikroskopik belgilar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chaqaloq</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27 / 45</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O‘lik tug‘ilganda alveolalar yoyilmagan, epiteliy kubsimon, to‘siqlar qalin, elastik tolalar tutamsimon, kapillyarlarda qon yo‘q.</a:t>
            </a:r>
          </a:p>
          <a:p>
            <a:pPr>
              <a:spcAft>
                <a:spcPts val="1200"/>
              </a:spcAft>
            </a:pPr>
            <a:r>
              <a:rPr sz="2200">
                <a:solidFill>
                  <a:srgbClr val="1F2937"/>
                </a:solidFill>
                <a:latin typeface="Calibri"/>
              </a:rPr>
              <a:t>▸  Nafas olgan o‘pkada alveolalar yoyilgan, epiteliy yassi, to‘siqlar ingichka, kapillyarlar to‘laqon, elastik tolalar tartibli.</a:t>
            </a:r>
          </a:p>
          <a:p>
            <a:pPr>
              <a:spcAft>
                <a:spcPts val="1200"/>
              </a:spcAft>
            </a:pPr>
            <a:r>
              <a:rPr sz="2200">
                <a:solidFill>
                  <a:srgbClr val="1F2937"/>
                </a:solidFill>
                <a:latin typeface="Calibri"/>
              </a:rPr>
              <a:t>▸  Gialin membranalar kapillyardan sizgan oqsillardan (albumin, globulin, fibrin) iborat; noraso, bir necha soat yashaganlarda uchraydi.</a:t>
            </a:r>
          </a:p>
          <a:p>
            <a:pPr>
              <a:spcAft>
                <a:spcPts val="1200"/>
              </a:spcAft>
            </a:pPr>
            <a:r>
              <a:rPr sz="2200">
                <a:solidFill>
                  <a:srgbClr val="1F2937"/>
                </a:solidFill>
                <a:latin typeface="Calibri"/>
              </a:rPr>
              <a:t>▸  Nafas olmagan go‘dakda gialin membranalar bo‘lmaydi.</a:t>
            </a:r>
          </a:p>
          <a:p>
            <a:pPr>
              <a:spcAft>
                <a:spcPts val="1200"/>
              </a:spcAft>
            </a:pPr>
            <a:r>
              <a:rPr sz="2200">
                <a:solidFill>
                  <a:srgbClr val="1F2937"/>
                </a:solidFill>
                <a:latin typeface="Calibri"/>
              </a:rPr>
              <a:t>▸  Kichik va o‘rta o‘pka arteriyalarida ‘kurtaksimon’, ‘yostiqsimon’ bo‘rtiqlar o‘lik tug‘ilganlarda topiladi; nafas olganda bo‘lmaydi.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261</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tirik tug‘ilganlik sinamalari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chaqaloq</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28 / 45</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Savol: o‘pka sinamasida nafas olgan o‘pka suvda nima qiladi? Solishtirma og‘irligi 1,0 dan past, shuning uchun suzadi; nafas olmagani (1,05–1,06) cho‘kadi.</a:t>
            </a:r>
          </a:p>
          <a:p>
            <a:pPr>
              <a:spcAft>
                <a:spcPts val="1200"/>
              </a:spcAft>
            </a:pPr>
            <a:r>
              <a:rPr sz="2200">
                <a:solidFill>
                  <a:srgbClr val="1F2937"/>
                </a:solidFill>
                <a:latin typeface="Calibri"/>
              </a:rPr>
              <a:t>▸  Soxta musbat: chirish, sun’iy nafas, yaxshi erimagan muzlagan o‘pka. Chirish gazi bo‘lsa, suv ostida siqilgan parcha qayta suzmaydi.</a:t>
            </a:r>
          </a:p>
          <a:p>
            <a:pPr>
              <a:spcAft>
                <a:spcPts val="1200"/>
              </a:spcAft>
            </a:pPr>
            <a:r>
              <a:rPr sz="2200">
                <a:solidFill>
                  <a:srgbClr val="1F2937"/>
                </a:solidFill>
                <a:latin typeface="Calibri"/>
              </a:rPr>
              <a:t>▸  Soxta manfiy: ikkilamchi atelektazda. Taranuxin (1907) yoki Traxtenberg (1958) usulida past bosimda parcha qalqib chiqadi.</a:t>
            </a:r>
          </a:p>
          <a:p>
            <a:pPr>
              <a:spcAft>
                <a:spcPts val="1200"/>
              </a:spcAft>
            </a:pPr>
            <a:r>
              <a:rPr sz="2200">
                <a:solidFill>
                  <a:srgbClr val="1F2937"/>
                </a:solidFill>
                <a:latin typeface="Calibri"/>
              </a:rPr>
              <a:t>▸  Diqqat: Breslau oshqozon-ichak sinamasi chirish va sun’iy nafas oldirishda tavsiya etilmaydi. Rentgenologik sinama hozir qo‘llanilmaydi.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259, 260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3-bo‘lim bo‘yicha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chaqaloq</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29 / 45</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chirigan chaqaloq murdasida o‘pka sinamasi o‘tkazildi. O‘pka bo‘laklari suv yuzasiga qalqib chiqdi, ya’ni natija musbat.</a:t>
            </a:r>
          </a:p>
          <a:p>
            <a:pPr>
              <a:spcAft>
                <a:spcPts val="1200"/>
              </a:spcAft>
            </a:pPr>
            <a:r>
              <a:rPr sz="2200">
                <a:solidFill>
                  <a:srgbClr val="1F2937"/>
                </a:solidFill>
                <a:latin typeface="Calibri"/>
              </a:rPr>
              <a:t>▸  Chirish gazlari ham bo‘laklarni suzdiradi. Ekspert bo‘laklarni suv ostida qo‘l bilan siqadi. Gaz hisobiga qalqigan bo‘lak qayta suzib chiqmaydi.</a:t>
            </a:r>
          </a:p>
          <a:p>
            <a:pPr>
              <a:spcAft>
                <a:spcPts val="1200"/>
              </a:spcAft>
            </a:pPr>
            <a:r>
              <a:rPr sz="2200">
                <a:solidFill>
                  <a:srgbClr val="1F2937"/>
                </a:solidFill>
                <a:latin typeface="Calibri"/>
              </a:rPr>
              <a:t>▸  Savol: bu holatda oshqozon-ichak sinamasi yordam beradimi? Yo‘q, chirishda u ham chirish gazlari tufayli soxta musbat berishi mumkin.</a:t>
            </a:r>
          </a:p>
          <a:p>
            <a:pPr>
              <a:spcAft>
                <a:spcPts val="1200"/>
              </a:spcAft>
            </a:pPr>
            <a:r>
              <a:rPr sz="2200">
                <a:solidFill>
                  <a:srgbClr val="1F2937"/>
                </a:solidFill>
                <a:latin typeface="Calibri"/>
              </a:rPr>
              <a:t>▸  Diqqat: suzish ≠ nafas olish. Chirish, sun’iy nafas oldirish va yaxshi erimagan muzlagan o‘pka soxta musbat natija berishi mumkin.</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259, 260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Gestatsion yosh: rasolik va yetuklik</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chaqaloq</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30 / 45</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Rasolik — homiladorlik taxminan 10 homila oyi yoki 280 kun davom etganini ko‘rsatuvchi belgilar; JSST bo‘yicha 37–42 hafta o‘z muddati hisoblanadi.</a:t>
            </a:r>
          </a:p>
          <a:p>
            <a:pPr>
              <a:spcAft>
                <a:spcPts val="800"/>
              </a:spcAft>
            </a:pPr>
            <a:r>
              <a:rPr sz="1600">
                <a:solidFill>
                  <a:srgbClr val="1F2937"/>
                </a:solidFill>
                <a:latin typeface="Calibri"/>
              </a:rPr>
              <a:t>▸  Raso go‘dakning tana uzunligi o‘rtacha 50–54 sm, vazni 3000–3500 g bo‘ladi.</a:t>
            </a:r>
          </a:p>
          <a:p>
            <a:pPr>
              <a:spcAft>
                <a:spcPts val="800"/>
              </a:spcAft>
            </a:pPr>
            <a:r>
              <a:rPr sz="1600">
                <a:solidFill>
                  <a:srgbClr val="1F2937"/>
                </a:solidFill>
                <a:latin typeface="Calibri"/>
              </a:rPr>
              <a:t>▸  Yetuklik — ona organizmidan tashqarida yashashga yetarli rivojlanish: tana uzunligi 45 sm va undan ortiq, vazni 2500 g dan kam emas.</a:t>
            </a:r>
          </a:p>
          <a:p>
            <a:pPr>
              <a:spcAft>
                <a:spcPts val="800"/>
              </a:spcAft>
            </a:pPr>
            <a:r>
              <a:rPr sz="1600">
                <a:solidFill>
                  <a:srgbClr val="1F2937"/>
                </a:solidFill>
                <a:latin typeface="Calibri"/>
              </a:rPr>
              <a:t>▸  Diqqat: rasolik ≠ yetuklik. Tergov idoralari uchun asosan homiladorlik muddati va hayotga layoqat masalasi muhim.</a:t>
            </a:r>
          </a:p>
        </p:txBody>
      </p:sp>
      <p:sp>
        <p:nvSpPr>
          <p:cNvPr id="9" name="Rounded Rectangle 8"/>
          <p:cNvSpPr/>
          <p:nvPr/>
        </p:nvSpPr>
        <p:spPr>
          <a:xfrm>
            <a:off x="5440680" y="1417320"/>
            <a:ext cx="2986887"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Rasolik</a:t>
            </a:r>
          </a:p>
        </p:txBody>
      </p:sp>
      <p:sp>
        <p:nvSpPr>
          <p:cNvPr id="10" name="Rectangle 9"/>
          <p:cNvSpPr/>
          <p:nvPr/>
        </p:nvSpPr>
        <p:spPr>
          <a:xfrm>
            <a:off x="5440680"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10 homila oyi yoki 280 kun</a:t>
            </a:r>
          </a:p>
          <a:p>
            <a:pPr algn="l">
              <a:spcAft>
                <a:spcPts val="700"/>
              </a:spcAft>
            </a:pPr>
            <a:r>
              <a:rPr sz="1500" b="1">
                <a:solidFill>
                  <a:srgbClr val="C9A227"/>
                </a:solidFill>
                <a:latin typeface="Calibri"/>
              </a:rPr>
              <a:t>●  </a:t>
            </a:r>
            <a:r>
              <a:rPr sz="1500" b="0">
                <a:solidFill>
                  <a:srgbClr val="1F2937"/>
                </a:solidFill>
                <a:latin typeface="Calibri"/>
              </a:rPr>
              <a:t>JSST: 37–42 hafta</a:t>
            </a:r>
          </a:p>
          <a:p>
            <a:pPr algn="l">
              <a:spcAft>
                <a:spcPts val="700"/>
              </a:spcAft>
            </a:pPr>
            <a:r>
              <a:rPr sz="1500" b="1">
                <a:solidFill>
                  <a:srgbClr val="C9A227"/>
                </a:solidFill>
                <a:latin typeface="Calibri"/>
              </a:rPr>
              <a:t>●  </a:t>
            </a:r>
            <a:r>
              <a:rPr sz="1500" b="0">
                <a:solidFill>
                  <a:srgbClr val="1F2937"/>
                </a:solidFill>
                <a:latin typeface="Calibri"/>
              </a:rPr>
              <a:t>Uzunligi 50–54 sm, vazni 3000–3500 g</a:t>
            </a:r>
          </a:p>
        </p:txBody>
      </p:sp>
      <p:sp>
        <p:nvSpPr>
          <p:cNvPr id="11" name="Rounded Rectangle 10"/>
          <p:cNvSpPr/>
          <p:nvPr/>
        </p:nvSpPr>
        <p:spPr>
          <a:xfrm>
            <a:off x="8564727" y="1417320"/>
            <a:ext cx="2986887" cy="5486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Yetuklik</a:t>
            </a:r>
          </a:p>
        </p:txBody>
      </p:sp>
      <p:sp>
        <p:nvSpPr>
          <p:cNvPr id="12" name="Rectangle 11"/>
          <p:cNvSpPr/>
          <p:nvPr/>
        </p:nvSpPr>
        <p:spPr>
          <a:xfrm>
            <a:off x="8564727"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Tashqarida yashashga yetarli rivojlanish</a:t>
            </a:r>
          </a:p>
          <a:p>
            <a:pPr algn="l">
              <a:spcAft>
                <a:spcPts val="700"/>
              </a:spcAft>
            </a:pPr>
            <a:r>
              <a:rPr sz="1500" b="1">
                <a:solidFill>
                  <a:srgbClr val="C9A227"/>
                </a:solidFill>
                <a:latin typeface="Calibri"/>
              </a:rPr>
              <a:t>●  </a:t>
            </a:r>
            <a:r>
              <a:rPr sz="1500" b="0">
                <a:solidFill>
                  <a:srgbClr val="1F2937"/>
                </a:solidFill>
                <a:latin typeface="Calibri"/>
              </a:rPr>
              <a:t>Uzunligi ≥ 45 sm</a:t>
            </a:r>
          </a:p>
          <a:p>
            <a:pPr algn="l">
              <a:spcAft>
                <a:spcPts val="700"/>
              </a:spcAft>
            </a:pPr>
            <a:r>
              <a:rPr sz="1500" b="1">
                <a:solidFill>
                  <a:srgbClr val="C9A227"/>
                </a:solidFill>
                <a:latin typeface="Calibri"/>
              </a:rPr>
              <a:t>●  </a:t>
            </a:r>
            <a:r>
              <a:rPr sz="1500" b="0">
                <a:solidFill>
                  <a:srgbClr val="1F2937"/>
                </a:solidFill>
                <a:latin typeface="Calibri"/>
              </a:rPr>
              <a:t>Vazni ≥ 2500 g</a:t>
            </a:r>
          </a:p>
        </p:txBody>
      </p:sp>
      <p:sp>
        <p:nvSpPr>
          <p:cNvPr id="13" name="TextBox 12"/>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Rasolik ≠ yetuklik</a:t>
            </a:r>
          </a:p>
        </p:txBody>
      </p:sp>
      <p:sp>
        <p:nvSpPr>
          <p:cNvPr id="14" name="TextBox 13"/>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261, 262</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Gestatsion yoshni formulalar bilan hisoblash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chaqaloq</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31 / 45</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Gaaze formulasi yoshni homila oylarida beradi. Homiladorlikning birinchi yarmida tana uzunligidan kvadrat ildiz olinadi, ikkinchi yarmida beshga bo‘linadi.</a:t>
            </a:r>
          </a:p>
          <a:p>
            <a:pPr>
              <a:spcAft>
                <a:spcPts val="800"/>
              </a:spcAft>
            </a:pPr>
            <a:r>
              <a:rPr sz="1800">
                <a:solidFill>
                  <a:srgbClr val="1F2937"/>
                </a:solidFill>
                <a:latin typeface="Calibri"/>
              </a:rPr>
              <a:t>▸  Baltazar–Derve indeksi 5,6 ga teng. Tana uzunligi unga ko‘paytirilsa, yosh kunlarda chiqadi.</a:t>
            </a:r>
          </a:p>
          <a:p>
            <a:pPr>
              <a:spcAft>
                <a:spcPts val="800"/>
              </a:spcAft>
            </a:pPr>
            <a:r>
              <a:rPr sz="1800">
                <a:solidFill>
                  <a:srgbClr val="1F2937"/>
                </a:solidFill>
                <a:latin typeface="Calibri"/>
              </a:rPr>
              <a:t>▸  Diqqat: Gaaze oyda, Baltazar–Derve kunda hisoblaydi. Yakupov usulida esa bosh aylanasi 3,4 ga bo‘linadi.</a:t>
            </a:r>
          </a:p>
        </p:txBody>
      </p:sp>
      <p:sp>
        <p:nvSpPr>
          <p:cNvPr id="9" name="Rounded Rectangle 8"/>
          <p:cNvSpPr/>
          <p:nvPr/>
        </p:nvSpPr>
        <p:spPr>
          <a:xfrm>
            <a:off x="5440680" y="1417320"/>
            <a:ext cx="2973171"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40680" y="1508760"/>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50408" y="1417320"/>
            <a:ext cx="2863443"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Gaaze, 1-yarim</a:t>
            </a:r>
          </a:p>
          <a:p>
            <a:pPr algn="l">
              <a:spcAft>
                <a:spcPts val="100"/>
              </a:spcAft>
            </a:pPr>
            <a:r>
              <a:rPr sz="3000" b="1">
                <a:solidFill>
                  <a:srgbClr val="0B1F3A"/>
                </a:solidFill>
                <a:latin typeface="Calibri"/>
              </a:rPr>
              <a:t>16 sm → 4 oy</a:t>
            </a:r>
          </a:p>
        </p:txBody>
      </p:sp>
      <p:sp>
        <p:nvSpPr>
          <p:cNvPr id="12" name="Rounded Rectangle 11"/>
          <p:cNvSpPr/>
          <p:nvPr/>
        </p:nvSpPr>
        <p:spPr>
          <a:xfrm>
            <a:off x="8578443" y="1417320"/>
            <a:ext cx="2973171"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578443" y="1508760"/>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8171" y="1417320"/>
            <a:ext cx="2863443"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Gaaze, 2-yarim</a:t>
            </a:r>
          </a:p>
          <a:p>
            <a:pPr algn="l">
              <a:spcAft>
                <a:spcPts val="100"/>
              </a:spcAft>
            </a:pPr>
            <a:r>
              <a:rPr sz="3000" b="1">
                <a:solidFill>
                  <a:srgbClr val="0B1F3A"/>
                </a:solidFill>
                <a:latin typeface="Calibri"/>
              </a:rPr>
              <a:t>40 sm → 8 oy</a:t>
            </a:r>
          </a:p>
        </p:txBody>
      </p:sp>
      <p:sp>
        <p:nvSpPr>
          <p:cNvPr id="15" name="Rounded Rectangle 14"/>
          <p:cNvSpPr/>
          <p:nvPr/>
        </p:nvSpPr>
        <p:spPr>
          <a:xfrm>
            <a:off x="5440680" y="3118104"/>
            <a:ext cx="2973171"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40680" y="3209544"/>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550408" y="3118104"/>
            <a:ext cx="2863443"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Baltazar–Derve</a:t>
            </a:r>
          </a:p>
          <a:p>
            <a:pPr algn="l">
              <a:spcAft>
                <a:spcPts val="100"/>
              </a:spcAft>
            </a:pPr>
            <a:r>
              <a:rPr sz="2500" b="1">
                <a:solidFill>
                  <a:srgbClr val="0B1F3A"/>
                </a:solidFill>
                <a:latin typeface="Calibri"/>
              </a:rPr>
              <a:t>40 sm → 224 kun</a:t>
            </a:r>
          </a:p>
        </p:txBody>
      </p:sp>
      <p:sp>
        <p:nvSpPr>
          <p:cNvPr id="18" name="Rounded Rectangle 17"/>
          <p:cNvSpPr/>
          <p:nvPr/>
        </p:nvSpPr>
        <p:spPr>
          <a:xfrm>
            <a:off x="8578443" y="3118104"/>
            <a:ext cx="2973171"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578443" y="3209544"/>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8171" y="3118104"/>
            <a:ext cx="2863443"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Yakupov</a:t>
            </a:r>
          </a:p>
          <a:p>
            <a:pPr algn="l">
              <a:spcAft>
                <a:spcPts val="100"/>
              </a:spcAft>
            </a:pPr>
            <a:r>
              <a:rPr sz="2900" b="1">
                <a:solidFill>
                  <a:srgbClr val="0B1F3A"/>
                </a:solidFill>
                <a:latin typeface="Calibri"/>
              </a:rPr>
              <a:t>34 sm → 10 oy</a:t>
            </a:r>
          </a:p>
        </p:txBody>
      </p:sp>
      <p:sp>
        <p:nvSpPr>
          <p:cNvPr id="21" name="TextBox 20"/>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Gaaze: √L va L÷5; Baltazar–Derve: L×5,6; Yakupov: bosh aylanasi ÷3,4</a:t>
            </a:r>
          </a:p>
        </p:txBody>
      </p:sp>
      <p:sp>
        <p:nvSpPr>
          <p:cNvPr id="22" name="TextBox 21"/>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262</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Kindik va yo‘ldosh bo‘yicha gestatsion yosh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chaqaloq</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32 / 45</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Gestatsion yoshni yo‘ldosh massasi va kindik uzunligi bo‘yicha ham aniqlash mumkin (10.1-jadval).</a:t>
            </a:r>
          </a:p>
          <a:p>
            <a:pPr>
              <a:spcAft>
                <a:spcPts val="800"/>
              </a:spcAft>
            </a:pPr>
            <a:r>
              <a:rPr sz="1800">
                <a:solidFill>
                  <a:srgbClr val="1F2937"/>
                </a:solidFill>
                <a:latin typeface="Calibri"/>
              </a:rPr>
              <a:t>▸  VI oyda kindik 38 sm, yo‘ldosh 250 g; IX oyda esa 47 sm va 470 g.</a:t>
            </a:r>
          </a:p>
          <a:p>
            <a:pPr>
              <a:spcAft>
                <a:spcPts val="800"/>
              </a:spcAft>
            </a:pPr>
            <a:r>
              <a:rPr sz="1800">
                <a:solidFill>
                  <a:srgbClr val="1F2937"/>
                </a:solidFill>
                <a:latin typeface="Calibri"/>
              </a:rPr>
              <a:t>▸  Diqqat: bu yerda oy — homila oyi. Homiladorlik o‘rtacha 10 homila oyi yoki 280 kun davom etadi.</a:t>
            </a:r>
          </a:p>
        </p:txBody>
      </p:sp>
      <p:graphicFrame>
        <p:nvGraphicFramePr>
          <p:cNvPr id="9" name="Table 8"/>
          <p:cNvGraphicFramePr>
            <a:graphicFrameLocks noGrp="1"/>
          </p:cNvGraphicFramePr>
          <p:nvPr/>
        </p:nvGraphicFramePr>
        <p:xfrm>
          <a:off x="6263640" y="1463040"/>
          <a:ext cx="5287973" cy="3072380"/>
        </p:xfrm>
        <a:graphic>
          <a:graphicData uri="http://schemas.openxmlformats.org/drawingml/2006/table">
            <a:tbl>
              <a:tblPr firstRow="1" bandRow="1">
                <a:tableStyleId>{5C22544A-7EE6-4342-B048-85BDC9FD1C3A}</a:tableStyleId>
              </a:tblPr>
              <a:tblGrid>
                <a:gridCol w="1726685"/>
                <a:gridCol w="1726685"/>
                <a:gridCol w="1834603"/>
              </a:tblGrid>
              <a:tr h="614476">
                <a:tc>
                  <a:txBody>
                    <a:bodyPr/>
                    <a:lstStyle/>
                    <a:p>
                      <a:r>
                        <a:rPr sz="1600" b="1">
                          <a:solidFill>
                            <a:srgbClr val="FFFFFF"/>
                          </a:solidFill>
                        </a:rPr>
                        <a:t>Homila oyi</a:t>
                      </a:r>
                    </a:p>
                  </a:txBody>
                  <a:tcPr marL="73152" marR="73152" marT="36576" marB="36576">
                    <a:solidFill>
                      <a:srgbClr val="0B1F3A"/>
                    </a:solidFill>
                  </a:tcPr>
                </a:tc>
                <a:tc>
                  <a:txBody>
                    <a:bodyPr/>
                    <a:lstStyle/>
                    <a:p>
                      <a:r>
                        <a:rPr sz="1600" b="1">
                          <a:solidFill>
                            <a:srgbClr val="FFFFFF"/>
                          </a:solidFill>
                        </a:rPr>
                        <a:t>Kindik, sm</a:t>
                      </a:r>
                    </a:p>
                  </a:txBody>
                  <a:tcPr marL="73152" marR="73152" marT="36576" marB="36576">
                    <a:solidFill>
                      <a:srgbClr val="0B1F3A"/>
                    </a:solidFill>
                  </a:tcPr>
                </a:tc>
                <a:tc>
                  <a:txBody>
                    <a:bodyPr/>
                    <a:lstStyle/>
                    <a:p>
                      <a:r>
                        <a:rPr sz="1600" b="1">
                          <a:solidFill>
                            <a:srgbClr val="FFFFFF"/>
                          </a:solidFill>
                        </a:rPr>
                        <a:t>Yo‘ldosh, g</a:t>
                      </a:r>
                    </a:p>
                  </a:txBody>
                  <a:tcPr marL="73152" marR="73152" marT="36576" marB="36576">
                    <a:solidFill>
                      <a:srgbClr val="0B1F3A"/>
                    </a:solidFill>
                  </a:tcPr>
                </a:tc>
              </a:tr>
              <a:tr h="614476">
                <a:tc>
                  <a:txBody>
                    <a:bodyPr/>
                    <a:lstStyle/>
                    <a:p>
                      <a:r>
                        <a:rPr sz="1500" b="0">
                          <a:solidFill>
                            <a:srgbClr val="1F2937"/>
                          </a:solidFill>
                        </a:rPr>
                        <a:t>VI</a:t>
                      </a:r>
                    </a:p>
                  </a:txBody>
                  <a:tcPr marL="73152" marR="73152" marT="36576" marB="36576">
                    <a:solidFill>
                      <a:srgbClr val="E8EEF6"/>
                    </a:solidFill>
                  </a:tcPr>
                </a:tc>
                <a:tc>
                  <a:txBody>
                    <a:bodyPr/>
                    <a:lstStyle/>
                    <a:p>
                      <a:r>
                        <a:rPr sz="1500" b="0">
                          <a:solidFill>
                            <a:srgbClr val="1F2937"/>
                          </a:solidFill>
                        </a:rPr>
                        <a:t>38</a:t>
                      </a:r>
                    </a:p>
                  </a:txBody>
                  <a:tcPr marL="73152" marR="73152" marT="36576" marB="36576">
                    <a:solidFill>
                      <a:srgbClr val="E8EEF6"/>
                    </a:solidFill>
                  </a:tcPr>
                </a:tc>
                <a:tc>
                  <a:txBody>
                    <a:bodyPr/>
                    <a:lstStyle/>
                    <a:p>
                      <a:r>
                        <a:rPr sz="1500" b="0">
                          <a:solidFill>
                            <a:srgbClr val="1F2937"/>
                          </a:solidFill>
                        </a:rPr>
                        <a:t>250</a:t>
                      </a:r>
                    </a:p>
                  </a:txBody>
                  <a:tcPr marL="73152" marR="73152" marT="36576" marB="36576">
                    <a:solidFill>
                      <a:srgbClr val="E8EEF6"/>
                    </a:solidFill>
                  </a:tcPr>
                </a:tc>
              </a:tr>
              <a:tr h="614476">
                <a:tc>
                  <a:txBody>
                    <a:bodyPr/>
                    <a:lstStyle/>
                    <a:p>
                      <a:r>
                        <a:rPr sz="1500" b="0">
                          <a:solidFill>
                            <a:srgbClr val="1F2937"/>
                          </a:solidFill>
                        </a:rPr>
                        <a:t>VII</a:t>
                      </a:r>
                    </a:p>
                  </a:txBody>
                  <a:tcPr marL="73152" marR="73152" marT="36576" marB="36576">
                    <a:solidFill>
                      <a:srgbClr val="FFFFFF"/>
                    </a:solidFill>
                  </a:tcPr>
                </a:tc>
                <a:tc>
                  <a:txBody>
                    <a:bodyPr/>
                    <a:lstStyle/>
                    <a:p>
                      <a:r>
                        <a:rPr sz="1500" b="0">
                          <a:solidFill>
                            <a:srgbClr val="1F2937"/>
                          </a:solidFill>
                        </a:rPr>
                        <a:t>42</a:t>
                      </a:r>
                    </a:p>
                  </a:txBody>
                  <a:tcPr marL="73152" marR="73152" marT="36576" marB="36576">
                    <a:solidFill>
                      <a:srgbClr val="FFFFFF"/>
                    </a:solidFill>
                  </a:tcPr>
                </a:tc>
                <a:tc>
                  <a:txBody>
                    <a:bodyPr/>
                    <a:lstStyle/>
                    <a:p>
                      <a:r>
                        <a:rPr sz="1500" b="0">
                          <a:solidFill>
                            <a:srgbClr val="1F2937"/>
                          </a:solidFill>
                        </a:rPr>
                        <a:t>340</a:t>
                      </a:r>
                    </a:p>
                  </a:txBody>
                  <a:tcPr marL="73152" marR="73152" marT="36576" marB="36576">
                    <a:solidFill>
                      <a:srgbClr val="FFFFFF"/>
                    </a:solidFill>
                  </a:tcPr>
                </a:tc>
              </a:tr>
              <a:tr h="614476">
                <a:tc>
                  <a:txBody>
                    <a:bodyPr/>
                    <a:lstStyle/>
                    <a:p>
                      <a:r>
                        <a:rPr sz="1500" b="0">
                          <a:solidFill>
                            <a:srgbClr val="1F2937"/>
                          </a:solidFill>
                        </a:rPr>
                        <a:t>VIII</a:t>
                      </a:r>
                    </a:p>
                  </a:txBody>
                  <a:tcPr marL="73152" marR="73152" marT="36576" marB="36576">
                    <a:solidFill>
                      <a:srgbClr val="E8EEF6"/>
                    </a:solidFill>
                  </a:tcPr>
                </a:tc>
                <a:tc>
                  <a:txBody>
                    <a:bodyPr/>
                    <a:lstStyle/>
                    <a:p>
                      <a:r>
                        <a:rPr sz="1500" b="0">
                          <a:solidFill>
                            <a:srgbClr val="1F2937"/>
                          </a:solidFill>
                        </a:rPr>
                        <a:t>46</a:t>
                      </a:r>
                    </a:p>
                  </a:txBody>
                  <a:tcPr marL="73152" marR="73152" marT="36576" marB="36576">
                    <a:solidFill>
                      <a:srgbClr val="E8EEF6"/>
                    </a:solidFill>
                  </a:tcPr>
                </a:tc>
                <a:tc>
                  <a:txBody>
                    <a:bodyPr/>
                    <a:lstStyle/>
                    <a:p>
                      <a:r>
                        <a:rPr sz="1500" b="0">
                          <a:solidFill>
                            <a:srgbClr val="1F2937"/>
                          </a:solidFill>
                        </a:rPr>
                        <a:t>410</a:t>
                      </a:r>
                    </a:p>
                  </a:txBody>
                  <a:tcPr marL="73152" marR="73152" marT="36576" marB="36576">
                    <a:solidFill>
                      <a:srgbClr val="E8EEF6"/>
                    </a:solidFill>
                  </a:tcPr>
                </a:tc>
              </a:tr>
              <a:tr h="614476">
                <a:tc>
                  <a:txBody>
                    <a:bodyPr/>
                    <a:lstStyle/>
                    <a:p>
                      <a:r>
                        <a:rPr sz="1500" b="0">
                          <a:solidFill>
                            <a:srgbClr val="1F2937"/>
                          </a:solidFill>
                        </a:rPr>
                        <a:t>X</a:t>
                      </a:r>
                    </a:p>
                  </a:txBody>
                  <a:tcPr marL="73152" marR="73152" marT="36576" marB="36576">
                    <a:solidFill>
                      <a:srgbClr val="FFFFFF"/>
                    </a:solidFill>
                  </a:tcPr>
                </a:tc>
                <a:tc>
                  <a:txBody>
                    <a:bodyPr/>
                    <a:lstStyle/>
                    <a:p>
                      <a:r>
                        <a:rPr sz="1500" b="0">
                          <a:solidFill>
                            <a:srgbClr val="1F2937"/>
                          </a:solidFill>
                        </a:rPr>
                        <a:t>50</a:t>
                      </a:r>
                    </a:p>
                  </a:txBody>
                  <a:tcPr marL="73152" marR="73152" marT="36576" marB="36576">
                    <a:solidFill>
                      <a:srgbClr val="FFFFFF"/>
                    </a:solidFill>
                  </a:tcPr>
                </a:tc>
                <a:tc>
                  <a:txBody>
                    <a:bodyPr/>
                    <a:lstStyle/>
                    <a:p>
                      <a:r>
                        <a:rPr sz="1500" b="0">
                          <a:solidFill>
                            <a:srgbClr val="1F2937"/>
                          </a:solidFill>
                        </a:rPr>
                        <a:t>500</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Kindik va yo‘ldosh (tanlangan oylar)</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262, 261</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Suyaklanish o‘zaklari va boshqa belgilar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chaqaloq</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33 / 45</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Suyaklanish o‘zaklari tashqi tekshiruvda ham o‘rganiladi: son, tovon va g‘altaksimon suyaklarda.</a:t>
            </a:r>
          </a:p>
          <a:p>
            <a:pPr>
              <a:spcAft>
                <a:spcPts val="800"/>
              </a:spcAft>
            </a:pPr>
            <a:r>
              <a:rPr sz="1800">
                <a:solidFill>
                  <a:srgbClr val="1F2937"/>
                </a:solidFill>
                <a:latin typeface="Calibri"/>
              </a:rPr>
              <a:t>▸  Chekish, alkogol, narkotik va patologiya o‘zaklar kech paydo bo‘lishiga yoki bo‘lmasligiga olib keladi.</a:t>
            </a:r>
          </a:p>
          <a:p>
            <a:pPr>
              <a:spcAft>
                <a:spcPts val="800"/>
              </a:spcAft>
            </a:pPr>
            <a:r>
              <a:rPr sz="1800">
                <a:solidFill>
                  <a:srgbClr val="1F2937"/>
                </a:solidFill>
                <a:latin typeface="Calibri"/>
              </a:rPr>
              <a:t>▸  Tuk-soch yutilgan qog‘onoq suvi bilan mekoniyga tushadi; yutish refleksi VIII oyda paydo bo‘ladi.</a:t>
            </a:r>
          </a:p>
        </p:txBody>
      </p:sp>
      <p:graphicFrame>
        <p:nvGraphicFramePr>
          <p:cNvPr id="9" name="Table 8"/>
          <p:cNvGraphicFramePr>
            <a:graphicFrameLocks noGrp="1"/>
          </p:cNvGraphicFramePr>
          <p:nvPr/>
        </p:nvGraphicFramePr>
        <p:xfrm>
          <a:off x="6263640" y="1463040"/>
          <a:ext cx="5287974" cy="3072380"/>
        </p:xfrm>
        <a:graphic>
          <a:graphicData uri="http://schemas.openxmlformats.org/drawingml/2006/table">
            <a:tbl>
              <a:tblPr firstRow="1" bandRow="1">
                <a:tableStyleId>{5C22544A-7EE6-4342-B048-85BDC9FD1C3A}</a:tableStyleId>
              </a:tblPr>
              <a:tblGrid>
                <a:gridCol w="1858937"/>
                <a:gridCol w="1028737"/>
                <a:gridCol w="2400300"/>
              </a:tblGrid>
              <a:tr h="614476">
                <a:tc>
                  <a:txBody>
                    <a:bodyPr/>
                    <a:lstStyle/>
                    <a:p>
                      <a:r>
                        <a:rPr sz="1600" b="1">
                          <a:solidFill>
                            <a:srgbClr val="FFFFFF"/>
                          </a:solidFill>
                        </a:rPr>
                        <a:t>Belgi</a:t>
                      </a:r>
                    </a:p>
                  </a:txBody>
                  <a:tcPr marL="73152" marR="73152" marT="36576" marB="36576">
                    <a:solidFill>
                      <a:srgbClr val="0B1F3A"/>
                    </a:solidFill>
                  </a:tcPr>
                </a:tc>
                <a:tc>
                  <a:txBody>
                    <a:bodyPr/>
                    <a:lstStyle/>
                    <a:p>
                      <a:r>
                        <a:rPr sz="1600" b="1">
                          <a:solidFill>
                            <a:srgbClr val="FFFFFF"/>
                          </a:solidFill>
                        </a:rPr>
                        <a:t>Oy</a:t>
                      </a:r>
                    </a:p>
                  </a:txBody>
                  <a:tcPr marL="73152" marR="73152" marT="36576" marB="36576">
                    <a:solidFill>
                      <a:srgbClr val="0B1F3A"/>
                    </a:solidFill>
                  </a:tcPr>
                </a:tc>
                <a:tc>
                  <a:txBody>
                    <a:bodyPr/>
                    <a:lstStyle/>
                    <a:p>
                      <a:r>
                        <a:rPr sz="1600" b="1">
                          <a:solidFill>
                            <a:srgbClr val="FFFFFF"/>
                          </a:solidFill>
                        </a:rPr>
                        <a:t>Tavsif</a:t>
                      </a:r>
                    </a:p>
                  </a:txBody>
                  <a:tcPr marL="73152" marR="73152" marT="36576" marB="36576">
                    <a:solidFill>
                      <a:srgbClr val="0B1F3A"/>
                    </a:solidFill>
                  </a:tcPr>
                </a:tc>
              </a:tr>
              <a:tr h="614476">
                <a:tc>
                  <a:txBody>
                    <a:bodyPr/>
                    <a:lstStyle/>
                    <a:p>
                      <a:r>
                        <a:rPr sz="1500" b="0">
                          <a:solidFill>
                            <a:srgbClr val="1F2937"/>
                          </a:solidFill>
                        </a:rPr>
                        <a:t>Tovon suyagi o‘zagi</a:t>
                      </a:r>
                    </a:p>
                  </a:txBody>
                  <a:tcPr marL="73152" marR="73152" marT="36576" marB="36576">
                    <a:solidFill>
                      <a:srgbClr val="E8EEF6"/>
                    </a:solidFill>
                  </a:tcPr>
                </a:tc>
                <a:tc>
                  <a:txBody>
                    <a:bodyPr/>
                    <a:lstStyle/>
                    <a:p>
                      <a:r>
                        <a:rPr sz="1500" b="0">
                          <a:solidFill>
                            <a:srgbClr val="1F2937"/>
                          </a:solidFill>
                        </a:rPr>
                        <a:t>V homila oyi</a:t>
                      </a:r>
                    </a:p>
                  </a:txBody>
                  <a:tcPr marL="73152" marR="73152" marT="36576" marB="36576">
                    <a:solidFill>
                      <a:srgbClr val="E8EEF6"/>
                    </a:solidFill>
                  </a:tcPr>
                </a:tc>
                <a:tc>
                  <a:txBody>
                    <a:bodyPr/>
                    <a:lstStyle/>
                    <a:p>
                      <a:r>
                        <a:rPr sz="1500" b="0">
                          <a:solidFill>
                            <a:srgbClr val="1F2937"/>
                          </a:solidFill>
                        </a:rPr>
                        <a:t>Diametri 0,8–1,1 sm</a:t>
                      </a:r>
                    </a:p>
                  </a:txBody>
                  <a:tcPr marL="73152" marR="73152" marT="36576" marB="36576">
                    <a:solidFill>
                      <a:srgbClr val="E8EEF6"/>
                    </a:solidFill>
                  </a:tcPr>
                </a:tc>
              </a:tr>
              <a:tr h="614476">
                <a:tc>
                  <a:txBody>
                    <a:bodyPr/>
                    <a:lstStyle/>
                    <a:p>
                      <a:r>
                        <a:rPr sz="1500" b="0">
                          <a:solidFill>
                            <a:srgbClr val="1F2937"/>
                          </a:solidFill>
                        </a:rPr>
                        <a:t>G‘altaksimon suyak o‘zagi</a:t>
                      </a:r>
                    </a:p>
                  </a:txBody>
                  <a:tcPr marL="73152" marR="73152" marT="36576" marB="36576">
                    <a:solidFill>
                      <a:srgbClr val="FFFFFF"/>
                    </a:solidFill>
                  </a:tcPr>
                </a:tc>
                <a:tc>
                  <a:txBody>
                    <a:bodyPr/>
                    <a:lstStyle/>
                    <a:p>
                      <a:r>
                        <a:rPr sz="1500" b="0">
                          <a:solidFill>
                            <a:srgbClr val="1F2937"/>
                          </a:solidFill>
                        </a:rPr>
                        <a:t>VII homila oyi</a:t>
                      </a:r>
                    </a:p>
                  </a:txBody>
                  <a:tcPr marL="73152" marR="73152" marT="36576" marB="36576">
                    <a:solidFill>
                      <a:srgbClr val="FFFFFF"/>
                    </a:solidFill>
                  </a:tcPr>
                </a:tc>
                <a:tc>
                  <a:txBody>
                    <a:bodyPr/>
                    <a:lstStyle/>
                    <a:p>
                      <a:r>
                        <a:rPr sz="1500" b="0">
                          <a:solidFill>
                            <a:srgbClr val="1F2937"/>
                          </a:solidFill>
                        </a:rPr>
                        <a:t>Diametri 0,7–1,0 sm</a:t>
                      </a:r>
                    </a:p>
                  </a:txBody>
                  <a:tcPr marL="73152" marR="73152" marT="36576" marB="36576">
                    <a:solidFill>
                      <a:srgbClr val="FFFFFF"/>
                    </a:solidFill>
                  </a:tcPr>
                </a:tc>
              </a:tr>
              <a:tr h="614476">
                <a:tc>
                  <a:txBody>
                    <a:bodyPr/>
                    <a:lstStyle/>
                    <a:p>
                      <a:r>
                        <a:rPr sz="1500" b="0">
                          <a:solidFill>
                            <a:srgbClr val="1F2937"/>
                          </a:solidFill>
                        </a:rPr>
                        <a:t>Yutish refleksi</a:t>
                      </a:r>
                    </a:p>
                  </a:txBody>
                  <a:tcPr marL="73152" marR="73152" marT="36576" marB="36576">
                    <a:solidFill>
                      <a:srgbClr val="E8EEF6"/>
                    </a:solidFill>
                  </a:tcPr>
                </a:tc>
                <a:tc>
                  <a:txBody>
                    <a:bodyPr/>
                    <a:lstStyle/>
                    <a:p>
                      <a:r>
                        <a:rPr sz="1500" b="0">
                          <a:solidFill>
                            <a:srgbClr val="1F2937"/>
                          </a:solidFill>
                        </a:rPr>
                        <a:t>VIII homila oyi</a:t>
                      </a:r>
                    </a:p>
                  </a:txBody>
                  <a:tcPr marL="73152" marR="73152" marT="36576" marB="36576">
                    <a:solidFill>
                      <a:srgbClr val="E8EEF6"/>
                    </a:solidFill>
                  </a:tcPr>
                </a:tc>
                <a:tc>
                  <a:txBody>
                    <a:bodyPr/>
                    <a:lstStyle/>
                    <a:p>
                      <a:r>
                        <a:rPr sz="1500" b="0">
                          <a:solidFill>
                            <a:srgbClr val="1F2937"/>
                          </a:solidFill>
                        </a:rPr>
                        <a:t>Mekoniyda tuk-soch (Shibkov–Markovin)</a:t>
                      </a:r>
                    </a:p>
                  </a:txBody>
                  <a:tcPr marL="73152" marR="73152" marT="36576" marB="36576">
                    <a:solidFill>
                      <a:srgbClr val="E8EEF6"/>
                    </a:solidFill>
                  </a:tcPr>
                </a:tc>
              </a:tr>
              <a:tr h="614476">
                <a:tc>
                  <a:txBody>
                    <a:bodyPr/>
                    <a:lstStyle/>
                    <a:p>
                      <a:r>
                        <a:rPr sz="1500" b="0">
                          <a:solidFill>
                            <a:srgbClr val="1F2937"/>
                          </a:solidFill>
                        </a:rPr>
                        <a:t>Son epifizi (Beklyar yadrosi)</a:t>
                      </a:r>
                    </a:p>
                  </a:txBody>
                  <a:tcPr marL="73152" marR="73152" marT="36576" marB="36576">
                    <a:solidFill>
                      <a:srgbClr val="FFFFFF"/>
                    </a:solidFill>
                  </a:tcPr>
                </a:tc>
                <a:tc>
                  <a:txBody>
                    <a:bodyPr/>
                    <a:lstStyle/>
                    <a:p>
                      <a:r>
                        <a:rPr sz="1500" b="0">
                          <a:solidFill>
                            <a:srgbClr val="1F2937"/>
                          </a:solidFill>
                        </a:rPr>
                        <a:t>IX homila oyi</a:t>
                      </a:r>
                    </a:p>
                  </a:txBody>
                  <a:tcPr marL="73152" marR="73152" marT="36576" marB="36576">
                    <a:solidFill>
                      <a:srgbClr val="FFFFFF"/>
                    </a:solidFill>
                  </a:tcPr>
                </a:tc>
                <a:tc>
                  <a:txBody>
                    <a:bodyPr/>
                    <a:lstStyle/>
                    <a:p>
                      <a:r>
                        <a:rPr sz="1500" b="0">
                          <a:solidFill>
                            <a:srgbClr val="1F2937"/>
                          </a:solidFill>
                        </a:rPr>
                        <a:t>0,5–0,7 sm, kul rang fonda qizg‘ish</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Gestatsion yosh belgilari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266, 263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4-bo‘lim bo‘yicha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chaqaloq</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34 / 45</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ekspertizaga homila murdasi keltirildi, tana uzunligi 16 sm. Gestatsion yoshni Gaaze formulasi bilan aniqlang.</a:t>
            </a:r>
          </a:p>
          <a:p>
            <a:pPr>
              <a:spcAft>
                <a:spcPts val="1200"/>
              </a:spcAft>
            </a:pPr>
            <a:r>
              <a:rPr sz="2200">
                <a:solidFill>
                  <a:srgbClr val="1F2937"/>
                </a:solidFill>
                <a:latin typeface="Calibri"/>
              </a:rPr>
              <a:t>▸  Homiladorlikning birinchi yarmida tana uzunligidan kvadrat ildiz olinadi: 16 sm uchun ildiz 4, ya’ni 4 homila oyi.</a:t>
            </a:r>
          </a:p>
          <a:p>
            <a:pPr>
              <a:spcAft>
                <a:spcPts val="1200"/>
              </a:spcAft>
            </a:pPr>
            <a:r>
              <a:rPr sz="2200">
                <a:solidFill>
                  <a:srgbClr val="1F2937"/>
                </a:solidFill>
                <a:latin typeface="Calibri"/>
              </a:rPr>
              <a:t>▸  Ikkinchi yarmida uzunlik 5 ga bo‘linadi: 40 sm — 8 homila oyi. Baltazar-Derve: 40 × 5,6 = 224 kun.</a:t>
            </a:r>
          </a:p>
          <a:p>
            <a:pPr>
              <a:spcAft>
                <a:spcPts val="1200"/>
              </a:spcAft>
            </a:pPr>
            <a:r>
              <a:rPr sz="2200">
                <a:solidFill>
                  <a:srgbClr val="1F2937"/>
                </a:solidFill>
                <a:latin typeface="Calibri"/>
              </a:rPr>
              <a:t>▸  Savol: Yakupov bo‘yicha bosh aylanasi 34 sm bo‘lsa, gestatsion yosh necha homila oyi bo‘ladi?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262</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Go‘dakning hayotga layoqati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chaqaloq</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35 / 45</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JSST: uzunligi 25 sm dan, vazni 500 g dan kam go‘dak o‘ta norasoligi tufayli layoqatsiz; murda ochilmaydi, faqat tashqi tekshiruv va o‘lchash o‘tkaziladi.</a:t>
            </a:r>
          </a:p>
          <a:p>
            <a:pPr>
              <a:spcAft>
                <a:spcPts val="800"/>
              </a:spcAft>
            </a:pPr>
            <a:r>
              <a:rPr sz="1600">
                <a:solidFill>
                  <a:srgbClr val="1F2937"/>
                </a:solidFill>
                <a:latin typeface="Calibri"/>
              </a:rPr>
              <a:t>▸  Anensefaliya (bosh miyaning bo‘lmasligi), ikki kamerali yurak va ichki a’zolarning shunga o‘xshash jiddiy nuqsonlari go‘dakni hayotga layoqatsiz qiladi.</a:t>
            </a:r>
          </a:p>
          <a:p>
            <a:pPr>
              <a:spcAft>
                <a:spcPts val="800"/>
              </a:spcAft>
            </a:pPr>
            <a:r>
              <a:rPr sz="1600">
                <a:solidFill>
                  <a:srgbClr val="1F2937"/>
                </a:solidFill>
                <a:latin typeface="Calibri"/>
              </a:rPr>
              <a:t>▸  Tashqi nuqson (oltinchi barmoq, quyon lab, barmoq pardasi) topilsa, ichki nuqsonni istisno qilish uchun bosh miya va a’zolar tekshiriladi.</a:t>
            </a:r>
          </a:p>
          <a:p>
            <a:pPr>
              <a:spcAft>
                <a:spcPts val="800"/>
              </a:spcAft>
            </a:pPr>
            <a:r>
              <a:rPr sz="1600">
                <a:solidFill>
                  <a:srgbClr val="1F2937"/>
                </a:solidFill>
                <a:latin typeface="Calibri"/>
              </a:rPr>
              <a:t>▸  Tug‘ruq travmasi ham yashashga to‘sqinlik qiladi: bosh miyaning majaqlanishi yoki bo‘yin umurtqalari sinishi bilan orqa miya shikasti hayot bilan nomutanosib.</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Layoqatsizlik sabablari</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2063496"/>
            <a:ext cx="0" cy="2731008"/>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206349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O‘ta norasolik</a:t>
            </a:r>
          </a:p>
          <a:p>
            <a:pPr algn="l">
              <a:spcAft>
                <a:spcPts val="0"/>
              </a:spcAft>
            </a:pPr>
            <a:r>
              <a:rPr sz="1200" b="0">
                <a:solidFill>
                  <a:srgbClr val="1F2937"/>
                </a:solidFill>
                <a:latin typeface="Calibri"/>
              </a:rPr>
              <a:t>Uzunligi &lt; 25 sm  ·  Vazni &lt; 500 g</a:t>
            </a:r>
          </a:p>
        </p:txBody>
      </p:sp>
      <p:cxnSp>
        <p:nvCxnSpPr>
          <p:cNvPr id="15" name="Connector 14"/>
          <p:cNvCxnSpPr/>
          <p:nvPr/>
        </p:nvCxnSpPr>
        <p:spPr>
          <a:xfrm>
            <a:off x="761238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782824"/>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782824"/>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Rivojlanish nuqsoni</a:t>
            </a:r>
          </a:p>
          <a:p>
            <a:pPr algn="l">
              <a:spcAft>
                <a:spcPts val="0"/>
              </a:spcAft>
            </a:pPr>
            <a:r>
              <a:rPr sz="1200" b="0">
                <a:solidFill>
                  <a:srgbClr val="1F2937"/>
                </a:solidFill>
                <a:latin typeface="Calibri"/>
              </a:rPr>
              <a:t>Anensefaliya  ·  Ikki kamerali yurak</a:t>
            </a:r>
          </a:p>
        </p:txBody>
      </p:sp>
      <p:cxnSp>
        <p:nvCxnSpPr>
          <p:cNvPr id="18" name="Connector 17"/>
          <p:cNvCxnSpPr/>
          <p:nvPr/>
        </p:nvCxnSpPr>
        <p:spPr>
          <a:xfrm>
            <a:off x="7612380" y="479450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4148328"/>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4148328"/>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Tug‘ruq travmasi</a:t>
            </a:r>
          </a:p>
          <a:p>
            <a:pPr algn="l">
              <a:spcAft>
                <a:spcPts val="0"/>
              </a:spcAft>
            </a:pPr>
            <a:r>
              <a:rPr sz="1200" b="0">
                <a:solidFill>
                  <a:srgbClr val="1F2937"/>
                </a:solidFill>
                <a:latin typeface="Calibri"/>
              </a:rPr>
              <a:t>Bosh miya majaqlanishi  ·  Bo‘yin umurtqasi sinishi</a:t>
            </a:r>
          </a:p>
        </p:txBody>
      </p:sp>
      <p:sp>
        <p:nvSpPr>
          <p:cNvPr id="21" name="TextBox 20"/>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JSST va nuqsonlar</a:t>
            </a:r>
          </a:p>
        </p:txBody>
      </p:sp>
      <p:sp>
        <p:nvSpPr>
          <p:cNvPr id="22" name="TextBox 21"/>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263</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Hayot davomiyligini aniqlash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chaqaloq</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36 / 45</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Mekoniy ham birinchi sutka oxiriga kelib go‘dak organizmidan chiqib ketadi.</a:t>
            </a:r>
          </a:p>
          <a:p>
            <a:pPr>
              <a:spcAft>
                <a:spcPts val="800"/>
              </a:spcAft>
            </a:pPr>
            <a:r>
              <a:rPr sz="1800">
                <a:solidFill>
                  <a:srgbClr val="1F2937"/>
                </a:solidFill>
                <a:latin typeface="Calibri"/>
              </a:rPr>
              <a:t>▸  Havo faqat oshqozonda bo‘lsa, go‘dak 3 soatdan kam yashagan. Ingichka ichakda 5-6 soatda, yo‘g‘on ichakda 6 soatdan so‘ng bo‘ladi.</a:t>
            </a:r>
          </a:p>
          <a:p>
            <a:pPr>
              <a:spcAft>
                <a:spcPts val="800"/>
              </a:spcAft>
            </a:pPr>
            <a:r>
              <a:rPr sz="1800">
                <a:solidFill>
                  <a:srgbClr val="1F2937"/>
                </a:solidFill>
                <a:latin typeface="Calibri"/>
              </a:rPr>
              <a:t>▸  Muddatlar taxminiy. Masala imkon qadar ko‘p belgini hisobga olib hal etiladi.</a:t>
            </a:r>
          </a:p>
        </p:txBody>
      </p:sp>
      <p:sp>
        <p:nvSpPr>
          <p:cNvPr id="9" name="Rounded Rectangle 8"/>
          <p:cNvSpPr/>
          <p:nvPr/>
        </p:nvSpPr>
        <p:spPr>
          <a:xfrm>
            <a:off x="5440680" y="1417320"/>
            <a:ext cx="2973171" cy="1947672"/>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550408" y="2162556"/>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1</a:t>
            </a:r>
          </a:p>
        </p:txBody>
      </p:sp>
      <p:sp>
        <p:nvSpPr>
          <p:cNvPr id="11" name="TextBox 10"/>
          <p:cNvSpPr txBox="1"/>
          <p:nvPr/>
        </p:nvSpPr>
        <p:spPr>
          <a:xfrm>
            <a:off x="6080760" y="1417320"/>
            <a:ext cx="2259939" cy="1947672"/>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Gialin membranalar</a:t>
            </a:r>
          </a:p>
          <a:p>
            <a:pPr algn="l">
              <a:spcAft>
                <a:spcPts val="200"/>
              </a:spcAft>
            </a:pPr>
            <a:r>
              <a:rPr sz="1400" b="0">
                <a:solidFill>
                  <a:srgbClr val="1F2937"/>
                </a:solidFill>
                <a:latin typeface="Calibri"/>
              </a:rPr>
              <a:t>Kamida 1-2 soat yashagan</a:t>
            </a:r>
          </a:p>
        </p:txBody>
      </p:sp>
      <p:sp>
        <p:nvSpPr>
          <p:cNvPr id="12" name="Rounded Rectangle 11"/>
          <p:cNvSpPr/>
          <p:nvPr/>
        </p:nvSpPr>
        <p:spPr>
          <a:xfrm>
            <a:off x="8578443" y="1417320"/>
            <a:ext cx="2973171" cy="1947672"/>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688171" y="2162556"/>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2</a:t>
            </a:r>
          </a:p>
        </p:txBody>
      </p:sp>
      <p:sp>
        <p:nvSpPr>
          <p:cNvPr id="14" name="TextBox 13"/>
          <p:cNvSpPr txBox="1"/>
          <p:nvPr/>
        </p:nvSpPr>
        <p:spPr>
          <a:xfrm>
            <a:off x="9218523" y="1417320"/>
            <a:ext cx="2259939" cy="1947672"/>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Ikkilamchi atelektaz</a:t>
            </a:r>
          </a:p>
          <a:p>
            <a:pPr algn="l">
              <a:spcAft>
                <a:spcPts val="200"/>
              </a:spcAft>
            </a:pPr>
            <a:r>
              <a:rPr sz="1400" b="0">
                <a:solidFill>
                  <a:srgbClr val="1F2937"/>
                </a:solidFill>
                <a:latin typeface="Calibri"/>
              </a:rPr>
              <a:t>Kamida 5-6 soatdan so‘ng</a:t>
            </a:r>
          </a:p>
        </p:txBody>
      </p:sp>
      <p:sp>
        <p:nvSpPr>
          <p:cNvPr id="15" name="Rounded Rectangle 14"/>
          <p:cNvSpPr/>
          <p:nvPr/>
        </p:nvSpPr>
        <p:spPr>
          <a:xfrm>
            <a:off x="5440680" y="3493008"/>
            <a:ext cx="2973171" cy="1947672"/>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550408" y="4238244"/>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3</a:t>
            </a:r>
          </a:p>
        </p:txBody>
      </p:sp>
      <p:sp>
        <p:nvSpPr>
          <p:cNvPr id="17" name="TextBox 16"/>
          <p:cNvSpPr txBox="1"/>
          <p:nvPr/>
        </p:nvSpPr>
        <p:spPr>
          <a:xfrm>
            <a:off x="6080760" y="3493008"/>
            <a:ext cx="2259939" cy="1947672"/>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Demarkatsion halqa</a:t>
            </a:r>
          </a:p>
          <a:p>
            <a:pPr algn="l">
              <a:spcAft>
                <a:spcPts val="200"/>
              </a:spcAft>
            </a:pPr>
            <a:r>
              <a:rPr sz="1400" b="0">
                <a:solidFill>
                  <a:srgbClr val="1F2937"/>
                </a:solidFill>
                <a:latin typeface="Calibri"/>
              </a:rPr>
              <a:t>Birinchi sutka oxirida shakllanadi</a:t>
            </a:r>
          </a:p>
        </p:txBody>
      </p:sp>
      <p:sp>
        <p:nvSpPr>
          <p:cNvPr id="18" name="Rounded Rectangle 17"/>
          <p:cNvSpPr/>
          <p:nvPr/>
        </p:nvSpPr>
        <p:spPr>
          <a:xfrm>
            <a:off x="8578443" y="3493008"/>
            <a:ext cx="2973171" cy="1947672"/>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688171" y="4238244"/>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4</a:t>
            </a:r>
          </a:p>
        </p:txBody>
      </p:sp>
      <p:sp>
        <p:nvSpPr>
          <p:cNvPr id="20" name="TextBox 19"/>
          <p:cNvSpPr txBox="1"/>
          <p:nvPr/>
        </p:nvSpPr>
        <p:spPr>
          <a:xfrm>
            <a:off x="9218523" y="3493008"/>
            <a:ext cx="2259939" cy="1947672"/>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Tug‘ruq shishi</a:t>
            </a:r>
          </a:p>
          <a:p>
            <a:pPr algn="l">
              <a:spcAft>
                <a:spcPts val="200"/>
              </a:spcAft>
            </a:pPr>
            <a:r>
              <a:rPr sz="1400" b="0">
                <a:solidFill>
                  <a:srgbClr val="1F2937"/>
                </a:solidFill>
                <a:latin typeface="Calibri"/>
              </a:rPr>
              <a:t>2-3-kunlarda so‘riladi</a:t>
            </a:r>
          </a:p>
        </p:txBody>
      </p:sp>
      <p:sp>
        <p:nvSpPr>
          <p:cNvPr id="21" name="TextBox 20"/>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Belgilar va muddatlar</a:t>
            </a:r>
          </a:p>
        </p:txBody>
      </p:sp>
      <p:sp>
        <p:nvSpPr>
          <p:cNvPr id="22" name="TextBox 21"/>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263–264, 264</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Go‘dakka qarov bo‘lganligini aniqlash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chaqaloq</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37 / 45</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Qarov bo‘lgan yoki bo‘lmaganini aniqlash surishtiruv va tergov uchun muhim. Bu holatga huquqiy baho berishda asos bo‘ladi.</a:t>
            </a:r>
          </a:p>
          <a:p>
            <a:pPr>
              <a:spcAft>
                <a:spcPts val="800"/>
              </a:spcAft>
            </a:pPr>
            <a:r>
              <a:rPr sz="1800">
                <a:solidFill>
                  <a:srgbClr val="1F2937"/>
                </a:solidFill>
                <a:latin typeface="Calibri"/>
              </a:rPr>
              <a:t>▸  Go‘dak yo‘rgaklangan bo‘lsa va ustida kiyim-bosh bo‘lsa, unga tug‘ilgandan so‘ng qarov bo‘lgan.</a:t>
            </a:r>
          </a:p>
          <a:p>
            <a:pPr>
              <a:spcAft>
                <a:spcPts val="800"/>
              </a:spcAft>
            </a:pPr>
            <a:r>
              <a:rPr sz="1800">
                <a:solidFill>
                  <a:srgbClr val="1F2937"/>
                </a:solidFill>
                <a:latin typeface="Calibri"/>
              </a:rPr>
              <a:t>▸  Kindigi kesilib boylangan, tanasi qon izlari va mo‘msimon qoplamadan tozalangan bo‘lsa, bu ham qarovdan dalolat beradi.</a:t>
            </a:r>
          </a:p>
          <a:p>
            <a:pPr>
              <a:spcAft>
                <a:spcPts val="800"/>
              </a:spcAft>
            </a:pPr>
            <a:r>
              <a:rPr sz="1800">
                <a:solidFill>
                  <a:srgbClr val="1F2937"/>
                </a:solidFill>
                <a:latin typeface="Calibri"/>
              </a:rPr>
              <a:t>▸  Ichki tekshiruvda oshqozonda sut yoki unga o‘xshash massaning topilishi ham go‘dakka qarov bo‘lganini ko‘rsatadi.</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Qarov belgilari</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1892808"/>
            <a:ext cx="0" cy="3072384"/>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1892808"/>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Kiyim</a:t>
            </a:r>
          </a:p>
          <a:p>
            <a:pPr algn="l">
              <a:spcAft>
                <a:spcPts val="0"/>
              </a:spcAft>
            </a:pPr>
            <a:r>
              <a:rPr sz="1200" b="0">
                <a:solidFill>
                  <a:srgbClr val="1F2937"/>
                </a:solidFill>
                <a:latin typeface="Calibri"/>
              </a:rPr>
              <a:t>Yo‘rgaklangan, kiyimli</a:t>
            </a:r>
          </a:p>
        </p:txBody>
      </p:sp>
      <p:cxnSp>
        <p:nvCxnSpPr>
          <p:cNvPr id="15" name="Connector 14"/>
          <p:cNvCxnSpPr/>
          <p:nvPr/>
        </p:nvCxnSpPr>
        <p:spPr>
          <a:xfrm>
            <a:off x="7612380" y="291693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441448"/>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441448"/>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Kindik</a:t>
            </a:r>
          </a:p>
          <a:p>
            <a:pPr algn="l">
              <a:spcAft>
                <a:spcPts val="0"/>
              </a:spcAft>
            </a:pPr>
            <a:r>
              <a:rPr sz="1200" b="0">
                <a:solidFill>
                  <a:srgbClr val="1F2937"/>
                </a:solidFill>
                <a:latin typeface="Calibri"/>
              </a:rPr>
              <a:t>Kesilib boylangan</a:t>
            </a:r>
          </a:p>
        </p:txBody>
      </p:sp>
      <p:cxnSp>
        <p:nvCxnSpPr>
          <p:cNvPr id="18" name="Connector 17"/>
          <p:cNvCxnSpPr/>
          <p:nvPr/>
        </p:nvCxnSpPr>
        <p:spPr>
          <a:xfrm>
            <a:off x="7612380" y="394106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3465576"/>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3465576"/>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Tana</a:t>
            </a:r>
          </a:p>
          <a:p>
            <a:pPr algn="l">
              <a:spcAft>
                <a:spcPts val="0"/>
              </a:spcAft>
            </a:pPr>
            <a:r>
              <a:rPr sz="1200" b="0">
                <a:solidFill>
                  <a:srgbClr val="1F2937"/>
                </a:solidFill>
                <a:latin typeface="Calibri"/>
              </a:rPr>
              <a:t>Qon va qoplamadan tozalangan</a:t>
            </a:r>
          </a:p>
        </p:txBody>
      </p:sp>
      <p:cxnSp>
        <p:nvCxnSpPr>
          <p:cNvPr id="21" name="Connector 20"/>
          <p:cNvCxnSpPr/>
          <p:nvPr/>
        </p:nvCxnSpPr>
        <p:spPr>
          <a:xfrm>
            <a:off x="7612380" y="4965192"/>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72400" y="4489704"/>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0" y="4489704"/>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Ichki tekshiruv</a:t>
            </a:r>
          </a:p>
          <a:p>
            <a:pPr algn="l">
              <a:spcAft>
                <a:spcPts val="0"/>
              </a:spcAft>
            </a:pPr>
            <a:r>
              <a:rPr sz="1200" b="0">
                <a:solidFill>
                  <a:srgbClr val="1F2937"/>
                </a:solidFill>
                <a:latin typeface="Calibri"/>
              </a:rPr>
              <a:t>Oshqozonda sut yoki o‘xshash massa</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Qarov bo‘lganligi</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264</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layoqat, davomiylik va qarov</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chaqaloq</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38 / 45</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Savol: Jahon sog‘liqni saqlash tashkiloti (JSST) bo‘yicha qaysi go‘dak hayotga layoqatsiz? Javob: uzunligi 25 sm dan, vazni 500 g dan kam.</a:t>
            </a:r>
          </a:p>
          <a:p>
            <a:pPr>
              <a:spcAft>
                <a:spcPts val="1200"/>
              </a:spcAft>
            </a:pPr>
            <a:r>
              <a:rPr sz="2000">
                <a:solidFill>
                  <a:srgbClr val="1F2937"/>
                </a:solidFill>
                <a:latin typeface="Calibri"/>
              </a:rPr>
              <a:t>▸  Savol: demarkatsion halqa va mekoniyning chiqib ketishi qachon kuzatiladi? Javob: birinchi sutka oxiriga kelib. Tug‘ruq shishi 2-3-kunda so‘riladi.</a:t>
            </a:r>
          </a:p>
          <a:p>
            <a:pPr>
              <a:spcAft>
                <a:spcPts val="1200"/>
              </a:spcAft>
            </a:pPr>
            <a:r>
              <a:rPr sz="2000">
                <a:solidFill>
                  <a:srgbClr val="1F2937"/>
                </a:solidFill>
                <a:latin typeface="Calibri"/>
              </a:rPr>
              <a:t>▸  Savol: gialin membranalari va o‘pkaning ikkilamchi atelektazi uchun go‘dak qancha yashashi kerak?</a:t>
            </a:r>
          </a:p>
          <a:p>
            <a:pPr>
              <a:spcAft>
                <a:spcPts val="1200"/>
              </a:spcAft>
            </a:pPr>
            <a:r>
              <a:rPr sz="2000">
                <a:solidFill>
                  <a:srgbClr val="1F2937"/>
                </a:solidFill>
                <a:latin typeface="Calibri"/>
              </a:rPr>
              <a:t>▸  Javob: gialin uchun kamida 1-2 soat, atelektaz uchun kamida 5-6 soat.</a:t>
            </a:r>
          </a:p>
          <a:p>
            <a:pPr>
              <a:spcAft>
                <a:spcPts val="1200"/>
              </a:spcAft>
            </a:pPr>
            <a:r>
              <a:rPr sz="2000">
                <a:solidFill>
                  <a:srgbClr val="1F2937"/>
                </a:solidFill>
                <a:latin typeface="Calibri"/>
              </a:rPr>
              <a:t>▸  Qarov belgilari: yo‘rgaklanish, kiyim, kindikning kesilib bog‘lanishi, qon va mo‘msimon qoplamadan tozalanish, oshqozonda sut yoki unga o‘xshash massa.</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263, 263-264, 264</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Homila va go‘dak o‘limi sabablari: nozo‘raki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chaqaloq</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39 / 45</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Homila o‘limi antenatal va intranatal, go‘dak o‘limi postnatal davrda sodir bo‘ladi.</a:t>
            </a:r>
          </a:p>
          <a:p>
            <a:pPr>
              <a:spcAft>
                <a:spcPts val="1200"/>
              </a:spcAft>
            </a:pPr>
            <a:r>
              <a:rPr sz="2200">
                <a:solidFill>
                  <a:srgbClr val="1F2937"/>
                </a:solidFill>
                <a:latin typeface="Calibri"/>
              </a:rPr>
              <a:t>▸  Homila ichi asfiksiyada qog‘onoq suvlari aspiratsiyasi va suvda ko‘p mekoniy topiladi.</a:t>
            </a:r>
          </a:p>
          <a:p>
            <a:pPr>
              <a:spcAft>
                <a:spcPts val="1200"/>
              </a:spcAft>
            </a:pPr>
            <a:r>
              <a:rPr sz="2200">
                <a:solidFill>
                  <a:srgbClr val="1F2937"/>
                </a:solidFill>
                <a:latin typeface="Calibri"/>
              </a:rPr>
              <a:t>▸  Tug‘ruq travmasida tashqi jarohat, jumladan yara, hosil bo‘lmaydi; kalla ichi qon quyilishi bo‘ladi.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264, 265</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Zo‘raki o‘lim: aktiv va passiv</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chaqaloq</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40 / 45</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Zo‘raki o‘lim asosan postnatal davrda kuzatiladi. Aktiv o‘ldirishda go‘dakka nisbatan muayyan harakat sodir etiladi.</a:t>
            </a:r>
          </a:p>
          <a:p>
            <a:pPr>
              <a:spcAft>
                <a:spcPts val="1200"/>
              </a:spcAft>
            </a:pPr>
            <a:r>
              <a:rPr sz="2200">
                <a:solidFill>
                  <a:srgbClr val="1F2937"/>
                </a:solidFill>
                <a:latin typeface="Calibri"/>
              </a:rPr>
              <a:t>▸  Aktiv usullar: qo‘l yoki sirtmoq bilan bo‘g‘ish, nafas teshiklarini yopish, cho‘ktirish, ko‘krak-qorinni qisish, jarohat yetkazish, olovga tashlash.</a:t>
            </a:r>
          </a:p>
          <a:p>
            <a:pPr>
              <a:spcAft>
                <a:spcPts val="1200"/>
              </a:spcAft>
            </a:pPr>
            <a:r>
              <a:rPr sz="2200">
                <a:solidFill>
                  <a:srgbClr val="1F2937"/>
                </a:solidFill>
                <a:latin typeface="Calibri"/>
              </a:rPr>
              <a:t>▸  Passiv o‘ldirishda go‘dak qarovsiz qoldiriladi: kindik bog‘lanmasa tashqi qon ketishdan, boshqa hollarda sovuq qotish yoki ochlikdan o‘ladi.</a:t>
            </a:r>
          </a:p>
          <a:p>
            <a:pPr>
              <a:spcAft>
                <a:spcPts val="1200"/>
              </a:spcAft>
            </a:pPr>
            <a:r>
              <a:rPr sz="2200">
                <a:solidFill>
                  <a:srgbClr val="1F2937"/>
                </a:solidFill>
                <a:latin typeface="Calibri"/>
              </a:rPr>
              <a:t>▸  Huquqni muhofaza idoralari uchun aktiv yoki passivni ajratish emas, har bir holatda o‘limning aniq sababini ko‘rsatish muhim.</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265, 266</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Murda ekspertizasining xususiyatlari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chaqaloq</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41 / 45</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Tashqi tekshiruvda murda bilan kelgan ashyolar, yo‘rgak va kiyim ko‘riladi. Tana uzunligi, vazni, bosh, ko‘krak va yelka o‘lchamlari o‘lchanadi.</a:t>
            </a:r>
          </a:p>
          <a:p>
            <a:pPr>
              <a:spcAft>
                <a:spcPts val="1200"/>
              </a:spcAft>
            </a:pPr>
            <a:r>
              <a:rPr sz="2000">
                <a:solidFill>
                  <a:srgbClr val="1F2937"/>
                </a:solidFill>
                <a:latin typeface="Calibri"/>
              </a:rPr>
              <a:t>▸  Qon izlari, mo‘msimon qoplama, tug‘ruq shishi, liqildoqlar, quloq va burun tog‘aylari, tirnoqlar, mekoniy hamda nuqsonlarga e’tibor beriladi.</a:t>
            </a:r>
          </a:p>
          <a:p>
            <a:pPr>
              <a:spcAft>
                <a:spcPts val="1200"/>
              </a:spcAft>
            </a:pPr>
            <a:r>
              <a:rPr sz="2000">
                <a:solidFill>
                  <a:srgbClr val="1F2937"/>
                </a:solidFill>
                <a:latin typeface="Calibri"/>
              </a:rPr>
              <a:t>▸  Yo‘ldosh va kindik ham tekshiriladi. Ichki tekshiruv ko‘krak va qorin bo‘shlig‘idan boshlanadi. Diqqat: o‘rta kesma iyakdan emas, pastki labdan boshlanadi.</a:t>
            </a:r>
          </a:p>
          <a:p>
            <a:pPr>
              <a:spcAft>
                <a:spcPts val="1200"/>
              </a:spcAft>
            </a:pPr>
            <a:r>
              <a:rPr sz="2000">
                <a:solidFill>
                  <a:srgbClr val="1F2937"/>
                </a:solidFill>
                <a:latin typeface="Calibri"/>
              </a:rPr>
              <a:t>▸  Kalla gumbazida darchalar ochiladi, shunda o‘roqsimon o‘simta va miyacha chodiri butun qoladi.</a:t>
            </a:r>
          </a:p>
          <a:p>
            <a:pPr>
              <a:spcAft>
                <a:spcPts val="1200"/>
              </a:spcAft>
            </a:pPr>
            <a:r>
              <a:rPr sz="2000">
                <a:solidFill>
                  <a:srgbClr val="1F2937"/>
                </a:solidFill>
                <a:latin typeface="Calibri"/>
              </a:rPr>
              <a:t>▸  Oxirida gistologik va sud-biologik tekshiruv uchun material olinadi.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266, 266-267</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5-bo‘lim bo‘yicha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chaqaloq</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42 / 45</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A: tashqi jarohat va yara yo‘q; kalla gumbazi suyaklarida siniq, miya pardalarida qon quyilishi. Ona tor tosli, tug‘ruq faoliyati sust.</a:t>
            </a:r>
          </a:p>
          <a:p>
            <a:pPr>
              <a:spcAft>
                <a:spcPts val="1200"/>
              </a:spcAft>
            </a:pPr>
            <a:r>
              <a:rPr sz="2200">
                <a:solidFill>
                  <a:srgbClr val="1F2937"/>
                </a:solidFill>
                <a:latin typeface="Calibri"/>
              </a:rPr>
              <a:t>▸  Vaziyat B: yuz va bo‘yinda shilinma, qontalash, og‘iz burchaklarida yorilish. Ayol tug‘ruqni tezlashtirish uchun o‘ziga qo‘li bilan yordam bergan.</a:t>
            </a:r>
          </a:p>
          <a:p>
            <a:pPr>
              <a:spcAft>
                <a:spcPts val="1200"/>
              </a:spcAft>
            </a:pPr>
            <a:r>
              <a:rPr sz="2200">
                <a:solidFill>
                  <a:srgbClr val="1F2937"/>
                </a:solidFill>
                <a:latin typeface="Calibri"/>
              </a:rPr>
              <a:t>▸  Savol: qaysi vaziyat tug‘ruq travmasiga, qaysi biri tug‘ayotgan ayol qo‘li bilan yetkazilgan jarohatga mos keladi? Javobingizni belgilar bilan asoslang.</a:t>
            </a:r>
          </a:p>
          <a:p>
            <a:pPr>
              <a:spcAft>
                <a:spcPts val="1200"/>
              </a:spcAft>
            </a:pPr>
            <a:r>
              <a:rPr sz="2200">
                <a:solidFill>
                  <a:srgbClr val="1F2937"/>
                </a:solidFill>
                <a:latin typeface="Calibri"/>
              </a:rPr>
              <a:t>▸  Diqqat: tug‘ruq travmasida tashqi jarohat va yara bo‘lmaydi. Shilinma, qontalash, og‘iz burchagi yorilishi ayolning o‘z yordami belgisi bo‘lishi mumkin.</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265</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Xulosa va nazorat savollari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chaqaloq</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43 / 45</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Sud tibbiyotida yangi tug‘ilganlik davri dastlabki 24 soatdir. Bu pediatriya va akusherlik-ginekologiyadagi tushunchadan farq qiladi.</a:t>
            </a:r>
          </a:p>
          <a:p>
            <a:pPr>
              <a:spcAft>
                <a:spcPts val="1200"/>
              </a:spcAft>
            </a:pPr>
            <a:r>
              <a:rPr sz="2200">
                <a:solidFill>
                  <a:srgbClr val="1F2937"/>
                </a:solidFill>
                <a:latin typeface="Calibri"/>
              </a:rPr>
              <a:t>▸  Faqat o‘pkaning birlamchi atelektazi va kindikdagi demarkatsion halqa belgilari mutloq ishonchli. Tirik tug‘ilganlik asosan nafas olganlik bo‘yicha aniqlanadi.</a:t>
            </a:r>
          </a:p>
          <a:p>
            <a:pPr>
              <a:spcAft>
                <a:spcPts val="1200"/>
              </a:spcAft>
            </a:pPr>
            <a:r>
              <a:rPr sz="2200">
                <a:solidFill>
                  <a:srgbClr val="1F2937"/>
                </a:solidFill>
                <a:latin typeface="Calibri"/>
              </a:rPr>
              <a:t>▸  Nazorat 1: ekspertiza oldiga qanday savollar qo‘yiladi? Yangi tug‘ilganlik tushunchasi sud tibbiyotida nimasi bilan farq qiladi? Belgilarini keltiring.</a:t>
            </a:r>
          </a:p>
          <a:p>
            <a:pPr>
              <a:spcAft>
                <a:spcPts val="1200"/>
              </a:spcAft>
            </a:pPr>
            <a:r>
              <a:rPr sz="2200">
                <a:solidFill>
                  <a:srgbClr val="1F2937"/>
                </a:solidFill>
                <a:latin typeface="Calibri"/>
              </a:rPr>
              <a:t>▸  Nazorat 2: qaysi belgilar mutloq? O‘pka sinamasida nafas havosini chirish gazlaridan qanday farqlash mumkin? Ikkilamchi atelektazda sinama qanday o‘tadi?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256, 259, 267</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Qiziqarli ma’lumotlar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chaqaloq</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44 / 45</a:t>
            </a:r>
          </a:p>
        </p:txBody>
      </p:sp>
      <p:sp>
        <p:nvSpPr>
          <p:cNvPr id="8" name="TextBox 7"/>
          <p:cNvSpPr txBox="1"/>
          <p:nvPr/>
        </p:nvSpPr>
        <p:spPr>
          <a:xfrm>
            <a:off x="640080" y="1463040"/>
            <a:ext cx="10911535" cy="4754880"/>
          </a:xfrm>
          <a:prstGeom prst="rect">
            <a:avLst/>
          </a:prstGeom>
          <a:noFill/>
        </p:spPr>
        <p:txBody>
          <a:bodyPr wrap="square">
            <a:spAutoFit/>
          </a:bodyPr>
          <a:lstStyle/>
          <a:p>
            <a:pPr>
              <a:spcAft>
                <a:spcPts val="1200"/>
              </a:spcAft>
            </a:pPr>
            <a:r>
              <a:rPr sz="1800">
                <a:solidFill>
                  <a:srgbClr val="1F2937"/>
                </a:solidFill>
                <a:latin typeface="Calibri"/>
              </a:rPr>
              <a:t>▸  Yangi tug‘ilganlik muddati fanlarda har xil. Pediatriyada u 4 hafta, akusherlikda 7 kun, sud tibbiyotida esa dastlabki 24 soat. Sababi qonunda: onaning tug‘ish paytida go‘dagini o‘ldirishi JK 99-moddada alohida va yengilroq jazolanadi. Eslab qoling: sud tibbiyoti = 24 soat.</a:t>
            </a:r>
          </a:p>
          <a:p>
            <a:pPr>
              <a:spcAft>
                <a:spcPts val="1200"/>
              </a:spcAft>
            </a:pPr>
            <a:r>
              <a:rPr sz="1800">
                <a:solidFill>
                  <a:srgbClr val="1F2937"/>
                </a:solidFill>
                <a:latin typeface="Calibri"/>
              </a:rPr>
              <a:t>▸  Eslab qolish usuli: yangi tug‘ilganlikning mutlaq ishonchli belgilari uchta. Ular o‘pkaning birlamchi atelektazi, kindikda demarkatsion halqaning yo‘qligi yoki dastlabki belgilari, tana va yo‘ldoshdan ajratilmagan kindikdir. Qon izlari, mo‘msimon qoplama va mekoniy nisbiy belgilar bo‘lib, 2-kunda ham topilishi mumkin.</a:t>
            </a:r>
          </a:p>
          <a:p>
            <a:pPr>
              <a:spcAft>
                <a:spcPts val="1200"/>
              </a:spcAft>
            </a:pPr>
            <a:r>
              <a:rPr sz="1800">
                <a:solidFill>
                  <a:srgbClr val="1F2937"/>
                </a:solidFill>
                <a:latin typeface="Calibri"/>
              </a:rPr>
              <a:t>▸  Hodisa tahlili: o‘pka sinamasida chirigan murdada o‘pka suvda suzib chiqsa, bu hali nafas olganini isbotlamaydi. Chirish gazlari soxta musbat natija beradi. Bunday bo‘lakchani suv ostida siqsangiz, u qayta suzib chiqmaydi. Ikkilamchi atelektazda esa soxta manfiy natija chiqishi mumkin.</a:t>
            </a:r>
          </a:p>
          <a:p>
            <a:pPr>
              <a:spcAft>
                <a:spcPts val="1200"/>
              </a:spcAft>
            </a:pPr>
            <a:r>
              <a:rPr sz="1800">
                <a:solidFill>
                  <a:srgbClr val="1F2937"/>
                </a:solidFill>
                <a:latin typeface="Calibri"/>
              </a:rPr>
              <a:t>▸  Gestatsion yoshni hisoblash: Gaaze formulasida birinchi yarim uchun tana uzunligining kvadrat ildizi olinadi, ikkinchi yarimda uzunlik 5 ga bo‘linadi. 16 sm uchun 4 oy, 40 sm uchun 8 oy chiqadi. Baltazar-Derve usulida 40 sm ni 5,6 ga ko‘paytirsangiz, 224 kun, ya’ni 8 oy bo‘ladi.</a:t>
            </a:r>
          </a:p>
          <a:p>
            <a:pPr>
              <a:spcAft>
                <a:spcPts val="1200"/>
              </a:spcAft>
            </a:pPr>
            <a:r>
              <a:rPr sz="1800">
                <a:solidFill>
                  <a:srgbClr val="1F2937"/>
                </a:solidFill>
                <a:latin typeface="Calibri"/>
              </a:rPr>
              <a:t>▸  Go‘dak qancha yashaganini havo yo‘li bilan taxmin qilish mumkin. Havo faqat oshqozonda bo‘lsa, go‘dak 3 soatdan kam yashagan. 5-6 soatda havo ingichka ichakni to‘ldiradi, 6 soatdan keyin yo‘g‘on ichakka o‘tadi. Muddatlar taxminiy, shuning uchun imkon qadar ko‘p belgi hisobga olinadi.</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Adabiyotlar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chaqaloq</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45 / 45</a:t>
            </a:r>
          </a:p>
        </p:txBody>
      </p:sp>
      <p:sp>
        <p:nvSpPr>
          <p:cNvPr id="8" name="TextBox 7"/>
          <p:cNvSpPr txBox="1"/>
          <p:nvPr/>
        </p:nvSpPr>
        <p:spPr>
          <a:xfrm>
            <a:off x="640080" y="1463040"/>
            <a:ext cx="10911535" cy="4754880"/>
          </a:xfrm>
          <a:prstGeom prst="rect">
            <a:avLst/>
          </a:prstGeom>
          <a:noFill/>
        </p:spPr>
        <p:txBody>
          <a:bodyPr wrap="square">
            <a:spAutoFit/>
          </a:bodyPr>
          <a:lstStyle/>
          <a:p>
            <a:pPr>
              <a:spcAft>
                <a:spcPts val="800"/>
              </a:spcAft>
            </a:pPr>
            <a:r>
              <a:rPr sz="2000">
                <a:solidFill>
                  <a:srgbClr val="1F2937"/>
                </a:solidFill>
                <a:latin typeface="Calibri"/>
              </a:rPr>
              <a:t>▸  G‘iyosov Z.A. Sud tibbiyoti: darslik, Toshkent: Global Books nashriyoti. 2018. Bob 10. Homila va yangi tug'ilgan go'daklar murdasi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