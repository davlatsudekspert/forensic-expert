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savoli: tibbiy bilim sudda nima uchun kerak? Doskada to‘rt bo‘lim rejasini chizdiring. Tipik xato: sud tibbiyoti (fan) bilan sud-tibbiy ekspertiza (uning amaliyoti) bir narsa deb aralashtiriladi.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savoli: ekspert xulosasi nima uchun yozma hujjat bo‘lishi kerak? Doskada so‘rov → tadqiqot → xulosa zanjirini chizdiring. Tipik xato: fan va ekspertizani bitta tushuncha deb olish.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to‘rt xususiyatdan biri yetishmasa nima o‘zgaradi? Davolovchi shifokor va ekspertning maqsadi qanday farq qiladi? Doskada M–V–T–H jadvalini chizdiring. Tipik xato: ekspertiza maqsadini davolash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predmet ‘ekspertiza nazariyasi va amaliyoti’ deb ta’riflanadi? Bo‘limlardan qaysi biri sizningcha eng ko‘p uchraydi? Doskada: Avdeev tizimi bo‘yicha predmet bo‘limlarining daraxtsimon sxemasini chizdiring. Tipik xato: sud tibbiyotini faqat murda tekshiruvi deb tushunish, holbuki u tirik shaxslar va ashyoviy dalillarni ham qamraydi.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jinoiy abort holatida qaysi klinik fan bilimi kerak? Davolovchi vrach va ekspert yondashuvi nimasi bilan farq qiladi? Doskada: ikki ustunli jadval — ‘davolovchi vrach’ va ‘ekspert’ maqsadlarini yozing. Tipik xato: ekspert barcha tibbiy ixtisoslarni to‘liq biladi deb o‘ylash; amalda zarur hollarda tegishli mutaxassis jalb etiladi.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Talabalarga savolni yozma ravishda 1 daqiqada javoblash topshiring, so‘ng juftlikda taqqoslang. Doskada: ‘fan → ekspertiza → xulosa’ zanjirini chizing. Tipik xato: ekspertizaning to‘rt xususiyatidan birini (masalan, hujjatlashtirishni) tushirib qoldirish.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Ekspertning mustaqilligi nima uchun shaxsiy mas’uliyatni keltirib chiqaradi? 2) Nega identifikatsiya davrini hisobga olish muhim? Doskada: prinsiplar ro‘yxatini yozib, yoniga «tashabbus ≠ material to‘plash» belgisini chizing. Tipik xato: tashabbus huquqini ekspertga mustaqil material yig‘ish huquqi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Ob’ektning ishonchliligi uchun kim javob beradi? 2) Ish materiallariga qanday hujjatlar kiradi? Doskada: to‘rt ob’ektli sxemani chizing va har biriga bittadan misol yozing. Tipik xato: ob’ektni ekspert o‘zi izlab topadi deb o‘ylash. Jadval misollari G‘iyosov, Harin (bet 12) va Romodanovskiy (sxema 5, bet 7) ma’lumotlariga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usul takroriy tekshiruvga imkon berishi kerak? 2) Maxsus usullarga qanday misol keltira olasiz? Doskada: uch pog‘onali jadvalni chizing. Tipik xato: rentgenologik yoki kimyoviy usulni maxsus deb hisoblash; ular xususiy usullar guruhiga kiradi. Maxsus usul misoli: kalla suyagini fototaqqoslash va jarohat bilan pichoqni qiyosiy o‘rganish (G‘iyosov 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Sud tibbiyoti kimga xizmat qiladi — faqat sudgami? 2) Nega u sog‘liqni saqlash tizimiga kiradi? Doskada: ikki shoxli sxema chizing — «huquqni muhofaza organlariga» va «sog‘liqni saqlashga» ko‘mak. Diqqat: klinik mutaxassis davolash maqsadida, sud-tibbiy ekspert esa huquqiy baholash maqsadida yondashadi (G‘iyosov, 7-bet). Tipik xato: sud tibbiyotini faqat murda ochish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muassasa rahbarini xabardor qilish kerak? 2) Bu sud-tibbiy xizmatning qaysi vazifasiga mos keladi? Doskada: «tashxis mos kelmadi → konferensiya → rahbarga xabar» zanjirini chizing. Tipik xato: talabalar buni jinoiy javobgarlikka tortish deb o‘ylaydi, manbada esa gap muhokama va xabardor qilish haqida. Manbada aniq javobgarlik ko‘rsatilmagan.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Yustinian kodeksida vrach fikri nega guvoh ko‘rsatmasidan ustun qo‘yilgan? 2) Karolina nima uchun tarixiy burilish? Doskada: 5 ta voqeani vaqt o‘qiga joylashtiring. Tipik xato: Si Yuan Lu qismlari sonini adashtirish — G‘iyosov asarni to‘rt qismli, Iskandarov besh kitobli deb beradi (manbalar farqi); sanasi (1247) ikkala manbada bir xil. Antistius va Sezar voqeasi G‘iyosov bo‘yicha 9-betda.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XVI–XVII asrlar fanning alohida fan sifatida shakllanish davri hisoblanadi? 2) «Sud tibbiyoti» nomi qaysi asarda taklif qilingan? Doskada: XVI–XX asrlar bo‘yicha 4–5 ta voqeadan iborat qisqa chiziq chizdiring. Qo‘shimcha: Iskandarov darsligida Rossiyada 1716-yildagi Petr I Harbiy ustavi zo‘raki o‘limdan o‘lgan murdalarni ekspertizadan o‘tkazishni talab qilgani, shundan so‘ng fan rivojlana boshlagani aytilgan (II-bob, 7–8-betlar). Tipik xato: Pirogov atlasining yilini aralashtirish va Bonning asarini Shreerning o‘pka sinamasi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allomalar asarlarini sud-tibbiy ekspertizaning boshlanishi deb bo‘lmaydi? 2) Shariat davrida tibbiy ekspertiza bo‘lmagan bo‘lsa, ma’lumotlar nima uchun yozilgan? Doskada: ikki ustun chizing: «davolash maqsadi» va «sud-tibbiy maqsad», Ibn Sino ma’lumotlarini birinchi ustunga joylang. Tipik xato: Ibn Sinoni sud-tibbiy ekspertiza asoschisi deb atash.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Nima uchun dastlabki izlanishlar kafedralar bilan bog‘liq bo‘lgan? 2) Markovin faoliyatining amaliy xizmat uchun ahamiyati nimada? Doskada: to‘rt kafedra yillarini vaqt chizig‘iga joylashtiring. Tipik xato: kafedralar yillarini (1920, 1935, 1959, 1972) tartibsiz aytish va Markovin davrini 1945-yildagi kabinet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II davrda ekspertiza kafedralarga tayangan? IV davrda qonunchilik qanday vazifalar qo‘ydi? Doskada chizish: to‘rt davrli vaqt chizig‘ini chizib, har davrga bitta kalit so‘z yozing. Tipik xato: III va IV davr chegarasini (1991-yil) va 1945 bilan 1950-yilni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tez-tez so‘rang. Muhokama: 1920, 1945 va 1950-yillar ketma-ketligini talabalar o‘zlari tartiblasin. Doskada chizish: uchta yilni chiziqqa joylashtirish. Tipik xato: kafedra (1920) va kabinet (1945) ni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ekspertiza bosqichma-bosqich tashkil etilgan? Bugungi birlamchi va qayta ekspertizaga qanday o‘xshashlik bor? Doskada chizish: uch pog‘onali instansiya zinasini chizish. Tipik xato: ikkinchi instansiyani yakuniy deb o‘ylash; yakuniy xulosa faqat uchinchi, oliy instansiyada.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ekspert huquqiy atamalarni bilishi shart? 2) JK va JPK farqi nimada? Doskada: to‘rt atamali jadvalni talabalar bilan birga chizing. Tipik xato: JK va JPK ni aralashtirish — biri jazo, ikkinchisi tartib haqida.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Qaror va ajrim qaysi bosqichda chiqariladi? 2) Qaysi holatlarda ekspertiza majburiy? Doskada: 173-modda bo‘yicha majburiy holatlarning ro‘yxatini yozdiring. Tipik xato: ekspertiza faqat jinoyat ishida tayinlanadi deb o‘ylash; manbaga ko‘ra boshqa ishlarda ham tayinlanishi mumkin. Ikki darslik ro‘yxati bir xil emasligini qayd eting.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Eksgumatsiyada nega aralash variant kerak? 2) Tashqarida o‘tkazilganda sharoitga kim javobgar? Doskada: uch variantli sxemani chizing va eksgumatsiya misolini qo‘shing. Tipik xato: sharoit yaratish vazifasini har doim byuro rahbariga yuklash.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mutaxassis hujjat tuzmaydi? 2) Vrach-ekspertning huquqi nima uchun shtatli ekspertnikiga teng? Doskada: ikki ustunli jadvalni talabalar bilan birga chizing. Tipik xato: mutaxassisni ekspert bilan aralashtirish va uning qatnashuvini xulosa berish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Tashabbus huquqi ekspertga qanday imkon beradi? 2) Savollar aniq qo‘yilmagan bo‘lsa ekspert nima qiladi (Iskandarov, 3.3: savollarning aniq qo‘yilishini talab qilish, 28-bet)? Doskada: huquqlarning 4 guruhini (material, savol, xulosa, shikoyat) chizing. Tipik xato: tashabbus huquqini ekspertning istalgan masalaga aralashishi deb tushunish; u faqat o‘z vakolati doirasida amal qiladi.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ekspert mustaqil material yig‘a olmaydi? 2) 238, 239 va 240-moddalar qanday holatlarni qamrab oladi? Doskada: ekspert burchlarini ‘kelish–tekshirish–sir–javobgarlik’ zanjiri ko‘rinishida chizing. Tipik xato: 239-modda (oshkor qilish) va 240-moddani (xulosadan bo‘yin tovlash) aralashtirish. Iskandarov kitobida faqat 238 va 240-moddalar tilga olinadi.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raddiyani ekspertning o‘zi emas, tayinlagan shaxs hal qiladi? 2) Qarindoshlik va xizmat bog‘liqligi xolislikka qanday ta’sir qiladi? Doskada chizish: raddiya bildirish zanjiri (sabab → ariza → tayinlagan shaxs qarori → muddat: 24 soat yoki shu majlis). Tipik xato: talabalar avval mutaxassis bo‘lgan shaxsni keyin ekspert bo‘la olmaydi deb o‘ylaydi, aslida bu raddiya uchun asos emas.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og‘zaki so‘rang, talabalar «huquq» yoki «burch» deb javob bersin. Muhokama: ekspertning tashabbus huquqi uning mustaqilligi bilan qanday bog‘liq? Doskada ikki ustun chizdiring: «haqli» va «haqli emas». Tipik xato: tashabbus huquqini ekspert o‘zi material to‘plashi mumkin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Qo‘shimcha va qayta ekspertiza farqi nimada? 2) Kompleks ekspertizada har bir ekspert nima uchun javob beradi? Doskada chizish: avtohalokat misolida sud-tibbiy va avtotexnik ekspertizadan iborat kompleks sxema. Tipik xato: qo‘shimcha va qayta ekspertizani aralashtirish. Eslatma: Iskandarov darsligi (25-bet) jabrlanuvchi qarindoshlarining yozma noroziligini ham qayta ekspertiza sabablari qatorida keltiradi, G‘iyosov darsligi esa buni asos emas deydi. Bu farqni talabalar bilan muhokama qiling. Qayta, komissiyaviy va kompleks ekspertizalar faqat byuroning qayta, komission ekspertizalar bo‘limida o‘tkazilishi mumkin (G‘iyosov, 21-bet).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holatda qo‘shimcha, qaysi holatda qayta ekspertiza tayinlanadi? 2) Nega qayta ekspertizada dastlabki ekspert ishtirok etmaydi? Doskada: 5 turli ekspertiza nomini ustunga yozib, har biriga bitta tayinlash sababini qo‘shing. Tipik xato: talaba «qo‘shimcha» va «qayta»ni aralashtiradi; komissiyaviy (bir mutaxassislik) va kompleks (turli fan sohalari)ni farqlamaydi. Eslatma: Iskandarov darsligida qayta ekspertiza jabrlanuvchi yaqinlarining yozma shikoyati bilan ham bog‘lanadi, G‘iyosovda esa tomonlarning noroziligi o‘zi yetarli asos emas. Bu farqni izohlab bering.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xulosaning tadqiqot qismi maxsus bilimsiz shaxsga ham tushunarli yozilishi kerak? 2) Xulosa va dalolatnoma farqi nimada? Doskada: uch qismli zanjirni chizib, har qismga 2-3 tarkibiy element yozdiring. Tipik xato: talaba ekspert xulosasini sud uchun majburiy dalil deb o‘ylaydi; xulosa boshqa dalillar qatorida baholanadi. Qo‘shimcha: Iskandarov darsligida xulosa ekspert imzosi va muhr bilan tasdiqlanishi, unga fotosurat, rentgenogramma va sxemalar ilova qilinishi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Dastlabki tergovda va sud tergovida ekspertning ishtiroki qanday farqlanadi? 2) Nima uchun sudda xulosa ovoz chiqarib o‘qib eshittiriladi? Doskada: tergov va sud bosqichlarini ikki qatorli sxema qilib chizdiring. Tipik xato: talaba sudda yangi ekspertiza faqat yangi ekspert bilan o‘tadi deb o‘ylaydi; manbaga ko‘ra sud dastlabki tergovdagi yoki o‘zi tayinlagan boshqa ekspertga, yoxud ularning birgaligiga topshirishi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ekspert uchun xolislik xulosaning ishonchliligini belgilaydi? 2) O‘zbekistondagi ekspert mustaqilligi qaysi jihatlari bilan Rossiyaga o‘xshash? Doskada: jadvalni ko‘chirib, oxirgi qatorga o‘zbek qonunchiligidan misol qo‘shtiring. Tipik xato: professional guvohni (fakt aytadi) ekspert guvoh (fikr aytadi)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Dalolatnoma va xulosa o‘rtasida qanday farq bor? 2) Qaysi hollarda qo‘shimcha, qaysi hollarda qayta ekspertiza tayinlanadi? Doskada: ikki ustunli (xulosa / dalolatnoma) farq jadvalini chizdiring. Tipik xato: qo‘shimcha va qayta ekspertizani aralashtirish, taraflar noroziligini qayta ekspertiza uchun yetarli asos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hududiy byuro ikki tomonlama bo‘ysunadi? 2) Bosh byuro poytaxt aholisiga ham xizmat qiladimi? Doskada: zanjirni chizib, yon tomonga Mudofaa vazirligi xizmatini qo‘shing. Tipik xato: tuman bo‘linmalari to‘g‘ridan-to‘g‘ri Bosh byuroga bo‘ysunadi deb o‘ylash; aslida ularga hududiy byuro rahbarlik qiladi.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nima uchun murda va tirik shaxslar ekspertizasi alohida bo‘limlarda o‘tkaziladi? Qayta va komission ekspertiza nega alohida bo‘limda bajariladi? Doskada: byuro bo‘limlari sxemasini chizdiring (morfologik, ambulatoriya, laboratoriyalar, tashkiliy-metodik). Tipik xato: tashkiliy-metodik bo‘limni ekspertiza o‘tkazuvchi bo‘lim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ma’muriy bo‘ysunish bilan ekspert mustaqilligi o‘rtasida qanday farq bor? Boshliq xulosani o‘zgartirmoqchi bo‘lsa nima qilishi mumkin? Doskada: Bosh byuro – hududiy byuro – bo‘linma zanjirini va ikki xil bo‘ysunishni strelkalar bilan chizdiring. Tipik xato: rahbar tomonidan xulosani bekor qilish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Eslab qolish tayanchi: Bosh byuro → hududiy byuro → tuman/shahar bo‘linmasi; qaror/ajrim → ekspertiza → xulosa. Muhokama: 1) ekspertizaning to‘rt ob’ektini misollar bilan ayting; 2) byuro tuzilishida qaysi bo‘lim qaysi ob’ektga mos? Doskada: ob’ekt → bo‘lim moslik jadvalini talabalar to‘ldirsin. Tipik xato: sud tibbiyoti fanini ekspertizaning o‘zi bilan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Sud tibbiyoti fani, vazifalari va ahamiyati. Sud-tibbiy ekspertiza xizmatining O‘zbekiston Respublikasidagi asosiy vazifalari. O‘zbekistonda sud-tibbiy ekspertizaning tashkillanishi va strukturasi. Sud-tibbiy ekspertizaning protsessual va tashkiliy asoslari.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 maqsad va ma’ruza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Mavzu to‘rt qismdan iborat: fan va uning vazifalari, tarix va O‘zbekiston xizmati, protsessual asoslar, tashkiliy tuzilma.</a:t>
            </a:r>
          </a:p>
          <a:p>
            <a:pPr>
              <a:spcAft>
                <a:spcPts val="1200"/>
              </a:spcAft>
            </a:pPr>
            <a:r>
              <a:rPr sz="2200">
                <a:solidFill>
                  <a:srgbClr val="1F2937"/>
                </a:solidFill>
                <a:latin typeface="Calibri"/>
              </a:rPr>
              <a:t>▸  Sud tibbiyoti tibbiy-biologik masalalarni o‘rganadi. Uning amaliy ko‘rinishi sud-tibbiy ekspertizadir.</a:t>
            </a:r>
          </a:p>
          <a:p>
            <a:pPr>
              <a:spcAft>
                <a:spcPts val="1200"/>
              </a:spcAft>
            </a:pPr>
            <a:r>
              <a:rPr sz="2200">
                <a:solidFill>
                  <a:srgbClr val="1F2937"/>
                </a:solidFill>
                <a:latin typeface="Calibri"/>
              </a:rPr>
              <a:t>▸  Ekspertiza surishtiruv va tergov idoralarining qarori yoki sud ajrimi asosida o‘tkaziladi.</a:t>
            </a:r>
          </a:p>
          <a:p>
            <a:pPr>
              <a:spcAft>
                <a:spcPts val="1200"/>
              </a:spcAft>
            </a:pPr>
            <a:r>
              <a:rPr sz="2200">
                <a:solidFill>
                  <a:srgbClr val="1F2937"/>
                </a:solidFill>
                <a:latin typeface="Calibri"/>
              </a:rPr>
              <a:t>▸  O‘quv natijasi: talaba asosiy tushunchalarni farqlaydi, ekspert huquq-burchlarini sanaydi va byuro tuzilmasini chizadi.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4-23, 4,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 va sud-tibbiy ekspertiza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 — sud, tergov, surishtiruvda paydo bo‘ladigan tibbiy-biologik masalalarni o‘rganuvchi fan.</a:t>
            </a:r>
          </a:p>
          <a:p>
            <a:pPr>
              <a:spcAft>
                <a:spcPts val="800"/>
              </a:spcAft>
            </a:pPr>
            <a:r>
              <a:rPr sz="1800">
                <a:solidFill>
                  <a:srgbClr val="1F2937"/>
                </a:solidFill>
                <a:latin typeface="Calibri"/>
              </a:rPr>
              <a:t>▸  Fan dalil manbai bo‘ladigan tibbiy faktlarni aniqlash va baholash bilimlari majmuasidir.</a:t>
            </a:r>
          </a:p>
          <a:p>
            <a:pPr>
              <a:spcAft>
                <a:spcPts val="800"/>
              </a:spcAft>
            </a:pPr>
            <a:r>
              <a:rPr sz="1800">
                <a:solidFill>
                  <a:srgbClr val="1F2937"/>
                </a:solidFill>
                <a:latin typeface="Calibri"/>
              </a:rPr>
              <a:t>▸  Vrachlar bajaradigan ilmiy-amaliy tekshiruv fanning amaliyotga tatbiqi bo‘lib, xulosa bilan tugaydi.</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So‘rov: qaror yoki ajrim</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Tibbiy bilim bilan tadqiqot</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xulosasi</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zanjiri</a:t>
            </a:r>
          </a:p>
        </p:txBody>
      </p:sp>
      <p:sp>
        <p:nvSpPr>
          <p:cNvPr id="15" name="TextBox 14"/>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 Iskandarov A.I., Qo‘ldoshev D.R., Sud tibbiyoti, betlar: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Ekspertizaning to‘rt xususiyati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mohiyatiga ko‘ra tadqiqot bo‘lib, to‘rt xususiyat birgalikda mavjud bo‘ladi.</a:t>
            </a:r>
          </a:p>
          <a:p>
            <a:pPr>
              <a:spcAft>
                <a:spcPts val="800"/>
              </a:spcAft>
            </a:pPr>
            <a:r>
              <a:rPr sz="1800">
                <a:solidFill>
                  <a:srgbClr val="1F2937"/>
                </a:solidFill>
                <a:latin typeface="Calibri"/>
              </a:rPr>
              <a:t>▸  Sud-tibbiy ekspert tibbiy holatlarga huquqiy baholash maqsadida yondashadi, shifokor esa davolash uchun.</a:t>
            </a:r>
          </a:p>
          <a:p>
            <a:pPr>
              <a:spcAft>
                <a:spcPts val="800"/>
              </a:spcAft>
            </a:pPr>
            <a:r>
              <a:rPr sz="1800">
                <a:solidFill>
                  <a:srgbClr val="1F2937"/>
                </a:solidFill>
                <a:latin typeface="Calibri"/>
              </a:rPr>
              <a:t>▸  Eslab qoling: M–V–T–H — mutaxassis, vazifa, tartib, hujjat.</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66807"/>
                <a:gridCol w="3721167"/>
              </a:tblGrid>
              <a:tr h="411480">
                <a:tc>
                  <a:txBody>
                    <a:bodyPr/>
                    <a:lstStyle/>
                    <a:p>
                      <a:r>
                        <a:rPr sz="1400" b="1">
                          <a:solidFill>
                            <a:srgbClr val="FFFFFF"/>
                          </a:solidFill>
                        </a:rPr>
                        <a:t>Xususiyat</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a. Ijrochi</a:t>
                      </a:r>
                    </a:p>
                  </a:txBody>
                  <a:tcPr marL="73152" marR="73152" marT="36576" marB="36576">
                    <a:solidFill>
                      <a:srgbClr val="E8EEF6"/>
                    </a:solidFill>
                  </a:tcPr>
                </a:tc>
                <a:tc>
                  <a:txBody>
                    <a:bodyPr/>
                    <a:lstStyle/>
                    <a:p>
                      <a:r>
                        <a:rPr sz="1300" b="0">
                          <a:solidFill>
                            <a:srgbClr val="1F2937"/>
                          </a:solidFill>
                        </a:rPr>
                        <a:t>Mutaxassis, o‘z sohasi bilimi bilan</a:t>
                      </a:r>
                    </a:p>
                  </a:txBody>
                  <a:tcPr marL="73152" marR="73152" marT="36576" marB="36576">
                    <a:solidFill>
                      <a:srgbClr val="E8EEF6"/>
                    </a:solidFill>
                  </a:tcPr>
                </a:tc>
              </a:tr>
              <a:tr h="411480">
                <a:tc>
                  <a:txBody>
                    <a:bodyPr/>
                    <a:lstStyle/>
                    <a:p>
                      <a:r>
                        <a:rPr sz="1300" b="0">
                          <a:solidFill>
                            <a:srgbClr val="1F2937"/>
                          </a:solidFill>
                        </a:rPr>
                        <a:t>b. Vazifa</a:t>
                      </a:r>
                    </a:p>
                  </a:txBody>
                  <a:tcPr marL="73152" marR="73152" marT="36576" marB="36576">
                    <a:solidFill>
                      <a:srgbClr val="FFFFFF"/>
                    </a:solidFill>
                  </a:tcPr>
                </a:tc>
                <a:tc>
                  <a:txBody>
                    <a:bodyPr/>
                    <a:lstStyle/>
                    <a:p>
                      <a:r>
                        <a:rPr sz="1300" b="0">
                          <a:solidFill>
                            <a:srgbClr val="1F2937"/>
                          </a:solidFill>
                        </a:rPr>
                        <a:t>Konkret vazifa, odatda baholash</a:t>
                      </a:r>
                    </a:p>
                  </a:txBody>
                  <a:tcPr marL="73152" marR="73152" marT="36576" marB="36576">
                    <a:solidFill>
                      <a:srgbClr val="FFFFFF"/>
                    </a:solidFill>
                  </a:tcPr>
                </a:tc>
              </a:tr>
              <a:tr h="411480">
                <a:tc>
                  <a:txBody>
                    <a:bodyPr/>
                    <a:lstStyle/>
                    <a:p>
                      <a:r>
                        <a:rPr sz="1300" b="0">
                          <a:solidFill>
                            <a:srgbClr val="1F2937"/>
                          </a:solidFill>
                        </a:rPr>
                        <a:t>v. Tartib</a:t>
                      </a:r>
                    </a:p>
                  </a:txBody>
                  <a:tcPr marL="73152" marR="73152" marT="36576" marB="36576">
                    <a:solidFill>
                      <a:srgbClr val="E8EEF6"/>
                    </a:solidFill>
                  </a:tcPr>
                </a:tc>
                <a:tc>
                  <a:txBody>
                    <a:bodyPr/>
                    <a:lstStyle/>
                    <a:p>
                      <a:r>
                        <a:rPr sz="1300" b="0">
                          <a:solidFill>
                            <a:srgbClr val="1F2937"/>
                          </a:solidFill>
                        </a:rPr>
                        <a:t>Qat’iy belgilangan bo‘lishi lozim</a:t>
                      </a:r>
                    </a:p>
                  </a:txBody>
                  <a:tcPr marL="73152" marR="73152" marT="36576" marB="36576">
                    <a:solidFill>
                      <a:srgbClr val="E8EEF6"/>
                    </a:solidFill>
                  </a:tcPr>
                </a:tc>
              </a:tr>
              <a:tr h="411480">
                <a:tc>
                  <a:txBody>
                    <a:bodyPr/>
                    <a:lstStyle/>
                    <a:p>
                      <a:r>
                        <a:rPr sz="1300" b="0">
                          <a:solidFill>
                            <a:srgbClr val="1F2937"/>
                          </a:solidFill>
                        </a:rPr>
                        <a:t>g. Hujjat</a:t>
                      </a:r>
                    </a:p>
                  </a:txBody>
                  <a:tcPr marL="73152" marR="73152" marT="36576" marB="36576">
                    <a:solidFill>
                      <a:srgbClr val="FFFFFF"/>
                    </a:solidFill>
                  </a:tcPr>
                </a:tc>
                <a:tc>
                  <a:txBody>
                    <a:bodyPr/>
                    <a:lstStyle/>
                    <a:p>
                      <a:r>
                        <a:rPr sz="1300" b="0">
                          <a:solidFill>
                            <a:srgbClr val="1F2937"/>
                          </a:solidFill>
                        </a:rPr>
                        <a:t>Natija hujjat bilan rasmiylashtiriladi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xususiyatlari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predmeti va tarkibiy qismlari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Predmeti — ekspertiza nazariyasi va amaliyoti, ya’ni maxsus bilimni sud-tergov maqsadida qo‘llash.</a:t>
            </a:r>
          </a:p>
          <a:p>
            <a:pPr>
              <a:spcAft>
                <a:spcPts val="800"/>
              </a:spcAft>
            </a:pPr>
            <a:r>
              <a:rPr sz="1800">
                <a:solidFill>
                  <a:srgbClr val="1F2937"/>
                </a:solidFill>
                <a:latin typeface="Calibri"/>
              </a:rPr>
              <a:t>▸  Predmet tizimini ilk bor 1948-yilda M.I.Avdeev taklif qilgan.</a:t>
            </a:r>
          </a:p>
          <a:p>
            <a:pPr>
              <a:spcAft>
                <a:spcPts val="800"/>
              </a:spcAft>
            </a:pPr>
            <a:r>
              <a:rPr sz="1800">
                <a:solidFill>
                  <a:srgbClr val="1F2937"/>
                </a:solidFill>
                <a:latin typeface="Calibri"/>
              </a:rPr>
              <a:t>▸  2002-yilda kasb huquqbuzarliklari bo‘limi alohida Vrach faoliyatining huquqiy asoslari fani bo‘ldi.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83141"/>
                <a:gridCol w="3204833"/>
              </a:tblGrid>
              <a:tr h="411480">
                <a:tc>
                  <a:txBody>
                    <a:bodyPr/>
                    <a:lstStyle/>
                    <a:p>
                      <a:r>
                        <a:rPr sz="1400" b="1">
                          <a:solidFill>
                            <a:srgbClr val="FFFFFF"/>
                          </a:solidFill>
                        </a:rPr>
                        <a:t>Bo‘lim</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Tanatologiya</a:t>
                      </a:r>
                    </a:p>
                  </a:txBody>
                  <a:tcPr marL="73152" marR="73152" marT="36576" marB="36576">
                    <a:solidFill>
                      <a:srgbClr val="E8EEF6"/>
                    </a:solidFill>
                  </a:tcPr>
                </a:tc>
                <a:tc>
                  <a:txBody>
                    <a:bodyPr/>
                    <a:lstStyle/>
                    <a:p>
                      <a:r>
                        <a:rPr sz="1300" b="0">
                          <a:solidFill>
                            <a:srgbClr val="1F2937"/>
                          </a:solidFill>
                        </a:rPr>
                        <a:t>O‘lim va murda o‘zgarishlari ta’limoti</a:t>
                      </a:r>
                    </a:p>
                  </a:txBody>
                  <a:tcPr marL="73152" marR="73152" marT="36576" marB="36576">
                    <a:solidFill>
                      <a:srgbClr val="E8EEF6"/>
                    </a:solidFill>
                  </a:tcPr>
                </a:tc>
              </a:tr>
              <a:tr h="411480">
                <a:tc>
                  <a:txBody>
                    <a:bodyPr/>
                    <a:lstStyle/>
                    <a:p>
                      <a:r>
                        <a:rPr sz="1300" b="0">
                          <a:solidFill>
                            <a:srgbClr val="1F2937"/>
                          </a:solidFill>
                        </a:rPr>
                        <a:t>Travmatologiya</a:t>
                      </a:r>
                    </a:p>
                  </a:txBody>
                  <a:tcPr marL="73152" marR="73152" marT="36576" marB="36576">
                    <a:solidFill>
                      <a:srgbClr val="FFFFFF"/>
                    </a:solidFill>
                  </a:tcPr>
                </a:tc>
                <a:tc>
                  <a:txBody>
                    <a:bodyPr/>
                    <a:lstStyle/>
                    <a:p>
                      <a:r>
                        <a:rPr sz="1300" b="0">
                          <a:solidFill>
                            <a:srgbClr val="1F2937"/>
                          </a:solidFill>
                        </a:rPr>
                        <a:t>Jarohatlar, ularning mexanizmi va sharoiti</a:t>
                      </a:r>
                    </a:p>
                  </a:txBody>
                  <a:tcPr marL="73152" marR="73152" marT="36576" marB="36576">
                    <a:solidFill>
                      <a:srgbClr val="FFFFFF"/>
                    </a:solidFill>
                  </a:tcPr>
                </a:tc>
              </a:tr>
              <a:tr h="411480">
                <a:tc>
                  <a:txBody>
                    <a:bodyPr/>
                    <a:lstStyle/>
                    <a:p>
                      <a:r>
                        <a:rPr sz="1300" b="0">
                          <a:solidFill>
                            <a:srgbClr val="1F2937"/>
                          </a:solidFill>
                        </a:rPr>
                        <a:t>Toksikologiya</a:t>
                      </a:r>
                    </a:p>
                  </a:txBody>
                  <a:tcPr marL="73152" marR="73152" marT="36576" marB="36576">
                    <a:solidFill>
                      <a:srgbClr val="E8EEF6"/>
                    </a:solidFill>
                  </a:tcPr>
                </a:tc>
                <a:tc>
                  <a:txBody>
                    <a:bodyPr/>
                    <a:lstStyle/>
                    <a:p>
                      <a:r>
                        <a:rPr sz="1300" b="0">
                          <a:solidFill>
                            <a:srgbClr val="1F2937"/>
                          </a:solidFill>
                        </a:rPr>
                        <a:t>Zaharlar va zaharlanish tashxisi</a:t>
                      </a:r>
                    </a:p>
                  </a:txBody>
                  <a:tcPr marL="73152" marR="73152" marT="36576" marB="36576">
                    <a:solidFill>
                      <a:srgbClr val="E8EEF6"/>
                    </a:solidFill>
                  </a:tcPr>
                </a:tc>
              </a:tr>
              <a:tr h="411480">
                <a:tc>
                  <a:txBody>
                    <a:bodyPr/>
                    <a:lstStyle/>
                    <a:p>
                      <a:r>
                        <a:rPr sz="1300" b="0">
                          <a:solidFill>
                            <a:srgbClr val="1F2937"/>
                          </a:solidFill>
                        </a:rPr>
                        <a:t>Akusherlik va ginekologiya</a:t>
                      </a:r>
                    </a:p>
                  </a:txBody>
                  <a:tcPr marL="73152" marR="73152" marT="36576" marB="36576">
                    <a:solidFill>
                      <a:srgbClr val="FFFFFF"/>
                    </a:solidFill>
                  </a:tcPr>
                </a:tc>
                <a:tc>
                  <a:txBody>
                    <a:bodyPr/>
                    <a:lstStyle/>
                    <a:p>
                      <a:r>
                        <a:rPr sz="1300" b="0">
                          <a:solidFill>
                            <a:srgbClr val="1F2937"/>
                          </a:solidFill>
                        </a:rPr>
                        <a:t>Bahsli jinsiy holatlar va jinsiy jinoyatlar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bo‘limlar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Харин Г.М. (Kharin G.M.)., Краткий курс судебной медицины: учебное пособие, betlar: 9; G‘iyosov Z.A., Sud tibbiyoti: darslik, betlar: 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boshqa fanlar bilan aloqasi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 fundamental emas, amaliy fan; tibbiy, yuridik, tabiiy va falsafa fanlari bilan bog‘liq.</a:t>
            </a:r>
          </a:p>
          <a:p>
            <a:pPr>
              <a:spcAft>
                <a:spcPts val="800"/>
              </a:spcAft>
            </a:pPr>
            <a:r>
              <a:rPr sz="1800">
                <a:solidFill>
                  <a:srgbClr val="1F2937"/>
                </a:solidFill>
                <a:latin typeface="Calibri"/>
              </a:rPr>
              <a:t>▸  Davolovchi vrach davolash maqsadida, ekspert esa holatlarni huquqiy baholash maqsadida yondashadi.</a:t>
            </a:r>
          </a:p>
          <a:p>
            <a:pPr>
              <a:spcAft>
                <a:spcPts val="800"/>
              </a:spcAft>
            </a:pPr>
            <a:r>
              <a:rPr sz="1800">
                <a:solidFill>
                  <a:srgbClr val="1F2937"/>
                </a:solidFill>
                <a:latin typeface="Calibri"/>
              </a:rPr>
              <a:t>▸  Patologik anatomiya, travmatologiya, toksikologiya, akusherlik-ginekologiya ekspertizaga ko‘maklashadi.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Fanlar</a:t>
                      </a:r>
                    </a:p>
                  </a:txBody>
                  <a:tcPr marL="73152" marR="73152" marT="36576" marB="36576">
                    <a:solidFill>
                      <a:srgbClr val="0B1F3A"/>
                    </a:solidFill>
                  </a:tcPr>
                </a:tc>
              </a:tr>
              <a:tr h="411480">
                <a:tc>
                  <a:txBody>
                    <a:bodyPr/>
                    <a:lstStyle/>
                    <a:p>
                      <a:r>
                        <a:rPr sz="1300" b="0">
                          <a:solidFill>
                            <a:srgbClr val="1F2937"/>
                          </a:solidFill>
                        </a:rPr>
                        <a:t>Tibbiy</a:t>
                      </a:r>
                    </a:p>
                  </a:txBody>
                  <a:tcPr marL="73152" marR="73152" marT="36576" marB="36576">
                    <a:solidFill>
                      <a:srgbClr val="E8EEF6"/>
                    </a:solidFill>
                  </a:tcPr>
                </a:tc>
                <a:tc>
                  <a:txBody>
                    <a:bodyPr/>
                    <a:lstStyle/>
                    <a:p>
                      <a:r>
                        <a:rPr sz="1300" b="0">
                          <a:solidFill>
                            <a:srgbClr val="1F2937"/>
                          </a:solidFill>
                        </a:rPr>
                        <a:t>Anatomiya, fiziologiya, klinik fanlar</a:t>
                      </a:r>
                    </a:p>
                  </a:txBody>
                  <a:tcPr marL="73152" marR="73152" marT="36576" marB="36576">
                    <a:solidFill>
                      <a:srgbClr val="E8EEF6"/>
                    </a:solidFill>
                  </a:tcPr>
                </a:tc>
              </a:tr>
              <a:tr h="411480">
                <a:tc>
                  <a:txBody>
                    <a:bodyPr/>
                    <a:lstStyle/>
                    <a:p>
                      <a:r>
                        <a:rPr sz="1300" b="0">
                          <a:solidFill>
                            <a:srgbClr val="1F2937"/>
                          </a:solidFill>
                        </a:rPr>
                        <a:t>Yuridik</a:t>
                      </a:r>
                    </a:p>
                  </a:txBody>
                  <a:tcPr marL="73152" marR="73152" marT="36576" marB="36576">
                    <a:solidFill>
                      <a:srgbClr val="FFFFFF"/>
                    </a:solidFill>
                  </a:tcPr>
                </a:tc>
                <a:tc>
                  <a:txBody>
                    <a:bodyPr/>
                    <a:lstStyle/>
                    <a:p>
                      <a:r>
                        <a:rPr sz="1300" b="0">
                          <a:solidFill>
                            <a:srgbClr val="1F2937"/>
                          </a:solidFill>
                        </a:rPr>
                        <a:t>Jinoyat va fuqarolik huquqi, kriminalistika</a:t>
                      </a:r>
                    </a:p>
                  </a:txBody>
                  <a:tcPr marL="73152" marR="73152" marT="36576" marB="36576">
                    <a:solidFill>
                      <a:srgbClr val="FFFFFF"/>
                    </a:solidFill>
                  </a:tcPr>
                </a:tc>
              </a:tr>
              <a:tr h="411480">
                <a:tc>
                  <a:txBody>
                    <a:bodyPr/>
                    <a:lstStyle/>
                    <a:p>
                      <a:r>
                        <a:rPr sz="1300" b="0">
                          <a:solidFill>
                            <a:srgbClr val="1F2937"/>
                          </a:solidFill>
                        </a:rPr>
                        <a:t>Tabiiy</a:t>
                      </a:r>
                    </a:p>
                  </a:txBody>
                  <a:tcPr marL="73152" marR="73152" marT="36576" marB="36576">
                    <a:solidFill>
                      <a:srgbClr val="E8EEF6"/>
                    </a:solidFill>
                  </a:tcPr>
                </a:tc>
                <a:tc>
                  <a:txBody>
                    <a:bodyPr/>
                    <a:lstStyle/>
                    <a:p>
                      <a:r>
                        <a:rPr sz="1300" b="0">
                          <a:solidFill>
                            <a:srgbClr val="1F2937"/>
                          </a:solidFill>
                        </a:rPr>
                        <a:t>Kimyo, fizika, biologiya, matematika</a:t>
                      </a:r>
                    </a:p>
                  </a:txBody>
                  <a:tcPr marL="73152" marR="73152" marT="36576" marB="36576">
                    <a:solidFill>
                      <a:srgbClr val="E8EEF6"/>
                    </a:solidFill>
                  </a:tcPr>
                </a:tc>
              </a:tr>
              <a:tr h="411480">
                <a:tc>
                  <a:txBody>
                    <a:bodyPr/>
                    <a:lstStyle/>
                    <a:p>
                      <a:r>
                        <a:rPr sz="1300" b="0">
                          <a:solidFill>
                            <a:srgbClr val="1F2937"/>
                          </a:solidFill>
                        </a:rPr>
                        <a:t>Falsafa</a:t>
                      </a:r>
                    </a:p>
                  </a:txBody>
                  <a:tcPr marL="73152" marR="73152" marT="36576" marB="36576">
                    <a:solidFill>
                      <a:srgbClr val="FFFFFF"/>
                    </a:solidFill>
                  </a:tcPr>
                </a:tc>
                <a:tc>
                  <a:txBody>
                    <a:bodyPr/>
                    <a:lstStyle/>
                    <a:p>
                      <a:r>
                        <a:rPr sz="1300" b="0">
                          <a:solidFill>
                            <a:srgbClr val="1F2937"/>
                          </a:solidFill>
                        </a:rPr>
                        <a:t>Dialektika va mantiq qonunlari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Fan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5-6,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fan va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sud tibbiyoti fani va sud-tibbiy ekspertiza bir narsami? Javob: fan — bilimlar majmui, ekspertiza esa shu bilimning amaliy qo‘llanilishi.</a:t>
            </a:r>
          </a:p>
          <a:p>
            <a:pPr>
              <a:spcAft>
                <a:spcPts val="1200"/>
              </a:spcAft>
            </a:pPr>
            <a:r>
              <a:rPr sz="2200">
                <a:solidFill>
                  <a:srgbClr val="1F2937"/>
                </a:solidFill>
                <a:latin typeface="Calibri"/>
              </a:rPr>
              <a:t>▸  Ekspertiza xususiyatlari: mutaxassis o‘tkazadi; aniq vazifa bo‘yicha; tartibi qat’iy belgilangan; natija hujjat bilan rasmiylashadi.</a:t>
            </a:r>
          </a:p>
          <a:p>
            <a:pPr>
              <a:spcAft>
                <a:spcPts val="1200"/>
              </a:spcAft>
            </a:pPr>
            <a:r>
              <a:rPr sz="2200">
                <a:solidFill>
                  <a:srgbClr val="1F2937"/>
                </a:solidFill>
                <a:latin typeface="Calibri"/>
              </a:rPr>
              <a:t>▸  Diqqat: xato qilish xavfi — fan ≠ ekspertiza. Fan bilim tizimi, ekspertiza esa ekspert xulosasi bilan yakunlanuvchi tadqiqot.</a:t>
            </a:r>
          </a:p>
          <a:p>
            <a:pPr>
              <a:spcAft>
                <a:spcPts val="1200"/>
              </a:spcAft>
            </a:pPr>
            <a:r>
              <a:rPr sz="2200">
                <a:solidFill>
                  <a:srgbClr val="1F2937"/>
                </a:solidFill>
                <a:latin typeface="Calibri"/>
              </a:rPr>
              <a:t>▸  Muhokama: ekspert xulosasi tuzilmasa, o‘tkazilgan tadqiqotni ekspertiza deb atash mumkinmi? Ta’rifga tayanib javob bering.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ekspertiza prinsiplari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Sud ekspertizasi to‘g‘risidagi Qonunda qonuniylik, inson huquq va erkinliklariga rioya, ekspert mustaqilligi, xolislik, har tomonlamalik va to‘liqlik asosiy prinsiplar deb e’tirof etilgan.</a:t>
            </a:r>
          </a:p>
          <a:p>
            <a:pPr>
              <a:spcAft>
                <a:spcPts val="1200"/>
              </a:spcAft>
            </a:pPr>
            <a:r>
              <a:rPr sz="2000">
                <a:solidFill>
                  <a:srgbClr val="1F2937"/>
                </a:solidFill>
                <a:latin typeface="Calibri"/>
              </a:rPr>
              <a:t>▸  Ekspert faqat o‘z vakolati doirasida ishlaydi. Mustaqilligi tekshiruv va xulosa uchun shaxsiy mas’uliyatni keltirib chiqaradi; tekshiruv ilmiy asoslangan bo‘ladi.</a:t>
            </a:r>
          </a:p>
          <a:p>
            <a:pPr>
              <a:spcAft>
                <a:spcPts val="1200"/>
              </a:spcAft>
            </a:pPr>
            <a:r>
              <a:rPr sz="2000">
                <a:solidFill>
                  <a:srgbClr val="1F2937"/>
                </a:solidFill>
                <a:latin typeface="Calibri"/>
              </a:rPr>
              <a:t>▸  Tashabbus huquqi: ekspert ish uchun ahamiyatli boshqa masalalar bo‘yicha ham fikr bildiradi. Diqqat: bu mustaqil material to‘plash degani emas.</a:t>
            </a:r>
          </a:p>
          <a:p>
            <a:pPr>
              <a:spcAft>
                <a:spcPts val="1200"/>
              </a:spcAft>
            </a:pPr>
            <a:r>
              <a:rPr sz="2000">
                <a:solidFill>
                  <a:srgbClr val="1F2937"/>
                </a:solidFill>
                <a:latin typeface="Calibri"/>
              </a:rPr>
              <a:t>▸  Ob’ekt faqat ma’lum davrda dalil manbai bo‘ladi: aksariyat shilinma va qontalashlar dastlabki 10-15 kungacha tekshirilgani ma’qul.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1.4-bo‘lim (1-bob), 1.4 va 1.9-bo‘limlar (1-bob)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ob’ektlari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Ob’ektlarni ekspertiza tayinlagan shaxs taqdim etadi va ularning ishonchliligiga javob beradi.</a:t>
            </a:r>
          </a:p>
          <a:p>
            <a:pPr>
              <a:spcAft>
                <a:spcPts val="800"/>
              </a:spcAft>
            </a:pPr>
            <a:r>
              <a:rPr sz="1800">
                <a:solidFill>
                  <a:srgbClr val="1F2937"/>
                </a:solidFill>
                <a:latin typeface="Calibri"/>
              </a:rPr>
              <a:t>▸  Ob’ektlar to‘rtta: murda, tirik shaxslar, ashyoviy dalillar, ish materiallari.</a:t>
            </a:r>
          </a:p>
          <a:p>
            <a:pPr>
              <a:spcAft>
                <a:spcPts val="800"/>
              </a:spcAft>
            </a:pPr>
            <a:r>
              <a:rPr sz="1800">
                <a:solidFill>
                  <a:srgbClr val="1F2937"/>
                </a:solidFill>
                <a:latin typeface="Calibri"/>
              </a:rPr>
              <a:t>▸  Diqqat: ekspert ob’ektni o‘zi to‘plamaydi, uni ekspertizani tayinlagan taqdim etadi.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34603"/>
                <a:gridCol w="3453371"/>
              </a:tblGrid>
              <a:tr h="411480">
                <a:tc>
                  <a:txBody>
                    <a:bodyPr/>
                    <a:lstStyle/>
                    <a:p>
                      <a:r>
                        <a:rPr sz="1400" b="1">
                          <a:solidFill>
                            <a:srgbClr val="FFFFFF"/>
                          </a:solidFill>
                        </a:rPr>
                        <a:t>Ob’ekt</a:t>
                      </a:r>
                    </a:p>
                  </a:txBody>
                  <a:tcPr marL="73152" marR="73152" marT="36576" marB="36576">
                    <a:solidFill>
                      <a:srgbClr val="0B1F3A"/>
                    </a:solidFill>
                  </a:tcPr>
                </a:tc>
                <a:tc>
                  <a:txBody>
                    <a:bodyPr/>
                    <a:lstStyle/>
                    <a:p>
                      <a:r>
                        <a:rPr sz="1400" b="1">
                          <a:solidFill>
                            <a:srgbClr val="FFFFFF"/>
                          </a:solidFill>
                        </a:rPr>
                        <a:t>Misol</a:t>
                      </a:r>
                    </a:p>
                  </a:txBody>
                  <a:tcPr marL="73152" marR="73152" marT="36576" marB="36576">
                    <a:solidFill>
                      <a:srgbClr val="0B1F3A"/>
                    </a:solidFill>
                  </a:tcPr>
                </a:tc>
              </a:tr>
              <a:tr h="411480">
                <a:tc>
                  <a:txBody>
                    <a:bodyPr/>
                    <a:lstStyle/>
                    <a:p>
                      <a:r>
                        <a:rPr sz="1300" b="0">
                          <a:solidFill>
                            <a:srgbClr val="1F2937"/>
                          </a:solidFill>
                        </a:rPr>
                        <a:t>Murda</a:t>
                      </a:r>
                    </a:p>
                  </a:txBody>
                  <a:tcPr marL="73152" marR="73152" marT="36576" marB="36576">
                    <a:solidFill>
                      <a:srgbClr val="E8EEF6"/>
                    </a:solidFill>
                  </a:tcPr>
                </a:tc>
                <a:tc>
                  <a:txBody>
                    <a:bodyPr/>
                    <a:lstStyle/>
                    <a:p>
                      <a:r>
                        <a:rPr sz="1300" b="0">
                          <a:solidFill>
                            <a:srgbClr val="1F2937"/>
                          </a:solidFill>
                        </a:rPr>
                        <a:t>Murda va uning kiyimlari</a:t>
                      </a:r>
                    </a:p>
                  </a:txBody>
                  <a:tcPr marL="73152" marR="73152" marT="36576" marB="36576">
                    <a:solidFill>
                      <a:srgbClr val="E8EEF6"/>
                    </a:solidFill>
                  </a:tcPr>
                </a:tc>
              </a:tr>
              <a:tr h="411480">
                <a:tc>
                  <a:txBody>
                    <a:bodyPr/>
                    <a:lstStyle/>
                    <a:p>
                      <a:r>
                        <a:rPr sz="1300" b="0">
                          <a:solidFill>
                            <a:srgbClr val="1F2937"/>
                          </a:solidFill>
                        </a:rPr>
                        <a:t>Tirik shaxslar</a:t>
                      </a:r>
                    </a:p>
                  </a:txBody>
                  <a:tcPr marL="73152" marR="73152" marT="36576" marB="36576">
                    <a:solidFill>
                      <a:srgbClr val="FFFFFF"/>
                    </a:solidFill>
                  </a:tcPr>
                </a:tc>
                <a:tc>
                  <a:txBody>
                    <a:bodyPr/>
                    <a:lstStyle/>
                    <a:p>
                      <a:r>
                        <a:rPr sz="1300" b="0">
                          <a:solidFill>
                            <a:srgbClr val="1F2937"/>
                          </a:solidFill>
                        </a:rPr>
                        <a:t>Jabrlanuvchi, ayblanuvchi</a:t>
                      </a:r>
                    </a:p>
                  </a:txBody>
                  <a:tcPr marL="73152" marR="73152" marT="36576" marB="36576">
                    <a:solidFill>
                      <a:srgbClr val="FFFFFF"/>
                    </a:solidFill>
                  </a:tcPr>
                </a:tc>
              </a:tr>
              <a:tr h="411480">
                <a:tc>
                  <a:txBody>
                    <a:bodyPr/>
                    <a:lstStyle/>
                    <a:p>
                      <a:r>
                        <a:rPr sz="1300" b="0">
                          <a:solidFill>
                            <a:srgbClr val="1F2937"/>
                          </a:solidFill>
                        </a:rPr>
                        <a:t>Ashyoviy dalillar</a:t>
                      </a:r>
                    </a:p>
                  </a:txBody>
                  <a:tcPr marL="73152" marR="73152" marT="36576" marB="36576">
                    <a:solidFill>
                      <a:srgbClr val="E8EEF6"/>
                    </a:solidFill>
                  </a:tcPr>
                </a:tc>
                <a:tc>
                  <a:txBody>
                    <a:bodyPr/>
                    <a:lstStyle/>
                    <a:p>
                      <a:r>
                        <a:rPr sz="1300" b="0">
                          <a:solidFill>
                            <a:srgbClr val="1F2937"/>
                          </a:solidFill>
                        </a:rPr>
                        <a:t>Qon, soch, ajratmalar va dog‘lar</a:t>
                      </a:r>
                    </a:p>
                  </a:txBody>
                  <a:tcPr marL="73152" marR="73152" marT="36576" marB="36576">
                    <a:solidFill>
                      <a:srgbClr val="E8EEF6"/>
                    </a:solidFill>
                  </a:tcPr>
                </a:tc>
              </a:tr>
              <a:tr h="411480">
                <a:tc>
                  <a:txBody>
                    <a:bodyPr/>
                    <a:lstStyle/>
                    <a:p>
                      <a:r>
                        <a:rPr sz="1300" b="0">
                          <a:solidFill>
                            <a:srgbClr val="1F2937"/>
                          </a:solidFill>
                        </a:rPr>
                        <a:t>Ish materiallari</a:t>
                      </a:r>
                    </a:p>
                  </a:txBody>
                  <a:tcPr marL="73152" marR="73152" marT="36576" marB="36576">
                    <a:solidFill>
                      <a:srgbClr val="FFFFFF"/>
                    </a:solidFill>
                  </a:tcPr>
                </a:tc>
                <a:tc>
                  <a:txBody>
                    <a:bodyPr/>
                    <a:lstStyle/>
                    <a:p>
                      <a:r>
                        <a:rPr sz="1300" b="0">
                          <a:solidFill>
                            <a:srgbClr val="1F2937"/>
                          </a:solidFill>
                        </a:rPr>
                        <a:t>Tibbiy kartalar, bayonnomalar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ob’ekt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1.5-bo‘lim (1-bob), 1.9-bo‘lim (1-bob); Iskandarov A.I., Qo‘ldoshev D.R., Sud tibbiyoti, betlar: bet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Tekshiruv usullari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Usul ilmiy asoslangan, oddiy, barqaror natijali va takroriy tekshiruvga imkon beruvchi bo‘lishi lozim.</a:t>
            </a:r>
          </a:p>
          <a:p>
            <a:pPr>
              <a:spcAft>
                <a:spcPts val="800"/>
              </a:spcAft>
            </a:pPr>
            <a:r>
              <a:rPr sz="1800">
                <a:solidFill>
                  <a:srgbClr val="1F2937"/>
                </a:solidFill>
                <a:latin typeface="Calibri"/>
              </a:rPr>
              <a:t>▸  Olingan natijalar ko‘rgazmali va hujjatlashtirilgan bo‘lishi maqsadga muvofiq.</a:t>
            </a:r>
          </a:p>
          <a:p>
            <a:pPr>
              <a:spcAft>
                <a:spcPts val="800"/>
              </a:spcAft>
            </a:pPr>
            <a:r>
              <a:rPr sz="1800">
                <a:solidFill>
                  <a:srgbClr val="1F2937"/>
                </a:solidFill>
                <a:latin typeface="Calibri"/>
              </a:rPr>
              <a:t>▸  Faqat Bosh sud-tibbiy ekspertiza ruxsat etgan yoki tavsiya qilgan usullar qo‘llanadi.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007233"/>
                <a:gridCol w="2518083"/>
                <a:gridCol w="1762658"/>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Misollar</a:t>
                      </a:r>
                    </a:p>
                  </a:txBody>
                  <a:tcPr marL="73152" marR="73152" marT="36576" marB="36576">
                    <a:solidFill>
                      <a:srgbClr val="0B1F3A"/>
                    </a:solidFill>
                  </a:tcPr>
                </a:tc>
                <a:tc>
                  <a:txBody>
                    <a:bodyPr/>
                    <a:lstStyle/>
                    <a:p>
                      <a:r>
                        <a:rPr sz="1300" b="1">
                          <a:solidFill>
                            <a:srgbClr val="FFFFFF"/>
                          </a:solidFill>
                        </a:rPr>
                        <a:t>Xususiyati</a:t>
                      </a:r>
                    </a:p>
                  </a:txBody>
                  <a:tcPr marL="73152" marR="73152" marT="36576" marB="36576">
                    <a:solidFill>
                      <a:srgbClr val="0B1F3A"/>
                    </a:solidFill>
                  </a:tcPr>
                </a:tc>
              </a:tr>
              <a:tr h="411480">
                <a:tc>
                  <a:txBody>
                    <a:bodyPr/>
                    <a:lstStyle/>
                    <a:p>
                      <a:r>
                        <a:rPr sz="1200" b="0">
                          <a:solidFill>
                            <a:srgbClr val="1F2937"/>
                          </a:solidFill>
                        </a:rPr>
                        <a:t>Umumilmiy</a:t>
                      </a:r>
                    </a:p>
                  </a:txBody>
                  <a:tcPr marL="73152" marR="73152" marT="36576" marB="36576">
                    <a:solidFill>
                      <a:srgbClr val="E8EEF6"/>
                    </a:solidFill>
                  </a:tcPr>
                </a:tc>
                <a:tc>
                  <a:txBody>
                    <a:bodyPr/>
                    <a:lstStyle/>
                    <a:p>
                      <a:r>
                        <a:rPr sz="1200" b="0">
                          <a:solidFill>
                            <a:srgbClr val="1F2937"/>
                          </a:solidFill>
                        </a:rPr>
                        <a:t>Kuzatuv, tavsif, taqqoslash, o‘lchash</a:t>
                      </a:r>
                    </a:p>
                  </a:txBody>
                  <a:tcPr marL="73152" marR="73152" marT="36576" marB="36576">
                    <a:solidFill>
                      <a:srgbClr val="E8EEF6"/>
                    </a:solidFill>
                  </a:tcPr>
                </a:tc>
                <a:tc>
                  <a:txBody>
                    <a:bodyPr/>
                    <a:lstStyle/>
                    <a:p>
                      <a:r>
                        <a:rPr sz="1200" b="0">
                          <a:solidFill>
                            <a:srgbClr val="1F2937"/>
                          </a:solidFill>
                        </a:rPr>
                        <a:t>Turli fanlarda qo‘llanadi</a:t>
                      </a:r>
                    </a:p>
                  </a:txBody>
                  <a:tcPr marL="73152" marR="73152" marT="36576" marB="36576">
                    <a:solidFill>
                      <a:srgbClr val="E8EEF6"/>
                    </a:solidFill>
                  </a:tcPr>
                </a:tc>
              </a:tr>
              <a:tr h="411480">
                <a:tc>
                  <a:txBody>
                    <a:bodyPr/>
                    <a:lstStyle/>
                    <a:p>
                      <a:r>
                        <a:rPr sz="1200" b="0">
                          <a:solidFill>
                            <a:srgbClr val="1F2937"/>
                          </a:solidFill>
                        </a:rPr>
                        <a:t>Xususiy</a:t>
                      </a:r>
                    </a:p>
                  </a:txBody>
                  <a:tcPr marL="73152" marR="73152" marT="36576" marB="36576">
                    <a:solidFill>
                      <a:srgbClr val="FFFFFF"/>
                    </a:solidFill>
                  </a:tcPr>
                </a:tc>
                <a:tc>
                  <a:txBody>
                    <a:bodyPr/>
                    <a:lstStyle/>
                    <a:p>
                      <a:r>
                        <a:rPr sz="1200" b="0">
                          <a:solidFill>
                            <a:srgbClr val="1F2937"/>
                          </a:solidFill>
                        </a:rPr>
                        <a:t>Morfologik, klinik, rentgenologik, kimyoviy</a:t>
                      </a:r>
                    </a:p>
                  </a:txBody>
                  <a:tcPr marL="73152" marR="73152" marT="36576" marB="36576">
                    <a:solidFill>
                      <a:srgbClr val="FFFFFF"/>
                    </a:solidFill>
                  </a:tcPr>
                </a:tc>
                <a:tc>
                  <a:txBody>
                    <a:bodyPr/>
                    <a:lstStyle/>
                    <a:p>
                      <a:r>
                        <a:rPr sz="1200" b="0">
                          <a:solidFill>
                            <a:srgbClr val="1F2937"/>
                          </a:solidFill>
                        </a:rPr>
                        <a:t>Muayyan fanga tegishli</a:t>
                      </a:r>
                    </a:p>
                  </a:txBody>
                  <a:tcPr marL="73152" marR="73152" marT="36576" marB="36576">
                    <a:solidFill>
                      <a:srgbClr val="FFFFFF"/>
                    </a:solidFill>
                  </a:tcPr>
                </a:tc>
              </a:tr>
              <a:tr h="411480">
                <a:tc>
                  <a:txBody>
                    <a:bodyPr/>
                    <a:lstStyle/>
                    <a:p>
                      <a:r>
                        <a:rPr sz="1200" b="0">
                          <a:solidFill>
                            <a:srgbClr val="1F2937"/>
                          </a:solidFill>
                        </a:rPr>
                        <a:t>Maxsus</a:t>
                      </a:r>
                    </a:p>
                  </a:txBody>
                  <a:tcPr marL="73152" marR="73152" marT="36576" marB="36576">
                    <a:solidFill>
                      <a:srgbClr val="E8EEF6"/>
                    </a:solidFill>
                  </a:tcPr>
                </a:tc>
                <a:tc>
                  <a:txBody>
                    <a:bodyPr/>
                    <a:lstStyle/>
                    <a:p>
                      <a:r>
                        <a:rPr sz="1200" b="0">
                          <a:solidFill>
                            <a:srgbClr val="1F2937"/>
                          </a:solidFill>
                        </a:rPr>
                        <a:t>Shaxs va qurol aynanligini aniqlash</a:t>
                      </a:r>
                    </a:p>
                  </a:txBody>
                  <a:tcPr marL="73152" marR="73152" marT="36576" marB="36576">
                    <a:solidFill>
                      <a:srgbClr val="E8EEF6"/>
                    </a:solidFill>
                  </a:tcPr>
                </a:tc>
                <a:tc>
                  <a:txBody>
                    <a:bodyPr/>
                    <a:lstStyle/>
                    <a:p>
                      <a:r>
                        <a:rPr sz="1200" b="0">
                          <a:solidFill>
                            <a:srgbClr val="1F2937"/>
                          </a:solidFill>
                        </a:rPr>
                        <a:t>Asosan sud-tibbiy amaliyotda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1.5-bo‘lim (1-bob); Харин Г.М. (Kharin G.M.)., Краткий курс судебной медицины: учебное пособие, betlar: bet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tibbiyotining vazifalari va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 sud va tergovda jinoyat hamda fuqarolik ishlarini ko‘rishda paydo bo‘ladigan tibbiy va biologik savollarga javob beradi.</a:t>
            </a:r>
          </a:p>
          <a:p>
            <a:pPr>
              <a:spcAft>
                <a:spcPts val="1200"/>
              </a:spcAft>
            </a:pPr>
            <a:r>
              <a:rPr sz="2200">
                <a:solidFill>
                  <a:srgbClr val="1F2937"/>
                </a:solidFill>
                <a:latin typeface="Calibri"/>
              </a:rPr>
              <a:t>▸  Sud-tibbiy ekspertiza xizmati sog‘liqni saqlash tizimining ixtisoslashgan tarmog‘i. Uning asosiy vazifasi sud-tibbiy ekspertizalarni o‘tkazishdir.</a:t>
            </a:r>
          </a:p>
          <a:p>
            <a:pPr>
              <a:spcAft>
                <a:spcPts val="1200"/>
              </a:spcAft>
            </a:pPr>
            <a:r>
              <a:rPr sz="2200">
                <a:solidFill>
                  <a:srgbClr val="1F2937"/>
                </a:solidFill>
                <a:latin typeface="Calibri"/>
              </a:rPr>
              <a:t>▸  Ekspertiza materiallari asosida tibbiy yordam sifatini yaxshilash, travmatizm, zaharlanish va to‘satdan o‘limning oldini olish choralari ko‘rilishi lozim.</a:t>
            </a:r>
          </a:p>
          <a:p>
            <a:pPr>
              <a:spcAft>
                <a:spcPts val="1200"/>
              </a:spcAft>
            </a:pPr>
            <a:r>
              <a:rPr sz="2200">
                <a:solidFill>
                  <a:srgbClr val="1F2937"/>
                </a:solidFill>
                <a:latin typeface="Calibri"/>
              </a:rPr>
              <a:t>▸  Fan qonunni himoya qiluvchi organlarga yordam beradi. Shu bilan birga davolash-profilaktika ishlari sifatini yaxshilashda ham muhim ahamiyatga ega.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4, 6; G‘iyosov Z.A., Sud tibbiyoti: darslik, betlar: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fan bo‘limi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ekspertizasidan so‘ng klinik va patologoanatomik tashxis bir-biriga mos kelmadi.</a:t>
            </a:r>
          </a:p>
          <a:p>
            <a:pPr>
              <a:spcAft>
                <a:spcPts val="1200"/>
              </a:spcAft>
            </a:pPr>
            <a:r>
              <a:rPr sz="2200">
                <a:solidFill>
                  <a:srgbClr val="1F2937"/>
                </a:solidFill>
                <a:latin typeface="Calibri"/>
              </a:rPr>
              <a:t>▸  Savol: bunday holatda sud-tibbiy xizmat qanday ish tutishi kerak? Guruhda 2 daqiqa o‘ylang.</a:t>
            </a:r>
          </a:p>
          <a:p>
            <a:pPr>
              <a:spcAft>
                <a:spcPts val="1200"/>
              </a:spcAft>
            </a:pPr>
            <a:r>
              <a:rPr sz="2200">
                <a:solidFill>
                  <a:srgbClr val="1F2937"/>
                </a:solidFill>
                <a:latin typeface="Calibri"/>
              </a:rPr>
              <a:t>▸  Vazirlik buyrug‘iga ko‘ra, bunday voqealar kliniko-anatomik konferensiyada doimiy muhokama qilinadi.</a:t>
            </a:r>
          </a:p>
          <a:p>
            <a:pPr>
              <a:spcAft>
                <a:spcPts val="1200"/>
              </a:spcAft>
            </a:pPr>
            <a:r>
              <a:rPr sz="2200">
                <a:solidFill>
                  <a:srgbClr val="1F2937"/>
                </a:solidFill>
                <a:latin typeface="Calibri"/>
              </a:rPr>
              <a:t>▸  Davolash muassasasi rahbari tashxis mos kelmaganligi va tibbiy yordamdagi kamchiliklar haqida o‘z vaqtida xabardor qilinadi.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 tarixi: qadimdan XVI asrgacha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Sparta qonunlari va Yustinian kodeksi sud jarayonida tibbiy tekshiruv va vrach ishtirokini ko‘zda tutgan.</a:t>
            </a:r>
          </a:p>
          <a:p>
            <a:pPr>
              <a:spcAft>
                <a:spcPts val="800"/>
              </a:spcAft>
            </a:pPr>
            <a:r>
              <a:rPr sz="1800">
                <a:solidFill>
                  <a:srgbClr val="1F2937"/>
                </a:solidFill>
                <a:latin typeface="Calibri"/>
              </a:rPr>
              <a:t>▸  1247-yilda Xitoyda “Si Yuan Lu” yozilgan: unda murda tekshiruvi, jarohat, bo‘g‘ish, cho‘kish va zaharlar yoritilgan.</a:t>
            </a:r>
          </a:p>
          <a:p>
            <a:pPr>
              <a:spcAft>
                <a:spcPts val="800"/>
              </a:spcAft>
            </a:pPr>
            <a:r>
              <a:rPr sz="1800">
                <a:solidFill>
                  <a:srgbClr val="1F2937"/>
                </a:solidFill>
                <a:latin typeface="Calibri"/>
              </a:rPr>
              <a:t>▸  1532-yildagi “Karolina” qonunlarida qotillik va zaharlanish ishlarida vrach ishtiroki zarur deyilgan.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28893"/>
                <a:gridCol w="1782463"/>
                <a:gridCol w="2376617"/>
              </a:tblGrid>
              <a:tr h="411480">
                <a:tc>
                  <a:txBody>
                    <a:bodyPr/>
                    <a:lstStyle/>
                    <a:p>
                      <a:r>
                        <a:rPr sz="1300" b="1">
                          <a:solidFill>
                            <a:srgbClr val="FFFFFF"/>
                          </a:solidFill>
                        </a:rPr>
                        <a:t>Davr</a:t>
                      </a:r>
                    </a:p>
                  </a:txBody>
                  <a:tcPr marL="73152" marR="73152" marT="36576" marB="36576">
                    <a:solidFill>
                      <a:srgbClr val="0B1F3A"/>
                    </a:solidFill>
                  </a:tcPr>
                </a:tc>
                <a:tc>
                  <a:txBody>
                    <a:bodyPr/>
                    <a:lstStyle/>
                    <a:p>
                      <a:r>
                        <a:rPr sz="1300" b="1">
                          <a:solidFill>
                            <a:srgbClr val="FFFFFF"/>
                          </a:solidFill>
                        </a:rPr>
                        <a:t>Hodisa</a:t>
                      </a:r>
                    </a:p>
                  </a:txBody>
                  <a:tcPr marL="73152" marR="73152" marT="36576" marB="36576">
                    <a:solidFill>
                      <a:srgbClr val="0B1F3A"/>
                    </a:solidFill>
                  </a:tcPr>
                </a:tc>
                <a:tc>
                  <a:txBody>
                    <a:bodyPr/>
                    <a:lstStyle/>
                    <a:p>
                      <a:r>
                        <a:rPr sz="1300" b="1">
                          <a:solidFill>
                            <a:srgbClr val="FFFFFF"/>
                          </a:solidFill>
                        </a:rPr>
                        <a:t>Ahamiyati</a:t>
                      </a:r>
                    </a:p>
                  </a:txBody>
                  <a:tcPr marL="73152" marR="73152" marT="36576" marB="36576">
                    <a:solidFill>
                      <a:srgbClr val="0B1F3A"/>
                    </a:solidFill>
                  </a:tcPr>
                </a:tc>
              </a:tr>
              <a:tr h="411480">
                <a:tc>
                  <a:txBody>
                    <a:bodyPr/>
                    <a:lstStyle/>
                    <a:p>
                      <a:r>
                        <a:rPr sz="1200" b="0">
                          <a:solidFill>
                            <a:srgbClr val="1F2937"/>
                          </a:solidFill>
                        </a:rPr>
                        <a:t>IX–VIII asr (e.a.)</a:t>
                      </a:r>
                    </a:p>
                  </a:txBody>
                  <a:tcPr marL="73152" marR="73152" marT="36576" marB="36576">
                    <a:solidFill>
                      <a:srgbClr val="E8EEF6"/>
                    </a:solidFill>
                  </a:tcPr>
                </a:tc>
                <a:tc>
                  <a:txBody>
                    <a:bodyPr/>
                    <a:lstStyle/>
                    <a:p>
                      <a:r>
                        <a:rPr sz="1200" b="0">
                          <a:solidFill>
                            <a:srgbClr val="1F2937"/>
                          </a:solidFill>
                        </a:rPr>
                        <a:t>Sparta, Likurg qonunlari</a:t>
                      </a:r>
                    </a:p>
                  </a:txBody>
                  <a:tcPr marL="73152" marR="73152" marT="36576" marB="36576">
                    <a:solidFill>
                      <a:srgbClr val="E8EEF6"/>
                    </a:solidFill>
                  </a:tcPr>
                </a:tc>
                <a:tc>
                  <a:txBody>
                    <a:bodyPr/>
                    <a:lstStyle/>
                    <a:p>
                      <a:r>
                        <a:rPr sz="1200" b="0">
                          <a:solidFill>
                            <a:srgbClr val="1F2937"/>
                          </a:solidFill>
                        </a:rPr>
                        <a:t>Tibbiy tekshiruv zarurati qayd etilgan</a:t>
                      </a:r>
                    </a:p>
                  </a:txBody>
                  <a:tcPr marL="73152" marR="73152" marT="36576" marB="36576">
                    <a:solidFill>
                      <a:srgbClr val="E8EEF6"/>
                    </a:solidFill>
                  </a:tcPr>
                </a:tc>
              </a:tr>
              <a:tr h="411480">
                <a:tc>
                  <a:txBody>
                    <a:bodyPr/>
                    <a:lstStyle/>
                    <a:p>
                      <a:r>
                        <a:rPr sz="1200" b="0">
                          <a:solidFill>
                            <a:srgbClr val="1F2937"/>
                          </a:solidFill>
                        </a:rPr>
                        <a:t>e.a. 44-yil</a:t>
                      </a:r>
                    </a:p>
                  </a:txBody>
                  <a:tcPr marL="73152" marR="73152" marT="36576" marB="36576">
                    <a:solidFill>
                      <a:srgbClr val="FFFFFF"/>
                    </a:solidFill>
                  </a:tcPr>
                </a:tc>
                <a:tc>
                  <a:txBody>
                    <a:bodyPr/>
                    <a:lstStyle/>
                    <a:p>
                      <a:r>
                        <a:rPr sz="1200" b="0">
                          <a:solidFill>
                            <a:srgbClr val="1F2937"/>
                          </a:solidFill>
                        </a:rPr>
                        <a:t>Sezar murdasi, vrach Antistius</a:t>
                      </a:r>
                    </a:p>
                  </a:txBody>
                  <a:tcPr marL="73152" marR="73152" marT="36576" marB="36576">
                    <a:solidFill>
                      <a:srgbClr val="FFFFFF"/>
                    </a:solidFill>
                  </a:tcPr>
                </a:tc>
                <a:tc>
                  <a:txBody>
                    <a:bodyPr/>
                    <a:lstStyle/>
                    <a:p>
                      <a:r>
                        <a:rPr sz="1200" b="0">
                          <a:solidFill>
                            <a:srgbClr val="1F2937"/>
                          </a:solidFill>
                        </a:rPr>
                        <a:t>23 jarohatdan faqat bittasi o‘limga olib kelgan</a:t>
                      </a:r>
                    </a:p>
                  </a:txBody>
                  <a:tcPr marL="73152" marR="73152" marT="36576" marB="36576">
                    <a:solidFill>
                      <a:srgbClr val="FFFFFF"/>
                    </a:solidFill>
                  </a:tcPr>
                </a:tc>
              </a:tr>
              <a:tr h="411480">
                <a:tc>
                  <a:txBody>
                    <a:bodyPr/>
                    <a:lstStyle/>
                    <a:p>
                      <a:r>
                        <a:rPr sz="1200" b="0">
                          <a:solidFill>
                            <a:srgbClr val="1F2937"/>
                          </a:solidFill>
                        </a:rPr>
                        <a:t>VI asr</a:t>
                      </a:r>
                    </a:p>
                  </a:txBody>
                  <a:tcPr marL="73152" marR="73152" marT="36576" marB="36576">
                    <a:solidFill>
                      <a:srgbClr val="E8EEF6"/>
                    </a:solidFill>
                  </a:tcPr>
                </a:tc>
                <a:tc>
                  <a:txBody>
                    <a:bodyPr/>
                    <a:lstStyle/>
                    <a:p>
                      <a:r>
                        <a:rPr sz="1200" b="0">
                          <a:solidFill>
                            <a:srgbClr val="1F2937"/>
                          </a:solidFill>
                        </a:rPr>
                        <a:t>Yustinian kodeksi</a:t>
                      </a:r>
                    </a:p>
                  </a:txBody>
                  <a:tcPr marL="73152" marR="73152" marT="36576" marB="36576">
                    <a:solidFill>
                      <a:srgbClr val="E8EEF6"/>
                    </a:solidFill>
                  </a:tcPr>
                </a:tc>
                <a:tc>
                  <a:txBody>
                    <a:bodyPr/>
                    <a:lstStyle/>
                    <a:p>
                      <a:r>
                        <a:rPr sz="1200" b="0">
                          <a:solidFill>
                            <a:srgbClr val="1F2937"/>
                          </a:solidFill>
                        </a:rPr>
                        <a:t>Vrach xulosasi guvoh ko‘rsatmasidan ustun</a:t>
                      </a:r>
                    </a:p>
                  </a:txBody>
                  <a:tcPr marL="73152" marR="73152" marT="36576" marB="36576">
                    <a:solidFill>
                      <a:srgbClr val="E8EEF6"/>
                    </a:solidFill>
                  </a:tcPr>
                </a:tc>
              </a:tr>
              <a:tr h="411480">
                <a:tc>
                  <a:txBody>
                    <a:bodyPr/>
                    <a:lstStyle/>
                    <a:p>
                      <a:r>
                        <a:rPr sz="1200" b="0">
                          <a:solidFill>
                            <a:srgbClr val="1F2937"/>
                          </a:solidFill>
                        </a:rPr>
                        <a:t>1247 va 1532-yillar</a:t>
                      </a:r>
                    </a:p>
                  </a:txBody>
                  <a:tcPr marL="73152" marR="73152" marT="36576" marB="36576">
                    <a:solidFill>
                      <a:srgbClr val="FFFFFF"/>
                    </a:solidFill>
                  </a:tcPr>
                </a:tc>
                <a:tc>
                  <a:txBody>
                    <a:bodyPr/>
                    <a:lstStyle/>
                    <a:p>
                      <a:r>
                        <a:rPr sz="1200" b="0">
                          <a:solidFill>
                            <a:srgbClr val="1F2937"/>
                          </a:solidFill>
                        </a:rPr>
                        <a:t>“Si Yuan Lu” va “Karolina”</a:t>
                      </a:r>
                    </a:p>
                  </a:txBody>
                  <a:tcPr marL="73152" marR="73152" marT="36576" marB="36576">
                    <a:solidFill>
                      <a:srgbClr val="FFFFFF"/>
                    </a:solidFill>
                  </a:tcPr>
                </a:tc>
                <a:tc>
                  <a:txBody>
                    <a:bodyPr/>
                    <a:lstStyle/>
                    <a:p>
                      <a:r>
                        <a:rPr sz="1200" b="0">
                          <a:solidFill>
                            <a:srgbClr val="1F2937"/>
                          </a:solidFill>
                        </a:rPr>
                        <a:t>Xitoy asari; Germaniya qonunlar majmui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9–10,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Fanning shakllanishi: XVI–XX asrlar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XVI asr ikkinchi yarmida A.Pare asarining sud-tibbiy qismida jarohatlar, mexanik asfiksiya, is gazi va yashin bilan bog‘liq holatlar yoritilgan, xulosa namunalari berilgan.</a:t>
            </a:r>
          </a:p>
          <a:p>
            <a:pPr>
              <a:spcAft>
                <a:spcPts val="1200"/>
              </a:spcAft>
            </a:pPr>
            <a:r>
              <a:rPr sz="2000">
                <a:solidFill>
                  <a:srgbClr val="1F2937"/>
                </a:solidFill>
                <a:latin typeface="Calibri"/>
              </a:rPr>
              <a:t>▸  1681-yilda Shreer chaqaloq murdasi tekshiruvida birinchi marta o‘pka sinamasini qo‘llagan; Bon asarida fanni «sud tibbiyoti» deb atash taklif etilgan.</a:t>
            </a:r>
          </a:p>
          <a:p>
            <a:pPr>
              <a:spcAft>
                <a:spcPts val="1200"/>
              </a:spcAft>
            </a:pPr>
            <a:r>
              <a:rPr sz="2000">
                <a:solidFill>
                  <a:srgbClr val="1F2937"/>
                </a:solidFill>
                <a:latin typeface="Calibri"/>
              </a:rPr>
              <a:t>▸  N.I.Pirogov sud vrachlari uchun anatomik atlas yaratgan, o‘q otar jarohatlar haqida ma’lumot bergan. Atlas yili manbalarda 1846 va 1841 deb farqlanadi. (?)</a:t>
            </a:r>
          </a:p>
          <a:p>
            <a:pPr>
              <a:spcAft>
                <a:spcPts val="1200"/>
              </a:spcAft>
            </a:pPr>
            <a:r>
              <a:rPr sz="2000">
                <a:solidFill>
                  <a:srgbClr val="1F2937"/>
                </a:solidFill>
                <a:latin typeface="Calibri"/>
              </a:rPr>
              <a:t>▸  Ikkinchi jahon urushidan so‘ng ko‘plab darslik yaratilgan: Germaniyada Prokop, Angliyada Simpson, SSSRda Popov, Avdeev, Rayskiy va boshqalar.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Markaziy Osiyo: shariat davri va allomalar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 asr boshlarigacha Markaziy Osiyoda, jumladan hozirgi O‘zbekiston hududida, odil sudlov shariat qoidalariga asoslangan. Tibbiyot vakillarini jalb qilish ko‘zda tutilmagan.</a:t>
            </a:r>
          </a:p>
          <a:p>
            <a:pPr>
              <a:spcAft>
                <a:spcPts val="1200"/>
              </a:spcAft>
            </a:pPr>
            <a:r>
              <a:rPr sz="2200">
                <a:solidFill>
                  <a:srgbClr val="1F2937"/>
                </a:solidFill>
                <a:latin typeface="Calibri"/>
              </a:rPr>
              <a:t>▸  Beruniy, Ibn Sino va Ismoil Jurjoniy asarlarida sud tibbiyotiga oid yoki unga aloqador ma’lumotlar berilgan.</a:t>
            </a:r>
          </a:p>
          <a:p>
            <a:pPr>
              <a:spcAft>
                <a:spcPts val="1200"/>
              </a:spcAft>
            </a:pPr>
            <a:r>
              <a:rPr sz="2200">
                <a:solidFill>
                  <a:srgbClr val="1F2937"/>
                </a:solidFill>
                <a:latin typeface="Calibri"/>
              </a:rPr>
              <a:t>▸  Ibn Sinoning «Tib qonunlari»da o‘limdan keyingi murda o‘zgarishlari, zo‘raki o‘limning ayrim turlari, zaharlar va jarohatlar haqida ma’lumot keltirilgan.</a:t>
            </a:r>
          </a:p>
          <a:p>
            <a:pPr>
              <a:spcAft>
                <a:spcPts val="1200"/>
              </a:spcAft>
            </a:pPr>
            <a:r>
              <a:rPr sz="2200">
                <a:solidFill>
                  <a:srgbClr val="1F2937"/>
                </a:solidFill>
                <a:latin typeface="Calibri"/>
              </a:rPr>
              <a:t>▸  Diqqat: xato qilish xavfi. Bu ma’lumotlar odil sudlov uchun emas, bunday holatlarda to‘g‘ri tibbiy yordam ko‘rsatish maqsadidagi tadqiqot natijasi edi.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kafedralar va olimlar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 bo‘yicha ilmiy izlanishlar 1920-yillarda boshlangan, asosan oliy tibbiy o‘quv yurtlari kafedralari bilan bog‘liq.</a:t>
            </a:r>
          </a:p>
          <a:p>
            <a:pPr>
              <a:spcAft>
                <a:spcPts val="800"/>
              </a:spcAft>
            </a:pPr>
            <a:r>
              <a:rPr sz="1800">
                <a:solidFill>
                  <a:srgbClr val="1F2937"/>
                </a:solidFill>
                <a:latin typeface="Calibri"/>
              </a:rPr>
              <a:t>▸  I.V.Markovin 1928-yildan kafedra mudiri, 1930-yilda respublikaning birinchi bosh sud-tibbiy eksperti bo‘lgan.</a:t>
            </a:r>
          </a:p>
          <a:p>
            <a:pPr>
              <a:spcAft>
                <a:spcPts val="800"/>
              </a:spcAft>
            </a:pPr>
            <a:r>
              <a:rPr sz="1800">
                <a:solidFill>
                  <a:srgbClr val="1F2937"/>
                </a:solidFill>
                <a:latin typeface="Calibri"/>
              </a:rPr>
              <a:t>▸  Eydlin tibbiy kriminalistik usullarni joriy etgan; Shahobiddinov jarohat og‘irligi bo‘yicha «Qoida»ni ishlab chiqqan.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Yil</a:t>
                      </a:r>
                    </a:p>
                  </a:txBody>
                  <a:tcPr marL="73152" marR="73152" marT="36576" marB="36576">
                    <a:solidFill>
                      <a:srgbClr val="0B1F3A"/>
                    </a:solidFill>
                  </a:tcPr>
                </a:tc>
                <a:tc>
                  <a:txBody>
                    <a:bodyPr/>
                    <a:lstStyle/>
                    <a:p>
                      <a:r>
                        <a:rPr sz="1400" b="1">
                          <a:solidFill>
                            <a:srgbClr val="FFFFFF"/>
                          </a:solidFill>
                        </a:rPr>
                        <a:t>Kafedra</a:t>
                      </a:r>
                    </a:p>
                  </a:txBody>
                  <a:tcPr marL="73152" marR="73152" marT="36576" marB="36576">
                    <a:solidFill>
                      <a:srgbClr val="0B1F3A"/>
                    </a:solidFill>
                  </a:tcPr>
                </a:tc>
              </a:tr>
              <a:tr h="411480">
                <a:tc>
                  <a:txBody>
                    <a:bodyPr/>
                    <a:lstStyle/>
                    <a:p>
                      <a:r>
                        <a:rPr sz="1300" b="0">
                          <a:solidFill>
                            <a:srgbClr val="1F2937"/>
                          </a:solidFill>
                        </a:rPr>
                        <a:t>1920</a:t>
                      </a:r>
                    </a:p>
                  </a:txBody>
                  <a:tcPr marL="73152" marR="73152" marT="36576" marB="36576">
                    <a:solidFill>
                      <a:srgbClr val="E8EEF6"/>
                    </a:solidFill>
                  </a:tcPr>
                </a:tc>
                <a:tc>
                  <a:txBody>
                    <a:bodyPr/>
                    <a:lstStyle/>
                    <a:p>
                      <a:r>
                        <a:rPr sz="1300" b="0">
                          <a:solidFill>
                            <a:srgbClr val="1F2937"/>
                          </a:solidFill>
                        </a:rPr>
                        <a:t>Turkiston universiteti tibbiyot fakulteti</a:t>
                      </a:r>
                    </a:p>
                  </a:txBody>
                  <a:tcPr marL="73152" marR="73152" marT="36576" marB="36576">
                    <a:solidFill>
                      <a:srgbClr val="E8EEF6"/>
                    </a:solidFill>
                  </a:tcPr>
                </a:tc>
              </a:tr>
              <a:tr h="411480">
                <a:tc>
                  <a:txBody>
                    <a:bodyPr/>
                    <a:lstStyle/>
                    <a:p>
                      <a:r>
                        <a:rPr sz="1300" b="0">
                          <a:solidFill>
                            <a:srgbClr val="1F2937"/>
                          </a:solidFill>
                        </a:rPr>
                        <a:t>1935</a:t>
                      </a:r>
                    </a:p>
                  </a:txBody>
                  <a:tcPr marL="73152" marR="73152" marT="36576" marB="36576">
                    <a:solidFill>
                      <a:srgbClr val="FFFFFF"/>
                    </a:solidFill>
                  </a:tcPr>
                </a:tc>
                <a:tc>
                  <a:txBody>
                    <a:bodyPr/>
                    <a:lstStyle/>
                    <a:p>
                      <a:r>
                        <a:rPr sz="1300" b="0">
                          <a:solidFill>
                            <a:srgbClr val="1F2937"/>
                          </a:solidFill>
                        </a:rPr>
                        <a:t>Samarqand tibbiyot instituti</a:t>
                      </a:r>
                    </a:p>
                  </a:txBody>
                  <a:tcPr marL="73152" marR="73152" marT="36576" marB="36576">
                    <a:solidFill>
                      <a:srgbClr val="FFFFFF"/>
                    </a:solidFill>
                  </a:tcPr>
                </a:tc>
              </a:tr>
              <a:tr h="411480">
                <a:tc>
                  <a:txBody>
                    <a:bodyPr/>
                    <a:lstStyle/>
                    <a:p>
                      <a:r>
                        <a:rPr sz="1300" b="0">
                          <a:solidFill>
                            <a:srgbClr val="1F2937"/>
                          </a:solidFill>
                        </a:rPr>
                        <a:t>1959</a:t>
                      </a:r>
                    </a:p>
                  </a:txBody>
                  <a:tcPr marL="73152" marR="73152" marT="36576" marB="36576">
                    <a:solidFill>
                      <a:srgbClr val="E8EEF6"/>
                    </a:solidFill>
                  </a:tcPr>
                </a:tc>
                <a:tc>
                  <a:txBody>
                    <a:bodyPr/>
                    <a:lstStyle/>
                    <a:p>
                      <a:r>
                        <a:rPr sz="1300" b="0">
                          <a:solidFill>
                            <a:srgbClr val="1F2937"/>
                          </a:solidFill>
                        </a:rPr>
                        <a:t>Andijon tibbiyot instituti</a:t>
                      </a:r>
                    </a:p>
                  </a:txBody>
                  <a:tcPr marL="73152" marR="73152" marT="36576" marB="36576">
                    <a:solidFill>
                      <a:srgbClr val="E8EEF6"/>
                    </a:solidFill>
                  </a:tcPr>
                </a:tc>
              </a:tr>
              <a:tr h="411480">
                <a:tc>
                  <a:txBody>
                    <a:bodyPr/>
                    <a:lstStyle/>
                    <a:p>
                      <a:r>
                        <a:rPr sz="1300" b="0">
                          <a:solidFill>
                            <a:srgbClr val="1F2937"/>
                          </a:solidFill>
                        </a:rPr>
                        <a:t>1972</a:t>
                      </a:r>
                    </a:p>
                  </a:txBody>
                  <a:tcPr marL="73152" marR="73152" marT="36576" marB="36576">
                    <a:solidFill>
                      <a:srgbClr val="FFFFFF"/>
                    </a:solidFill>
                  </a:tcPr>
                </a:tc>
                <a:tc>
                  <a:txBody>
                    <a:bodyPr/>
                    <a:lstStyle/>
                    <a:p>
                      <a:r>
                        <a:rPr sz="1300" b="0">
                          <a:solidFill>
                            <a:srgbClr val="1F2937"/>
                          </a:solidFill>
                        </a:rPr>
                        <a:t>Toshkent pediatriya tibbiyot instituti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Kafedralar vaqt chizig‘i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 Iskandarov A.I., Qo‘ldoshev D.R., Sud tibbiyoti, betlar: 12, 13-14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Xizmat rivojlanishining to‘rt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 davrda xizmat Rossiya tartibiga tayangan; Turkistonda rasmiy ekspertizalar faqat epizodik o‘tkazilgan.</a:t>
            </a:r>
          </a:p>
          <a:p>
            <a:pPr>
              <a:spcAft>
                <a:spcPts val="800"/>
              </a:spcAft>
            </a:pPr>
            <a:r>
              <a:rPr sz="1800">
                <a:solidFill>
                  <a:srgbClr val="1F2937"/>
                </a:solidFill>
                <a:latin typeface="Calibri"/>
              </a:rPr>
              <a:t>▸  II davrda ekspertizani kafedra o‘qituvchilari o‘tkazgan; 1945-yilda Respublika kabineti ochilgan.</a:t>
            </a:r>
          </a:p>
          <a:p>
            <a:pPr>
              <a:spcAft>
                <a:spcPts val="800"/>
              </a:spcAft>
            </a:pPr>
            <a:r>
              <a:rPr sz="1800">
                <a:solidFill>
                  <a:srgbClr val="1F2937"/>
                </a:solidFill>
                <a:latin typeface="Calibri"/>
              </a:rPr>
              <a:t>▸  III davrda 1950-yilda Bosh byuro tuzilgan; IV davrda “Sud ekspertizasi to‘g‘risida” Qonun qabul qilingan.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84712"/>
                <a:gridCol w="1491480"/>
                <a:gridCol w="2711782"/>
              </a:tblGrid>
              <a:tr h="411480">
                <a:tc>
                  <a:txBody>
                    <a:bodyPr/>
                    <a:lstStyle/>
                    <a:p>
                      <a:r>
                        <a:rPr sz="1300" b="1">
                          <a:solidFill>
                            <a:srgbClr val="FFFFFF"/>
                          </a:solidFill>
                        </a:rPr>
                        <a:t>Davr</a:t>
                      </a:r>
                    </a:p>
                  </a:txBody>
                  <a:tcPr marL="73152" marR="73152" marT="36576" marB="36576">
                    <a:solidFill>
                      <a:srgbClr val="0B1F3A"/>
                    </a:solidFill>
                  </a:tcPr>
                </a:tc>
                <a:tc>
                  <a:txBody>
                    <a:bodyPr/>
                    <a:lstStyle/>
                    <a:p>
                      <a:r>
                        <a:rPr sz="1300" b="1">
                          <a:solidFill>
                            <a:srgbClr val="FFFFFF"/>
                          </a:solidFill>
                        </a:rPr>
                        <a:t>Muddat</a:t>
                      </a:r>
                    </a:p>
                  </a:txBody>
                  <a:tcPr marL="73152" marR="73152" marT="36576" marB="36576">
                    <a:solidFill>
                      <a:srgbClr val="0B1F3A"/>
                    </a:solidFill>
                  </a:tcPr>
                </a:tc>
                <a:tc>
                  <a:txBody>
                    <a:bodyPr/>
                    <a:lstStyle/>
                    <a:p>
                      <a:r>
                        <a:rPr sz="1300" b="1">
                          <a:solidFill>
                            <a:srgbClr val="FFFFFF"/>
                          </a:solidFill>
                        </a:rPr>
                        <a:t>Asosiy belgi</a:t>
                      </a:r>
                    </a:p>
                  </a:txBody>
                  <a:tcPr marL="73152" marR="73152" marT="36576" marB="36576">
                    <a:solidFill>
                      <a:srgbClr val="0B1F3A"/>
                    </a:solidFill>
                  </a:tcPr>
                </a:tc>
              </a:tr>
              <a:tr h="411480">
                <a:tc>
                  <a:txBody>
                    <a:bodyPr/>
                    <a:lstStyle/>
                    <a:p>
                      <a:r>
                        <a:rPr sz="1200" b="0">
                          <a:solidFill>
                            <a:srgbClr val="1F2937"/>
                          </a:solidFill>
                        </a:rPr>
                        <a:t>I davr</a:t>
                      </a:r>
                    </a:p>
                  </a:txBody>
                  <a:tcPr marL="73152" marR="73152" marT="36576" marB="36576">
                    <a:solidFill>
                      <a:srgbClr val="E8EEF6"/>
                    </a:solidFill>
                  </a:tcPr>
                </a:tc>
                <a:tc>
                  <a:txBody>
                    <a:bodyPr/>
                    <a:lstStyle/>
                    <a:p>
                      <a:r>
                        <a:rPr sz="1200" b="0">
                          <a:solidFill>
                            <a:srgbClr val="1F2937"/>
                          </a:solidFill>
                        </a:rPr>
                        <a:t>XX asr 20-yillarigacha</a:t>
                      </a:r>
                    </a:p>
                  </a:txBody>
                  <a:tcPr marL="73152" marR="73152" marT="36576" marB="36576">
                    <a:solidFill>
                      <a:srgbClr val="E8EEF6"/>
                    </a:solidFill>
                  </a:tcPr>
                </a:tc>
                <a:tc>
                  <a:txBody>
                    <a:bodyPr/>
                    <a:lstStyle/>
                    <a:p>
                      <a:r>
                        <a:rPr sz="1200" b="0">
                          <a:solidFill>
                            <a:srgbClr val="1F2937"/>
                          </a:solidFill>
                        </a:rPr>
                        <a:t>Epizodik ekspertizalar, Rossiya tartibi</a:t>
                      </a:r>
                    </a:p>
                  </a:txBody>
                  <a:tcPr marL="73152" marR="73152" marT="36576" marB="36576">
                    <a:solidFill>
                      <a:srgbClr val="E8EEF6"/>
                    </a:solidFill>
                  </a:tcPr>
                </a:tc>
              </a:tr>
              <a:tr h="411480">
                <a:tc>
                  <a:txBody>
                    <a:bodyPr/>
                    <a:lstStyle/>
                    <a:p>
                      <a:r>
                        <a:rPr sz="1200" b="0">
                          <a:solidFill>
                            <a:srgbClr val="1F2937"/>
                          </a:solidFill>
                        </a:rPr>
                        <a:t>II davr</a:t>
                      </a:r>
                    </a:p>
                  </a:txBody>
                  <a:tcPr marL="73152" marR="73152" marT="36576" marB="36576">
                    <a:solidFill>
                      <a:srgbClr val="FFFFFF"/>
                    </a:solidFill>
                  </a:tcPr>
                </a:tc>
                <a:tc>
                  <a:txBody>
                    <a:bodyPr/>
                    <a:lstStyle/>
                    <a:p>
                      <a:r>
                        <a:rPr sz="1200" b="0">
                          <a:solidFill>
                            <a:srgbClr val="1F2937"/>
                          </a:solidFill>
                        </a:rPr>
                        <a:t>XX asr 50-yillarigacha</a:t>
                      </a:r>
                    </a:p>
                  </a:txBody>
                  <a:tcPr marL="73152" marR="73152" marT="36576" marB="36576">
                    <a:solidFill>
                      <a:srgbClr val="FFFFFF"/>
                    </a:solidFill>
                  </a:tcPr>
                </a:tc>
                <a:tc>
                  <a:txBody>
                    <a:bodyPr/>
                    <a:lstStyle/>
                    <a:p>
                      <a:r>
                        <a:rPr sz="1200" b="0">
                          <a:solidFill>
                            <a:srgbClr val="1F2937"/>
                          </a:solidFill>
                        </a:rPr>
                        <a:t>Ekspertiza kafedralar bazasida</a:t>
                      </a:r>
                    </a:p>
                  </a:txBody>
                  <a:tcPr marL="73152" marR="73152" marT="36576" marB="36576">
                    <a:solidFill>
                      <a:srgbClr val="FFFFFF"/>
                    </a:solidFill>
                  </a:tcPr>
                </a:tc>
              </a:tr>
              <a:tr h="411480">
                <a:tc>
                  <a:txBody>
                    <a:bodyPr/>
                    <a:lstStyle/>
                    <a:p>
                      <a:r>
                        <a:rPr sz="1200" b="0">
                          <a:solidFill>
                            <a:srgbClr val="1F2937"/>
                          </a:solidFill>
                        </a:rPr>
                        <a:t>III davr</a:t>
                      </a:r>
                    </a:p>
                  </a:txBody>
                  <a:tcPr marL="73152" marR="73152" marT="36576" marB="36576">
                    <a:solidFill>
                      <a:srgbClr val="E8EEF6"/>
                    </a:solidFill>
                  </a:tcPr>
                </a:tc>
                <a:tc>
                  <a:txBody>
                    <a:bodyPr/>
                    <a:lstStyle/>
                    <a:p>
                      <a:r>
                        <a:rPr sz="1200" b="0">
                          <a:solidFill>
                            <a:srgbClr val="1F2937"/>
                          </a:solidFill>
                        </a:rPr>
                        <a:t>1950–1991-yillar</a:t>
                      </a:r>
                    </a:p>
                  </a:txBody>
                  <a:tcPr marL="73152" marR="73152" marT="36576" marB="36576">
                    <a:solidFill>
                      <a:srgbClr val="E8EEF6"/>
                    </a:solidFill>
                  </a:tcPr>
                </a:tc>
                <a:tc>
                  <a:txBody>
                    <a:bodyPr/>
                    <a:lstStyle/>
                    <a:p>
                      <a:r>
                        <a:rPr sz="1200" b="0">
                          <a:solidFill>
                            <a:srgbClr val="1F2937"/>
                          </a:solidFill>
                        </a:rPr>
                        <a:t>Bosh byuro va hududiy byurolar</a:t>
                      </a:r>
                    </a:p>
                  </a:txBody>
                  <a:tcPr marL="73152" marR="73152" marT="36576" marB="36576">
                    <a:solidFill>
                      <a:srgbClr val="E8EEF6"/>
                    </a:solidFill>
                  </a:tcPr>
                </a:tc>
              </a:tr>
              <a:tr h="411480">
                <a:tc>
                  <a:txBody>
                    <a:bodyPr/>
                    <a:lstStyle/>
                    <a:p>
                      <a:r>
                        <a:rPr sz="1200" b="0">
                          <a:solidFill>
                            <a:srgbClr val="1F2937"/>
                          </a:solidFill>
                        </a:rPr>
                        <a:t>IV davr</a:t>
                      </a:r>
                    </a:p>
                  </a:txBody>
                  <a:tcPr marL="73152" marR="73152" marT="36576" marB="36576">
                    <a:solidFill>
                      <a:srgbClr val="FFFFFF"/>
                    </a:solidFill>
                  </a:tcPr>
                </a:tc>
                <a:tc>
                  <a:txBody>
                    <a:bodyPr/>
                    <a:lstStyle/>
                    <a:p>
                      <a:r>
                        <a:rPr sz="1200" b="0">
                          <a:solidFill>
                            <a:srgbClr val="1F2937"/>
                          </a:solidFill>
                        </a:rPr>
                        <a:t>1991-yildan hozirgacha</a:t>
                      </a:r>
                    </a:p>
                  </a:txBody>
                  <a:tcPr marL="73152" marR="73152" marT="36576" marB="36576">
                    <a:solidFill>
                      <a:srgbClr val="FFFFFF"/>
                    </a:solidFill>
                  </a:tcPr>
                </a:tc>
                <a:tc>
                  <a:txBody>
                    <a:bodyPr/>
                    <a:lstStyle/>
                    <a:p>
                      <a:r>
                        <a:rPr sz="1200" b="0">
                          <a:solidFill>
                            <a:srgbClr val="1F2937"/>
                          </a:solidFill>
                        </a:rPr>
                        <a:t>Mustaqil xizmat, yangi me’yoriy hujjatlar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Xizmat davrlari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 13-14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tarix va davrlar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Sog‘liqni saqlash vazirligining sud-tibbiy ekspertiza Bosh byurosi qaysi yilda tashkil qilingan? (Javob: 1950-yil.)</a:t>
            </a:r>
          </a:p>
          <a:p>
            <a:pPr>
              <a:spcAft>
                <a:spcPts val="1200"/>
              </a:spcAft>
            </a:pPr>
            <a:r>
              <a:rPr sz="2200">
                <a:solidFill>
                  <a:srgbClr val="1F2937"/>
                </a:solidFill>
                <a:latin typeface="Calibri"/>
              </a:rPr>
              <a:t>▸  2-savol: Dastlabki sud tibbiyoti kafedrasi qayerda va qachon ochilgan? (Javob: Turkiston universiteti tibbiyot fakultetida, 1920-yilda.)</a:t>
            </a:r>
          </a:p>
          <a:p>
            <a:pPr>
              <a:spcAft>
                <a:spcPts val="1200"/>
              </a:spcAft>
            </a:pPr>
            <a:r>
              <a:rPr sz="2200">
                <a:solidFill>
                  <a:srgbClr val="1F2937"/>
                </a:solidFill>
                <a:latin typeface="Calibri"/>
              </a:rPr>
              <a:t>▸  3-savol: Respublika sud-tibbiy ekspertiza kabineti qachon va kimning tashabbusi bilan ochilgan? (Javob: 1945-yil, prof. I.V.Markovin.)</a:t>
            </a:r>
          </a:p>
          <a:p>
            <a:pPr>
              <a:spcAft>
                <a:spcPts val="1200"/>
              </a:spcAft>
            </a:pPr>
            <a:r>
              <a:rPr sz="2200">
                <a:solidFill>
                  <a:srgbClr val="1F2937"/>
                </a:solidFill>
                <a:latin typeface="Calibri"/>
              </a:rPr>
              <a:t>▸  Diqqat: xato qilish xavfi! 1945-yil (kabinet) ≠ 1950-yil (Bosh byuro). Kabinet avval ochilgan, Bosh byuro keyin tuzilgan.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13, 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tarix bo‘limi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Turkistonda XIX asr oxirida sud-tibbiy ekspertiza Rossiyada 1842-yilda qabul qilingan sud tibbiyoti ustavi bo‘yicha o‘tkazilgan.</a:t>
            </a:r>
          </a:p>
          <a:p>
            <a:pPr>
              <a:spcAft>
                <a:spcPts val="1200"/>
              </a:spcAft>
            </a:pPr>
            <a:r>
              <a:rPr sz="2200">
                <a:solidFill>
                  <a:srgbClr val="1F2937"/>
                </a:solidFill>
                <a:latin typeface="Calibri"/>
              </a:rPr>
              <a:t>▸  Birinchi instansiyada gospital vrachlari ekspertiza qilgan. Murakkab holatda ikkinchi instansiya – gospital boshliqlari, bo‘lim mudirlari, uezd vrachlari qatnashgan.</a:t>
            </a:r>
          </a:p>
          <a:p>
            <a:pPr>
              <a:spcAft>
                <a:spcPts val="1200"/>
              </a:spcAft>
            </a:pPr>
            <a:r>
              <a:rPr sz="2200">
                <a:solidFill>
                  <a:srgbClr val="1F2937"/>
                </a:solidFill>
                <a:latin typeface="Calibri"/>
              </a:rPr>
              <a:t>▸  Savol: o‘ta murakkab holatda ikkinchi instansiya xulosasi bo‘yicha yakuniy xulosani kim bergan?</a:t>
            </a:r>
          </a:p>
          <a:p>
            <a:pPr>
              <a:spcAft>
                <a:spcPts val="1200"/>
              </a:spcAft>
            </a:pPr>
            <a:r>
              <a:rPr sz="2200">
                <a:solidFill>
                  <a:srgbClr val="1F2937"/>
                </a:solidFill>
                <a:latin typeface="Calibri"/>
              </a:rPr>
              <a:t>▸  Javob: uchinchi, oliy instansiya – tibbiyot kengashi vrachlari yakuniy xulosa bergan. Turkistonda amaliyot shu tartibga asoslangan.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Huquqiy atamalar: huquq, qonun, kodeks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Huquq — hamma uchun majburiy, davlat kafolatlagan, ijtimoiy munosabatlarni tartibga soluvchi qoidalar tizimi.</a:t>
            </a:r>
          </a:p>
          <a:p>
            <a:pPr>
              <a:spcAft>
                <a:spcPts val="800"/>
              </a:spcAft>
            </a:pPr>
            <a:r>
              <a:rPr sz="1800">
                <a:solidFill>
                  <a:srgbClr val="1F2937"/>
                </a:solidFill>
                <a:latin typeface="Calibri"/>
              </a:rPr>
              <a:t>▸  Sud-tibbiy ekspertiza ko‘pincha jinoyat tergovida tayinlanadi, shu sababli u JK va JPK normalariga bog‘liq.</a:t>
            </a:r>
          </a:p>
          <a:p>
            <a:pPr>
              <a:spcAft>
                <a:spcPts val="800"/>
              </a:spcAft>
            </a:pPr>
            <a:r>
              <a:rPr sz="1800">
                <a:solidFill>
                  <a:srgbClr val="1F2937"/>
                </a:solidFill>
                <a:latin typeface="Calibri"/>
              </a:rPr>
              <a:t>▸  Diqqat: Jinoyat kodeksi ≠ Jinoyat-protsessual kodeksi. Birinchisi jazoni, ikkinchisi tergov tartibini belgilaydi.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390454"/>
                <a:gridCol w="2897520"/>
              </a:tblGrid>
              <a:tr h="411480">
                <a:tc>
                  <a:txBody>
                    <a:bodyPr/>
                    <a:lstStyle/>
                    <a:p>
                      <a:r>
                        <a:rPr sz="1400" b="1">
                          <a:solidFill>
                            <a:srgbClr val="FFFFFF"/>
                          </a:solidFill>
                        </a:rPr>
                        <a:t>Atama</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Qonun</a:t>
                      </a:r>
                    </a:p>
                  </a:txBody>
                  <a:tcPr marL="73152" marR="73152" marT="36576" marB="36576">
                    <a:solidFill>
                      <a:srgbClr val="E8EEF6"/>
                    </a:solidFill>
                  </a:tcPr>
                </a:tc>
                <a:tc>
                  <a:txBody>
                    <a:bodyPr/>
                    <a:lstStyle/>
                    <a:p>
                      <a:r>
                        <a:rPr sz="1300" b="0">
                          <a:solidFill>
                            <a:srgbClr val="1F2937"/>
                          </a:solidFill>
                        </a:rPr>
                        <a:t>Umummajburiy qoidalar, me’yoriy hujjatlar</a:t>
                      </a:r>
                    </a:p>
                  </a:txBody>
                  <a:tcPr marL="73152" marR="73152" marT="36576" marB="36576">
                    <a:solidFill>
                      <a:srgbClr val="E8EEF6"/>
                    </a:solidFill>
                  </a:tcPr>
                </a:tc>
              </a:tr>
              <a:tr h="411480">
                <a:tc>
                  <a:txBody>
                    <a:bodyPr/>
                    <a:lstStyle/>
                    <a:p>
                      <a:r>
                        <a:rPr sz="1300" b="0">
                          <a:solidFill>
                            <a:srgbClr val="1F2937"/>
                          </a:solidFill>
                        </a:rPr>
                        <a:t>Kodeks</a:t>
                      </a:r>
                    </a:p>
                  </a:txBody>
                  <a:tcPr marL="73152" marR="73152" marT="36576" marB="36576">
                    <a:solidFill>
                      <a:srgbClr val="FFFFFF"/>
                    </a:solidFill>
                  </a:tcPr>
                </a:tc>
                <a:tc>
                  <a:txBody>
                    <a:bodyPr/>
                    <a:lstStyle/>
                    <a:p>
                      <a:r>
                        <a:rPr sz="1300" b="0">
                          <a:solidFill>
                            <a:srgbClr val="1F2937"/>
                          </a:solidFill>
                        </a:rPr>
                        <a:t>Bir soha qonunlarining tizimlashgan to‘plami</a:t>
                      </a:r>
                    </a:p>
                  </a:txBody>
                  <a:tcPr marL="73152" marR="73152" marT="36576" marB="36576">
                    <a:solidFill>
                      <a:srgbClr val="FFFFFF"/>
                    </a:solidFill>
                  </a:tcPr>
                </a:tc>
              </a:tr>
              <a:tr h="411480">
                <a:tc>
                  <a:txBody>
                    <a:bodyPr/>
                    <a:lstStyle/>
                    <a:p>
                      <a:r>
                        <a:rPr sz="1300" b="0">
                          <a:solidFill>
                            <a:srgbClr val="1F2937"/>
                          </a:solidFill>
                        </a:rPr>
                        <a:t>Jinoyat kodeksi (JK)</a:t>
                      </a:r>
                    </a:p>
                  </a:txBody>
                  <a:tcPr marL="73152" marR="73152" marT="36576" marB="36576">
                    <a:solidFill>
                      <a:srgbClr val="E8EEF6"/>
                    </a:solidFill>
                  </a:tcPr>
                </a:tc>
                <a:tc>
                  <a:txBody>
                    <a:bodyPr/>
                    <a:lstStyle/>
                    <a:p>
                      <a:r>
                        <a:rPr sz="1300" b="0">
                          <a:solidFill>
                            <a:srgbClr val="1F2937"/>
                          </a:solidFill>
                        </a:rPr>
                        <a:t>Jinoyat va jazo choralarini aniqlaydi</a:t>
                      </a:r>
                    </a:p>
                  </a:txBody>
                  <a:tcPr marL="73152" marR="73152" marT="36576" marB="36576">
                    <a:solidFill>
                      <a:srgbClr val="E8EEF6"/>
                    </a:solidFill>
                  </a:tcPr>
                </a:tc>
              </a:tr>
              <a:tr h="411480">
                <a:tc>
                  <a:txBody>
                    <a:bodyPr/>
                    <a:lstStyle/>
                    <a:p>
                      <a:r>
                        <a:rPr sz="1300" b="0">
                          <a:solidFill>
                            <a:srgbClr val="1F2937"/>
                          </a:solidFill>
                        </a:rPr>
                        <a:t>Jinoyat-protsessual kodeksi (JPK)</a:t>
                      </a:r>
                    </a:p>
                  </a:txBody>
                  <a:tcPr marL="73152" marR="73152" marT="36576" marB="36576">
                    <a:solidFill>
                      <a:srgbClr val="FFFFFF"/>
                    </a:solidFill>
                  </a:tcPr>
                </a:tc>
                <a:tc>
                  <a:txBody>
                    <a:bodyPr/>
                    <a:lstStyle/>
                    <a:p>
                      <a:r>
                        <a:rPr sz="1300" b="0">
                          <a:solidFill>
                            <a:srgbClr val="1F2937"/>
                          </a:solidFill>
                        </a:rPr>
                        <a:t>Tergov va sud tartibini belgilaydi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atamalar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tayinlash asoslari va JPK 173-modda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ekspertiza surishtiruv va tergov idoralarining qaroriga yoki sudning ajrimiga asosan o‘tkaziladi.</a:t>
            </a:r>
          </a:p>
          <a:p>
            <a:pPr>
              <a:spcAft>
                <a:spcPts val="1200"/>
              </a:spcAft>
            </a:pPr>
            <a:r>
              <a:rPr sz="2200">
                <a:solidFill>
                  <a:srgbClr val="1F2937"/>
                </a:solidFill>
                <a:latin typeface="Calibri"/>
              </a:rPr>
              <a:t>▸  JPK 173-moddasiga ko‘ra o‘lim sababi hamda tan jarohatining xususiyati va og‘irlik darajasini aniqlash uchun ekspertiza tayinlanadi.</a:t>
            </a:r>
          </a:p>
          <a:p>
            <a:pPr>
              <a:spcAft>
                <a:spcPts val="1200"/>
              </a:spcAft>
            </a:pPr>
            <a:r>
              <a:rPr sz="2200">
                <a:solidFill>
                  <a:srgbClr val="1F2937"/>
                </a:solidFill>
                <a:latin typeface="Calibri"/>
              </a:rPr>
              <a:t>▸  Yana: jinsiy aloqa, homiladorlik, abort belgilari; hujjat yo‘q yoki shubhali bo‘lsa yosh; jismoniy ahvol; tanosil kasalliklarini davolash zarurati.</a:t>
            </a:r>
          </a:p>
          <a:p>
            <a:pPr>
              <a:spcAft>
                <a:spcPts val="1200"/>
              </a:spcAft>
            </a:pPr>
            <a:r>
              <a:rPr sz="2200">
                <a:solidFill>
                  <a:srgbClr val="1F2937"/>
                </a:solidFill>
                <a:latin typeface="Calibri"/>
              </a:rPr>
              <a:t>▸  Iskandarov darsligida majburiy holatlar qatoriga ayblanuvchi va jabrlanuvchining ruhiy holatini aniqlash ham kiritilgan.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14, 15; Iskandarov A.I., Qo‘ldoshev D.R., Sud tibbiyoti, betlar: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o‘tkaziladigan joy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byuroda, byurodan tashqarida yoki aralash tarzda o‘tkazilishi mumkin.</a:t>
            </a:r>
          </a:p>
          <a:p>
            <a:pPr>
              <a:spcAft>
                <a:spcPts val="800"/>
              </a:spcAft>
            </a:pPr>
            <a:r>
              <a:rPr sz="1800">
                <a:solidFill>
                  <a:srgbClr val="1F2937"/>
                </a:solidFill>
                <a:latin typeface="Calibri"/>
              </a:rPr>
              <a:t>▸  Byuroda shart-sharoit yaratish muassasa rahbarining, tashqarida esa ekspertiza tayinlagan shaxsning vazifasi.</a:t>
            </a:r>
          </a:p>
          <a:p>
            <a:pPr>
              <a:spcAft>
                <a:spcPts val="800"/>
              </a:spcAft>
            </a:pPr>
            <a:r>
              <a:rPr sz="1800">
                <a:solidFill>
                  <a:srgbClr val="1F2937"/>
                </a:solidFill>
                <a:latin typeface="Calibri"/>
              </a:rPr>
              <a:t>▸  Misol: eksgumatsiyada jasad qabristonda ochiladi, olingan materiallar byuro laboratoriyasida tekshiriladi.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89794"/>
                <a:gridCol w="2181289"/>
                <a:gridCol w="1916890"/>
              </a:tblGrid>
              <a:tr h="411480">
                <a:tc>
                  <a:txBody>
                    <a:bodyPr/>
                    <a:lstStyle/>
                    <a:p>
                      <a:r>
                        <a:rPr sz="1300" b="1">
                          <a:solidFill>
                            <a:srgbClr val="FFFFFF"/>
                          </a:solidFill>
                        </a:rPr>
                        <a:t>Variant</a:t>
                      </a:r>
                    </a:p>
                  </a:txBody>
                  <a:tcPr marL="73152" marR="73152" marT="36576" marB="36576">
                    <a:solidFill>
                      <a:srgbClr val="0B1F3A"/>
                    </a:solidFill>
                  </a:tcPr>
                </a:tc>
                <a:tc>
                  <a:txBody>
                    <a:bodyPr/>
                    <a:lstStyle/>
                    <a:p>
                      <a:r>
                        <a:rPr sz="1300" b="1">
                          <a:solidFill>
                            <a:srgbClr val="FFFFFF"/>
                          </a:solidFill>
                        </a:rPr>
                        <a:t>Joyi</a:t>
                      </a:r>
                    </a:p>
                  </a:txBody>
                  <a:tcPr marL="73152" marR="73152" marT="36576" marB="36576">
                    <a:solidFill>
                      <a:srgbClr val="0B1F3A"/>
                    </a:solidFill>
                  </a:tcPr>
                </a:tc>
                <a:tc>
                  <a:txBody>
                    <a:bodyPr/>
                    <a:lstStyle/>
                    <a:p>
                      <a:r>
                        <a:rPr sz="1300" b="1">
                          <a:solidFill>
                            <a:srgbClr val="FFFFFF"/>
                          </a:solidFill>
                        </a:rPr>
                        <a:t>Sharoitni kim beradi</a:t>
                      </a:r>
                    </a:p>
                  </a:txBody>
                  <a:tcPr marL="73152" marR="73152" marT="36576" marB="36576">
                    <a:solidFill>
                      <a:srgbClr val="0B1F3A"/>
                    </a:solidFill>
                  </a:tcPr>
                </a:tc>
              </a:tr>
              <a:tr h="411480">
                <a:tc>
                  <a:txBody>
                    <a:bodyPr/>
                    <a:lstStyle/>
                    <a:p>
                      <a:r>
                        <a:rPr sz="1200" b="0">
                          <a:solidFill>
                            <a:srgbClr val="1F2937"/>
                          </a:solidFill>
                        </a:rPr>
                        <a:t>Birinchi</a:t>
                      </a:r>
                    </a:p>
                  </a:txBody>
                  <a:tcPr marL="73152" marR="73152" marT="36576" marB="36576">
                    <a:solidFill>
                      <a:srgbClr val="E8EEF6"/>
                    </a:solidFill>
                  </a:tcPr>
                </a:tc>
                <a:tc>
                  <a:txBody>
                    <a:bodyPr/>
                    <a:lstStyle/>
                    <a:p>
                      <a:r>
                        <a:rPr sz="1200" b="0">
                          <a:solidFill>
                            <a:srgbClr val="1F2937"/>
                          </a:solidFill>
                        </a:rPr>
                        <a:t>Sud-tibbiy ekspertiza byurosi</a:t>
                      </a:r>
                    </a:p>
                  </a:txBody>
                  <a:tcPr marL="73152" marR="73152" marT="36576" marB="36576">
                    <a:solidFill>
                      <a:srgbClr val="E8EEF6"/>
                    </a:solidFill>
                  </a:tcPr>
                </a:tc>
                <a:tc>
                  <a:txBody>
                    <a:bodyPr/>
                    <a:lstStyle/>
                    <a:p>
                      <a:r>
                        <a:rPr sz="1200" b="0">
                          <a:solidFill>
                            <a:srgbClr val="1F2937"/>
                          </a:solidFill>
                        </a:rPr>
                        <a:t>Muassasa rahbari</a:t>
                      </a:r>
                    </a:p>
                  </a:txBody>
                  <a:tcPr marL="73152" marR="73152" marT="36576" marB="36576">
                    <a:solidFill>
                      <a:srgbClr val="E8EEF6"/>
                    </a:solidFill>
                  </a:tcPr>
                </a:tc>
              </a:tr>
              <a:tr h="411480">
                <a:tc>
                  <a:txBody>
                    <a:bodyPr/>
                    <a:lstStyle/>
                    <a:p>
                      <a:r>
                        <a:rPr sz="1200" b="0">
                          <a:solidFill>
                            <a:srgbClr val="1F2937"/>
                          </a:solidFill>
                        </a:rPr>
                        <a:t>Ikkinchi</a:t>
                      </a:r>
                    </a:p>
                  </a:txBody>
                  <a:tcPr marL="73152" marR="73152" marT="36576" marB="36576">
                    <a:solidFill>
                      <a:srgbClr val="FFFFFF"/>
                    </a:solidFill>
                  </a:tcPr>
                </a:tc>
                <a:tc>
                  <a:txBody>
                    <a:bodyPr/>
                    <a:lstStyle/>
                    <a:p>
                      <a:r>
                        <a:rPr sz="1200" b="0">
                          <a:solidFill>
                            <a:srgbClr val="1F2937"/>
                          </a:solidFill>
                        </a:rPr>
                        <a:t>Byurodan tashqarida</a:t>
                      </a:r>
                    </a:p>
                  </a:txBody>
                  <a:tcPr marL="73152" marR="73152" marT="36576" marB="36576">
                    <a:solidFill>
                      <a:srgbClr val="FFFFFF"/>
                    </a:solidFill>
                  </a:tcPr>
                </a:tc>
                <a:tc>
                  <a:txBody>
                    <a:bodyPr/>
                    <a:lstStyle/>
                    <a:p>
                      <a:r>
                        <a:rPr sz="1200" b="0">
                          <a:solidFill>
                            <a:srgbClr val="1F2937"/>
                          </a:solidFill>
                        </a:rPr>
                        <a:t>Ekspertizani tayinlagan shaxs</a:t>
                      </a:r>
                    </a:p>
                  </a:txBody>
                  <a:tcPr marL="73152" marR="73152" marT="36576" marB="36576">
                    <a:solidFill>
                      <a:srgbClr val="FFFFFF"/>
                    </a:solidFill>
                  </a:tcPr>
                </a:tc>
              </a:tr>
              <a:tr h="411480">
                <a:tc>
                  <a:txBody>
                    <a:bodyPr/>
                    <a:lstStyle/>
                    <a:p>
                      <a:r>
                        <a:rPr sz="1200" b="0">
                          <a:solidFill>
                            <a:srgbClr val="1F2937"/>
                          </a:solidFill>
                        </a:rPr>
                        <a:t>Uchinchi (aralash)</a:t>
                      </a:r>
                    </a:p>
                  </a:txBody>
                  <a:tcPr marL="73152" marR="73152" marT="36576" marB="36576">
                    <a:solidFill>
                      <a:srgbClr val="E8EEF6"/>
                    </a:solidFill>
                  </a:tcPr>
                </a:tc>
                <a:tc>
                  <a:txBody>
                    <a:bodyPr/>
                    <a:lstStyle/>
                    <a:p>
                      <a:r>
                        <a:rPr sz="1200" b="0">
                          <a:solidFill>
                            <a:srgbClr val="1F2937"/>
                          </a:solidFill>
                        </a:rPr>
                        <a:t>Qisman byuroda, qisman tashqarida</a:t>
                      </a:r>
                    </a:p>
                  </a:txBody>
                  <a:tcPr marL="73152" marR="73152" marT="36576" marB="36576">
                    <a:solidFill>
                      <a:srgbClr val="E8EEF6"/>
                    </a:solidFill>
                  </a:tcPr>
                </a:tc>
                <a:tc>
                  <a:txBody>
                    <a:bodyPr/>
                    <a:lstStyle/>
                    <a:p>
                      <a:r>
                        <a:rPr sz="1200" b="0">
                          <a:solidFill>
                            <a:srgbClr val="1F2937"/>
                          </a:solidFill>
                        </a:rPr>
                        <a:t>Manbada aniq aytilmagan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joyining uch varianti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va mutaxassis: qiyosiy jadval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Mutaxassis dalil topish va mustahkamlashda yordam beradi, lekin mustaqil hujjat tuzmaydi.</a:t>
            </a:r>
          </a:p>
          <a:p>
            <a:pPr>
              <a:spcAft>
                <a:spcPts val="800"/>
              </a:spcAft>
            </a:pPr>
            <a:r>
              <a:rPr sz="1800">
                <a:solidFill>
                  <a:srgbClr val="1F2937"/>
                </a:solidFill>
                <a:latin typeface="Calibri"/>
              </a:rPr>
              <a:t>▸  Shtatli ekspert va vrach-ekspertning huquq, burch va javobgarligi protsessual jihatdan teng.</a:t>
            </a:r>
          </a:p>
          <a:p>
            <a:pPr>
              <a:spcAft>
                <a:spcPts val="800"/>
              </a:spcAft>
            </a:pPr>
            <a:r>
              <a:rPr sz="1800">
                <a:solidFill>
                  <a:srgbClr val="1F2937"/>
                </a:solidFill>
                <a:latin typeface="Calibri"/>
              </a:rPr>
              <a:t>▸  Diqqat: ekspert ≠ mutaxassis. Ilgari mutaxassis bo‘lgan shaxs shu ishda ekspert bo‘lishi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Ekspert</a:t>
                      </a:r>
                    </a:p>
                  </a:txBody>
                  <a:tcPr marL="73152" marR="73152" marT="36576" marB="36576">
                    <a:solidFill>
                      <a:srgbClr val="0B1F3A"/>
                    </a:solidFill>
                  </a:tcPr>
                </a:tc>
                <a:tc>
                  <a:txBody>
                    <a:bodyPr/>
                    <a:lstStyle/>
                    <a:p>
                      <a:r>
                        <a:rPr sz="1300" b="1">
                          <a:solidFill>
                            <a:srgbClr val="FFFFFF"/>
                          </a:solidFill>
                        </a:rPr>
                        <a:t>Mutaxassis</a:t>
                      </a:r>
                    </a:p>
                  </a:txBody>
                  <a:tcPr marL="73152" marR="73152" marT="36576" marB="36576">
                    <a:solidFill>
                      <a:srgbClr val="0B1F3A"/>
                    </a:solidFill>
                  </a:tcPr>
                </a:tc>
              </a:tr>
              <a:tr h="411480">
                <a:tc>
                  <a:txBody>
                    <a:bodyPr/>
                    <a:lstStyle/>
                    <a:p>
                      <a:r>
                        <a:rPr sz="1200" b="0">
                          <a:solidFill>
                            <a:srgbClr val="1F2937"/>
                          </a:solidFill>
                        </a:rPr>
                        <a:t>Vazifasi</a:t>
                      </a:r>
                    </a:p>
                  </a:txBody>
                  <a:tcPr marL="73152" marR="73152" marT="36576" marB="36576">
                    <a:solidFill>
                      <a:srgbClr val="E8EEF6"/>
                    </a:solidFill>
                  </a:tcPr>
                </a:tc>
                <a:tc>
                  <a:txBody>
                    <a:bodyPr/>
                    <a:lstStyle/>
                    <a:p>
                      <a:r>
                        <a:rPr sz="1200" b="0">
                          <a:solidFill>
                            <a:srgbClr val="1F2937"/>
                          </a:solidFill>
                        </a:rPr>
                        <a:t>Tibbiy faktni aniqlab, xulosa beradi</a:t>
                      </a:r>
                    </a:p>
                  </a:txBody>
                  <a:tcPr marL="73152" marR="73152" marT="36576" marB="36576">
                    <a:solidFill>
                      <a:srgbClr val="E8EEF6"/>
                    </a:solidFill>
                  </a:tcPr>
                </a:tc>
                <a:tc>
                  <a:txBody>
                    <a:bodyPr/>
                    <a:lstStyle/>
                    <a:p>
                      <a:r>
                        <a:rPr sz="1200" b="0">
                          <a:solidFill>
                            <a:srgbClr val="1F2937"/>
                          </a:solidFill>
                        </a:rPr>
                        <a:t>Dalil topish, mustahkamlashda yordam beradi</a:t>
                      </a:r>
                    </a:p>
                  </a:txBody>
                  <a:tcPr marL="73152" marR="73152" marT="36576" marB="36576">
                    <a:solidFill>
                      <a:srgbClr val="E8EEF6"/>
                    </a:solidFill>
                  </a:tcPr>
                </a:tc>
              </a:tr>
              <a:tr h="411480">
                <a:tc>
                  <a:txBody>
                    <a:bodyPr/>
                    <a:lstStyle/>
                    <a:p>
                      <a:r>
                        <a:rPr sz="1200" b="0">
                          <a:solidFill>
                            <a:srgbClr val="1F2937"/>
                          </a:solidFill>
                        </a:rPr>
                        <a:t>Hujjat</a:t>
                      </a:r>
                    </a:p>
                  </a:txBody>
                  <a:tcPr marL="73152" marR="73152" marT="36576" marB="36576">
                    <a:solidFill>
                      <a:srgbClr val="FFFFFF"/>
                    </a:solidFill>
                  </a:tcPr>
                </a:tc>
                <a:tc>
                  <a:txBody>
                    <a:bodyPr/>
                    <a:lstStyle/>
                    <a:p>
                      <a:r>
                        <a:rPr sz="1200" b="0">
                          <a:solidFill>
                            <a:srgbClr val="1F2937"/>
                          </a:solidFill>
                        </a:rPr>
                        <a:t>Ekspert xulosasi tuzadi</a:t>
                      </a:r>
                    </a:p>
                  </a:txBody>
                  <a:tcPr marL="73152" marR="73152" marT="36576" marB="36576">
                    <a:solidFill>
                      <a:srgbClr val="FFFFFF"/>
                    </a:solidFill>
                  </a:tcPr>
                </a:tc>
                <a:tc>
                  <a:txBody>
                    <a:bodyPr/>
                    <a:lstStyle/>
                    <a:p>
                      <a:r>
                        <a:rPr sz="1200" b="0">
                          <a:solidFill>
                            <a:srgbClr val="1F2937"/>
                          </a:solidFill>
                        </a:rPr>
                        <a:t>Mustaqil hujjat tuzmaydi</a:t>
                      </a:r>
                    </a:p>
                  </a:txBody>
                  <a:tcPr marL="73152" marR="73152" marT="36576" marB="36576">
                    <a:solidFill>
                      <a:srgbClr val="FFFFFF"/>
                    </a:solidFill>
                  </a:tcPr>
                </a:tc>
              </a:tr>
              <a:tr h="411480">
                <a:tc>
                  <a:txBody>
                    <a:bodyPr/>
                    <a:lstStyle/>
                    <a:p>
                      <a:r>
                        <a:rPr sz="1200" b="0">
                          <a:solidFill>
                            <a:srgbClr val="1F2937"/>
                          </a:solidFill>
                        </a:rPr>
                        <a:t>Ishtiroki</a:t>
                      </a:r>
                    </a:p>
                  </a:txBody>
                  <a:tcPr marL="73152" marR="73152" marT="36576" marB="36576">
                    <a:solidFill>
                      <a:srgbClr val="E8EEF6"/>
                    </a:solidFill>
                  </a:tcPr>
                </a:tc>
                <a:tc>
                  <a:txBody>
                    <a:bodyPr/>
                    <a:lstStyle/>
                    <a:p>
                      <a:r>
                        <a:rPr sz="1200" b="0">
                          <a:solidFill>
                            <a:srgbClr val="1F2937"/>
                          </a:solidFill>
                        </a:rPr>
                        <a:t>Ekspertiza o‘tkazadi, sudda so‘roq qilinadi</a:t>
                      </a:r>
                    </a:p>
                  </a:txBody>
                  <a:tcPr marL="73152" marR="73152" marT="36576" marB="36576">
                    <a:solidFill>
                      <a:srgbClr val="E8EEF6"/>
                    </a:solidFill>
                  </a:tcPr>
                </a:tc>
                <a:tc>
                  <a:txBody>
                    <a:bodyPr/>
                    <a:lstStyle/>
                    <a:p>
                      <a:r>
                        <a:rPr sz="1200" b="0">
                          <a:solidFill>
                            <a:srgbClr val="1F2937"/>
                          </a:solidFill>
                        </a:rPr>
                        <a:t>Joyni ko‘zdan kechirish, eksgumatsiyada</a:t>
                      </a:r>
                    </a:p>
                  </a:txBody>
                  <a:tcPr marL="73152" marR="73152" marT="36576" marB="36576">
                    <a:solidFill>
                      <a:srgbClr val="E8EEF6"/>
                    </a:solidFill>
                  </a:tcPr>
                </a:tc>
              </a:tr>
              <a:tr h="411480">
                <a:tc>
                  <a:txBody>
                    <a:bodyPr/>
                    <a:lstStyle/>
                    <a:p>
                      <a:r>
                        <a:rPr sz="1200" b="0">
                          <a:solidFill>
                            <a:srgbClr val="1F2937"/>
                          </a:solidFill>
                        </a:rPr>
                        <a:t>Sir saqlash</a:t>
                      </a:r>
                    </a:p>
                  </a:txBody>
                  <a:tcPr marL="73152" marR="73152" marT="36576" marB="36576">
                    <a:solidFill>
                      <a:srgbClr val="FFFFFF"/>
                    </a:solidFill>
                  </a:tcPr>
                </a:tc>
                <a:tc>
                  <a:txBody>
                    <a:bodyPr/>
                    <a:lstStyle/>
                    <a:p>
                      <a:r>
                        <a:rPr sz="1200" b="0">
                          <a:solidFill>
                            <a:srgbClr val="1F2937"/>
                          </a:solidFill>
                        </a:rPr>
                        <a:t>Tergov ma’lumotini oshkor qilmaydi</a:t>
                      </a:r>
                    </a:p>
                  </a:txBody>
                  <a:tcPr marL="73152" marR="73152" marT="36576" marB="36576">
                    <a:solidFill>
                      <a:srgbClr val="FFFFFF"/>
                    </a:solidFill>
                  </a:tcPr>
                </a:tc>
                <a:tc>
                  <a:txBody>
                    <a:bodyPr/>
                    <a:lstStyle/>
                    <a:p>
                      <a:r>
                        <a:rPr sz="1200" b="0">
                          <a:solidFill>
                            <a:srgbClr val="1F2937"/>
                          </a:solidFill>
                        </a:rPr>
                        <a:t>Ruxsatsiz tergov ma’lumotini oshkor etmaydi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 va mutaxassis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18, 19; Iskandarov A.I., Qo‘ldoshev D.R., Sud tibbiyoti, betlar: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Ish materiallari bilan tanishish, kerakli ma’lumotlarni yozib olish va qo‘shimcha materiallar yoki ob’ektlar uchun iltimosnoma berish.</a:t>
            </a:r>
          </a:p>
          <a:p>
            <a:pPr>
              <a:spcAft>
                <a:spcPts val="1200"/>
              </a:spcAft>
            </a:pPr>
            <a:r>
              <a:rPr sz="2200">
                <a:solidFill>
                  <a:srgbClr val="1F2937"/>
                </a:solidFill>
                <a:latin typeface="Calibri"/>
              </a:rPr>
              <a:t>▸  Ruxsat bilan tergov harakatlari va sud muhokamasida qatnashib, ekspertiza predmetiga oid savollar berish.</a:t>
            </a:r>
          </a:p>
          <a:p>
            <a:pPr>
              <a:spcAft>
                <a:spcPts val="1200"/>
              </a:spcAft>
            </a:pPr>
            <a:r>
              <a:rPr sz="2200">
                <a:solidFill>
                  <a:srgbClr val="1F2937"/>
                </a:solidFill>
                <a:latin typeface="Calibri"/>
              </a:rPr>
              <a:t>▸  Xulosada berilgan savollardan tashqari, ish uchun muhim boshqa masalalar bo‘yicha ham fikr bildirish (tashabbus huquqi).</a:t>
            </a:r>
          </a:p>
          <a:p>
            <a:pPr>
              <a:spcAft>
                <a:spcPts val="1200"/>
              </a:spcAft>
            </a:pPr>
            <a:r>
              <a:rPr sz="2200">
                <a:solidFill>
                  <a:srgbClr val="1F2937"/>
                </a:solidFill>
                <a:latin typeface="Calibri"/>
              </a:rPr>
              <a:t>▸  Xulosasi noto‘g‘ri talqin qilinsa bayonot berish, ona tilida xulosa berib tarjimondan foydalanish, qarorlar ustidan shikoyat qilish.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 16-17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Ekspertning burchlari va javobgarligi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Surishtiruvchi, tergovchi, prokuror yoki sud chaqirsa kelish; rad etish asosi bo‘lsa, buni darhol xabar qilish.</a:t>
            </a:r>
          </a:p>
          <a:p>
            <a:pPr>
              <a:spcAft>
                <a:spcPts val="1200"/>
              </a:spcAft>
            </a:pPr>
            <a:r>
              <a:rPr sz="2200">
                <a:solidFill>
                  <a:srgbClr val="1F2937"/>
                </a:solidFill>
                <a:latin typeface="Calibri"/>
              </a:rPr>
              <a:t>▸  Ob’ektlarni har tomonlama va to‘liq tekshirib, asosli va xolis xulosa berish; ob’ektlar saqlanishini ta’minlash.</a:t>
            </a:r>
          </a:p>
          <a:p>
            <a:pPr>
              <a:spcAft>
                <a:spcPts val="1200"/>
              </a:spcAft>
            </a:pPr>
            <a:r>
              <a:rPr sz="2200">
                <a:solidFill>
                  <a:srgbClr val="1F2937"/>
                </a:solidFill>
                <a:latin typeface="Calibri"/>
              </a:rPr>
              <a:t>▸  Ma’lumotlarni oshkor qilmaslik, mustaqil material to‘plamaslik, natijani faqat ekspertizani tayinlagan organga xabar qilish.</a:t>
            </a:r>
          </a:p>
          <a:p>
            <a:pPr>
              <a:spcAft>
                <a:spcPts val="1200"/>
              </a:spcAft>
            </a:pPr>
            <a:r>
              <a:rPr sz="2200">
                <a:solidFill>
                  <a:srgbClr val="1F2937"/>
                </a:solidFill>
                <a:latin typeface="Calibri"/>
              </a:rPr>
              <a:t>▸  Jinoyat kodeksi: bila turib noto‘g‘ri xulosa (238-modda), ma’lumotni oshkor qilish (239) va xulosadan bo‘yin tovlash (240) jazolanadi.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va mutaxassisga raddiya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Raddiyani faqat ekspertizani tayinlagan shaxs hal etadi: surishtiruvda 24 soat ichida, sudda shu majlisning o‘zida.</a:t>
            </a:r>
          </a:p>
          <a:p>
            <a:pPr>
              <a:spcAft>
                <a:spcPts val="800"/>
              </a:spcAft>
            </a:pPr>
            <a:r>
              <a:rPr sz="1800">
                <a:solidFill>
                  <a:srgbClr val="1F2937"/>
                </a:solidFill>
                <a:latin typeface="Calibri"/>
              </a:rPr>
              <a:t>▸  Diqqat: xato qilish xavfi — shu ishda avval mutaxassis bo‘lgan shaxs keyin ekspert etib tayinlanishi mumkin.</a:t>
            </a:r>
          </a:p>
          <a:p>
            <a:pPr>
              <a:spcAft>
                <a:spcPts val="800"/>
              </a:spcAft>
            </a:pPr>
            <a:r>
              <a:rPr sz="1800">
                <a:solidFill>
                  <a:srgbClr val="1F2937"/>
                </a:solidFill>
                <a:latin typeface="Calibri"/>
              </a:rPr>
              <a:t>▸  Jinoyat-protsessual kodeksining 76-moddasi: ekspert jabrlanuvchi, guvoh yoki qarindosh bo‘lsa, ishtirokdan bosh tortishi mumkin.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2266275"/>
                <a:gridCol w="3021700"/>
              </a:tblGrid>
              <a:tr h="411480">
                <a:tc>
                  <a:txBody>
                    <a:bodyPr/>
                    <a:lstStyle/>
                    <a:p>
                      <a:r>
                        <a:rPr sz="1400" b="1">
                          <a:solidFill>
                            <a:srgbClr val="FFFFFF"/>
                          </a:solidFill>
                        </a:rPr>
                        <a:t>Sabab</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Qarindoshlik</a:t>
                      </a:r>
                    </a:p>
                  </a:txBody>
                  <a:tcPr marL="73152" marR="73152" marT="36576" marB="36576">
                    <a:solidFill>
                      <a:srgbClr val="E8EEF6"/>
                    </a:solidFill>
                  </a:tcPr>
                </a:tc>
                <a:tc>
                  <a:txBody>
                    <a:bodyPr/>
                    <a:lstStyle/>
                    <a:p>
                      <a:r>
                        <a:rPr sz="1300" b="0">
                          <a:solidFill>
                            <a:srgbClr val="1F2937"/>
                          </a:solidFill>
                        </a:rPr>
                        <a:t>Tomonlardan biriga qarindosh bo‘lish</a:t>
                      </a:r>
                    </a:p>
                  </a:txBody>
                  <a:tcPr marL="73152" marR="73152" marT="36576" marB="36576">
                    <a:solidFill>
                      <a:srgbClr val="E8EEF6"/>
                    </a:solidFill>
                  </a:tcPr>
                </a:tc>
              </a:tr>
              <a:tr h="411480">
                <a:tc>
                  <a:txBody>
                    <a:bodyPr/>
                    <a:lstStyle/>
                    <a:p>
                      <a:r>
                        <a:rPr sz="1300" b="0">
                          <a:solidFill>
                            <a:srgbClr val="1F2937"/>
                          </a:solidFill>
                        </a:rPr>
                        <a:t>Moddiy yoki xizmat bog‘liqligi</a:t>
                      </a:r>
                    </a:p>
                  </a:txBody>
                  <a:tcPr marL="73152" marR="73152" marT="36576" marB="36576">
                    <a:solidFill>
                      <a:srgbClr val="FFFFFF"/>
                    </a:solidFill>
                  </a:tcPr>
                </a:tc>
                <a:tc>
                  <a:txBody>
                    <a:bodyPr/>
                    <a:lstStyle/>
                    <a:p>
                      <a:r>
                        <a:rPr sz="1300" b="0">
                          <a:solidFill>
                            <a:srgbClr val="1F2937"/>
                          </a:solidFill>
                        </a:rPr>
                        <a:t>Manfaatdor tomonga qaramlik</a:t>
                      </a:r>
                    </a:p>
                  </a:txBody>
                  <a:tcPr marL="73152" marR="73152" marT="36576" marB="36576">
                    <a:solidFill>
                      <a:srgbClr val="FFFFFF"/>
                    </a:solidFill>
                  </a:tcPr>
                </a:tc>
              </a:tr>
              <a:tr h="411480">
                <a:tc>
                  <a:txBody>
                    <a:bodyPr/>
                    <a:lstStyle/>
                    <a:p>
                      <a:r>
                        <a:rPr sz="1300" b="0">
                          <a:solidFill>
                            <a:srgbClr val="1F2937"/>
                          </a:solidFill>
                        </a:rPr>
                        <a:t>Ishdagi maqomi</a:t>
                      </a:r>
                    </a:p>
                  </a:txBody>
                  <a:tcPr marL="73152" marR="73152" marT="36576" marB="36576">
                    <a:solidFill>
                      <a:srgbClr val="E8EEF6"/>
                    </a:solidFill>
                  </a:tcPr>
                </a:tc>
                <a:tc>
                  <a:txBody>
                    <a:bodyPr/>
                    <a:lstStyle/>
                    <a:p>
                      <a:r>
                        <a:rPr sz="1300" b="0">
                          <a:solidFill>
                            <a:srgbClr val="1F2937"/>
                          </a:solidFill>
                        </a:rPr>
                        <a:t>Jabrlanuvchi, javobgar yoki guvoh bo‘lish</a:t>
                      </a:r>
                    </a:p>
                  </a:txBody>
                  <a:tcPr marL="73152" marR="73152" marT="36576" marB="36576">
                    <a:solidFill>
                      <a:srgbClr val="E8EEF6"/>
                    </a:solidFill>
                  </a:tcPr>
                </a:tc>
              </a:tr>
              <a:tr h="411480">
                <a:tc>
                  <a:txBody>
                    <a:bodyPr/>
                    <a:lstStyle/>
                    <a:p>
                      <a:r>
                        <a:rPr sz="1300" b="0">
                          <a:solidFill>
                            <a:srgbClr val="1F2937"/>
                          </a:solidFill>
                        </a:rPr>
                        <a:t>Malaka yetishmasligi</a:t>
                      </a:r>
                    </a:p>
                  </a:txBody>
                  <a:tcPr marL="73152" marR="73152" marT="36576" marB="36576">
                    <a:solidFill>
                      <a:srgbClr val="FFFFFF"/>
                    </a:solidFill>
                  </a:tcPr>
                </a:tc>
                <a:tc>
                  <a:txBody>
                    <a:bodyPr/>
                    <a:lstStyle/>
                    <a:p>
                      <a:r>
                        <a:rPr sz="1300" b="0">
                          <a:solidFill>
                            <a:srgbClr val="1F2937"/>
                          </a:solidFill>
                        </a:rPr>
                        <a:t>Kasbiga noloyiqlik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Raddiya sabablari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19-bet; Iskandarov A.I., Qo‘ldoshev D.R., Sud tibbiyoti, betlar: 26-bet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huquq va burchlar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ekspert o‘ziga qo‘yilmagan, lekin ish uchun muhim masalada fikr bildira oladimi? Ha, bu uning huquqi.</a:t>
            </a:r>
          </a:p>
          <a:p>
            <a:pPr>
              <a:spcAft>
                <a:spcPts val="1200"/>
              </a:spcAft>
            </a:pPr>
            <a:r>
              <a:rPr sz="2200">
                <a:solidFill>
                  <a:srgbClr val="1F2937"/>
                </a:solidFill>
                <a:latin typeface="Calibri"/>
              </a:rPr>
              <a:t>▸  Tezkor savol: ekspert ekspertiza uchun o‘zi mustaqil material yig‘ishi mumkinmi? Yo‘q, bu uning majburiyatlariga zid.</a:t>
            </a:r>
          </a:p>
          <a:p>
            <a:pPr>
              <a:spcAft>
                <a:spcPts val="1200"/>
              </a:spcAft>
            </a:pPr>
            <a:r>
              <a:rPr sz="2200">
                <a:solidFill>
                  <a:srgbClr val="1F2937"/>
                </a:solidFill>
                <a:latin typeface="Calibri"/>
              </a:rPr>
              <a:t>▸  Tezkor savol: ekspertiza natijalarini kimga aytish mumkin? Faqat ekspertizani tayinlagan organ yoki shaxsga.</a:t>
            </a:r>
          </a:p>
          <a:p>
            <a:pPr>
              <a:spcAft>
                <a:spcPts val="1200"/>
              </a:spcAft>
            </a:pPr>
            <a:r>
              <a:rPr sz="2200">
                <a:solidFill>
                  <a:srgbClr val="1F2937"/>
                </a:solidFill>
                <a:latin typeface="Calibri"/>
              </a:rPr>
              <a:t>▸  Tezkor savol: raddiyani kim e’lon qila oladi? Ekspertning o‘zi yoki ish bo‘yicha manfaatdor tomonlar.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16-bet, 17-bet, 19-bet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Ekspertizaning protsessual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Birlamchi ekspertiza ob’ektni birinchi marta tekshiradi va odatda bitta ekspert tomonidan o‘tkaziladi.</a:t>
            </a:r>
          </a:p>
          <a:p>
            <a:pPr>
              <a:spcAft>
                <a:spcPts val="800"/>
              </a:spcAft>
            </a:pPr>
            <a:r>
              <a:rPr sz="1800">
                <a:solidFill>
                  <a:srgbClr val="1F2937"/>
                </a:solidFill>
                <a:latin typeface="Calibri"/>
              </a:rPr>
              <a:t>▸  Qayta ekspertizani dastlabki ekspertga topshirish mumkin emas; u faqat tushuntirish bera oladi.</a:t>
            </a:r>
          </a:p>
          <a:p>
            <a:pPr>
              <a:spcAft>
                <a:spcPts val="800"/>
              </a:spcAft>
            </a:pPr>
            <a:r>
              <a:rPr sz="1800">
                <a:solidFill>
                  <a:srgbClr val="1F2937"/>
                </a:solidFill>
                <a:latin typeface="Calibri"/>
              </a:rPr>
              <a:t>▸  Diqqat: tomonlarning oldingi xulosadan noroziligi o‘zi qayta ekspertiza tayinlash uchun asos bo‘lmaydi.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19368"/>
                <a:gridCol w="2548421"/>
                <a:gridCol w="1720184"/>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Qachon tayinlanadi</a:t>
                      </a:r>
                    </a:p>
                  </a:txBody>
                  <a:tcPr marL="73152" marR="73152" marT="36576" marB="36576">
                    <a:solidFill>
                      <a:srgbClr val="0B1F3A"/>
                    </a:solidFill>
                  </a:tcPr>
                </a:tc>
                <a:tc>
                  <a:txBody>
                    <a:bodyPr/>
                    <a:lstStyle/>
                    <a:p>
                      <a:r>
                        <a:rPr sz="1300" b="1">
                          <a:solidFill>
                            <a:srgbClr val="FFFFFF"/>
                          </a:solidFill>
                        </a:rPr>
                        <a:t>Ijrochi</a:t>
                      </a:r>
                    </a:p>
                  </a:txBody>
                  <a:tcPr marL="73152" marR="73152" marT="36576" marB="36576">
                    <a:solidFill>
                      <a:srgbClr val="0B1F3A"/>
                    </a:solidFill>
                  </a:tcPr>
                </a:tc>
              </a:tr>
              <a:tr h="411480">
                <a:tc>
                  <a:txBody>
                    <a:bodyPr/>
                    <a:lstStyle/>
                    <a:p>
                      <a:r>
                        <a:rPr sz="1200" b="0">
                          <a:solidFill>
                            <a:srgbClr val="1F2937"/>
                          </a:solidFill>
                        </a:rPr>
                        <a:t>Komissiyaviy</a:t>
                      </a:r>
                    </a:p>
                  </a:txBody>
                  <a:tcPr marL="73152" marR="73152" marT="36576" marB="36576">
                    <a:solidFill>
                      <a:srgbClr val="E8EEF6"/>
                    </a:solidFill>
                  </a:tcPr>
                </a:tc>
                <a:tc>
                  <a:txBody>
                    <a:bodyPr/>
                    <a:lstStyle/>
                    <a:p>
                      <a:r>
                        <a:rPr sz="1200" b="0">
                          <a:solidFill>
                            <a:srgbClr val="1F2937"/>
                          </a:solidFill>
                        </a:rPr>
                        <a:t>Kasb huquqbuzarligi, o‘ta murakkab hol</a:t>
                      </a:r>
                    </a:p>
                  </a:txBody>
                  <a:tcPr marL="73152" marR="73152" marT="36576" marB="36576">
                    <a:solidFill>
                      <a:srgbClr val="E8EEF6"/>
                    </a:solidFill>
                  </a:tcPr>
                </a:tc>
                <a:tc>
                  <a:txBody>
                    <a:bodyPr/>
                    <a:lstStyle/>
                    <a:p>
                      <a:r>
                        <a:rPr sz="1200" b="0">
                          <a:solidFill>
                            <a:srgbClr val="1F2937"/>
                          </a:solidFill>
                        </a:rPr>
                        <a:t>Ekspertlar komissiyasi</a:t>
                      </a:r>
                    </a:p>
                  </a:txBody>
                  <a:tcPr marL="73152" marR="73152" marT="36576" marB="36576">
                    <a:solidFill>
                      <a:srgbClr val="E8EEF6"/>
                    </a:solidFill>
                  </a:tcPr>
                </a:tc>
              </a:tr>
              <a:tr h="411480">
                <a:tc>
                  <a:txBody>
                    <a:bodyPr/>
                    <a:lstStyle/>
                    <a:p>
                      <a:r>
                        <a:rPr sz="1200" b="0">
                          <a:solidFill>
                            <a:srgbClr val="1F2937"/>
                          </a:solidFill>
                        </a:rPr>
                        <a:t>Kompleks</a:t>
                      </a:r>
                    </a:p>
                  </a:txBody>
                  <a:tcPr marL="73152" marR="73152" marT="36576" marB="36576">
                    <a:solidFill>
                      <a:srgbClr val="FFFFFF"/>
                    </a:solidFill>
                  </a:tcPr>
                </a:tc>
                <a:tc>
                  <a:txBody>
                    <a:bodyPr/>
                    <a:lstStyle/>
                    <a:p>
                      <a:r>
                        <a:rPr sz="1200" b="0">
                          <a:solidFill>
                            <a:srgbClr val="1F2937"/>
                          </a:solidFill>
                        </a:rPr>
                        <a:t>Tibbiyotdan tashqari ilm ham kerak</a:t>
                      </a:r>
                    </a:p>
                  </a:txBody>
                  <a:tcPr marL="73152" marR="73152" marT="36576" marB="36576">
                    <a:solidFill>
                      <a:srgbClr val="FFFFFF"/>
                    </a:solidFill>
                  </a:tcPr>
                </a:tc>
                <a:tc>
                  <a:txBody>
                    <a:bodyPr/>
                    <a:lstStyle/>
                    <a:p>
                      <a:r>
                        <a:rPr sz="1200" b="0">
                          <a:solidFill>
                            <a:srgbClr val="1F2937"/>
                          </a:solidFill>
                        </a:rPr>
                        <a:t>Turli soha ekspertlari</a:t>
                      </a:r>
                    </a:p>
                  </a:txBody>
                  <a:tcPr marL="73152" marR="73152" marT="36576" marB="36576">
                    <a:solidFill>
                      <a:srgbClr val="FFFFFF"/>
                    </a:solidFill>
                  </a:tcPr>
                </a:tc>
              </a:tr>
              <a:tr h="411480">
                <a:tc>
                  <a:txBody>
                    <a:bodyPr/>
                    <a:lstStyle/>
                    <a:p>
                      <a:r>
                        <a:rPr sz="1200" b="0">
                          <a:solidFill>
                            <a:srgbClr val="1F2937"/>
                          </a:solidFill>
                        </a:rPr>
                        <a:t>Qo‘shimcha</a:t>
                      </a:r>
                    </a:p>
                  </a:txBody>
                  <a:tcPr marL="73152" marR="73152" marT="36576" marB="36576">
                    <a:solidFill>
                      <a:srgbClr val="E8EEF6"/>
                    </a:solidFill>
                  </a:tcPr>
                </a:tc>
                <a:tc>
                  <a:txBody>
                    <a:bodyPr/>
                    <a:lstStyle/>
                    <a:p>
                      <a:r>
                        <a:rPr sz="1200" b="0">
                          <a:solidFill>
                            <a:srgbClr val="1F2937"/>
                          </a:solidFill>
                        </a:rPr>
                        <a:t>Oldingi xulosadagi kamchilikni to‘ldirish</a:t>
                      </a:r>
                    </a:p>
                  </a:txBody>
                  <a:tcPr marL="73152" marR="73152" marT="36576" marB="36576">
                    <a:solidFill>
                      <a:srgbClr val="E8EEF6"/>
                    </a:solidFill>
                  </a:tcPr>
                </a:tc>
                <a:tc>
                  <a:txBody>
                    <a:bodyPr/>
                    <a:lstStyle/>
                    <a:p>
                      <a:r>
                        <a:rPr sz="1200" b="0">
                          <a:solidFill>
                            <a:srgbClr val="1F2937"/>
                          </a:solidFill>
                        </a:rPr>
                        <a:t>Odatda oldingi ekspert</a:t>
                      </a:r>
                    </a:p>
                  </a:txBody>
                  <a:tcPr marL="73152" marR="73152" marT="36576" marB="36576">
                    <a:solidFill>
                      <a:srgbClr val="E8EEF6"/>
                    </a:solidFill>
                  </a:tcPr>
                </a:tc>
              </a:tr>
              <a:tr h="411480">
                <a:tc>
                  <a:txBody>
                    <a:bodyPr/>
                    <a:lstStyle/>
                    <a:p>
                      <a:r>
                        <a:rPr sz="1200" b="0">
                          <a:solidFill>
                            <a:srgbClr val="1F2937"/>
                          </a:solidFill>
                        </a:rPr>
                        <a:t>Qayta</a:t>
                      </a:r>
                    </a:p>
                  </a:txBody>
                  <a:tcPr marL="73152" marR="73152" marT="36576" marB="36576">
                    <a:solidFill>
                      <a:srgbClr val="FFFFFF"/>
                    </a:solidFill>
                  </a:tcPr>
                </a:tc>
                <a:tc>
                  <a:txBody>
                    <a:bodyPr/>
                    <a:lstStyle/>
                    <a:p>
                      <a:r>
                        <a:rPr sz="1200" b="0">
                          <a:solidFill>
                            <a:srgbClr val="1F2937"/>
                          </a:solidFill>
                        </a:rPr>
                        <a:t>Xulosa asossiz yoki shubhali</a:t>
                      </a:r>
                    </a:p>
                  </a:txBody>
                  <a:tcPr marL="73152" marR="73152" marT="36576" marB="36576">
                    <a:solidFill>
                      <a:srgbClr val="FFFFFF"/>
                    </a:solidFill>
                  </a:tcPr>
                </a:tc>
                <a:tc>
                  <a:txBody>
                    <a:bodyPr/>
                    <a:lstStyle/>
                    <a:p>
                      <a:r>
                        <a:rPr sz="1200" b="0">
                          <a:solidFill>
                            <a:srgbClr val="1F2937"/>
                          </a:solidFill>
                        </a:rPr>
                        <a:t>Ikki va undan ortiq ekspert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Turlar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19-bet, 20-bet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qo‘shimcha ≠ qayta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Qo‘shimcha ekspertiza dastlabki xulosadagi kamchilik va bo‘shliqni to‘ldirish uchun tayinlanadi. Odatda uni oldingi ekspert bajaradi.</a:t>
            </a:r>
          </a:p>
          <a:p>
            <a:pPr>
              <a:spcAft>
                <a:spcPts val="1200"/>
              </a:spcAft>
            </a:pPr>
            <a:r>
              <a:rPr sz="2000">
                <a:solidFill>
                  <a:srgbClr val="1F2937"/>
                </a:solidFill>
                <a:latin typeface="Calibri"/>
              </a:rPr>
              <a:t>▸  Qayta ekspertiza xulosa asoslanmagan yoki to‘g‘riligiga shubha bo‘lganda tayinlanadi. Dastlabki ekspert tekshiruv va xulosa tuzishda ishtirok etmaydi.</a:t>
            </a:r>
          </a:p>
          <a:p>
            <a:pPr>
              <a:spcAft>
                <a:spcPts val="1200"/>
              </a:spcAft>
            </a:pPr>
            <a:r>
              <a:rPr sz="2000">
                <a:solidFill>
                  <a:srgbClr val="1F2937"/>
                </a:solidFill>
                <a:latin typeface="Calibri"/>
              </a:rPr>
              <a:t>▸  Tomonlarning oldingi xulosadan noroziligi o‘z-o‘zidan qayta ekspertiza uchun asos bo‘lmaydi. Qarorda qo‘shilmaslik sabablari ko‘rsatilishi shart.</a:t>
            </a:r>
          </a:p>
          <a:p>
            <a:pPr>
              <a:spcAft>
                <a:spcPts val="1200"/>
              </a:spcAft>
            </a:pPr>
            <a:r>
              <a:rPr sz="2000">
                <a:solidFill>
                  <a:srgbClr val="1F2937"/>
                </a:solidFill>
                <a:latin typeface="Calibri"/>
              </a:rPr>
              <a:t>▸  Komissiyaviy ≠ kompleks: komissiyada ekspertlar birgalikda tahlil qilib umumiy xulosa tuzadi. Kompleksda tibbiyotdan tashqari fanlar ham jalb etilib, har ekspert o‘z qismini imzolaydi.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20, 19-20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xulosasi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Kirishda sana, asos, ekspert va savollar; tadqiqotda usullar va natijalar; yakunda savollarga javoblar (to‘xtam) beriladi.</a:t>
            </a:r>
          </a:p>
          <a:p>
            <a:pPr>
              <a:spcAft>
                <a:spcPts val="800"/>
              </a:spcAft>
            </a:pPr>
            <a:r>
              <a:rPr sz="1800">
                <a:solidFill>
                  <a:srgbClr val="1F2937"/>
                </a:solidFill>
                <a:latin typeface="Calibri"/>
              </a:rPr>
              <a:t>▸  Yo‘llanma asosidagi tekshiruvda dalolatnoma tuziladi; uning yakuniy qismi “xotima” deb ataladi.</a:t>
            </a:r>
          </a:p>
          <a:p>
            <a:pPr>
              <a:spcAft>
                <a:spcPts val="800"/>
              </a:spcAft>
            </a:pPr>
            <a:r>
              <a:rPr sz="1800">
                <a:solidFill>
                  <a:srgbClr val="1F2937"/>
                </a:solidFill>
                <a:latin typeface="Calibri"/>
              </a:rPr>
              <a:t>▸  Xulosa tergovchi va sud uchun oldindan majburiy emas; rad etilsa, sabab asoslab ko‘rsatiladi.</a:t>
            </a:r>
          </a:p>
        </p:txBody>
      </p:sp>
      <p:sp>
        <p:nvSpPr>
          <p:cNvPr id="9" name="Rounded Rectangle 8"/>
          <p:cNvSpPr/>
          <p:nvPr/>
        </p:nvSpPr>
        <p:spPr>
          <a:xfrm>
            <a:off x="6263640" y="1463040"/>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 qismi</a:t>
            </a:r>
          </a:p>
        </p:txBody>
      </p:sp>
      <p:sp>
        <p:nvSpPr>
          <p:cNvPr id="10" name="Down Arrow 9"/>
          <p:cNvSpPr/>
          <p:nvPr/>
        </p:nvSpPr>
        <p:spPr>
          <a:xfrm>
            <a:off x="8770467" y="2258568"/>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532888"/>
            <a:ext cx="5287975" cy="7772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Tadqiqot qismi</a:t>
            </a:r>
          </a:p>
        </p:txBody>
      </p:sp>
      <p:sp>
        <p:nvSpPr>
          <p:cNvPr id="12" name="Down Arrow 11"/>
          <p:cNvSpPr/>
          <p:nvPr/>
        </p:nvSpPr>
        <p:spPr>
          <a:xfrm>
            <a:off x="8770467" y="332841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602736"/>
            <a:ext cx="5287975" cy="7772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Yakunlovchi qism (to‘xtam)</a:t>
            </a:r>
          </a:p>
        </p:txBody>
      </p:sp>
      <p:sp>
        <p:nvSpPr>
          <p:cNvPr id="14" name="TextBox 13"/>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Xulosa qismlari</a:t>
            </a:r>
          </a:p>
        </p:txBody>
      </p:sp>
      <p:sp>
        <p:nvSpPr>
          <p:cNvPr id="15" name="TextBox 14"/>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21-22, 22; Iskandarov A.I., Qo‘ldoshev D.R., Sud tibbiyoti, betlar: 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Dastlabki tergov va sud jarayonida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Tergovda ekspertiza qaror bilan tayinlanadi; ijrochini ekspertiza muassasasi rahbari belgilaydi.</a:t>
            </a:r>
          </a:p>
          <a:p>
            <a:pPr>
              <a:spcAft>
                <a:spcPts val="800"/>
              </a:spcAft>
            </a:pPr>
            <a:r>
              <a:rPr sz="1800">
                <a:solidFill>
                  <a:srgbClr val="1F2937"/>
                </a:solidFill>
                <a:latin typeface="Calibri"/>
              </a:rPr>
              <a:t>▸  Sudda ekspert majlisda to‘liq qatnashib, ekspertiza predmetiga oid ish tafsilotlarini tekshirishda ishtirok etadi.</a:t>
            </a:r>
          </a:p>
          <a:p>
            <a:pPr>
              <a:spcAft>
                <a:spcPts val="800"/>
              </a:spcAft>
            </a:pPr>
            <a:r>
              <a:rPr sz="1800">
                <a:solidFill>
                  <a:srgbClr val="1F2937"/>
                </a:solidFill>
                <a:latin typeface="Calibri"/>
              </a:rPr>
              <a:t>▸  Yozma xulosa sud majlisida o‘qib eshittiriladi, so‘ngra ekspert xulosasi bo‘yicha so‘roq qilinishi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Tergovchi qaror chiqaradi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Byuro rahbari ekspert tayinlaydi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 yozadi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Sudda xulosa o‘qiladi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so‘roq qilinadi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29; G‘iyosov Z.A., Sud tibbiyoti: darslik, betlar: 15, 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Xorijiy tajriba: ekspert xolisligi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Ekspertning burchi sud oldida; fikriga uni so‘ragan yoki to‘lagan shaxs ta’sir qilmasligi kerak.</a:t>
            </a:r>
          </a:p>
          <a:p>
            <a:pPr>
              <a:spcAft>
                <a:spcPts val="800"/>
              </a:spcAft>
            </a:pPr>
            <a:r>
              <a:rPr sz="1800">
                <a:solidFill>
                  <a:srgbClr val="1F2937"/>
                </a:solidFill>
                <a:latin typeface="Calibri"/>
              </a:rPr>
              <a:t>▸  Professional guvoh faqat tibbiy faktni bayon qiladi; ekspert guvoh esa shu faktlar haqida fikr bildiradi.</a:t>
            </a:r>
          </a:p>
          <a:p>
            <a:pPr>
              <a:spcAft>
                <a:spcPts val="800"/>
              </a:spcAft>
            </a:pPr>
            <a:r>
              <a:rPr sz="1800">
                <a:solidFill>
                  <a:srgbClr val="1F2937"/>
                </a:solidFill>
                <a:latin typeface="Calibri"/>
              </a:rPr>
              <a:t>▸  Rossiyada ekspert mustaqil protsessual shaxs: buyurtmachi va taraflarga bog‘liq bo‘la olmaydi.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83809"/>
                <a:gridCol w="2398035"/>
                <a:gridCol w="1906130"/>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Angliya, Uels</a:t>
                      </a:r>
                    </a:p>
                  </a:txBody>
                  <a:tcPr marL="73152" marR="73152" marT="36576" marB="36576">
                    <a:solidFill>
                      <a:srgbClr val="0B1F3A"/>
                    </a:solidFill>
                  </a:tcPr>
                </a:tc>
                <a:tc>
                  <a:txBody>
                    <a:bodyPr/>
                    <a:lstStyle/>
                    <a:p>
                      <a:r>
                        <a:rPr sz="1300" b="1">
                          <a:solidFill>
                            <a:srgbClr val="FFFFFF"/>
                          </a:solidFill>
                        </a:rPr>
                        <a:t>Rossiya</a:t>
                      </a:r>
                    </a:p>
                  </a:txBody>
                  <a:tcPr marL="73152" marR="73152" marT="36576" marB="36576">
                    <a:solidFill>
                      <a:srgbClr val="0B1F3A"/>
                    </a:solidFill>
                  </a:tcPr>
                </a:tc>
              </a:tr>
              <a:tr h="411480">
                <a:tc>
                  <a:txBody>
                    <a:bodyPr/>
                    <a:lstStyle/>
                    <a:p>
                      <a:r>
                        <a:rPr sz="1200" b="0">
                          <a:solidFill>
                            <a:srgbClr val="1F2937"/>
                          </a:solidFill>
                        </a:rPr>
                        <a:t>Ekspert maqomi</a:t>
                      </a:r>
                    </a:p>
                  </a:txBody>
                  <a:tcPr marL="73152" marR="73152" marT="36576" marB="36576">
                    <a:solidFill>
                      <a:srgbClr val="E8EEF6"/>
                    </a:solidFill>
                  </a:tcPr>
                </a:tc>
                <a:tc>
                  <a:txBody>
                    <a:bodyPr/>
                    <a:lstStyle/>
                    <a:p>
                      <a:r>
                        <a:rPr sz="1200" b="0">
                          <a:solidFill>
                            <a:srgbClr val="1F2937"/>
                          </a:solidFill>
                        </a:rPr>
                        <a:t>Sud oldida mas’ul, xolis</a:t>
                      </a:r>
                    </a:p>
                  </a:txBody>
                  <a:tcPr marL="73152" marR="73152" marT="36576" marB="36576">
                    <a:solidFill>
                      <a:srgbClr val="E8EEF6"/>
                    </a:solidFill>
                  </a:tcPr>
                </a:tc>
                <a:tc>
                  <a:txBody>
                    <a:bodyPr/>
                    <a:lstStyle/>
                    <a:p>
                      <a:r>
                        <a:rPr sz="1200" b="0">
                          <a:solidFill>
                            <a:srgbClr val="1F2937"/>
                          </a:solidFill>
                        </a:rPr>
                        <a:t>Mustaqil protsessual shaxs</a:t>
                      </a:r>
                    </a:p>
                  </a:txBody>
                  <a:tcPr marL="73152" marR="73152" marT="36576" marB="36576">
                    <a:solidFill>
                      <a:srgbClr val="E8EEF6"/>
                    </a:solidFill>
                  </a:tcPr>
                </a:tc>
              </a:tr>
              <a:tr h="411480">
                <a:tc>
                  <a:txBody>
                    <a:bodyPr/>
                    <a:lstStyle/>
                    <a:p>
                      <a:r>
                        <a:rPr sz="1200" b="0">
                          <a:solidFill>
                            <a:srgbClr val="1F2937"/>
                          </a:solidFill>
                        </a:rPr>
                        <a:t>Bog‘liqlik</a:t>
                      </a:r>
                    </a:p>
                  </a:txBody>
                  <a:tcPr marL="73152" marR="73152" marT="36576" marB="36576">
                    <a:solidFill>
                      <a:srgbClr val="FFFFFF"/>
                    </a:solidFill>
                  </a:tcPr>
                </a:tc>
                <a:tc>
                  <a:txBody>
                    <a:bodyPr/>
                    <a:lstStyle/>
                    <a:p>
                      <a:r>
                        <a:rPr sz="1200" b="0">
                          <a:solidFill>
                            <a:srgbClr val="1F2937"/>
                          </a:solidFill>
                        </a:rPr>
                        <a:t>Buyurtmachi ta’sir etmasligi kerak</a:t>
                      </a:r>
                    </a:p>
                  </a:txBody>
                  <a:tcPr marL="73152" marR="73152" marT="36576" marB="36576">
                    <a:solidFill>
                      <a:srgbClr val="FFFFFF"/>
                    </a:solidFill>
                  </a:tcPr>
                </a:tc>
                <a:tc>
                  <a:txBody>
                    <a:bodyPr/>
                    <a:lstStyle/>
                    <a:p>
                      <a:r>
                        <a:rPr sz="1200" b="0">
                          <a:solidFill>
                            <a:srgbClr val="1F2937"/>
                          </a:solidFill>
                        </a:rPr>
                        <a:t>Tayinlagan organga bog‘liq emas</a:t>
                      </a:r>
                    </a:p>
                  </a:txBody>
                  <a:tcPr marL="73152" marR="73152" marT="36576" marB="36576">
                    <a:solidFill>
                      <a:srgbClr val="FFFFFF"/>
                    </a:solidFill>
                  </a:tcPr>
                </a:tc>
              </a:tr>
              <a:tr h="411480">
                <a:tc>
                  <a:txBody>
                    <a:bodyPr/>
                    <a:lstStyle/>
                    <a:p>
                      <a:r>
                        <a:rPr sz="1200" b="0">
                          <a:solidFill>
                            <a:srgbClr val="1F2937"/>
                          </a:solidFill>
                        </a:rPr>
                        <a:t>Fakt va fikr</a:t>
                      </a:r>
                    </a:p>
                  </a:txBody>
                  <a:tcPr marL="73152" marR="73152" marT="36576" marB="36576">
                    <a:solidFill>
                      <a:srgbClr val="E8EEF6"/>
                    </a:solidFill>
                  </a:tcPr>
                </a:tc>
                <a:tc>
                  <a:txBody>
                    <a:bodyPr/>
                    <a:lstStyle/>
                    <a:p>
                      <a:r>
                        <a:rPr sz="1200" b="0">
                          <a:solidFill>
                            <a:srgbClr val="1F2937"/>
                          </a:solidFill>
                        </a:rPr>
                        <a:t>Professional guvoh: fakt; ekspert: fikr</a:t>
                      </a:r>
                    </a:p>
                  </a:txBody>
                  <a:tcPr marL="73152" marR="73152" marT="36576" marB="36576">
                    <a:solidFill>
                      <a:srgbClr val="E8EEF6"/>
                    </a:solidFill>
                  </a:tcPr>
                </a:tc>
                <a:tc>
                  <a:txBody>
                    <a:bodyPr/>
                    <a:lstStyle/>
                    <a:p>
                      <a:r>
                        <a:rPr sz="1200" b="0">
                          <a:solidFill>
                            <a:srgbClr val="1F2937"/>
                          </a:solidFill>
                        </a:rPr>
                        <a:t>Xulosa — dalil turlaridan biri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 maqomi: ikki yondashuv</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Payne-James J., Jones R., Karch S.B., Manlove J., Simpson's Forensic Medicine, betlar: p. 6, p. 4; Ромодановский П.О., Баринов Е.Х., Судебная медицина в схемах и рисунках: учебное пособие, betlar: bet 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protsessual bo‘lim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murda surishtiruvchining qaroriz, faqat yozma topshirig‘i bilan yuborildi va tekshiruv o‘tkazildi. Qanday hujjat tuziladi: xulosa yoki dalolatnoma?</a:t>
            </a:r>
          </a:p>
          <a:p>
            <a:pPr>
              <a:spcAft>
                <a:spcPts val="1200"/>
              </a:spcAft>
            </a:pPr>
            <a:r>
              <a:rPr sz="2000">
                <a:solidFill>
                  <a:srgbClr val="1F2937"/>
                </a:solidFill>
                <a:latin typeface="Calibri"/>
              </a:rPr>
              <a:t>▸  Yozma topshiriq yoki yo‘llanma asosida sud-tibbiy tekshiruv dalolatnomasi tuziladi: huquq-majburiyat tilxati olinmaydi, yakuniy qism “xotima” deyiladi.</a:t>
            </a:r>
          </a:p>
          <a:p>
            <a:pPr>
              <a:spcAft>
                <a:spcPts val="1200"/>
              </a:spcAft>
            </a:pPr>
            <a:r>
              <a:rPr sz="2000">
                <a:solidFill>
                  <a:srgbClr val="1F2937"/>
                </a:solidFill>
                <a:latin typeface="Calibri"/>
              </a:rPr>
              <a:t>▸  Birinchi xulosa asoslantirilmagan yoki to‘g‘riligiga shubha bo‘lsa, qayta ekspertiza tayinlanadi; uni dastlabki ekspertiza o‘tkazgan ekspertga topshirish mumkin emas.</a:t>
            </a:r>
          </a:p>
          <a:p>
            <a:pPr>
              <a:spcAft>
                <a:spcPts val="1200"/>
              </a:spcAft>
            </a:pPr>
            <a:r>
              <a:rPr sz="2000">
                <a:solidFill>
                  <a:srgbClr val="1F2937"/>
                </a:solidFill>
                <a:latin typeface="Calibri"/>
              </a:rPr>
              <a:t>▸  Diqqat: qo‘shimcha ekspertiza (kamchilikni to‘ldirish) ≠ qayta ekspertiza (shubha). Taraflarning noroziligi o‘zi qayta ekspertizaga asos bo‘lmaydi.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Bob 1, 1.11-bo‘lim, Bob 1, 1.10-bo‘lim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 xizmatning tashkil etilishi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Xizmat asosan Sog‘liqni saqlash vazirligi tizimida; harbiylarga Mudofaa vazirligi xizmati qaraydi.</a:t>
            </a:r>
          </a:p>
          <a:p>
            <a:pPr>
              <a:spcAft>
                <a:spcPts val="800"/>
              </a:spcAft>
            </a:pPr>
            <a:r>
              <a:rPr sz="1800">
                <a:solidFill>
                  <a:srgbClr val="1F2937"/>
                </a:solidFill>
                <a:latin typeface="Calibri"/>
              </a:rPr>
              <a:t>▸  Hududiy byuro ma’muriy-moliyaviy ishda mahalliy sog‘liqni saqlashga, metodik ishda Bosh byuroga bo‘ysunadi.</a:t>
            </a:r>
          </a:p>
          <a:p>
            <a:pPr>
              <a:spcAft>
                <a:spcPts val="800"/>
              </a:spcAft>
            </a:pPr>
            <a:r>
              <a:rPr sz="1800">
                <a:solidFill>
                  <a:srgbClr val="1F2937"/>
                </a:solidFill>
                <a:latin typeface="Calibri"/>
              </a:rPr>
              <a:t>▸  Bosh byuro boshlig‘i — respublika bosh eksperti — xizmatni ilmiy-metodik va tashkiliy jihatdan boshqaradi.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Sog‘liqni saqlash vazirligi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Sud-tibbiy Bosh byuro</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13 hududiy byuro</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Tuman va shahar bo‘linmalari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Boshqaruv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Bob 1, 1.12-bo‘lim; Iskandarov A.I., Qo‘ldoshev D.R., Sud tibbiyoti, betlar: bet 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Byuro tuzilishi va bo‘limlari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O‘zbekistondagi 13 hududiy byuroning tarkibi bir xil: nizomda belgilangan barcha tuzilmalar ularda mavjud.</a:t>
            </a:r>
          </a:p>
          <a:p>
            <a:pPr>
              <a:spcAft>
                <a:spcPts val="800"/>
              </a:spcAft>
            </a:pPr>
            <a:r>
              <a:rPr sz="1800">
                <a:solidFill>
                  <a:srgbClr val="1F2937"/>
                </a:solidFill>
                <a:latin typeface="Calibri"/>
              </a:rPr>
              <a:t>▸  Tashkiliy-metodik bo‘lim byuro tuzilmalarini muvofiqlashtiradi; tuman va shahar bo‘linmalariga hududiy byuro rahbarlik qiladi.</a:t>
            </a:r>
          </a:p>
          <a:p>
            <a:pPr>
              <a:spcAft>
                <a:spcPts val="800"/>
              </a:spcAft>
            </a:pPr>
            <a:r>
              <a:rPr sz="1800">
                <a:solidFill>
                  <a:srgbClr val="1F2937"/>
                </a:solidFill>
                <a:latin typeface="Calibri"/>
              </a:rPr>
              <a:t>▸  Byuro alohida tibbiyot tashkiloti: o‘z hududi, binolari, apparaturasi va transporti bor.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504830"/>
                <a:gridCol w="2783144"/>
              </a:tblGrid>
              <a:tr h="411480">
                <a:tc>
                  <a:txBody>
                    <a:bodyPr/>
                    <a:lstStyle/>
                    <a:p>
                      <a:r>
                        <a:rPr sz="1400" b="1">
                          <a:solidFill>
                            <a:srgbClr val="FFFFFF"/>
                          </a:solidFill>
                        </a:rPr>
                        <a:t>Bo‘lim</a:t>
                      </a:r>
                    </a:p>
                  </a:txBody>
                  <a:tcPr marL="73152" marR="73152" marT="36576" marB="36576">
                    <a:solidFill>
                      <a:srgbClr val="0B1F3A"/>
                    </a:solidFill>
                  </a:tcPr>
                </a:tc>
                <a:tc>
                  <a:txBody>
                    <a:bodyPr/>
                    <a:lstStyle/>
                    <a:p>
                      <a:r>
                        <a:rPr sz="1400" b="1">
                          <a:solidFill>
                            <a:srgbClr val="FFFFFF"/>
                          </a:solidFill>
                        </a:rPr>
                        <a:t>Vazifasi</a:t>
                      </a:r>
                    </a:p>
                  </a:txBody>
                  <a:tcPr marL="73152" marR="73152" marT="36576" marB="36576">
                    <a:solidFill>
                      <a:srgbClr val="0B1F3A"/>
                    </a:solidFill>
                  </a:tcPr>
                </a:tc>
              </a:tr>
              <a:tr h="411480">
                <a:tc>
                  <a:txBody>
                    <a:bodyPr/>
                    <a:lstStyle/>
                    <a:p>
                      <a:r>
                        <a:rPr sz="1300" b="0">
                          <a:solidFill>
                            <a:srgbClr val="1F2937"/>
                          </a:solidFill>
                        </a:rPr>
                        <a:t>Morfologik va sud-gistologik</a:t>
                      </a:r>
                    </a:p>
                  </a:txBody>
                  <a:tcPr marL="73152" marR="73152" marT="36576" marB="36576">
                    <a:solidFill>
                      <a:srgbClr val="E8EEF6"/>
                    </a:solidFill>
                  </a:tcPr>
                </a:tc>
                <a:tc>
                  <a:txBody>
                    <a:bodyPr/>
                    <a:lstStyle/>
                    <a:p>
                      <a:r>
                        <a:rPr sz="1300" b="0">
                          <a:solidFill>
                            <a:srgbClr val="1F2937"/>
                          </a:solidFill>
                        </a:rPr>
                        <a:t>Murda ekspertizasi; to‘qima mikroskopiyasi</a:t>
                      </a:r>
                    </a:p>
                  </a:txBody>
                  <a:tcPr marL="73152" marR="73152" marT="36576" marB="36576">
                    <a:solidFill>
                      <a:srgbClr val="E8EEF6"/>
                    </a:solidFill>
                  </a:tcPr>
                </a:tc>
              </a:tr>
              <a:tr h="411480">
                <a:tc>
                  <a:txBody>
                    <a:bodyPr/>
                    <a:lstStyle/>
                    <a:p>
                      <a:r>
                        <a:rPr sz="1300" b="0">
                          <a:solidFill>
                            <a:srgbClr val="1F2937"/>
                          </a:solidFill>
                        </a:rPr>
                        <a:t>Sud-tibbiy ambulatoriya</a:t>
                      </a:r>
                    </a:p>
                  </a:txBody>
                  <a:tcPr marL="73152" marR="73152" marT="36576" marB="36576">
                    <a:solidFill>
                      <a:srgbClr val="FFFFFF"/>
                    </a:solidFill>
                  </a:tcPr>
                </a:tc>
                <a:tc>
                  <a:txBody>
                    <a:bodyPr/>
                    <a:lstStyle/>
                    <a:p>
                      <a:r>
                        <a:rPr sz="1300" b="0">
                          <a:solidFill>
                            <a:srgbClr val="1F2937"/>
                          </a:solidFill>
                        </a:rPr>
                        <a:t>Tirik shaxslar ekspertizasi va tekshiruvi</a:t>
                      </a:r>
                    </a:p>
                  </a:txBody>
                  <a:tcPr marL="73152" marR="73152" marT="36576" marB="36576">
                    <a:solidFill>
                      <a:srgbClr val="FFFFFF"/>
                    </a:solidFill>
                  </a:tcPr>
                </a:tc>
              </a:tr>
              <a:tr h="411480">
                <a:tc>
                  <a:txBody>
                    <a:bodyPr/>
                    <a:lstStyle/>
                    <a:p>
                      <a:r>
                        <a:rPr sz="1300" b="0">
                          <a:solidFill>
                            <a:srgbClr val="1F2937"/>
                          </a:solidFill>
                        </a:rPr>
                        <a:t>Qayta va komission bo‘lim</a:t>
                      </a:r>
                    </a:p>
                  </a:txBody>
                  <a:tcPr marL="73152" marR="73152" marT="36576" marB="36576">
                    <a:solidFill>
                      <a:srgbClr val="E8EEF6"/>
                    </a:solidFill>
                  </a:tcPr>
                </a:tc>
                <a:tc>
                  <a:txBody>
                    <a:bodyPr/>
                    <a:lstStyle/>
                    <a:p>
                      <a:r>
                        <a:rPr sz="1300" b="0">
                          <a:solidFill>
                            <a:srgbClr val="1F2937"/>
                          </a:solidFill>
                        </a:rPr>
                        <a:t>Takroriy, komission, kompleks ekspertizalar</a:t>
                      </a:r>
                    </a:p>
                  </a:txBody>
                  <a:tcPr marL="73152" marR="73152" marT="36576" marB="36576">
                    <a:solidFill>
                      <a:srgbClr val="E8EEF6"/>
                    </a:solidFill>
                  </a:tcPr>
                </a:tc>
              </a:tr>
              <a:tr h="411480">
                <a:tc>
                  <a:txBody>
                    <a:bodyPr/>
                    <a:lstStyle/>
                    <a:p>
                      <a:r>
                        <a:rPr sz="1300" b="0">
                          <a:solidFill>
                            <a:srgbClr val="1F2937"/>
                          </a:solidFill>
                        </a:rPr>
                        <a:t>Sud kimyo, biologiya, kriminalistika</a:t>
                      </a:r>
                    </a:p>
                  </a:txBody>
                  <a:tcPr marL="73152" marR="73152" marT="36576" marB="36576">
                    <a:solidFill>
                      <a:srgbClr val="FFFFFF"/>
                    </a:solidFill>
                  </a:tcPr>
                </a:tc>
                <a:tc>
                  <a:txBody>
                    <a:bodyPr/>
                    <a:lstStyle/>
                    <a:p>
                      <a:r>
                        <a:rPr sz="1300" b="0">
                          <a:solidFill>
                            <a:srgbClr val="1F2937"/>
                          </a:solidFill>
                        </a:rPr>
                        <a:t>Zahar, ashyoviy dalil, jarohat va qurol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Byuro bo‘limlari va vazifalari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22, 22-23; Iskandarov A.I., Qo‘ldoshev D.R., Sud tibbiyoti, betlar: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 byuro vazifalari va ekspert mustaqilligi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Respublikaning Bosh sud-tibbiy eksperti butun mamlakatda ekspertizani ilmiy-metodik va tashkiliy jihatdan boshqaradi.</a:t>
            </a:r>
          </a:p>
          <a:p>
            <a:pPr>
              <a:spcAft>
                <a:spcPts val="1200"/>
              </a:spcAft>
            </a:pPr>
            <a:r>
              <a:rPr sz="2200">
                <a:solidFill>
                  <a:srgbClr val="1F2937"/>
                </a:solidFill>
                <a:latin typeface="Calibri"/>
              </a:rPr>
              <a:t>▸  Hududiy muassasalar ma’muriy va moliyaviy masalada mahalliy sog‘liqni saqlash idoralariga, ekspertiza va metodika masalasida Bosh byuroga bo‘ysunadi.</a:t>
            </a:r>
          </a:p>
          <a:p>
            <a:pPr>
              <a:spcAft>
                <a:spcPts val="1200"/>
              </a:spcAft>
            </a:pPr>
            <a:r>
              <a:rPr sz="2200">
                <a:solidFill>
                  <a:srgbClr val="1F2937"/>
                </a:solidFill>
                <a:latin typeface="Calibri"/>
              </a:rPr>
              <a:t>▸  Diqqat: byuro boshlig‘i kamchilikni ko‘rsatishi mumkin, lekin xulosani bekor qila olmaydi. Xulosa uchun faqat uni bergan ekspert javobgar.</a:t>
            </a:r>
          </a:p>
          <a:p>
            <a:pPr>
              <a:spcAft>
                <a:spcPts val="1200"/>
              </a:spcAft>
            </a:pPr>
            <a:r>
              <a:rPr sz="2200">
                <a:solidFill>
                  <a:srgbClr val="1F2937"/>
                </a:solidFill>
                <a:latin typeface="Calibri"/>
              </a:rPr>
              <a:t>▸  Boshliq xulosani noto‘g‘ri deb hisoblasa, kuzatuvchi prokurordan qayta ekspertiza o‘tkazishga ruxsat so‘raydi. Tibbiyot tashkilotlari ekspertga yordam berishi shart.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Iskandarov A.I., Qo‘ldoshev D.R., Sud tibbiyoti, betlar: 36, 36-37; G‘iyosov Z.A., Sud tibbiyoti: darslik, betlar: 22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tezislar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ekspertiza tibbiy bilimga tayanib, belgilangan tartibda o‘tkaziladi va ekspert xulosasi bilan yakunlanadi.</a:t>
            </a:r>
          </a:p>
          <a:p>
            <a:pPr>
              <a:spcAft>
                <a:spcPts val="1200"/>
              </a:spcAft>
            </a:pPr>
            <a:r>
              <a:rPr sz="2200">
                <a:solidFill>
                  <a:srgbClr val="1F2937"/>
                </a:solidFill>
                <a:latin typeface="Calibri"/>
              </a:rPr>
              <a:t>▸  Ekspertiza surishtiruv yoki tergov idoralarining qarori, yoxud sud ajrimi asosida o‘tkaziladi.</a:t>
            </a:r>
          </a:p>
          <a:p>
            <a:pPr>
              <a:spcAft>
                <a:spcPts val="1200"/>
              </a:spcAft>
            </a:pPr>
            <a:r>
              <a:rPr sz="2200">
                <a:solidFill>
                  <a:srgbClr val="1F2937"/>
                </a:solidFill>
                <a:latin typeface="Calibri"/>
              </a:rPr>
              <a:t>▸  To‘rt ob’ekt: murda, tirik shaxslar, ashyoviy dalillar, jinoiy va fuqarolik ishlari materiallari.</a:t>
            </a:r>
          </a:p>
          <a:p>
            <a:pPr>
              <a:spcAft>
                <a:spcPts val="1200"/>
              </a:spcAft>
            </a:pPr>
            <a:r>
              <a:rPr sz="2200">
                <a:solidFill>
                  <a:srgbClr val="1F2937"/>
                </a:solidFill>
                <a:latin typeface="Calibri"/>
              </a:rPr>
              <a:t>▸  O‘zingizni tekshiring: byuro boshlig‘i xulosani bekor qila oladimi? Xulosa uchun kim javob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4, 14; Iskandarov A.I., Qo‘ldoshev D.R., Sud tibbiyoti, betlar: 25, 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Yuliy Sezar o‘ldirilgach, uning murdasini vrach Antistius ko‘zdan kechirgan. Tanadagi 23 jarohatdan faqat bittasi o‘limga sabab bo‘lgan, deb baholangan. Bu sud-tibbiy baholashning qadimgi misollaridan biri.</a:t>
            </a:r>
          </a:p>
          <a:p>
            <a:pPr>
              <a:spcAft>
                <a:spcPts val="1200"/>
              </a:spcAft>
            </a:pPr>
            <a:r>
              <a:rPr sz="1800">
                <a:solidFill>
                  <a:srgbClr val="1F2937"/>
                </a:solidFill>
                <a:latin typeface="Calibri"/>
              </a:rPr>
              <a:t>▸  Hodisa tahlili: ekspert xulosasi tergovchi va sud uchun oldindan majburiy kuchga ega emas. Ular rozi bo‘lmasa, buni qaror yoki ajrimda asoslab berishi shart. Agar ekspertizalar natijasi farq qilsa, bu talab ayniqsa muhim.</a:t>
            </a:r>
          </a:p>
          <a:p>
            <a:pPr>
              <a:spcAft>
                <a:spcPts val="1200"/>
              </a:spcAft>
            </a:pPr>
            <a:r>
              <a:rPr sz="1800">
                <a:solidFill>
                  <a:srgbClr val="1F2937"/>
                </a:solidFill>
                <a:latin typeface="Calibri"/>
              </a:rPr>
              <a:t>▸  Eslab qolish usuli: qo‘shimcha ekspertiza birlamchi xulosadagi bo‘shliqni to‘ldiradi, qayta ekspertiza esa xulosaning to‘g‘riligiga shubha bo‘lganda tayinlanadi. Birinchisi “to‘ldirish”, ikkinchisi “takroran tekshirish”, deb yodda tuting.</a:t>
            </a:r>
          </a:p>
          <a:p>
            <a:pPr>
              <a:spcAft>
                <a:spcPts val="1200"/>
              </a:spcAft>
            </a:pPr>
            <a:r>
              <a:rPr sz="1800">
                <a:solidFill>
                  <a:srgbClr val="1F2937"/>
                </a:solidFill>
                <a:latin typeface="Calibri"/>
              </a:rPr>
              <a:t>▸  Manbalar farqi: xitoycha “Si Yuan Lu” (1247-yil) asarini G‘iyosov kitobi to‘rt qismdan iborat deydi, Iskandarov kitobida esa besh kitobli to‘plam deb berilgan. Bunday farqni dars oldidan aniqlab olish foydali.</a:t>
            </a:r>
          </a:p>
          <a:p>
            <a:pPr>
              <a:spcAft>
                <a:spcPts val="1200"/>
              </a:spcAft>
            </a:pPr>
            <a:r>
              <a:rPr sz="1800">
                <a:solidFill>
                  <a:srgbClr val="1F2937"/>
                </a:solidFill>
                <a:latin typeface="Calibri"/>
              </a:rPr>
              <a:t>▸  Diqqat, xato qilish xavfi: mutaxassis ≠ ekspert. Mutaxassis dalillarni topish va hujjatlashtirishda yordam beradi, lekin mustaqil hujjat tuzmaydi. Xulosani faqat ekspert beradi.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tibbiy tadqiqot o‘tkazdi, ammo jarayon va natijalarni hech qanday hujjatda rasmiylashtirmadi. Ekspertizaning qaysi xususiyatiga rioya qilinmagan?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Tadqiqotni mutaxassis o‘tkazishi kerakligi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Natijalarning hujjat bilan rasmiylashtirilishi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Tadqiqot tartibining qat’iy belgilanishi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Tadqiqotning aniq vazifaga qaratilishi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teridagi jarohat va hodisa joyida topilgan pichoq xususiyatlarini qiyosiy o‘rganib, shikastlovchi qurolni aniqladi. Bu qaysi usullar guruhiga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Umumilmiy usullar guruhi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Xususiy usullar guruhi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Maxsus usullar guruhi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Tavsifiy usullar guruhi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Jinoiy abort holati bo‘yicha ekspertiza o‘tkazilmoqda. Ekspert qaysi klinik fan bo‘yicha tegishli bilim va ko‘nikmalarga tayanishi lozim?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Oftalmologiya fani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Travmatologiya fani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Kardiologiya fani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Akusherlik-ginekologiya fani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Tergovchi shilinma va qontalashlarni ekspertizaga yubormoqchi. Ularni tekshirish uchun aksariyat hollarda qaysi muddat maqsadga muvofiq?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Dastlabki 10-15 kungacha bo‘lgan davr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1-2 oy o‘tgandan keyin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yildan keyin ham tekshirish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bir necha soatdan keyin tekshirish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qatorlardan qaysi biri sud-tibbiy ekspertiza ob’ektlarini to‘g‘ri va to‘liq sanaydi?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Murda, dori vositalari, ish xonasi, tibbiy asbob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Tirik shaxs, shifokor, tergovchi, ekspert xulosasi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tirik shaxslar, ashyoviy dalillar, ish materiallari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ashyoviy dalil, laboratoriya, ekspertiza byurosi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murda tekshiruvida klinik va patologoanatomik tashxis bir-biriga mos kelmasligini aniqladi. U birinchi navbatda nima qilishi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Tashxis farqini yozmasdan, ishni faqat tergovchiga yuborish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Davolash muassasasi rahbarini kamchilik haqida o‘z vaqtida xabardor qilish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 tashxis qo‘ygan vrachni ekspertizadan chetlatishni talab qilish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Hodisani tergovchiga og‘zaki aytib, muhokamaga qo‘ymaslik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1950-yilda Sog‘liqni saqlash vazirligining sud-tibbiy ekspertiza Bosh byurosi tashkil qilingan, hududlarda byurolar ochilgan. Bu qaysi davrga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 davr — epizodik ekspertizalar, XX asr 20-yillarigacha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II davr — kafedralar bazasida, XX asr 50-yillarigacha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III davr — byurolar tarmog‘i, 1950–1991-yillar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IV davr — mustaqil xizmat, 1991-yildan hozirgacha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Ibn Sinoning ‘Tib qonunlari’dagi murda o‘zgarishlari haqidagi ma’lumotlarni odil sudlov uchun yozilgan deb hisoblaydi. Darslikka ko‘ra bu fikr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Ular sud ekspertizasi uchun maxsus yozilgan qo‘llanma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Ular shariat sudlarida vrachni majburiy jalb qilishni belgilagan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Ular zaharlar va jarohatlarni faqat huquqiy baholash uchun yoritgan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Ular asosan to‘g‘ri tibbiy yordam ko‘rsatish maqsadidagi tadqiqot natijasi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O‘zbekiston hududida dastlabki sud tibbiyoti kafedrasi qachon va qayerda tashkil qilingan?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1920-yilda Turkiston universitetining tibbiyot fakultetida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1935-yilda Samarqand tibbiyot institutining qoshida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1959-yilda Andijon tibbiyot institutining qoshida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1972-yilda Toshkent pediatriya tibbiyot institutida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1681-yilda Germaniyaning Seyts shahrida I. Shreer yangi tug‘ilgan chaqaloq murdasi tekshiruvida birinchi marta qaysi sinamani qo‘llagan?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Bokarius sinamasini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O‘pka sinamasini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Chistovich–Ulengut reaksiyasini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Florans kristallari sinamasini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jinoiy ishni tergov qilish tartibini va bu jarayon ishtirokchilarining huquqiy munosabatlarini qaysi hujjat belgilashini so‘radi. Qaysi hujjat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Fuqarolik kodeksi, u shaxslar mulkiy munosabatlarini tartibga soladi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Jinoyat kodeksi, u jinoyat va jazo choralarini belgilaydi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Jinoyat-protsessual kodeksi, u tergov va sud tartibini belgilaydi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 ekspertizasi to‘g‘risidagi qonun, u ekspertlar maqomini belgilaydi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Tergovchi gumon qilinuvchining yoshi haqidagi hujjat shubha tug‘dirayotganini aniqladi. JPK 173-moddasiga ko‘ra nima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Yoshni aniqlash uchun sud-tibbiy ekspertiza tayinlanadi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Ekspertizani tayinlash faqat sud majlisigacha kutib turiladi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Yosh bo‘yicha yozma tilxat olinib, ish davom ettiriladi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Yoshni aniqlash uchun qo‘shimcha ekspertiza ruxsati so‘raladi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Eksgumatsiya qilingan murda ekspertizasida jasad qabristonda ochildi, olingan material byuro laboratoriyasida tekshirildi. Bu ekspertiza qaysi joyda o‘tkazilgan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sud-tibbiy ekspertiza byurosining o‘z muassasasida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byurodan tashqarida, ekspertiza tayinlagan shaxs ta’minlagan joyda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sud majlisi o‘tkaziladigan zalning o‘zida, hakamlar oldida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Aralash variant: bir qismi byuroda, boshqa qismi undan tashqarida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Davolash muassasasi vrachi tirik shaxsni guvohlantirishda mutaxassis sifatida jalb qilindi. Uning qaysi harakati qonunga mos kelmaydi?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Tergovchi ruxsati bilan ishtirokchilarga savollar berishi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Jarayonda mustaqil ravishda rasmiy hujjat tuzishi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Dalillarni topishda ilmiy-texnik vositalardan foydalanishi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O‘zi bajarayotgan harakatlar bo‘yicha tushuntirish berishi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ish bo‘yicha manfaatdor tomonning qarindoshi ekanligi ma’lum bo‘ldi. Dastlabki tergovda berilgan raddiyani kim hal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Ekspertning o‘zi mustaqil ravishda, o‘z qarori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Ish bo‘yicha manfaatdor tomonlar o‘zaro kelishuv orqali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Ekspertizani tayinlagan shaxs, uning vakolatiga kiradi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Davlat ekspertiza muassasasining boshlig‘i o‘z buyrug‘i bilan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xulosasi to‘liq va asosli, ammo ish bo‘yicha keyinchalik yangi tafsilot aniqlanib, ekspert oldiga qo‘shimcha savol qo‘yildi. Qaysi ekspertiza tayinlanadi?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Qayta ekspertiza tayinlanadi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Kompleks ekspertiza tayinlanadi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Qo‘shimcha ekspertiza tayinlanadi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Birlamchi ekspertiza tayinlanadi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xulosasining qaysi qismida ekspertizaga qo‘yilgan savollar hamda tekshiriladigan ob’ekt va materiallar ko‘rsatiladi?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Kirish qismida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Tekshiruv qismida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Xulosa qismida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Ilovalar qismida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Sud majlisida sudlanuvchi chaqirilgan ekspertni qabul qilmay, o‘zi tanlagan ekspertni tayinlashni talab qildi. Bu talab qanday hal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Tergovchi o‘z ixtiyoriga ko‘ra hal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Ekspert muassasasining rahbari hal qiladi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Talab har doim avtomatik qanoatlantiriladi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Sud qaroriga binoan qanoatlantiriladi yoki rad etiladi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xulosasini tayyorlagach, ishga yangi muhim ma’lumot kelib tushdi. Xorijiy amaliyot talabiga ko‘ra ekspert nima qilishi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Avvalgi fikrida har holda qat’iy turishi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Fikrini qayta ko‘rib, kerak bo‘lsa o‘zgartirishi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Fikrini buyurtmachi manfaatiga moslashtirishi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Yangi ma’lumotni e’tiborsiz qoldirishi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Jabrlanuvchi tan jarohati og‘irligini aniqlash uchun sud-tibbiy ekspertiza byurosiga keldi. U byuroning qaysi bo‘limiga yo‘naltiriladi?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Tanatologiya bo‘limiga yo‘naltiriladi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Sud-kimyoviy bo‘limga yo‘naltiriladi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Ekspertiza ambulatoriyasiga yo‘naltiriladi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Tibbiy kriminalistika bo‘limiga yo‘naltiriladi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Natijalarning hujjat bilan rasmiylashtirilishi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Ekspertizaning to‘rtinchi xususiyati: tadqiqot jarayoni va natijalari tegishli hujjat bilan rasmiylashtiriladi. Sud-tibbiy ekspertizada bu hujjat ekspert xulosasidir.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4-bet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Maxsus usullar guruhi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Shikastlovchi qurolning aynanligini jarohat va pichoq xususiyatlarini qiyosiy o‘rganish orqali aniqlash maxsus usullarga kiradi. Bu usullar asosan sud-tibbiy amaliyotda qo‘llaniladi.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7-9-bet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Akusherlik-ginekologiya fani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Jinoiy abort holatlarida akusherlik-ginekologiya bo‘yicha bilim kerak. Mexanik jarohatlarda travmatologiya, ko‘z shikastida oftalmologiya talab 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5-6-bet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Dastlabki 10-15 kungacha bo‘lgan davr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Ekspertiza ob’ektlari faqat ma’lum davrda dalil manbai bo‘la oladi. Shuning uchun aksariyat shilinma va qontalashlarni dastlabki 10-15 kungacha tekshirish maqsadga muvofiq.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7-9-bet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Murda, tirik shaxslar, ashyoviy dalillar, ish materiallari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Ob’ektlar to‘rtta: murda, tirik shaxslar, ashyoviy dalillar hamda jinoiy va fuqarolik ishlari materiallari. Ularni ekspertizani tayinlagan shaxs taqdim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7-9-bet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Davolash muassasasi rahbarini kamchilik haqida o‘z vaqtida xabardor qilish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Sog‘liqni saqlash vazirligi buyrug‘iga ko‘ra, ekspertlar tashxislar mos kelmagan hollarda va tibbiy yordamdagi kamchiliklar haqida davolash muassasasi rahbarini o‘z vaqtida xabardor qiladi. Shu tariqa sud tibbiyoti davolash sifatini yaxshilashga ham xizmat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III davr — byurolar tarmog‘i, 1950–1991-yillar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Darslikka ko‘ra III davr 1950–1991-yillarni qamrab oladi. Bu davrda Bosh byuro tashkil qilingan va barcha hududlarda ixtisoslashgan sud-tibbiy ekspertiza byurolari yo‘lga qo‘yilgan.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Ular asosan to‘g‘ri tibbiy yordam ko‘rsatish maqsadidagi tadqiqot natijasi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XX asr boshigacha odil sudlov shariat qoidalari bo‘yicha olib borilgan va vrachni jalb qilish ko‘zda tutilmagan. Ibn Sino keltirgan ma’lumotlar odil sudlov uchun emas, asosan tibbiy yordam ko‘rsatish maqsadidagi tadqiqotlar natijasidir.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1920-yilda Turkiston universitetining tibbiyot fakultetida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dastlabki kafedra 1920-yilda Turkiston universiteti tibbiyot fakultetida tashkil qilingani aytilgan. Samarqand (1935), Andijon (1959) va Toshkent pediatriya instituti (1972) kafedralari keyinroq ochilgan.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O‘pka sinamasini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yozilishicha, 1681-yilda I. Shreer chaqaloq murdasini tekshirishda o‘pka sinamasini birinchi marta qo‘llagan. Boshqa variantlar keyingi davrlarga va boshqa tekshiruv maqsadlariga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9-10-bet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Jinoyat-protsessual kodeksi, u tergov va sud tartibini belgilaydi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Jinoyat-protsessual kodeksi jinoiy ishlarni tergov qilish, sudda ko‘rish tartibi va ishtirokchilarning huquqiy munosabatlarini belgilaydi. Jinoyat kodeksi esa jinoiy javobgarlik chegaralari, jinoyat belgilari va jazo choralarini aniqlaydi.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Yoshni aniqlash uchun sud-tibbiy ekspertiza tayinlanadi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JPK 173-moddasi gumon qilinuvchi, ayblanuvchi, sudlanuvchi yoki jabrlanuvchining yoshini aniqlash zarur bo‘lsa va hujjat yo‘q yoki shubhali bo‘lsa, ekspertiza tayinlashni nazarda tutadi.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14-15-bet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Aralash variant: bir qismi byuroda, boshqa qismi undan tashqarida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uchinchi, aralash variant keltirilgan: tekshiruvning bir qismi muassasada, bir qismi undan tashqarida o‘tkaziladi. Eksgumatsiyada jasad qabristonda ochiladi, materiallar esa byuro laboratoriyasida tekshiriladi.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15-bet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Jarayonda mustaqil ravishda rasmiy hujjat tuzishi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Mutaxassis dalillarni topish, o‘rganish va hujjatlashtirishda yordam beradi, lekin protsessual harakatlarda mustaqil ravishda hech qanday hujjat tuzmaydi. Xulosani esa ekspert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17-18-bet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Ekspertizani tayinlagan shaxs, uning vakolatiga kiradi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Raddiyani hal etish faqat ekspertiza tayinlagan shaxsning vakolatiga kiradi. Dastlabki tergov va surishtiruvda berilgan raddiya 24 soat ichida, sud majlisida esa darhol hal 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Qo‘shimcha ekspertiza tayinlanadi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Qo‘shimcha ekspertiza avvalgi xulosa yetarlicha aniq yoki to‘liq bo‘lmaganda, shuningdek ilgari tekshirilgan holatlar bo‘yicha yangi savollar tug‘ilganda tayinlanadi. Qayta ekspertiza esa xulosaning to‘g‘riligiga shubha yoki xulosalar orasida ziddiyat bo‘lganda tayinlanadi va boshqa ekspertga topshiriladi.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25-bet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Kirish qismida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Kirish qismida ekspertiza o‘tkazilgan joy va vaqt, asos (qaror yoki ajrim), ekspert haqidagi ma’lumotlar, qo‘yilgan savollar, tekshiriladigan ob’ekt va materiallar hamda ishtirok etganlar ko‘rsatiladi. Tekshiruv qismida tekshiruv jarayoni bayon etiladi, xulosa qismida esa savollarga javoblar beriladi.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33-bet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Sud qaroriga binoan qanoatlantiriladi yoki rad etiladi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Sud majlisining dastlabki davrida sudlanuvchi, himoyachi yoki ayblovchi chaqirilgan ekspertni qabul qilmasligi va o‘zi tanlagan ekspertni talab qilishi mumkin. Bunday talab sudning qaroriga binoan qanoatlantiriladi yoki rad 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31-32-bet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Fikrini qayta ko‘rib, kerak bo‘lsa o‘zgartirishi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Ekspertning burchi sud oldida bo‘lib, fikri uni so‘ragan yoki moliyalashtirgan shaxsga bog‘liq bo‘lmasligi, xolis bo‘lishi kerak. Yangi yoki o‘zgargan dalil paydo bo‘lsa, ekspert fikrini qayta ko‘rib chiqishi va zarur bo‘lsa o‘zgartirishi shart.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Ekspertiza ambulatoriyasiga yo‘naltiriladi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Jabrlanuvchi, ayblanuvchi va boshqa tirik shaxslarni ambulatoriya bo‘limi tekshiradi. Tanatologiya bo‘limi murdalarni, laboratoriya bo‘limlari (sud-biologik, sud-kimyoviy, tibbiy kriminalistika) esa laboratoriya tekshiruvlarini o‘tkazadi.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35-bet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Sud tibbiyoti fani, vazifalari va ahamiyati. Sud-tibbiy ekspertiza xizmatining O‘zbekiston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1. Fan, tarix</a:t>
            </a:r>
          </a:p>
          <a:p>
            <a:pPr>
              <a:spcAft>
                <a:spcPts val="1200"/>
              </a:spcAft>
            </a:pPr>
            <a:r>
              <a:rPr sz="2000">
                <a:solidFill>
                  <a:srgbClr val="1F2937"/>
                </a:solidFill>
                <a:latin typeface="Calibri"/>
              </a:rPr>
              <a:t>▸  Payne-James J., Jones R., Karch S.B., Manlove J. Simpson's Forensic Medicine, 13th ed.. 2011. Chapter 1. Principles of forensic practice, pp. 1–11</a:t>
            </a:r>
          </a:p>
          <a:p>
            <a:pPr>
              <a:spcAft>
                <a:spcPts val="1200"/>
              </a:spcAft>
            </a:pPr>
            <a:r>
              <a:rPr sz="20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1-modul. Fan, protsessual asoslar, ekspertiza tashkili; bet 5-40</a:t>
            </a:r>
          </a:p>
          <a:p>
            <a:pPr>
              <a:spcAft>
                <a:spcPts val="1200"/>
              </a:spcAft>
            </a:pPr>
            <a:r>
              <a:rPr sz="2000">
                <a:solidFill>
                  <a:srgbClr val="1F2937"/>
                </a:solidFill>
                <a:latin typeface="Calibri"/>
              </a:rPr>
              <a:t>▸  Харин Г.М. (Kharin G.M.). Краткий курс судебной медицины: учебное пособие, М.: ГЭОТАР-Медиа (egasi taqdim etgan; yopiq foydalanish). 2006. I bo‘lim (1-3-boblar). Fan predmeti, protsessual asoslar, ekspertiza tashkili; bet 1-39</a:t>
            </a:r>
          </a:p>
          <a:p>
            <a:pPr>
              <a:spcAft>
                <a:spcPts val="1200"/>
              </a:spcAft>
            </a:pPr>
            <a:r>
              <a:rPr sz="2000">
                <a:solidFill>
                  <a:srgbClr val="1F2937"/>
                </a:solidFill>
                <a:latin typeface="Calibri"/>
              </a:rPr>
              <a:t>▸  Iskandarov A.I., Qo‘ldoshev D.R. Sud tibbiyoti (tibbiyot instituti talabalari uchun), Toshkent (egasi taqdim etgan; yopiq foydalanish). . I-IV boblar: fan, tarix, O‘zbekistonda sud tibbiyoti; bet 4-37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