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Zo‘raki o‘limning uch yetakchi turini ayting. 2) Nega sud tibbiyoti aynan toksikologiyadan shakllangan deb o‘ylaysiz? Doskada: zo‘raki o‘lim turlarini 1-2-3 tartibda yozing. Tipik xato: zaharlanishni zo‘raki o‘limda birinchi o‘rinda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suv ham katta dozada zararli bo‘lishi mumkin (Paratsels g‘oyasi bo‘yicha)? 2) Sud-tibbiy toksikologiya boshqa yo‘nalishlardan nimasi bilan farq qiladi? Doskada: toksikologiyaning 6 yo‘nalishini daraxt shaklida chizing. Tipik xato: zahar va zaharlanish tushunchalarini aralashtirish; zaharlanish bu moddaning ta’siri natijasidagi sog‘liq buzilishidir.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Yatrogen zaharlanish qaysi turga kiradi va nima uchun? 2) Zaharlash yo‘li bilan qotillik nega kam uchraydi deb o‘ylaysiz? Doskada: jadvalni ko‘chirib, har turga bittadan misol yozing. Tipik xato: yatrogen zaharlanishni qasddan sodir etilgan deb hisoblash; u tasodifiy xatodir.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bir xil modda turli odamlarda turlicha ta’sir qiladi? Zaharning kirish yo‘li natijaga qanday ta’sir etadi? Doskada: to‘rt omilni to‘rtta kvadrat shaklida chizdiring va har biriga bittadan misol yozdiring. Tipik xato: tashqi sharoitni barcha zaharlarga taalluqli deb o‘ylash. Aslida u faqat ayrim moddalarda (alkogol, is gazi, vodorod sulfid) muhim.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suyultirilgan va konsentrlangan fenol turlicha ta’sir qiladi? Vexikulum nima va u nimani o‘zgartiradi? Doskada: agregat holat bo‘yicha qatorni chizing (gaz &gt; suyuq &gt; qattiq) va uni tezlik bilan bog‘lang. Diqqat: bariy sulfat ≠ bariy xlorid, ikkalasi ham bariy birikmasi, lekin eruvchanligi turlicha. Tipik xato: moddaning nomiga qarab toksikligini baholash, doza va eruvchanlikni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bolalar uchun letal doza kattalarnikidan kichik? Idiosinkraziya bilan oddiy sezgirlik farqi nimada? Doskada: ‘vazn – yosh – salomatlik – genetika’ to‘rt bo‘g‘inli sxemani chizing. Tipik xato: idiosinkraziyani oddiy allergiya yoki ko‘p dozaga javob deb tushunish. Darslikda u genetik xususiyat bilan bog‘langan o‘ta sezgirlik sifatida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Tolerantlik nima uchun dozani oshirishga olib keladi? 2) Narkomaniya va toksikomaniyada abstinensiya qanday ifodalanadi? Doskada chizish: ‘takroriy qabul → tolerantlik → dozani oshirish → bog‘liqlik → to‘xtatsa abstinensiya’ zanjirini chizing. Tipik xato: tolerantlikni bog‘liqlik bilan aralashtirish. Tolerantlik ≠ bog‘liqlik: tolerantlik dori ta’siriga o‘rganish, bog‘liqlik esa moddani qabul qilishga yengib bo‘lmas intilishdir.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fosfororganik birikmalar sog‘lom teri orqali ham zaharlaydi? 2) Nafas yo‘li orqali kirgan zahar nega jigardan o‘tmaydi va bu nimaga olib keladi? Doskada chizish: kirish yo‘llarini ‘oshqozon-ichak → jigar’ va ‘nafas yo‘li/to‘g‘ri ichak → jigarsiz’ ikki yo‘nalishda chizing. Tipik xato: barcha moddalar teri orqali so‘riladi deb o‘ylash. Diqqat: faqat yog‘da yaxshi eriydigan moddalar so‘riladi. Suvda ham, yog‘da ham erimaydigan moddalar mahalliy ta’sir qiladi.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Zaharlanishda ahamiyatli to‘rt guruh omilni sanab bering. 2) Alkogol va is gazi ta’siri qo‘shilsa, nima o‘zgaradi? Doskada chizish: to‘rt omil (zaharli modda, organizm, kirish yo‘li, tashqi sharoit) kataklarini chizib, vaziyatdagi ma’lumotlarni joylashtiring. Tipik xato: faqat zaharning o‘ziga e’tibor berib, organizm holati va tashqi sharoitni unutish. Eslatma: vaziyat o‘quv maqsadida manbadagi omillardan tuzilgan, haqiqiy ish emas.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faqat bitta bosqichga tayanib xulosa qilib bo‘lmaydi? Funksional zaharlarda qaysi bosqich og‘irroq? Doskada: uch bosqichni strelkalar bilan chizdiring va har biriga 1-2 ta tekshiruv turini yozdiring. Tipik xato: talabalar laboratoriyani yagona hal qiluvchi bosqich deb hisoblaydi; aslida natijalar boshqa ma’lumotlar bilan birga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hodisa joyidan qaysi buyumlar olinib, nimaga yuboriladi? Nega tibbiy hujjatlar ayrim zaharlanishlarda asosiy dalil bo‘lib qoladi? Doskada: hodisa joyidagi 5 ta ob’ektning ro‘yxatini tuzdiring. Tipik xato: faqat murdani tekshirib, katamnez va tibbiy hujjatlarni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bir xil rang belgisi yolg‘iz o‘zi yetarli emas? Mushak qotishi tezligi qaysi zaharlarni ajratishga yordam beradi? Doskada: jadvalni ko‘chirib, har bir qatorga bittadan zahar nomini qo‘shing. Tipik xato: is gazi (pushti) bilan sianid (olcha rang) dog‘larini aralashtirish. Ularni o‘zaro farqlang.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zahar kirgan, ta’sir etgan va chiqqan joydan namuna olinadi? 2) Zahar noma’lum bo‘lganda nega namunalar alohida idishda olinadi? Doskada: og‘iz orqali kirgan zahar uchun “uch nuqta” sxemasini (oshqozon massasi – jigar – siydik/buyrak) chizdiring. Tipik xato: talabalar faqat oshqozon massasini yuborish kifoya deb o‘ylaydi. Qo‘shimcha: sud-kimyoviy natija doim boshqa ma’lumotlar bilan birga baholanadi (darslik, 180-bet).”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7–8 daq. Muhokama: 1) Zahar qanchalik tez qonga o‘tsa, toksik ta’siri qanday o‘zgaradi? 2) Nega metabolit asl moddadan xavfliroq bo‘lishi mumkin? Doskada: zanjirni chizib, har bosqichga bittadan misol yozdiring (masalan, uchuvchan moddalar o‘pka orqali, suvda eruvchilar buyrak orqali chiqadi). Diqqat: toksikokinetika ≠ toksikodinamika. Birinchisi — modda organizmda nima bo‘lishi, ikkinchisi — organizm moddaga qanday javob berishi. Tipik xato: bu ikki tushunchani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Kutilgan javob: metanolning o‘zi kuchsiz narkotik ta’sir qiladi, asosiy zarar metabolitlardan (formaldegid, chumoli kislotasi); metanol sekin oksidlanadi, shu sababli metabolitlar uzoq saqlanadi va ta’sirini kuchaytiradi. Muhokama: 1) Yashirin bosqich nega xavfli? 2) Sud-kimyoviy tekshiruvda metanol necha kun aniqlanadi? (3–5 kun, 161-bet). Doskada: metanol → formaldegid → toksik ta’sir (kardio-, nefro-, neyrotoksik) sxemasini chizdiring. Tipik xato: ahvol yaxshilandi — zaharlanish o‘tdi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mahalliy va rezorbtiv zahar farqi nimada? Nega funksional zaharlarda murdada xos o‘zgarish kam bo‘lishi mumkin? Doskada: tasnif daraxtini chizdiring (2 ta asosiy guruh, rezorbtiv ostida 3 tarmoq). Tipik xato: kislota va ishqorni umumiy ta’sir etuvchi deb o‘ylash. Jadval mazmuni 138-140-betlardagi 6.1-jadvaldan qisqartirib tuzilgan.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kislota tarkibi (konsentratsiya) nega letal dozani belgilaydi? Sirka kislotasida mahalliy ta’sirdan tashqari qaysi rezorbtiv ta’sir kuchli (gemolitik, 142-bet)? Doskada: kislota ta’sir zanjirini chizing: vodorod ioni – suvsizlanish – oqsil ivishi – quruq nekroz – strup. Tipik xato: sirka essensiyasi bilan 3% sirka eritmasini bir xil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ishqor bilan kuyganda jarohat yumshoq va sirpanuvchan bo‘ladi, qon esa ivimaydi? Formalinda shilliq qavat nega o‘zgarishsiz ko‘rinadi? Doskada: kislota va ishqor ustunlarini yonma-yon chizib, nekroz turi, konsistensiya va rang farqini yozdiring. Tipik xato: formalin zaharlanishida shilliq qavat albatta kuygan bo‘ladi deb o‘ylash. Jadval manbasi: G‘iyosov, 144–145-betlar (formaldegid, permanganat, peroksid, yod); ishqor ma’lumoti 142–143-betlarda.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sulema va organik simobning klinikasi har xil? 2) Qo‘rg‘oshin simobdan nimasi bilan farqlanadi? Doskada: sulema, organik simob va qo‘rg‘oshinni ‘asosiy zararlanadigan a’zo’ bo‘yicha uch ustunga yozing. Tipik xato: organik simobda ham stomatit va og‘ir buyrak zararlanishi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margimushni murdada yillar o‘tib ham aniqlash mumkin? 2) Oshqozon-ichak va paralitik turni qanday farqlaysiz? Doskada: ikki turning belgilarini yonma-yon yozing. Tipik xato: toza margimushni zaharli deb o‘ylash, aslida zaharli bo‘lgani oksidlangan birikmalaridir.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Anamnezda nimalarni so‘rash kerak (ish joyi, ovqat, ishlov berilgan don)? 2) Qaysi namunalar toksikologik tekshiruvga olinadi? Doskada: ‘anamnez - klinika - morfologiya - toksikologiya’ zanjirini chizing. Tipik xato: faqat klinik belgilarga tayanib, toksikologik tekshiruvni qoldirish. Eslatma: vaziyat manbadagi ma’lumotlardan tuzilgan o‘quv misoli.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Nega is gazi bilan zaharlanishda qonda kislorod bo‘lsa ham gipoksiya rivojlanadi (karboksigemoglobin kislorod tashimaydi, sitoxrom va mioglobin ham zararlanadi)? 2) Nega qon namunasini imkon qadar erta olish kerak (o‘lim tez bo‘lsa yoki jabrlanuvchi toza havoda bo‘lgan bo‘lsa, natija past yoki manfiy bo‘lishi mumkin)? Doskada: jadvalni chizing va ikki ustun rangini taqqoslang. Manbadagi chegaralar: dastlabki belgilar karboksigemoglobin 25-30% dan oshganda; 60% dan oshsa nafas markazi falaji; havoda 1% dan ortiq bo‘lsa yashinsimon shakl. Diqqat: karboksigemoglobin (pushti-qizg‘ish) ≠ metgemoglobin (qo‘ng‘ir). Tipik xato: sinamada qon rangi o‘zgarmasa, uni normal qon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nitratlar nitritlarga qaraganda kuchsizroq zahar (ichak mikroflorasi nitritga aylantirishi kerak)? 2) Nega 2-kundan keyingi o‘limda qonda metgemoglobin topilmasligi mumkin, ekspert nimaga tayanadi (voqea tafsiloti, klinika, morfologiya)? Doskada: 30% va 70% chegaralarini raqamli o‘q ustida belgilang. Qo‘shimcha: dastlabki kunda o‘lim o‘tkir gemik gipoksiyadan, keyingi kunlarda o‘tkir buyrak yetishmovchiligidan; nitrobenzolda achchiq bodom hidi, anilinda aromatik hid keladi. Tipik xato: karboksigemoglobin (pushti) va metgemoglobin (qo‘ng‘ir) ranglarini aralashtirish; nitrobenzol hidini faqat sianidga xos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Sianid va is gazi o‘limida qon va murda dog‘lari rangi nega o‘xshash (olcha rang va pushti) bo‘lishi mumkin, farqni nima belgilaydi (hid, sud-kimyoviy tekshiruv)? 2) Danak mag‘zidan zaharlanishda nega yashirin davr bir necha soat va o‘lim sekinroq? Doskada: zanjir chizing: sian anioni - sitoxromoksidaza temiri - to‘qima gipoksiyasi - nafas va yurak markazlari falaji. Manbadagi qo‘shimcha: sianid kislotasining letal dozasi 0,05 g, kaliy sianidniki 0,1-0,2 g; nordon muhitda ta’sir kuchayadi; metgemoglobin hosil qiluvchi moddalar antidot sifatida ishlatilishi mumkin. Tipik xato: achchiq bodom hidi bo‘lmasa sianidni inkor etish; hid tez yo‘qolishi mumkin, nitrobenzolda esa uzoq saqlanadi.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Vodorod sulfid va sianid ta’sir mexanizmida qanday umumiylik bor? 2) O‘lim kech sodir bo‘lsa, nega FOB topilmasligi mumkin, xolinesteraza faolligi esa nimani ko‘rsatadi? Doskada chizing: FOB → xolinesteraza ↓ → atsetilxolin ↑ → mioz, bronxospazm, bradikardiya. Tipik xato: gaz yo‘q joyda ham xolinesteraza pasayishini faqat ‘mioz’ bilan almashtirish yoki vodorod sulfid hidini sianid hidi (achchiq bodom) bilan adashtirish. Diqqat: vodorod sulfid – chirigan tuxum hidi, sianid – achchiq bodom hidi.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Qon va siydikdagi spirtni taqqoslash nimani aniqlashga yordam beradi? 2) Nega tirik shaxsdan namuna imkon qadar erta olinadi? Doskada chizing: vaqt o‘qi bo‘yicha qon va siydik konsentratsiyasi egri chizig‘i. Tipik xato: Vidmark konstantasini mastlik darajasi deb tushunish; u spirtning soatiga kamayish tezligi. Qo‘shimcha: eliminatsiya boshida 0,10–0,13, o‘rtacha jismoniy yuklamada 0,15–0,18 promille. Sinama qisqa o‘tkir kasalliklarda (kariyes, qandli diabet) soxta musbat berishi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Metanol metabolitlari nega o‘zining butun molekulasidan zaharliroq? 2) Surrogat zaharlanishini aniqlashda qaysi tekshiruvlar hal qiluvchi? Doskada chizing: metanol → formaldegid → chumoli kislotasi; etilenglikol → glikol aldegid → oksalat kislotasi. Tipik xato: letal dozalarni aralashtirish va etil spirtining mastlik shkalasini surrogatlarga qo‘llash. Eslatma: darslikda ko‘rish buzilishi ‘etil spirti’ deb yozilgan, mazmunan metanolga tegishli – bu band ishonchsiz deb belgilandi. Diqqat: metanol ≠ etanol.</a:t>
            </a:r>
          </a:p>
          <a:p/>
          <a:p>
            <a:r>
              <a:t>Tekshirish kerak (manbada noaniq):</a:t>
            </a:r>
          </a:p>
          <a:p>
            <a:r>
              <a:t>- Metanol formaldegid va chumoli kislotasiga oksidlanadi: atsidoz, ko‘rishning buzilishi.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uyqu dorisi zaharlanishida murdada xos belgi topilmaydi va tashxis nimaga tayanadi? (2) Strixnin talvasasida har qanday kuchsiz ta’sir (nur, tovush) yangi xurujni qanday chaqiradi? Doskada chizing: ikki ustun — MNT ni so‘ndiruvchi va qo‘zg‘atuvchi zaharlar, har biriga 2 ta misol. Tipik xato: uyqu dorisi topilsa, avtomatik zaharlanish deb xulosa qilish; terapevtik doza ehtimoli sababli miqdoriy tekshiruv shart. Diqqat: so‘ndiruvchi ≠ qo‘zg‘atuvchi zaharlarni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Atropin va pilokarpinda qorachiq holati qanday farq qiladi? (2) Klofelin nega ko‘pincha qasddan zaharlashda uchraydi, voqea joyida nimaga e’tibor beriladi? Doskada chizing: ikki ustunli taqqoslash jadvali — atropin (qorachiq kengayadi) va pilokarpin (qorachiq torayadi). Tipik xato: qorachiq kengayishini barcha zaharlarga umumlashtirish. Diqqat: atropin ≠ pilokarpin. Tezkor savol: qaysi zahar tashxisida sud-kimyo asosiy dalil bo‘ladi? Eslatma: paxikarpin tasodifiy, homiladorlikni uzishga urinishda uchrashi mumkin.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DRD tushunchasiga faqat zaharlanishdan o‘lim emas, baxtsiz hodisa va qotillik ham kiritilgan? (2) Mastlik holati qanday hodisalar ehtimolini oshiradi (yo‘l-transport hodisasi, balandlikdan yiqilish, cho‘kish)? Doskada chizing: DRD ning 5 ta holatini markaziy doira atrofida. Tipik xato: DRD ni faqat o‘tkir zaharlanish deb tushunish. Diqqat: geroin tabiiy emas, yarim sintetik (atsetillangan morfin). Tezkor savol: jadvaldagi qaysi turga amfetamin kiradi?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opiatlar va kokainda qorachiq holati qarama-qarshi? 2) Morfinning murdada uzoq saqlanishi ekspertiza uchun nimani anglatadi? Doskada: morfin va kokain uchun ‘belgi — o‘lim sababi’ juftligini chizing. Tipik xato: nasha ham opiatlar kabi o‘limga olib keladi deb o‘ylash; manbada u odatda o‘limsiz tugaydi, istisno — narkokurerlarda o‘ramlar buzilganda.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amfetaminlar asosan og‘iz orqali qabul qilinadi (venaga yuborish xavfi)? 2) Prekursorlar ro‘yxatidagi moddalar kundalik hayotda qayerda uchraydi va nazorat nega kerak? Doskada: ‘tolerantlik → doza oshishi → bog‘liqlik → abstinensiya’ zanjirini chizing. Tipik xato: ruhiy bog‘liqlik bilan jismoniy bog‘liqlikni aralashtirish — ruhiy: yengib bo‘lmas intilish, jismoniy: tolerantlik tufayli dozani oshirish zarurati.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namunani imkon qadar tez olish kerak? 2) Qaysi modda siydikda eng uzoq aniqlanadi? Qo‘shimcha: jadvalda metamfetamin ham bor — 4-6 soatdan so‘ng boshlanib, 48-72 soat aniqlanadi. Doskada: ‘nasha — 4 xil namuna, boshqa moddalar — qon + siydik’ sxemasini chizing. Tipik xato: kannabinoidlar uchun ham faqat qon va siydik olish, barmoq yuvmasi va so‘lakni unutish.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spetsifik o‘zgarishlar amaliyotda qo‘llanilmaydi? 2) Qaysi guruh belgisi kiritish yo‘liga bog‘liq? Doskada: to‘rt guruhli jadvalni talabalar bilan birga chizing, har guruhga bittadan misol yozdiring. Tipik xato: tatirovka yoki ozginlikni giyohvandlikning aniq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belgilar qayta qabul qilish izlari, qaysilari turmush tarzi belgisi? 2) Xulosani tasdiqlash uchun yana nima kerak? Doskada: belgilar ustuni va ularni tasdiqlovchi usullar ustunini yozing. Tipik xato: bilvosita belgilarni qat’iy dalil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Zahar topilsa-yu, zaharlanish bo‘lmasa, qanday vaziyat bo‘lishi mumkin? 2) Zahar topilmasa, zaharlanishni inkor etish mumkinmi? Doskada: ikki ustunli ro‘yxat: soxta musbat sabablari va soxta manfiy sabablari. Diqqat: xato qilish xavfi — soxta musbat ≠ soxta manfiy. Tipik xato: bitta laboratoriya natijasini yagona dalil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funksional zaharlarda laboratoriya natijasi hal qiluvchi bo‘ladi? 2) Zahar topilmagan holatda xulosa qanday asoslanadi? Doskada chizish: uch bosqichni ketma-ket uchta quti ko‘rinishida chizib, har biriga asosiy dalil manbasini yozing. Tipik xato: talaba laboratoriya natijasini voqea tafsiloti va klinik ma’lumotlardan ajratib, yakka o‘zi yetarli deb hisoblaydi.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O'tkir giyohvand moddalar bilan zaharlanishning sud-tibbiy diagnostikasi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zaharlanishlarning sud-tibbiy o‘rni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Kimyoviy omillar ta’siridan sog‘liq buzilishi va o‘lim holatlari murda va tirik shaxslar sud-tibbiy ekspertizasida nisbatan keng uchraydi.</a:t>
            </a:r>
          </a:p>
          <a:p>
            <a:pPr>
              <a:spcAft>
                <a:spcPts val="1200"/>
              </a:spcAft>
            </a:pPr>
            <a:r>
              <a:rPr sz="2200">
                <a:solidFill>
                  <a:srgbClr val="1F2937"/>
                </a:solidFill>
                <a:latin typeface="Calibri"/>
              </a:rPr>
              <a:t>▸  Zo‘raki o‘lim tarkibida zaharlanishlar mexanik jarohatlar va mexanik asfiksiyadan keyin uchinchi o‘rinni egallaydi.</a:t>
            </a:r>
          </a:p>
          <a:p>
            <a:pPr>
              <a:spcAft>
                <a:spcPts val="1200"/>
              </a:spcAft>
            </a:pPr>
            <a:r>
              <a:rPr sz="2200">
                <a:solidFill>
                  <a:srgbClr val="1F2937"/>
                </a:solidFill>
                <a:latin typeface="Calibri"/>
              </a:rPr>
              <a:t>▸  Sud tibbiyotining fan sifatida shakllanishi aynan sud-tibbiy toksikologiyadan boshlangan.</a:t>
            </a:r>
          </a:p>
          <a:p>
            <a:pPr>
              <a:spcAft>
                <a:spcPts val="1200"/>
              </a:spcAft>
            </a:pPr>
            <a:r>
              <a:rPr sz="2200">
                <a:solidFill>
                  <a:srgbClr val="1F2937"/>
                </a:solidFill>
                <a:latin typeface="Calibri"/>
              </a:rPr>
              <a:t>▸  Sud-tibbiy toksikologiya zaharlanish hollarida huquqni muhofaza etuvchi idoralar qo‘ygan vazifalarni hal etadi.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va zaharlanish tushunchalari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nisbiy tushuncha: oz miqdori sog‘liqni buzadigan yoki o‘limga olib keladigan modda. Mutlaq zahar ham, mutlaq beziyon modda ham yo‘q.</a:t>
            </a:r>
          </a:p>
          <a:p>
            <a:pPr>
              <a:spcAft>
                <a:spcPts val="1200"/>
              </a:spcAft>
            </a:pPr>
            <a:r>
              <a:rPr sz="2200">
                <a:solidFill>
                  <a:srgbClr val="1F2937"/>
                </a:solidFill>
                <a:latin typeface="Calibri"/>
              </a:rPr>
              <a:t>▸  Paratsels iborasi: faqat doza ma’lum bir moddani doriga yoki zaharga aylantiradi.</a:t>
            </a:r>
          </a:p>
          <a:p>
            <a:pPr>
              <a:spcAft>
                <a:spcPts val="1200"/>
              </a:spcAft>
            </a:pPr>
            <a:r>
              <a:rPr sz="2200">
                <a:solidFill>
                  <a:srgbClr val="1F2937"/>
                </a:solidFill>
                <a:latin typeface="Calibri"/>
              </a:rPr>
              <a:t>▸  Toksikologiya zahar va zaharlanishni o‘rganadi: sanoat, qishloq xo‘jaligi, harbiy, oziq-ovqat, maishiy va sud-tibbiy yo‘nalishlari bor.</a:t>
            </a:r>
          </a:p>
          <a:p>
            <a:pPr>
              <a:spcAft>
                <a:spcPts val="1200"/>
              </a:spcAft>
            </a:pPr>
            <a:r>
              <a:rPr sz="2200">
                <a:solidFill>
                  <a:srgbClr val="1F2937"/>
                </a:solidFill>
                <a:latin typeface="Calibri"/>
              </a:rPr>
              <a:t>▸  Diqqat: boshqa toksikologiya turlari sabab, yordam va profilaktikaga qaratilgan; sud-tibbiy toksikologiya esa huquqiy vazifalarni hal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Zaharlanishlar: vujudga kelish tafsilotlari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Yatrogen zaharlanish tasodifiy bo‘lib, tibbiy muolajada dori dozasini belgilashdagi xato bilan bog‘liq.</a:t>
            </a:r>
          </a:p>
          <a:p>
            <a:pPr>
              <a:spcAft>
                <a:spcPts val="800"/>
              </a:spcAft>
            </a:pPr>
            <a:r>
              <a:rPr sz="1800">
                <a:solidFill>
                  <a:srgbClr val="1F2937"/>
                </a:solidFill>
                <a:latin typeface="Calibri"/>
              </a:rPr>
              <a:t>▸  Yatrogen holat bir dori o‘rniga xato tarzda boshqa modda qo‘llanganda ham kuzatiladi.</a:t>
            </a:r>
          </a:p>
          <a:p>
            <a:pPr>
              <a:spcAft>
                <a:spcPts val="800"/>
              </a:spcAft>
            </a:pPr>
            <a:r>
              <a:rPr sz="1800">
                <a:solidFill>
                  <a:srgbClr val="1F2937"/>
                </a:solidFill>
                <a:latin typeface="Calibri"/>
              </a:rPr>
              <a:t>▸  Diqqat: qotillik va o‘z-o‘zini o‘ldirishda zaharlanish qasddan, baxtsiz hodisada esa tasodifan yuz beradi.</a:t>
            </a:r>
          </a:p>
        </p:txBody>
      </p:sp>
      <p:graphicFrame>
        <p:nvGraphicFramePr>
          <p:cNvPr id="9" name="Table 8"/>
          <p:cNvGraphicFramePr>
            <a:graphicFrameLocks noGrp="1"/>
          </p:cNvGraphicFramePr>
          <p:nvPr/>
        </p:nvGraphicFramePr>
        <p:xfrm>
          <a:off x="6263640" y="1463040"/>
          <a:ext cx="5287973" cy="3072384"/>
        </p:xfrm>
        <a:graphic>
          <a:graphicData uri="http://schemas.openxmlformats.org/drawingml/2006/table">
            <a:tbl>
              <a:tblPr firstRow="1" bandRow="1">
                <a:tableStyleId>{5C22544A-7EE6-4342-B048-85BDC9FD1C3A}</a:tableStyleId>
              </a:tblPr>
              <a:tblGrid>
                <a:gridCol w="1855429"/>
                <a:gridCol w="1484343"/>
                <a:gridCol w="1948201"/>
              </a:tblGrid>
              <a:tr h="768096">
                <a:tc>
                  <a:txBody>
                    <a:bodyPr/>
                    <a:lstStyle/>
                    <a:p>
                      <a:r>
                        <a:rPr sz="1600" b="1">
                          <a:solidFill>
                            <a:srgbClr val="FFFFFF"/>
                          </a:solidFill>
                        </a:rPr>
                        <a:t>Turi</a:t>
                      </a:r>
                    </a:p>
                  </a:txBody>
                  <a:tcPr marL="73152" marR="73152" marT="36576" marB="36576">
                    <a:solidFill>
                      <a:srgbClr val="0B1F3A"/>
                    </a:solidFill>
                  </a:tcPr>
                </a:tc>
                <a:tc>
                  <a:txBody>
                    <a:bodyPr/>
                    <a:lstStyle/>
                    <a:p>
                      <a:r>
                        <a:rPr sz="1600" b="1">
                          <a:solidFill>
                            <a:srgbClr val="FFFFFF"/>
                          </a:solidFill>
                        </a:rPr>
                        <a:t>Qasd</a:t>
                      </a:r>
                    </a:p>
                  </a:txBody>
                  <a:tcPr marL="73152" marR="73152" marT="36576" marB="36576">
                    <a:solidFill>
                      <a:srgbClr val="0B1F3A"/>
                    </a:solidFill>
                  </a:tcPr>
                </a:tc>
                <a:tc>
                  <a:txBody>
                    <a:bodyPr/>
                    <a:lstStyle/>
                    <a:p>
                      <a:r>
                        <a:rPr sz="1600" b="1">
                          <a:solidFill>
                            <a:srgbClr val="FFFFFF"/>
                          </a:solidFill>
                        </a:rPr>
                        <a:t>Uchrashi</a:t>
                      </a:r>
                    </a:p>
                  </a:txBody>
                  <a:tcPr marL="73152" marR="73152" marT="36576" marB="36576">
                    <a:solidFill>
                      <a:srgbClr val="0B1F3A"/>
                    </a:solidFill>
                  </a:tcPr>
                </a:tc>
              </a:tr>
              <a:tr h="768096">
                <a:tc>
                  <a:txBody>
                    <a:bodyPr/>
                    <a:lstStyle/>
                    <a:p>
                      <a:r>
                        <a:rPr sz="1500" b="0">
                          <a:solidFill>
                            <a:srgbClr val="1F2937"/>
                          </a:solidFill>
                        </a:rPr>
                        <a:t>Baxtsiz hodisa</a:t>
                      </a:r>
                    </a:p>
                  </a:txBody>
                  <a:tcPr marL="73152" marR="73152" marT="36576" marB="36576">
                    <a:solidFill>
                      <a:srgbClr val="E8EEF6"/>
                    </a:solidFill>
                  </a:tcPr>
                </a:tc>
                <a:tc>
                  <a:txBody>
                    <a:bodyPr/>
                    <a:lstStyle/>
                    <a:p>
                      <a:r>
                        <a:rPr sz="1500" b="0">
                          <a:solidFill>
                            <a:srgbClr val="1F2937"/>
                          </a:solidFill>
                        </a:rPr>
                        <a:t>Tasodifan</a:t>
                      </a:r>
                    </a:p>
                  </a:txBody>
                  <a:tcPr marL="73152" marR="73152" marT="36576" marB="36576">
                    <a:solidFill>
                      <a:srgbClr val="E8EEF6"/>
                    </a:solidFill>
                  </a:tcPr>
                </a:tc>
                <a:tc>
                  <a:txBody>
                    <a:bodyPr/>
                    <a:lstStyle/>
                    <a:p>
                      <a:r>
                        <a:rPr sz="1500" b="0">
                          <a:solidFill>
                            <a:srgbClr val="1F2937"/>
                          </a:solidFill>
                        </a:rPr>
                        <a:t>Aksariyat holatlar</a:t>
                      </a:r>
                    </a:p>
                  </a:txBody>
                  <a:tcPr marL="73152" marR="73152" marT="36576" marB="36576">
                    <a:solidFill>
                      <a:srgbClr val="E8EEF6"/>
                    </a:solidFill>
                  </a:tcPr>
                </a:tc>
              </a:tr>
              <a:tr h="768096">
                <a:tc>
                  <a:txBody>
                    <a:bodyPr/>
                    <a:lstStyle/>
                    <a:p>
                      <a:r>
                        <a:rPr sz="1500" b="0">
                          <a:solidFill>
                            <a:srgbClr val="1F2937"/>
                          </a:solidFill>
                        </a:rPr>
                        <a:t>O‘z-o‘zini o‘ldirish</a:t>
                      </a:r>
                    </a:p>
                  </a:txBody>
                  <a:tcPr marL="73152" marR="73152" marT="36576" marB="36576">
                    <a:solidFill>
                      <a:srgbClr val="FFFFFF"/>
                    </a:solidFill>
                  </a:tcPr>
                </a:tc>
                <a:tc>
                  <a:txBody>
                    <a:bodyPr/>
                    <a:lstStyle/>
                    <a:p>
                      <a:r>
                        <a:rPr sz="1500" b="0">
                          <a:solidFill>
                            <a:srgbClr val="1F2937"/>
                          </a:solidFill>
                        </a:rPr>
                        <a:t>Qasddan</a:t>
                      </a:r>
                    </a:p>
                  </a:txBody>
                  <a:tcPr marL="73152" marR="73152" marT="36576" marB="36576">
                    <a:solidFill>
                      <a:srgbClr val="FFFFFF"/>
                    </a:solidFill>
                  </a:tcPr>
                </a:tc>
                <a:tc>
                  <a:txBody>
                    <a:bodyPr/>
                    <a:lstStyle/>
                    <a:p>
                      <a:r>
                        <a:rPr sz="1500" b="0">
                          <a:solidFill>
                            <a:srgbClr val="1F2937"/>
                          </a:solidFill>
                        </a:rPr>
                        <a:t>Ikkinchi o‘rinda</a:t>
                      </a:r>
                    </a:p>
                  </a:txBody>
                  <a:tcPr marL="73152" marR="73152" marT="36576" marB="36576">
                    <a:solidFill>
                      <a:srgbClr val="FFFFFF"/>
                    </a:solidFill>
                  </a:tcPr>
                </a:tc>
              </a:tr>
              <a:tr h="768096">
                <a:tc>
                  <a:txBody>
                    <a:bodyPr/>
                    <a:lstStyle/>
                    <a:p>
                      <a:r>
                        <a:rPr sz="1500" b="0">
                          <a:solidFill>
                            <a:srgbClr val="1F2937"/>
                          </a:solidFill>
                        </a:rPr>
                        <a:t>Qotillik</a:t>
                      </a:r>
                    </a:p>
                  </a:txBody>
                  <a:tcPr marL="73152" marR="73152" marT="36576" marB="36576">
                    <a:solidFill>
                      <a:srgbClr val="E8EEF6"/>
                    </a:solidFill>
                  </a:tcPr>
                </a:tc>
                <a:tc>
                  <a:txBody>
                    <a:bodyPr/>
                    <a:lstStyle/>
                    <a:p>
                      <a:r>
                        <a:rPr sz="1500" b="0">
                          <a:solidFill>
                            <a:srgbClr val="1F2937"/>
                          </a:solidFill>
                        </a:rPr>
                        <a:t>Qasddan</a:t>
                      </a:r>
                    </a:p>
                  </a:txBody>
                  <a:tcPr marL="73152" marR="73152" marT="36576" marB="36576">
                    <a:solidFill>
                      <a:srgbClr val="E8EEF6"/>
                    </a:solidFill>
                  </a:tcPr>
                </a:tc>
                <a:tc>
                  <a:txBody>
                    <a:bodyPr/>
                    <a:lstStyle/>
                    <a:p>
                      <a:r>
                        <a:rPr sz="1500" b="0">
                          <a:solidFill>
                            <a:srgbClr val="1F2937"/>
                          </a:solidFill>
                        </a:rPr>
                        <a:t>Kamdan-kam holatlarda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Zaharlanish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Zaharlanishga ta’sir etuvchi to‘rt guruh omil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Zaharlanishda to‘rt guruh omil ahamiyatli: zahar, organizm, kirish yo‘li va tashqi shart-sharoit.</a:t>
            </a:r>
          </a:p>
          <a:p>
            <a:pPr>
              <a:spcAft>
                <a:spcPts val="800"/>
              </a:spcAft>
            </a:pPr>
            <a:r>
              <a:rPr sz="1800">
                <a:solidFill>
                  <a:srgbClr val="1F2937"/>
                </a:solidFill>
                <a:latin typeface="Calibri"/>
              </a:rPr>
              <a:t>▸  Zahar qonga qanchalik tez va to‘liq o‘tsa, toksik ta’sir shunchalik kuchli bo‘ladi.</a:t>
            </a:r>
          </a:p>
          <a:p>
            <a:pPr>
              <a:spcAft>
                <a:spcPts val="800"/>
              </a:spcAft>
            </a:pPr>
            <a:r>
              <a:rPr sz="1800">
                <a:solidFill>
                  <a:srgbClr val="1F2937"/>
                </a:solidFill>
                <a:latin typeface="Calibri"/>
              </a:rPr>
              <a:t>▸  Tashqi sharoit faqat ayrim moddalarda muhim: alkogol va is gazida yopiq, issiq, nam muhit xavfni oshiradi.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Zaharli modda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Organizm</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Zaharning kirish yo‘li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Tashqi shart-sharoit</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omil</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 134, 135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 bilan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Moddaning kimyoviy tuzilishi xossasini belgilaydi: is gazi va karbonat angidrid o‘xshash tuzilsa-da, toksikligi bir xil emas.</a:t>
            </a:r>
          </a:p>
          <a:p>
            <a:pPr>
              <a:spcAft>
                <a:spcPts val="1200"/>
              </a:spcAft>
            </a:pPr>
            <a:r>
              <a:rPr sz="2200">
                <a:solidFill>
                  <a:srgbClr val="1F2937"/>
                </a:solidFill>
                <a:latin typeface="Calibri"/>
              </a:rPr>
              <a:t>▸  Doza va konsentratsiya muhim: 3% sirka kislota eritmasi bilan sirka essensiyasining ta’sirini taqqoslab bo‘lmaydi.</a:t>
            </a:r>
          </a:p>
          <a:p>
            <a:pPr>
              <a:spcAft>
                <a:spcPts val="1200"/>
              </a:spcAft>
            </a:pPr>
            <a:r>
              <a:rPr sz="2200">
                <a:solidFill>
                  <a:srgbClr val="1F2937"/>
                </a:solidFill>
                <a:latin typeface="Calibri"/>
              </a:rPr>
              <a:t>▸  Gaz suyuqlikdan, suyuqlik qattiq moddadan kuchliroq ta’sir etadi, chunki qonga tezroq o‘tadi. Bariy sulfat erimaydi, bariy xlorid esa eriydi va kuchli zahar.</a:t>
            </a:r>
          </a:p>
          <a:p>
            <a:pPr>
              <a:spcAft>
                <a:spcPts val="1200"/>
              </a:spcAft>
            </a:pPr>
            <a:r>
              <a:rPr sz="2200">
                <a:solidFill>
                  <a:srgbClr val="1F2937"/>
                </a:solidFill>
                <a:latin typeface="Calibri"/>
              </a:rPr>
              <a:t>▸  Vexikulum (zaharni olib kiruvchi muhit) ta’sirni o‘zgartiradi: margimush ishqoriy muhitda kuchayadi, sianidlar esa kislotali muhitda kuchliroq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132-133, 133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 bilan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Tana vazni: bir xil miqdor turli vaznli odamlarda bir xil ta’sir qilmaydi, shu sababli dori dozasi har kg vaznga hisoblanadi.</a:t>
            </a:r>
          </a:p>
          <a:p>
            <a:pPr>
              <a:spcAft>
                <a:spcPts val="1200"/>
              </a:spcAft>
            </a:pPr>
            <a:r>
              <a:rPr sz="2200">
                <a:solidFill>
                  <a:srgbClr val="1F2937"/>
                </a:solidFill>
                <a:latin typeface="Calibri"/>
              </a:rPr>
              <a:t>▸  Yosh: bolalar kattalardan sezgirroq, chunki vazni kichik va umumiy qarshilik tizimi to‘liq shakllanmagan.</a:t>
            </a:r>
          </a:p>
          <a:p>
            <a:pPr>
              <a:spcAft>
                <a:spcPts val="1200"/>
              </a:spcAft>
            </a:pPr>
            <a:r>
              <a:rPr sz="2200">
                <a:solidFill>
                  <a:srgbClr val="1F2937"/>
                </a:solidFill>
                <a:latin typeface="Calibri"/>
              </a:rPr>
              <a:t>▸  Salomatlik: sog‘lom organizm kuchliroq qarshilik ko‘rsatadi; yurak, jigar, buyrak kasalliklarida bu qobiliyat cheklanadi.</a:t>
            </a:r>
          </a:p>
          <a:p>
            <a:pPr>
              <a:spcAft>
                <a:spcPts val="1200"/>
              </a:spcAft>
            </a:pPr>
            <a:r>
              <a:rPr sz="2200">
                <a:solidFill>
                  <a:srgbClr val="1F2937"/>
                </a:solidFill>
                <a:latin typeface="Calibri"/>
              </a:rPr>
              <a:t>▸  Genetika: xolinesteraza faolligining tug‘ma pastligi miorelaksantlar ta’sirini kuchaytiradi. Ba’zi moddalarga o‘ta sezgirlik idiosinkraziya deyiladi.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133-134, 134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Tolerantlik, bog‘liqlik va abstinensiya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Zahar qisqa vaqt oralig‘ida takror ta’sir qilsa, organizm unga o‘rganib qolishi mumkin. Bu holat tolerantlik deyiladi.</a:t>
            </a:r>
          </a:p>
          <a:p>
            <a:pPr>
              <a:spcAft>
                <a:spcPts val="1200"/>
              </a:spcAft>
            </a:pPr>
            <a:r>
              <a:rPr sz="2200">
                <a:solidFill>
                  <a:srgbClr val="1F2937"/>
                </a:solidFill>
                <a:latin typeface="Calibri"/>
              </a:rPr>
              <a:t>▸  Tibbiyot amaliyotida tolerantlik uyqu dorilari, analgetiklar va gipotenziv (bosimni tushiruvchi) preparatlarni qabul qilganda kuzatiladi.</a:t>
            </a:r>
          </a:p>
          <a:p>
            <a:pPr>
              <a:spcAft>
                <a:spcPts val="1200"/>
              </a:spcAft>
            </a:pPr>
            <a:r>
              <a:rPr sz="2200">
                <a:solidFill>
                  <a:srgbClr val="1F2937"/>
                </a:solidFill>
                <a:latin typeface="Calibri"/>
              </a:rPr>
              <a:t>▸  Giyohvand moddalarda tolerantlik bilan birga ruhiy va jismoniy bog‘liqlik shakllanadi. Shu sabab moddani takror va ko‘proq miqdorda qabul qilishga intilish paydo bo‘ladi.</a:t>
            </a:r>
          </a:p>
          <a:p>
            <a:pPr>
              <a:spcAft>
                <a:spcPts val="1200"/>
              </a:spcAft>
            </a:pPr>
            <a:r>
              <a:rPr sz="2200">
                <a:solidFill>
                  <a:srgbClr val="1F2937"/>
                </a:solidFill>
                <a:latin typeface="Calibri"/>
              </a:rPr>
              <a:t>▸  Ruhiy bog‘liqlik — yengib bo‘lmas intilish. Jismoniy bog‘liqlik — tolerantlik tufayli dozani oshirish zarurati. Qabul to‘xtatilsa, abstinensiya sindromi paydo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170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Zaharning kirish yo‘li va tashqi sharoit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 teri, og‘iz, nafas yo‘llari, to‘g‘ri ichak yoki in’eksiya orqali kirishi mumkin. Qonga qancha tez va to‘liq o‘tsa, ta’siri shuncha kuchli bo‘ladi.</a:t>
            </a:r>
          </a:p>
          <a:p>
            <a:pPr>
              <a:spcAft>
                <a:spcPts val="1200"/>
              </a:spcAft>
            </a:pPr>
            <a:r>
              <a:rPr sz="2000">
                <a:solidFill>
                  <a:srgbClr val="1F2937"/>
                </a:solidFill>
                <a:latin typeface="Calibri"/>
              </a:rPr>
              <a:t>▸  Suvda ham, yog‘da ham erimaydigan moddalar faqat mahalliy ta’sir qilishi mumkin. Yog‘da yaxshi eriydigan moddalar (masalan, fosfororganik birikmalar) sog‘lom teri orqali ham so‘riladi.</a:t>
            </a:r>
          </a:p>
          <a:p>
            <a:pPr>
              <a:spcAft>
                <a:spcPts val="1200"/>
              </a:spcAft>
            </a:pPr>
            <a:r>
              <a:rPr sz="2000">
                <a:solidFill>
                  <a:srgbClr val="1F2937"/>
                </a:solidFill>
                <a:latin typeface="Calibri"/>
              </a:rPr>
              <a:t>▸  Nafas yo‘llari, to‘g‘ri ichak va qin shilliq qavatidan so‘rilgan moddalar jigardan o‘tmaydi. Shuning uchun ular oshqozon-ichakdan so‘rilganlarga qaraganda kuchliroq ta’sir qiladi.</a:t>
            </a:r>
          </a:p>
          <a:p>
            <a:pPr>
              <a:spcAft>
                <a:spcPts val="1200"/>
              </a:spcAft>
            </a:pPr>
            <a:r>
              <a:rPr sz="2000">
                <a:solidFill>
                  <a:srgbClr val="1F2937"/>
                </a:solidFill>
                <a:latin typeface="Calibri"/>
              </a:rPr>
              <a:t>▸  Yopiq, issiq va nam muhit alkogol va is gazi bilan zaharlanishga moyillik yaratadi. Ochiq, sovuq va quruqroq muhit ta’sirni susaytiradi. Vodorod sulfid esa cheklangan muhitda (kanalizatsiya quduqlari) xavfli.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134, 134-135, 135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zaharlanish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yopiq, issiq va nam xonada nosoz pech yoqilgan. Xonada jigar kasalligi bor kishi alkogol ichib uxlab qolgan, ertalab o‘lik topilgan.</a:t>
            </a:r>
          </a:p>
          <a:p>
            <a:pPr>
              <a:spcAft>
                <a:spcPts val="1200"/>
              </a:spcAft>
            </a:pPr>
            <a:r>
              <a:rPr sz="2200">
                <a:solidFill>
                  <a:srgbClr val="1F2937"/>
                </a:solidFill>
                <a:latin typeface="Calibri"/>
              </a:rPr>
              <a:t>▸  Tashqi omil: yopiq, issiq, nam muhit alkogol va is gazi bilan zaharlanishga moyillik yaratadi. Is gazi nafas yo‘llari orqali kiradi.</a:t>
            </a:r>
          </a:p>
          <a:p>
            <a:pPr>
              <a:spcAft>
                <a:spcPts val="1200"/>
              </a:spcAft>
            </a:pPr>
            <a:r>
              <a:rPr sz="2200">
                <a:solidFill>
                  <a:srgbClr val="1F2937"/>
                </a:solidFill>
                <a:latin typeface="Calibri"/>
              </a:rPr>
              <a:t>▸  Organizm omili: jigar, yurak, buyrak kasalliklarida organizmning zaharga qarshilik ko‘rsatish qobiliyati ancha cheklanadi.</a:t>
            </a:r>
          </a:p>
          <a:p>
            <a:pPr>
              <a:spcAft>
                <a:spcPts val="1200"/>
              </a:spcAft>
            </a:pPr>
            <a:r>
              <a:rPr sz="2200">
                <a:solidFill>
                  <a:srgbClr val="1F2937"/>
                </a:solidFill>
                <a:latin typeface="Calibri"/>
              </a:rPr>
              <a:t>▸  Savol: bu vaziyatda zaharlanish xavfini oshirgan zahar, organizm va tashqi sharoit omillarini ayting. Qaysi kirish yo‘li ahamiyatli?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134, 134-135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diagnostikaning uch bosqichi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Zaharlanish diagnostikasi uch bosqichda to‘plangan dalillarga asoslanadi.</a:t>
            </a:r>
          </a:p>
          <a:p>
            <a:pPr>
              <a:spcAft>
                <a:spcPts val="800"/>
              </a:spcAft>
            </a:pPr>
            <a:r>
              <a:rPr sz="1800">
                <a:solidFill>
                  <a:srgbClr val="1F2937"/>
                </a:solidFill>
                <a:latin typeface="Calibri"/>
              </a:rPr>
              <a:t>▸  Birinchi bosqich: hodisa joyi yoki murda topilgan joyni mutaxassis bilan ko‘zdan kechirish.</a:t>
            </a:r>
          </a:p>
          <a:p>
            <a:pPr>
              <a:spcAft>
                <a:spcPts val="800"/>
              </a:spcAft>
            </a:pPr>
            <a:r>
              <a:rPr sz="1800">
                <a:solidFill>
                  <a:srgbClr val="1F2937"/>
                </a:solidFill>
                <a:latin typeface="Calibri"/>
              </a:rPr>
              <a:t>▸  Uchinchi bosqich: qo‘shimcha laboratoriya tekshiruvlari bilan zaharlanish tasdiqlanadi.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Hodisa joyi va hujjatlar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Murda tekshiruvi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Laboratoriya tekshiruvi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xulosasi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Dalil to‘plash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 136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Hodisa joyi va tibbiy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Joyni ko‘zdan kechirishda shart-sharoit, yot hid, dori idishlari, o‘ramlar, ishlatilgan shpritslar va retseptlarga e’tibor beriladi.</a:t>
            </a:r>
          </a:p>
          <a:p>
            <a:pPr>
              <a:spcAft>
                <a:spcPts val="1200"/>
              </a:spcAft>
            </a:pPr>
            <a:r>
              <a:rPr sz="2200">
                <a:solidFill>
                  <a:srgbClr val="1F2937"/>
                </a:solidFill>
                <a:latin typeface="Calibri"/>
              </a:rPr>
              <a:t>▸  Hodisa joyida ajratmalar va qusuq moddalar borligi qayd etiladi. Tegishli ashyoviy dalillar laboratoriya uchun olinadi.</a:t>
            </a:r>
          </a:p>
          <a:p>
            <a:pPr>
              <a:spcAft>
                <a:spcPts val="1200"/>
              </a:spcAft>
            </a:pPr>
            <a:r>
              <a:rPr sz="2200">
                <a:solidFill>
                  <a:srgbClr val="1F2937"/>
                </a:solidFill>
                <a:latin typeface="Calibri"/>
              </a:rPr>
              <a:t>▸  Birinchi bosqichga ish materiallari, katamnez va tibbiy hujjatlar ma’lumotlari bilan tanishish ham kiradi.</a:t>
            </a:r>
          </a:p>
          <a:p>
            <a:pPr>
              <a:spcAft>
                <a:spcPts val="1200"/>
              </a:spcAft>
            </a:pPr>
            <a:r>
              <a:rPr sz="2200">
                <a:solidFill>
                  <a:srgbClr val="1F2937"/>
                </a:solidFill>
                <a:latin typeface="Calibri"/>
              </a:rPr>
              <a:t>▸  Funksional o‘zgarish bilan kechadigan zaharlarda klinik tavsif va tibbiy muassasadagi laboratoriya natijalari salmoqli dalil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Murdadagi tashqi belgilar: rang va hid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Gemoliz chaqiruvchi moddalarda murda dog‘lari sargimtir bo‘ladi.</a:t>
            </a:r>
          </a:p>
          <a:p>
            <a:pPr>
              <a:spcAft>
                <a:spcPts val="800"/>
              </a:spcAft>
            </a:pPr>
            <a:r>
              <a:rPr sz="1800">
                <a:solidFill>
                  <a:srgbClr val="1F2937"/>
                </a:solidFill>
                <a:latin typeface="Calibri"/>
              </a:rPr>
              <a:t>▸  Strixninda mushak qotishi tez va kuchli; xloral gidrat, kurare, miorelaksantlarda sust va kuchsiz.</a:t>
            </a:r>
          </a:p>
          <a:p>
            <a:pPr>
              <a:spcAft>
                <a:spcPts val="800"/>
              </a:spcAft>
            </a:pPr>
            <a:r>
              <a:rPr sz="1800">
                <a:solidFill>
                  <a:srgbClr val="1F2937"/>
                </a:solidFill>
                <a:latin typeface="Calibri"/>
              </a:rPr>
              <a:t>▸  Ko‘p funksional zaharlarda tashqi va ichki tekshiruvda xos o‘zgarish bo‘lmasligi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308834"/>
                <a:gridCol w="2979140"/>
              </a:tblGrid>
              <a:tr h="614476">
                <a:tc>
                  <a:txBody>
                    <a:bodyPr/>
                    <a:lstStyle/>
                    <a:p>
                      <a:r>
                        <a:rPr sz="1800" b="1">
                          <a:solidFill>
                            <a:srgbClr val="FFFFFF"/>
                          </a:solidFill>
                        </a:rPr>
                        <a:t>Zahar</a:t>
                      </a:r>
                    </a:p>
                  </a:txBody>
                  <a:tcPr marL="73152" marR="73152" marT="36576" marB="36576">
                    <a:solidFill>
                      <a:srgbClr val="0B1F3A"/>
                    </a:solidFill>
                  </a:tcPr>
                </a:tc>
                <a:tc>
                  <a:txBody>
                    <a:bodyPr/>
                    <a:lstStyle/>
                    <a:p>
                      <a:r>
                        <a:rPr sz="1800" b="1">
                          <a:solidFill>
                            <a:srgbClr val="FFFFFF"/>
                          </a:solidFill>
                        </a:rPr>
                        <a:t>Asosiy belgi</a:t>
                      </a:r>
                    </a:p>
                  </a:txBody>
                  <a:tcPr marL="73152" marR="73152" marT="36576" marB="36576">
                    <a:solidFill>
                      <a:srgbClr val="0B1F3A"/>
                    </a:solidFill>
                  </a:tcPr>
                </a:tc>
              </a:tr>
              <a:tr h="614476">
                <a:tc>
                  <a:txBody>
                    <a:bodyPr/>
                    <a:lstStyle/>
                    <a:p>
                      <a:r>
                        <a:rPr sz="1700" b="0">
                          <a:solidFill>
                            <a:srgbClr val="1F2937"/>
                          </a:solidFill>
                        </a:rPr>
                        <a:t>Is gazi</a:t>
                      </a:r>
                    </a:p>
                  </a:txBody>
                  <a:tcPr marL="73152" marR="73152" marT="36576" marB="36576">
                    <a:solidFill>
                      <a:srgbClr val="E8EEF6"/>
                    </a:solidFill>
                  </a:tcPr>
                </a:tc>
                <a:tc>
                  <a:txBody>
                    <a:bodyPr/>
                    <a:lstStyle/>
                    <a:p>
                      <a:r>
                        <a:rPr sz="1700" b="0">
                          <a:solidFill>
                            <a:srgbClr val="1F2937"/>
                          </a:solidFill>
                        </a:rPr>
                        <a:t>Murda dog‘lari pushti tusda</a:t>
                      </a:r>
                    </a:p>
                  </a:txBody>
                  <a:tcPr marL="73152" marR="73152" marT="36576" marB="36576">
                    <a:solidFill>
                      <a:srgbClr val="E8EEF6"/>
                    </a:solidFill>
                  </a:tcPr>
                </a:tc>
              </a:tr>
              <a:tr h="614476">
                <a:tc>
                  <a:txBody>
                    <a:bodyPr/>
                    <a:lstStyle/>
                    <a:p>
                      <a:r>
                        <a:rPr sz="1700" b="0">
                          <a:solidFill>
                            <a:srgbClr val="1F2937"/>
                          </a:solidFill>
                        </a:rPr>
                        <a:t>Sianidlar</a:t>
                      </a:r>
                    </a:p>
                  </a:txBody>
                  <a:tcPr marL="73152" marR="73152" marT="36576" marB="36576">
                    <a:solidFill>
                      <a:srgbClr val="FFFFFF"/>
                    </a:solidFill>
                  </a:tcPr>
                </a:tc>
                <a:tc>
                  <a:txBody>
                    <a:bodyPr/>
                    <a:lstStyle/>
                    <a:p>
                      <a:r>
                        <a:rPr sz="1700" b="0">
                          <a:solidFill>
                            <a:srgbClr val="1F2937"/>
                          </a:solidFill>
                        </a:rPr>
                        <a:t>Dog‘lar yorqin olcha rang; achchiq bodom hidi</a:t>
                      </a:r>
                    </a:p>
                  </a:txBody>
                  <a:tcPr marL="73152" marR="73152" marT="36576" marB="36576">
                    <a:solidFill>
                      <a:srgbClr val="FFFFFF"/>
                    </a:solidFill>
                  </a:tcPr>
                </a:tc>
              </a:tr>
              <a:tr h="614476">
                <a:tc>
                  <a:txBody>
                    <a:bodyPr/>
                    <a:lstStyle/>
                    <a:p>
                      <a:r>
                        <a:rPr sz="1700" b="0">
                          <a:solidFill>
                            <a:srgbClr val="1F2937"/>
                          </a:solidFill>
                        </a:rPr>
                        <a:t>Metgemoglobin hosil qiluvchilar</a:t>
                      </a:r>
                    </a:p>
                  </a:txBody>
                  <a:tcPr marL="73152" marR="73152" marT="36576" marB="36576">
                    <a:solidFill>
                      <a:srgbClr val="E8EEF6"/>
                    </a:solidFill>
                  </a:tcPr>
                </a:tc>
                <a:tc>
                  <a:txBody>
                    <a:bodyPr/>
                    <a:lstStyle/>
                    <a:p>
                      <a:r>
                        <a:rPr sz="1700" b="0">
                          <a:solidFill>
                            <a:srgbClr val="1F2937"/>
                          </a:solidFill>
                        </a:rPr>
                        <a:t>Dog‘lar jigar rang, qo‘ng‘ir tusda</a:t>
                      </a:r>
                    </a:p>
                  </a:txBody>
                  <a:tcPr marL="73152" marR="73152" marT="36576" marB="36576">
                    <a:solidFill>
                      <a:srgbClr val="E8EEF6"/>
                    </a:solidFill>
                  </a:tcPr>
                </a:tc>
              </a:tr>
              <a:tr h="614476">
                <a:tc>
                  <a:txBody>
                    <a:bodyPr/>
                    <a:lstStyle/>
                    <a:p>
                      <a:r>
                        <a:rPr sz="1700" b="0">
                          <a:solidFill>
                            <a:srgbClr val="1F2937"/>
                          </a:solidFill>
                        </a:rPr>
                        <a:t>Sirka kislotasi</a:t>
                      </a:r>
                    </a:p>
                  </a:txBody>
                  <a:tcPr marL="73152" marR="73152" marT="36576" marB="36576">
                    <a:solidFill>
                      <a:srgbClr val="FFFFFF"/>
                    </a:solidFill>
                  </a:tcPr>
                </a:tc>
                <a:tc>
                  <a:txBody>
                    <a:bodyPr/>
                    <a:lstStyle/>
                    <a:p>
                      <a:r>
                        <a:rPr sz="1700" b="0">
                          <a:solidFill>
                            <a:srgbClr val="1F2937"/>
                          </a:solidFill>
                        </a:rPr>
                        <a:t>Ichki a’zolardan o‘tkir spetsifik hid</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Rang va hid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tekshiruvi va “uch nuqta” qoidasi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Laboratoriya tekshiruvlari ichida eng ko‘p sud-kimyoviy (toksikologik) tekshiruv o‘tkaziladi. U sifatni ham, miqdorni ham aniqlashi kerak.</a:t>
            </a:r>
          </a:p>
          <a:p>
            <a:pPr>
              <a:spcAft>
                <a:spcPts val="1200"/>
              </a:spcAft>
            </a:pPr>
            <a:r>
              <a:rPr sz="2200">
                <a:solidFill>
                  <a:srgbClr val="1F2937"/>
                </a:solidFill>
                <a:latin typeface="Calibri"/>
              </a:rPr>
              <a:t>▸  Zahar ma’lum bo‘lsa, “uch nuqta” qoidasi qo‘llanadi: zahar kirgan, asosan ta’sir etgan va chiqqan joydan namuna olinadi.</a:t>
            </a:r>
          </a:p>
          <a:p>
            <a:pPr>
              <a:spcAft>
                <a:spcPts val="1200"/>
              </a:spcAft>
            </a:pPr>
            <a:r>
              <a:rPr sz="2200">
                <a:solidFill>
                  <a:srgbClr val="1F2937"/>
                </a:solidFill>
                <a:latin typeface="Calibri"/>
              </a:rPr>
              <a:t>▸  Zahar noma’lum bo‘lsa: miyaning 1/3, o‘pkaning 1/4, jigarning 1/3 (o‘t bilan), buyrak, oshqozon massasi, ichak va 100–200 ml qon olinadi.</a:t>
            </a:r>
          </a:p>
          <a:p>
            <a:pPr>
              <a:spcAft>
                <a:spcPts val="1200"/>
              </a:spcAft>
            </a:pPr>
            <a:r>
              <a:rPr sz="2200">
                <a:solidFill>
                  <a:srgbClr val="1F2937"/>
                </a:solidFill>
                <a:latin typeface="Calibri"/>
              </a:rPr>
              <a:t>▸  Chuqur chirishda ko‘krak va qorin a’zolari aralashmasidan 1,5–2,0 kg massa — “o‘rta sinama”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Toksikokinetika va toksikodinamika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Toksikokinetika — zahar miqdori va sifatining o‘zgarishi: kirish, taqsimlanish, metabolizm, chiqarilish.</a:t>
            </a:r>
          </a:p>
          <a:p>
            <a:pPr>
              <a:spcAft>
                <a:spcPts val="1200"/>
              </a:spcAft>
            </a:pPr>
            <a:r>
              <a:rPr sz="2200">
                <a:solidFill>
                  <a:srgbClr val="1F2937"/>
                </a:solidFill>
                <a:latin typeface="Calibri"/>
              </a:rPr>
              <a:t>▸  Biotransformatsiya asosan jigarda kechadi; fosfororganik birikmalar oksidlansa zahari kuchayadi.</a:t>
            </a:r>
          </a:p>
          <a:p>
            <a:pPr>
              <a:spcAft>
                <a:spcPts val="1200"/>
              </a:spcAft>
            </a:pPr>
            <a:r>
              <a:rPr sz="2200">
                <a:solidFill>
                  <a:srgbClr val="1F2937"/>
                </a:solidFill>
                <a:latin typeface="Calibri"/>
              </a:rPr>
              <a:t>▸  Ta’sir: birlamchi, keyingi, metatoksik (sirka kislotasi: kuyish, gemoliz, toksik gepatit va nefroz).</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136–137, 137, 138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metanol va metabolit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etil spirti o‘rniga metil spirti ichilgan, chunki ularning rangi, hidi va ta’mi o‘xshash. Letal doza 30–100 ml.</a:t>
            </a:r>
          </a:p>
          <a:p>
            <a:pPr>
              <a:spcAft>
                <a:spcPts val="1200"/>
              </a:spcAft>
            </a:pPr>
            <a:r>
              <a:rPr sz="2200">
                <a:solidFill>
                  <a:srgbClr val="1F2937"/>
                </a:solidFill>
                <a:latin typeface="Calibri"/>
              </a:rPr>
              <a:t>▸  Dastlab kuchsiz, qisqa mastlik va uyqu bo‘ladi. So‘ng yashirin bosqich: ahvol yaxshilanadi, u soatlardan kunlargacha cho‘ziladi.</a:t>
            </a:r>
          </a:p>
          <a:p>
            <a:pPr>
              <a:spcAft>
                <a:spcPts val="1200"/>
              </a:spcAft>
            </a:pPr>
            <a:r>
              <a:rPr sz="2200">
                <a:solidFill>
                  <a:srgbClr val="1F2937"/>
                </a:solidFill>
                <a:latin typeface="Calibri"/>
              </a:rPr>
              <a:t>▸  Metanol sekin oksidlanib formaldegid va chumoli kislotasi hosil qiladi. Atsidoz, ko‘rish buzilishi, 2–3 kunda nafas markazi falaji.</a:t>
            </a:r>
          </a:p>
          <a:p>
            <a:pPr>
              <a:spcAft>
                <a:spcPts val="1200"/>
              </a:spcAft>
            </a:pPr>
            <a:r>
              <a:rPr sz="2200">
                <a:solidFill>
                  <a:srgbClr val="1F2937"/>
                </a:solidFill>
                <a:latin typeface="Calibri"/>
              </a:rPr>
              <a:t>▸  Savol: nega ahvol yaxshilangan paytda ham bemor xavfda qoladi va qaysi modda kuchli zaharli?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161, 138, 161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Zaharlarning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Zaharlar ikkiga bo‘linadi: asosan mahalliy va asosan umumiy (rezorbtiv) ta’sir etuvchilar.</a:t>
            </a:r>
          </a:p>
          <a:p>
            <a:pPr>
              <a:spcAft>
                <a:spcPts val="800"/>
              </a:spcAft>
            </a:pPr>
            <a:r>
              <a:rPr sz="1800">
                <a:solidFill>
                  <a:srgbClr val="1F2937"/>
                </a:solidFill>
                <a:latin typeface="Calibri"/>
              </a:rPr>
              <a:t>▸  Rezorbtiv zahar qonga so‘rilgach ta’sir qiladi. U destruktiv, qon va funksional guruhlarga ajraladi.</a:t>
            </a:r>
          </a:p>
          <a:p>
            <a:pPr>
              <a:spcAft>
                <a:spcPts val="800"/>
              </a:spcAft>
            </a:pPr>
            <a:r>
              <a:rPr sz="1800">
                <a:solidFill>
                  <a:srgbClr val="1F2937"/>
                </a:solidFill>
                <a:latin typeface="Calibri"/>
              </a:rPr>
              <a:t>▸  Funksional zaharlar markaziy nerv tizimi (MNT) va periferik nerv tizimi ishini buzadi. Tasnif V.L. Popov (1990) bo‘yicha.</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977999"/>
                <a:gridCol w="1854555"/>
              </a:tblGrid>
              <a:tr h="61447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Misollar</a:t>
                      </a:r>
                    </a:p>
                  </a:txBody>
                  <a:tcPr marL="73152" marR="73152" marT="36576" marB="36576">
                    <a:solidFill>
                      <a:srgbClr val="0B1F3A"/>
                    </a:solidFill>
                  </a:tcPr>
                </a:tc>
                <a:tc>
                  <a:txBody>
                    <a:bodyPr/>
                    <a:lstStyle/>
                    <a:p>
                      <a:r>
                        <a:rPr sz="1600" b="1">
                          <a:solidFill>
                            <a:srgbClr val="FFFFFF"/>
                          </a:solidFill>
                        </a:rPr>
                        <a:t>Ta’sir</a:t>
                      </a:r>
                    </a:p>
                  </a:txBody>
                  <a:tcPr marL="73152" marR="73152" marT="36576" marB="36576">
                    <a:solidFill>
                      <a:srgbClr val="0B1F3A"/>
                    </a:solidFill>
                  </a:tcPr>
                </a:tc>
              </a:tr>
              <a:tr h="614476">
                <a:tc>
                  <a:txBody>
                    <a:bodyPr/>
                    <a:lstStyle/>
                    <a:p>
                      <a:r>
                        <a:rPr sz="1500" b="0">
                          <a:solidFill>
                            <a:srgbClr val="1F2937"/>
                          </a:solidFill>
                        </a:rPr>
                        <a:t>Mahalliy</a:t>
                      </a:r>
                    </a:p>
                  </a:txBody>
                  <a:tcPr marL="73152" marR="73152" marT="36576" marB="36576">
                    <a:solidFill>
                      <a:srgbClr val="E8EEF6"/>
                    </a:solidFill>
                  </a:tcPr>
                </a:tc>
                <a:tc>
                  <a:txBody>
                    <a:bodyPr/>
                    <a:lstStyle/>
                    <a:p>
                      <a:r>
                        <a:rPr sz="1500" b="0">
                          <a:solidFill>
                            <a:srgbClr val="1F2937"/>
                          </a:solidFill>
                        </a:rPr>
                        <a:t>Kislota, ishqor, yod tindirmasi</a:t>
                      </a:r>
                    </a:p>
                  </a:txBody>
                  <a:tcPr marL="73152" marR="73152" marT="36576" marB="36576">
                    <a:solidFill>
                      <a:srgbClr val="E8EEF6"/>
                    </a:solidFill>
                  </a:tcPr>
                </a:tc>
                <a:tc>
                  <a:txBody>
                    <a:bodyPr/>
                    <a:lstStyle/>
                    <a:p>
                      <a:r>
                        <a:rPr sz="1500" b="0">
                          <a:solidFill>
                            <a:srgbClr val="1F2937"/>
                          </a:solidFill>
                        </a:rPr>
                        <a:t>Kontakt joyida nekroz</a:t>
                      </a:r>
                    </a:p>
                  </a:txBody>
                  <a:tcPr marL="73152" marR="73152" marT="36576" marB="36576">
                    <a:solidFill>
                      <a:srgbClr val="E8EEF6"/>
                    </a:solidFill>
                  </a:tcPr>
                </a:tc>
              </a:tr>
              <a:tr h="614476">
                <a:tc>
                  <a:txBody>
                    <a:bodyPr/>
                    <a:lstStyle/>
                    <a:p>
                      <a:r>
                        <a:rPr sz="1500" b="0">
                          <a:solidFill>
                            <a:srgbClr val="1F2937"/>
                          </a:solidFill>
                        </a:rPr>
                        <a:t>Destruktiv</a:t>
                      </a:r>
                    </a:p>
                  </a:txBody>
                  <a:tcPr marL="73152" marR="73152" marT="36576" marB="36576">
                    <a:solidFill>
                      <a:srgbClr val="FFFFFF"/>
                    </a:solidFill>
                  </a:tcPr>
                </a:tc>
                <a:tc>
                  <a:txBody>
                    <a:bodyPr/>
                    <a:lstStyle/>
                    <a:p>
                      <a:r>
                        <a:rPr sz="1500" b="0">
                          <a:solidFill>
                            <a:srgbClr val="1F2937"/>
                          </a:solidFill>
                        </a:rPr>
                        <a:t>Simob, qo‘rg‘oshin, margimush, fosfor</a:t>
                      </a:r>
                    </a:p>
                  </a:txBody>
                  <a:tcPr marL="73152" marR="73152" marT="36576" marB="36576">
                    <a:solidFill>
                      <a:srgbClr val="FFFFFF"/>
                    </a:solidFill>
                  </a:tcPr>
                </a:tc>
                <a:tc>
                  <a:txBody>
                    <a:bodyPr/>
                    <a:lstStyle/>
                    <a:p>
                      <a:r>
                        <a:rPr sz="1500" b="0">
                          <a:solidFill>
                            <a:srgbClr val="1F2937"/>
                          </a:solidFill>
                        </a:rPr>
                        <a:t>Ichki a’zolarda to‘qima buzilishi</a:t>
                      </a:r>
                    </a:p>
                  </a:txBody>
                  <a:tcPr marL="73152" marR="73152" marT="36576" marB="36576">
                    <a:solidFill>
                      <a:srgbClr val="FFFFFF"/>
                    </a:solidFill>
                  </a:tcPr>
                </a:tc>
              </a:tr>
              <a:tr h="614476">
                <a:tc>
                  <a:txBody>
                    <a:bodyPr/>
                    <a:lstStyle/>
                    <a:p>
                      <a:r>
                        <a:rPr sz="1500" b="0">
                          <a:solidFill>
                            <a:srgbClr val="1F2937"/>
                          </a:solidFill>
                        </a:rPr>
                        <a:t>Gemotrop (qon)</a:t>
                      </a:r>
                    </a:p>
                  </a:txBody>
                  <a:tcPr marL="73152" marR="73152" marT="36576" marB="36576">
                    <a:solidFill>
                      <a:srgbClr val="E8EEF6"/>
                    </a:solidFill>
                  </a:tcPr>
                </a:tc>
                <a:tc>
                  <a:txBody>
                    <a:bodyPr/>
                    <a:lstStyle/>
                    <a:p>
                      <a:r>
                        <a:rPr sz="1500" b="0">
                          <a:solidFill>
                            <a:srgbClr val="1F2937"/>
                          </a:solidFill>
                        </a:rPr>
                        <a:t>Is gazi, metgemoglobin hosil qiluvchilar</a:t>
                      </a:r>
                    </a:p>
                  </a:txBody>
                  <a:tcPr marL="73152" marR="73152" marT="36576" marB="36576">
                    <a:solidFill>
                      <a:srgbClr val="E8EEF6"/>
                    </a:solidFill>
                  </a:tcPr>
                </a:tc>
                <a:tc>
                  <a:txBody>
                    <a:bodyPr/>
                    <a:lstStyle/>
                    <a:p>
                      <a:r>
                        <a:rPr sz="1500" b="0">
                          <a:solidFill>
                            <a:srgbClr val="1F2937"/>
                          </a:solidFill>
                        </a:rPr>
                        <a:t>Qon xossalariga ta’sir</a:t>
                      </a:r>
                    </a:p>
                  </a:txBody>
                  <a:tcPr marL="73152" marR="73152" marT="36576" marB="36576">
                    <a:solidFill>
                      <a:srgbClr val="E8EEF6"/>
                    </a:solidFill>
                  </a:tcPr>
                </a:tc>
              </a:tr>
              <a:tr h="614476">
                <a:tc>
                  <a:txBody>
                    <a:bodyPr/>
                    <a:lstStyle/>
                    <a:p>
                      <a:r>
                        <a:rPr sz="1500" b="0">
                          <a:solidFill>
                            <a:srgbClr val="1F2937"/>
                          </a:solidFill>
                        </a:rPr>
                        <a:t>Funksional</a:t>
                      </a:r>
                    </a:p>
                  </a:txBody>
                  <a:tcPr marL="73152" marR="73152" marT="36576" marB="36576">
                    <a:solidFill>
                      <a:srgbClr val="FFFFFF"/>
                    </a:solidFill>
                  </a:tcPr>
                </a:tc>
                <a:tc>
                  <a:txBody>
                    <a:bodyPr/>
                    <a:lstStyle/>
                    <a:p>
                      <a:r>
                        <a:rPr sz="1500" b="0">
                          <a:solidFill>
                            <a:srgbClr val="1F2937"/>
                          </a:solidFill>
                        </a:rPr>
                        <a:t>Sianid, spirt, strixnin, opiatlar</a:t>
                      </a:r>
                    </a:p>
                  </a:txBody>
                  <a:tcPr marL="73152" marR="73152" marT="36576" marB="36576">
                    <a:solidFill>
                      <a:srgbClr val="FFFFFF"/>
                    </a:solidFill>
                  </a:tcPr>
                </a:tc>
                <a:tc>
                  <a:txBody>
                    <a:bodyPr/>
                    <a:lstStyle/>
                    <a:p>
                      <a:r>
                        <a:rPr sz="1500" b="0">
                          <a:solidFill>
                            <a:srgbClr val="1F2937"/>
                          </a:solidFill>
                        </a:rPr>
                        <a:t>Nerv faoliyatining buzilishi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Zaharlar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138, 138-139, 139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O‘yuvchi moddalar: kislotalar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Sud-tibbiy amaliyotda sirka kislotasi bilan zaharlanish ko‘p uchraydi, aksariyat o‘z-o‘zini o‘ldirish usuli sifatida. Boshqa kislotalar kam, odatda baxtsiz hodisa.</a:t>
            </a:r>
          </a:p>
          <a:p>
            <a:pPr>
              <a:spcAft>
                <a:spcPts val="1200"/>
              </a:spcAft>
            </a:pPr>
            <a:r>
              <a:rPr sz="2000">
                <a:solidFill>
                  <a:srgbClr val="1F2937"/>
                </a:solidFill>
                <a:latin typeface="Calibri"/>
              </a:rPr>
              <a:t>▸  Kislotaning erkin vodorod ionlari to‘qimani suvsizlantirib, oqsilni ivitadi. Natijada koagulyasion (quruq) nekroz va zich, quruq qo‘ng‘ir-qora strup hosil bo‘ladi.</a:t>
            </a:r>
          </a:p>
          <a:p>
            <a:pPr>
              <a:spcAft>
                <a:spcPts val="1200"/>
              </a:spcAft>
            </a:pPr>
            <a:r>
              <a:rPr sz="2000">
                <a:solidFill>
                  <a:srgbClr val="1F2937"/>
                </a:solidFill>
                <a:latin typeface="Calibri"/>
              </a:rPr>
              <a:t>▸  Letal doza (konsentrlangan): sulfat va nitrat 5–10 ml, xlorid 15–20 ml, sirka essensiyasi (40–80%) 20–40 ml, karbol kislotasi 10–30 ml.</a:t>
            </a:r>
          </a:p>
          <a:p>
            <a:pPr>
              <a:spcAft>
                <a:spcPts val="1200"/>
              </a:spcAft>
            </a:pPr>
            <a:r>
              <a:rPr sz="2000">
                <a:solidFill>
                  <a:srgbClr val="1F2937"/>
                </a:solidFill>
                <a:latin typeface="Calibri"/>
              </a:rPr>
              <a:t>▸  Murdada og‘iz atrofida pergament zichlikdagi sarg‘ish-kulrang-qo‘ng‘ir oqmalar bo‘ladi. Sulfatda oshqozon shilliq qavati qo‘ng‘ir-qora, nitratda sarg‘imtir.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140, 140-141, 141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Ishqorlar va boshqa o‘yuvchi moddalar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Diqqat: kislota quruq (koagulyasion), ishqor esa yumshoq, sirpanuvchan (kolliqvatsion) nekroz chaqiradi.</a:t>
            </a:r>
          </a:p>
          <a:p>
            <a:pPr>
              <a:spcAft>
                <a:spcPts val="800"/>
              </a:spcAft>
            </a:pPr>
            <a:r>
              <a:rPr sz="1800">
                <a:solidFill>
                  <a:srgbClr val="1F2937"/>
                </a:solidFill>
                <a:latin typeface="Calibri"/>
              </a:rPr>
              <a:t>▸  Kaliy va natriy gidroksidning letal dozasi 10–15 g, ammoniy gidroksidniki (nashatir spirt) 25–40 ml.</a:t>
            </a:r>
          </a:p>
          <a:p>
            <a:pPr>
              <a:spcAft>
                <a:spcPts val="800"/>
              </a:spcAft>
            </a:pPr>
            <a:r>
              <a:rPr sz="1800">
                <a:solidFill>
                  <a:srgbClr val="1F2937"/>
                </a:solidFill>
                <a:latin typeface="Calibri"/>
              </a:rPr>
              <a:t>▸  Ammoniy gidroksidning mahalliy ta’siri kuchsizroq. Qonga so‘rilsa, nafas olish markazi ishi buzilishi mumkin.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91639"/>
                <a:gridCol w="2400300"/>
                <a:gridCol w="1196036"/>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Murdadagi belgi</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Formalin (37–40%)</a:t>
                      </a:r>
                    </a:p>
                  </a:txBody>
                  <a:tcPr marL="73152" marR="73152" marT="36576" marB="36576">
                    <a:solidFill>
                      <a:srgbClr val="E8EEF6"/>
                    </a:solidFill>
                  </a:tcPr>
                </a:tc>
                <a:tc>
                  <a:txBody>
                    <a:bodyPr/>
                    <a:lstStyle/>
                    <a:p>
                      <a:r>
                        <a:rPr sz="1500" b="0">
                          <a:solidFill>
                            <a:srgbClr val="1F2937"/>
                          </a:solidFill>
                        </a:rPr>
                        <a:t>Shilliq qavat o‘zgarmagan, fiksatsiyalangan</a:t>
                      </a:r>
                    </a:p>
                  </a:txBody>
                  <a:tcPr marL="73152" marR="73152" marT="36576" marB="36576">
                    <a:solidFill>
                      <a:srgbClr val="E8EEF6"/>
                    </a:solidFill>
                  </a:tcPr>
                </a:tc>
                <a:tc>
                  <a:txBody>
                    <a:bodyPr/>
                    <a:lstStyle/>
                    <a:p>
                      <a:r>
                        <a:rPr sz="1500" b="0">
                          <a:solidFill>
                            <a:srgbClr val="1F2937"/>
                          </a:solidFill>
                        </a:rPr>
                        <a:t>Ichki a’zolarda xos hid</a:t>
                      </a:r>
                    </a:p>
                  </a:txBody>
                  <a:tcPr marL="73152" marR="73152" marT="36576" marB="36576">
                    <a:solidFill>
                      <a:srgbClr val="E8EEF6"/>
                    </a:solidFill>
                  </a:tcPr>
                </a:tc>
              </a:tr>
              <a:tr h="614476">
                <a:tc>
                  <a:txBody>
                    <a:bodyPr/>
                    <a:lstStyle/>
                    <a:p>
                      <a:r>
                        <a:rPr sz="1500" b="0">
                          <a:solidFill>
                            <a:srgbClr val="1F2937"/>
                          </a:solidFill>
                        </a:rPr>
                        <a:t>Kaliy permanganat</a:t>
                      </a:r>
                    </a:p>
                  </a:txBody>
                  <a:tcPr marL="73152" marR="73152" marT="36576" marB="36576">
                    <a:solidFill>
                      <a:srgbClr val="FFFFFF"/>
                    </a:solidFill>
                  </a:tcPr>
                </a:tc>
                <a:tc>
                  <a:txBody>
                    <a:bodyPr/>
                    <a:lstStyle/>
                    <a:p>
                      <a:r>
                        <a:rPr sz="1500" b="0">
                          <a:solidFill>
                            <a:srgbClr val="1F2937"/>
                          </a:solidFill>
                        </a:rPr>
                        <a:t>Jigarrang-qizg‘ish strup</a:t>
                      </a:r>
                    </a:p>
                  </a:txBody>
                  <a:tcPr marL="73152" marR="73152" marT="36576" marB="36576">
                    <a:solidFill>
                      <a:srgbClr val="FFFFFF"/>
                    </a:solidFill>
                  </a:tcPr>
                </a:tc>
                <a:tc>
                  <a:txBody>
                    <a:bodyPr/>
                    <a:lstStyle/>
                    <a:p>
                      <a:r>
                        <a:rPr sz="1500" b="0">
                          <a:solidFill>
                            <a:srgbClr val="1F2937"/>
                          </a:solidFill>
                        </a:rPr>
                        <a:t>15–20 g o‘limga olib keladi</a:t>
                      </a:r>
                    </a:p>
                  </a:txBody>
                  <a:tcPr marL="73152" marR="73152" marT="36576" marB="36576">
                    <a:solidFill>
                      <a:srgbClr val="FFFFFF"/>
                    </a:solidFill>
                  </a:tcPr>
                </a:tc>
              </a:tr>
              <a:tr h="614476">
                <a:tc>
                  <a:txBody>
                    <a:bodyPr/>
                    <a:lstStyle/>
                    <a:p>
                      <a:r>
                        <a:rPr sz="1500" b="0">
                          <a:solidFill>
                            <a:srgbClr val="1F2937"/>
                          </a:solidFill>
                        </a:rPr>
                        <a:t>Vodorod peroksid</a:t>
                      </a:r>
                    </a:p>
                  </a:txBody>
                  <a:tcPr marL="73152" marR="73152" marT="36576" marB="36576">
                    <a:solidFill>
                      <a:srgbClr val="E8EEF6"/>
                    </a:solidFill>
                  </a:tcPr>
                </a:tc>
                <a:tc>
                  <a:txBody>
                    <a:bodyPr/>
                    <a:lstStyle/>
                    <a:p>
                      <a:r>
                        <a:rPr sz="1500" b="0">
                          <a:solidFill>
                            <a:srgbClr val="1F2937"/>
                          </a:solidFill>
                        </a:rPr>
                        <a:t>Oqimtir, gaz pufakli, ko‘piklangan</a:t>
                      </a:r>
                    </a:p>
                  </a:txBody>
                  <a:tcPr marL="73152" marR="73152" marT="36576" marB="36576">
                    <a:solidFill>
                      <a:srgbClr val="E8EEF6"/>
                    </a:solidFill>
                  </a:tcPr>
                </a:tc>
                <a:tc>
                  <a:txBody>
                    <a:bodyPr/>
                    <a:lstStyle/>
                    <a:p>
                      <a:r>
                        <a:rPr sz="1500" b="0">
                          <a:solidFill>
                            <a:srgbClr val="1F2937"/>
                          </a:solidFill>
                        </a:rPr>
                        <a:t>33% pergidrol: 100 ml o‘lim mumkin</a:t>
                      </a:r>
                    </a:p>
                  </a:txBody>
                  <a:tcPr marL="73152" marR="73152" marT="36576" marB="36576">
                    <a:solidFill>
                      <a:srgbClr val="E8EEF6"/>
                    </a:solidFill>
                  </a:tcPr>
                </a:tc>
              </a:tr>
              <a:tr h="614476">
                <a:tc>
                  <a:txBody>
                    <a:bodyPr/>
                    <a:lstStyle/>
                    <a:p>
                      <a:r>
                        <a:rPr sz="1500" b="0">
                          <a:solidFill>
                            <a:srgbClr val="1F2937"/>
                          </a:solidFill>
                        </a:rPr>
                        <a:t>Yod preparatlari</a:t>
                      </a:r>
                    </a:p>
                  </a:txBody>
                  <a:tcPr marL="73152" marR="73152" marT="36576" marB="36576">
                    <a:solidFill>
                      <a:srgbClr val="FFFFFF"/>
                    </a:solidFill>
                  </a:tcPr>
                </a:tc>
                <a:tc>
                  <a:txBody>
                    <a:bodyPr/>
                    <a:lstStyle/>
                    <a:p>
                      <a:r>
                        <a:rPr sz="1500" b="0">
                          <a:solidFill>
                            <a:srgbClr val="1F2937"/>
                          </a:solidFill>
                        </a:rPr>
                        <a:t>Qo‘ng‘ir rangli strup</a:t>
                      </a:r>
                    </a:p>
                  </a:txBody>
                  <a:tcPr marL="73152" marR="73152" marT="36576" marB="36576">
                    <a:solidFill>
                      <a:srgbClr val="FFFFFF"/>
                    </a:solidFill>
                  </a:tcPr>
                </a:tc>
                <a:tc>
                  <a:txBody>
                    <a:bodyPr/>
                    <a:lstStyle/>
                    <a:p>
                      <a:r>
                        <a:rPr sz="1500" b="0">
                          <a:solidFill>
                            <a:srgbClr val="1F2937"/>
                          </a:solidFill>
                        </a:rPr>
                        <a:t>Qonga so‘rilsa: kollaps, o‘pka shishi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Boshqa o‘yuvchi moddalar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140, 143, 142, 143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Destruktiv zaharlar: simob va qo‘rg‘oshin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Sulema (simob dixlorid) suvda yaxshi eriydi. U to‘qima oqsillari bilan albuminatlar hosil qiladi. Ichilganda og‘izda kuyish, qon bilan qusish, keyin buyrak yetishmovchiligi rivojlanadi.</a:t>
            </a:r>
          </a:p>
          <a:p>
            <a:pPr>
              <a:spcAft>
                <a:spcPts val="1200"/>
              </a:spcAft>
            </a:pPr>
            <a:r>
              <a:rPr sz="2000">
                <a:solidFill>
                  <a:srgbClr val="1F2937"/>
                </a:solidFill>
                <a:latin typeface="Calibri"/>
              </a:rPr>
              <a:t>▸  Sulemadan o‘limda yo‘g‘on ichakda difteritik yallig‘lanish (“sulema dizenteriyasi”) va kattalashgan, po‘stlog‘i qalinlashgan buyrak (“sulema buyragi”) topiladi.</a:t>
            </a:r>
          </a:p>
          <a:p>
            <a:pPr>
              <a:spcAft>
                <a:spcPts val="1200"/>
              </a:spcAft>
            </a:pPr>
            <a:r>
              <a:rPr sz="2000">
                <a:solidFill>
                  <a:srgbClr val="1F2937"/>
                </a:solidFill>
                <a:latin typeface="Calibri"/>
              </a:rPr>
              <a:t>▸  Organik simob (granozan, merkuzan) surunkali zaharlaydi. Buyrak va ichak kuchsizroq shikastlanadi, stomatit bo‘lmaydi, ensefalopatiya yaqqol bo‘ladi.</a:t>
            </a:r>
          </a:p>
          <a:p>
            <a:pPr>
              <a:spcAft>
                <a:spcPts val="1200"/>
              </a:spcAft>
            </a:pPr>
            <a:r>
              <a:rPr sz="2000">
                <a:solidFill>
                  <a:srgbClr val="1F2937"/>
                </a:solidFill>
                <a:latin typeface="Calibri"/>
              </a:rPr>
              <a:t>▸  Diqqat, xato xavfi: qo‘rg‘oshinda simobdan farqli ichak va buyrak kuchsizroq zararlanadi. Nerv tizimi (talvasa, falaj) jiddiyroq shikastlanadi va kamqonlik rivojlanadi.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145, 146, 147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Margimush va talliy bilan zaharlanish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Toza margimush suvda va yog‘da erimaydi, havoda oksidlanganda zaharli birikmalar hosil bo‘ladi. Uch valentli birikmalar besh valentlilarga qaraganda zaharliroq. Letal doza 0,1-0,2 g.</a:t>
            </a:r>
          </a:p>
          <a:p>
            <a:pPr>
              <a:spcAft>
                <a:spcPts val="1200"/>
              </a:spcAft>
            </a:pPr>
            <a:r>
              <a:rPr sz="2000">
                <a:solidFill>
                  <a:srgbClr val="1F2937"/>
                </a:solidFill>
                <a:latin typeface="Calibri"/>
              </a:rPr>
              <a:t>▸  Oshqozon-ichak turi og‘iz orqali kirganda rivojlanadi: metall ta’mi, qusish, vabosimon ich ketishi. Paralitik tur katta dozada yoki parenteral yuborilganda bo‘ladi, ensefalopatiya va koma bilan kechadi.</a:t>
            </a:r>
          </a:p>
          <a:p>
            <a:pPr>
              <a:spcAft>
                <a:spcPts val="1200"/>
              </a:spcAft>
            </a:pPr>
            <a:r>
              <a:rPr sz="2000">
                <a:solidFill>
                  <a:srgbClr val="1F2937"/>
                </a:solidFill>
                <a:latin typeface="Calibri"/>
              </a:rPr>
              <a:t>▸  Margimush jigar, teri, soch, tirnoq va suyakda to‘planadi (kumulyasiya). Murdada yillar davomida saqlanadi, shuning uchun toksikologik tekshiruv hal qiluvchi.</a:t>
            </a:r>
          </a:p>
          <a:p>
            <a:pPr>
              <a:spcAft>
                <a:spcPts val="1200"/>
              </a:spcAft>
            </a:pPr>
            <a:r>
              <a:rPr sz="2000">
                <a:solidFill>
                  <a:srgbClr val="1F2937"/>
                </a:solidFill>
                <a:latin typeface="Calibri"/>
              </a:rPr>
              <a:t>▸  Talliy tuzlari osh tuziga o‘xshaydi. Gastroenterit, ataksiya, soch to‘kilishi va og‘riqli polineyropatiya kuzatiladi. Qotillik maqsadida ishlatilgan holatlar ham bo‘lgan.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148, 148-149, 149, 147-148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og‘ir metall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O‘quv vaziyati: fermer oilasi granozan bilan ishlov berilgan donning unini iste’mol qilgan. Oylar o‘tgach birining ozishi, og‘izda metall ta’mi, qo‘l tremori va uyqusizligi boshlangan.</a:t>
            </a:r>
          </a:p>
          <a:p>
            <a:pPr>
              <a:spcAft>
                <a:spcPts val="1200"/>
              </a:spcAft>
            </a:pPr>
            <a:r>
              <a:rPr sz="2000">
                <a:solidFill>
                  <a:srgbClr val="1F2937"/>
                </a:solidFill>
                <a:latin typeface="Calibri"/>
              </a:rPr>
              <a:t>▸  Savol: nega bunday holatda diagnoz xato qo‘yilishi mumkin? Og‘ir metallar bilan zaharlanishni aniqlash qiyinchilik tug‘dirishi va diagnostik xatolarga olib kelishi mumkin.</a:t>
            </a:r>
          </a:p>
          <a:p>
            <a:pPr>
              <a:spcAft>
                <a:spcPts val="1200"/>
              </a:spcAft>
            </a:pPr>
            <a:r>
              <a:rPr sz="2000">
                <a:solidFill>
                  <a:srgbClr val="1F2937"/>
                </a:solidFill>
                <a:latin typeface="Calibri"/>
              </a:rPr>
              <a:t>▸  Diagnostika asosi: to‘liq anamnez, klinik-morfologik o‘zgarishlar va toksikologik tekshiruv natijalari. Hal qiluvchi ahamiyat toksikologik tekshiruvda.</a:t>
            </a:r>
          </a:p>
          <a:p>
            <a:pPr>
              <a:spcAft>
                <a:spcPts val="1200"/>
              </a:spcAft>
            </a:pPr>
            <a:r>
              <a:rPr sz="2000">
                <a:solidFill>
                  <a:srgbClr val="1F2937"/>
                </a:solidFill>
                <a:latin typeface="Calibri"/>
              </a:rPr>
              <a:t>▸  Simob miyada, suyakda va buyrakda to‘planadi. Shuning uchun murdani bir necha o‘n yildan keyin tekshirganda ham zaharni topish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146, 148, 147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zaharlari: is gazi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 gazi to‘liq yonmaganda hosil bo‘ladi, rangsiz va hidsiz; gemoglobinni karboksigemoglobinga aylantiradi.</a:t>
            </a:r>
          </a:p>
          <a:p>
            <a:pPr>
              <a:spcAft>
                <a:spcPts val="800"/>
              </a:spcAft>
            </a:pPr>
            <a:r>
              <a:rPr sz="1800">
                <a:solidFill>
                  <a:srgbClr val="1F2937"/>
                </a:solidFill>
                <a:latin typeface="Calibri"/>
              </a:rPr>
              <a:t>▸  Belgilar: bosh og‘rig‘i, quloqda shovqin, ko‘ngil aynishi, yuz qizarishi; so‘ng talvasali koma.</a:t>
            </a:r>
          </a:p>
          <a:p>
            <a:pPr>
              <a:spcAft>
                <a:spcPts val="800"/>
              </a:spcAft>
            </a:pPr>
            <a:r>
              <a:rPr sz="1800">
                <a:solidFill>
                  <a:srgbClr val="1F2937"/>
                </a:solidFill>
                <a:latin typeface="Calibri"/>
              </a:rPr>
              <a:t>▸  Murda dog‘lari, mushak va suyuq qon pushti-qizg‘ish; tasdiq uchun spektrofotometrik miqdoriy tekshiruv.</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927859"/>
                <a:gridCol w="1891045"/>
                <a:gridCol w="1469070"/>
              </a:tblGrid>
              <a:tr h="768096">
                <a:tc>
                  <a:txBody>
                    <a:bodyPr/>
                    <a:lstStyle/>
                    <a:p>
                      <a:r>
                        <a:rPr sz="1600" b="1">
                          <a:solidFill>
                            <a:srgbClr val="FFFFFF"/>
                          </a:solidFill>
                        </a:rPr>
                        <a:t>Sinama</a:t>
                      </a:r>
                    </a:p>
                  </a:txBody>
                  <a:tcPr marL="73152" marR="73152" marT="36576" marB="36576">
                    <a:solidFill>
                      <a:srgbClr val="0B1F3A"/>
                    </a:solidFill>
                  </a:tcPr>
                </a:tc>
                <a:tc>
                  <a:txBody>
                    <a:bodyPr/>
                    <a:lstStyle/>
                    <a:p>
                      <a:r>
                        <a:rPr sz="1600" b="1">
                          <a:solidFill>
                            <a:srgbClr val="FFFFFF"/>
                          </a:solidFill>
                        </a:rPr>
                        <a:t>Normal qon</a:t>
                      </a:r>
                    </a:p>
                  </a:txBody>
                  <a:tcPr marL="73152" marR="73152" marT="36576" marB="36576">
                    <a:solidFill>
                      <a:srgbClr val="0B1F3A"/>
                    </a:solidFill>
                  </a:tcPr>
                </a:tc>
                <a:tc>
                  <a:txBody>
                    <a:bodyPr/>
                    <a:lstStyle/>
                    <a:p>
                      <a:r>
                        <a:rPr sz="1600" b="1">
                          <a:solidFill>
                            <a:srgbClr val="FFFFFF"/>
                          </a:solidFill>
                        </a:rPr>
                        <a:t>Is gazi qoni</a:t>
                      </a:r>
                    </a:p>
                  </a:txBody>
                  <a:tcPr marL="73152" marR="73152" marT="36576" marB="36576">
                    <a:solidFill>
                      <a:srgbClr val="0B1F3A"/>
                    </a:solidFill>
                  </a:tcPr>
                </a:tc>
              </a:tr>
              <a:tr h="768096">
                <a:tc>
                  <a:txBody>
                    <a:bodyPr/>
                    <a:lstStyle/>
                    <a:p>
                      <a:r>
                        <a:rPr sz="1500" b="0">
                          <a:solidFill>
                            <a:srgbClr val="1F2937"/>
                          </a:solidFill>
                        </a:rPr>
                        <a:t>Goppe-Zeyler (ishqor)</a:t>
                      </a:r>
                    </a:p>
                  </a:txBody>
                  <a:tcPr marL="73152" marR="73152" marT="36576" marB="36576">
                    <a:solidFill>
                      <a:srgbClr val="E8EEF6"/>
                    </a:solidFill>
                  </a:tcPr>
                </a:tc>
                <a:tc>
                  <a:txBody>
                    <a:bodyPr/>
                    <a:lstStyle/>
                    <a:p>
                      <a:r>
                        <a:rPr sz="1500" b="0">
                          <a:solidFill>
                            <a:srgbClr val="1F2937"/>
                          </a:solidFill>
                        </a:rPr>
                        <a:t>Qo‘ng‘ir-qora tusga kiradi</a:t>
                      </a:r>
                    </a:p>
                  </a:txBody>
                  <a:tcPr marL="73152" marR="73152" marT="36576" marB="36576">
                    <a:solidFill>
                      <a:srgbClr val="E8EEF6"/>
                    </a:solidFill>
                  </a:tcPr>
                </a:tc>
                <a:tc>
                  <a:txBody>
                    <a:bodyPr/>
                    <a:lstStyle/>
                    <a:p>
                      <a:r>
                        <a:rPr sz="1500" b="0">
                          <a:solidFill>
                            <a:srgbClr val="1F2937"/>
                          </a:solidFill>
                        </a:rPr>
                        <a:t>Rangi o‘zgarmaydi</a:t>
                      </a:r>
                    </a:p>
                  </a:txBody>
                  <a:tcPr marL="73152" marR="73152" marT="36576" marB="36576">
                    <a:solidFill>
                      <a:srgbClr val="E8EEF6"/>
                    </a:solidFill>
                  </a:tcPr>
                </a:tc>
              </a:tr>
              <a:tr h="768096">
                <a:tc>
                  <a:txBody>
                    <a:bodyPr/>
                    <a:lstStyle/>
                    <a:p>
                      <a:r>
                        <a:rPr sz="1500" b="0">
                          <a:solidFill>
                            <a:srgbClr val="1F2937"/>
                          </a:solidFill>
                        </a:rPr>
                        <a:t>Libman (formaldegid)</a:t>
                      </a:r>
                    </a:p>
                  </a:txBody>
                  <a:tcPr marL="73152" marR="73152" marT="36576" marB="36576">
                    <a:solidFill>
                      <a:srgbClr val="FFFFFF"/>
                    </a:solidFill>
                  </a:tcPr>
                </a:tc>
                <a:tc>
                  <a:txBody>
                    <a:bodyPr/>
                    <a:lstStyle/>
                    <a:p>
                      <a:r>
                        <a:rPr sz="1500" b="0">
                          <a:solidFill>
                            <a:srgbClr val="1F2937"/>
                          </a:solidFill>
                        </a:rPr>
                        <a:t>Qo‘ng‘ir-qora tusga kiradi</a:t>
                      </a:r>
                    </a:p>
                  </a:txBody>
                  <a:tcPr marL="73152" marR="73152" marT="36576" marB="36576">
                    <a:solidFill>
                      <a:srgbClr val="FFFFFF"/>
                    </a:solidFill>
                  </a:tcPr>
                </a:tc>
                <a:tc>
                  <a:txBody>
                    <a:bodyPr/>
                    <a:lstStyle/>
                    <a:p>
                      <a:r>
                        <a:rPr sz="1500" b="0">
                          <a:solidFill>
                            <a:srgbClr val="1F2937"/>
                          </a:solidFill>
                        </a:rPr>
                        <a:t>Rangi o‘zgarmaydi</a:t>
                      </a:r>
                    </a:p>
                  </a:txBody>
                  <a:tcPr marL="73152" marR="73152" marT="36576" marB="36576">
                    <a:solidFill>
                      <a:srgbClr val="FFFFFF"/>
                    </a:solidFill>
                  </a:tcPr>
                </a:tc>
              </a:tr>
              <a:tr h="768096">
                <a:tc>
                  <a:txBody>
                    <a:bodyPr/>
                    <a:lstStyle/>
                    <a:p>
                      <a:r>
                        <a:rPr sz="1500" b="0">
                          <a:solidFill>
                            <a:srgbClr val="1F2937"/>
                          </a:solidFill>
                        </a:rPr>
                        <a:t>Spektroskopiya</a:t>
                      </a:r>
                    </a:p>
                  </a:txBody>
                  <a:tcPr marL="73152" marR="73152" marT="36576" marB="36576">
                    <a:solidFill>
                      <a:srgbClr val="E8EEF6"/>
                    </a:solidFill>
                  </a:tcPr>
                </a:tc>
                <a:tc>
                  <a:txBody>
                    <a:bodyPr/>
                    <a:lstStyle/>
                    <a:p>
                      <a:r>
                        <a:rPr sz="1500" b="0">
                          <a:solidFill>
                            <a:srgbClr val="1F2937"/>
                          </a:solidFill>
                        </a:rPr>
                        <a:t>Gidrosulfitdan so‘ng bitta yo‘lak</a:t>
                      </a:r>
                    </a:p>
                  </a:txBody>
                  <a:tcPr marL="73152" marR="73152" marT="36576" marB="36576">
                    <a:solidFill>
                      <a:srgbClr val="E8EEF6"/>
                    </a:solidFill>
                  </a:tcPr>
                </a:tc>
                <a:tc>
                  <a:txBody>
                    <a:bodyPr/>
                    <a:lstStyle/>
                    <a:p>
                      <a:r>
                        <a:rPr sz="1500" b="0">
                          <a:solidFill>
                            <a:srgbClr val="1F2937"/>
                          </a:solidFill>
                        </a:rPr>
                        <a:t>Ikkita yutish yo‘lagi saqlanadi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 gazi qonini aniqlash sinamalari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150, 151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Metgemoglobin hosil qiluvchi zaharlar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Guruhga nitrat va nitritlar, nitrobenzol, anilin, Bertole tuzi, gidroxinon kiradi. Nitratlar ichakda nitritga aylangachgina ta’sir qiladi, shu sabab nitritdan kuchsizroq.</a:t>
            </a:r>
          </a:p>
          <a:p>
            <a:pPr>
              <a:spcAft>
                <a:spcPts val="1200"/>
              </a:spcAft>
            </a:pPr>
            <a:r>
              <a:rPr sz="2200">
                <a:solidFill>
                  <a:srgbClr val="1F2937"/>
                </a:solidFill>
                <a:latin typeface="Calibri"/>
              </a:rPr>
              <a:t>▸  Metgemoglobin qo‘ng‘ir rangli: uch valentli temir gidroksil bilan turg‘un bog‘langan, shuning uchun gemoglobin kislorodni tashiy olmaydi.</a:t>
            </a:r>
          </a:p>
          <a:p>
            <a:pPr>
              <a:spcAft>
                <a:spcPts val="1200"/>
              </a:spcAft>
            </a:pPr>
            <a:r>
              <a:rPr sz="2200">
                <a:solidFill>
                  <a:srgbClr val="1F2937"/>
                </a:solidFill>
                <a:latin typeface="Calibri"/>
              </a:rPr>
              <a:t>▸  Dastlabki belgilar metgemoglobin 30% dan oshganda paydo bo‘ladi, 70% dan oshganda o‘lim yuz beradi. Murda dog‘lari ko‘kimtir-qo‘ng‘ir bo‘ladi.</a:t>
            </a:r>
          </a:p>
          <a:p>
            <a:pPr>
              <a:spcAft>
                <a:spcPts val="1200"/>
              </a:spcAft>
            </a:pPr>
            <a:r>
              <a:rPr sz="2200">
                <a:solidFill>
                  <a:srgbClr val="1F2937"/>
                </a:solidFill>
                <a:latin typeface="Calibri"/>
              </a:rPr>
              <a:t>▸  Diqqat: 1-2 kundan so‘ng qonda metgemoglobin topilmasligi mumkin; og‘ir zaharlanishda u 5-6 kun davomida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MNT ni falajlovchi zaharlar: sianidlar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Kaliy sianid suvda yaxshi eriydigan oq modda; sianid kislotasi esa achchiq bodom hidli, rangsiz, uchuvchan suyuqlik.</a:t>
            </a:r>
          </a:p>
          <a:p>
            <a:pPr>
              <a:spcAft>
                <a:spcPts val="1200"/>
              </a:spcAft>
            </a:pPr>
            <a:r>
              <a:rPr sz="2200">
                <a:solidFill>
                  <a:srgbClr val="1F2937"/>
                </a:solidFill>
                <a:latin typeface="Calibri"/>
              </a:rPr>
              <a:t>▸  Sian anioni hujayra nafas fermenti sitoxromoksidazadagi temirni bog‘laydi. Qonda kislorod yetarli bo‘lsa ham to‘qima gipoksiyasi rivojlanadi.</a:t>
            </a:r>
          </a:p>
          <a:p>
            <a:pPr>
              <a:spcAft>
                <a:spcPts val="1200"/>
              </a:spcAft>
            </a:pPr>
            <a:r>
              <a:rPr sz="2200">
                <a:solidFill>
                  <a:srgbClr val="1F2937"/>
                </a:solidFill>
                <a:latin typeface="Calibri"/>
              </a:rPr>
              <a:t>▸  Ho‘l mevalar (o‘rik, shaftoli, olxo‘ri) danagi mag‘zidagi amigdalin ichak fermentlari ta’sirida sianid kislotasini hosil qiladi.</a:t>
            </a:r>
          </a:p>
          <a:p>
            <a:pPr>
              <a:spcAft>
                <a:spcPts val="1200"/>
              </a:spcAft>
            </a:pPr>
            <a:r>
              <a:rPr sz="2200">
                <a:solidFill>
                  <a:srgbClr val="1F2937"/>
                </a:solidFill>
                <a:latin typeface="Calibri"/>
              </a:rPr>
              <a:t>▸  Murdada dog‘lar olcha rang-qizg‘ish, bo‘shliqlardan achchiq bodom hidi keladi; u uchuvchanligi tufayli tez yo‘qolishi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153, 154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Vodorod sulfid va fosfororganik birikmalar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Vodorod sulfid – chirigan tuxum hidli gaz. Havodan og‘ir bo‘lgani uchun shaxta va kanalizatsiya o‘ralarida to‘planadi. Zaharlanish odatda baxtsiz hodisa bo‘ladi.</a:t>
            </a:r>
          </a:p>
          <a:p>
            <a:pPr>
              <a:spcAft>
                <a:spcPts val="1200"/>
              </a:spcAft>
            </a:pPr>
            <a:r>
              <a:rPr sz="2000">
                <a:solidFill>
                  <a:srgbClr val="1F2937"/>
                </a:solidFill>
                <a:latin typeface="Calibri"/>
              </a:rPr>
              <a:t>▸  Vodorod sulfid sianidlar kabi sitoxromoksidazadagi temirni bog‘laydi va to‘qima nafasini buzadi. U asosan nerv tizimiga ta’sir qiladi.</a:t>
            </a:r>
          </a:p>
          <a:p>
            <a:pPr>
              <a:spcAft>
                <a:spcPts val="1200"/>
              </a:spcAft>
            </a:pPr>
            <a:r>
              <a:rPr sz="2000">
                <a:solidFill>
                  <a:srgbClr val="1F2937"/>
                </a:solidFill>
                <a:latin typeface="Calibri"/>
              </a:rPr>
              <a:t>▸  Fosfororganik birikmalar (FOB) xolinesteraza fermentini so‘ndiradi. Natijada to‘qimalarda atsetilxolin to‘planib, xolinergik tizim qo‘zg‘aladi. Mahalliy ta’siri kuchsiz.</a:t>
            </a:r>
          </a:p>
          <a:p>
            <a:pPr>
              <a:spcAft>
                <a:spcPts val="1200"/>
              </a:spcAft>
            </a:pPr>
            <a:r>
              <a:rPr sz="2000">
                <a:solidFill>
                  <a:srgbClr val="1F2937"/>
                </a:solidFill>
                <a:latin typeface="Calibri"/>
              </a:rPr>
              <a:t>▸  Murdada qorachiqlar torayadi (mioz), nafas yo‘llarida shilliq ko‘p, mushak qotishi tez. Kech o‘limda FOB topilmasligi mumkin, xolinesteraza faolligi esa past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154, 154-155, 155, 156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Etil spirti: toksikokinetika va diagnostika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Rezorbsiya (so‘rilish) davri odatda 1–2 soat; undan keyin eliminatsiya (ajralish) davri boshlanadi.</a:t>
            </a:r>
          </a:p>
          <a:p>
            <a:pPr>
              <a:spcAft>
                <a:spcPts val="800"/>
              </a:spcAft>
            </a:pPr>
            <a:r>
              <a:rPr sz="1800">
                <a:solidFill>
                  <a:srgbClr val="1F2937"/>
                </a:solidFill>
                <a:latin typeface="Calibri"/>
              </a:rPr>
              <a:t>▸  Rappoport sinamasida spirt bo‘lsa permanganatning pushti rangi yo‘qoladi; 0,3–0,4 promilleni ham sezadi.</a:t>
            </a:r>
          </a:p>
          <a:p>
            <a:pPr>
              <a:spcAft>
                <a:spcPts val="800"/>
              </a:spcAft>
            </a:pPr>
            <a:r>
              <a:rPr sz="1800">
                <a:solidFill>
                  <a:srgbClr val="1F2937"/>
                </a:solidFill>
                <a:latin typeface="Calibri"/>
              </a:rPr>
              <a:t>▸  Vidmark konstantasi – qondagi spirtning soatiga pasayishi; aniqlab bo‘lmasa o‘rtacha 0,13–0,15 olinadi.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691639"/>
                <a:gridCol w="2252050"/>
                <a:gridCol w="1344285"/>
              </a:tblGrid>
              <a:tr h="768096">
                <a:tc>
                  <a:txBody>
                    <a:bodyPr/>
                    <a:lstStyle/>
                    <a:p>
                      <a:r>
                        <a:rPr sz="1600" b="1">
                          <a:solidFill>
                            <a:srgbClr val="FFFFFF"/>
                          </a:solidFill>
                        </a:rPr>
                        <a:t>Davr</a:t>
                      </a:r>
                    </a:p>
                  </a:txBody>
                  <a:tcPr marL="73152" marR="73152" marT="36576" marB="36576">
                    <a:solidFill>
                      <a:srgbClr val="0B1F3A"/>
                    </a:solidFill>
                  </a:tcPr>
                </a:tc>
                <a:tc>
                  <a:txBody>
                    <a:bodyPr/>
                    <a:lstStyle/>
                    <a:p>
                      <a:r>
                        <a:rPr sz="1600" b="1">
                          <a:solidFill>
                            <a:srgbClr val="FFFFFF"/>
                          </a:solidFill>
                        </a:rPr>
                        <a:t>Qon</a:t>
                      </a:r>
                    </a:p>
                  </a:txBody>
                  <a:tcPr marL="73152" marR="73152" marT="36576" marB="36576">
                    <a:solidFill>
                      <a:srgbClr val="0B1F3A"/>
                    </a:solidFill>
                  </a:tcPr>
                </a:tc>
                <a:tc>
                  <a:txBody>
                    <a:bodyPr/>
                    <a:lstStyle/>
                    <a:p>
                      <a:r>
                        <a:rPr sz="1600" b="1">
                          <a:solidFill>
                            <a:srgbClr val="FFFFFF"/>
                          </a:solidFill>
                        </a:rPr>
                        <a:t>Siydik</a:t>
                      </a:r>
                    </a:p>
                  </a:txBody>
                  <a:tcPr marL="73152" marR="73152" marT="36576" marB="36576">
                    <a:solidFill>
                      <a:srgbClr val="0B1F3A"/>
                    </a:solidFill>
                  </a:tcPr>
                </a:tc>
              </a:tr>
              <a:tr h="768096">
                <a:tc>
                  <a:txBody>
                    <a:bodyPr/>
                    <a:lstStyle/>
                    <a:p>
                      <a:r>
                        <a:rPr sz="1500" b="0">
                          <a:solidFill>
                            <a:srgbClr val="1F2937"/>
                          </a:solidFill>
                        </a:rPr>
                        <a:t>Rezorbsiya</a:t>
                      </a:r>
                    </a:p>
                  </a:txBody>
                  <a:tcPr marL="73152" marR="73152" marT="36576" marB="36576">
                    <a:solidFill>
                      <a:srgbClr val="E8EEF6"/>
                    </a:solidFill>
                  </a:tcPr>
                </a:tc>
                <a:tc>
                  <a:txBody>
                    <a:bodyPr/>
                    <a:lstStyle/>
                    <a:p>
                      <a:r>
                        <a:rPr sz="1500" b="0">
                          <a:solidFill>
                            <a:srgbClr val="1F2937"/>
                          </a:solidFill>
                        </a:rPr>
                        <a:t>Balandroq, ko‘tarilib boradi</a:t>
                      </a:r>
                    </a:p>
                  </a:txBody>
                  <a:tcPr marL="73152" marR="73152" marT="36576" marB="36576">
                    <a:solidFill>
                      <a:srgbClr val="E8EEF6"/>
                    </a:solidFill>
                  </a:tcPr>
                </a:tc>
                <a:tc>
                  <a:txBody>
                    <a:bodyPr/>
                    <a:lstStyle/>
                    <a:p>
                      <a:r>
                        <a:rPr sz="1500" b="0">
                          <a:solidFill>
                            <a:srgbClr val="1F2937"/>
                          </a:solidFill>
                        </a:rPr>
                        <a:t>Qondan pastroq</a:t>
                      </a:r>
                    </a:p>
                  </a:txBody>
                  <a:tcPr marL="73152" marR="73152" marT="36576" marB="36576">
                    <a:solidFill>
                      <a:srgbClr val="E8EEF6"/>
                    </a:solidFill>
                  </a:tcPr>
                </a:tc>
              </a:tr>
              <a:tr h="768096">
                <a:tc>
                  <a:txBody>
                    <a:bodyPr/>
                    <a:lstStyle/>
                    <a:p>
                      <a:r>
                        <a:rPr sz="1500" b="0">
                          <a:solidFill>
                            <a:srgbClr val="1F2937"/>
                          </a:solidFill>
                        </a:rPr>
                        <a:t>Eliminatsiya</a:t>
                      </a:r>
                    </a:p>
                  </a:txBody>
                  <a:tcPr marL="73152" marR="73152" marT="36576" marB="36576">
                    <a:solidFill>
                      <a:srgbClr val="FFFFFF"/>
                    </a:solidFill>
                  </a:tcPr>
                </a:tc>
                <a:tc>
                  <a:txBody>
                    <a:bodyPr/>
                    <a:lstStyle/>
                    <a:p>
                      <a:r>
                        <a:rPr sz="1500" b="0">
                          <a:solidFill>
                            <a:srgbClr val="1F2937"/>
                          </a:solidFill>
                        </a:rPr>
                        <a:t>Pasaya boshlaydi</a:t>
                      </a:r>
                    </a:p>
                  </a:txBody>
                  <a:tcPr marL="73152" marR="73152" marT="36576" marB="36576">
                    <a:solidFill>
                      <a:srgbClr val="FFFFFF"/>
                    </a:solidFill>
                  </a:tcPr>
                </a:tc>
                <a:tc>
                  <a:txBody>
                    <a:bodyPr/>
                    <a:lstStyle/>
                    <a:p>
                      <a:r>
                        <a:rPr sz="1500" b="0">
                          <a:solidFill>
                            <a:srgbClr val="1F2937"/>
                          </a:solidFill>
                        </a:rPr>
                        <a:t>Baland bo‘ladi</a:t>
                      </a:r>
                    </a:p>
                  </a:txBody>
                  <a:tcPr marL="73152" marR="73152" marT="36576" marB="36576">
                    <a:solidFill>
                      <a:srgbClr val="FFFFFF"/>
                    </a:solidFill>
                  </a:tcPr>
                </a:tc>
              </a:tr>
              <a:tr h="768096">
                <a:tc>
                  <a:txBody>
                    <a:bodyPr/>
                    <a:lstStyle/>
                    <a:p>
                      <a:r>
                        <a:rPr sz="1500" b="0">
                          <a:solidFill>
                            <a:srgbClr val="1F2937"/>
                          </a:solidFill>
                        </a:rPr>
                        <a:t>Takroriy qabul</a:t>
                      </a:r>
                    </a:p>
                  </a:txBody>
                  <a:tcPr marL="73152" marR="73152" marT="36576" marB="36576">
                    <a:solidFill>
                      <a:srgbClr val="E8EEF6"/>
                    </a:solidFill>
                  </a:tcPr>
                </a:tc>
                <a:tc>
                  <a:txBody>
                    <a:bodyPr/>
                    <a:lstStyle/>
                    <a:p>
                      <a:r>
                        <a:rPr sz="1500" b="0">
                          <a:solidFill>
                            <a:srgbClr val="1F2937"/>
                          </a:solidFill>
                        </a:rPr>
                        <a:t>Qon yana oshadi</a:t>
                      </a:r>
                    </a:p>
                  </a:txBody>
                  <a:tcPr marL="73152" marR="73152" marT="36576" marB="36576">
                    <a:solidFill>
                      <a:srgbClr val="E8EEF6"/>
                    </a:solidFill>
                  </a:tcPr>
                </a:tc>
                <a:tc>
                  <a:txBody>
                    <a:bodyPr/>
                    <a:lstStyle/>
                    <a:p>
                      <a:r>
                        <a:rPr sz="1500" b="0">
                          <a:solidFill>
                            <a:srgbClr val="1F2937"/>
                          </a:solidFill>
                        </a:rPr>
                        <a:t>Baland qoladi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 va siydikda spirt dinamikasi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157, 158-159, 159-160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Mastlik darajalari va spirt surrogatlari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Qonda 0,5–1,5 promille – yengil, 1,5–2,5 – o‘rta, 2,5–3,0 – kuchli mastlik; 3,0 dan yuqorisi zaharlanish.</a:t>
            </a:r>
          </a:p>
          <a:p>
            <a:pPr>
              <a:spcAft>
                <a:spcPts val="800"/>
              </a:spcAft>
            </a:pPr>
            <a:r>
              <a:rPr sz="1800">
                <a:solidFill>
                  <a:srgbClr val="1F2937"/>
                </a:solidFill>
                <a:latin typeface="Calibri"/>
              </a:rPr>
              <a:t>▸  Metanol formaldegid va chumoli kislotasiga oksidlanadi: atsidoz, ko‘rishning buzilishi.</a:t>
            </a:r>
          </a:p>
          <a:p>
            <a:pPr>
              <a:spcAft>
                <a:spcPts val="800"/>
              </a:spcAft>
            </a:pPr>
            <a:r>
              <a:rPr sz="1800">
                <a:solidFill>
                  <a:srgbClr val="1F2937"/>
                </a:solidFill>
                <a:latin typeface="Calibri"/>
              </a:rPr>
              <a:t>▸  Etilenglikol oksalat kislotasiga aylanib jigar-buyrakni, yuqori spirtlar esa miya va buyrakni shikastlaydi.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91639"/>
                <a:gridCol w="1269785"/>
                <a:gridCol w="2326550"/>
              </a:tblGrid>
              <a:tr h="614476">
                <a:tc>
                  <a:txBody>
                    <a:bodyPr/>
                    <a:lstStyle/>
                    <a:p>
                      <a:r>
                        <a:rPr sz="1600" b="1">
                          <a:solidFill>
                            <a:srgbClr val="FFFFFF"/>
                          </a:solidFill>
                        </a:rPr>
                        <a:t>Surrogat</a:t>
                      </a:r>
                    </a:p>
                  </a:txBody>
                  <a:tcPr marL="73152" marR="73152" marT="36576" marB="36576">
                    <a:solidFill>
                      <a:srgbClr val="0B1F3A"/>
                    </a:solidFill>
                  </a:tcPr>
                </a:tc>
                <a:tc>
                  <a:txBody>
                    <a:bodyPr/>
                    <a:lstStyle/>
                    <a:p>
                      <a:r>
                        <a:rPr sz="1600" b="1">
                          <a:solidFill>
                            <a:srgbClr val="FFFFFF"/>
                          </a:solidFill>
                        </a:rPr>
                        <a:t>Letal doza</a:t>
                      </a:r>
                    </a:p>
                  </a:txBody>
                  <a:tcPr marL="73152" marR="73152" marT="36576" marB="36576">
                    <a:solidFill>
                      <a:srgbClr val="0B1F3A"/>
                    </a:solidFill>
                  </a:tcPr>
                </a:tc>
                <a:tc>
                  <a:txBody>
                    <a:bodyPr/>
                    <a:lstStyle/>
                    <a:p>
                      <a:r>
                        <a:rPr sz="1600" b="1">
                          <a:solidFill>
                            <a:srgbClr val="FFFFFF"/>
                          </a:solidFill>
                        </a:rPr>
                        <a:t>Xos belgi</a:t>
                      </a:r>
                    </a:p>
                  </a:txBody>
                  <a:tcPr marL="73152" marR="73152" marT="36576" marB="36576">
                    <a:solidFill>
                      <a:srgbClr val="0B1F3A"/>
                    </a:solidFill>
                  </a:tcPr>
                </a:tc>
              </a:tr>
              <a:tr h="614476">
                <a:tc>
                  <a:txBody>
                    <a:bodyPr/>
                    <a:lstStyle/>
                    <a:p>
                      <a:r>
                        <a:rPr sz="1500" b="0">
                          <a:solidFill>
                            <a:srgbClr val="1F2937"/>
                          </a:solidFill>
                        </a:rPr>
                        <a:t>Metanol</a:t>
                      </a:r>
                    </a:p>
                  </a:txBody>
                  <a:tcPr marL="73152" marR="73152" marT="36576" marB="36576">
                    <a:solidFill>
                      <a:srgbClr val="E8EEF6"/>
                    </a:solidFill>
                  </a:tcPr>
                </a:tc>
                <a:tc>
                  <a:txBody>
                    <a:bodyPr/>
                    <a:lstStyle/>
                    <a:p>
                      <a:r>
                        <a:rPr sz="1500" b="0">
                          <a:solidFill>
                            <a:srgbClr val="1F2937"/>
                          </a:solidFill>
                        </a:rPr>
                        <a:t>30–100 ml</a:t>
                      </a:r>
                    </a:p>
                  </a:txBody>
                  <a:tcPr marL="73152" marR="73152" marT="36576" marB="36576">
                    <a:solidFill>
                      <a:srgbClr val="E8EEF6"/>
                    </a:solidFill>
                  </a:tcPr>
                </a:tc>
                <a:tc>
                  <a:txBody>
                    <a:bodyPr/>
                    <a:lstStyle/>
                    <a:p>
                      <a:r>
                        <a:rPr sz="1500" b="0">
                          <a:solidFill>
                            <a:srgbClr val="1F2937"/>
                          </a:solidFill>
                        </a:rPr>
                        <a:t>Ko‘rish buziladi, yashirin davr</a:t>
                      </a:r>
                    </a:p>
                  </a:txBody>
                  <a:tcPr marL="73152" marR="73152" marT="36576" marB="36576">
                    <a:solidFill>
                      <a:srgbClr val="E8EEF6"/>
                    </a:solidFill>
                  </a:tcPr>
                </a:tc>
              </a:tr>
              <a:tr h="614476">
                <a:tc>
                  <a:txBody>
                    <a:bodyPr/>
                    <a:lstStyle/>
                    <a:p>
                      <a:r>
                        <a:rPr sz="1500" b="0">
                          <a:solidFill>
                            <a:srgbClr val="1F2937"/>
                          </a:solidFill>
                        </a:rPr>
                        <a:t>Etilenglikol</a:t>
                      </a:r>
                    </a:p>
                  </a:txBody>
                  <a:tcPr marL="73152" marR="73152" marT="36576" marB="36576">
                    <a:solidFill>
                      <a:srgbClr val="FFFFFF"/>
                    </a:solidFill>
                  </a:tcPr>
                </a:tc>
                <a:tc>
                  <a:txBody>
                    <a:bodyPr/>
                    <a:lstStyle/>
                    <a:p>
                      <a:r>
                        <a:rPr sz="1500" b="0">
                          <a:solidFill>
                            <a:srgbClr val="1F2937"/>
                          </a:solidFill>
                        </a:rPr>
                        <a:t>100–200 ml</a:t>
                      </a:r>
                    </a:p>
                  </a:txBody>
                  <a:tcPr marL="73152" marR="73152" marT="36576" marB="36576">
                    <a:solidFill>
                      <a:srgbClr val="FFFFFF"/>
                    </a:solidFill>
                  </a:tcPr>
                </a:tc>
                <a:tc>
                  <a:txBody>
                    <a:bodyPr/>
                    <a:lstStyle/>
                    <a:p>
                      <a:r>
                        <a:rPr sz="1500" b="0">
                          <a:solidFill>
                            <a:srgbClr val="1F2937"/>
                          </a:solidFill>
                        </a:rPr>
                        <a:t>Jigar-buyrak shikasti</a:t>
                      </a:r>
                    </a:p>
                  </a:txBody>
                  <a:tcPr marL="73152" marR="73152" marT="36576" marB="36576">
                    <a:solidFill>
                      <a:srgbClr val="FFFFFF"/>
                    </a:solidFill>
                  </a:tcPr>
                </a:tc>
              </a:tr>
              <a:tr h="614476">
                <a:tc>
                  <a:txBody>
                    <a:bodyPr/>
                    <a:lstStyle/>
                    <a:p>
                      <a:r>
                        <a:rPr sz="1500" b="0">
                          <a:solidFill>
                            <a:srgbClr val="1F2937"/>
                          </a:solidFill>
                        </a:rPr>
                        <a:t>Butil spirti</a:t>
                      </a:r>
                    </a:p>
                  </a:txBody>
                  <a:tcPr marL="73152" marR="73152" marT="36576" marB="36576">
                    <a:solidFill>
                      <a:srgbClr val="E8EEF6"/>
                    </a:solidFill>
                  </a:tcPr>
                </a:tc>
                <a:tc>
                  <a:txBody>
                    <a:bodyPr/>
                    <a:lstStyle/>
                    <a:p>
                      <a:r>
                        <a:rPr sz="1500" b="0">
                          <a:solidFill>
                            <a:srgbClr val="1F2937"/>
                          </a:solidFill>
                        </a:rPr>
                        <a:t>200–250 ml</a:t>
                      </a:r>
                    </a:p>
                  </a:txBody>
                  <a:tcPr marL="73152" marR="73152" marT="36576" marB="36576">
                    <a:solidFill>
                      <a:srgbClr val="E8EEF6"/>
                    </a:solidFill>
                  </a:tcPr>
                </a:tc>
                <a:tc>
                  <a:txBody>
                    <a:bodyPr/>
                    <a:lstStyle/>
                    <a:p>
                      <a:r>
                        <a:rPr sz="1500" b="0">
                          <a:solidFill>
                            <a:srgbClr val="1F2937"/>
                          </a:solidFill>
                        </a:rPr>
                        <a:t>Ichki a’zolardan shirin hid</a:t>
                      </a:r>
                    </a:p>
                  </a:txBody>
                  <a:tcPr marL="73152" marR="73152" marT="36576" marB="36576">
                    <a:solidFill>
                      <a:srgbClr val="E8EEF6"/>
                    </a:solidFill>
                  </a:tcPr>
                </a:tc>
              </a:tr>
              <a:tr h="614476">
                <a:tc>
                  <a:txBody>
                    <a:bodyPr/>
                    <a:lstStyle/>
                    <a:p>
                      <a:r>
                        <a:rPr sz="1500" b="0">
                          <a:solidFill>
                            <a:srgbClr val="1F2937"/>
                          </a:solidFill>
                        </a:rPr>
                        <a:t>Amil spirti</a:t>
                      </a:r>
                    </a:p>
                  </a:txBody>
                  <a:tcPr marL="73152" marR="73152" marT="36576" marB="36576">
                    <a:solidFill>
                      <a:srgbClr val="FFFFFF"/>
                    </a:solidFill>
                  </a:tcPr>
                </a:tc>
                <a:tc>
                  <a:txBody>
                    <a:bodyPr/>
                    <a:lstStyle/>
                    <a:p>
                      <a:r>
                        <a:rPr sz="1500" b="0">
                          <a:solidFill>
                            <a:srgbClr val="1F2937"/>
                          </a:solidFill>
                        </a:rPr>
                        <a:t>20–30 ml</a:t>
                      </a:r>
                    </a:p>
                  </a:txBody>
                  <a:tcPr marL="73152" marR="73152" marT="36576" marB="36576">
                    <a:solidFill>
                      <a:srgbClr val="FFFFFF"/>
                    </a:solidFill>
                  </a:tcPr>
                </a:tc>
                <a:tc>
                  <a:txBody>
                    <a:bodyPr/>
                    <a:lstStyle/>
                    <a:p>
                      <a:r>
                        <a:rPr sz="1500" b="0">
                          <a:solidFill>
                            <a:srgbClr val="1F2937"/>
                          </a:solidFill>
                        </a:rPr>
                        <a:t>Sivush moyi hidi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Surrogatlar: letal doza va belgi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160, 161, 162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Uyqu dorilari va MNT ni qo‘zg‘atuvchi zaharlar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Barbituratlar (veronal, nembutal) va trankvilizatorlar markaziy nerv tizimini (MNT) so‘ndiradi. Klinika: chuqur uyqu, bosim pasayishi, koma; o‘lim nafas markazi falajidan.</a:t>
            </a:r>
          </a:p>
          <a:p>
            <a:pPr>
              <a:spcAft>
                <a:spcPts val="1200"/>
              </a:spcAft>
            </a:pPr>
            <a:r>
              <a:rPr sz="2000">
                <a:solidFill>
                  <a:srgbClr val="1F2937"/>
                </a:solidFill>
                <a:latin typeface="Calibri"/>
              </a:rPr>
              <a:t>▸  Murdada xos o‘zgarish topilmaydi, oshqozonda tabletka qoldig‘i bo‘lishi mumkin. Terapevtik doza ehtimoli sababli miqdoriy sud-kimyoviy tekshiruv zarur.</a:t>
            </a:r>
          </a:p>
          <a:p>
            <a:pPr>
              <a:spcAft>
                <a:spcPts val="1200"/>
              </a:spcAft>
            </a:pPr>
            <a:r>
              <a:rPr sz="2000">
                <a:solidFill>
                  <a:srgbClr val="1F2937"/>
                </a:solidFill>
                <a:latin typeface="Calibri"/>
              </a:rPr>
              <a:t>▸  Psixotoniklar (kofein, fenamin) va antidepressantlar (imizin) MNT ni qo‘zg‘atadi. Katta dozada psixoz, tez-tez qabulda o‘rganib qolish va bog‘liqlik paydo bo‘ladi.</a:t>
            </a:r>
          </a:p>
          <a:p>
            <a:pPr>
              <a:spcAft>
                <a:spcPts val="1200"/>
              </a:spcAft>
            </a:pPr>
            <a:r>
              <a:rPr sz="2000">
                <a:solidFill>
                  <a:srgbClr val="1F2937"/>
                </a:solidFill>
                <a:latin typeface="Calibri"/>
              </a:rPr>
              <a:t>▸  Strixnin: tonik talvasa xurujlari, tananing yoysimon bukilishi (opistotonus), mushak qotishi tez va kuchli. Letal doza kattalarda 0,1-0,3 g, bolalarda 0,005 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163-164, 164, 165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Atropin, pilokarpin, klofelin, miorelaksantlar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Atropin (krasavka, mingdevona, bangidevona alkaloidi): yuz qizarishi, qorachiq kengayishi, alahsirash. Letal doza 0,1 g; murdada oylab saqlanadi, sud-kimyo hal qiladi.</a:t>
            </a:r>
          </a:p>
          <a:p>
            <a:pPr>
              <a:spcAft>
                <a:spcPts val="1200"/>
              </a:spcAft>
            </a:pPr>
            <a:r>
              <a:rPr sz="2000">
                <a:solidFill>
                  <a:srgbClr val="1F2937"/>
                </a:solidFill>
                <a:latin typeface="Calibri"/>
              </a:rPr>
              <a:t>▸  Pilokarpin: ter va so‘lak ko‘p ajralishi, qorachiq torayishi, bronxospazm, o‘pka shishi. Letal doza 0,06 g; murdada torayган qorachiq va shilliqning ko‘pligi aniqlanadi.</a:t>
            </a:r>
          </a:p>
          <a:p>
            <a:pPr>
              <a:spcAft>
                <a:spcPts val="1200"/>
              </a:spcAft>
            </a:pPr>
            <a:r>
              <a:rPr sz="2000">
                <a:solidFill>
                  <a:srgbClr val="1F2937"/>
                </a:solidFill>
                <a:latin typeface="Calibri"/>
              </a:rPr>
              <a:t>▸  Klofelin ichimlikka qo‘shib beriladi: uyquchanlik, bosimning turg‘un pasayishi, bradikardiya, gipotermiya. Kattalar uchun letal doza 0,005-0,01 g.</a:t>
            </a:r>
          </a:p>
          <a:p>
            <a:pPr>
              <a:spcAft>
                <a:spcPts val="1200"/>
              </a:spcAft>
            </a:pPr>
            <a:r>
              <a:rPr sz="2000">
                <a:solidFill>
                  <a:srgbClr val="1F2937"/>
                </a:solidFill>
                <a:latin typeface="Calibri"/>
              </a:rPr>
              <a:t>▸  Miorelaksantlar nerv-mushak o‘tkazuvchanligini to‘sadi; o‘lim nafas mushaklari falajidan. Paxikarpin va miorelaksantlarda murdada xos belgi yo‘q, sud-kimyo hal qiluvchi.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166, 167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Narkotiklar tasnifi va narkotiklar bilan bog‘liq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Moddalar tabiiy, yarim sintetik, sintetik bo‘ladi; ta’siri sedativ yoki qo‘zg‘atuvchi.</a:t>
            </a:r>
          </a:p>
          <a:p>
            <a:pPr>
              <a:spcAft>
                <a:spcPts val="800"/>
              </a:spcAft>
            </a:pPr>
            <a:r>
              <a:rPr sz="1800">
                <a:solidFill>
                  <a:srgbClr val="1F2937"/>
                </a:solidFill>
                <a:latin typeface="Calibri"/>
              </a:rPr>
              <a:t>▸  DRD (drug related death) — iste’mol bilan bevosita yoki bilvosita bog‘liq o‘lim holatlari.</a:t>
            </a:r>
          </a:p>
          <a:p>
            <a:pPr>
              <a:spcAft>
                <a:spcPts val="800"/>
              </a:spcAft>
            </a:pPr>
            <a:r>
              <a:rPr sz="1800">
                <a:solidFill>
                  <a:srgbClr val="1F2937"/>
                </a:solidFill>
                <a:latin typeface="Calibri"/>
              </a:rPr>
              <a:t>▸  DRD ga katta doza, uzoq qabul oqibati, o‘z-o‘zini o‘ldirish, baxtsiz hodisa, qotillik kiradi.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538320"/>
                <a:gridCol w="3749655"/>
              </a:tblGrid>
              <a:tr h="768096">
                <a:tc>
                  <a:txBody>
                    <a:bodyPr/>
                    <a:lstStyle/>
                    <a:p>
                      <a:r>
                        <a:rPr sz="1800" b="1">
                          <a:solidFill>
                            <a:srgbClr val="FFFFFF"/>
                          </a:solidFill>
                        </a:rPr>
                        <a:t>Tur</a:t>
                      </a:r>
                    </a:p>
                  </a:txBody>
                  <a:tcPr marL="73152" marR="73152" marT="36576" marB="36576">
                    <a:solidFill>
                      <a:srgbClr val="0B1F3A"/>
                    </a:solidFill>
                  </a:tcPr>
                </a:tc>
                <a:tc>
                  <a:txBody>
                    <a:bodyPr/>
                    <a:lstStyle/>
                    <a:p>
                      <a:r>
                        <a:rPr sz="1800" b="1">
                          <a:solidFill>
                            <a:srgbClr val="FFFFFF"/>
                          </a:solidFill>
                        </a:rPr>
                        <a:t>Misollar</a:t>
                      </a:r>
                    </a:p>
                  </a:txBody>
                  <a:tcPr marL="73152" marR="73152" marT="36576" marB="36576">
                    <a:solidFill>
                      <a:srgbClr val="0B1F3A"/>
                    </a:solidFill>
                  </a:tcPr>
                </a:tc>
              </a:tr>
              <a:tr h="768096">
                <a:tc>
                  <a:txBody>
                    <a:bodyPr/>
                    <a:lstStyle/>
                    <a:p>
                      <a:r>
                        <a:rPr sz="1700" b="0">
                          <a:solidFill>
                            <a:srgbClr val="1F2937"/>
                          </a:solidFill>
                        </a:rPr>
                        <a:t>Tabiiy</a:t>
                      </a:r>
                    </a:p>
                  </a:txBody>
                  <a:tcPr marL="73152" marR="73152" marT="36576" marB="36576">
                    <a:solidFill>
                      <a:srgbClr val="E8EEF6"/>
                    </a:solidFill>
                  </a:tcPr>
                </a:tc>
                <a:tc>
                  <a:txBody>
                    <a:bodyPr/>
                    <a:lstStyle/>
                    <a:p>
                      <a:r>
                        <a:rPr sz="1700" b="0">
                          <a:solidFill>
                            <a:srgbClr val="1F2937"/>
                          </a:solidFill>
                        </a:rPr>
                        <a:t>Nasha, morfin, kodein, kokain</a:t>
                      </a:r>
                    </a:p>
                  </a:txBody>
                  <a:tcPr marL="73152" marR="73152" marT="36576" marB="36576">
                    <a:solidFill>
                      <a:srgbClr val="E8EEF6"/>
                    </a:solidFill>
                  </a:tcPr>
                </a:tc>
              </a:tr>
              <a:tr h="768096">
                <a:tc>
                  <a:txBody>
                    <a:bodyPr/>
                    <a:lstStyle/>
                    <a:p>
                      <a:r>
                        <a:rPr sz="1700" b="0">
                          <a:solidFill>
                            <a:srgbClr val="1F2937"/>
                          </a:solidFill>
                        </a:rPr>
                        <a:t>Yarim sintetik</a:t>
                      </a:r>
                    </a:p>
                  </a:txBody>
                  <a:tcPr marL="73152" marR="73152" marT="36576" marB="36576">
                    <a:solidFill>
                      <a:srgbClr val="FFFFFF"/>
                    </a:solidFill>
                  </a:tcPr>
                </a:tc>
                <a:tc>
                  <a:txBody>
                    <a:bodyPr/>
                    <a:lstStyle/>
                    <a:p>
                      <a:r>
                        <a:rPr sz="1700" b="0">
                          <a:solidFill>
                            <a:srgbClr val="1F2937"/>
                          </a:solidFill>
                        </a:rPr>
                        <a:t>Geroin, meskalin, efedron</a:t>
                      </a:r>
                    </a:p>
                  </a:txBody>
                  <a:tcPr marL="73152" marR="73152" marT="36576" marB="36576">
                    <a:solidFill>
                      <a:srgbClr val="FFFFFF"/>
                    </a:solidFill>
                  </a:tcPr>
                </a:tc>
              </a:tr>
              <a:tr h="768096">
                <a:tc>
                  <a:txBody>
                    <a:bodyPr/>
                    <a:lstStyle/>
                    <a:p>
                      <a:r>
                        <a:rPr sz="1700" b="0">
                          <a:solidFill>
                            <a:srgbClr val="1F2937"/>
                          </a:solidFill>
                        </a:rPr>
                        <a:t>Sintetik</a:t>
                      </a:r>
                    </a:p>
                  </a:txBody>
                  <a:tcPr marL="73152" marR="73152" marT="36576" marB="36576">
                    <a:solidFill>
                      <a:srgbClr val="E8EEF6"/>
                    </a:solidFill>
                  </a:tcPr>
                </a:tc>
                <a:tc>
                  <a:txBody>
                    <a:bodyPr/>
                    <a:lstStyle/>
                    <a:p>
                      <a:r>
                        <a:rPr sz="1700" b="0">
                          <a:solidFill>
                            <a:srgbClr val="1F2937"/>
                          </a:solidFill>
                        </a:rPr>
                        <a:t>Amfetamin, promedol, metadon, sombrevin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Narkotiklar tasnifi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167-168, 168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Opiatlar, nasha va kokain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Opiatlar og‘iz orqali 20-30, teri ostiga 10-15 daqiqada ta’sir qiladi; jigarda ko‘proq to‘planadi.</a:t>
            </a:r>
          </a:p>
          <a:p>
            <a:pPr>
              <a:spcAft>
                <a:spcPts val="800"/>
              </a:spcAft>
            </a:pPr>
            <a:r>
              <a:rPr sz="1800">
                <a:solidFill>
                  <a:srgbClr val="1F2937"/>
                </a:solidFill>
                <a:latin typeface="Calibri"/>
              </a:rPr>
              <a:t>▸  Opiatlardan o‘lim nafas markazi falajidan sodir bo‘ladi; morfin murdada parchalanmay, oylar o‘tib ham topiladi.</a:t>
            </a:r>
          </a:p>
          <a:p>
            <a:pPr>
              <a:spcAft>
                <a:spcPts val="800"/>
              </a:spcAft>
            </a:pPr>
            <a:r>
              <a:rPr sz="1800">
                <a:solidFill>
                  <a:srgbClr val="1F2937"/>
                </a:solidFill>
                <a:latin typeface="Calibri"/>
              </a:rPr>
              <a:t>▸  Nasha tez parchalanadi; kokainda qo‘zg‘alishli eyforiya bo‘ladi, o‘lim fibrillyasiyadan ham bo‘lishi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982980"/>
                <a:gridCol w="2171371"/>
                <a:gridCol w="2133623"/>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Belgilar</a:t>
                      </a:r>
                    </a:p>
                  </a:txBody>
                  <a:tcPr marL="73152" marR="73152" marT="36576" marB="36576">
                    <a:solidFill>
                      <a:srgbClr val="0B1F3A"/>
                    </a:solidFill>
                  </a:tcPr>
                </a:tc>
                <a:tc>
                  <a:txBody>
                    <a:bodyPr/>
                    <a:lstStyle/>
                    <a:p>
                      <a:r>
                        <a:rPr sz="1600" b="1">
                          <a:solidFill>
                            <a:srgbClr val="FFFFFF"/>
                          </a:solidFill>
                        </a:rPr>
                        <a:t>Letal doza</a:t>
                      </a:r>
                    </a:p>
                  </a:txBody>
                  <a:tcPr marL="73152" marR="73152" marT="36576" marB="36576">
                    <a:solidFill>
                      <a:srgbClr val="0B1F3A"/>
                    </a:solidFill>
                  </a:tcPr>
                </a:tc>
              </a:tr>
              <a:tr h="614476">
                <a:tc>
                  <a:txBody>
                    <a:bodyPr/>
                    <a:lstStyle/>
                    <a:p>
                      <a:r>
                        <a:rPr sz="1500" b="0">
                          <a:solidFill>
                            <a:srgbClr val="1F2937"/>
                          </a:solidFill>
                        </a:rPr>
                        <a:t>Morfin</a:t>
                      </a:r>
                    </a:p>
                  </a:txBody>
                  <a:tcPr marL="73152" marR="73152" marT="36576" marB="36576">
                    <a:solidFill>
                      <a:srgbClr val="E8EEF6"/>
                    </a:solidFill>
                  </a:tcPr>
                </a:tc>
                <a:tc>
                  <a:txBody>
                    <a:bodyPr/>
                    <a:lstStyle/>
                    <a:p>
                      <a:r>
                        <a:rPr sz="1500" b="0">
                          <a:solidFill>
                            <a:srgbClr val="1F2937"/>
                          </a:solidFill>
                        </a:rPr>
                        <a:t>Qorachiq torayadi, sianoz, koma</a:t>
                      </a:r>
                    </a:p>
                  </a:txBody>
                  <a:tcPr marL="73152" marR="73152" marT="36576" marB="36576">
                    <a:solidFill>
                      <a:srgbClr val="E8EEF6"/>
                    </a:solidFill>
                  </a:tcPr>
                </a:tc>
                <a:tc>
                  <a:txBody>
                    <a:bodyPr/>
                    <a:lstStyle/>
                    <a:p>
                      <a:r>
                        <a:rPr sz="1500" b="0">
                          <a:solidFill>
                            <a:srgbClr val="1F2937"/>
                          </a:solidFill>
                        </a:rPr>
                        <a:t>Ichga 0,2-0,4 g; parenteral 0,1-0,2 g</a:t>
                      </a:r>
                    </a:p>
                  </a:txBody>
                  <a:tcPr marL="73152" marR="73152" marT="36576" marB="36576">
                    <a:solidFill>
                      <a:srgbClr val="E8EEF6"/>
                    </a:solidFill>
                  </a:tcPr>
                </a:tc>
              </a:tr>
              <a:tr h="614476">
                <a:tc>
                  <a:txBody>
                    <a:bodyPr/>
                    <a:lstStyle/>
                    <a:p>
                      <a:r>
                        <a:rPr sz="1500" b="0">
                          <a:solidFill>
                            <a:srgbClr val="1F2937"/>
                          </a:solidFill>
                        </a:rPr>
                        <a:t>Quruq opiy</a:t>
                      </a:r>
                    </a:p>
                  </a:txBody>
                  <a:tcPr marL="73152" marR="73152" marT="36576" marB="36576">
                    <a:solidFill>
                      <a:srgbClr val="FFFFFF"/>
                    </a:solidFill>
                  </a:tcPr>
                </a:tc>
                <a:tc>
                  <a:txBody>
                    <a:bodyPr/>
                    <a:lstStyle/>
                    <a:p>
                      <a:r>
                        <a:rPr sz="1500" b="0">
                          <a:solidFill>
                            <a:srgbClr val="1F2937"/>
                          </a:solidFill>
                        </a:rPr>
                        <a:t>Ko‘ngil aynishi, hansirash, karaxtlik</a:t>
                      </a:r>
                    </a:p>
                  </a:txBody>
                  <a:tcPr marL="73152" marR="73152" marT="36576" marB="36576">
                    <a:solidFill>
                      <a:srgbClr val="FFFFFF"/>
                    </a:solidFill>
                  </a:tcPr>
                </a:tc>
                <a:tc>
                  <a:txBody>
                    <a:bodyPr/>
                    <a:lstStyle/>
                    <a:p>
                      <a:r>
                        <a:rPr sz="1500" b="0">
                          <a:solidFill>
                            <a:srgbClr val="1F2937"/>
                          </a:solidFill>
                        </a:rPr>
                        <a:t>Ichga 2-5 g</a:t>
                      </a:r>
                    </a:p>
                  </a:txBody>
                  <a:tcPr marL="73152" marR="73152" marT="36576" marB="36576">
                    <a:solidFill>
                      <a:srgbClr val="FFFFFF"/>
                    </a:solidFill>
                  </a:tcPr>
                </a:tc>
              </a:tr>
              <a:tr h="614476">
                <a:tc>
                  <a:txBody>
                    <a:bodyPr/>
                    <a:lstStyle/>
                    <a:p>
                      <a:r>
                        <a:rPr sz="1500" b="0">
                          <a:solidFill>
                            <a:srgbClr val="1F2937"/>
                          </a:solidFill>
                        </a:rPr>
                        <a:t>Nasha</a:t>
                      </a:r>
                    </a:p>
                  </a:txBody>
                  <a:tcPr marL="73152" marR="73152" marT="36576" marB="36576">
                    <a:solidFill>
                      <a:srgbClr val="E8EEF6"/>
                    </a:solidFill>
                  </a:tcPr>
                </a:tc>
                <a:tc>
                  <a:txBody>
                    <a:bodyPr/>
                    <a:lstStyle/>
                    <a:p>
                      <a:r>
                        <a:rPr sz="1500" b="0">
                          <a:solidFill>
                            <a:srgbClr val="1F2937"/>
                          </a:solidFill>
                        </a:rPr>
                        <a:t>Qorachiq kengayadi, nistagm, taxikardiya</a:t>
                      </a:r>
                    </a:p>
                  </a:txBody>
                  <a:tcPr marL="73152" marR="73152" marT="36576" marB="36576">
                    <a:solidFill>
                      <a:srgbClr val="E8EEF6"/>
                    </a:solidFill>
                  </a:tcPr>
                </a:tc>
                <a:tc>
                  <a:txBody>
                    <a:bodyPr/>
                    <a:lstStyle/>
                    <a:p>
                      <a:r>
                        <a:rPr sz="1500" b="0">
                          <a:solidFill>
                            <a:srgbClr val="1F2937"/>
                          </a:solidFill>
                        </a:rPr>
                        <a:t>Odatda o‘limsiz tugaydi</a:t>
                      </a:r>
                    </a:p>
                  </a:txBody>
                  <a:tcPr marL="73152" marR="73152" marT="36576" marB="36576">
                    <a:solidFill>
                      <a:srgbClr val="E8EEF6"/>
                    </a:solidFill>
                  </a:tcPr>
                </a:tc>
              </a:tr>
              <a:tr h="614476">
                <a:tc>
                  <a:txBody>
                    <a:bodyPr/>
                    <a:lstStyle/>
                    <a:p>
                      <a:r>
                        <a:rPr sz="1500" b="0">
                          <a:solidFill>
                            <a:srgbClr val="1F2937"/>
                          </a:solidFill>
                        </a:rPr>
                        <a:t>Kokain</a:t>
                      </a:r>
                    </a:p>
                  </a:txBody>
                  <a:tcPr marL="73152" marR="73152" marT="36576" marB="36576">
                    <a:solidFill>
                      <a:srgbClr val="FFFFFF"/>
                    </a:solidFill>
                  </a:tcPr>
                </a:tc>
                <a:tc>
                  <a:txBody>
                    <a:bodyPr/>
                    <a:lstStyle/>
                    <a:p>
                      <a:r>
                        <a:rPr sz="1500" b="0">
                          <a:solidFill>
                            <a:srgbClr val="1F2937"/>
                          </a:solidFill>
                        </a:rPr>
                        <a:t>Psixomotor qo‘zg‘alish, aritmiya</a:t>
                      </a:r>
                    </a:p>
                  </a:txBody>
                  <a:tcPr marL="73152" marR="73152" marT="36576" marB="36576">
                    <a:solidFill>
                      <a:srgbClr val="FFFFFF"/>
                    </a:solidFill>
                  </a:tcPr>
                </a:tc>
                <a:tc>
                  <a:txBody>
                    <a:bodyPr/>
                    <a:lstStyle/>
                    <a:p>
                      <a:r>
                        <a:rPr sz="1500" b="0">
                          <a:solidFill>
                            <a:srgbClr val="1F2937"/>
                          </a:solidFill>
                        </a:rPr>
                        <a:t>Nafas markazi falaji yoki fibrillyasiya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Opiatlar, nasha, kokain: taqqoslash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168, 169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Amfetaminlar, spayslar, prekursorlar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Amfetaminlar feniletilaminning sintetik hosilalari bo‘lib, markaziy nerv tizimini qo‘zg‘atadi; ta’siri kokainga o‘xshash, kuchsizroq, lekin davomiyroq.</a:t>
            </a:r>
          </a:p>
          <a:p>
            <a:pPr>
              <a:spcAft>
                <a:spcPts val="1200"/>
              </a:spcAft>
            </a:pPr>
            <a:r>
              <a:rPr sz="2000">
                <a:solidFill>
                  <a:srgbClr val="1F2937"/>
                </a:solidFill>
                <a:latin typeface="Calibri"/>
              </a:rPr>
              <a:t>▸  “Ekstazi” (MDMA — metilendioksimetamfetamin) klub tabletkasi; letal dozasi 500 mg. Spayslar — o‘simlikka sintetik kannabinoid qo‘shilgan aralashma.</a:t>
            </a:r>
          </a:p>
          <a:p>
            <a:pPr>
              <a:spcAft>
                <a:spcPts val="1200"/>
              </a:spcAft>
            </a:pPr>
            <a:r>
              <a:rPr sz="2000">
                <a:solidFill>
                  <a:srgbClr val="1F2937"/>
                </a:solidFill>
                <a:latin typeface="Calibri"/>
              </a:rPr>
              <a:t>▸  Qayta qabul qilish ruhiy bog‘liqlik va tolerantlik beradi; to‘xtatilganda abstinensiya sindromi kuzatiladi. Opiatlarga o‘rganish o‘rtacha 25-30 kunda rivojlanadi.</a:t>
            </a:r>
          </a:p>
          <a:p>
            <a:pPr>
              <a:spcAft>
                <a:spcPts val="1200"/>
              </a:spcAft>
            </a:pPr>
            <a:r>
              <a:rPr sz="2000">
                <a:solidFill>
                  <a:srgbClr val="1F2937"/>
                </a:solidFill>
                <a:latin typeface="Calibri"/>
              </a:rPr>
              <a:t>▸  Prekursorlar — narkotik tayyorlashda ishlatiladigan moddalar: xlorid va sulfat kislotalari, kaliy permanganat, etil efiri, atseton, toluol, piperidin, ergotamin, efedrin.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170, 170-171, 171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Giyohvand moddalarni laboratoriyada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Kannabinoidga: 10 ml qon, 10 ml siydik, 10 ml so‘lak va qo‘l barmoqlaridan yuvma olinadi.</a:t>
            </a:r>
          </a:p>
          <a:p>
            <a:pPr>
              <a:spcAft>
                <a:spcPts val="800"/>
              </a:spcAft>
            </a:pPr>
            <a:r>
              <a:rPr sz="1800">
                <a:solidFill>
                  <a:srgbClr val="1F2937"/>
                </a:solidFill>
                <a:latin typeface="Calibri"/>
              </a:rPr>
              <a:t>▸  Boshqa moddalarga: 15-20 ml qon va kamida 200 ml siydik; materiallar imkon qadar tez olinadi.</a:t>
            </a:r>
          </a:p>
          <a:p>
            <a:pPr>
              <a:spcAft>
                <a:spcPts val="800"/>
              </a:spcAft>
            </a:pPr>
            <a:r>
              <a:rPr sz="1800">
                <a:solidFill>
                  <a:srgbClr val="1F2937"/>
                </a:solidFill>
                <a:latin typeface="Calibri"/>
              </a:rPr>
              <a:t>▸  Nasha gumonida barmoqlar spirtli paxta bilan artiladi, spirt bug‘latilib, tiqin qopchaga o‘raladi.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927859"/>
                <a:gridCol w="1680058"/>
                <a:gridCol w="1680058"/>
              </a:tblGrid>
              <a:tr h="614476">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Boshlanishi</a:t>
                      </a:r>
                    </a:p>
                  </a:txBody>
                  <a:tcPr marL="73152" marR="73152" marT="36576" marB="36576">
                    <a:solidFill>
                      <a:srgbClr val="0B1F3A"/>
                    </a:solidFill>
                  </a:tcPr>
                </a:tc>
                <a:tc>
                  <a:txBody>
                    <a:bodyPr/>
                    <a:lstStyle/>
                    <a:p>
                      <a:r>
                        <a:rPr sz="1600" b="1">
                          <a:solidFill>
                            <a:srgbClr val="FFFFFF"/>
                          </a:solidFill>
                        </a:rPr>
                        <a:t>Davomiyligi</a:t>
                      </a:r>
                    </a:p>
                  </a:txBody>
                  <a:tcPr marL="73152" marR="73152" marT="36576" marB="36576">
                    <a:solidFill>
                      <a:srgbClr val="0B1F3A"/>
                    </a:solidFill>
                  </a:tcPr>
                </a:tc>
              </a:tr>
              <a:tr h="614476">
                <a:tc>
                  <a:txBody>
                    <a:bodyPr/>
                    <a:lstStyle/>
                    <a:p>
                      <a:r>
                        <a:rPr sz="1500" b="0">
                          <a:solidFill>
                            <a:srgbClr val="1F2937"/>
                          </a:solidFill>
                        </a:rPr>
                        <a:t>Kannabinoidlar</a:t>
                      </a:r>
                    </a:p>
                  </a:txBody>
                  <a:tcPr marL="73152" marR="73152" marT="36576" marB="36576">
                    <a:solidFill>
                      <a:srgbClr val="E8EEF6"/>
                    </a:solidFill>
                  </a:tcPr>
                </a:tc>
                <a:tc>
                  <a:txBody>
                    <a:bodyPr/>
                    <a:lstStyle/>
                    <a:p>
                      <a:r>
                        <a:rPr sz="1500" b="0">
                          <a:solidFill>
                            <a:srgbClr val="1F2937"/>
                          </a:solidFill>
                        </a:rPr>
                        <a:t>1-3 soatdan so‘ng</a:t>
                      </a:r>
                    </a:p>
                  </a:txBody>
                  <a:tcPr marL="73152" marR="73152" marT="36576" marB="36576">
                    <a:solidFill>
                      <a:srgbClr val="E8EEF6"/>
                    </a:solidFill>
                  </a:tcPr>
                </a:tc>
                <a:tc>
                  <a:txBody>
                    <a:bodyPr/>
                    <a:lstStyle/>
                    <a:p>
                      <a:r>
                        <a:rPr sz="1500" b="0">
                          <a:solidFill>
                            <a:srgbClr val="1F2937"/>
                          </a:solidFill>
                        </a:rPr>
                        <a:t>24-168 soat</a:t>
                      </a:r>
                    </a:p>
                  </a:txBody>
                  <a:tcPr marL="73152" marR="73152" marT="36576" marB="36576">
                    <a:solidFill>
                      <a:srgbClr val="E8EEF6"/>
                    </a:solidFill>
                  </a:tcPr>
                </a:tc>
              </a:tr>
              <a:tr h="614476">
                <a:tc>
                  <a:txBody>
                    <a:bodyPr/>
                    <a:lstStyle/>
                    <a:p>
                      <a:r>
                        <a:rPr sz="1500" b="0">
                          <a:solidFill>
                            <a:srgbClr val="1F2937"/>
                          </a:solidFill>
                        </a:rPr>
                        <a:t>Geroin</a:t>
                      </a:r>
                    </a:p>
                  </a:txBody>
                  <a:tcPr marL="73152" marR="73152" marT="36576" marB="36576">
                    <a:solidFill>
                      <a:srgbClr val="FFFFFF"/>
                    </a:solidFill>
                  </a:tcPr>
                </a:tc>
                <a:tc>
                  <a:txBody>
                    <a:bodyPr/>
                    <a:lstStyle/>
                    <a:p>
                      <a:r>
                        <a:rPr sz="1500" b="0">
                          <a:solidFill>
                            <a:srgbClr val="1F2937"/>
                          </a:solidFill>
                        </a:rPr>
                        <a:t>2-6 soatdan so‘ng</a:t>
                      </a:r>
                    </a:p>
                  </a:txBody>
                  <a:tcPr marL="73152" marR="73152" marT="36576" marB="36576">
                    <a:solidFill>
                      <a:srgbClr val="FFFFFF"/>
                    </a:solidFill>
                  </a:tcPr>
                </a:tc>
                <a:tc>
                  <a:txBody>
                    <a:bodyPr/>
                    <a:lstStyle/>
                    <a:p>
                      <a:r>
                        <a:rPr sz="1500" b="0">
                          <a:solidFill>
                            <a:srgbClr val="1F2937"/>
                          </a:solidFill>
                        </a:rPr>
                        <a:t>24-72 soat</a:t>
                      </a:r>
                    </a:p>
                  </a:txBody>
                  <a:tcPr marL="73152" marR="73152" marT="36576" marB="36576">
                    <a:solidFill>
                      <a:srgbClr val="FFFFFF"/>
                    </a:solidFill>
                  </a:tcPr>
                </a:tc>
              </a:tr>
              <a:tr h="614476">
                <a:tc>
                  <a:txBody>
                    <a:bodyPr/>
                    <a:lstStyle/>
                    <a:p>
                      <a:r>
                        <a:rPr sz="1500" b="0">
                          <a:solidFill>
                            <a:srgbClr val="1F2937"/>
                          </a:solidFill>
                        </a:rPr>
                        <a:t>Kokain</a:t>
                      </a:r>
                    </a:p>
                  </a:txBody>
                  <a:tcPr marL="73152" marR="73152" marT="36576" marB="36576">
                    <a:solidFill>
                      <a:srgbClr val="E8EEF6"/>
                    </a:solidFill>
                  </a:tcPr>
                </a:tc>
                <a:tc>
                  <a:txBody>
                    <a:bodyPr/>
                    <a:lstStyle/>
                    <a:p>
                      <a:r>
                        <a:rPr sz="1500" b="0">
                          <a:solidFill>
                            <a:srgbClr val="1F2937"/>
                          </a:solidFill>
                        </a:rPr>
                        <a:t>2-6 soatdan so‘ng</a:t>
                      </a:r>
                    </a:p>
                  </a:txBody>
                  <a:tcPr marL="73152" marR="73152" marT="36576" marB="36576">
                    <a:solidFill>
                      <a:srgbClr val="E8EEF6"/>
                    </a:solidFill>
                  </a:tcPr>
                </a:tc>
                <a:tc>
                  <a:txBody>
                    <a:bodyPr/>
                    <a:lstStyle/>
                    <a:p>
                      <a:r>
                        <a:rPr sz="1500" b="0">
                          <a:solidFill>
                            <a:srgbClr val="1F2937"/>
                          </a:solidFill>
                        </a:rPr>
                        <a:t>48-72 soat</a:t>
                      </a:r>
                    </a:p>
                  </a:txBody>
                  <a:tcPr marL="73152" marR="73152" marT="36576" marB="36576">
                    <a:solidFill>
                      <a:srgbClr val="E8EEF6"/>
                    </a:solidFill>
                  </a:tcPr>
                </a:tc>
              </a:tr>
              <a:tr h="614476">
                <a:tc>
                  <a:txBody>
                    <a:bodyPr/>
                    <a:lstStyle/>
                    <a:p>
                      <a:r>
                        <a:rPr sz="1500" b="0">
                          <a:solidFill>
                            <a:srgbClr val="1F2937"/>
                          </a:solidFill>
                        </a:rPr>
                        <a:t>Fensiklidin</a:t>
                      </a:r>
                    </a:p>
                  </a:txBody>
                  <a:tcPr marL="73152" marR="73152" marT="36576" marB="36576">
                    <a:solidFill>
                      <a:srgbClr val="FFFFFF"/>
                    </a:solidFill>
                  </a:tcPr>
                </a:tc>
                <a:tc>
                  <a:txBody>
                    <a:bodyPr/>
                    <a:lstStyle/>
                    <a:p>
                      <a:r>
                        <a:rPr sz="1500" b="0">
                          <a:solidFill>
                            <a:srgbClr val="1F2937"/>
                          </a:solidFill>
                        </a:rPr>
                        <a:t>4-6 soatdan so‘ng</a:t>
                      </a:r>
                    </a:p>
                  </a:txBody>
                  <a:tcPr marL="73152" marR="73152" marT="36576" marB="36576">
                    <a:solidFill>
                      <a:srgbClr val="FFFFFF"/>
                    </a:solidFill>
                  </a:tcPr>
                </a:tc>
                <a:tc>
                  <a:txBody>
                    <a:bodyPr/>
                    <a:lstStyle/>
                    <a:p>
                      <a:r>
                        <a:rPr sz="1500" b="0">
                          <a:solidFill>
                            <a:srgbClr val="1F2937"/>
                          </a:solidFill>
                        </a:rPr>
                        <a:t>7-14 kun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Siydikda aniqlanish muddati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Murdadagi o‘zgarishlarning to‘rt guruhi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Giyohvand modda iste’moli bilan bog‘liq o‘limda murdada topiladigan o‘zgarishlar shartli ravishda to‘rt guruhga bo‘linadi.</a:t>
            </a:r>
          </a:p>
          <a:p>
            <a:pPr>
              <a:spcAft>
                <a:spcPts val="800"/>
              </a:spcAft>
            </a:pPr>
            <a:r>
              <a:rPr sz="1800">
                <a:solidFill>
                  <a:srgbClr val="1F2937"/>
                </a:solidFill>
                <a:latin typeface="Calibri"/>
              </a:rPr>
              <a:t>▸  Spetsifik o‘zgarishlar sud-tibbiy amaliyot uchun ahamiyatsiz: ularni faqat murakkab usullar ochadi.</a:t>
            </a:r>
          </a:p>
          <a:p>
            <a:pPr>
              <a:spcAft>
                <a:spcPts val="800"/>
              </a:spcAft>
            </a:pPr>
            <a:r>
              <a:rPr sz="1800">
                <a:solidFill>
                  <a:srgbClr val="1F2937"/>
                </a:solidFill>
                <a:latin typeface="Calibri"/>
              </a:rPr>
              <a:t>▸  Diqqat: xato qilish xavfi. Bu belgilar bilvosita dalil, ishonchli xulosa faqat sud-kimyoviy tasdiq bilan chiqadi.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033836"/>
                <a:gridCol w="3254138"/>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Belgi misoli</a:t>
                      </a:r>
                    </a:p>
                  </a:txBody>
                  <a:tcPr marL="73152" marR="73152" marT="36576" marB="36576">
                    <a:solidFill>
                      <a:srgbClr val="0B1F3A"/>
                    </a:solidFill>
                  </a:tcPr>
                </a:tc>
              </a:tr>
              <a:tr h="614476">
                <a:tc>
                  <a:txBody>
                    <a:bodyPr/>
                    <a:lstStyle/>
                    <a:p>
                      <a:r>
                        <a:rPr sz="1700" b="0">
                          <a:solidFill>
                            <a:srgbClr val="1F2937"/>
                          </a:solidFill>
                        </a:rPr>
                        <a:t>Spetsifik</a:t>
                      </a:r>
                    </a:p>
                  </a:txBody>
                  <a:tcPr marL="73152" marR="73152" marT="36576" marB="36576">
                    <a:solidFill>
                      <a:srgbClr val="E8EEF6"/>
                    </a:solidFill>
                  </a:tcPr>
                </a:tc>
                <a:tc>
                  <a:txBody>
                    <a:bodyPr/>
                    <a:lstStyle/>
                    <a:p>
                      <a:r>
                        <a:rPr sz="1700" b="0">
                          <a:solidFill>
                            <a:srgbClr val="1F2937"/>
                          </a:solidFill>
                        </a:rPr>
                        <a:t>Neyrokimyoviy; faqat murakkab usulda</a:t>
                      </a:r>
                    </a:p>
                  </a:txBody>
                  <a:tcPr marL="73152" marR="73152" marT="36576" marB="36576">
                    <a:solidFill>
                      <a:srgbClr val="E8EEF6"/>
                    </a:solidFill>
                  </a:tcPr>
                </a:tc>
              </a:tr>
              <a:tr h="614476">
                <a:tc>
                  <a:txBody>
                    <a:bodyPr/>
                    <a:lstStyle/>
                    <a:p>
                      <a:r>
                        <a:rPr sz="1700" b="0">
                          <a:solidFill>
                            <a:srgbClr val="1F2937"/>
                          </a:solidFill>
                        </a:rPr>
                        <a:t>Qayta qabul qilish izlari</a:t>
                      </a:r>
                    </a:p>
                  </a:txBody>
                  <a:tcPr marL="73152" marR="73152" marT="36576" marB="36576">
                    <a:solidFill>
                      <a:srgbClr val="FFFFFF"/>
                    </a:solidFill>
                  </a:tcPr>
                </a:tc>
                <a:tc>
                  <a:txBody>
                    <a:bodyPr/>
                    <a:lstStyle/>
                    <a:p>
                      <a:r>
                        <a:rPr sz="1700" b="0">
                          <a:solidFill>
                            <a:srgbClr val="1F2937"/>
                          </a:solidFill>
                        </a:rPr>
                        <a:t>Venada yaralar, chandiq; granulemalar</a:t>
                      </a:r>
                    </a:p>
                  </a:txBody>
                  <a:tcPr marL="73152" marR="73152" marT="36576" marB="36576">
                    <a:solidFill>
                      <a:srgbClr val="FFFFFF"/>
                    </a:solidFill>
                  </a:tcPr>
                </a:tc>
              </a:tr>
              <a:tr h="614476">
                <a:tc>
                  <a:txBody>
                    <a:bodyPr/>
                    <a:lstStyle/>
                    <a:p>
                      <a:r>
                        <a:rPr sz="1700" b="0">
                          <a:solidFill>
                            <a:srgbClr val="1F2937"/>
                          </a:solidFill>
                        </a:rPr>
                        <a:t>In’eksion infeksiyalar</a:t>
                      </a:r>
                    </a:p>
                  </a:txBody>
                  <a:tcPr marL="73152" marR="73152" marT="36576" marB="36576">
                    <a:solidFill>
                      <a:srgbClr val="E8EEF6"/>
                    </a:solidFill>
                  </a:tcPr>
                </a:tc>
                <a:tc>
                  <a:txBody>
                    <a:bodyPr/>
                    <a:lstStyle/>
                    <a:p>
                      <a:r>
                        <a:rPr sz="1700" b="0">
                          <a:solidFill>
                            <a:srgbClr val="1F2937"/>
                          </a:solidFill>
                        </a:rPr>
                        <a:t>Orttirilgan immun tanqislik (OITS), gepatit</a:t>
                      </a:r>
                    </a:p>
                  </a:txBody>
                  <a:tcPr marL="73152" marR="73152" marT="36576" marB="36576">
                    <a:solidFill>
                      <a:srgbClr val="E8EEF6"/>
                    </a:solidFill>
                  </a:tcPr>
                </a:tc>
              </a:tr>
              <a:tr h="614476">
                <a:tc>
                  <a:txBody>
                    <a:bodyPr/>
                    <a:lstStyle/>
                    <a:p>
                      <a:r>
                        <a:rPr sz="1700" b="0">
                          <a:solidFill>
                            <a:srgbClr val="1F2937"/>
                          </a:solidFill>
                        </a:rPr>
                        <a:t>Turmush tarzi</a:t>
                      </a:r>
                    </a:p>
                  </a:txBody>
                  <a:tcPr marL="73152" marR="73152" marT="36576" marB="36576">
                    <a:solidFill>
                      <a:srgbClr val="FFFFFF"/>
                    </a:solidFill>
                  </a:tcPr>
                </a:tc>
                <a:tc>
                  <a:txBody>
                    <a:bodyPr/>
                    <a:lstStyle/>
                    <a:p>
                      <a:r>
                        <a:rPr sz="1700" b="0">
                          <a:solidFill>
                            <a:srgbClr val="1F2937"/>
                          </a:solidFill>
                        </a:rPr>
                        <a:t>Ozginlik, tuberkulez, tatirovka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Murdadagi o‘zgarishlar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giyohvandlik gumoni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vena bo‘ylab turli muddatli mayda yaralar va chandiqlar, ozginlik, terida shprits shaklidagi tatirovka topildi.</a:t>
            </a:r>
          </a:p>
          <a:p>
            <a:pPr>
              <a:spcAft>
                <a:spcPts val="1200"/>
              </a:spcAft>
            </a:pPr>
            <a:r>
              <a:rPr sz="2200">
                <a:solidFill>
                  <a:srgbClr val="1F2937"/>
                </a:solidFill>
                <a:latin typeface="Calibri"/>
              </a:rPr>
              <a:t>▸  Qo‘shimcha: o‘pkada granulemalar aniqlandi, in’eksiya orqali yuqadigan gepatitga shubha bor.</a:t>
            </a:r>
          </a:p>
          <a:p>
            <a:pPr>
              <a:spcAft>
                <a:spcPts val="1200"/>
              </a:spcAft>
            </a:pPr>
            <a:r>
              <a:rPr sz="2200">
                <a:solidFill>
                  <a:srgbClr val="1F2937"/>
                </a:solidFill>
                <a:latin typeface="Calibri"/>
              </a:rPr>
              <a:t>▸  Savol: shu belgilarga tayanib, giyohvand modda qabul qilingan deb qat’iy xulosa qilish mumkinmi?</a:t>
            </a:r>
          </a:p>
          <a:p>
            <a:pPr>
              <a:spcAft>
                <a:spcPts val="1200"/>
              </a:spcAft>
            </a:pPr>
            <a:r>
              <a:rPr sz="2200">
                <a:solidFill>
                  <a:srgbClr val="1F2937"/>
                </a:solidFill>
                <a:latin typeface="Calibri"/>
              </a:rPr>
              <a:t>▸  Javob: yo‘q. Belgilar bilvosita dalil; ular voqea tafsiloti, klinik ma’lumot va asosan sud-kimyoviy natijalar bilan birga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172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Laboratoriya tekshiruvlarining ahamiyati va xatolari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Soxta musbat: zaharlanish bo‘lmasa ham zahar topilishi mumkin. Sabab: dori qo‘llanishi, chirishda hosil bo‘lishi, kasbiy kontakt.</a:t>
            </a:r>
          </a:p>
          <a:p>
            <a:pPr>
              <a:spcAft>
                <a:spcPts val="1200"/>
              </a:spcAft>
            </a:pPr>
            <a:r>
              <a:rPr sz="2200">
                <a:solidFill>
                  <a:srgbClr val="1F2937"/>
                </a:solidFill>
                <a:latin typeface="Calibri"/>
              </a:rPr>
              <a:t>▸  Ob’ekt olish yoki tekshirishdagi kamchiliklar ham soxta musbat natijaga olib kelishi mumkin.</a:t>
            </a:r>
          </a:p>
          <a:p>
            <a:pPr>
              <a:spcAft>
                <a:spcPts val="1200"/>
              </a:spcAft>
            </a:pPr>
            <a:r>
              <a:rPr sz="2200">
                <a:solidFill>
                  <a:srgbClr val="1F2937"/>
                </a:solidFill>
                <a:latin typeface="Calibri"/>
              </a:rPr>
              <a:t>▸  Soxta manfiy: zahar tez parchalansa, intensiv infuziya o‘tkazilsa, ko‘p vaqt o‘tsa yoki aniqlash usuli hali yo‘q bo‘lsa.</a:t>
            </a:r>
          </a:p>
          <a:p>
            <a:pPr>
              <a:spcAft>
                <a:spcPts val="1200"/>
              </a:spcAft>
            </a:pPr>
            <a:r>
              <a:rPr sz="2200">
                <a:solidFill>
                  <a:srgbClr val="1F2937"/>
                </a:solidFill>
                <a:latin typeface="Calibri"/>
              </a:rPr>
              <a:t>▸  Sud-kimyoviy natijalar hamisha boshqa ma’lumotlar bilan birgalikda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qoidalar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Zaharlanishning sud-tibbiy diagnostikasi uch bosqichda to‘plangan dalillarga tayanadi: hodisa joyini ko‘zdan kechirish, murda tekshiruvi va laboratoriya tekshiruvlari.</a:t>
            </a:r>
          </a:p>
          <a:p>
            <a:pPr>
              <a:spcAft>
                <a:spcPts val="1200"/>
              </a:spcAft>
            </a:pPr>
            <a:r>
              <a:rPr sz="2000">
                <a:solidFill>
                  <a:srgbClr val="1F2937"/>
                </a:solidFill>
                <a:latin typeface="Calibri"/>
              </a:rPr>
              <a:t>▸  Funksional zaharlarda murdada xos o‘zgarish ko‘pincha topilmaydi. Shuning uchun tibbiy hujjatlar, klinika va laboratoriya natijalari asosiy dalil bo‘ladi.</a:t>
            </a:r>
          </a:p>
          <a:p>
            <a:pPr>
              <a:spcAft>
                <a:spcPts val="1200"/>
              </a:spcAft>
            </a:pPr>
            <a:r>
              <a:rPr sz="2000">
                <a:solidFill>
                  <a:srgbClr val="1F2937"/>
                </a:solidFill>
                <a:latin typeface="Calibri"/>
              </a:rPr>
              <a:t>▸  Laboratoriya ichida eng ko‘p sud-kimyoviy tekshiruv o‘tkaziladi. U sifat va miqdorni aniqlaydi, namunalar esa “uch nuqta” qoidasi bo‘yicha olinadi.</a:t>
            </a:r>
          </a:p>
          <a:p>
            <a:pPr>
              <a:spcAft>
                <a:spcPts val="1200"/>
              </a:spcAft>
            </a:pPr>
            <a:r>
              <a:rPr sz="2000">
                <a:solidFill>
                  <a:srgbClr val="1F2937"/>
                </a:solidFill>
                <a:latin typeface="Calibri"/>
              </a:rPr>
              <a:t>▸  Diqqat: natijani yakka o‘zi baholab bo‘lmaydi. Zahar zaharlanishsiz ham topilishi (soxta musbat), zaharlanishda esa topilmasligi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135-136, 136, 180-181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“narkotiklar bilan bog‘liq o‘lim” (drug related death, DRD) beshta holatni qamrab oladi. Ular: 1) katta dozadan zaharlanish, 2) uzoq qabul qilishdan o‘zgarishlar, 3) o‘z-o‘zini o‘ldirish, 4) baxtsiz hodisalar, 5) qotillik. Faqat birinchisini hisobga olish muammoning haqiqiy ko‘lamini ko‘rsatmaydi.</a:t>
            </a:r>
          </a:p>
          <a:p>
            <a:pPr>
              <a:spcAft>
                <a:spcPts val="1200"/>
              </a:spcAft>
            </a:pPr>
            <a:r>
              <a:rPr sz="1800">
                <a:solidFill>
                  <a:srgbClr val="1F2937"/>
                </a:solidFill>
                <a:latin typeface="Calibri"/>
              </a:rPr>
              <a:t>▸  Qiziqarli fakt: morfin qonga so‘rilgan zahoti chiqa boshlaydi. Chiqarilish cho‘qqisi 8-12 soatdan keyin, dastlabki 3-4 kunda esa uning 90% ga yaqini chiqib ketadi. Shunga qaramay, murdada u parchalanmaydi va o‘lim dan bir necha oy o‘tgach ham sud-kimyoviy tekshiruvda topilishi mumkin.</a:t>
            </a:r>
          </a:p>
          <a:p>
            <a:pPr>
              <a:spcAft>
                <a:spcPts val="1200"/>
              </a:spcAft>
            </a:pPr>
            <a:r>
              <a:rPr sz="1800">
                <a:solidFill>
                  <a:srgbClr val="1F2937"/>
                </a:solidFill>
                <a:latin typeface="Calibri"/>
              </a:rPr>
              <a:t>▸  Hodisa tahlili: opiatlarga o‘rganib qolish o‘rtacha 25-30 kunda shakllanadi va kunlik doza 10,0 g gacha ko‘tarilishi mumkin. Qabul to‘xtatilsa, abstinensiya sindromi 5-6 kun davom etadi. Savol: nega tolerantlik rivojlangan odamda “odatiy” doza tasodifan o‘lim ga olib kelmasligi mumkin, yangi iste’molchida esa olib keladi?</a:t>
            </a:r>
          </a:p>
          <a:p>
            <a:pPr>
              <a:spcAft>
                <a:spcPts val="1200"/>
              </a:spcAft>
            </a:pPr>
            <a:r>
              <a:rPr sz="1800">
                <a:solidFill>
                  <a:srgbClr val="1F2937"/>
                </a:solidFill>
                <a:latin typeface="Calibri"/>
              </a:rPr>
              <a:t>▸  Eslab qolish usuli: narkotik iste’molchi murdasidagi o‘zgarishlar to‘rt guruhga bo‘linadi: spetsifik (amaliyotda ahamiyatsiz), takroriy yuborish izlari, in’eksiya orqali yuqqan infeksiyalar (OITS, gepatit), turmush tarzi belgilari. Ular bilvosita dalil bo‘lib, ishonchli xulosa faqat sud-kimyoviy natija bilan birga beriladi.</a:t>
            </a:r>
          </a:p>
          <a:p>
            <a:pPr>
              <a:spcAft>
                <a:spcPts val="1200"/>
              </a:spcAft>
            </a:pPr>
            <a:r>
              <a:rPr sz="1800">
                <a:solidFill>
                  <a:srgbClr val="1F2937"/>
                </a:solidFill>
                <a:latin typeface="Calibri"/>
              </a:rPr>
              <a:t>▸  Qiziqarli fakt: siydikda moddalar turli muddatda paydo bo‘ladi va turlicha uzoq saqlanadi. Kannabinoidlar 1-3 soatdan keyin aniqlanib, 24-168 soat davomida topiladi. Geroin 2-6 soatdan keyin paydo bo‘lib, 24-72 soat topiladi. Shuning uchun namunani imkon qadar tezroq olish kerak.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O'tkir giyohvand moddalar bilan zaharlanishning sud-tibbiy diagnostikasi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6. Sud-tibbiy toksikologiya (qisman 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