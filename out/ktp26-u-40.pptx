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G-E bo‘yash nimani ko‘rsata oladi va nimani ko‘rsata olmaydi? 2) Sud-tibbiyotda marker aniqlash nimaga kerak bo‘lishi mumkin? Doskada: ikki ustunli jadval chizing, chapda “G-E”, o‘ngda “IHK”, talabalar to‘ldirsin. Tipik xato: IHK G-E o‘rnini bosadi deb o‘ylash. Aslida u qo‘shimcha usul.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“Hujayralar bilan suhbat” iborasi nimani anglatadi? 2) Nega IHKni faqat “bo‘yash” deb atash noto‘g‘ri bo‘lishi mumkin? Doskada: antigen, antikor va ko‘rinadigan bo‘yoq o‘rtasidagi bog‘lanishni oddiy strelkalar bilan chizing. Tipik xato: immunositokimyo va IHKni butunlay bir xil deb olish. Manbada atama ishlatilishi mualliflarga qarab farq qiladi. In vitro va in situ tajribalar in vivo holatning “suratlari” bo‘lib, biotibbiy tadqiqotning tayanchidir.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Qaysi bosqichdagi xato natijani eng ko‘p buzishi mumkin? 2) Nega talqin alohida bosqich hisoblanadi? Doskada: 5 ta tugunli zanjirni talabalar daftariga chizib, har tugun yoniga bitta so‘z bilan maqsadini yozsin. Tipik xato: faqat laboratoriya reaksiyasini IHK deb hisoblash. Manbada talqin va miqdoriy baholash ham texnikaning ikkinchi bosqichi.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Coons qizil rang sezgirligini past deb hisobladi? 2) Fermentli belgilash usulni qanday qilib ko‘plab laboratoriyaga yetkazdi? Doskada: Marrack, Coons va Nakane vaqt chizig‘ini chizdiring va har biriga mikroskop turini yozdiring. Tipik xato: talabalar floresent usulni (Coons) fermentli usul (Nakane) bilan aralashtiradi.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Belgilanmagan antikor usuli nimasi bilan oldingi usullardan farq qiladi? 2) DAB elektron mikroskopiyada nega foydali? Doskada: jadvalni chizib, har bir usulga muallifni yozdiring. APAAP to‘liq nomi: ishqoriy fosfataza–anti-ishqoriy fosfataza. Tipik xato: PAP (peroksidaza) va APAAP (ishqoriy fosfataza) fermentlarini almashtirib yuborish.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Antigenni ochish formalin bilan fiksatsiyalangan to‘qimada nega kerak? 2) Ikkilamchi antikor tizimi nima uchun ishlatiladi? Doskada: jarayon zanjirini chizing. Qo‘shimcha: ABC va LSAB yangi namunalarda ham, fiksatsiyalangan to‘qimada ham qo‘llanishga imkon berdi. Tipik xato: ABC va LSAB ni birlamchi antikor deb o‘ylash.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fermentli belgi ftorestsent belgidan qulay bo‘ldi? 2) Formalin-parafin to‘qimada IHK nega muhim edi? Doskaga: Coons → Nakane → formalin-parafin zanjirini chizdiring. Tipik xato: Coons usulini (fluorestsein) Nakane usuli (ferment)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Differensiallanmagan o‘smada IHK nima beradi? 2) Yaxshi va yomon sifatli proliferatsiyani ajratish nega muhim? Doskaga: besh sohani markaziy ’IHK’ atrofida chizdiring. Tipik xato: IHK gematoksilin-eozinni almashtiradi deb o‘ylash; u faqat to‘ldiruvchi usul.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83% va 95% bir narsa emas? 2) IHK samarasiz bo‘lishining sabablari qanday? Doskaga: 3760 ni 19/17/64% ga bo‘lgan doira diagrammasini chizdiring. Tipik xato: 83% ni barcha namunalarga nisbatan deb o‘ylash; u faqat 835 diagnostik holatga tegishli.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G-E nega yetarli bo‘lmay qolishi mumkin? 2) IHK 5% holatda nega yordam bermaydi? Doskaga chizish: ikki ustun (IHK yordam beradi / bermaydi) va ularga misollar. Tipik xato: IHK ni mustaqil usul deb o‘ylash. Manbada u G-E ni to‘ldiruvchi (komplementar) usul. Werner ma’lumotiga ko‘ra, 3760 namunaning 64% diagnostik maqsadda tekshirilgan, 95% holatda IHK yordamchi usul bo‘lgan.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Javoblar: 1) IHK — maxsus antikorlar yordamida to‘qima antigenlarini aniqlovchi, bo‘yalish orqali ko‘rinadigan usullar yig‘indisi; hujayra preparatlarida immunositokimyo. 2) Coons — Streptococcus pneumoniae ga qarshi fluorestsein bilan belgilangan antikor, ultrabinafsha nurda ko‘rilgan; Nakane — ferment bilan belgilangan antikorlar, reaksiyani oddiy optik mikroskopda ko‘rish imkoni. 3) DAB — peroksidaza uchun eng ko‘p ishlatiladigan xromogen; elektronzich cho‘kma hosil qilib, ferritinni almashtirgan. 4) Diagnostik maqsad 64%; 835 holatdan 83% da aniq tashxisga hissa, aniqlanmagan tashxislar 12% ga kamaygan. Doskaga chizish: tarixiy vaqt chizig‘i (Coons → Nakane → DAB). Tipik xato: Coons usulini ferment usuli bilan aralashtirish. Coons fluorestsent, Nakane fermentli. Diqqat: Coons ≠ Nakane.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Antigenni ochish nega birinchi turadi? 2) Nega bosqichlar tartibini buzish yolg‘on natija beradi? Doskaga chizish: 5 tugunli zanjir; ‘Nospetsifik/peroksidaza bloki’ ni ikkita alohida bosqichga ajrating, ‘Aniqlash va ochish’ ni ham ikkiga bo‘ling (jami 7 bosqich). Oxirida preparatni yopish (mounting) va saqlash bor. Tipik xato: birlamchi antikorni antigenni ochishdan oldin qo‘yish yoki endogen peroksidazani bloklashni unutish.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operatsiya xonasida fiksatorni tanlash muhim? 2) Tripsin bilan ishlov berish nega bir markerga foyda, boshqasiga zarar? Doskada: formalin va etanol uchun ikki ustunli solishtirish jadvalini chizing. Tipik xato: formalin eng yaxshi fiksator deb, barcha epitoplar uchun mos deb o‘ylash.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Muhokama: 1) Juda yupqa va juda qalin kesma natijaga qanday ta’sir qiladi? 2) Yuqori harorat nimani buzadi? Doskada: 3 va 7 μm chegaralarini sonlar o‘qida belgilang. Tipik xato: yupqaroq kesma doim aniqroq natija beradi deb o‘ylash; aslida 3 μm dan yupqasi zaif bo‘yaladi.</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Muhokama: 1) Nega qon quyilgan va nekrotik joy mos emas? 2) Chegara zonasi nima uchun qimmatli? Doskada: o‘sma, chegara, atrofdagi parenxima va nekroz zonasini sxema qilib, blok olinadigan joyni belgilang. Tipik xato: eng katta nekrotik qismdan blok tanlash.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kuchaytirish kuchi oshganda nospetsifik reaksiya xavfi ham ortadi? 2) Swansonning ‘universal usul yo‘q’ fikri amaliyotda nimani anglatadi? Doskada: 5 bosqichli zanjirni chizib, har bosqich yoniga ‘foyda’ va ‘xavf’ yozdiring. Tipik xato: HIER va ABC ni bir xil narsa deb o‘ylash – biri epitopni ochadi, ikkinchisi signalni kuchaytiradi.</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Qaysi holatda sezuvchanlik, qaysida o‘ziga xoslik muhimroq? 2) Titrlash nega har yangi seriyada takrorlanadi? Doskada: bitta antigenda ko‘p epitopni va bitta epitopni chizib, antikorlarni ulang. Tipik xato: monoklonal antikorni doim ‘yaxshiroq’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klinik ma’lumotsiz panel tanlash xavfli? 2) 42,1 foiz raqami laboratoriya nazoratiga nimani o‘rgatadi? Doskada: ‘klinik savol → panel → naqsh talqini → tashxis’ zanjirini chizdiring. Tipik xato: ko‘p antikor tanlashni yaxshi panel deb o‘ylash; gap antikorlar sonida emas, mantiqiy tanlovda.</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Nega tashqi nazorat sinov namunasi bilan bir xil sharoitda fiksatsiya qilinishi kerak? 2) Preparatning qaysi tuzilmalari ichki nazorat bo‘la oladi? Doskada chizish: bitta preparat sxemasini chizib, unda tomir, ko‘krak yo‘li va eritrotsitlarni belgilang. Tipik xato: talabalar ichki nazoratni tashqi nazorat bilan aralashtiradi.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Fiksatsiya xatosi qaysi bias turiga kiradi? 2) Noto‘g‘ri panel tanlash natijaga qanday ta’sir qiladi? Doskada chizish: ikki ustunli sxema — chapda reaksiya biasi, o‘ngda talqin biasi, har biriga uchta misol yozing. Tipik xato: talabalar panel va klon tanlashni texnik (reaksiya) xato deb hisoblaydi.</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1) Nega reagentlar ketma-ketligini qat’iy saqlash kerak? 2) Yozuvlar yuritish laboratoriyaga qanday foyda beradi? Doskada chizish: reaksiya bosqichlarining ish sxemasini ketma-ketlikda yozing. Tipik xato: talabalar Immunoquery va UK NEQAS ni bir xil turdagi dastur deb o‘ylaydi — biri elektron baza, ikkinchisi tashqi sifat baholash sxemasi.</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Nima uchun paraffin blokdagi namuna shishadagi kesmadan uzoq saqlanadi? 2) Operatsiya xonasida fiksatorni noto‘g‘ri tanlash keyin qanday qiyinchilik tug‘diradi? Doskada chizish: namuna olishdan bo‘yashgacha zanjir, xavfli bosqichlarni qizil bilan belgilang. Tipik xato: 12 haftalik yo‘qotish paraffin blokka ham tegishli deb o‘ylash. Manbada blokda 10 yildan ortiq bunday yo‘qotish kuzatilmagan.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Javoblar: 1) 3–7 mkm; yupqasi juda kuchsiz bo‘yaladi, qalini shishadan to‘qima ko‘chishiga va tahlilning qiyinlashishiga olib keladi. 2) Formaldegid epitoplarni niqoblaydi, antigenni tiklash usullari ularni ochadi. 3) Poliklonal bir antigenning ko‘p epitopini taniydi, sezgirroq. Monoklonal bitta epitopni taniydi, o‘ziga xosroq. 4) Tashqi nazorat: har bir antikor uchun o‘sha sharoitda fiksatsiyalangan maxsus to‘qima kesmasi. Ichki musbat: tomirlar vimentin uchun, ko‘krak naylari estrogen va progesteron retseptorlari uchun. Ichki manfiy: qon tomirlaridagi eritrotsitlar, ular endogen peroksidaza manbai. Doskada chizish: ikki ustunli jadval, poliklonal va monoklonal. Tipik xato: poliklonal antikorni o‘ziga xosroq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bir xil bo‘yalish turli mualliflarda musbat yoki manfiy deb baholanishi mumkin? 2) Molekulaning vazifasini bilish talqinga qanday yordam beradi? Doskada chizish: hujayrani chizib, yadro, sitoplazma va membranani belgilang, HER2 va S-100 bo‘yalish joylarini ko‘rsating. Tipik xato: har qanday jigarrang bo‘yalishni klinik jihatdan ahamiyatli musbat deb qabul qilish. Manbaga ko‘ra jigarrang bo‘yalgan preparat musbat hisoblanadi, so‘ng molekula ifodasi klinik-morfologik kontekstda tahlil qilinadi.</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“Musbat” ta’rifi nega turli mualliflarda har xil? 2) Nega HER2 da bo‘yalish joyi muhim? Doskada: jadvalni chizib, har qatorga “musbat/shubhali” belgisini talabalar qo‘ysin. Tipik xato: har qanday jigarrang bo‘yalishni HER2 gen amplifikatsiyasi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Donador naqsh qaysi markerlar uchun kutiladi? 2) Nega bitta marker o‘rniga bog‘liq markerlar juftligi ishonchliroq? Doskada: hujayra sxemasini chizib, membrana, sitoplazma va yadroni belgilang. Tipik xato: kutilmagan bo‘yalishni darhol soxta musbat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Faqat sitoplazmatik HER2 bo‘yalishi bilan davo tanlash mumkinmi? 2) Klinik-morfologik kontekst qanday ma’lumotlarni o‘z ichiga oladi? Doskada: “bo‘yalish joyi → talqin → xulosa” zanjirini chizing. Tipik xato: bo‘yalish joyini hisobga olmay, faqat rang borligiga qarab xulosa qilish.</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bir xil tamoyil ELISA da «miqdoriy», IHK da «bo‘yalish» deyiladi? 2) Western blot bilan korrelyatsiya nimani isbotlaydi? Doskada: ELISA va IHK ustunli taqqoslash jadvalini chizdiring. Tipik xato: IHK ni faqat tasviriy (deskriptiv) usul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Intensivlikni baholashda nazorat namunalari nega kerak? 2) Ball tizimi qaysi markerlar uchun ayniqsa muhim? Doskada: 4 qatorli mezonlar jadvalini chizdiring. Tipik xato: yarim miqdoriy bahoni to‘liq miqdoriy natija deb qabul qilish.</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kichik laboratoriyalarda kompyuter tahlili kam uchragan? 2) Patolog va klinitsist hamkorligi sud-tibbiy ekspertizada qanday foyda beradi? Doskada: IHK usullari rivojini «qo‘l bahosi → ball → kompyuter» chizig‘i ko‘rinishida chizdiring. Tipik xato: EPOS ni yangi antitana turi deb o‘ylash; u inkubatsiya bosqichlarini kamaytiruvchi polimer tizimdir.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Savollarni avval talabalarga bering, so‘ng javobni oching. Muhokama: nega ELISA bilan solishtirish IHK ni “faqat bo‘yash” deb atashga qarshi dalil bo‘ladi? Hujayra bo‘laklari (membrana, sitoplazma, yadro) bo‘yalishini doskada chizdiring. Tipik xato: har qanday jigarrang bo‘yalishni klinik jihatdan ahamiyatli deb hisoblash; HER2 da faqat membrana bo‘yalishi gen amplifikatsiyasi bilan bog‘liq.</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3 daq.</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nega birlamchi zararni davolash qiyin, ikkilamchisini esa oldini olish mumkin? FOXO3a sud-tibbiy diagnostikada qanday foyda berishi mumkin? Doskada TBI dan apoptozgacha zanjirni chizdiring. Tipik xato: birlamchi va ikkilamchi zararni alohida jarayon deb o‘ylash; ular ko‘pincha birga uchraydi, bo‘linish didaktik.</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3 daq.</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3 daq.</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nega musbat nazorat sifatida ko‘krak saratoni ishlatilgan? Nega ikki mustaqil kuzatuvchi va uchinchi hakam kerak? Doskada protokol bosqichlarini tartib bilan chizdiring. Tipik xato: kesma qalinligi va fiksatsiya sharoitini e’tiborsiz qoldirish; bu natijaga ta’sir qiladi. Tadqiqot kichik (30 holat), shuning uchun dastlabki deb baholanadi.</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baholashni ikki mustaqil kishi ko‘r usulda o‘tkazadi? 2) Nazorat guruhi nimani ko‘rsatadi? Doskada: 0–4 shkalani chizib, har ballga bo‘yalish ulushini yozdiring. Tipik xato: ball shkalasini ’kuchli/kuchsiz’ degan subyektiv baho bilan aralashtirish; bu yerda ball bo‘yalgan maydon ulushiga asoslangan.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3 daq.</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Musbat FOXO3a jarohat vaqtini aniq aytib beradimi? 2) Kichik tanlama sud-tibbiy xulosaga qanday ta’sir qiladi? Doskada: jarohat → ikkilamchi jarohat → FOXO3a ortishi → IHK da musbat zanjirini chizdiring. Tipik xato: dastlabki natijani tasdiqlangan diagnostik mezon deb qabul qilish.</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IHK natijasiga ta’sir qiluvchi 3 omilni sanang. 2) Nega sud-tibbiyotda nazorat guruhi shart? Doskada: IHK bosqichlarini (tayyorlash → reaksiya → talqin → miqdoriy baho) zanjir qilib chizdiring. Tipik xato: IHK ni faqat ’bo‘yash’ deb qarab, nazorat va talqinni e’tibordan chetda qoldirish.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Immunohistokimyoviy tekshiruvning asosiy tamoyillari</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Mavzu va dars maqsadi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Immunohistokimyoviy tekshiruvning asosiy tamoyillari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Immunohistokimyo (IHK) to‘qima va hujayra antigenlarini qidiradi: aminokislota, oqsil, infeksion agent va aniq hujayra populyatsiyalari.</a:t>
            </a:r>
          </a:p>
          <a:p>
            <a:pPr>
              <a:spcAft>
                <a:spcPts val="1200"/>
              </a:spcAft>
            </a:pPr>
            <a:r>
              <a:rPr sz="2200">
                <a:solidFill>
                  <a:srgbClr val="1F2937"/>
                </a:solidFill>
                <a:latin typeface="Calibri"/>
              </a:rPr>
              <a:t>▸  Buning uchun maxsus antikorlar ishlatiladi.</a:t>
            </a:r>
          </a:p>
          <a:p>
            <a:pPr>
              <a:spcAft>
                <a:spcPts val="1200"/>
              </a:spcAft>
            </a:pPr>
            <a:r>
              <a:rPr sz="2200">
                <a:solidFill>
                  <a:srgbClr val="1F2937"/>
                </a:solidFill>
                <a:latin typeface="Calibri"/>
              </a:rPr>
              <a:t>▸  Gematoksilin-eozin (G-E) bilan odatiy tahlilda aniqlab bo‘lmaydigan differensial tashxislarda IHK qo‘shimcha usul vazifasini bajaradi.</a:t>
            </a:r>
          </a:p>
          <a:p>
            <a:pPr>
              <a:spcAft>
                <a:spcPts val="1200"/>
              </a:spcAft>
            </a:pPr>
            <a:r>
              <a:rPr sz="2200">
                <a:solidFill>
                  <a:srgbClr val="1F2937"/>
                </a:solidFill>
                <a:latin typeface="Calibri"/>
              </a:rPr>
              <a:t>▸  Sud-tibbiyotdan misol: travmatik bosh miya jarohati (TBI) o‘limida FOXO3a oqsili 15 ta holatning hammasida musbat, 15 ta nazoratda manfiy chiqqan.</a:t>
            </a:r>
          </a:p>
          <a:p>
            <a:pPr>
              <a:spcAft>
                <a:spcPts val="1200"/>
              </a:spcAft>
            </a:pPr>
            <a:r>
              <a:rPr sz="2200">
                <a:solidFill>
                  <a:srgbClr val="1F2937"/>
                </a:solidFill>
                <a:latin typeface="Calibri"/>
              </a:rPr>
              <a:t>▸  Dars rejasi: usulning tarixi, qo‘llanilishi, cheklovlari, natijani talqin qilish va miqdoriy baholash, so‘ng sud-tibbiy tadqiqot tahlili.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de Matos et al., Immunohistochemistry as an Important Tool in Biomarkers Detection and Clinical Practice, betlar: PMID 20212918, Abstract; The Immunohistochemistry Technique, PMID 20212918, Abstract; History, PMID 20212918, Abstract; Maiese et al., The Expression of FOXO3a as a Forensic Diagnostic Tool in Cases of Traumatic Brain Injury: An Immunohistochemical Study, betlar: PMID 36768906, Abstract; Results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IHK nima? Hujayralar bilan “suhbat”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Immunohistokimyoviy tekshiruvning asosiy tamoyillari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IHK — to‘qima tarkibiy qismlari (antigenlar)ni maxsus antikorlar bilan aniqlaydigan usullarning umumiy nomi. Antikor bo‘yalish orqali ko‘rinadi.</a:t>
            </a:r>
          </a:p>
          <a:p>
            <a:pPr>
              <a:spcAft>
                <a:spcPts val="1200"/>
              </a:spcAft>
            </a:pPr>
            <a:r>
              <a:rPr sz="2200">
                <a:solidFill>
                  <a:srgbClr val="1F2937"/>
                </a:solidFill>
                <a:latin typeface="Calibri"/>
              </a:rPr>
              <a:t>▸  Diqqat: hujayra preparatlarida usul immunositokimyo deyiladi. Ba’zi mualliflar bu atamani to‘qima kesmalariga ham qo‘llaydi.</a:t>
            </a:r>
          </a:p>
          <a:p>
            <a:pPr>
              <a:spcAft>
                <a:spcPts val="1200"/>
              </a:spcAft>
            </a:pPr>
            <a:r>
              <a:rPr sz="2200">
                <a:solidFill>
                  <a:srgbClr val="1F2937"/>
                </a:solidFill>
                <a:latin typeface="Calibri"/>
              </a:rPr>
              <a:t>▸  Brandtzaeg fikricha, hujayra markerlarini bo‘yash hujayralar bilan “suhbat” qilishdir.</a:t>
            </a:r>
          </a:p>
          <a:p>
            <a:pPr>
              <a:spcAft>
                <a:spcPts val="1200"/>
              </a:spcAft>
            </a:pPr>
            <a:r>
              <a:rPr sz="2200">
                <a:solidFill>
                  <a:srgbClr val="1F2937"/>
                </a:solidFill>
                <a:latin typeface="Calibri"/>
              </a:rPr>
              <a:t>▸  To‘g‘ri antikorlar bilan hujayra kelib chiqishi va tirik organizmdagi vazifasi aniqlanadi.</a:t>
            </a:r>
          </a:p>
          <a:p>
            <a:pPr>
              <a:spcAft>
                <a:spcPts val="1200"/>
              </a:spcAft>
            </a:pPr>
            <a:r>
              <a:rPr sz="2200">
                <a:solidFill>
                  <a:srgbClr val="1F2937"/>
                </a:solidFill>
                <a:latin typeface="Calibri"/>
              </a:rPr>
              <a:t>▸  Brandtzaeg IHKni faqat tavsifiy usul deb atashni noo‘rin hisoblaydi.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de Matos et al., Immunohistochemistry as an Important Tool in Biomarkers Detection and Clinical Practice, betlar: PMID 20212918, The Immunohistochemistry Technique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IHK texnikasining ikki bosqichi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Immunohistokimyoviy tekshiruvning asosiy tamoyillari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43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1-bosqich: preparat tayyorlash (fiksatsiya, to‘qima ishlovi) va reaksiya bosqichlari.</a:t>
            </a:r>
          </a:p>
          <a:p>
            <a:pPr>
              <a:spcAft>
                <a:spcPts val="800"/>
              </a:spcAft>
            </a:pPr>
            <a:r>
              <a:rPr sz="1800">
                <a:solidFill>
                  <a:srgbClr val="1F2937"/>
                </a:solidFill>
                <a:latin typeface="Calibri"/>
              </a:rPr>
              <a:t>▸  Tartib: antigenni ochish, nospetsifik joy va endogen peroksidazani bloklash, birlamchi antikor.</a:t>
            </a:r>
          </a:p>
          <a:p>
            <a:pPr>
              <a:spcAft>
                <a:spcPts val="800"/>
              </a:spcAft>
            </a:pPr>
            <a:r>
              <a:rPr sz="1800">
                <a:solidFill>
                  <a:srgbClr val="1F2937"/>
                </a:solidFill>
                <a:latin typeface="Calibri"/>
              </a:rPr>
              <a:t>▸  2-bosqich: olingan ekspressiyani talqin qilish va miqdoriy baholash.</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Fiksatsiya, to‘qima ishlovi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Antigenni ochish, bloklash</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Birlamchi antikor, deteksiya</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Vizualizatsiya, qarama-bo‘yash</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Talqin va miqdoriy baholash</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IHK ketma-ketligi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de Matos et al., Immunohistochemistry as an Important Tool in Biomarkers Detection and Clinical Practice, betlar: PMID 20212918, The Immunohistochemistry Technique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Tarix: Marrack va Coons dan Nakanegacha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Immunohistokimyoviy tekshiruvning asosiy tamoyillari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Marrack tifo va vabo mikroblariga qarshi reagentlar yaratdi; ularda qizil bo‘yoq biriktirilgan edi.</a:t>
            </a:r>
          </a:p>
          <a:p>
            <a:pPr>
              <a:spcAft>
                <a:spcPts val="800"/>
              </a:spcAft>
            </a:pPr>
            <a:r>
              <a:rPr sz="1800">
                <a:solidFill>
                  <a:srgbClr val="1F2937"/>
                </a:solidFill>
                <a:latin typeface="Calibri"/>
              </a:rPr>
              <a:t>▸  Coons 1940-yillar boshida pnevmokokkka qarshi ftorestseinli antikor bilan antigenni to‘qimada topdi.</a:t>
            </a:r>
          </a:p>
          <a:p>
            <a:pPr>
              <a:spcAft>
                <a:spcPts val="800"/>
              </a:spcAft>
            </a:pPr>
            <a:r>
              <a:rPr sz="1800">
                <a:solidFill>
                  <a:srgbClr val="1F2937"/>
                </a:solidFill>
                <a:latin typeface="Calibri"/>
              </a:rPr>
              <a:t>▸  Diqqat: Coons usuli floresent mikroskopda, Nakane fermentli usuli oddiy optik mikroskopda ko‘rinadi.</a:t>
            </a:r>
          </a:p>
        </p:txBody>
      </p:sp>
      <p:sp>
        <p:nvSpPr>
          <p:cNvPr id="9" name="Rounded Rectangle 8"/>
          <p:cNvSpPr/>
          <p:nvPr/>
        </p:nvSpPr>
        <p:spPr>
          <a:xfrm>
            <a:off x="5440680" y="1417320"/>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550408" y="2162556"/>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1</a:t>
            </a:r>
          </a:p>
        </p:txBody>
      </p:sp>
      <p:sp>
        <p:nvSpPr>
          <p:cNvPr id="11" name="TextBox 10"/>
          <p:cNvSpPr txBox="1"/>
          <p:nvPr/>
        </p:nvSpPr>
        <p:spPr>
          <a:xfrm>
            <a:off x="6080760" y="1417320"/>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Marrack</a:t>
            </a:r>
          </a:p>
          <a:p>
            <a:pPr algn="l">
              <a:spcAft>
                <a:spcPts val="200"/>
              </a:spcAft>
            </a:pPr>
            <a:r>
              <a:rPr sz="1400" b="0">
                <a:solidFill>
                  <a:srgbClr val="1F2937"/>
                </a:solidFill>
                <a:latin typeface="Calibri"/>
              </a:rPr>
              <a:t>Qizil bo‘yoqli reagentlar (tifo, vabo)</a:t>
            </a:r>
          </a:p>
        </p:txBody>
      </p:sp>
      <p:sp>
        <p:nvSpPr>
          <p:cNvPr id="12" name="Rounded Rectangle 11"/>
          <p:cNvSpPr/>
          <p:nvPr/>
        </p:nvSpPr>
        <p:spPr>
          <a:xfrm>
            <a:off x="8578443" y="1417320"/>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688171" y="2162556"/>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2</a:t>
            </a:r>
          </a:p>
        </p:txBody>
      </p:sp>
      <p:sp>
        <p:nvSpPr>
          <p:cNvPr id="14" name="TextBox 13"/>
          <p:cNvSpPr txBox="1"/>
          <p:nvPr/>
        </p:nvSpPr>
        <p:spPr>
          <a:xfrm>
            <a:off x="9218523" y="1417320"/>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Coons</a:t>
            </a:r>
          </a:p>
          <a:p>
            <a:pPr algn="l">
              <a:spcAft>
                <a:spcPts val="200"/>
              </a:spcAft>
            </a:pPr>
            <a:r>
              <a:rPr sz="1400" b="0">
                <a:solidFill>
                  <a:srgbClr val="1F2937"/>
                </a:solidFill>
                <a:latin typeface="Calibri"/>
              </a:rPr>
              <a:t>1940-yillar: ftorestseinli antikor</a:t>
            </a:r>
          </a:p>
        </p:txBody>
      </p:sp>
      <p:sp>
        <p:nvSpPr>
          <p:cNvPr id="15" name="Rounded Rectangle 14"/>
          <p:cNvSpPr/>
          <p:nvPr/>
        </p:nvSpPr>
        <p:spPr>
          <a:xfrm>
            <a:off x="5440680" y="3493008"/>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550408" y="4238244"/>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3</a:t>
            </a:r>
          </a:p>
        </p:txBody>
      </p:sp>
      <p:sp>
        <p:nvSpPr>
          <p:cNvPr id="17" name="TextBox 16"/>
          <p:cNvSpPr txBox="1"/>
          <p:nvPr/>
        </p:nvSpPr>
        <p:spPr>
          <a:xfrm>
            <a:off x="6080760" y="3493008"/>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Nakane</a:t>
            </a:r>
          </a:p>
          <a:p>
            <a:pPr algn="l">
              <a:spcAft>
                <a:spcPts val="200"/>
              </a:spcAft>
            </a:pPr>
            <a:r>
              <a:rPr sz="1400" b="0">
                <a:solidFill>
                  <a:srgbClr val="1F2937"/>
                </a:solidFill>
                <a:latin typeface="Calibri"/>
              </a:rPr>
              <a:t>Fermentli antikor</a:t>
            </a:r>
          </a:p>
        </p:txBody>
      </p:sp>
      <p:sp>
        <p:nvSpPr>
          <p:cNvPr id="18" name="Rounded Rectangle 17"/>
          <p:cNvSpPr/>
          <p:nvPr/>
        </p:nvSpPr>
        <p:spPr>
          <a:xfrm>
            <a:off x="8578443" y="3493008"/>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688171" y="4238244"/>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4</a:t>
            </a:r>
          </a:p>
        </p:txBody>
      </p:sp>
      <p:sp>
        <p:nvSpPr>
          <p:cNvPr id="20" name="TextBox 19"/>
          <p:cNvSpPr txBox="1"/>
          <p:nvPr/>
        </p:nvSpPr>
        <p:spPr>
          <a:xfrm>
            <a:off x="9218523" y="3493008"/>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1960-yillar</a:t>
            </a:r>
          </a:p>
          <a:p>
            <a:pPr algn="l">
              <a:spcAft>
                <a:spcPts val="200"/>
              </a:spcAft>
            </a:pPr>
            <a:r>
              <a:rPr sz="1400" b="0">
                <a:solidFill>
                  <a:srgbClr val="1F2937"/>
                </a:solidFill>
                <a:latin typeface="Calibri"/>
              </a:rPr>
              <a:t>Oddiy optik mikroskopda ko‘rish</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Vaqt chizig‘i</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de Matos et al., Immunohistochemistry as an Important Tool in Biomarkers Detection and Clinical Practice, betlar: PMID 20212918, History bo‘limi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PAP, APAAP, DAB va kolloid oltin</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Immunohistokimyoviy tekshiruvning asosiy tamoyillari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PAP (peroksidaza–antiperoksidaza) va APAAP (ishqoriy fosfataza) — belgilanmagan antikor usullari.</a:t>
            </a:r>
          </a:p>
          <a:p>
            <a:pPr>
              <a:spcAft>
                <a:spcPts val="800"/>
              </a:spcAft>
            </a:pPr>
            <a:r>
              <a:rPr sz="1800">
                <a:solidFill>
                  <a:srgbClr val="1F2937"/>
                </a:solidFill>
                <a:latin typeface="Calibri"/>
              </a:rPr>
              <a:t>▸  DAB (diaminobenzidin) — peroksidaza uchun eng ko‘p ishlatiladigan xromogen, elektron zich cho‘kma beradi.</a:t>
            </a:r>
          </a:p>
          <a:p>
            <a:pPr>
              <a:spcAft>
                <a:spcPts val="800"/>
              </a:spcAft>
            </a:pPr>
            <a:r>
              <a:rPr sz="1800">
                <a:solidFill>
                  <a:srgbClr val="1F2937"/>
                </a:solidFill>
                <a:latin typeface="Calibri"/>
              </a:rPr>
              <a:t>▸  Kolloid oltin zarrachalari keyinchalik hujayra ichi (subcellular) immunobo‘yash usuliga olib keldi.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IHK usullari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PAP (Sternberger)</a:t>
            </a:r>
          </a:p>
          <a:p>
            <a:pPr algn="l">
              <a:spcAft>
                <a:spcPts val="0"/>
              </a:spcAft>
            </a:pPr>
            <a:r>
              <a:rPr sz="1200" b="0">
                <a:solidFill>
                  <a:srgbClr val="1F2937"/>
                </a:solidFill>
                <a:latin typeface="Calibri"/>
              </a:rPr>
              <a:t>Belgilanmagan antikor  ·  Peroksidaza</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APAAP (Mason)</a:t>
            </a:r>
          </a:p>
          <a:p>
            <a:pPr algn="l">
              <a:spcAft>
                <a:spcPts val="0"/>
              </a:spcAft>
            </a:pPr>
            <a:r>
              <a:rPr sz="1200" b="0">
                <a:solidFill>
                  <a:srgbClr val="1F2937"/>
                </a:solidFill>
                <a:latin typeface="Calibri"/>
              </a:rPr>
              <a:t>Belgilanmagan antikor  ·  Ishqoriy fosfataza</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DAB</a:t>
            </a:r>
          </a:p>
          <a:p>
            <a:pPr algn="l">
              <a:spcAft>
                <a:spcPts val="0"/>
              </a:spcAft>
            </a:pPr>
            <a:r>
              <a:rPr sz="1200" b="0">
                <a:solidFill>
                  <a:srgbClr val="1F2937"/>
                </a:solidFill>
                <a:latin typeface="Calibri"/>
              </a:rPr>
              <a:t>Peroksidaza xromogeni  ·  Elektron mikroskopda ferritin o‘rniga</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Kolloid oltin</a:t>
            </a:r>
          </a:p>
          <a:p>
            <a:pPr algn="l">
              <a:spcAft>
                <a:spcPts val="0"/>
              </a:spcAft>
            </a:pPr>
            <a:r>
              <a:rPr sz="1200" b="0">
                <a:solidFill>
                  <a:srgbClr val="1F2937"/>
                </a:solidFill>
                <a:latin typeface="Calibri"/>
              </a:rPr>
              <a:t>Immunobo‘yoq zarrachalari  ·  Hujayra ichi bo‘yash</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Usullar va ahamiyati</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de Matos et al., Immunohistochemistry as an Important Tool in Biomarkers Detection and Clinical Practice, betlar: PMID 20212918, History bo‘limi</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Antigenni ochish va ABC/LSAB tizimlari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Immunohistokimyoviy tekshiruvning asosiy tamoyillari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Antigenni ochish usuli Huang tomonidan kashf etildi: epitoplar ochilib, antikor bog‘lanishi osonlashdi.</a:t>
            </a:r>
          </a:p>
          <a:p>
            <a:pPr>
              <a:spcAft>
                <a:spcPts val="800"/>
              </a:spcAft>
            </a:pPr>
            <a:r>
              <a:rPr sz="1800">
                <a:solidFill>
                  <a:srgbClr val="1F2937"/>
                </a:solidFill>
                <a:latin typeface="Calibri"/>
              </a:rPr>
              <a:t>▸  Hsu: ABC (avidin–biotin–peroksidaza) va LSAB (streptavidin–biotin) ikkilamchi antikor tizimlari.</a:t>
            </a:r>
          </a:p>
          <a:p>
            <a:pPr>
              <a:spcAft>
                <a:spcPts val="800"/>
              </a:spcAft>
            </a:pPr>
            <a:r>
              <a:rPr sz="1800">
                <a:solidFill>
                  <a:srgbClr val="1F2937"/>
                </a:solidFill>
                <a:latin typeface="Calibri"/>
              </a:rPr>
              <a:t>▸  Formalin–parafin to‘qimada isbotlangach usul kundalik tashxisga kirdi (“jigarrang inqilob”).</a:t>
            </a:r>
          </a:p>
        </p:txBody>
      </p:sp>
      <p:sp>
        <p:nvSpPr>
          <p:cNvPr id="9" name="Rounded Rectangle 8"/>
          <p:cNvSpPr/>
          <p:nvPr/>
        </p:nvSpPr>
        <p:spPr>
          <a:xfrm>
            <a:off x="5440680" y="1417320"/>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550408" y="2162556"/>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1</a:t>
            </a:r>
          </a:p>
        </p:txBody>
      </p:sp>
      <p:sp>
        <p:nvSpPr>
          <p:cNvPr id="11" name="TextBox 10"/>
          <p:cNvSpPr txBox="1"/>
          <p:nvPr/>
        </p:nvSpPr>
        <p:spPr>
          <a:xfrm>
            <a:off x="6080760" y="1417320"/>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Antigenni ochish</a:t>
            </a:r>
          </a:p>
          <a:p>
            <a:pPr algn="l">
              <a:spcAft>
                <a:spcPts val="200"/>
              </a:spcAft>
            </a:pPr>
            <a:r>
              <a:rPr sz="1400" b="0">
                <a:solidFill>
                  <a:srgbClr val="1F2937"/>
                </a:solidFill>
                <a:latin typeface="Calibri"/>
              </a:rPr>
              <a:t>Huang: epitoplar ochiladi</a:t>
            </a:r>
          </a:p>
        </p:txBody>
      </p:sp>
      <p:sp>
        <p:nvSpPr>
          <p:cNvPr id="12" name="Rounded Rectangle 11"/>
          <p:cNvSpPr/>
          <p:nvPr/>
        </p:nvSpPr>
        <p:spPr>
          <a:xfrm>
            <a:off x="8578443" y="1417320"/>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688171" y="2162556"/>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2</a:t>
            </a:r>
          </a:p>
        </p:txBody>
      </p:sp>
      <p:sp>
        <p:nvSpPr>
          <p:cNvPr id="14" name="TextBox 13"/>
          <p:cNvSpPr txBox="1"/>
          <p:nvPr/>
        </p:nvSpPr>
        <p:spPr>
          <a:xfrm>
            <a:off x="9218523" y="1417320"/>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ABC/LSAB</a:t>
            </a:r>
          </a:p>
          <a:p>
            <a:pPr algn="l">
              <a:spcAft>
                <a:spcPts val="200"/>
              </a:spcAft>
            </a:pPr>
            <a:r>
              <a:rPr sz="1400" b="0">
                <a:solidFill>
                  <a:srgbClr val="1F2937"/>
                </a:solidFill>
                <a:latin typeface="Calibri"/>
              </a:rPr>
              <a:t>Hsu: ikkilamchi antikor tizimlari</a:t>
            </a:r>
          </a:p>
        </p:txBody>
      </p:sp>
      <p:sp>
        <p:nvSpPr>
          <p:cNvPr id="15" name="Rounded Rectangle 14"/>
          <p:cNvSpPr/>
          <p:nvPr/>
        </p:nvSpPr>
        <p:spPr>
          <a:xfrm>
            <a:off x="5440680" y="3493008"/>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550408" y="4238244"/>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3</a:t>
            </a:r>
          </a:p>
        </p:txBody>
      </p:sp>
      <p:sp>
        <p:nvSpPr>
          <p:cNvPr id="17" name="TextBox 16"/>
          <p:cNvSpPr txBox="1"/>
          <p:nvPr/>
        </p:nvSpPr>
        <p:spPr>
          <a:xfrm>
            <a:off x="6080760" y="3493008"/>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Formalin–parafin</a:t>
            </a:r>
          </a:p>
          <a:p>
            <a:pPr algn="l">
              <a:spcAft>
                <a:spcPts val="200"/>
              </a:spcAft>
            </a:pPr>
            <a:r>
              <a:rPr sz="1400" b="0">
                <a:solidFill>
                  <a:srgbClr val="1F2937"/>
                </a:solidFill>
                <a:latin typeface="Calibri"/>
              </a:rPr>
              <a:t>Isbotlangach usul kundalikka kirdi</a:t>
            </a:r>
          </a:p>
        </p:txBody>
      </p:sp>
      <p:sp>
        <p:nvSpPr>
          <p:cNvPr id="18" name="Rounded Rectangle 17"/>
          <p:cNvSpPr/>
          <p:nvPr/>
        </p:nvSpPr>
        <p:spPr>
          <a:xfrm>
            <a:off x="8578443" y="3493008"/>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688171" y="4238244"/>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4</a:t>
            </a:r>
          </a:p>
        </p:txBody>
      </p:sp>
      <p:sp>
        <p:nvSpPr>
          <p:cNvPr id="20" name="TextBox 19"/>
          <p:cNvSpPr txBox="1"/>
          <p:nvPr/>
        </p:nvSpPr>
        <p:spPr>
          <a:xfrm>
            <a:off x="9218523" y="3493008"/>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“Jigarrang inqilob”</a:t>
            </a:r>
          </a:p>
          <a:p>
            <a:pPr algn="l">
              <a:spcAft>
                <a:spcPts val="200"/>
              </a:spcAft>
            </a:pPr>
            <a:r>
              <a:rPr sz="1400" b="0">
                <a:solidFill>
                  <a:srgbClr val="1F2937"/>
                </a:solidFill>
                <a:latin typeface="Calibri"/>
              </a:rPr>
              <a:t>Kundalik tashxis</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Kundalik tashxisga yo‘l</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de Matos et al., Immunohistochemistry as an Important Tool in Biomarkers Detection and Clinical Practice, betlar: PMID 20212918, History bo‘limi</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tarix bo‘limi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Immunohistokimyoviy tekshiruvning asosiy tamoyillari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1940-yillar boshida Coons pnevmokokk antitanalarini fluorestsein bilan bo‘yab, antigenni ultrabinafsha nurda (ftorestsent mikroskopda) ko‘rdi.</a:t>
            </a:r>
          </a:p>
          <a:p>
            <a:pPr>
              <a:spcAft>
                <a:spcPts val="1200"/>
              </a:spcAft>
            </a:pPr>
            <a:r>
              <a:rPr sz="2200">
                <a:solidFill>
                  <a:srgbClr val="1F2937"/>
                </a:solidFill>
                <a:latin typeface="Calibri"/>
              </a:rPr>
              <a:t>▸  1960-yillarda Nakane antitanalarni ferment bilan belgiladi. Reaksiyani oddiy yorug‘lik mikroskopida ko‘rish mumkin bo‘ldi.</a:t>
            </a:r>
          </a:p>
          <a:p>
            <a:pPr>
              <a:spcAft>
                <a:spcPts val="1200"/>
              </a:spcAft>
            </a:pPr>
            <a:r>
              <a:rPr sz="2200">
                <a:solidFill>
                  <a:srgbClr val="1F2937"/>
                </a:solidFill>
                <a:latin typeface="Calibri"/>
              </a:rPr>
              <a:t>▸  Natijada usul ftorestsent mikroskopli laboratoriyalardan chiqib, ko‘plab tadqiqotchi va patologlarga tarqaldi.</a:t>
            </a:r>
          </a:p>
          <a:p>
            <a:pPr>
              <a:spcAft>
                <a:spcPts val="1200"/>
              </a:spcAft>
            </a:pPr>
            <a:r>
              <a:rPr sz="2200">
                <a:solidFill>
                  <a:srgbClr val="1F2937"/>
                </a:solidFill>
                <a:latin typeface="Calibri"/>
              </a:rPr>
              <a:t>▸  Savol: qaysi kashfiyot hal qiluvchi bo‘ldi? Kundalik amaliyotga esa formalinda fiksatsiyalangan, parafinlangan to‘qimada antigenni ko‘rsatish imkoni kirgizdi.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de Matos et al., Immunohistochemistry as an Important Tool in Biomarkers Detection and Clinical Practice, betlar: PMID 20212918, History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IHK qo‘llanish sohalari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Immunohistokimyoviy tekshiruvning asosiy tamoyillari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Immunohistokimyo (IHK) o‘smaning genezisi va subtipini aniqlashda yordamchi usul sifatida ishlatiladi.</a:t>
            </a:r>
          </a:p>
          <a:p>
            <a:pPr>
              <a:spcAft>
                <a:spcPts val="800"/>
              </a:spcAft>
            </a:pPr>
            <a:r>
              <a:rPr sz="1800">
                <a:solidFill>
                  <a:srgbClr val="1F2937"/>
                </a:solidFill>
                <a:latin typeface="Calibri"/>
              </a:rPr>
              <a:t>▸  Usul birlamchi o‘choqni, prognostik omillarni va davo ko‘rsatmalarini izlashda ham qo‘llanadi.</a:t>
            </a:r>
          </a:p>
          <a:p>
            <a:pPr>
              <a:spcAft>
                <a:spcPts val="800"/>
              </a:spcAft>
            </a:pPr>
            <a:r>
              <a:rPr sz="1800">
                <a:solidFill>
                  <a:srgbClr val="1F2937"/>
                </a:solidFill>
                <a:latin typeface="Calibri"/>
              </a:rPr>
              <a:t>▸  Hujayralar ajratgan tuzilma, organizm va moddalar ham aniqlanadi.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IHK qo‘llanilishi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790395"/>
            <a:ext cx="0" cy="3277209"/>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790395"/>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74615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O‘sma genezisi</a:t>
            </a:r>
          </a:p>
          <a:p>
            <a:pPr algn="l">
              <a:spcAft>
                <a:spcPts val="0"/>
              </a:spcAft>
            </a:pPr>
            <a:r>
              <a:rPr sz="1200" b="0">
                <a:solidFill>
                  <a:srgbClr val="1F2937"/>
                </a:solidFill>
                <a:latin typeface="Calibri"/>
              </a:rPr>
              <a:t>Gistogenezni aniqlash</a:t>
            </a:r>
          </a:p>
        </p:txBody>
      </p:sp>
      <p:cxnSp>
        <p:nvCxnSpPr>
          <p:cNvPr id="15" name="Connector 14"/>
          <p:cNvCxnSpPr/>
          <p:nvPr/>
        </p:nvCxnSpPr>
        <p:spPr>
          <a:xfrm>
            <a:off x="7612380" y="2609697"/>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236622"/>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236622"/>
            <a:ext cx="3779215" cy="74615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Subtiplash</a:t>
            </a:r>
          </a:p>
          <a:p>
            <a:pPr algn="l">
              <a:spcAft>
                <a:spcPts val="0"/>
              </a:spcAft>
            </a:pPr>
            <a:r>
              <a:rPr sz="1200" b="0">
                <a:solidFill>
                  <a:srgbClr val="1F2937"/>
                </a:solidFill>
                <a:latin typeface="Calibri"/>
              </a:rPr>
              <a:t>Masalan, limfoma</a:t>
            </a:r>
          </a:p>
        </p:txBody>
      </p:sp>
      <p:cxnSp>
        <p:nvCxnSpPr>
          <p:cNvPr id="18" name="Connector 17"/>
          <p:cNvCxnSpPr/>
          <p:nvPr/>
        </p:nvCxnSpPr>
        <p:spPr>
          <a:xfrm>
            <a:off x="761238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055924"/>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055924"/>
            <a:ext cx="3779215" cy="74615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Birlamchi o‘choq</a:t>
            </a:r>
          </a:p>
          <a:p>
            <a:pPr algn="l">
              <a:spcAft>
                <a:spcPts val="0"/>
              </a:spcAft>
            </a:pPr>
            <a:r>
              <a:rPr sz="1200" b="0">
                <a:solidFill>
                  <a:srgbClr val="1F2937"/>
                </a:solidFill>
                <a:latin typeface="Calibri"/>
              </a:rPr>
              <a:t>Metastazda manbani izlash</a:t>
            </a:r>
          </a:p>
        </p:txBody>
      </p:sp>
      <p:cxnSp>
        <p:nvCxnSpPr>
          <p:cNvPr id="21" name="Connector 20"/>
          <p:cNvCxnSpPr/>
          <p:nvPr/>
        </p:nvCxnSpPr>
        <p:spPr>
          <a:xfrm>
            <a:off x="7612380" y="424830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3875227"/>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3875227"/>
            <a:ext cx="3779215" cy="74615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Prognoz</a:t>
            </a:r>
          </a:p>
          <a:p>
            <a:pPr algn="l">
              <a:spcAft>
                <a:spcPts val="0"/>
              </a:spcAft>
            </a:pPr>
            <a:r>
              <a:rPr sz="1200" b="0">
                <a:solidFill>
                  <a:srgbClr val="1F2937"/>
                </a:solidFill>
                <a:latin typeface="Calibri"/>
              </a:rPr>
              <a:t>Prognostik omillar  ·  Davo ko‘rsatmalari</a:t>
            </a:r>
          </a:p>
        </p:txBody>
      </p:sp>
      <p:cxnSp>
        <p:nvCxnSpPr>
          <p:cNvPr id="24" name="Connector 23"/>
          <p:cNvCxnSpPr/>
          <p:nvPr/>
        </p:nvCxnSpPr>
        <p:spPr>
          <a:xfrm>
            <a:off x="7612380" y="506760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772400" y="4694529"/>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0" y="4694529"/>
            <a:ext cx="3779215" cy="74615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Sifat</a:t>
            </a:r>
          </a:p>
          <a:p>
            <a:pPr algn="l">
              <a:spcAft>
                <a:spcPts val="0"/>
              </a:spcAft>
            </a:pPr>
            <a:r>
              <a:rPr sz="1200" b="0">
                <a:solidFill>
                  <a:srgbClr val="1F2937"/>
                </a:solidFill>
                <a:latin typeface="Calibri"/>
              </a:rPr>
              <a:t>Yaxshi/yomon o‘sishni ajratish</a:t>
            </a:r>
          </a:p>
        </p:txBody>
      </p:sp>
      <p:sp>
        <p:nvSpPr>
          <p:cNvPr id="27" name="TextBox 26"/>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IHK qo‘llanish sohalari</a:t>
            </a:r>
          </a:p>
        </p:txBody>
      </p:sp>
      <p:sp>
        <p:nvSpPr>
          <p:cNvPr id="28" name="TextBox 27"/>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de Matos et al., Immunohistochemistry as an Important Tool in Biomarkers Detection and Clinical Practice, betlar: PMID 20212918, Applications and importance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Werner tadqiqoti: IHK foydasi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Immunohistokimyoviy tekshiruvning asosiy tamoyillari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Werner tadqiqotida 3760 namuna baholandi; 64% holatda IHK diagnostik maqsadda qo‘llangan.</a:t>
            </a:r>
          </a:p>
          <a:p>
            <a:pPr>
              <a:spcAft>
                <a:spcPts val="800"/>
              </a:spcAft>
            </a:pPr>
            <a:r>
              <a:rPr sz="1800">
                <a:solidFill>
                  <a:srgbClr val="1F2937"/>
                </a:solidFill>
                <a:latin typeface="Calibri"/>
              </a:rPr>
              <a:t>▸  835 diagnostik holatning 83% ida aniq tashxisga hissa qo‘shdi, noaniq tashxislar 12% ga kamaydi.</a:t>
            </a:r>
          </a:p>
          <a:p>
            <a:pPr>
              <a:spcAft>
                <a:spcPts val="800"/>
              </a:spcAft>
            </a:pPr>
            <a:r>
              <a:rPr sz="1800">
                <a:solidFill>
                  <a:srgbClr val="1F2937"/>
                </a:solidFill>
                <a:latin typeface="Calibri"/>
              </a:rPr>
              <a:t>▸  5% da yordam bermadi: namuna kichik, nekroz keng yoki o‘sma juda differensiallanmagan. Umumiy foyda 95%.</a:t>
            </a:r>
          </a:p>
        </p:txBody>
      </p:sp>
      <p:sp>
        <p:nvSpPr>
          <p:cNvPr id="9" name="Rounded Rectangle 8"/>
          <p:cNvSpPr/>
          <p:nvPr/>
        </p:nvSpPr>
        <p:spPr>
          <a:xfrm>
            <a:off x="5440680" y="1417320"/>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40680" y="1508760"/>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550408" y="1417320"/>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Diagnostik qo‘llanish</a:t>
            </a:r>
          </a:p>
          <a:p>
            <a:pPr algn="l">
              <a:spcAft>
                <a:spcPts val="100"/>
              </a:spcAft>
            </a:pPr>
            <a:r>
              <a:rPr sz="3000" b="1">
                <a:solidFill>
                  <a:srgbClr val="0B1F3A"/>
                </a:solidFill>
                <a:latin typeface="Calibri"/>
              </a:rPr>
              <a:t>64</a:t>
            </a:r>
            <a:r>
              <a:rPr sz="1500" b="0">
                <a:solidFill>
                  <a:srgbClr val="6B7280"/>
                </a:solidFill>
                <a:latin typeface="Calibri"/>
              </a:rPr>
              <a:t>  %</a:t>
            </a:r>
          </a:p>
        </p:txBody>
      </p:sp>
      <p:sp>
        <p:nvSpPr>
          <p:cNvPr id="12" name="Rounded Rectangle 11"/>
          <p:cNvSpPr/>
          <p:nvPr/>
        </p:nvSpPr>
        <p:spPr>
          <a:xfrm>
            <a:off x="8578443" y="1417320"/>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578443" y="1508760"/>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8171" y="1417320"/>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Prognostik omil, indeks</a:t>
            </a:r>
          </a:p>
          <a:p>
            <a:pPr algn="l">
              <a:spcAft>
                <a:spcPts val="100"/>
              </a:spcAft>
            </a:pPr>
            <a:r>
              <a:rPr sz="3000" b="1">
                <a:solidFill>
                  <a:srgbClr val="0B1F3A"/>
                </a:solidFill>
                <a:latin typeface="Calibri"/>
              </a:rPr>
              <a:t>19</a:t>
            </a:r>
            <a:r>
              <a:rPr sz="1500" b="0">
                <a:solidFill>
                  <a:srgbClr val="6B7280"/>
                </a:solidFill>
                <a:latin typeface="Calibri"/>
              </a:rPr>
              <a:t>  %</a:t>
            </a:r>
          </a:p>
        </p:txBody>
      </p:sp>
      <p:sp>
        <p:nvSpPr>
          <p:cNvPr id="15" name="Rounded Rectangle 14"/>
          <p:cNvSpPr/>
          <p:nvPr/>
        </p:nvSpPr>
        <p:spPr>
          <a:xfrm>
            <a:off x="5440680" y="2807208"/>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40680" y="2898648"/>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550408" y="2807208"/>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Mikroorganizm, tuzilma</a:t>
            </a:r>
          </a:p>
          <a:p>
            <a:pPr algn="l">
              <a:spcAft>
                <a:spcPts val="100"/>
              </a:spcAft>
            </a:pPr>
            <a:r>
              <a:rPr sz="3000" b="1">
                <a:solidFill>
                  <a:srgbClr val="0B1F3A"/>
                </a:solidFill>
                <a:latin typeface="Calibri"/>
              </a:rPr>
              <a:t>17</a:t>
            </a:r>
            <a:r>
              <a:rPr sz="1500" b="0">
                <a:solidFill>
                  <a:srgbClr val="6B7280"/>
                </a:solidFill>
                <a:latin typeface="Calibri"/>
              </a:rPr>
              <a:t>  %</a:t>
            </a:r>
          </a:p>
        </p:txBody>
      </p:sp>
      <p:sp>
        <p:nvSpPr>
          <p:cNvPr id="18" name="Rounded Rectangle 17"/>
          <p:cNvSpPr/>
          <p:nvPr/>
        </p:nvSpPr>
        <p:spPr>
          <a:xfrm>
            <a:off x="8578443" y="2807208"/>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578443" y="2898648"/>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8171" y="2807208"/>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Aniq tashxisga hissa</a:t>
            </a:r>
          </a:p>
          <a:p>
            <a:pPr algn="l">
              <a:spcAft>
                <a:spcPts val="100"/>
              </a:spcAft>
            </a:pPr>
            <a:r>
              <a:rPr sz="3000" b="1">
                <a:solidFill>
                  <a:srgbClr val="0B1F3A"/>
                </a:solidFill>
                <a:latin typeface="Calibri"/>
              </a:rPr>
              <a:t>83</a:t>
            </a:r>
            <a:r>
              <a:rPr sz="1500" b="0">
                <a:solidFill>
                  <a:srgbClr val="6B7280"/>
                </a:solidFill>
                <a:latin typeface="Calibri"/>
              </a:rPr>
              <a:t>  %</a:t>
            </a:r>
          </a:p>
        </p:txBody>
      </p:sp>
      <p:sp>
        <p:nvSpPr>
          <p:cNvPr id="21" name="Rounded Rectangle 20"/>
          <p:cNvSpPr/>
          <p:nvPr/>
        </p:nvSpPr>
        <p:spPr>
          <a:xfrm>
            <a:off x="5440680" y="4197096"/>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440680" y="4288536"/>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550408" y="4197096"/>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Noaniq tashxis kamayishi</a:t>
            </a:r>
          </a:p>
          <a:p>
            <a:pPr algn="l">
              <a:spcAft>
                <a:spcPts val="100"/>
              </a:spcAft>
            </a:pPr>
            <a:r>
              <a:rPr sz="3000" b="1">
                <a:solidFill>
                  <a:srgbClr val="0B1F3A"/>
                </a:solidFill>
                <a:latin typeface="Calibri"/>
              </a:rPr>
              <a:t>12</a:t>
            </a:r>
            <a:r>
              <a:rPr sz="1500" b="0">
                <a:solidFill>
                  <a:srgbClr val="6B7280"/>
                </a:solidFill>
                <a:latin typeface="Calibri"/>
              </a:rPr>
              <a:t>  %</a:t>
            </a:r>
          </a:p>
        </p:txBody>
      </p:sp>
      <p:sp>
        <p:nvSpPr>
          <p:cNvPr id="24" name="Rounded Rectangle 23"/>
          <p:cNvSpPr/>
          <p:nvPr/>
        </p:nvSpPr>
        <p:spPr>
          <a:xfrm>
            <a:off x="8578443" y="4197096"/>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578443" y="4288536"/>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88171" y="4197096"/>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Foydali holatlar (jami)</a:t>
            </a:r>
          </a:p>
          <a:p>
            <a:pPr algn="l">
              <a:spcAft>
                <a:spcPts val="100"/>
              </a:spcAft>
            </a:pPr>
            <a:r>
              <a:rPr sz="3000" b="1">
                <a:solidFill>
                  <a:srgbClr val="0B1F3A"/>
                </a:solidFill>
                <a:latin typeface="Calibri"/>
              </a:rPr>
              <a:t>95</a:t>
            </a:r>
            <a:r>
              <a:rPr sz="1500" b="0">
                <a:solidFill>
                  <a:srgbClr val="6B7280"/>
                </a:solidFill>
                <a:latin typeface="Calibri"/>
              </a:rPr>
              <a:t>  %</a:t>
            </a:r>
          </a:p>
        </p:txBody>
      </p:sp>
      <p:sp>
        <p:nvSpPr>
          <p:cNvPr id="27" name="TextBox 26"/>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Werner tadqiqoti: 3760 namuna</a:t>
            </a:r>
          </a:p>
        </p:txBody>
      </p:sp>
      <p:sp>
        <p:nvSpPr>
          <p:cNvPr id="28" name="TextBox 27"/>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de Matos et al., Immunohistochemistry as an Important Tool in Biomarkers Detection and Clinical Practice, betlar: PMID 20212918, Applications and importance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qo‘llanish bo‘limi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Immunohistokimyoviy tekshiruvning asosiy tamoyillari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biopsiyadagi o‘sma morfologik jihatdan differensiallanmagan, gematoksilin-eozin (G-E) bo‘yog‘i tur haqida javob bermaydi.</a:t>
            </a:r>
          </a:p>
          <a:p>
            <a:pPr>
              <a:spcAft>
                <a:spcPts val="1200"/>
              </a:spcAft>
            </a:pPr>
            <a:r>
              <a:rPr sz="2200">
                <a:solidFill>
                  <a:srgbClr val="1F2937"/>
                </a:solidFill>
                <a:latin typeface="Calibri"/>
              </a:rPr>
              <a:t>▸  Immunohistokimyo (IHK) o‘smaning gistogenezini, turini va birlamchi o‘chog‘ini aniqlaydi, prognostik omillarni va benign/malign o‘sishni ajratadi.</a:t>
            </a:r>
          </a:p>
          <a:p>
            <a:pPr>
              <a:spcAft>
                <a:spcPts val="1200"/>
              </a:spcAft>
            </a:pPr>
            <a:r>
              <a:rPr sz="2200">
                <a:solidFill>
                  <a:srgbClr val="1F2937"/>
                </a:solidFill>
                <a:latin typeface="Calibri"/>
              </a:rPr>
              <a:t>▸  Werner tahlilida 5% holatda IHK yordam bermadi: namuna juda kichik, nekroz keng yoki o‘sma haddan tashqari differensiallanmagan edi.</a:t>
            </a:r>
          </a:p>
          <a:p>
            <a:pPr>
              <a:spcAft>
                <a:spcPts val="1200"/>
              </a:spcAft>
            </a:pPr>
            <a:r>
              <a:rPr sz="2200">
                <a:solidFill>
                  <a:srgbClr val="1F2937"/>
                </a:solidFill>
                <a:latin typeface="Calibri"/>
              </a:rPr>
              <a:t>▸  Savol: bu vaziyatda IHK qaysi maqsadda qo‘llanadi va qaysi holatlarda natija bermasligi mumkin?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de Matos et al., Immunohistochemistry as an Important Tool in Biomarkers Detection and Clinical Practice, betlar: PMID 20212918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1</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Immunohistokimyoviy tekshiruvning asosiy tamoyillari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1-savol: IHK nima? Hujayra surtmalarida qo‘llanganda u qanday ataladi?</a:t>
            </a:r>
          </a:p>
          <a:p>
            <a:pPr>
              <a:spcAft>
                <a:spcPts val="1200"/>
              </a:spcAft>
            </a:pPr>
            <a:r>
              <a:rPr sz="2200">
                <a:solidFill>
                  <a:srgbClr val="1F2937"/>
                </a:solidFill>
                <a:latin typeface="Calibri"/>
              </a:rPr>
              <a:t>▸  2-savol: Coons 1940-yillar boshida qanday belgili antikor bilan antigenni ko‘rsatdi? Nakane yangiligi nimani o‘zgartirdi?</a:t>
            </a:r>
          </a:p>
          <a:p>
            <a:pPr>
              <a:spcAft>
                <a:spcPts val="1200"/>
              </a:spcAft>
            </a:pPr>
            <a:r>
              <a:rPr sz="2200">
                <a:solidFill>
                  <a:srgbClr val="1F2937"/>
                </a:solidFill>
                <a:latin typeface="Calibri"/>
              </a:rPr>
              <a:t>▸  3-savol: Diaminobenzidin (DAB) nima uchun muhim? U elektron mikroskopiyada nimani almashtirdi?</a:t>
            </a:r>
          </a:p>
          <a:p>
            <a:pPr>
              <a:spcAft>
                <a:spcPts val="1200"/>
              </a:spcAft>
            </a:pPr>
            <a:r>
              <a:rPr sz="2200">
                <a:solidFill>
                  <a:srgbClr val="1F2937"/>
                </a:solidFill>
                <a:latin typeface="Calibri"/>
              </a:rPr>
              <a:t>▸  4-savol: Werner tahlilida 3760 namunaning necha foizi diagnostik maqsadda tekshirilgan va IHK qancha holatda aniq tashxisga hissa qo‘shdi?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de Matos et al., Immunohistochemistry as an Important Tool in Biomarkers Detection and Clinical Practice, betlar: PMID 20212918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Reaksiya bosqichlarining ketma-ketligi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Immunohistokimyoviy tekshiruvning asosiy tamoyillari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Preparat tayyorlangach (fiksatsiya, to‘qimani qayta ishlash), reaksiya bosqichlari belgilangan tartibda o‘tadi.</a:t>
            </a:r>
          </a:p>
          <a:p>
            <a:pPr>
              <a:spcAft>
                <a:spcPts val="1200"/>
              </a:spcAft>
            </a:pPr>
            <a:r>
              <a:rPr sz="2200">
                <a:solidFill>
                  <a:srgbClr val="1F2937"/>
                </a:solidFill>
                <a:latin typeface="Calibri"/>
              </a:rPr>
              <a:t>▸  Reaksiyadan keyin ikkinchi bosqich: hosil bo‘lgan ekspressiyani talqin qilish va miqdoriy baholash.</a:t>
            </a:r>
          </a:p>
          <a:p>
            <a:pPr>
              <a:spcAft>
                <a:spcPts val="1200"/>
              </a:spcAft>
            </a:pPr>
            <a:r>
              <a:rPr sz="2200">
                <a:solidFill>
                  <a:srgbClr val="1F2937"/>
                </a:solidFill>
                <a:latin typeface="Calibri"/>
              </a:rPr>
              <a:t>▸  Diqqat: reagentlar tartibi qat’iy bo‘lishi shart; ish sxemasi yolg‘on natijalardan saqlaydi.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de Matos et al., Immunohistochemistry as an Important Tool in Biomarkers Detection and Clinical Practice, betlar: PMID 20212918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Fiksatsiya: formalin va spirt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Immunohistokimyoviy tekshiruvning asosiy tamoyillari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Formalin fiksatsiyasi immunreaktivlikni qaytar tarzda kamaytiradi: ba’zi antitelo bog‘lanish joylari yopiladi yoki shikastlanadi.</a:t>
            </a:r>
          </a:p>
          <a:p>
            <a:pPr>
              <a:spcAft>
                <a:spcPts val="800"/>
              </a:spcAft>
            </a:pPr>
            <a:r>
              <a:rPr sz="1800">
                <a:solidFill>
                  <a:srgbClr val="1F2937"/>
                </a:solidFill>
                <a:latin typeface="Calibri"/>
              </a:rPr>
              <a:t>▸  Epitoplar tiklash usullari bilan ochiladi, ammo aniqlash tizimi baribir kuchli signal beradigan darajada sezgir bo‘lishi shart.</a:t>
            </a:r>
          </a:p>
          <a:p>
            <a:pPr>
              <a:spcAft>
                <a:spcPts val="800"/>
              </a:spcAft>
            </a:pPr>
            <a:r>
              <a:rPr sz="1800">
                <a:solidFill>
                  <a:srgbClr val="1F2937"/>
                </a:solidFill>
                <a:latin typeface="Calibri"/>
              </a:rPr>
              <a:t>▸  Alves tadqiqotida (tuxumdon o‘smasi) etanolda fiksatsiya sitokeratin va vimentinni yaxshiroq ko‘rsatdi.</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Formalin</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Epitoplar yopilishi mumkin</a:t>
            </a:r>
          </a:p>
          <a:p>
            <a:pPr algn="l">
              <a:spcAft>
                <a:spcPts val="700"/>
              </a:spcAft>
            </a:pPr>
            <a:r>
              <a:rPr sz="1500" b="1">
                <a:solidFill>
                  <a:srgbClr val="C9A227"/>
                </a:solidFill>
                <a:latin typeface="Calibri"/>
              </a:rPr>
              <a:t>●  </a:t>
            </a:r>
            <a:r>
              <a:rPr sz="1500" b="0">
                <a:solidFill>
                  <a:srgbClr val="1F2937"/>
                </a:solidFill>
                <a:latin typeface="Calibri"/>
              </a:rPr>
              <a:t>Sitokeratin: tripsin bilan yaxshiroq</a:t>
            </a:r>
          </a:p>
          <a:p>
            <a:pPr algn="l">
              <a:spcAft>
                <a:spcPts val="700"/>
              </a:spcAft>
            </a:pPr>
            <a:r>
              <a:rPr sz="1500" b="1">
                <a:solidFill>
                  <a:srgbClr val="C9A227"/>
                </a:solidFill>
                <a:latin typeface="Calibri"/>
              </a:rPr>
              <a:t>●  </a:t>
            </a:r>
            <a:r>
              <a:rPr sz="1500" b="0">
                <a:solidFill>
                  <a:srgbClr val="1F2937"/>
                </a:solidFill>
                <a:latin typeface="Calibri"/>
              </a:rPr>
              <a:t>Vimentin: tripsin zarar yetkazdi</a:t>
            </a:r>
          </a:p>
          <a:p>
            <a:pPr algn="l">
              <a:spcAft>
                <a:spcPts val="700"/>
              </a:spcAft>
            </a:pPr>
            <a:r>
              <a:rPr sz="1500" b="1">
                <a:solidFill>
                  <a:srgbClr val="C9A227"/>
                </a:solidFill>
                <a:latin typeface="Calibri"/>
              </a:rPr>
              <a:t>●  </a:t>
            </a:r>
            <a:r>
              <a:rPr sz="1500" b="0">
                <a:solidFill>
                  <a:srgbClr val="1F2937"/>
                </a:solidFill>
                <a:latin typeface="Calibri"/>
              </a:rPr>
              <a:t>Fiksatsiya kechikishi xavfli</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Etanol</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Reaktivlik yuqoriroq topilgan</a:t>
            </a:r>
          </a:p>
          <a:p>
            <a:pPr algn="l">
              <a:spcAft>
                <a:spcPts val="700"/>
              </a:spcAft>
            </a:pPr>
            <a:r>
              <a:rPr sz="1500" b="1">
                <a:solidFill>
                  <a:srgbClr val="C9A227"/>
                </a:solidFill>
                <a:latin typeface="Calibri"/>
              </a:rPr>
              <a:t>●  </a:t>
            </a:r>
            <a:r>
              <a:rPr sz="1500" b="0">
                <a:solidFill>
                  <a:srgbClr val="1F2937"/>
                </a:solidFill>
                <a:latin typeface="Calibri"/>
              </a:rPr>
              <a:t>Sitokeratin: yuqori reaktivlik</a:t>
            </a:r>
          </a:p>
          <a:p>
            <a:pPr algn="l">
              <a:spcAft>
                <a:spcPts val="700"/>
              </a:spcAft>
            </a:pPr>
            <a:r>
              <a:rPr sz="1500" b="1">
                <a:solidFill>
                  <a:srgbClr val="C9A227"/>
                </a:solidFill>
                <a:latin typeface="Calibri"/>
              </a:rPr>
              <a:t>●  </a:t>
            </a:r>
            <a:r>
              <a:rPr sz="1500" b="0">
                <a:solidFill>
                  <a:srgbClr val="1F2937"/>
                </a:solidFill>
                <a:latin typeface="Calibri"/>
              </a:rPr>
              <a:t>Vimentin: yuqori reaktivlik</a:t>
            </a:r>
          </a:p>
          <a:p>
            <a:pPr algn="l">
              <a:spcAft>
                <a:spcPts val="700"/>
              </a:spcAft>
            </a:pPr>
            <a:r>
              <a:rPr sz="1500" b="1">
                <a:solidFill>
                  <a:srgbClr val="C9A227"/>
                </a:solidFill>
                <a:latin typeface="Calibri"/>
              </a:rPr>
              <a:t>●  </a:t>
            </a:r>
            <a:r>
              <a:rPr sz="1500" b="0">
                <a:solidFill>
                  <a:srgbClr val="1F2937"/>
                </a:solidFill>
                <a:latin typeface="Calibri"/>
              </a:rPr>
              <a:t>60 kungacha saqlanganda yaxshi</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Formalin va etanol: Alves tadqiqoti</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de Matos et al., Immunohistochemistry as an Important Tool in Biomarkers Detection and Clinical Practice, betlar: PMID 20212918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Kesma qalinligi va parafin harorati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Immunohistokimyoviy tekshiruvning asosiy tamoyillari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Blokdan olinadigan kesma qalinligi 3 dan 7 mikrometrgacha (μm) bo‘lgani ma’qul.</a:t>
            </a:r>
          </a:p>
          <a:p>
            <a:pPr>
              <a:spcAft>
                <a:spcPts val="1200"/>
              </a:spcAft>
            </a:pPr>
            <a:r>
              <a:rPr sz="2200">
                <a:solidFill>
                  <a:srgbClr val="1F2937"/>
                </a:solidFill>
                <a:latin typeface="Calibri"/>
              </a:rPr>
              <a:t>▸  3 μm dan yupqa kesma juda zaif bo‘yaladi; 7 μm dan qalin kesma shishadan ajralib ketishi yoki bahoni qiyinlashtirishi mumkin.</a:t>
            </a:r>
          </a:p>
          <a:p>
            <a:pPr>
              <a:spcAft>
                <a:spcPts val="1200"/>
              </a:spcAft>
            </a:pPr>
            <a:r>
              <a:rPr sz="2200">
                <a:solidFill>
                  <a:srgbClr val="1F2937"/>
                </a:solidFill>
                <a:latin typeface="Calibri"/>
              </a:rPr>
              <a:t>▸  Kesma oldindan yopishtiruvchi (silan yoki polilizin) surtilgan shishaga qo‘yiladi.</a:t>
            </a:r>
          </a:p>
          <a:p>
            <a:pPr>
              <a:spcAft>
                <a:spcPts val="1200"/>
              </a:spcAft>
            </a:pPr>
            <a:r>
              <a:rPr sz="2200">
                <a:solidFill>
                  <a:srgbClr val="1F2937"/>
                </a:solidFill>
                <a:latin typeface="Calibri"/>
              </a:rPr>
              <a:t>▸  Diqqat: xato qilish xavfi! Parafinga joylash odatda 60 °C dan yuqori haroratda antigenlikni buzishi mumkin.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de Matos et al., Immunohistochemistry as an Important Tool in Biomarkers Detection and Clinical Practice, betlar: PMID 20212918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Namuna miqdori va tanlash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Immunohistokimyoviy tekshiruvning asosiy tamoyillari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Kichik namunalar bilan aniq tashxis qo‘yish talab etilmoqda, shuning uchun namuna miqdori muhokama qilinadi.</a:t>
            </a:r>
          </a:p>
          <a:p>
            <a:pPr>
              <a:spcAft>
                <a:spcPts val="1200"/>
              </a:spcAft>
            </a:pPr>
            <a:r>
              <a:rPr sz="2200">
                <a:solidFill>
                  <a:srgbClr val="1F2937"/>
                </a:solidFill>
                <a:latin typeface="Calibri"/>
              </a:rPr>
              <a:t>▸  Ko‘p hollarda bitta blok yetarli, ayniqsa unda o‘sma va atrofdagi parenxima chegarasi bo‘lsa.</a:t>
            </a:r>
          </a:p>
          <a:p>
            <a:pPr>
              <a:spcAft>
                <a:spcPts val="1200"/>
              </a:spcAft>
            </a:pPr>
            <a:r>
              <a:rPr sz="2200">
                <a:solidFill>
                  <a:srgbClr val="1F2937"/>
                </a:solidFill>
                <a:latin typeface="Calibri"/>
              </a:rPr>
              <a:t>▸  Blok qon quyilgan yoki keng nekrozli joylardan uzoqdan olinadi; o‘smadan uzoqdagi vakillik to‘qima ham foydali.</a:t>
            </a:r>
          </a:p>
          <a:p>
            <a:pPr>
              <a:spcAft>
                <a:spcPts val="1200"/>
              </a:spcAft>
            </a:pPr>
            <a:r>
              <a:rPr sz="2200">
                <a:solidFill>
                  <a:srgbClr val="1F2937"/>
                </a:solidFill>
                <a:latin typeface="Calibri"/>
              </a:rPr>
              <a:t>▸  Imkon bo‘lsa, avval muzlatilgan holda tekshirilgan to‘qimadan qochish kerak.</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de Matos et al., Immunohistochemistry as an Important Tool in Biomarkers Detection and Clinical Practice, betlar: PMID 20212918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Antigenni ochish va aniqlash tizimlari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Immunohistokimyoviy tekshiruvning asosiy tamoyillari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43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Antigenni ochish (HIER, issiqlik bilan epitopni ochish) mikroto‘lqin yoki bosimli nam bug‘ orqali bajariladi.</a:t>
            </a:r>
          </a:p>
          <a:p>
            <a:pPr>
              <a:spcAft>
                <a:spcPts val="800"/>
              </a:spcAft>
            </a:pPr>
            <a:r>
              <a:rPr sz="1800">
                <a:solidFill>
                  <a:srgbClr val="1F2937"/>
                </a:solidFill>
                <a:latin typeface="Calibri"/>
              </a:rPr>
              <a:t>▸  ABC (avidin-biotin-peroksidaza kompleksi) va LSAB (streptavidin-biotin) – asosiy kuchaytirish tizimlari.</a:t>
            </a:r>
          </a:p>
          <a:p>
            <a:pPr>
              <a:spcAft>
                <a:spcPts val="800"/>
              </a:spcAft>
            </a:pPr>
            <a:r>
              <a:rPr sz="1800">
                <a:solidFill>
                  <a:srgbClr val="1F2937"/>
                </a:solidFill>
                <a:latin typeface="Calibri"/>
              </a:rPr>
              <a:t>▸  Paradoks: tizimlar yangi musbatlar berdi, ammo nospetsifiklik oshdi; Swanson universal usulni rad etdi.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 Antigenni ochish (HIER)</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2. Ikkilamchi antikor: ABC/LSAB</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3. EPOS: bir bosqichli polimer</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4. CARD: katalizli cho‘ktirish</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5. Paradoks: yutuq va xatar</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Usullar taraqqiyoti zanjiri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de Matos et al., Immunohistochemistry as an Important Tool in Biomarkers Detection and Clinical Practice, betlar: PMID 20212918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Poliklonal va monoklonal antikorlar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Immunohistokimyoviy tekshiruvning asosiy tamoyillari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Birlamchi antikorlar poliklonal yoki monoklonal bo‘ladi; ikkalasining imkoniyati har xil.</a:t>
            </a:r>
          </a:p>
          <a:p>
            <a:pPr>
              <a:spcAft>
                <a:spcPts val="800"/>
              </a:spcAft>
            </a:pPr>
            <a:r>
              <a:rPr sz="1800">
                <a:solidFill>
                  <a:srgbClr val="1F2937"/>
                </a:solidFill>
                <a:latin typeface="Calibri"/>
              </a:rPr>
              <a:t>▸  Har yangi seriya yoki klon titrlanadi; haqiqiy musbat va fon kontrasti eng katta suyultma tanlanadi.</a:t>
            </a:r>
          </a:p>
          <a:p>
            <a:pPr>
              <a:spcAft>
                <a:spcPts val="800"/>
              </a:spcAft>
            </a:pPr>
            <a:r>
              <a:rPr sz="1800">
                <a:solidFill>
                  <a:srgbClr val="1F2937"/>
                </a:solidFill>
                <a:latin typeface="Calibri"/>
              </a:rPr>
              <a:t>▸  Diqqat: ko‘p epitop ≠ yuqori o‘ziga xoslik – poliklonal sezgir, monoklonal esa o‘ziga xos.</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Poliklonal</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Hayvonni immunlash (quyon, echki)</a:t>
            </a:r>
          </a:p>
          <a:p>
            <a:pPr algn="l">
              <a:spcAft>
                <a:spcPts val="700"/>
              </a:spcAft>
            </a:pPr>
            <a:r>
              <a:rPr sz="1500" b="1">
                <a:solidFill>
                  <a:srgbClr val="C9A227"/>
                </a:solidFill>
                <a:latin typeface="Calibri"/>
              </a:rPr>
              <a:t>●  </a:t>
            </a:r>
            <a:r>
              <a:rPr sz="1500" b="0">
                <a:solidFill>
                  <a:srgbClr val="1F2937"/>
                </a:solidFill>
                <a:latin typeface="Calibri"/>
              </a:rPr>
              <a:t>Bir antigenning ko‘p epitopi</a:t>
            </a:r>
          </a:p>
          <a:p>
            <a:pPr algn="l">
              <a:spcAft>
                <a:spcPts val="700"/>
              </a:spcAft>
            </a:pPr>
            <a:r>
              <a:rPr sz="1500" b="1">
                <a:solidFill>
                  <a:srgbClr val="C9A227"/>
                </a:solidFill>
                <a:latin typeface="Calibri"/>
              </a:rPr>
              <a:t>●  </a:t>
            </a:r>
            <a:r>
              <a:rPr sz="1500" b="0">
                <a:solidFill>
                  <a:srgbClr val="1F2937"/>
                </a:solidFill>
                <a:latin typeface="Calibri"/>
              </a:rPr>
              <a:t>Yuqori sezuvchanlik</a:t>
            </a:r>
          </a:p>
          <a:p>
            <a:pPr algn="l">
              <a:spcAft>
                <a:spcPts val="700"/>
              </a:spcAft>
            </a:pPr>
            <a:r>
              <a:rPr sz="1500" b="1">
                <a:solidFill>
                  <a:srgbClr val="C9A227"/>
                </a:solidFill>
                <a:latin typeface="Calibri"/>
              </a:rPr>
              <a:t>●  </a:t>
            </a:r>
            <a:r>
              <a:rPr sz="1500" b="0">
                <a:solidFill>
                  <a:srgbClr val="1F2937"/>
                </a:solidFill>
                <a:latin typeface="Calibri"/>
              </a:rPr>
              <a:t>Yangi seriya: qayta titrlash</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Monoklonal</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Gibridlardan yaratiladi</a:t>
            </a:r>
          </a:p>
          <a:p>
            <a:pPr algn="l">
              <a:spcAft>
                <a:spcPts val="700"/>
              </a:spcAft>
            </a:pPr>
            <a:r>
              <a:rPr sz="1500" b="1">
                <a:solidFill>
                  <a:srgbClr val="C9A227"/>
                </a:solidFill>
                <a:latin typeface="Calibri"/>
              </a:rPr>
              <a:t>●  </a:t>
            </a:r>
            <a:r>
              <a:rPr sz="1500" b="0">
                <a:solidFill>
                  <a:srgbClr val="1F2937"/>
                </a:solidFill>
                <a:latin typeface="Calibri"/>
              </a:rPr>
              <a:t>Faqat bitta epitop</a:t>
            </a:r>
          </a:p>
          <a:p>
            <a:pPr algn="l">
              <a:spcAft>
                <a:spcPts val="700"/>
              </a:spcAft>
            </a:pPr>
            <a:r>
              <a:rPr sz="1500" b="1">
                <a:solidFill>
                  <a:srgbClr val="C9A227"/>
                </a:solidFill>
                <a:latin typeface="Calibri"/>
              </a:rPr>
              <a:t>●  </a:t>
            </a:r>
            <a:r>
              <a:rPr sz="1500" b="0">
                <a:solidFill>
                  <a:srgbClr val="1F2937"/>
                </a:solidFill>
                <a:latin typeface="Calibri"/>
              </a:rPr>
              <a:t>Yuqori o‘ziga xoslik</a:t>
            </a:r>
          </a:p>
          <a:p>
            <a:pPr algn="l">
              <a:spcAft>
                <a:spcPts val="700"/>
              </a:spcAft>
            </a:pPr>
            <a:r>
              <a:rPr sz="1500" b="1">
                <a:solidFill>
                  <a:srgbClr val="C9A227"/>
                </a:solidFill>
                <a:latin typeface="Calibri"/>
              </a:rPr>
              <a:t>●  </a:t>
            </a:r>
            <a:r>
              <a:rPr sz="1500" b="0">
                <a:solidFill>
                  <a:srgbClr val="1F2937"/>
                </a:solidFill>
                <a:latin typeface="Calibri"/>
              </a:rPr>
              <a:t>Yangi seriya: qayta titrlash</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Antikor turlarini solishtirish</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de Matos et al., Immunohistochemistry as an Important Tool in Biomarkers Detection and Clinical Practice, betlar: PMID 20212918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Antikor panelini tanlash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Immunohistokimyoviy tekshiruvning asosiy tamoyillari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Antikor panelini tanlash immunohistokimyoning eng muhim jihatlaridan biri bo‘lib, usulning to‘g‘ri qo‘llanishini belgilaydi.</a:t>
            </a:r>
          </a:p>
          <a:p>
            <a:pPr>
              <a:spcAft>
                <a:spcPts val="1200"/>
              </a:spcAft>
            </a:pPr>
            <a:r>
              <a:rPr sz="2200">
                <a:solidFill>
                  <a:srgbClr val="1F2937"/>
                </a:solidFill>
                <a:latin typeface="Calibri"/>
              </a:rPr>
              <a:t>▸  Jensen va hamkasblari: panel tanlovi hamda har bir holatda reaksiya naqshini talqin qilish yakuniy tashxisga eng ko‘p ta’sir qiladi.</a:t>
            </a:r>
          </a:p>
          <a:p>
            <a:pPr>
              <a:spcAft>
                <a:spcPts val="1200"/>
              </a:spcAft>
            </a:pPr>
            <a:r>
              <a:rPr sz="2200">
                <a:solidFill>
                  <a:srgbClr val="1F2937"/>
                </a:solidFill>
                <a:latin typeface="Calibri"/>
              </a:rPr>
              <a:t>▸  Tanlangan panelning sezuvchanligi usulni buyuruvchi patolog tajribasi va klinik ma’lumotlar tahlili bilan birga oshadi.</a:t>
            </a:r>
          </a:p>
          <a:p>
            <a:pPr>
              <a:spcAft>
                <a:spcPts val="1200"/>
              </a:spcAft>
            </a:pPr>
            <a:r>
              <a:rPr sz="2200">
                <a:solidFill>
                  <a:srgbClr val="1F2937"/>
                </a:solidFill>
                <a:latin typeface="Calibri"/>
              </a:rPr>
              <a:t>▸  Prescott va hamkasblari immunohistokimyodagi tashxis nomuvofiqliklarining 42,1 foizini yomon antikor tanlashga bog‘lagan.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de Matos et al., Immunohistochemistry as an Important Tool in Biomarkers Detection and Clinical Practice, betlar: PMID 20212918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Ichki va tashqi nazorat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Immunohistokimyoviy tekshiruvning asosiy tamoyillari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Tashqi nazorat — har bir antitana uchun maxsus to‘qima kesmasi. U har bir panelga kiritiladi.</a:t>
            </a:r>
          </a:p>
          <a:p>
            <a:pPr>
              <a:spcAft>
                <a:spcPts val="800"/>
              </a:spcAft>
            </a:pPr>
            <a:r>
              <a:rPr sz="1800">
                <a:solidFill>
                  <a:srgbClr val="1F2937"/>
                </a:solidFill>
                <a:latin typeface="Calibri"/>
              </a:rPr>
              <a:t>▸  Tashqi nazorat sinov namunalari bilan bir xil fiksatsiya qilinadi va reaksiyaning bir xil bosqichlaridan o‘tadi.</a:t>
            </a:r>
          </a:p>
          <a:p>
            <a:pPr>
              <a:spcAft>
                <a:spcPts val="800"/>
              </a:spcAft>
            </a:pPr>
            <a:r>
              <a:rPr sz="1800">
                <a:solidFill>
                  <a:srgbClr val="1F2937"/>
                </a:solidFill>
                <a:latin typeface="Calibri"/>
              </a:rPr>
              <a:t>▸  Diqqat: ichki nazorat — o‘rganilayotgan preparatning o‘zidagi tuzilmalar, alohida kesma emas.</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Nazorat turlari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2063496"/>
            <a:ext cx="0" cy="2731008"/>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206349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Tashqi nazorat</a:t>
            </a:r>
          </a:p>
          <a:p>
            <a:pPr algn="l">
              <a:spcAft>
                <a:spcPts val="0"/>
              </a:spcAft>
            </a:pPr>
            <a:r>
              <a:rPr sz="1200" b="0">
                <a:solidFill>
                  <a:srgbClr val="1F2937"/>
                </a:solidFill>
                <a:latin typeface="Calibri"/>
              </a:rPr>
              <a:t>Antitanaga mos maxsus kesma  ·  Natijalarni tasdiqlaydi</a:t>
            </a:r>
          </a:p>
        </p:txBody>
      </p:sp>
      <p:cxnSp>
        <p:nvCxnSpPr>
          <p:cNvPr id="15" name="Connector 14"/>
          <p:cNvCxnSpPr/>
          <p:nvPr/>
        </p:nvCxnSpPr>
        <p:spPr>
          <a:xfrm>
            <a:off x="761238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782824"/>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782824"/>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Ichki musbat</a:t>
            </a:r>
          </a:p>
          <a:p>
            <a:pPr algn="l">
              <a:spcAft>
                <a:spcPts val="0"/>
              </a:spcAft>
            </a:pPr>
            <a:r>
              <a:rPr sz="1200" b="0">
                <a:solidFill>
                  <a:srgbClr val="1F2937"/>
                </a:solidFill>
                <a:latin typeface="Calibri"/>
              </a:rPr>
              <a:t>Tomirlar; o‘simta yonidagi yo‘llar  ·  Kutilgan musbat reaksiya</a:t>
            </a:r>
          </a:p>
        </p:txBody>
      </p:sp>
      <p:cxnSp>
        <p:nvCxnSpPr>
          <p:cNvPr id="18" name="Connector 17"/>
          <p:cNvCxnSpPr/>
          <p:nvPr/>
        </p:nvCxnSpPr>
        <p:spPr>
          <a:xfrm>
            <a:off x="7612380" y="479450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4148328"/>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4148328"/>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Ichki manfiy</a:t>
            </a:r>
          </a:p>
          <a:p>
            <a:pPr algn="l">
              <a:spcAft>
                <a:spcPts val="0"/>
              </a:spcAft>
            </a:pPr>
            <a:r>
              <a:rPr sz="1200" b="0">
                <a:solidFill>
                  <a:srgbClr val="1F2937"/>
                </a:solidFill>
                <a:latin typeface="Calibri"/>
              </a:rPr>
              <a:t>Tomir ichidagi eritrotsitlar  ·  Bir xil ishlov olgan manfiy fon</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Nazorat turlari</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de Matos et al., Immunohistochemistry as an Important Tool in Biomarkers Detection and Clinical Practice, betlar: PMID 20212918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Xato manbalari: reaksiya va talqin</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Immunohistokimyoviy tekshiruvning asosiy tamoyillari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43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Bias — natijani og‘diruvchi xato. Usul sodda bo‘lsa-da, natijalar ehtiyotkorlik bilan talqin qilinadi.</a:t>
            </a:r>
          </a:p>
          <a:p>
            <a:pPr>
              <a:spcAft>
                <a:spcPts val="800"/>
              </a:spcAft>
            </a:pPr>
            <a:r>
              <a:rPr sz="1800">
                <a:solidFill>
                  <a:srgbClr val="1F2937"/>
                </a:solidFill>
                <a:latin typeface="Calibri"/>
              </a:rPr>
              <a:t>▸  Natija reaksiyani bajargan qo‘l va uni talqin qilgan ko‘z tajribasiga to‘g‘ridan-to‘g‘ri bog‘liq.</a:t>
            </a:r>
          </a:p>
          <a:p>
            <a:pPr>
              <a:spcAft>
                <a:spcPts val="800"/>
              </a:spcAft>
            </a:pPr>
            <a:r>
              <a:rPr sz="1800">
                <a:solidFill>
                  <a:srgbClr val="1F2937"/>
                </a:solidFill>
                <a:latin typeface="Calibri"/>
              </a:rPr>
              <a:t>▸  Diqqat: reaksiya biasi ≠ talqin biasi. Birinchisi texnik, ikkinchisi tanlov va baholash xatosi.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249574"/>
                <a:gridCol w="1691639"/>
                <a:gridCol w="2346761"/>
              </a:tblGrid>
              <a:tr h="614476">
                <a:tc>
                  <a:txBody>
                    <a:bodyPr/>
                    <a:lstStyle/>
                    <a:p>
                      <a:r>
                        <a:rPr sz="1600" b="1">
                          <a:solidFill>
                            <a:srgbClr val="FFFFFF"/>
                          </a:solidFill>
                        </a:rPr>
                        <a:t>Bias</a:t>
                      </a:r>
                    </a:p>
                  </a:txBody>
                  <a:tcPr marL="73152" marR="73152" marT="36576" marB="36576">
                    <a:solidFill>
                      <a:srgbClr val="0B1F3A"/>
                    </a:solidFill>
                  </a:tcPr>
                </a:tc>
                <a:tc>
                  <a:txBody>
                    <a:bodyPr/>
                    <a:lstStyle/>
                    <a:p>
                      <a:r>
                        <a:rPr sz="1600" b="1">
                          <a:solidFill>
                            <a:srgbClr val="FFFFFF"/>
                          </a:solidFill>
                        </a:rPr>
                        <a:t>Bosqich</a:t>
                      </a:r>
                    </a:p>
                  </a:txBody>
                  <a:tcPr marL="73152" marR="73152" marT="36576" marB="36576">
                    <a:solidFill>
                      <a:srgbClr val="0B1F3A"/>
                    </a:solidFill>
                  </a:tcPr>
                </a:tc>
                <a:tc>
                  <a:txBody>
                    <a:bodyPr/>
                    <a:lstStyle/>
                    <a:p>
                      <a:r>
                        <a:rPr sz="1600" b="1">
                          <a:solidFill>
                            <a:srgbClr val="FFFFFF"/>
                          </a:solidFill>
                        </a:rPr>
                        <a:t>Misol</a:t>
                      </a:r>
                    </a:p>
                  </a:txBody>
                  <a:tcPr marL="73152" marR="73152" marT="36576" marB="36576">
                    <a:solidFill>
                      <a:srgbClr val="0B1F3A"/>
                    </a:solidFill>
                  </a:tcPr>
                </a:tc>
              </a:tr>
              <a:tr h="614476">
                <a:tc>
                  <a:txBody>
                    <a:bodyPr/>
                    <a:lstStyle/>
                    <a:p>
                      <a:r>
                        <a:rPr sz="1500" b="0">
                          <a:solidFill>
                            <a:srgbClr val="1F2937"/>
                          </a:solidFill>
                        </a:rPr>
                        <a:t>Reaksiya</a:t>
                      </a:r>
                    </a:p>
                  </a:txBody>
                  <a:tcPr marL="73152" marR="73152" marT="36576" marB="36576">
                    <a:solidFill>
                      <a:srgbClr val="E8EEF6"/>
                    </a:solidFill>
                  </a:tcPr>
                </a:tc>
                <a:tc>
                  <a:txBody>
                    <a:bodyPr/>
                    <a:lstStyle/>
                    <a:p>
                      <a:r>
                        <a:rPr sz="1500" b="0">
                          <a:solidFill>
                            <a:srgbClr val="1F2937"/>
                          </a:solidFill>
                        </a:rPr>
                        <a:t>Namuna tayyorlash</a:t>
                      </a:r>
                    </a:p>
                  </a:txBody>
                  <a:tcPr marL="73152" marR="73152" marT="36576" marB="36576">
                    <a:solidFill>
                      <a:srgbClr val="E8EEF6"/>
                    </a:solidFill>
                  </a:tcPr>
                </a:tc>
                <a:tc>
                  <a:txBody>
                    <a:bodyPr/>
                    <a:lstStyle/>
                    <a:p>
                      <a:r>
                        <a:rPr sz="1500" b="0">
                          <a:solidFill>
                            <a:srgbClr val="1F2937"/>
                          </a:solidFill>
                        </a:rPr>
                        <a:t>Fiksatsiya, to‘qima ishlovi</a:t>
                      </a:r>
                    </a:p>
                  </a:txBody>
                  <a:tcPr marL="73152" marR="73152" marT="36576" marB="36576">
                    <a:solidFill>
                      <a:srgbClr val="E8EEF6"/>
                    </a:solidFill>
                  </a:tcPr>
                </a:tc>
              </a:tr>
              <a:tr h="614476">
                <a:tc>
                  <a:txBody>
                    <a:bodyPr/>
                    <a:lstStyle/>
                    <a:p>
                      <a:r>
                        <a:rPr sz="1500" b="0">
                          <a:solidFill>
                            <a:srgbClr val="1F2937"/>
                          </a:solidFill>
                        </a:rPr>
                        <a:t>Reaksiya</a:t>
                      </a:r>
                    </a:p>
                  </a:txBody>
                  <a:tcPr marL="73152" marR="73152" marT="36576" marB="36576">
                    <a:solidFill>
                      <a:srgbClr val="FFFFFF"/>
                    </a:solidFill>
                  </a:tcPr>
                </a:tc>
                <a:tc>
                  <a:txBody>
                    <a:bodyPr/>
                    <a:lstStyle/>
                    <a:p>
                      <a:r>
                        <a:rPr sz="1500" b="0">
                          <a:solidFill>
                            <a:srgbClr val="1F2937"/>
                          </a:solidFill>
                        </a:rPr>
                        <a:t>Reaksiyaning o‘zi</a:t>
                      </a:r>
                    </a:p>
                  </a:txBody>
                  <a:tcPr marL="73152" marR="73152" marT="36576" marB="36576">
                    <a:solidFill>
                      <a:srgbClr val="FFFFFF"/>
                    </a:solidFill>
                  </a:tcPr>
                </a:tc>
                <a:tc>
                  <a:txBody>
                    <a:bodyPr/>
                    <a:lstStyle/>
                    <a:p>
                      <a:r>
                        <a:rPr sz="1500" b="0">
                          <a:solidFill>
                            <a:srgbClr val="1F2937"/>
                          </a:solidFill>
                        </a:rPr>
                        <a:t>Antigenni ochish, aniqlash tizimi</a:t>
                      </a:r>
                    </a:p>
                  </a:txBody>
                  <a:tcPr marL="73152" marR="73152" marT="36576" marB="36576">
                    <a:solidFill>
                      <a:srgbClr val="FFFFFF"/>
                    </a:solidFill>
                  </a:tcPr>
                </a:tc>
              </a:tr>
              <a:tr h="614476">
                <a:tc>
                  <a:txBody>
                    <a:bodyPr/>
                    <a:lstStyle/>
                    <a:p>
                      <a:r>
                        <a:rPr sz="1500" b="0">
                          <a:solidFill>
                            <a:srgbClr val="1F2937"/>
                          </a:solidFill>
                        </a:rPr>
                        <a:t>Talqin</a:t>
                      </a:r>
                    </a:p>
                  </a:txBody>
                  <a:tcPr marL="73152" marR="73152" marT="36576" marB="36576">
                    <a:solidFill>
                      <a:srgbClr val="E8EEF6"/>
                    </a:solidFill>
                  </a:tcPr>
                </a:tc>
                <a:tc>
                  <a:txBody>
                    <a:bodyPr/>
                    <a:lstStyle/>
                    <a:p>
                      <a:r>
                        <a:rPr sz="1500" b="0">
                          <a:solidFill>
                            <a:srgbClr val="1F2937"/>
                          </a:solidFill>
                        </a:rPr>
                        <a:t>Tanlov</a:t>
                      </a:r>
                    </a:p>
                  </a:txBody>
                  <a:tcPr marL="73152" marR="73152" marT="36576" marB="36576">
                    <a:solidFill>
                      <a:srgbClr val="E8EEF6"/>
                    </a:solidFill>
                  </a:tcPr>
                </a:tc>
                <a:tc>
                  <a:txBody>
                    <a:bodyPr/>
                    <a:lstStyle/>
                    <a:p>
                      <a:r>
                        <a:rPr sz="1500" b="0">
                          <a:solidFill>
                            <a:srgbClr val="1F2937"/>
                          </a:solidFill>
                        </a:rPr>
                        <a:t>Antitana paneli va klonini tanlash</a:t>
                      </a:r>
                    </a:p>
                  </a:txBody>
                  <a:tcPr marL="73152" marR="73152" marT="36576" marB="36576">
                    <a:solidFill>
                      <a:srgbClr val="E8EEF6"/>
                    </a:solidFill>
                  </a:tcPr>
                </a:tc>
              </a:tr>
              <a:tr h="614476">
                <a:tc>
                  <a:txBody>
                    <a:bodyPr/>
                    <a:lstStyle/>
                    <a:p>
                      <a:r>
                        <a:rPr sz="1500" b="0">
                          <a:solidFill>
                            <a:srgbClr val="1F2937"/>
                          </a:solidFill>
                        </a:rPr>
                        <a:t>Talqin</a:t>
                      </a:r>
                    </a:p>
                  </a:txBody>
                  <a:tcPr marL="73152" marR="73152" marT="36576" marB="36576">
                    <a:solidFill>
                      <a:srgbClr val="FFFFFF"/>
                    </a:solidFill>
                  </a:tcPr>
                </a:tc>
                <a:tc>
                  <a:txBody>
                    <a:bodyPr/>
                    <a:lstStyle/>
                    <a:p>
                      <a:r>
                        <a:rPr sz="1500" b="0">
                          <a:solidFill>
                            <a:srgbClr val="1F2937"/>
                          </a:solidFill>
                        </a:rPr>
                        <a:t>Baholash</a:t>
                      </a:r>
                    </a:p>
                  </a:txBody>
                  <a:tcPr marL="73152" marR="73152" marT="36576" marB="36576">
                    <a:solidFill>
                      <a:srgbClr val="FFFFFF"/>
                    </a:solidFill>
                  </a:tcPr>
                </a:tc>
                <a:tc>
                  <a:txBody>
                    <a:bodyPr/>
                    <a:lstStyle/>
                    <a:p>
                      <a:r>
                        <a:rPr sz="1500" b="0">
                          <a:solidFill>
                            <a:srgbClr val="1F2937"/>
                          </a:solidFill>
                        </a:rPr>
                        <a:t>Natija va adabiyotni talqin qilish</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Bias turlari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de Matos et al., Immunohistochemistry as an Important Tool in Biomarkers Detection and Clinical Practice, betlar: PMID 20212918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Sifat nazorati dasturlari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Immunohistokimyoviy tekshiruvning asosiy tamoyillari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Fransiya patologiya jamiyatining immunogistokimyo sifat nazorati qo‘mitasi 1997-yilda hisobot e’lon qildi.</a:t>
            </a:r>
          </a:p>
          <a:p>
            <a:pPr>
              <a:spcAft>
                <a:spcPts val="1200"/>
              </a:spcAft>
            </a:pPr>
            <a:r>
              <a:rPr sz="2200">
                <a:solidFill>
                  <a:srgbClr val="1F2937"/>
                </a:solidFill>
                <a:latin typeface="Calibri"/>
              </a:rPr>
              <a:t>▸  Hisobotga ko‘ra, tashxis xatosining ikki asosiy sababi: antigenni ochish usullarini qo‘llamaslik va kuchsiz kuchaytirish usullaridan foydalanish.</a:t>
            </a:r>
          </a:p>
          <a:p>
            <a:pPr>
              <a:spcAft>
                <a:spcPts val="1200"/>
              </a:spcAft>
            </a:pPr>
            <a:r>
              <a:rPr sz="2200">
                <a:solidFill>
                  <a:srgbClr val="1F2937"/>
                </a:solidFill>
                <a:latin typeface="Calibri"/>
              </a:rPr>
              <a:t>▸  Boshqa xalqaro dasturlar: Immunoquery elektron bazasi va UK NEQAS — Britaniya tashqi sifat baholash sxemasi (immunotsitokimyo uchun).</a:t>
            </a:r>
          </a:p>
          <a:p>
            <a:pPr>
              <a:spcAft>
                <a:spcPts val="1200"/>
              </a:spcAft>
            </a:pPr>
            <a:r>
              <a:rPr sz="2200">
                <a:solidFill>
                  <a:srgbClr val="1F2937"/>
                </a:solidFill>
                <a:latin typeface="Calibri"/>
              </a:rPr>
              <a:t>▸  Reagentlar ketma-ketligini ish sxemalari bilan nazorat qilish yolg‘on natijalardan saqlaydi.</a:t>
            </a:r>
          </a:p>
          <a:p>
            <a:pPr>
              <a:spcAft>
                <a:spcPts val="1200"/>
              </a:spcAft>
            </a:pPr>
            <a:r>
              <a:rPr sz="2200">
                <a:solidFill>
                  <a:srgbClr val="1F2937"/>
                </a:solidFill>
                <a:latin typeface="Calibri"/>
              </a:rPr>
              <a:t>▸  Har bosqich va har antitana naqshini yozib borish ham tavsiya etiladi.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de Matos et al., Immunohistochemistry as an Important Tool in Biomarkers Detection and Clinical Practice, betlar: PMID 20212918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texnik xatolar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Immunohistokimyoviy tekshiruvning asosiy tamoyillari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uzoq fiksatsiyada bo‘lgan yoki 12 hafta saqlangan ko‘krak bezi saratoni preparatida p53 va Bcl-2 kuchsiz bo‘yaldi.</a:t>
            </a:r>
          </a:p>
          <a:p>
            <a:pPr>
              <a:spcAft>
                <a:spcPts val="1200"/>
              </a:spcAft>
            </a:pPr>
            <a:r>
              <a:rPr sz="2200">
                <a:solidFill>
                  <a:srgbClr val="1F2937"/>
                </a:solidFill>
                <a:latin typeface="Calibri"/>
              </a:rPr>
              <a:t>▸  Sabab: yangi namuna uzoq fiksatsiyaga tushsa, antigenlik sezilarli kamayadi. Shishada xona haroratida 12 hafta saqlash ham antigenlikni yo‘qotadi.</a:t>
            </a:r>
          </a:p>
          <a:p>
            <a:pPr>
              <a:spcAft>
                <a:spcPts val="1200"/>
              </a:spcAft>
            </a:pPr>
            <a:r>
              <a:rPr sz="2200">
                <a:solidFill>
                  <a:srgbClr val="1F2937"/>
                </a:solidFill>
                <a:latin typeface="Calibri"/>
              </a:rPr>
              <a:t>▸  Formaldegid epitoplarni niqoblaydi yoki buzadi. Fiksatsiyaning kechikishi ham ayrim antikorlarda immunoreaktivlikni yo‘qotishi mumkin.</a:t>
            </a:r>
          </a:p>
          <a:p>
            <a:pPr>
              <a:spcAft>
                <a:spcPts val="1200"/>
              </a:spcAft>
            </a:pPr>
            <a:r>
              <a:rPr sz="2200">
                <a:solidFill>
                  <a:srgbClr val="1F2937"/>
                </a:solidFill>
                <a:latin typeface="Calibri"/>
              </a:rPr>
              <a:t>▸  Savol: oldini olish uchun nima qilinadi? Fiksatsiya va yetkazishni nazorat qilish, antigenni tiklash va paraffin harorati 60 °C dan oshmasligi.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de Matos et al., Immunohistochemistry as an Important Tool in Biomarkers Detection and Clinical Practice, betlar: PMID 20212918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2</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Immunohistokimyoviy tekshiruvning asosiy tamoyillari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1: IHK uchun blok kesmasi qalinligi qaysi oraliqda tanlanadi? 3 mkm dan yupqa yoki 7 mkm dan qalin bo‘lsa nima bo‘ladi?</a:t>
            </a:r>
          </a:p>
          <a:p>
            <a:pPr>
              <a:spcAft>
                <a:spcPts val="1200"/>
              </a:spcAft>
            </a:pPr>
            <a:r>
              <a:rPr sz="2200">
                <a:solidFill>
                  <a:srgbClr val="1F2937"/>
                </a:solidFill>
                <a:latin typeface="Calibri"/>
              </a:rPr>
              <a:t>▸  Savol 2: formaldegid bilan fiksatsiyada antikor bog‘lanish joylariga nima bo‘ladi va u qanday tuzatiladi?</a:t>
            </a:r>
          </a:p>
          <a:p>
            <a:pPr>
              <a:spcAft>
                <a:spcPts val="1200"/>
              </a:spcAft>
            </a:pPr>
            <a:r>
              <a:rPr sz="2200">
                <a:solidFill>
                  <a:srgbClr val="1F2937"/>
                </a:solidFill>
                <a:latin typeface="Calibri"/>
              </a:rPr>
              <a:t>▸  Savol 3: poliklonal va monoklonal birlamchi antikorlar qaysi jihatdan farqlanadi? Qaysi biri sezgirroq, qaysi biri o‘ziga xosroq?</a:t>
            </a:r>
          </a:p>
          <a:p>
            <a:pPr>
              <a:spcAft>
                <a:spcPts val="1200"/>
              </a:spcAft>
            </a:pPr>
            <a:r>
              <a:rPr sz="2200">
                <a:solidFill>
                  <a:srgbClr val="1F2937"/>
                </a:solidFill>
                <a:latin typeface="Calibri"/>
              </a:rPr>
              <a:t>▸  Savol 4: tashqi va ichki nazoratlarga misol keltiring. Qaysi tuzilma ichki manfiy nazorat bo‘la oladi?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de Matos et al., Immunohistochemistry as an Important Tool in Biomarkers Detection and Clinical Practice, betlar: PMID 20212918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Natija talqini: sifat va subyektivlik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Immunohistokimyoviy tekshiruvning asosiy tamoyillari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Talqin odatda sifat jihatidan va subyektiv bajariladi, miqdoriy baholash ko‘pincha kam ahamiyatli hisoblanadi.</a:t>
            </a:r>
          </a:p>
          <a:p>
            <a:pPr>
              <a:spcAft>
                <a:spcPts val="1200"/>
              </a:spcAft>
            </a:pPr>
            <a:r>
              <a:rPr sz="2200">
                <a:solidFill>
                  <a:srgbClr val="1F2937"/>
                </a:solidFill>
                <a:latin typeface="Calibri"/>
              </a:rPr>
              <a:t>▸  Qaror ko‘pincha molekulaning bor-yo‘qligiga tayanadi.</a:t>
            </a:r>
          </a:p>
          <a:p>
            <a:pPr>
              <a:spcAft>
                <a:spcPts val="1200"/>
              </a:spcAft>
            </a:pPr>
            <a:r>
              <a:rPr sz="2200">
                <a:solidFill>
                  <a:srgbClr val="1F2937"/>
                </a:solidFill>
                <a:latin typeface="Calibri"/>
              </a:rPr>
              <a:t>▸  Adabiyotdagi qarama-qarshi natijalarning o‘sib borayotgan sababi: “musbat” natija nima ekani aniq ta’riflanmagan.</a:t>
            </a:r>
          </a:p>
          <a:p>
            <a:pPr>
              <a:spcAft>
                <a:spcPts val="1200"/>
              </a:spcAft>
            </a:pPr>
            <a:r>
              <a:rPr sz="2200">
                <a:solidFill>
                  <a:srgbClr val="1F2937"/>
                </a:solidFill>
                <a:latin typeface="Calibri"/>
              </a:rPr>
              <a:t>▸  S-100 uchun ayrim mualliflar yadro va sitoplazma bo‘yalishini talab qiladi, boshqalari faqat sitoplazmani yetarli deb biladi.</a:t>
            </a:r>
          </a:p>
          <a:p>
            <a:pPr>
              <a:spcAft>
                <a:spcPts val="1200"/>
              </a:spcAft>
            </a:pPr>
            <a:r>
              <a:rPr sz="2200">
                <a:solidFill>
                  <a:srgbClr val="1F2937"/>
                </a:solidFill>
                <a:latin typeface="Calibri"/>
              </a:rPr>
              <a:t>▸  Diqqat: HER2 da faqat hujayra membranasi bo‘yalishi gen amplifikatsiyasi bilan bog‘liq. Sof sitoplazmatik bo‘yalish ≠ membranali bo‘yalish.</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de Matos et al., Immunohistochemistry as an Important Tool in Biomarkers Detection and Clinical Practice, betlar: PMID 20212918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“Musbat” natija: S-100 va HER2 misoli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Immunohistokimyoviy tekshiruvning asosiy tamoyillari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43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Ko‘p tadqiqotda “musbat” deganda to‘qimaning istalgan qismidagi jigarrang bo‘yalish (peroksidaza) tushuniladi.</a:t>
            </a:r>
          </a:p>
          <a:p>
            <a:pPr>
              <a:spcAft>
                <a:spcPts val="800"/>
              </a:spcAft>
            </a:pPr>
            <a:r>
              <a:rPr sz="1800">
                <a:solidFill>
                  <a:srgbClr val="1F2937"/>
                </a:solidFill>
                <a:latin typeface="Calibri"/>
              </a:rPr>
              <a:t>▸  S-100: ba’zi mualliflar yadro va sitoplazmani talab qiladi, boshqalar faqat sitoplazmani yetarli deb biladi.</a:t>
            </a:r>
          </a:p>
          <a:p>
            <a:pPr>
              <a:spcAft>
                <a:spcPts val="800"/>
              </a:spcAft>
            </a:pPr>
            <a:r>
              <a:rPr sz="1800">
                <a:solidFill>
                  <a:srgbClr val="1F2937"/>
                </a:solidFill>
                <a:latin typeface="Calibri"/>
              </a:rPr>
              <a:t>▸  Diqqat: HER2 da sitoplazma ≠ membrana; faqat membrana bo‘yalishi gen amplifikatsiyasi bilan bog‘liq.</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208680"/>
                <a:gridCol w="1510850"/>
                <a:gridCol w="2568445"/>
              </a:tblGrid>
              <a:tr h="614476">
                <a:tc>
                  <a:txBody>
                    <a:bodyPr/>
                    <a:lstStyle/>
                    <a:p>
                      <a:r>
                        <a:rPr sz="1600" b="1">
                          <a:solidFill>
                            <a:srgbClr val="FFFFFF"/>
                          </a:solidFill>
                        </a:rPr>
                        <a:t>Marker</a:t>
                      </a:r>
                    </a:p>
                  </a:txBody>
                  <a:tcPr marL="73152" marR="73152" marT="36576" marB="36576">
                    <a:solidFill>
                      <a:srgbClr val="0B1F3A"/>
                    </a:solidFill>
                  </a:tcPr>
                </a:tc>
                <a:tc>
                  <a:txBody>
                    <a:bodyPr/>
                    <a:lstStyle/>
                    <a:p>
                      <a:r>
                        <a:rPr sz="1600" b="1">
                          <a:solidFill>
                            <a:srgbClr val="FFFFFF"/>
                          </a:solidFill>
                        </a:rPr>
                        <a:t>Bo‘yalish joyi</a:t>
                      </a:r>
                    </a:p>
                  </a:txBody>
                  <a:tcPr marL="73152" marR="73152" marT="36576" marB="36576">
                    <a:solidFill>
                      <a:srgbClr val="0B1F3A"/>
                    </a:solidFill>
                  </a:tcPr>
                </a:tc>
                <a:tc>
                  <a:txBody>
                    <a:bodyPr/>
                    <a:lstStyle/>
                    <a:p>
                      <a:r>
                        <a:rPr sz="1600" b="1">
                          <a:solidFill>
                            <a:srgbClr val="FFFFFF"/>
                          </a:solidFill>
                        </a:rPr>
                        <a:t>Talqin</a:t>
                      </a:r>
                    </a:p>
                  </a:txBody>
                  <a:tcPr marL="73152" marR="73152" marT="36576" marB="36576">
                    <a:solidFill>
                      <a:srgbClr val="0B1F3A"/>
                    </a:solidFill>
                  </a:tcPr>
                </a:tc>
              </a:tr>
              <a:tr h="614476">
                <a:tc>
                  <a:txBody>
                    <a:bodyPr/>
                    <a:lstStyle/>
                    <a:p>
                      <a:r>
                        <a:rPr sz="1500" b="0">
                          <a:solidFill>
                            <a:srgbClr val="1F2937"/>
                          </a:solidFill>
                        </a:rPr>
                        <a:t>S-100</a:t>
                      </a:r>
                    </a:p>
                  </a:txBody>
                  <a:tcPr marL="73152" marR="73152" marT="36576" marB="36576">
                    <a:solidFill>
                      <a:srgbClr val="E8EEF6"/>
                    </a:solidFill>
                  </a:tcPr>
                </a:tc>
                <a:tc>
                  <a:txBody>
                    <a:bodyPr/>
                    <a:lstStyle/>
                    <a:p>
                      <a:r>
                        <a:rPr sz="1500" b="0">
                          <a:solidFill>
                            <a:srgbClr val="1F2937"/>
                          </a:solidFill>
                        </a:rPr>
                        <a:t>Yadro + sitoplazma</a:t>
                      </a:r>
                    </a:p>
                  </a:txBody>
                  <a:tcPr marL="73152" marR="73152" marT="36576" marB="36576">
                    <a:solidFill>
                      <a:srgbClr val="E8EEF6"/>
                    </a:solidFill>
                  </a:tcPr>
                </a:tc>
                <a:tc>
                  <a:txBody>
                    <a:bodyPr/>
                    <a:lstStyle/>
                    <a:p>
                      <a:r>
                        <a:rPr sz="1500" b="0">
                          <a:solidFill>
                            <a:srgbClr val="1F2937"/>
                          </a:solidFill>
                        </a:rPr>
                        <a:t>Ba’zi mualliflar: musbat</a:t>
                      </a:r>
                    </a:p>
                  </a:txBody>
                  <a:tcPr marL="73152" marR="73152" marT="36576" marB="36576">
                    <a:solidFill>
                      <a:srgbClr val="E8EEF6"/>
                    </a:solidFill>
                  </a:tcPr>
                </a:tc>
              </a:tr>
              <a:tr h="614476">
                <a:tc>
                  <a:txBody>
                    <a:bodyPr/>
                    <a:lstStyle/>
                    <a:p>
                      <a:r>
                        <a:rPr sz="1500" b="0">
                          <a:solidFill>
                            <a:srgbClr val="1F2937"/>
                          </a:solidFill>
                        </a:rPr>
                        <a:t>S-100</a:t>
                      </a:r>
                    </a:p>
                  </a:txBody>
                  <a:tcPr marL="73152" marR="73152" marT="36576" marB="36576">
                    <a:solidFill>
                      <a:srgbClr val="FFFFFF"/>
                    </a:solidFill>
                  </a:tcPr>
                </a:tc>
                <a:tc>
                  <a:txBody>
                    <a:bodyPr/>
                    <a:lstStyle/>
                    <a:p>
                      <a:r>
                        <a:rPr sz="1500" b="0">
                          <a:solidFill>
                            <a:srgbClr val="1F2937"/>
                          </a:solidFill>
                        </a:rPr>
                        <a:t>Faqat sitoplazma</a:t>
                      </a:r>
                    </a:p>
                  </a:txBody>
                  <a:tcPr marL="73152" marR="73152" marT="36576" marB="36576">
                    <a:solidFill>
                      <a:srgbClr val="FFFFFF"/>
                    </a:solidFill>
                  </a:tcPr>
                </a:tc>
                <a:tc>
                  <a:txBody>
                    <a:bodyPr/>
                    <a:lstStyle/>
                    <a:p>
                      <a:r>
                        <a:rPr sz="1500" b="0">
                          <a:solidFill>
                            <a:srgbClr val="1F2937"/>
                          </a:solidFill>
                        </a:rPr>
                        <a:t>Boshqalar: musbat deb hisoblaydi</a:t>
                      </a:r>
                    </a:p>
                  </a:txBody>
                  <a:tcPr marL="73152" marR="73152" marT="36576" marB="36576">
                    <a:solidFill>
                      <a:srgbClr val="FFFFFF"/>
                    </a:solidFill>
                  </a:tcPr>
                </a:tc>
              </a:tr>
              <a:tr h="614476">
                <a:tc>
                  <a:txBody>
                    <a:bodyPr/>
                    <a:lstStyle/>
                    <a:p>
                      <a:r>
                        <a:rPr sz="1500" b="0">
                          <a:solidFill>
                            <a:srgbClr val="1F2937"/>
                          </a:solidFill>
                        </a:rPr>
                        <a:t>HER2</a:t>
                      </a:r>
                    </a:p>
                  </a:txBody>
                  <a:tcPr marL="73152" marR="73152" marT="36576" marB="36576">
                    <a:solidFill>
                      <a:srgbClr val="E8EEF6"/>
                    </a:solidFill>
                  </a:tcPr>
                </a:tc>
                <a:tc>
                  <a:txBody>
                    <a:bodyPr/>
                    <a:lstStyle/>
                    <a:p>
                      <a:r>
                        <a:rPr sz="1500" b="0">
                          <a:solidFill>
                            <a:srgbClr val="1F2937"/>
                          </a:solidFill>
                        </a:rPr>
                        <a:t>Faqat sitoplazma</a:t>
                      </a:r>
                    </a:p>
                  </a:txBody>
                  <a:tcPr marL="73152" marR="73152" marT="36576" marB="36576">
                    <a:solidFill>
                      <a:srgbClr val="E8EEF6"/>
                    </a:solidFill>
                  </a:tcPr>
                </a:tc>
                <a:tc>
                  <a:txBody>
                    <a:bodyPr/>
                    <a:lstStyle/>
                    <a:p>
                      <a:r>
                        <a:rPr sz="1500" b="0">
                          <a:solidFill>
                            <a:srgbClr val="1F2937"/>
                          </a:solidFill>
                        </a:rPr>
                        <a:t>Ba’zi ishlarda musbat hisoblangan</a:t>
                      </a:r>
                    </a:p>
                  </a:txBody>
                  <a:tcPr marL="73152" marR="73152" marT="36576" marB="36576">
                    <a:solidFill>
                      <a:srgbClr val="E8EEF6"/>
                    </a:solidFill>
                  </a:tcPr>
                </a:tc>
              </a:tr>
              <a:tr h="614476">
                <a:tc>
                  <a:txBody>
                    <a:bodyPr/>
                    <a:lstStyle/>
                    <a:p>
                      <a:r>
                        <a:rPr sz="1500" b="0">
                          <a:solidFill>
                            <a:srgbClr val="1F2937"/>
                          </a:solidFill>
                        </a:rPr>
                        <a:t>HER2</a:t>
                      </a:r>
                    </a:p>
                  </a:txBody>
                  <a:tcPr marL="73152" marR="73152" marT="36576" marB="36576">
                    <a:solidFill>
                      <a:srgbClr val="FFFFFF"/>
                    </a:solidFill>
                  </a:tcPr>
                </a:tc>
                <a:tc>
                  <a:txBody>
                    <a:bodyPr/>
                    <a:lstStyle/>
                    <a:p>
                      <a:r>
                        <a:rPr sz="1500" b="0">
                          <a:solidFill>
                            <a:srgbClr val="1F2937"/>
                          </a:solidFill>
                        </a:rPr>
                        <a:t>Hujayra membranasi</a:t>
                      </a:r>
                    </a:p>
                  </a:txBody>
                  <a:tcPr marL="73152" marR="73152" marT="36576" marB="36576">
                    <a:solidFill>
                      <a:srgbClr val="FFFFFF"/>
                    </a:solidFill>
                  </a:tcPr>
                </a:tc>
                <a:tc>
                  <a:txBody>
                    <a:bodyPr/>
                    <a:lstStyle/>
                    <a:p>
                      <a:r>
                        <a:rPr sz="1500" b="0">
                          <a:solidFill>
                            <a:srgbClr val="1F2937"/>
                          </a:solidFill>
                        </a:rPr>
                        <a:t>Gen amplifikatsiyasi bilan bog‘liq</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“Musbat” talqinidagi farqlar</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de Matos et al., Immunohistochemistry as an Important Tool in Biomarkers Detection and Clinical Practice, betlar: PMID 20212918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Joylashuv qoidasi va natijani tasdiqlash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Immunohistokimyoviy tekshiruvning asosiy tamoyillari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Antigenning joylashuvi ma’lum bo‘lsa, immunoreaktivlik naqshi uning mikroanatomik yoki hujayra ichidagi taqsimotiga mos kelishi kerak.</a:t>
            </a:r>
          </a:p>
          <a:p>
            <a:pPr>
              <a:spcAft>
                <a:spcPts val="1200"/>
              </a:spcAft>
            </a:pPr>
            <a:r>
              <a:rPr sz="2200">
                <a:solidFill>
                  <a:srgbClr val="1F2937"/>
                </a:solidFill>
                <a:latin typeface="Calibri"/>
              </a:rPr>
              <a:t>▸  Sitoplazmatik pufakchalardagi molekulalar (xromogranin, von Willebrand omili, HMB-45) donador intrasitoplazmatik bo‘yalish beradi.</a:t>
            </a:r>
          </a:p>
          <a:p>
            <a:pPr>
              <a:spcAft>
                <a:spcPts val="1200"/>
              </a:spcAft>
            </a:pPr>
            <a:r>
              <a:rPr sz="2200">
                <a:solidFill>
                  <a:srgbClr val="1F2937"/>
                </a:solidFill>
                <a:latin typeface="Calibri"/>
              </a:rPr>
              <a:t>▸  Bo‘yalish kutilganidek bo‘lmasa, ko‘pchilik buni soxta musbat deydi; lekin molekulaning hali tavsiflanmagan vazifasi ham bo‘lishi mumkin.</a:t>
            </a:r>
          </a:p>
          <a:p>
            <a:pPr>
              <a:spcAft>
                <a:spcPts val="1200"/>
              </a:spcAft>
            </a:pPr>
            <a:r>
              <a:rPr sz="2200">
                <a:solidFill>
                  <a:srgbClr val="1F2937"/>
                </a:solidFill>
                <a:latin typeface="Calibri"/>
              </a:rPr>
              <a:t>▸  Shubhali holatda bir molekulaning boshqa epitoplariga antikorlar yoki bog‘liq markerlar (sinaptofizin va xromogranin) bilan natija tasdiqlanadi.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de Matos et al., Immunohistochemistry as an Important Tool in Biomarkers Detection and Clinical Practice, betlar: PMID 20212918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talqin bo‘limi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Immunohistokimyoviy tekshiruvning asosiy tamoyillari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HER2 ga qarshi antikor bilan preparat jigarrang bo‘yaldi, ammo bo‘yalish faqat sitoplazmada, membranada yo‘q.</a:t>
            </a:r>
          </a:p>
          <a:p>
            <a:pPr>
              <a:spcAft>
                <a:spcPts val="1200"/>
              </a:spcAft>
            </a:pPr>
            <a:r>
              <a:rPr sz="2200">
                <a:solidFill>
                  <a:srgbClr val="1F2937"/>
                </a:solidFill>
                <a:latin typeface="Calibri"/>
              </a:rPr>
              <a:t>▸  Savol: bu natijani musbat deyish mumkinmi va nega klinik-morfologik kontekst kerak?</a:t>
            </a:r>
          </a:p>
          <a:p>
            <a:pPr>
              <a:spcAft>
                <a:spcPts val="1200"/>
              </a:spcAft>
            </a:pPr>
            <a:r>
              <a:rPr sz="2200">
                <a:solidFill>
                  <a:srgbClr val="1F2937"/>
                </a:solidFill>
                <a:latin typeface="Calibri"/>
              </a:rPr>
              <a:t>▸  Yo‘nalish: bo‘yalish bor, lekin gen amplifikatsiyasi bilan faqat membranali bo‘yalish bog‘liq. Turli bo‘limlardagi ekspressiya turli vazifani bildirishi mumkin.</a:t>
            </a:r>
          </a:p>
          <a:p>
            <a:pPr>
              <a:spcAft>
                <a:spcPts val="1200"/>
              </a:spcAft>
            </a:pPr>
            <a:r>
              <a:rPr sz="2200">
                <a:solidFill>
                  <a:srgbClr val="1F2937"/>
                </a:solidFill>
                <a:latin typeface="Calibri"/>
              </a:rPr>
              <a:t>▸  Xulosa: jigarrang bo‘yalishni musbat deb qayd eting, so‘ng molekula vazifasi va klinik-morfologik kontekstda talqin qiling.</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de Matos et al., Immunohistochemistry as an Important Tool in Biomarkers Detection and Clinical Practice, betlar: PMID 20212918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IHK va ELISA: umumiy tamoyil</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Immunohistokimyoviy tekshiruvning asosiy tamoyillari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IHK (immunohistokimyo) to‘qima kesmasida joyida o‘tkaziladigan immunologik testdir.</a:t>
            </a:r>
          </a:p>
          <a:p>
            <a:pPr>
              <a:spcAft>
                <a:spcPts val="800"/>
              </a:spcAft>
            </a:pPr>
            <a:r>
              <a:rPr sz="1800">
                <a:solidFill>
                  <a:srgbClr val="1F2937"/>
                </a:solidFill>
                <a:latin typeface="Calibri"/>
              </a:rPr>
              <a:t>▸  ELISA (ferment bog‘langan immunosorbent tahlil) reagentlari parafin kesmada IHK uchun ham ishlaydi.</a:t>
            </a:r>
          </a:p>
          <a:p>
            <a:pPr>
              <a:spcAft>
                <a:spcPts val="800"/>
              </a:spcAft>
            </a:pPr>
            <a:r>
              <a:rPr sz="1800">
                <a:solidFill>
                  <a:srgbClr val="1F2937"/>
                </a:solidFill>
                <a:latin typeface="Calibri"/>
              </a:rPr>
              <a:t>▸  IHK miqdoriy bahosi Western blot va immunoferment usullari bilan statistik bog‘liq.</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ELISA</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Namuna: zardob</a:t>
            </a:r>
          </a:p>
          <a:p>
            <a:pPr algn="l">
              <a:spcAft>
                <a:spcPts val="700"/>
              </a:spcAft>
            </a:pPr>
            <a:r>
              <a:rPr sz="1500" b="1">
                <a:solidFill>
                  <a:srgbClr val="C9A227"/>
                </a:solidFill>
                <a:latin typeface="Calibri"/>
              </a:rPr>
              <a:t>●  </a:t>
            </a:r>
            <a:r>
              <a:rPr sz="1500" b="0">
                <a:solidFill>
                  <a:srgbClr val="1F2937"/>
                </a:solidFill>
                <a:latin typeface="Calibri"/>
              </a:rPr>
              <a:t>Bir xil reagentlar</a:t>
            </a:r>
          </a:p>
          <a:p>
            <a:pPr algn="l">
              <a:spcAft>
                <a:spcPts val="700"/>
              </a:spcAft>
            </a:pPr>
            <a:r>
              <a:rPr sz="1500" b="1">
                <a:solidFill>
                  <a:srgbClr val="C9A227"/>
                </a:solidFill>
                <a:latin typeface="Calibri"/>
              </a:rPr>
              <a:t>●  </a:t>
            </a:r>
            <a:r>
              <a:rPr sz="1500" b="0">
                <a:solidFill>
                  <a:srgbClr val="1F2937"/>
                </a:solidFill>
                <a:latin typeface="Calibri"/>
              </a:rPr>
              <a:t>Miqdoriy deb tan olingan</a:t>
            </a:r>
          </a:p>
          <a:p>
            <a:pPr algn="l">
              <a:spcAft>
                <a:spcPts val="700"/>
              </a:spcAft>
            </a:pPr>
            <a:r>
              <a:rPr sz="1500" b="1">
                <a:solidFill>
                  <a:srgbClr val="C9A227"/>
                </a:solidFill>
                <a:latin typeface="Calibri"/>
              </a:rPr>
              <a:t>●  </a:t>
            </a:r>
            <a:r>
              <a:rPr sz="1500" b="0">
                <a:solidFill>
                  <a:srgbClr val="1F2937"/>
                </a:solidFill>
                <a:latin typeface="Calibri"/>
              </a:rPr>
              <a:t>Keng e’tirof etilgan</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IHK</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Namuna: parafin blokdagi kesma</a:t>
            </a:r>
          </a:p>
          <a:p>
            <a:pPr algn="l">
              <a:spcAft>
                <a:spcPts val="700"/>
              </a:spcAft>
            </a:pPr>
            <a:r>
              <a:rPr sz="1500" b="1">
                <a:solidFill>
                  <a:srgbClr val="C9A227"/>
                </a:solidFill>
                <a:latin typeface="Calibri"/>
              </a:rPr>
              <a:t>●  </a:t>
            </a:r>
            <a:r>
              <a:rPr sz="1500" b="0">
                <a:solidFill>
                  <a:srgbClr val="1F2937"/>
                </a:solidFill>
                <a:latin typeface="Calibri"/>
              </a:rPr>
              <a:t>Bir xil reagentlar</a:t>
            </a:r>
          </a:p>
          <a:p>
            <a:pPr algn="l">
              <a:spcAft>
                <a:spcPts val="700"/>
              </a:spcAft>
            </a:pPr>
            <a:r>
              <a:rPr sz="1500" b="1">
                <a:solidFill>
                  <a:srgbClr val="C9A227"/>
                </a:solidFill>
                <a:latin typeface="Calibri"/>
              </a:rPr>
              <a:t>●  </a:t>
            </a:r>
            <a:r>
              <a:rPr sz="1500" b="0">
                <a:solidFill>
                  <a:srgbClr val="1F2937"/>
                </a:solidFill>
                <a:latin typeface="Calibri"/>
              </a:rPr>
              <a:t>Ko‘pincha shunchaki “bo‘yalish”</a:t>
            </a:r>
          </a:p>
          <a:p>
            <a:pPr algn="l">
              <a:spcAft>
                <a:spcPts val="700"/>
              </a:spcAft>
            </a:pPr>
            <a:r>
              <a:rPr sz="1500" b="1">
                <a:solidFill>
                  <a:srgbClr val="C9A227"/>
                </a:solidFill>
                <a:latin typeface="Calibri"/>
              </a:rPr>
              <a:t>●  </a:t>
            </a:r>
            <a:r>
              <a:rPr sz="1500" b="0">
                <a:solidFill>
                  <a:srgbClr val="1F2937"/>
                </a:solidFill>
                <a:latin typeface="Calibri"/>
              </a:rPr>
              <a:t>Western blot bilan bog‘liq</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IHK va ELISA taqqosi</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de Matos et al., Immunohistochemistry as an Important Tool in Biomarkers Detection and Clinical Practice, betlar: PMID 20212918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Yarim miqdoriy tahlil</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Immunohistokimyoviy tekshiruvning asosiy tamoyillari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43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Intensivlik darajalari (nol, kuchsiz, o‘rtacha, kuchli) tajribaga bog‘liq, shuning uchun nomaqbul.</a:t>
            </a:r>
          </a:p>
          <a:p>
            <a:pPr>
              <a:spcAft>
                <a:spcPts val="800"/>
              </a:spcAft>
            </a:pPr>
            <a:r>
              <a:rPr sz="1800">
                <a:solidFill>
                  <a:srgbClr val="1F2937"/>
                </a:solidFill>
                <a:latin typeface="Calibri"/>
              </a:rPr>
              <a:t>▸  Tarqalish — bo‘yalgan hujayralar foizi; Ki67, p53, p21 sanog‘ida takrorlanuvchanlik past.</a:t>
            </a:r>
          </a:p>
          <a:p>
            <a:pPr>
              <a:spcAft>
                <a:spcPts val="800"/>
              </a:spcAft>
            </a:pPr>
            <a:r>
              <a:rPr sz="1800">
                <a:solidFill>
                  <a:srgbClr val="1F2937"/>
                </a:solidFill>
                <a:latin typeface="Calibri"/>
              </a:rPr>
              <a:t>▸  Ball tizimlari farqni kamaytirish uchun kiritilgan, lekin mehnat talab qiladi va charchatadi.</a:t>
            </a:r>
          </a:p>
        </p:txBody>
      </p:sp>
      <p:graphicFrame>
        <p:nvGraphicFramePr>
          <p:cNvPr id="9" name="Table 8"/>
          <p:cNvGraphicFramePr>
            <a:graphicFrameLocks noGrp="1"/>
          </p:cNvGraphicFramePr>
          <p:nvPr/>
        </p:nvGraphicFramePr>
        <p:xfrm>
          <a:off x="6263640" y="1463040"/>
          <a:ext cx="7555229" cy="3072380"/>
        </p:xfrm>
        <a:graphic>
          <a:graphicData uri="http://schemas.openxmlformats.org/drawingml/2006/table">
            <a:tbl>
              <a:tblPr firstRow="1" bandRow="1">
                <a:tableStyleId>{5C22544A-7EE6-4342-B048-85BDC9FD1C3A}</a:tableStyleId>
              </a:tblPr>
              <a:tblGrid>
                <a:gridCol w="1573530"/>
                <a:gridCol w="3463289"/>
                <a:gridCol w="2518410"/>
              </a:tblGrid>
              <a:tr h="614476">
                <a:tc>
                  <a:txBody>
                    <a:bodyPr/>
                    <a:lstStyle/>
                    <a:p>
                      <a:r>
                        <a:rPr sz="1600" b="1">
                          <a:solidFill>
                            <a:srgbClr val="FFFFFF"/>
                          </a:solidFill>
                        </a:rPr>
                        <a:t>Mezon</a:t>
                      </a:r>
                    </a:p>
                  </a:txBody>
                  <a:tcPr marL="73152" marR="73152" marT="36576" marB="36576">
                    <a:solidFill>
                      <a:srgbClr val="0B1F3A"/>
                    </a:solidFill>
                  </a:tcPr>
                </a:tc>
                <a:tc>
                  <a:txBody>
                    <a:bodyPr/>
                    <a:lstStyle/>
                    <a:p>
                      <a:r>
                        <a:rPr sz="1600" b="1">
                          <a:solidFill>
                            <a:srgbClr val="FFFFFF"/>
                          </a:solidFill>
                        </a:rPr>
                        <a:t>Nimani baholaydi</a:t>
                      </a:r>
                    </a:p>
                  </a:txBody>
                  <a:tcPr marL="73152" marR="73152" marT="36576" marB="36576">
                    <a:solidFill>
                      <a:srgbClr val="0B1F3A"/>
                    </a:solidFill>
                  </a:tcPr>
                </a:tc>
                <a:tc>
                  <a:txBody>
                    <a:bodyPr/>
                    <a:lstStyle/>
                    <a:p>
                      <a:r>
                        <a:rPr sz="1600" b="1">
                          <a:solidFill>
                            <a:srgbClr val="FFFFFF"/>
                          </a:solidFill>
                        </a:rPr>
                        <a:t>Cheklov</a:t>
                      </a:r>
                    </a:p>
                  </a:txBody>
                  <a:tcPr marL="73152" marR="73152" marT="36576" marB="36576">
                    <a:solidFill>
                      <a:srgbClr val="0B1F3A"/>
                    </a:solidFill>
                  </a:tcPr>
                </a:tc>
              </a:tr>
              <a:tr h="614476">
                <a:tc>
                  <a:txBody>
                    <a:bodyPr/>
                    <a:lstStyle/>
                    <a:p>
                      <a:r>
                        <a:rPr sz="1500" b="0">
                          <a:solidFill>
                            <a:srgbClr val="1F2937"/>
                          </a:solidFill>
                        </a:rPr>
                        <a:t>Intensivlik</a:t>
                      </a:r>
                    </a:p>
                  </a:txBody>
                  <a:tcPr marL="73152" marR="73152" marT="36576" marB="36576">
                    <a:solidFill>
                      <a:srgbClr val="E8EEF6"/>
                    </a:solidFill>
                  </a:tcPr>
                </a:tc>
                <a:tc>
                  <a:txBody>
                    <a:bodyPr/>
                    <a:lstStyle/>
                    <a:p>
                      <a:r>
                        <a:rPr sz="1500" b="0">
                          <a:solidFill>
                            <a:srgbClr val="1F2937"/>
                          </a:solidFill>
                        </a:rPr>
                        <a:t>Nol/kuchsiz/o‘rtacha/kuchli</a:t>
                      </a:r>
                    </a:p>
                  </a:txBody>
                  <a:tcPr marL="73152" marR="73152" marT="36576" marB="36576">
                    <a:solidFill>
                      <a:srgbClr val="E8EEF6"/>
                    </a:solidFill>
                  </a:tcPr>
                </a:tc>
                <a:tc>
                  <a:txBody>
                    <a:bodyPr/>
                    <a:lstStyle/>
                    <a:p>
                      <a:r>
                        <a:rPr sz="1500" b="0">
                          <a:solidFill>
                            <a:srgbClr val="1F2937"/>
                          </a:solidFill>
                        </a:rPr>
                        <a:t>Tajribaga bog‘liq, subyektiv</a:t>
                      </a:r>
                    </a:p>
                  </a:txBody>
                  <a:tcPr marL="73152" marR="73152" marT="36576" marB="36576">
                    <a:solidFill>
                      <a:srgbClr val="E8EEF6"/>
                    </a:solidFill>
                  </a:tcPr>
                </a:tc>
              </a:tr>
              <a:tr h="614476">
                <a:tc>
                  <a:txBody>
                    <a:bodyPr/>
                    <a:lstStyle/>
                    <a:p>
                      <a:r>
                        <a:rPr sz="1500" b="0">
                          <a:solidFill>
                            <a:srgbClr val="1F2937"/>
                          </a:solidFill>
                        </a:rPr>
                        <a:t>Tarqalish</a:t>
                      </a:r>
                    </a:p>
                  </a:txBody>
                  <a:tcPr marL="73152" marR="73152" marT="36576" marB="36576">
                    <a:solidFill>
                      <a:srgbClr val="FFFFFF"/>
                    </a:solidFill>
                  </a:tcPr>
                </a:tc>
                <a:tc>
                  <a:txBody>
                    <a:bodyPr/>
                    <a:lstStyle/>
                    <a:p>
                      <a:r>
                        <a:rPr sz="1500" b="0">
                          <a:solidFill>
                            <a:srgbClr val="1F2937"/>
                          </a:solidFill>
                        </a:rPr>
                        <a:t>Bo‘yalgan hujayralar foizi</a:t>
                      </a:r>
                    </a:p>
                  </a:txBody>
                  <a:tcPr marL="73152" marR="73152" marT="36576" marB="36576">
                    <a:solidFill>
                      <a:srgbClr val="FFFFFF"/>
                    </a:solidFill>
                  </a:tcPr>
                </a:tc>
                <a:tc>
                  <a:txBody>
                    <a:bodyPr/>
                    <a:lstStyle/>
                    <a:p>
                      <a:r>
                        <a:rPr sz="1500" b="0">
                          <a:solidFill>
                            <a:srgbClr val="1F2937"/>
                          </a:solidFill>
                        </a:rPr>
                        <a:t>Sanash “ko‘z bilan” ham bo‘lishi mumkin</a:t>
                      </a:r>
                    </a:p>
                  </a:txBody>
                  <a:tcPr marL="73152" marR="73152" marT="36576" marB="36576">
                    <a:solidFill>
                      <a:srgbClr val="FFFFFF"/>
                    </a:solidFill>
                  </a:tcPr>
                </a:tc>
              </a:tr>
              <a:tr h="614476">
                <a:tc>
                  <a:txBody>
                    <a:bodyPr/>
                    <a:lstStyle/>
                    <a:p>
                      <a:r>
                        <a:rPr sz="1500" b="0">
                          <a:solidFill>
                            <a:srgbClr val="1F2937"/>
                          </a:solidFill>
                        </a:rPr>
                        <a:t>Ki67, p53, p21</a:t>
                      </a:r>
                    </a:p>
                  </a:txBody>
                  <a:tcPr marL="73152" marR="73152" marT="36576" marB="36576">
                    <a:solidFill>
                      <a:srgbClr val="E8EEF6"/>
                    </a:solidFill>
                  </a:tcPr>
                </a:tc>
                <a:tc>
                  <a:txBody>
                    <a:bodyPr/>
                    <a:lstStyle/>
                    <a:p>
                      <a:r>
                        <a:rPr sz="1500" b="0">
                          <a:solidFill>
                            <a:srgbClr val="1F2937"/>
                          </a:solidFill>
                        </a:rPr>
                        <a:t>Hujayra sikli ko‘rsatkichlari</a:t>
                      </a:r>
                    </a:p>
                  </a:txBody>
                  <a:tcPr marL="73152" marR="73152" marT="36576" marB="36576">
                    <a:solidFill>
                      <a:srgbClr val="E8EEF6"/>
                    </a:solidFill>
                  </a:tcPr>
                </a:tc>
                <a:tc>
                  <a:txBody>
                    <a:bodyPr/>
                    <a:lstStyle/>
                    <a:p>
                      <a:r>
                        <a:rPr sz="1500" b="0">
                          <a:solidFill>
                            <a:srgbClr val="1F2937"/>
                          </a:solidFill>
                        </a:rPr>
                        <a:t>Takrorlanuvchanligi past</a:t>
                      </a:r>
                    </a:p>
                  </a:txBody>
                  <a:tcPr marL="73152" marR="73152" marT="36576" marB="36576">
                    <a:solidFill>
                      <a:srgbClr val="E8EEF6"/>
                    </a:solidFill>
                  </a:tcPr>
                </a:tc>
              </a:tr>
              <a:tr h="614476">
                <a:tc>
                  <a:txBody>
                    <a:bodyPr/>
                    <a:lstStyle/>
                    <a:p>
                      <a:r>
                        <a:rPr sz="1500" b="0">
                          <a:solidFill>
                            <a:srgbClr val="1F2937"/>
                          </a:solidFill>
                        </a:rPr>
                        <a:t>Ball tizimi</a:t>
                      </a:r>
                    </a:p>
                  </a:txBody>
                  <a:tcPr marL="73152" marR="73152" marT="36576" marB="36576">
                    <a:solidFill>
                      <a:srgbClr val="FFFFFF"/>
                    </a:solidFill>
                  </a:tcPr>
                </a:tc>
                <a:tc>
                  <a:txBody>
                    <a:bodyPr/>
                    <a:lstStyle/>
                    <a:p>
                      <a:r>
                        <a:rPr sz="1500" b="0">
                          <a:solidFill>
                            <a:srgbClr val="1F2937"/>
                          </a:solidFill>
                        </a:rPr>
                        <a:t>Davolash uchun bemor tanlash</a:t>
                      </a:r>
                    </a:p>
                  </a:txBody>
                  <a:tcPr marL="73152" marR="73152" marT="36576" marB="36576">
                    <a:solidFill>
                      <a:srgbClr val="FFFFFF"/>
                    </a:solidFill>
                  </a:tcPr>
                </a:tc>
                <a:tc>
                  <a:txBody>
                    <a:bodyPr/>
                    <a:lstStyle/>
                    <a:p>
                      <a:r>
                        <a:rPr sz="1500" b="0">
                          <a:solidFill>
                            <a:srgbClr val="1F2937"/>
                          </a:solidFill>
                        </a:rPr>
                        <a:t>Mehnat talab, charchatadi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Yarim miqdoriy mezonlar</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de Matos et al., Immunohistochemistry as an Important Tool in Biomarkers Detection and Clinical Practice, betlar: PMID 20212918</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Kompyuter tahlili va istiqbollar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Immunohistokimyoviy tekshiruvning asosiy tamoyillari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Kompyuter yordamidagi rasm tahlili 1980-yillardan qo‘llanadi va ko‘pgina markerlarda yarim miqdoriy usuldan aniqroq natija beradi.</a:t>
            </a:r>
          </a:p>
          <a:p>
            <a:pPr>
              <a:spcAft>
                <a:spcPts val="1200"/>
              </a:spcAft>
            </a:pPr>
            <a:r>
              <a:rPr sz="2200">
                <a:solidFill>
                  <a:srgbClr val="1F2937"/>
                </a:solidFill>
                <a:latin typeface="Calibri"/>
              </a:rPr>
              <a:t>▸  Nazorat sharoitida tizim ko‘p kuzatuvchining qo‘l usulidan ustun chiqqan va ball tizimlarining takrorlanuvchanlik muammosini hal qiladi.</a:t>
            </a:r>
          </a:p>
          <a:p>
            <a:pPr>
              <a:spcAft>
                <a:spcPts val="1200"/>
              </a:spcAft>
            </a:pPr>
            <a:r>
              <a:rPr sz="2200">
                <a:solidFill>
                  <a:srgbClr val="1F2937"/>
                </a:solidFill>
                <a:latin typeface="Calibri"/>
              </a:rPr>
              <a:t>▸  Kelajak: bir bosqichli reaksiya (EPOS) inkubatsiya bosqichlarini kamaytiradi; yarim avtomatik apparatlar va mikroarray texnologiyasi ham ishlab chiqilgan.</a:t>
            </a:r>
          </a:p>
          <a:p>
            <a:pPr>
              <a:spcAft>
                <a:spcPts val="1200"/>
              </a:spcAft>
            </a:pPr>
            <a:r>
              <a:rPr sz="2200">
                <a:solidFill>
                  <a:srgbClr val="1F2937"/>
                </a:solidFill>
                <a:latin typeface="Calibri"/>
              </a:rPr>
              <a:t>▸  Patolog va klinitsist bir tilda gaplashib, bilimlarini birlashtirishi bemor foydasi uchun muhim.</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de Matos et al., Immunohistochemistry as an Important Tool in Biomarkers Detection and Clinical Practice, betlar: PMID 20212918</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3</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Immunohistokimyoviy tekshiruvning asosiy tamoyillari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1-savol: IHK da “musbat” natija odatda nimani bildiradi? Javob: to‘qimaning biror qismida jigarrang (peroksidaza) bo‘yalish borligini.</a:t>
            </a:r>
          </a:p>
          <a:p>
            <a:pPr>
              <a:spcAft>
                <a:spcPts val="1200"/>
              </a:spcAft>
            </a:pPr>
            <a:r>
              <a:rPr sz="2200">
                <a:solidFill>
                  <a:srgbClr val="1F2937"/>
                </a:solidFill>
                <a:latin typeface="Calibri"/>
              </a:rPr>
              <a:t>▸  2-savol: HER2 da qaysi bo‘yalish gen amplifikatsiyasi bilan bog‘liq? Javob: faqat hujayra membranasi bo‘yalishi. Diqqat: sitoplazma ≠ membrana.</a:t>
            </a:r>
          </a:p>
          <a:p>
            <a:pPr>
              <a:spcAft>
                <a:spcPts val="1200"/>
              </a:spcAft>
            </a:pPr>
            <a:r>
              <a:rPr sz="2200">
                <a:solidFill>
                  <a:srgbClr val="1F2937"/>
                </a:solidFill>
                <a:latin typeface="Calibri"/>
              </a:rPr>
              <a:t>▸  3-savol: IHK qaysi tahlilga o‘xshaydi? Javob: ELISA (ferment bog‘langan immunosorbent tahlil): reagentlar va immunologik tamoyil bir xil.</a:t>
            </a:r>
          </a:p>
          <a:p>
            <a:pPr>
              <a:spcAft>
                <a:spcPts val="1200"/>
              </a:spcAft>
            </a:pPr>
            <a:r>
              <a:rPr sz="2200">
                <a:solidFill>
                  <a:srgbClr val="1F2937"/>
                </a:solidFill>
                <a:latin typeface="Calibri"/>
              </a:rPr>
              <a:t>▸  4-savol: Yarim miqdoriy ballardan nima ustun? Javob: kompyuter yordamidagi tasvir tahlili; nazoratli sharoitda ko‘p kuzatuvchining qo‘lda tahlilidan ham yaxshi.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de Matos et al., Immunohistochemistry as an Important Tool in Biomarkers Detection and Clinical Practice, betlar: PMID 20212918</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FOXO3a: oila va miyadagi roli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Immunohistokimyoviy tekshiruvning asosiy tamoyillari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FOXO transkripsiya omillari proliferatsiya, differensiatsiya, metabolizm, oksidlovchi stress va hujayra umrini boshqaradi.</a:t>
            </a:r>
          </a:p>
          <a:p>
            <a:pPr>
              <a:spcAft>
                <a:spcPts val="800"/>
              </a:spcAft>
            </a:pPr>
            <a:r>
              <a:rPr sz="1800">
                <a:solidFill>
                  <a:srgbClr val="1F2937"/>
                </a:solidFill>
                <a:latin typeface="Calibri"/>
              </a:rPr>
              <a:t>▸  FOXO3a miyada, ayniqsa gippokamp, miya po‘stlog‘i va miyachada ko‘p ifodalanadi.</a:t>
            </a:r>
          </a:p>
          <a:p>
            <a:pPr>
              <a:spcAft>
                <a:spcPts val="800"/>
              </a:spcAft>
            </a:pPr>
            <a:r>
              <a:rPr sz="1800">
                <a:solidFill>
                  <a:srgbClr val="1F2937"/>
                </a:solidFill>
                <a:latin typeface="Calibri"/>
              </a:rPr>
              <a:t>▸  Yetuk neyronlarda FOXO lar ROS yo‘llari, neyroyallig‘lanish, apoptoz va autofagiyani tartiblaydi.</a:t>
            </a:r>
          </a:p>
          <a:p>
            <a:pPr>
              <a:spcAft>
                <a:spcPts val="800"/>
              </a:spcAft>
            </a:pPr>
            <a:r>
              <a:rPr sz="1800">
                <a:solidFill>
                  <a:srgbClr val="1F2937"/>
                </a:solidFill>
                <a:latin typeface="Calibri"/>
              </a:rPr>
              <a:t>▸  FOXO3a ishemik shikastga qarshi neyroprotektiv; TBIda uning darajasi oshadi va shikast og‘irligi bilan bog‘liq.</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FOXO3a</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Oila</a:t>
            </a:r>
          </a:p>
          <a:p>
            <a:pPr algn="l">
              <a:spcAft>
                <a:spcPts val="0"/>
              </a:spcAft>
            </a:pPr>
            <a:r>
              <a:rPr sz="1200" b="0">
                <a:solidFill>
                  <a:srgbClr val="1F2937"/>
                </a:solidFill>
                <a:latin typeface="Calibri"/>
              </a:rPr>
              <a:t>FOXO transkripsiya omillari  ·  Hamma sutemizuvchilarda</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Joylashuvi</a:t>
            </a:r>
          </a:p>
          <a:p>
            <a:pPr algn="l">
              <a:spcAft>
                <a:spcPts val="0"/>
              </a:spcAft>
            </a:pPr>
            <a:r>
              <a:rPr sz="1200" b="0">
                <a:solidFill>
                  <a:srgbClr val="1F2937"/>
                </a:solidFill>
                <a:latin typeface="Calibri"/>
              </a:rPr>
              <a:t>Gippokamp, po‘stloq  ·  Miyacha</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Vazifasi</a:t>
            </a:r>
          </a:p>
          <a:p>
            <a:pPr algn="l">
              <a:spcAft>
                <a:spcPts val="0"/>
              </a:spcAft>
            </a:pPr>
            <a:r>
              <a:rPr sz="1200" b="0">
                <a:solidFill>
                  <a:srgbClr val="1F2937"/>
                </a:solidFill>
                <a:latin typeface="Calibri"/>
              </a:rPr>
              <a:t>ROS, apoptoz, autofagiya  ·  Neyroyallig‘lanish</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TBIda</a:t>
            </a:r>
          </a:p>
          <a:p>
            <a:pPr algn="l">
              <a:spcAft>
                <a:spcPts val="0"/>
              </a:spcAft>
            </a:pPr>
            <a:r>
              <a:rPr sz="1200" b="0">
                <a:solidFill>
                  <a:srgbClr val="1F2937"/>
                </a:solidFill>
                <a:latin typeface="Calibri"/>
              </a:rPr>
              <a:t>Darajasi oshadi  ·  Shikast og‘irligi bilan bog‘liq</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FOXO3a haqida</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Maiese et al., The Expression of FOXO3a as a Forensic Diagnostic Tool in Cases of Traumatic Brain Injury: An Immunohistochemical Study, betlar: PMID 36768906, 1. Introduction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Sud-tibbiyot: TBI va FOXO3a mohiyati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Immunohistokimyoviy tekshiruvning asosiy tamoyillari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43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Bosh miya jarohati (TBI) — boshga tashqi kuch ta’sirida miya faoliyati buzilishi yoki miya patologiyasi belgilari.</a:t>
            </a:r>
          </a:p>
          <a:p>
            <a:pPr>
              <a:spcAft>
                <a:spcPts val="800"/>
              </a:spcAft>
            </a:pPr>
            <a:r>
              <a:rPr sz="1800">
                <a:solidFill>
                  <a:srgbClr val="1F2937"/>
                </a:solidFill>
                <a:latin typeface="Calibri"/>
              </a:rPr>
              <a:t>▸  Birlamchi zarar darhol, ikkilamchi zarar kun-haftalarda: ishemiya, oksidlovchi stress, apoptoz.</a:t>
            </a:r>
          </a:p>
          <a:p>
            <a:pPr>
              <a:spcAft>
                <a:spcPts val="800"/>
              </a:spcAft>
            </a:pPr>
            <a:r>
              <a:rPr sz="1800">
                <a:solidFill>
                  <a:srgbClr val="1F2937"/>
                </a:solidFill>
                <a:latin typeface="Calibri"/>
              </a:rPr>
              <a:t>▸  FOXO3a transkripsiya omili: apoptoz, neyroyallig‘lanish va oksidlovchi stressga javobni boshqaradi.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Tashqi kuch (travma)</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Birlamchi zarar (darhol)</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Ikkilamchi zarar (ishemiya)</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FOXO3a faollashuvi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Apoptoz, yallig‘lanish</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TBI dan FOXO3a gacha</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Maiese et al., The Expression of FOXO3a as a Forensic Diagnostic Tool in Cases of Traumatic Brain Injury: An Immunohistochemical Study, betlar: PMID 36768906</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Birlamchi va ikkilamchi TBI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Immunohistokimyoviy tekshiruvning asosiy tamoyillari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Birlamchi shikast tashqi kuch (to‘g‘ridan-to‘g‘ri zarba, tezlanish/sekinlanish, kirib boruvchi jarohat, zarba to‘lqini) ta’siridan darhol hosil bo‘ladi.</a:t>
            </a:r>
          </a:p>
          <a:p>
            <a:pPr>
              <a:spcAft>
                <a:spcPts val="800"/>
              </a:spcAft>
            </a:pPr>
            <a:r>
              <a:rPr sz="1600">
                <a:solidFill>
                  <a:srgbClr val="1F2937"/>
                </a:solidFill>
                <a:latin typeface="Calibri"/>
              </a:rPr>
              <a:t>▸  Ikkilamchi shikast birlamchidan keyingi hujayra yallig‘lanish javobi tufayli kun-haftalarda rivojlanadi (ishemiya, oksidlovchi stress, apoptoz).</a:t>
            </a:r>
          </a:p>
          <a:p>
            <a:pPr>
              <a:spcAft>
                <a:spcPts val="800"/>
              </a:spcAft>
            </a:pPr>
            <a:r>
              <a:rPr sz="1600">
                <a:solidFill>
                  <a:srgbClr val="1F2937"/>
                </a:solidFill>
                <a:latin typeface="Calibri"/>
              </a:rPr>
              <a:t>▸  Bu ajratish faqat o‘quv maqsadida: ikkalasi ko‘pincha birga uchraydi, ammo davolash protokollarini belgilashga yordam beradi.</a:t>
            </a:r>
          </a:p>
          <a:p>
            <a:pPr>
              <a:spcAft>
                <a:spcPts val="800"/>
              </a:spcAft>
            </a:pPr>
            <a:r>
              <a:rPr sz="1600">
                <a:solidFill>
                  <a:srgbClr val="1F2937"/>
                </a:solidFill>
                <a:latin typeface="Calibri"/>
              </a:rPr>
              <a:t>▸  Birlamchi shikast (masalan, gematoma) ko‘pincha jarrohlik yo‘li bilan, ikkilamchida esa hujayra zarari yo‘llarini erta aniqlash va oldini olish maqsad.</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Birlamchi shikast</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Zarba, tezlanish, kirib borish</a:t>
            </a:r>
          </a:p>
          <a:p>
            <a:pPr algn="l">
              <a:spcAft>
                <a:spcPts val="700"/>
              </a:spcAft>
            </a:pPr>
            <a:r>
              <a:rPr sz="1500" b="1">
                <a:solidFill>
                  <a:srgbClr val="C9A227"/>
                </a:solidFill>
                <a:latin typeface="Calibri"/>
              </a:rPr>
              <a:t>●  </a:t>
            </a:r>
            <a:r>
              <a:rPr sz="1500" b="0">
                <a:solidFill>
                  <a:srgbClr val="1F2937"/>
                </a:solidFill>
                <a:latin typeface="Calibri"/>
              </a:rPr>
              <a:t>Darhol yuz beradi</a:t>
            </a:r>
          </a:p>
          <a:p>
            <a:pPr algn="l">
              <a:spcAft>
                <a:spcPts val="700"/>
              </a:spcAft>
            </a:pPr>
            <a:r>
              <a:rPr sz="1500" b="1">
                <a:solidFill>
                  <a:srgbClr val="C9A227"/>
                </a:solidFill>
                <a:latin typeface="Calibri"/>
              </a:rPr>
              <a:t>●  </a:t>
            </a:r>
            <a:r>
              <a:rPr sz="1500" b="0">
                <a:solidFill>
                  <a:srgbClr val="1F2937"/>
                </a:solidFill>
                <a:latin typeface="Calibri"/>
              </a:rPr>
              <a:t>Ko‘pincha jarrohlik davo</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Ikkilamchi shikast</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Hujayra yallig‘lanish javobi</a:t>
            </a:r>
          </a:p>
          <a:p>
            <a:pPr algn="l">
              <a:spcAft>
                <a:spcPts val="700"/>
              </a:spcAft>
            </a:pPr>
            <a:r>
              <a:rPr sz="1500" b="1">
                <a:solidFill>
                  <a:srgbClr val="C9A227"/>
                </a:solidFill>
                <a:latin typeface="Calibri"/>
              </a:rPr>
              <a:t>●  </a:t>
            </a:r>
            <a:r>
              <a:rPr sz="1500" b="0">
                <a:solidFill>
                  <a:srgbClr val="1F2937"/>
                </a:solidFill>
                <a:latin typeface="Calibri"/>
              </a:rPr>
              <a:t>Kun–haftalarda: ishemiya, apoptoz</a:t>
            </a:r>
          </a:p>
          <a:p>
            <a:pPr algn="l">
              <a:spcAft>
                <a:spcPts val="700"/>
              </a:spcAft>
            </a:pPr>
            <a:r>
              <a:rPr sz="1500" b="1">
                <a:solidFill>
                  <a:srgbClr val="C9A227"/>
                </a:solidFill>
                <a:latin typeface="Calibri"/>
              </a:rPr>
              <a:t>●  </a:t>
            </a:r>
            <a:r>
              <a:rPr sz="1500" b="0">
                <a:solidFill>
                  <a:srgbClr val="1F2937"/>
                </a:solidFill>
                <a:latin typeface="Calibri"/>
              </a:rPr>
              <a:t>Erta aniqlash va oldini olish</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Primary va secondary TBI</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Maiese et al., The Expression of FOXO3a as a Forensic Diagnostic Tool in Cases of Traumatic Brain Injury: An Immunohistochemical Study, betlar: PMID 36768906, 3. Discussion, PMID 36768906, 3. Discussion; 1. Introduction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Tadqiqot guruhlari va tanlash mezonlari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Immunohistokimyoviy tekshiruvning asosiy tamoyillari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TBIdan o‘lgan 15 holat (4 ayol, 11 erkak, o‘rtacha yosh 43,1) tanlandi: 8 tasida o‘lim darhol, 7 tasida 6 soat ichida yuz berdi.</a:t>
            </a:r>
          </a:p>
          <a:p>
            <a:pPr>
              <a:spcAft>
                <a:spcPts val="800"/>
              </a:spcAft>
            </a:pPr>
            <a:r>
              <a:rPr sz="1600">
                <a:solidFill>
                  <a:srgbClr val="1F2937"/>
                </a:solidFill>
                <a:latin typeface="Calibri"/>
              </a:rPr>
              <a:t>▸  Kiritish mezonlari: o‘lim sababi TBI, jarohat oldingi 24 soat ichida, surunkali kasallik tarixi yo‘q.</a:t>
            </a:r>
          </a:p>
          <a:p>
            <a:pPr>
              <a:spcAft>
                <a:spcPts val="800"/>
              </a:spcAft>
            </a:pPr>
            <a:r>
              <a:rPr sz="1600">
                <a:solidFill>
                  <a:srgbClr val="1F2937"/>
                </a:solidFill>
                <a:latin typeface="Calibri"/>
              </a:rPr>
              <a:t>▸  Nazorat: 15 ta nontravmatik miya o‘limi (8 ayol, 7 erkak, yosh 49,3): 5 tasi aneurizma yorilishi, 10 tasi o‘tkir yurak-qon aylanishi to‘xtashi.</a:t>
            </a:r>
          </a:p>
          <a:p>
            <a:pPr>
              <a:spcAft>
                <a:spcPts val="800"/>
              </a:spcAft>
            </a:pPr>
            <a:r>
              <a:rPr sz="1600">
                <a:solidFill>
                  <a:srgbClr val="1F2937"/>
                </a:solidFill>
                <a:latin typeface="Calibri"/>
              </a:rPr>
              <a:t>▸  Chirigan yoki chirish boshlangan jasadlar ikkala guruhdan chiqarilgan; autopsiya o‘limdan keyin 36 soat ichida o‘tkazilgan.</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TBI guruhi (15)</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4 ayol, 11 erkak; yosh 43,1</a:t>
            </a:r>
          </a:p>
          <a:p>
            <a:pPr algn="l">
              <a:spcAft>
                <a:spcPts val="700"/>
              </a:spcAft>
            </a:pPr>
            <a:r>
              <a:rPr sz="1500" b="1">
                <a:solidFill>
                  <a:srgbClr val="C9A227"/>
                </a:solidFill>
                <a:latin typeface="Calibri"/>
              </a:rPr>
              <a:t>●  </a:t>
            </a:r>
            <a:r>
              <a:rPr sz="1500" b="0">
                <a:solidFill>
                  <a:srgbClr val="1F2937"/>
                </a:solidFill>
                <a:latin typeface="Calibri"/>
              </a:rPr>
              <a:t>8 ta darhol, 7 ta 6 soat ichida</a:t>
            </a:r>
          </a:p>
          <a:p>
            <a:pPr algn="l">
              <a:spcAft>
                <a:spcPts val="700"/>
              </a:spcAft>
            </a:pPr>
            <a:r>
              <a:rPr sz="1500" b="1">
                <a:solidFill>
                  <a:srgbClr val="C9A227"/>
                </a:solidFill>
                <a:latin typeface="Calibri"/>
              </a:rPr>
              <a:t>●  </a:t>
            </a:r>
            <a:r>
              <a:rPr sz="1500" b="0">
                <a:solidFill>
                  <a:srgbClr val="1F2937"/>
                </a:solidFill>
                <a:latin typeface="Calibri"/>
              </a:rPr>
              <a:t>Jarohat &lt; 24 soat, kasallik yo‘q</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Nazorat (15)</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8 ayol, 7 erkak; yosh 49,3</a:t>
            </a:r>
          </a:p>
          <a:p>
            <a:pPr algn="l">
              <a:spcAft>
                <a:spcPts val="700"/>
              </a:spcAft>
            </a:pPr>
            <a:r>
              <a:rPr sz="1500" b="1">
                <a:solidFill>
                  <a:srgbClr val="C9A227"/>
                </a:solidFill>
                <a:latin typeface="Calibri"/>
              </a:rPr>
              <a:t>●  </a:t>
            </a:r>
            <a:r>
              <a:rPr sz="1500" b="0">
                <a:solidFill>
                  <a:srgbClr val="1F2937"/>
                </a:solidFill>
                <a:latin typeface="Calibri"/>
              </a:rPr>
              <a:t>5 aneurizma yorilishi</a:t>
            </a:r>
          </a:p>
          <a:p>
            <a:pPr algn="l">
              <a:spcAft>
                <a:spcPts val="700"/>
              </a:spcAft>
            </a:pPr>
            <a:r>
              <a:rPr sz="1500" b="1">
                <a:solidFill>
                  <a:srgbClr val="C9A227"/>
                </a:solidFill>
                <a:latin typeface="Calibri"/>
              </a:rPr>
              <a:t>●  </a:t>
            </a:r>
            <a:r>
              <a:rPr sz="1500" b="0">
                <a:solidFill>
                  <a:srgbClr val="1F2937"/>
                </a:solidFill>
                <a:latin typeface="Calibri"/>
              </a:rPr>
              <a:t>10 o‘tkir yurak-qon aylanishi to‘xtashi</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Tadqiqot guruhlari</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Maiese et al., The Expression of FOXO3a as a Forensic Diagnostic Tool in Cases of Traumatic Brain Injury: An Immunohistochemical Study, betlar: PMID 36768906, 4.1 Study Group Selection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FOXO3a tadqiqotining dizayni va IHK protokoli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Immunohistokimyoviy tekshiruvning asosiy tamoyillari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15 ta TBI o‘limi va 15 ta nontravmatik miya o‘limi; chirigan jasadlar ikkala guruhdan chiqarilgan.</a:t>
            </a:r>
          </a:p>
          <a:p>
            <a:pPr>
              <a:spcAft>
                <a:spcPts val="800"/>
              </a:spcAft>
            </a:pPr>
            <a:r>
              <a:rPr sz="1800">
                <a:solidFill>
                  <a:srgbClr val="1F2937"/>
                </a:solidFill>
                <a:latin typeface="Calibri"/>
              </a:rPr>
              <a:t>▸  Kiritish mezoni: o‘lim sababi TBI, jarohat oldingi 24 soat ichida, surunkali kasallik tarixi yo‘q.</a:t>
            </a:r>
          </a:p>
          <a:p>
            <a:pPr>
              <a:spcAft>
                <a:spcPts val="800"/>
              </a:spcAft>
            </a:pPr>
            <a:r>
              <a:rPr sz="1800">
                <a:solidFill>
                  <a:srgbClr val="1F2937"/>
                </a:solidFill>
                <a:latin typeface="Calibri"/>
              </a:rPr>
              <a:t>▸  Antigenni ochish EDTA buferida, bosimli bug‘da 100 °C da 90 daqiqa; poliklonal anti-FOXO3a ishlatilgan.</a:t>
            </a:r>
          </a:p>
        </p:txBody>
      </p:sp>
      <p:sp>
        <p:nvSpPr>
          <p:cNvPr id="9" name="Rounded Rectangle 8"/>
          <p:cNvSpPr/>
          <p:nvPr/>
        </p:nvSpPr>
        <p:spPr>
          <a:xfrm>
            <a:off x="5440680" y="1417320"/>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550408" y="1816608"/>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1</a:t>
            </a:r>
          </a:p>
        </p:txBody>
      </p:sp>
      <p:sp>
        <p:nvSpPr>
          <p:cNvPr id="11" name="TextBox 10"/>
          <p:cNvSpPr txBox="1"/>
          <p:nvPr/>
        </p:nvSpPr>
        <p:spPr>
          <a:xfrm>
            <a:off x="6080760" y="1417320"/>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Guruhlar</a:t>
            </a:r>
          </a:p>
          <a:p>
            <a:pPr algn="l">
              <a:spcAft>
                <a:spcPts val="200"/>
              </a:spcAft>
            </a:pPr>
            <a:r>
              <a:rPr sz="1400" b="0">
                <a:solidFill>
                  <a:srgbClr val="1F2937"/>
                </a:solidFill>
                <a:latin typeface="Calibri"/>
              </a:rPr>
              <a:t>15 TBI va 15 nazorat</a:t>
            </a:r>
          </a:p>
        </p:txBody>
      </p:sp>
      <p:sp>
        <p:nvSpPr>
          <p:cNvPr id="12" name="Rounded Rectangle 11"/>
          <p:cNvSpPr/>
          <p:nvPr/>
        </p:nvSpPr>
        <p:spPr>
          <a:xfrm>
            <a:off x="8578443" y="1417320"/>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688171" y="1816608"/>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2</a:t>
            </a:r>
          </a:p>
        </p:txBody>
      </p:sp>
      <p:sp>
        <p:nvSpPr>
          <p:cNvPr id="14" name="TextBox 13"/>
          <p:cNvSpPr txBox="1"/>
          <p:nvPr/>
        </p:nvSpPr>
        <p:spPr>
          <a:xfrm>
            <a:off x="9218523" y="1417320"/>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Fiksatsiya</a:t>
            </a:r>
          </a:p>
          <a:p>
            <a:pPr algn="l">
              <a:spcAft>
                <a:spcPts val="200"/>
              </a:spcAft>
            </a:pPr>
            <a:r>
              <a:rPr sz="1400" b="0">
                <a:solidFill>
                  <a:srgbClr val="1F2937"/>
                </a:solidFill>
                <a:latin typeface="Calibri"/>
              </a:rPr>
              <a:t>10% formalin, parafinga quyish</a:t>
            </a:r>
          </a:p>
        </p:txBody>
      </p:sp>
      <p:sp>
        <p:nvSpPr>
          <p:cNvPr id="15" name="Rounded Rectangle 14"/>
          <p:cNvSpPr/>
          <p:nvPr/>
        </p:nvSpPr>
        <p:spPr>
          <a:xfrm>
            <a:off x="5440680" y="2801112"/>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550408" y="3200400"/>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3</a:t>
            </a:r>
          </a:p>
        </p:txBody>
      </p:sp>
      <p:sp>
        <p:nvSpPr>
          <p:cNvPr id="17" name="TextBox 16"/>
          <p:cNvSpPr txBox="1"/>
          <p:nvPr/>
        </p:nvSpPr>
        <p:spPr>
          <a:xfrm>
            <a:off x="6080760" y="2801112"/>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Kesma</a:t>
            </a:r>
          </a:p>
          <a:p>
            <a:pPr algn="l">
              <a:spcAft>
                <a:spcPts val="200"/>
              </a:spcAft>
            </a:pPr>
            <a:r>
              <a:rPr sz="1400" b="0">
                <a:solidFill>
                  <a:srgbClr val="1F2937"/>
                </a:solidFill>
                <a:latin typeface="Calibri"/>
              </a:rPr>
              <a:t>4 mkm; antigenni ochish (EDTA, 100 °C, 90 daq.)</a:t>
            </a:r>
          </a:p>
        </p:txBody>
      </p:sp>
      <p:sp>
        <p:nvSpPr>
          <p:cNvPr id="18" name="Rounded Rectangle 17"/>
          <p:cNvSpPr/>
          <p:nvPr/>
        </p:nvSpPr>
        <p:spPr>
          <a:xfrm>
            <a:off x="8578443" y="2801112"/>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688171" y="3200400"/>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4</a:t>
            </a:r>
          </a:p>
        </p:txBody>
      </p:sp>
      <p:sp>
        <p:nvSpPr>
          <p:cNvPr id="20" name="TextBox 19"/>
          <p:cNvSpPr txBox="1"/>
          <p:nvPr/>
        </p:nvSpPr>
        <p:spPr>
          <a:xfrm>
            <a:off x="9218523" y="2801112"/>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Nazorat</a:t>
            </a:r>
          </a:p>
          <a:p>
            <a:pPr algn="l">
              <a:spcAft>
                <a:spcPts val="200"/>
              </a:spcAft>
            </a:pPr>
            <a:r>
              <a:rPr sz="1400" b="0">
                <a:solidFill>
                  <a:srgbClr val="1F2937"/>
                </a:solidFill>
                <a:latin typeface="Calibri"/>
              </a:rPr>
              <a:t>Ko‘krak saratoni to‘qimasida sinov</a:t>
            </a:r>
          </a:p>
        </p:txBody>
      </p:sp>
      <p:sp>
        <p:nvSpPr>
          <p:cNvPr id="21" name="Rounded Rectangle 20"/>
          <p:cNvSpPr/>
          <p:nvPr/>
        </p:nvSpPr>
        <p:spPr>
          <a:xfrm>
            <a:off x="5440680" y="4184904"/>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550408" y="4584192"/>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5</a:t>
            </a:r>
          </a:p>
        </p:txBody>
      </p:sp>
      <p:sp>
        <p:nvSpPr>
          <p:cNvPr id="23" name="TextBox 22"/>
          <p:cNvSpPr txBox="1"/>
          <p:nvPr/>
        </p:nvSpPr>
        <p:spPr>
          <a:xfrm>
            <a:off x="6080760" y="4184904"/>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Baholash</a:t>
            </a:r>
          </a:p>
          <a:p>
            <a:pPr algn="l">
              <a:spcAft>
                <a:spcPts val="200"/>
              </a:spcAft>
            </a:pPr>
            <a:r>
              <a:rPr sz="1400" b="0">
                <a:solidFill>
                  <a:srgbClr val="1F2937"/>
                </a:solidFill>
                <a:latin typeface="Calibri"/>
              </a:rPr>
              <a:t>Ball 0–4, ikki kuzatuvchi</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IHK protokoli bosqichlari</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Maiese et al., The Expression of FOXO3a as a Forensic Diagnostic Tool in Cases of Traumatic Brain Injury: An Immunohistochemical Study, betlar: PMID 36768906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FOXO3a natijalari va baholash shkalasi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Immunohistokimyoviy tekshiruvning asosiy tamoyillari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Travmatik miya jarohati (TBI) bilan o‘lgan 15 holatning barchasida FOXO3a musbat, 15 ta nazoratda manfiy bo‘ldi.</a:t>
            </a:r>
          </a:p>
          <a:p>
            <a:pPr>
              <a:spcAft>
                <a:spcPts val="800"/>
              </a:spcAft>
            </a:pPr>
            <a:r>
              <a:rPr sz="1800">
                <a:solidFill>
                  <a:srgbClr val="1F2937"/>
                </a:solidFill>
                <a:latin typeface="Calibri"/>
              </a:rPr>
              <a:t>▸  Reaksiya 0 dan +4 gacha ball bilan baholandi. Ikki tadqiqotchi ko‘rdi, kelishmasa uchinchisi hal qildi.</a:t>
            </a:r>
          </a:p>
          <a:p>
            <a:pPr>
              <a:spcAft>
                <a:spcPts val="800"/>
              </a:spcAft>
            </a:pPr>
            <a:r>
              <a:rPr sz="1800">
                <a:solidFill>
                  <a:srgbClr val="1F2937"/>
                </a:solidFill>
                <a:latin typeface="Calibri"/>
              </a:rPr>
              <a:t>▸  Jarohatdan keyin yashash vaqti uzaygan sari FOXO3a reaksiyasi kuchaydi (maksimum 6 soat).</a:t>
            </a:r>
          </a:p>
        </p:txBody>
      </p:sp>
      <p:sp>
        <p:nvSpPr>
          <p:cNvPr id="9" name="Rounded Rectangle 8"/>
          <p:cNvSpPr/>
          <p:nvPr/>
        </p:nvSpPr>
        <p:spPr>
          <a:xfrm>
            <a:off x="5440680" y="1417320"/>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40680" y="1508760"/>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550408" y="1417320"/>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0 ball</a:t>
            </a:r>
          </a:p>
          <a:p>
            <a:pPr algn="l">
              <a:spcAft>
                <a:spcPts val="100"/>
              </a:spcAft>
            </a:pPr>
            <a:r>
              <a:rPr sz="2700" b="1">
                <a:solidFill>
                  <a:srgbClr val="0B1F3A"/>
                </a:solidFill>
                <a:latin typeface="Calibri"/>
              </a:rPr>
              <a:t>Yo‘q</a:t>
            </a:r>
            <a:r>
              <a:rPr sz="1300" b="0">
                <a:solidFill>
                  <a:srgbClr val="6B7280"/>
                </a:solidFill>
                <a:latin typeface="Calibri"/>
              </a:rPr>
              <a:t>  bo‘yalish</a:t>
            </a:r>
          </a:p>
        </p:txBody>
      </p:sp>
      <p:sp>
        <p:nvSpPr>
          <p:cNvPr id="12" name="Rounded Rectangle 11"/>
          <p:cNvSpPr/>
          <p:nvPr/>
        </p:nvSpPr>
        <p:spPr>
          <a:xfrm>
            <a:off x="8578443" y="1417320"/>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578443" y="1508760"/>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8171" y="1417320"/>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1 ball</a:t>
            </a:r>
          </a:p>
          <a:p>
            <a:pPr algn="l">
              <a:spcAft>
                <a:spcPts val="100"/>
              </a:spcAft>
            </a:pPr>
            <a:r>
              <a:rPr sz="2300" b="1">
                <a:solidFill>
                  <a:srgbClr val="0B1F3A"/>
                </a:solidFill>
                <a:latin typeface="Calibri"/>
              </a:rPr>
              <a:t>≈ 25</a:t>
            </a:r>
            <a:r>
              <a:rPr sz="1100" b="0">
                <a:solidFill>
                  <a:srgbClr val="6B7280"/>
                </a:solidFill>
                <a:latin typeface="Calibri"/>
              </a:rPr>
              <a:t>  % bo‘yalish</a:t>
            </a:r>
          </a:p>
        </p:txBody>
      </p:sp>
      <p:sp>
        <p:nvSpPr>
          <p:cNvPr id="15" name="Rounded Rectangle 14"/>
          <p:cNvSpPr/>
          <p:nvPr/>
        </p:nvSpPr>
        <p:spPr>
          <a:xfrm>
            <a:off x="5440680" y="2807208"/>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40680" y="2898648"/>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550408" y="2807208"/>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2 ball</a:t>
            </a:r>
          </a:p>
          <a:p>
            <a:pPr algn="l">
              <a:spcAft>
                <a:spcPts val="100"/>
              </a:spcAft>
            </a:pPr>
            <a:r>
              <a:rPr sz="2300" b="1">
                <a:solidFill>
                  <a:srgbClr val="0B1F3A"/>
                </a:solidFill>
                <a:latin typeface="Calibri"/>
              </a:rPr>
              <a:t>≈ 50</a:t>
            </a:r>
            <a:r>
              <a:rPr sz="1100" b="0">
                <a:solidFill>
                  <a:srgbClr val="6B7280"/>
                </a:solidFill>
                <a:latin typeface="Calibri"/>
              </a:rPr>
              <a:t>  % bo‘yalish</a:t>
            </a:r>
          </a:p>
        </p:txBody>
      </p:sp>
      <p:sp>
        <p:nvSpPr>
          <p:cNvPr id="18" name="Rounded Rectangle 17"/>
          <p:cNvSpPr/>
          <p:nvPr/>
        </p:nvSpPr>
        <p:spPr>
          <a:xfrm>
            <a:off x="8578443" y="2807208"/>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578443" y="2898648"/>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8171" y="2807208"/>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3 ball</a:t>
            </a:r>
          </a:p>
          <a:p>
            <a:pPr algn="l">
              <a:spcAft>
                <a:spcPts val="100"/>
              </a:spcAft>
            </a:pPr>
            <a:r>
              <a:rPr sz="2300" b="1">
                <a:solidFill>
                  <a:srgbClr val="0B1F3A"/>
                </a:solidFill>
                <a:latin typeface="Calibri"/>
              </a:rPr>
              <a:t>≈ 75</a:t>
            </a:r>
            <a:r>
              <a:rPr sz="1100" b="0">
                <a:solidFill>
                  <a:srgbClr val="6B7280"/>
                </a:solidFill>
                <a:latin typeface="Calibri"/>
              </a:rPr>
              <a:t>  % bo‘yalish</a:t>
            </a:r>
          </a:p>
        </p:txBody>
      </p:sp>
      <p:sp>
        <p:nvSpPr>
          <p:cNvPr id="21" name="Rounded Rectangle 20"/>
          <p:cNvSpPr/>
          <p:nvPr/>
        </p:nvSpPr>
        <p:spPr>
          <a:xfrm>
            <a:off x="5440680" y="4197096"/>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440680" y="4288536"/>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550408" y="4197096"/>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4 ball</a:t>
            </a:r>
          </a:p>
          <a:p>
            <a:pPr algn="l">
              <a:spcAft>
                <a:spcPts val="100"/>
              </a:spcAft>
            </a:pPr>
            <a:r>
              <a:rPr sz="2500" b="1">
                <a:solidFill>
                  <a:srgbClr val="0B1F3A"/>
                </a:solidFill>
                <a:latin typeface="Calibri"/>
              </a:rPr>
              <a:t>100</a:t>
            </a:r>
            <a:r>
              <a:rPr sz="1200" b="0">
                <a:solidFill>
                  <a:srgbClr val="6B7280"/>
                </a:solidFill>
                <a:latin typeface="Calibri"/>
              </a:rPr>
              <a:t>  % bo‘yalish</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FOXO3a ball shkalasi</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Maiese et al., The Expression of FOXO3a as a Forensic Diagnostic Tool in Cases of Traumatic Brain Injury: An Immunohistochemical Study, betlar: PMID 36768906</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Miqdoriy baholash va statistika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Immunohistokimyoviy tekshiruvning asosiy tamoyillari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39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Har IHK kesmasida turli maydonlarda 100 marta kattalashtirishda 20 kuzatuv o‘tkazilgan; konfokal mikroskopda 3D rekonstruksiya ham qilingan.</a:t>
            </a:r>
          </a:p>
          <a:p>
            <a:pPr>
              <a:spcAft>
                <a:spcPts val="800"/>
              </a:spcAft>
            </a:pPr>
            <a:r>
              <a:rPr sz="1600">
                <a:solidFill>
                  <a:srgbClr val="1F2937"/>
                </a:solidFill>
                <a:latin typeface="Calibri"/>
              </a:rPr>
              <a:t>▸  Bo‘yalish intensivligi 0 dan +4 gacha shkalada ikki tadqiqotchi tomonidan ko‘r usulda baholangan; kelishmovchilikda uchinchi kuzatuvchi hal qilgan.</a:t>
            </a:r>
          </a:p>
          <a:p>
            <a:pPr>
              <a:spcAft>
                <a:spcPts val="800"/>
              </a:spcAft>
            </a:pPr>
            <a:r>
              <a:rPr sz="1600">
                <a:solidFill>
                  <a:srgbClr val="1F2937"/>
                </a:solidFill>
                <a:latin typeface="Calibri"/>
              </a:rPr>
              <a:t>▸  Baho eng kuchli kuzatilgan musbatlikka asoslangan; TBI holatlarida o‘rtacha intensivlik 2,53 (p &lt; 0,05).</a:t>
            </a:r>
          </a:p>
          <a:p>
            <a:pPr>
              <a:spcAft>
                <a:spcPts val="800"/>
              </a:spcAft>
            </a:pPr>
            <a:r>
              <a:rPr sz="1600">
                <a:solidFill>
                  <a:srgbClr val="1F2937"/>
                </a:solidFill>
                <a:latin typeface="Calibri"/>
              </a:rPr>
              <a:t>▸  Ordinal ma’lumotlar uchun Kruskal–Wallis testi, farq bo‘lsa Dunn post hoc; ahamiyat darajasi 5%.</a:t>
            </a:r>
          </a:p>
        </p:txBody>
      </p:sp>
      <p:sp>
        <p:nvSpPr>
          <p:cNvPr id="9" name="Rounded Rectangle 8"/>
          <p:cNvSpPr/>
          <p:nvPr/>
        </p:nvSpPr>
        <p:spPr>
          <a:xfrm>
            <a:off x="5440680" y="1417320"/>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40680" y="1508760"/>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550408" y="1417320"/>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Maydonlar</a:t>
            </a:r>
          </a:p>
          <a:p>
            <a:pPr algn="l">
              <a:spcAft>
                <a:spcPts val="100"/>
              </a:spcAft>
            </a:pPr>
            <a:r>
              <a:rPr sz="3000" b="1">
                <a:solidFill>
                  <a:srgbClr val="0B1F3A"/>
                </a:solidFill>
                <a:latin typeface="Calibri"/>
              </a:rPr>
              <a:t>20</a:t>
            </a:r>
            <a:r>
              <a:rPr sz="1500" b="0">
                <a:solidFill>
                  <a:srgbClr val="6B7280"/>
                </a:solidFill>
                <a:latin typeface="Calibri"/>
              </a:rPr>
              <a:t>  100× da</a:t>
            </a:r>
          </a:p>
        </p:txBody>
      </p:sp>
      <p:sp>
        <p:nvSpPr>
          <p:cNvPr id="12" name="Rounded Rectangle 11"/>
          <p:cNvSpPr/>
          <p:nvPr/>
        </p:nvSpPr>
        <p:spPr>
          <a:xfrm>
            <a:off x="8578443" y="1417320"/>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578443" y="1508760"/>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8171" y="1417320"/>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Ball shkalasi</a:t>
            </a:r>
          </a:p>
          <a:p>
            <a:pPr algn="l">
              <a:spcAft>
                <a:spcPts val="100"/>
              </a:spcAft>
            </a:pPr>
            <a:r>
              <a:rPr sz="3000" b="1">
                <a:solidFill>
                  <a:srgbClr val="0B1F3A"/>
                </a:solidFill>
                <a:latin typeface="Calibri"/>
              </a:rPr>
              <a:t>0–4</a:t>
            </a:r>
          </a:p>
        </p:txBody>
      </p:sp>
      <p:sp>
        <p:nvSpPr>
          <p:cNvPr id="15" name="Rounded Rectangle 14"/>
          <p:cNvSpPr/>
          <p:nvPr/>
        </p:nvSpPr>
        <p:spPr>
          <a:xfrm>
            <a:off x="5440680" y="2807208"/>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40680" y="2898648"/>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550408" y="2807208"/>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Baholovchilar</a:t>
            </a:r>
          </a:p>
          <a:p>
            <a:pPr algn="l">
              <a:spcAft>
                <a:spcPts val="100"/>
              </a:spcAft>
            </a:pPr>
            <a:r>
              <a:rPr sz="3000" b="1">
                <a:solidFill>
                  <a:srgbClr val="0B1F3A"/>
                </a:solidFill>
                <a:latin typeface="Calibri"/>
              </a:rPr>
              <a:t>2 + hakam</a:t>
            </a:r>
          </a:p>
        </p:txBody>
      </p:sp>
      <p:sp>
        <p:nvSpPr>
          <p:cNvPr id="18" name="Rounded Rectangle 17"/>
          <p:cNvSpPr/>
          <p:nvPr/>
        </p:nvSpPr>
        <p:spPr>
          <a:xfrm>
            <a:off x="8578443" y="2807208"/>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578443" y="2898648"/>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8171" y="2807208"/>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O‘rtacha intensivlik</a:t>
            </a:r>
          </a:p>
          <a:p>
            <a:pPr algn="l">
              <a:spcAft>
                <a:spcPts val="100"/>
              </a:spcAft>
            </a:pPr>
            <a:r>
              <a:rPr sz="3000" b="1">
                <a:solidFill>
                  <a:srgbClr val="0B1F3A"/>
                </a:solidFill>
                <a:latin typeface="Calibri"/>
              </a:rPr>
              <a:t>2,53</a:t>
            </a:r>
            <a:r>
              <a:rPr sz="1500" b="0">
                <a:solidFill>
                  <a:srgbClr val="6B7280"/>
                </a:solidFill>
                <a:latin typeface="Calibri"/>
              </a:rPr>
              <a:t>  TBI</a:t>
            </a:r>
          </a:p>
        </p:txBody>
      </p:sp>
      <p:sp>
        <p:nvSpPr>
          <p:cNvPr id="21" name="Rounded Rectangle 20"/>
          <p:cNvSpPr/>
          <p:nvPr/>
        </p:nvSpPr>
        <p:spPr>
          <a:xfrm>
            <a:off x="5440680" y="4197096"/>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440680" y="4288536"/>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550408" y="4197096"/>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Test</a:t>
            </a:r>
          </a:p>
          <a:p>
            <a:pPr algn="l">
              <a:spcAft>
                <a:spcPts val="100"/>
              </a:spcAft>
            </a:pPr>
            <a:r>
              <a:rPr sz="2700" b="1">
                <a:solidFill>
                  <a:srgbClr val="0B1F3A"/>
                </a:solidFill>
                <a:latin typeface="Calibri"/>
              </a:rPr>
              <a:t>Kruskal–Wallis</a:t>
            </a:r>
          </a:p>
        </p:txBody>
      </p:sp>
      <p:sp>
        <p:nvSpPr>
          <p:cNvPr id="24" name="Rounded Rectangle 23"/>
          <p:cNvSpPr/>
          <p:nvPr/>
        </p:nvSpPr>
        <p:spPr>
          <a:xfrm>
            <a:off x="8578443" y="4197096"/>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578443" y="4288536"/>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88171" y="4197096"/>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Ahamiyat darajasi</a:t>
            </a:r>
          </a:p>
          <a:p>
            <a:pPr algn="l">
              <a:spcAft>
                <a:spcPts val="100"/>
              </a:spcAft>
            </a:pPr>
            <a:r>
              <a:rPr sz="3000" b="1">
                <a:solidFill>
                  <a:srgbClr val="0B1F3A"/>
                </a:solidFill>
                <a:latin typeface="Calibri"/>
              </a:rPr>
              <a:t>5</a:t>
            </a:r>
            <a:r>
              <a:rPr sz="1500" b="0">
                <a:solidFill>
                  <a:srgbClr val="6B7280"/>
                </a:solidFill>
                <a:latin typeface="Calibri"/>
              </a:rPr>
              <a:t>  %</a:t>
            </a:r>
          </a:p>
        </p:txBody>
      </p:sp>
      <p:sp>
        <p:nvSpPr>
          <p:cNvPr id="27" name="TextBox 26"/>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FOXO3a tadqiqotida baholash</a:t>
            </a:r>
          </a:p>
        </p:txBody>
      </p:sp>
      <p:sp>
        <p:nvSpPr>
          <p:cNvPr id="28" name="TextBox 27"/>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Maiese et al., The Expression of FOXO3a as a Forensic Diagnostic Tool in Cases of Traumatic Brain Injury: An Immunohistochemical Study, betlar: PMID 36768906, 4.3 Quantitative Analysis, PMID 36768906, 2. Results, PMID 36768906, 4.4 Statistical Analysis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FOXO3a va post-mortem tashxis</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Immunohistokimyoviy tekshiruvning asosiy tamoyillari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40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jarohatdan bir necha soat o‘tib vafot etgan shaxs miyasida jarohat yaqinidagi neyronlarda FOXO3a musbat chiqdi.</a:t>
            </a:r>
          </a:p>
          <a:p>
            <a:pPr>
              <a:spcAft>
                <a:spcPts val="1200"/>
              </a:spcAft>
            </a:pPr>
            <a:r>
              <a:rPr sz="2200">
                <a:solidFill>
                  <a:srgbClr val="1F2937"/>
                </a:solidFill>
                <a:latin typeface="Calibri"/>
              </a:rPr>
              <a:t>▸  Bu FOXO3a ning TBIdan keyingi ikkilamchi jarohatda, neyron apoptozi va autofagiyasini boshqarishda ishtirokini ko‘rsatadi.</a:t>
            </a:r>
          </a:p>
          <a:p>
            <a:pPr>
              <a:spcAft>
                <a:spcPts val="1200"/>
              </a:spcAft>
            </a:pPr>
            <a:r>
              <a:rPr sz="2200">
                <a:solidFill>
                  <a:srgbClr val="1F2937"/>
                </a:solidFill>
                <a:latin typeface="Calibri"/>
              </a:rPr>
              <a:t>▸  U post-mortem tashxisda istiqbolli vosita bo‘lishi mumkin.</a:t>
            </a:r>
          </a:p>
          <a:p>
            <a:pPr>
              <a:spcAft>
                <a:spcPts val="1200"/>
              </a:spcAft>
            </a:pPr>
            <a:r>
              <a:rPr sz="2200">
                <a:solidFill>
                  <a:srgbClr val="1F2937"/>
                </a:solidFill>
                <a:latin typeface="Calibri"/>
              </a:rPr>
              <a:t>▸  Cheklov: holatlar kam (15 ta TBI va 15 ta nazorat), tadqiqot dastlabki. Mualliflar holatlar sonini oshirishni rejalashtirgan.</a:t>
            </a:r>
          </a:p>
          <a:p>
            <a:pPr>
              <a:spcAft>
                <a:spcPts val="1200"/>
              </a:spcAft>
            </a:pPr>
            <a:r>
              <a:rPr sz="2200">
                <a:solidFill>
                  <a:srgbClr val="1F2937"/>
                </a:solidFill>
                <a:latin typeface="Calibri"/>
              </a:rPr>
              <a:t>▸  Diqqat: xato qilish xavfi. Tadqiqotda maksimal yashash vaqti 6 soat edi; undan uzoq davr haqida shu ma’lumotdan xulosa chiqarib bo‘lmaydi.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Maiese et al., The Expression of FOXO3a as a Forensic Diagnostic Tool in Cases of Traumatic Brain Injury: An Immunohistochemical Study, betlar: PMID 36768906</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va asosiy tamoyillar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Immunohistokimyoviy tekshiruvning asosiy tamoyillari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41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IHK ikki bosqichdan iborat: preparat tayyorlash va reaksiya o‘tkazish, so‘ngra ifodani talqin qilish va miqdoriy baholash.</a:t>
            </a:r>
          </a:p>
          <a:p>
            <a:pPr>
              <a:spcAft>
                <a:spcPts val="1200"/>
              </a:spcAft>
            </a:pPr>
            <a:r>
              <a:rPr sz="2200">
                <a:solidFill>
                  <a:srgbClr val="1F2937"/>
                </a:solidFill>
                <a:latin typeface="Calibri"/>
              </a:rPr>
              <a:t>▸  Fiksatsiya, antigenni tiklash, musbat va manfiy nazoratlar hamda antitelo panelini to‘g‘ri tanlash natija ishonchliligini belgilaydi.</a:t>
            </a:r>
          </a:p>
          <a:p>
            <a:pPr>
              <a:spcAft>
                <a:spcPts val="1200"/>
              </a:spcAft>
            </a:pPr>
            <a:r>
              <a:rPr sz="2200">
                <a:solidFill>
                  <a:srgbClr val="1F2937"/>
                </a:solidFill>
                <a:latin typeface="Calibri"/>
              </a:rPr>
              <a:t>▸  Talqin ehtiyotkorlik talab qiladi; ball tizimlari subyektiv bo‘lishi mumkin, kompyuter tahlili esa aniqroq miqdoriy natija beradi.</a:t>
            </a:r>
          </a:p>
          <a:p>
            <a:pPr>
              <a:spcAft>
                <a:spcPts val="1200"/>
              </a:spcAft>
            </a:pPr>
            <a:r>
              <a:rPr sz="2200">
                <a:solidFill>
                  <a:srgbClr val="1F2937"/>
                </a:solidFill>
                <a:latin typeface="Calibri"/>
              </a:rPr>
              <a:t>▸  Sud-tibbiyotda FOXO3a TBIni post-mortem aniqlashda istiqbolli vosita sifatida taklif etilgan, ammo qo‘shimcha tadqiqotlar kerak.</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de Matos et al., Immunohistochemistry as an Important Tool in Biomarkers Detection and Clinical Practice, betlar: PMID 20212918; Maiese et al., The Expression of FOXO3a as a Forensic Diagnostic Tool in Cases of Traumatic Brain Injury: An Immunohistochemical Study, betlar: PMID 36768906</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Immunohistokimyoviy tekshiruvning asosiy tamoyillari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42 / 43</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“Jigarrang inqilob”: immunogistokimyo patologik anatomiya laboratoriyasiga kirib kelgach, bu o‘zgarish shunday nomlandi. Peroksidaza uchun eng ko‘p ishlatiladigan xromogen DAB (diaminobenzidin) jigarrang cho‘kma beradi, shuning uchun nom shundan kelib chiqqan. DAB hosil qilgan cho‘kma elektron mikroskopiyada ham ishlatiladi.</a:t>
            </a:r>
          </a:p>
          <a:p>
            <a:pPr>
              <a:spcAft>
                <a:spcPts val="1200"/>
              </a:spcAft>
            </a:pPr>
            <a:r>
              <a:rPr sz="1800">
                <a:solidFill>
                  <a:srgbClr val="1F2937"/>
                </a:solidFill>
                <a:latin typeface="Calibri"/>
              </a:rPr>
              <a:t>▸  Eslab qolish usuli (bosqichlar tartibi, manbadagi ro‘yxat asosida): ANTIGENNI ochish → NOSPETSIFIK joyni to‘sish → ENDOGEN peroksidazani to‘sish → BIRLAMCHI antitana → ANIQLASH tizimi → XROMOGEN → QO‘SHIMCHA bo‘yash → YOPISH va saqlash. Tartibni doskada o‘qlar bilan chizib, har bosqichga bittadan so‘z biriktiring.</a:t>
            </a:r>
          </a:p>
          <a:p>
            <a:pPr>
              <a:spcAft>
                <a:spcPts val="1200"/>
              </a:spcAft>
            </a:pPr>
            <a:r>
              <a:rPr sz="1800">
                <a:solidFill>
                  <a:srgbClr val="1F2937"/>
                </a:solidFill>
                <a:latin typeface="Calibri"/>
              </a:rPr>
              <a:t>▸  Hodisa tahlili (HER2): bo‘yalish faqat sitoplazmada bo‘lsa ham, ba’zi mualliflar uni musbat deb hisoblagan. Biroq gen amplifikatsiyasi bilan faqat hujayra membranasidagi bo‘yalish bog‘liq ekani ma’lum. Shu sababli musbat natijani joylashuvi va klinik-morfologik kontekst bilan birga baholash kerak. Diqqat: “jigarrang bo‘yalish bor” va “klinik jihatdan ahamiyatli musbat” bir narsa emas.</a:t>
            </a:r>
          </a:p>
          <a:p>
            <a:pPr>
              <a:spcAft>
                <a:spcPts val="1200"/>
              </a:spcAft>
            </a:pPr>
            <a:r>
              <a:rPr sz="1800">
                <a:solidFill>
                  <a:srgbClr val="1F2937"/>
                </a:solidFill>
                <a:latin typeface="Calibri"/>
              </a:rPr>
              <a:t>▸  Fiksatsiya tanlovi natijaga ta’sir qiladi: tuxumdon kistadenofibrokarsinomasi holida etanolda fiksatsiya qilingan kesmalarda sitokeratin va vimentin reaktivligi yaxshiroq bo‘lgan. Formalinda fiksatsiyada tripsin sitokeratinni yaxshilagan, lekin vimentinni aniqlashga zarar yetkazgan. Xulosa: turli epitoplar turli fiksatorni talab qilishi mumkin, shuning uchun operatsiya xonasidagi tanlov muhim.</a:t>
            </a:r>
          </a:p>
          <a:p>
            <a:pPr>
              <a:spcAft>
                <a:spcPts val="1200"/>
              </a:spcAft>
            </a:pPr>
            <a:r>
              <a:rPr sz="1800">
                <a:solidFill>
                  <a:srgbClr val="1F2937"/>
                </a:solidFill>
                <a:latin typeface="Calibri"/>
              </a:rPr>
              <a:t>▸  Sud-tibbiy qo‘llanish: bosh miya jarohatidan (TBI) o‘lgan 15 holatning hammasida jarohat yonidagi neyronlarda FOXO3a musbat chiqdi. Jarohatsiz sabablardan o‘lgan 15 holatlik nazorat guruhida hammasi manfiy bo‘ldi. Jarohatdan keyin o‘tgan vaqt uzaygan sari (eng ko‘pi 6 soat) musbatlik kuchaygan. Muallifler namunalar soni kichikligini cheklov deb ta’kidlagan.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Adabiyotlar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Immunohistokimyoviy tekshiruvning asosiy tamoyillari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43 / 43</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800"/>
              </a:spcAft>
            </a:pPr>
            <a:r>
              <a:rPr sz="2000">
                <a:solidFill>
                  <a:srgbClr val="1F2937"/>
                </a:solidFill>
                <a:latin typeface="Calibri"/>
              </a:rPr>
              <a:t>▸  de Matos et al. Immunohistochemistry as an Important Tool in Biomarkers Detection and Clinical Practice, Biomarker Insights. 2010. PMID 20212918; DOI 10.4137/bmi.s2185</a:t>
            </a:r>
          </a:p>
          <a:p>
            <a:pPr>
              <a:spcAft>
                <a:spcPts val="800"/>
              </a:spcAft>
            </a:pPr>
            <a:r>
              <a:rPr sz="2000">
                <a:solidFill>
                  <a:srgbClr val="1F2937"/>
                </a:solidFill>
                <a:latin typeface="Calibri"/>
              </a:rPr>
              <a:t>▸  Maiese et al. The Expression of FOXO3a as a Forensic Diagnostic Tool in Cases of Traumatic Brain Injury: An Immunohistochemical Study, International Journal of Molecular Sciences. 2023. PMID 36768906; DOI 10.3390/ijms24032584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