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G-E bo‘yash nimani ko‘rsata oladi va nimani ko‘rsata olmaydi? 2) Sud-tibbiyotda marker aniqlash nimaga kerak bo‘lishi mumkin? Doskada: ikki ustunli jadval chizing, chapda “G-E”, o‘ngda “IHK”, talabalar to‘ldirsin. Tipik xato: IHK G-E o‘rnini bosadi deb o‘ylash. Aslida u qo‘shimcha usul.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“Hujayralar bilan suhbat” iborasi nimani anglatadi? 2) Nega IHKni faqat “bo‘yash” deb atash noto‘g‘ri bo‘lishi mumkin? Doskada: antigen, antikor va ko‘rinadigan bo‘yoq o‘rtasidagi bog‘lanishni oddiy strelkalar bilan chizing. Tipik xato: immunositokimyo va IHKni butunlay bir xil deb olish. Manbada atama ishlatilishi mualliflarga qarab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bosqichdagi xato natijani eng ko‘p buzishi mumkin? 2) Nega talqin alohida bosqich hisoblanadi? Doskada: 5 ta tugunli zanjirni talabalar daftariga chizib, har tugun yoniga bitta so‘z bilan maqsadini yozsin. Tipik xato: faqat laboratoriya reaksiyasini IHK deb hisoblash. Manbada talqin va miqdoriy baholash ham texnikaning ikkinchi bosqichi.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Coons qizil rang sezgirligini past deb hisobladi? 2) Fermentli belgilash usulni qanday qilib ko‘plab laboratoriyaga yetkazdi? Doskada: Marrack, Coons va Nakane vaqt chizig‘ini chizdiring va har biriga mikroskop turini yozdiring. Tipik xato: talabalar floresent usulni (Coons) fermentli usul (Nakane)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Belgilanmagan antikor usuli nimasi bilan oldingi usullardan farq qiladi? 2) DAB elektron mikroskopiyada nega foydali? Doskada: jadvalni chizib, har bir usulga muallifni yozdiring. APAAP to‘liq nomi: ishqoriy fosfataza–anti-ishqoriy fosfataza. Tipik xato: PAP (peroksidaza) va APAAP (ishqoriy fosfataza) fermentlarini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Antigenni ochish formalin bilan fiksatsiyalangan to‘qimada nega kerak? 2) Ikkilamchi antikor tizimi nima uchun ishlatiladi? Doskada: jarayon zanjirini chizing. Qo‘shimcha: ABC va LSAB yangi namunalarda ham, fiksatsiyalangan to‘qimada ham qo‘llanishga imkon berdi. Tipik xato: ABC va LSAB ni birlamchi antikor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fermentli belgi ftorestsent belgidan qulay bo‘ldi? 2) Formalin-parafin to‘qimada IHK nega muhim edi? Doskaga: Coons → Nakane → formalin-parafin zanjirini chizdiring. Tipik xato: Coons usulini (fluorestsein) Nakane usuli (ferment)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Differensiallanmagan o‘smada IHK nima beradi? 2) Yaxshi va yomon sifatli proliferatsiyani ajratish nega muhim? Doskaga: besh sohani markaziy ’IHK’ atrofida chizdiring. Tipik xato: IHK gematoksilin-eozinni almashtiradi deb o‘ylash; u faqat to‘ldiruvchi usul.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83% va 95% bir narsa emas? 2) IHK samarasiz bo‘lishining sabablari qanday? Doskaga: 3760 ni 19/17/64% ga bo‘lgan doira diagrammasini chizdiring. Tipik xato: 83% ni barcha namunalarga nisbatan deb o‘ylash; u faqat 835 diagnostik holatga tegishli.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G-E nega yetarli bo‘lmay qolishi mumkin? 2) IHK 5% holatda nega yordam bermaydi? Doskaga chizish: ikki ustun (IHK yordam beradi / bermaydi) va ularga misollar. Tipik xato: IHK ni mustaqil usul deb o‘ylash. Manbada u G-E ni to‘ldiruvchi (komplementar) usul. Werner ma’lumotiga ko‘ra, 3760 namunaning 64% diagnostik maqsadda tekshirilgan, 95% holatda IHK yordamchi usul bo‘lgan.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IHK — maxsus antikorlar yordamida to‘qima antigenlarini aniqlovchi, bo‘yalish orqali ko‘rinadigan usullar yig‘indisi; hujayra preparatlarida immunositokimyo. 2) Coons — Streptococcus pneumoniae ga qarshi fluorestsein bilan belgilangan antikor, ultrabinafsha nurda ko‘rilgan; Nakane — ferment bilan belgilangan antikorlar, reaksiyani oddiy optik mikroskopda ko‘rish imkoni. 3) DAB — peroksidaza uchun eng ko‘p ishlatiladigan xromogen; elektronzich cho‘kma hosil qilib, ferritinni almashtirgan. 4) Diagnostik maqsad 64%; 835 holatdan 83% da aniq tashxisga hissa, aniqlanmagan tashxislar 12% ga kamaygan. Doskaga chizish: tarixiy vaqt chizig‘i (Coons → Nakane → DAB). Tipik xato: Coons usulini ferment usuli bilan aralashtirish. Coons fluorestsent, Nakane fermentli. Diqqat: Coons ≠ Nakane.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Antigenni ochish nega birinchi turadi? 2) Nega bosqichlar tartibini buzish yolg‘on natija beradi? Doskaga chizish: 5 tugunli zanjir; ‘Nospetsifik/peroksidaza bloki’ ni ikkita alohida bosqichga ajrating, ‘Aniqlash va ochish’ ni ham ikkiga bo‘ling (jami 7 bosqich). Oxirida preparatni yopish (mounting) va saqlash bor. Tipik xato: birlamchi antikorni antigenni ochishdan oldin qo‘yish yoki endogen peroksidazani bloklashni unutish.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operatsiya xonasida fiksatorni tanlash muhim? 2) Tripsin bilan ishlov berish nega bir markerga foyda, boshqasiga zarar? Doskada: formalin va etanol uchun ikki ustunli solishtirish jadvalini chizing. Tipik xato: formalin eng yaxshi fiksator deb, barcha epitoplar uchun mos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Juda yupqa va juda qalin kesma natijaga qanday ta’sir qiladi? 2) Yuqori harorat nimani buzadi? Doskada: 3 va 7 μm chegaralarini sonlar o‘qida belgilang. Tipik xato: yupqaroq kesma doim aniqroq natija beradi deb o‘ylash; aslida 3 μm dan yupqasi zaif bo‘yaladi.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qon quyilgan va nekrotik joy mos emas? 2) Chegara zonasi nima uchun qimmatli? Doskada: o‘sma, chegara, atrofdagi parenxima va nekroz zonasini sxema qilib, blok olinadigan joyni belgilang. Tipik xato: eng katta nekrotik qismdan blok tanlash.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kuchaytirish kuchi oshganda nospetsifik reaksiya xavfi ham ortadi? 2) Swansonning ‘universal usul yo‘q’ fikri amaliyotda nimani anglatadi? Doskada: 5 bosqichli zanjirni chizib, har bosqich yoniga ‘foyda’ va ‘xavf’ yozdiring. Tipik xato: HIER va ABC ni bir xil narsa deb o‘ylash – biri epitopni ochadi, ikkinchisi signalni kuchaytiradi.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holatda sezuvchanlik, qaysida o‘ziga xoslik muhimroq? 2) Titrlash nega har yangi seriyada takrorlanadi? Doskada: bitta antigenda ko‘p epitopni va bitta epitopni chizib, antikorlarni ulang. Tipik xato: monoklonal antikorni doim ‘yaxshiroq’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klinik ma’lumotsiz panel tanlash xavfli? 2) 42,1 foiz raqami laboratoriya nazoratiga nimani o‘rgatadi? Doskada: ‘klinik savol → panel → naqsh talqini → tashxis’ zanjirini chizdiring. Tipik xato: ko‘p antikor tanlashni yaxshi panel deb o‘ylash; gap antikorlar sonida emas, mantiqiy tanlovda.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tashqi nazorat sinov namunasi bilan bir xil sharoitda fiksatsiya qilinishi kerak? 2) Preparatning qaysi tuzilmalari ichki nazorat bo‘la oladi? Doskada chizish: bitta preparat sxemasini chizib, unda tomir, ko‘krak yo‘li va eritrotsitlarni belgilang. Tipik xato: talabalar ichki nazoratni tashqi nazorat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Fiksatsiya xatosi qaysi bias turiga kiradi? 2) Noto‘g‘ri panel tanlash natijaga qanday ta’sir qiladi? Doskada chizish: ikki ustunli sxema — chapda reaksiya biasi, o‘ngda talqin biasi, har biriga uchta misol yozing. Tipik xato: talabalar panel va klon tanlashni texnik (reaksiya) xato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reagentlar ketma-ketligini qat’iy saqlash kerak? 2) Yozuvlar yuritish laboratoriyaga qanday foyda beradi? Doskada chizish: reaksiya bosqichlarining ish sxemasini ketma-ketlikda yozing. Tipik xato: talabalar Immunoquery va UK NEQAS ni bir xil turdagi dastur deb o‘ylaydi — biri elektron baza, ikkinchisi tashqi sifat baholash sxemasi.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paraffin blokdagi namuna shishadagi kesmadan uzoq saqlanadi? 2) Operatsiya xonasida fiksatorni noto‘g‘ri tanlash keyin qanday qiyinchilik tug‘diradi? Doskada chizish: namuna olishdan bo‘yashgacha zanjir, xavfli bosqichlarni qizil bilan belgilang. Tipik xato: 12 haftalik yo‘qotish paraffin blokka ham tegishli deb o‘ylash. Manbada blokda 10 yildan ortiq bunday yo‘qotish kuzatilmagan.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3–7 mkm; yupqasi juda kuchsiz bo‘yaladi, qalini shishadan to‘qima ko‘chishiga va tahlilning qiyinlashishiga olib keladi. 2) Formaldegid epitoplarni niqoblaydi, antigenni tiklash usullari ularni ochadi. 3) Poliklonal bir antigenning ko‘p epitopini taniydi, sezgirroq. Monoklonal bitta epitopni taniydi, o‘ziga xosroq. 4) Tashqi nazorat: har bir antikor uchun o‘sha sharoitda fiksatsiyalangan maxsus to‘qima kesmasi. Ichki musbat: tomirlar vimentin uchun, ko‘krak naylari estrogen va progesteron retseptorlari uchun. Ichki manfiy: qon tomirlaridagi eritrotsitlar, ular endogen peroksidaza manbai. Doskada chizish: ikki ustunli jadval, poliklonal va monoklonal. Tipik xato: poliklonal antikorni o‘ziga xosroq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bo‘yalish turli mualliflarda musbat yoki manfiy deb baholanishi mumkin? 2) Molekulaning vazifasini bilish talqinga qanday yordam beradi? Doskada chizish: hujayrani chizib, yadro, sitoplazma va membranani belgilang, HER2 va S-100 bo‘yalish joylarini ko‘rsating. Tipik xato: har qanday jigarrang bo‘yalishni klinik jihatdan ahamiyatli musbat deb qabul qilish. Manbaga ko‘ra jigarrang bo‘yalgan preparat musbat hisoblanadi, so‘ng molekula ifodasi klinik-morfologik kontekstda tahlil qilinadi.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“Musbat” ta’rifi nega turli mualliflarda har xil? 2) Nega HER2 da bo‘yalish joyi muhim? Doskada: jadvalni chizib, har qatorga “musbat/shubhali” belgisini talabalar qo‘ysin. Tipik xato: har qanday jigarrang bo‘yalishni HER2 gen amplifikatsiyasi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Donador naqsh qaysi markerlar uchun kutiladi? 2) Nega bitta marker o‘rniga bog‘liq markerlar juftligi ishonchliroq? Doskada: hujayra sxemasini chizib, membrana, sitoplazma va yadroni belgilang. Tipik xato: kutilmagan bo‘yalishni darhol soxta musbat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Faqat sitoplazmatik HER2 bo‘yalishi bilan davo tanlash mumkinmi? 2) Klinik-morfologik kontekst qanday ma’lumotlarni o‘z ichiga oladi? Doskada: “bo‘yalish joyi → talqin → xulosa” zanjirini chizing. Tipik xato: bo‘yalish joyini hisobga olmay, faqat rang borligiga qarab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tamoyil ELISA da «miqdoriy», IHK da «bo‘yalish» deyiladi? 2) Western blot bilan korrelyatsiya nimani isbotlaydi? Doskada: ELISA va IHK ustunli taqqoslash jadvalini chizdiring. Tipik xato: IHK ni faqat tasviriy (deskriptiv) usul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Intensivlikni baholashda nazorat namunalari nega kerak? 2) Ball tizimi qaysi markerlar uchun ayniqsa muhim? Doskada: 4 qatorli mezonlar jadvalini chizdiring. Tipik xato: yarim miqdoriy bahoni to‘liq miqdoriy natija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kichik laboratoriyalarda kompyuter tahlili kam uchragan? 2) Patolog va klinitsist hamkorligi sud-tibbiy ekspertizada qanday foyda beradi? Doskada: IHK usullari rivojini «qo‘l bahosi → ball → kompyuter» chizig‘i ko‘rinishida chizdiring. Tipik xato: EPOS ni yangi antitana turi deb o‘ylash; u inkubatsiya bosqichlarini kamaytiruvchi polimer tizimdir.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avval talabalarga bering, so‘ng javobni oching. Muhokama: nega ELISA bilan solishtirish IHK ni “faqat bo‘yash” deb atashga qarshi dalil bo‘ladi? Hujayra bo‘laklari (membrana, sitoplazma, yadro) bo‘yalishini doskada chizdiring. Tipik xato: har qanday jigarrang bo‘yalishni klinik jihatdan ahamiyatli deb hisoblash; HER2 da faqat membrana bo‘yalishi gen amplifikatsiyasi bilan bog‘liq.</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birlamchi zararni davolash qiyin, ikkilamchisini esa oldini olish mumkin? FOXO3a sud-tibbiy diagnostikada qanday foyda berishi mumkin? Doskada TBI dan apoptozgacha zanjirni chizdiring. Tipik xato: birlamchi va ikkilamchi zararni alohida jarayon deb o‘ylash; ular ko‘pincha birga uchraydi, bo‘linish didaktik.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musbat nazorat sifatida ko‘krak saratoni ishlatilgan? Nega ikki mustaqil kuzatuvchi va uchinchi hakam kerak? Doskada protokol bosqichlarini tartib bilan chizdiring. Tipik xato: kesma qalinligi va fiksatsiya sharoitini e’tiborsiz qoldirish; bu natijaga ta’sir qiladi. Tadqiqot kichik (30 holat), shuning uchun dastlabki deb baholanadi.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baholashni ikki mustaqil kishi ko‘r usulda o‘tkazadi? 2) Nazorat guruhi nimani ko‘rsatadi? Doskada: 0–4 shkalani chizib, har ballga bo‘yalish ulushini yozdiring. Tipik xato: ball shkalasini ’kuchli/kuchsiz’ degan subyektiv baho bilan aralashtirish; bu yerda ball bo‘yalgan maydon ulushiga asoslangan.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Musbat FOXO3a jarohat vaqtini aniq aytib beradimi? 2) Kichik tanlama sud-tibbiy xulosaga qanday ta’sir qiladi? Doskada: jarohat → ikkilamchi jarohat → FOXO3a ortishi → IHK da musbat zanjirini chizdiring. Tipik xato: dastlabki natijani tasdiqlangan diagnostik mezon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IHK natijasiga ta’sir qiluvchi 3 omilni sanang. 2) Nega sud-tibbiyotda nazorat guruhi shart? Doskada: IHK bosqichlarini (tayyorlash → reaksiya → talqin → miqdoriy baho) zanjir qilib chizdiring. Tipik xato: IHK ni faqat ’bo‘yash’ deb qarab, nazorat va talqinni e’tibordan chetda qoldirish.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Immunohistokimyoviy tekshiruvning asosiy tamoyillari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 va dars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Immunohistokimyo (IHK) to‘qima va hujayra antigenlarini qidiradi: aminokislota, oqsil, infeksion agent va aniq hujayra populyatsiyalari. Buning uchun maxsus antikorlar ishlatiladi.</a:t>
            </a:r>
          </a:p>
          <a:p>
            <a:pPr>
              <a:spcAft>
                <a:spcPts val="1200"/>
              </a:spcAft>
            </a:pPr>
            <a:r>
              <a:rPr sz="2200">
                <a:solidFill>
                  <a:srgbClr val="1F2937"/>
                </a:solidFill>
                <a:latin typeface="Calibri"/>
              </a:rPr>
              <a:t>▸  Gematoksilin-eozin (G-E) bilan odatiy tahlilda aniqlab bo‘lmaydigan differensial tashxislarda IHK qo‘shimcha usul vazifasini bajaradi.</a:t>
            </a:r>
          </a:p>
          <a:p>
            <a:pPr>
              <a:spcAft>
                <a:spcPts val="1200"/>
              </a:spcAft>
            </a:pPr>
            <a:r>
              <a:rPr sz="2200">
                <a:solidFill>
                  <a:srgbClr val="1F2937"/>
                </a:solidFill>
                <a:latin typeface="Calibri"/>
              </a:rPr>
              <a:t>▸  Sud-tibbiyotdan misol: travmatik bosh miya jarohati (TBI) o‘limida FOXO3a oqsili 15 ta holatning hammasida musbat, 15 ta nazoratda manfiy chiqqan.</a:t>
            </a:r>
          </a:p>
          <a:p>
            <a:pPr>
              <a:spcAft>
                <a:spcPts val="1200"/>
              </a:spcAft>
            </a:pPr>
            <a:r>
              <a:rPr sz="2200">
                <a:solidFill>
                  <a:srgbClr val="1F2937"/>
                </a:solidFill>
                <a:latin typeface="Calibri"/>
              </a:rPr>
              <a:t>▸  Dars rejasi: usulning tarixi, qo‘llanilishi, cheklovlari, natijani talqin qilish va miqdoriy baholash, so‘ng sud-tibbiy tadqiqot tahlili.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Abstract; The Immunohistochemistry Technique, PMID 20212918, Abstract; History, PMID 20212918, Abstract; Maiese et al., The Expression of FOXO3a as a Forensic Diagnostic Tool in Cases of Traumatic Brain Injury: An Immunohistochemical Study, betlar: PMID 36768906, Abstract;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IHK nima? Hujayralar bilan “suhbat”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IHK — to‘qima tarkibiy qismlari (antigenlar)ni maxsus antikorlar bilan aniqlaydigan usullarning umumiy nomi. Antikor bo‘yalish orqali ko‘rinadi.</a:t>
            </a:r>
          </a:p>
          <a:p>
            <a:pPr>
              <a:spcAft>
                <a:spcPts val="1200"/>
              </a:spcAft>
            </a:pPr>
            <a:r>
              <a:rPr sz="2000">
                <a:solidFill>
                  <a:srgbClr val="1F2937"/>
                </a:solidFill>
                <a:latin typeface="Calibri"/>
              </a:rPr>
              <a:t>▸  Diqqat: hujayra preparatlarida usul immunositokimyo deyiladi. Ba’zi mualliflar bu atamani to‘qima kesmalariga ham qo‘llaydi.</a:t>
            </a:r>
          </a:p>
          <a:p>
            <a:pPr>
              <a:spcAft>
                <a:spcPts val="1200"/>
              </a:spcAft>
            </a:pPr>
            <a:r>
              <a:rPr sz="2000">
                <a:solidFill>
                  <a:srgbClr val="1F2937"/>
                </a:solidFill>
                <a:latin typeface="Calibri"/>
              </a:rPr>
              <a:t>▸  Brandtzaeg fikricha, hujayra markerlarini bo‘yash hujayralar bilan “suhbat” qilishdir. To‘g‘ri antikorlar bilan hujayra kelib chiqishi va tirik organizmdagi vazifasi aniqlanadi.</a:t>
            </a:r>
          </a:p>
          <a:p>
            <a:pPr>
              <a:spcAft>
                <a:spcPts val="1200"/>
              </a:spcAft>
            </a:pPr>
            <a:r>
              <a:rPr sz="2000">
                <a:solidFill>
                  <a:srgbClr val="1F2937"/>
                </a:solidFill>
                <a:latin typeface="Calibri"/>
              </a:rPr>
              <a:t>▸  Brandtzaeg IHKni faqat tavsifiy usul deb atashni noo‘rin hisoblaydi. In vitro va in situ tajribalar in vivo holatning “suratlari” bo‘lib, biotibbiy tadqiqotning tayanchidir.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The Immunohistochemistry Technique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IHK texnikasining ikki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1-bosqich: preparat tayyorlash (fiksatsiya, to‘qima ishlovi) va reaksiya bosqichlari.</a:t>
            </a:r>
          </a:p>
          <a:p>
            <a:pPr>
              <a:spcAft>
                <a:spcPts val="800"/>
              </a:spcAft>
            </a:pPr>
            <a:r>
              <a:rPr sz="1800">
                <a:solidFill>
                  <a:srgbClr val="1F2937"/>
                </a:solidFill>
                <a:latin typeface="Calibri"/>
              </a:rPr>
              <a:t>▸  Tartib: antigenni ochish, nospetsifik joy va endogen peroksidazani bloklash, birlamchi antikor.</a:t>
            </a:r>
          </a:p>
          <a:p>
            <a:pPr>
              <a:spcAft>
                <a:spcPts val="800"/>
              </a:spcAft>
            </a:pPr>
            <a:r>
              <a:rPr sz="1800">
                <a:solidFill>
                  <a:srgbClr val="1F2937"/>
                </a:solidFill>
                <a:latin typeface="Calibri"/>
              </a:rPr>
              <a:t>▸  2-bosqich: olingan ekspressiyani talqin qilish va miqdoriy baholash.</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Fiksatsiya, to‘qima ishlovi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Antigenni ochish, bloklash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Birlamchi antikor, deteksiya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Vizualizatsiya, qarama-bo‘yash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Talqin va miqdoriy baholash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IHK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The Immunohistochemistry Technique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Tarix: Marrack va Coons dan Nakanegacha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Marrack tifo va vabo mikroblariga qarshi reagentlar yaratdi; ularda qizil bo‘yoq biriktirilgan edi.</a:t>
            </a:r>
          </a:p>
          <a:p>
            <a:pPr>
              <a:spcAft>
                <a:spcPts val="800"/>
              </a:spcAft>
            </a:pPr>
            <a:r>
              <a:rPr sz="1800">
                <a:solidFill>
                  <a:srgbClr val="1F2937"/>
                </a:solidFill>
                <a:latin typeface="Calibri"/>
              </a:rPr>
              <a:t>▸  Coons 1940-yillar boshida pnevmokokkka qarshi ftorestseinli antikor bilan antigenni to‘qimada topdi.</a:t>
            </a:r>
          </a:p>
          <a:p>
            <a:pPr>
              <a:spcAft>
                <a:spcPts val="800"/>
              </a:spcAft>
            </a:pPr>
            <a:r>
              <a:rPr sz="1800">
                <a:solidFill>
                  <a:srgbClr val="1F2937"/>
                </a:solidFill>
                <a:latin typeface="Calibri"/>
              </a:rPr>
              <a:t>▸  Diqqat: Coons usuli floresent mikroskopda, Nakane fermentli usuli oddiy optik mikroskopda ko‘rinadi.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Marrack: qizil bo‘yoqli reagent</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Coons: ftorestseinli antikor</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Nakane: fermentli antikor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1960-yillar: optik mikroskop</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Vaqt chizig‘i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History bo‘limi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PAP, APAAP, DAB va kolloid oltin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PAP (peroksidaza–antiperoksidaza) va APAAP (ishqoriy fosfataza) — belgilanmagan antikor usullari.</a:t>
            </a:r>
          </a:p>
          <a:p>
            <a:pPr>
              <a:spcAft>
                <a:spcPts val="800"/>
              </a:spcAft>
            </a:pPr>
            <a:r>
              <a:rPr sz="1800">
                <a:solidFill>
                  <a:srgbClr val="1F2937"/>
                </a:solidFill>
                <a:latin typeface="Calibri"/>
              </a:rPr>
              <a:t>▸  DAB (diaminobenzidin) — peroksidaza uchun eng ko‘p ishlatiladigan xromogen, elektron zich cho‘kma beradi.</a:t>
            </a:r>
          </a:p>
          <a:p>
            <a:pPr>
              <a:spcAft>
                <a:spcPts val="800"/>
              </a:spcAft>
            </a:pPr>
            <a:r>
              <a:rPr sz="1800">
                <a:solidFill>
                  <a:srgbClr val="1F2937"/>
                </a:solidFill>
                <a:latin typeface="Calibri"/>
              </a:rPr>
              <a:t>▸  Kolloid oltin zarrachalari keyinchalik hujayra ichi (subcellular) immunobo‘yash usuliga olib keldi.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809750"/>
                <a:gridCol w="1853845"/>
                <a:gridCol w="1624379"/>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c>
                  <a:txBody>
                    <a:bodyPr/>
                    <a:lstStyle/>
                    <a:p>
                      <a:r>
                        <a:rPr sz="1600" b="1">
                          <a:solidFill>
                            <a:srgbClr val="FFFFFF"/>
                          </a:solidFill>
                        </a:rPr>
                        <a:t>Ahamiyati</a:t>
                      </a:r>
                    </a:p>
                  </a:txBody>
                  <a:tcPr marL="73152" marR="73152" marT="36576" marB="36576">
                    <a:solidFill>
                      <a:srgbClr val="0B1F3A"/>
                    </a:solidFill>
                  </a:tcPr>
                </a:tc>
              </a:tr>
              <a:tr h="614476">
                <a:tc>
                  <a:txBody>
                    <a:bodyPr/>
                    <a:lstStyle/>
                    <a:p>
                      <a:r>
                        <a:rPr sz="1500" b="0">
                          <a:solidFill>
                            <a:srgbClr val="1F2937"/>
                          </a:solidFill>
                        </a:rPr>
                        <a:t>PAP (Sternberger)</a:t>
                      </a:r>
                    </a:p>
                  </a:txBody>
                  <a:tcPr marL="73152" marR="73152" marT="36576" marB="36576">
                    <a:solidFill>
                      <a:srgbClr val="E8EEF6"/>
                    </a:solidFill>
                  </a:tcPr>
                </a:tc>
                <a:tc>
                  <a:txBody>
                    <a:bodyPr/>
                    <a:lstStyle/>
                    <a:p>
                      <a:r>
                        <a:rPr sz="1500" b="0">
                          <a:solidFill>
                            <a:srgbClr val="1F2937"/>
                          </a:solidFill>
                        </a:rPr>
                        <a:t>Belgilanmagan antikor, peroksidaza</a:t>
                      </a:r>
                    </a:p>
                  </a:txBody>
                  <a:tcPr marL="73152" marR="73152" marT="36576" marB="36576">
                    <a:solidFill>
                      <a:srgbClr val="E8EEF6"/>
                    </a:solidFill>
                  </a:tcPr>
                </a:tc>
                <a:tc>
                  <a:txBody>
                    <a:bodyPr/>
                    <a:lstStyle/>
                    <a:p>
                      <a:r>
                        <a:rPr sz="1500" b="0">
                          <a:solidFill>
                            <a:srgbClr val="1F2937"/>
                          </a:solidFill>
                        </a:rPr>
                        <a:t>Qo‘llanish doirasi sezilarli kengaydi</a:t>
                      </a:r>
                    </a:p>
                  </a:txBody>
                  <a:tcPr marL="73152" marR="73152" marT="36576" marB="36576">
                    <a:solidFill>
                      <a:srgbClr val="E8EEF6"/>
                    </a:solidFill>
                  </a:tcPr>
                </a:tc>
              </a:tr>
              <a:tr h="614476">
                <a:tc>
                  <a:txBody>
                    <a:bodyPr/>
                    <a:lstStyle/>
                    <a:p>
                      <a:r>
                        <a:rPr sz="1500" b="0">
                          <a:solidFill>
                            <a:srgbClr val="1F2937"/>
                          </a:solidFill>
                        </a:rPr>
                        <a:t>APAAP (Mason)</a:t>
                      </a:r>
                    </a:p>
                  </a:txBody>
                  <a:tcPr marL="73152" marR="73152" marT="36576" marB="36576">
                    <a:solidFill>
                      <a:srgbClr val="FFFFFF"/>
                    </a:solidFill>
                  </a:tcPr>
                </a:tc>
                <a:tc>
                  <a:txBody>
                    <a:bodyPr/>
                    <a:lstStyle/>
                    <a:p>
                      <a:r>
                        <a:rPr sz="1500" b="0">
                          <a:solidFill>
                            <a:srgbClr val="1F2937"/>
                          </a:solidFill>
                        </a:rPr>
                        <a:t>Belgilanmagan antikor, ishqoriy fosfataza</a:t>
                      </a:r>
                    </a:p>
                  </a:txBody>
                  <a:tcPr marL="73152" marR="73152" marT="36576" marB="36576">
                    <a:solidFill>
                      <a:srgbClr val="FFFFFF"/>
                    </a:solidFill>
                  </a:tcPr>
                </a:tc>
                <a:tc>
                  <a:txBody>
                    <a:bodyPr/>
                    <a:lstStyle/>
                    <a:p>
                      <a:r>
                        <a:rPr sz="1500" b="0">
                          <a:solidFill>
                            <a:srgbClr val="1F2937"/>
                          </a:solidFill>
                        </a:rPr>
                        <a:t>Qo‘llanish doirasi sezilarli kengaydi</a:t>
                      </a:r>
                    </a:p>
                  </a:txBody>
                  <a:tcPr marL="73152" marR="73152" marT="36576" marB="36576">
                    <a:solidFill>
                      <a:srgbClr val="FFFFFF"/>
                    </a:solidFill>
                  </a:tcPr>
                </a:tc>
              </a:tr>
              <a:tr h="614476">
                <a:tc>
                  <a:txBody>
                    <a:bodyPr/>
                    <a:lstStyle/>
                    <a:p>
                      <a:r>
                        <a:rPr sz="1500" b="0">
                          <a:solidFill>
                            <a:srgbClr val="1F2937"/>
                          </a:solidFill>
                        </a:rPr>
                        <a:t>DAB</a:t>
                      </a:r>
                    </a:p>
                  </a:txBody>
                  <a:tcPr marL="73152" marR="73152" marT="36576" marB="36576">
                    <a:solidFill>
                      <a:srgbClr val="E8EEF6"/>
                    </a:solidFill>
                  </a:tcPr>
                </a:tc>
                <a:tc>
                  <a:txBody>
                    <a:bodyPr/>
                    <a:lstStyle/>
                    <a:p>
                      <a:r>
                        <a:rPr sz="1500" b="0">
                          <a:solidFill>
                            <a:srgbClr val="1F2937"/>
                          </a:solidFill>
                        </a:rPr>
                        <a:t>Peroksidaza xromogeni</a:t>
                      </a:r>
                    </a:p>
                  </a:txBody>
                  <a:tcPr marL="73152" marR="73152" marT="36576" marB="36576">
                    <a:solidFill>
                      <a:srgbClr val="E8EEF6"/>
                    </a:solidFill>
                  </a:tcPr>
                </a:tc>
                <a:tc>
                  <a:txBody>
                    <a:bodyPr/>
                    <a:lstStyle/>
                    <a:p>
                      <a:r>
                        <a:rPr sz="1500" b="0">
                          <a:solidFill>
                            <a:srgbClr val="1F2937"/>
                          </a:solidFill>
                        </a:rPr>
                        <a:t>Elektron mikroskopda ferritin o‘rniga</a:t>
                      </a:r>
                    </a:p>
                  </a:txBody>
                  <a:tcPr marL="73152" marR="73152" marT="36576" marB="36576">
                    <a:solidFill>
                      <a:srgbClr val="E8EEF6"/>
                    </a:solidFill>
                  </a:tcPr>
                </a:tc>
              </a:tr>
              <a:tr h="614476">
                <a:tc>
                  <a:txBody>
                    <a:bodyPr/>
                    <a:lstStyle/>
                    <a:p>
                      <a:r>
                        <a:rPr sz="1500" b="0">
                          <a:solidFill>
                            <a:srgbClr val="1F2937"/>
                          </a:solidFill>
                        </a:rPr>
                        <a:t>Kolloid oltin</a:t>
                      </a:r>
                    </a:p>
                  </a:txBody>
                  <a:tcPr marL="73152" marR="73152" marT="36576" marB="36576">
                    <a:solidFill>
                      <a:srgbClr val="FFFFFF"/>
                    </a:solidFill>
                  </a:tcPr>
                </a:tc>
                <a:tc>
                  <a:txBody>
                    <a:bodyPr/>
                    <a:lstStyle/>
                    <a:p>
                      <a:r>
                        <a:rPr sz="1500" b="0">
                          <a:solidFill>
                            <a:srgbClr val="1F2937"/>
                          </a:solidFill>
                        </a:rPr>
                        <a:t>Immunobo‘yoq zarrachalari</a:t>
                      </a:r>
                    </a:p>
                  </a:txBody>
                  <a:tcPr marL="73152" marR="73152" marT="36576" marB="36576">
                    <a:solidFill>
                      <a:srgbClr val="FFFFFF"/>
                    </a:solidFill>
                  </a:tcPr>
                </a:tc>
                <a:tc>
                  <a:txBody>
                    <a:bodyPr/>
                    <a:lstStyle/>
                    <a:p>
                      <a:r>
                        <a:rPr sz="1500" b="0">
                          <a:solidFill>
                            <a:srgbClr val="1F2937"/>
                          </a:solidFill>
                        </a:rPr>
                        <a:t>Hujayra ichi bo‘yash usuli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va ahamiyati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History bo‘limi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Antigenni ochish va ABC/LSAB tizimlari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Antigenni ochish usuli Huang tomonidan kashf etildi: epitoplar ochilib, antikor bog‘lanishi osonlashdi.</a:t>
            </a:r>
          </a:p>
          <a:p>
            <a:pPr>
              <a:spcAft>
                <a:spcPts val="800"/>
              </a:spcAft>
            </a:pPr>
            <a:r>
              <a:rPr sz="1800">
                <a:solidFill>
                  <a:srgbClr val="1F2937"/>
                </a:solidFill>
                <a:latin typeface="Calibri"/>
              </a:rPr>
              <a:t>▸  Hsu: ABC (avidin–biotin–peroksidaza) va LSAB (streptavidin–biotin) ikkilamchi antikor tizimlari.</a:t>
            </a:r>
          </a:p>
          <a:p>
            <a:pPr>
              <a:spcAft>
                <a:spcPts val="800"/>
              </a:spcAft>
            </a:pPr>
            <a:r>
              <a:rPr sz="1800">
                <a:solidFill>
                  <a:srgbClr val="1F2937"/>
                </a:solidFill>
                <a:latin typeface="Calibri"/>
              </a:rPr>
              <a:t>▸  Formalin–parafin to‘qimada isbotlangach usul kundalik tashxisga kirdi (“jigarrang inqilob”).</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Antigenni ochish (Huang)</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ABC/LSAB tizimlari (Hsu)</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Formalin–parafinda aniqlash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Kundalik tashxisga kirdi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“Jigarrang inqilob”</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Kundalik tashxisga yo‘l</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History bo‘limi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tarix bo‘limi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1940-yillar boshida Coons pnevmokokk antitanalarini fluorestsein bilan bo‘yab, antigenni ultrabinafsha nurda (ftorestsent mikroskopda) ko‘rdi.</a:t>
            </a:r>
          </a:p>
          <a:p>
            <a:pPr>
              <a:spcAft>
                <a:spcPts val="1200"/>
              </a:spcAft>
            </a:pPr>
            <a:r>
              <a:rPr sz="2200">
                <a:solidFill>
                  <a:srgbClr val="1F2937"/>
                </a:solidFill>
                <a:latin typeface="Calibri"/>
              </a:rPr>
              <a:t>▸  1960-yillarda Nakane antitanalarni ferment bilan belgiladi. Reaksiyani oddiy yorug‘lik mikroskopida ko‘rish mumkin bo‘ldi.</a:t>
            </a:r>
          </a:p>
          <a:p>
            <a:pPr>
              <a:spcAft>
                <a:spcPts val="1200"/>
              </a:spcAft>
            </a:pPr>
            <a:r>
              <a:rPr sz="2200">
                <a:solidFill>
                  <a:srgbClr val="1F2937"/>
                </a:solidFill>
                <a:latin typeface="Calibri"/>
              </a:rPr>
              <a:t>▸  Natijada usul ftorestsent mikroskopli laboratoriyalardan chiqib, ko‘plab tadqiqotchi va patologlarga tarqaldi.</a:t>
            </a:r>
          </a:p>
          <a:p>
            <a:pPr>
              <a:spcAft>
                <a:spcPts val="1200"/>
              </a:spcAft>
            </a:pPr>
            <a:r>
              <a:rPr sz="2200">
                <a:solidFill>
                  <a:srgbClr val="1F2937"/>
                </a:solidFill>
                <a:latin typeface="Calibri"/>
              </a:rPr>
              <a:t>▸  Savol: qaysi kashfiyot hal qiluvchi bo‘ldi? Kundalik amaliyotga esa formalinda fiksatsiyalangan, parafinlangan to‘qimada antigenni ko‘rsatish imkoni kirgizdi.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History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IHK qo‘llanish sohalari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Immunohistokimyo (IHK) o‘smaning genezisi va subtipini aniqlashda yordamchi usul sifatida ishlatiladi.</a:t>
            </a:r>
          </a:p>
          <a:p>
            <a:pPr>
              <a:spcAft>
                <a:spcPts val="800"/>
              </a:spcAft>
            </a:pPr>
            <a:r>
              <a:rPr sz="1800">
                <a:solidFill>
                  <a:srgbClr val="1F2937"/>
                </a:solidFill>
                <a:latin typeface="Calibri"/>
              </a:rPr>
              <a:t>▸  Usul birlamchi o‘choqni, prognostik omillarni va davo ko‘rsatmalarini izlashda ham qo‘llanadi.</a:t>
            </a:r>
          </a:p>
          <a:p>
            <a:pPr>
              <a:spcAft>
                <a:spcPts val="800"/>
              </a:spcAft>
            </a:pPr>
            <a:r>
              <a:rPr sz="1800">
                <a:solidFill>
                  <a:srgbClr val="1F2937"/>
                </a:solidFill>
                <a:latin typeface="Calibri"/>
              </a:rPr>
              <a:t>▸  Hujayralar ajratgan tuzilma, organizm va moddalar ham aniqlanadi.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O‘sma genezisini aniqlash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Subtiplash (masalan, limfoma)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Birlamchi o‘choqni aniqlash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Prognostik omillarni izlash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Yaxshi/yomon sifatni ajratish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IHK qo‘llanish sohalari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Applications and importance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Werner tadqiqoti: IHK foydasi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Werner tadqiqotida 3760 namuna baholandi; 64% holatda IHK diagnostik maqsadda qo‘llangan.</a:t>
            </a:r>
          </a:p>
          <a:p>
            <a:pPr>
              <a:spcAft>
                <a:spcPts val="800"/>
              </a:spcAft>
            </a:pPr>
            <a:r>
              <a:rPr sz="1800">
                <a:solidFill>
                  <a:srgbClr val="1F2937"/>
                </a:solidFill>
                <a:latin typeface="Calibri"/>
              </a:rPr>
              <a:t>▸  835 diagnostik holatning 83% ida aniq tashxisga hissa qo‘shdi, noaniq tashxislar 12% ga kamaydi.</a:t>
            </a:r>
          </a:p>
          <a:p>
            <a:pPr>
              <a:spcAft>
                <a:spcPts val="800"/>
              </a:spcAft>
            </a:pPr>
            <a:r>
              <a:rPr sz="1800">
                <a:solidFill>
                  <a:srgbClr val="1F2937"/>
                </a:solidFill>
                <a:latin typeface="Calibri"/>
              </a:rPr>
              <a:t>▸  5% da yordam bermadi: namuna kichik, nekroz keng yoki o‘sma juda differensiallanmagan. Umumiy foyda 95%.</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3585067"/>
                <a:gridCol w="1702907"/>
              </a:tblGrid>
              <a:tr h="614476">
                <a:tc>
                  <a:txBody>
                    <a:bodyPr/>
                    <a:lstStyle/>
                    <a:p>
                      <a:r>
                        <a:rPr sz="1800" b="1">
                          <a:solidFill>
                            <a:srgbClr val="FFFFFF"/>
                          </a:solidFill>
                        </a:rPr>
                        <a:t>Maqsad</a:t>
                      </a:r>
                    </a:p>
                  </a:txBody>
                  <a:tcPr marL="73152" marR="73152" marT="36576" marB="36576">
                    <a:solidFill>
                      <a:srgbClr val="0B1F3A"/>
                    </a:solidFill>
                  </a:tcPr>
                </a:tc>
                <a:tc>
                  <a:txBody>
                    <a:bodyPr/>
                    <a:lstStyle/>
                    <a:p>
                      <a:r>
                        <a:rPr sz="1800" b="1">
                          <a:solidFill>
                            <a:srgbClr val="FFFFFF"/>
                          </a:solidFill>
                        </a:rPr>
                        <a:t>Ulushi (3760)</a:t>
                      </a:r>
                    </a:p>
                  </a:txBody>
                  <a:tcPr marL="73152" marR="73152" marT="36576" marB="36576">
                    <a:solidFill>
                      <a:srgbClr val="0B1F3A"/>
                    </a:solidFill>
                  </a:tcPr>
                </a:tc>
              </a:tr>
              <a:tr h="614476">
                <a:tc>
                  <a:txBody>
                    <a:bodyPr/>
                    <a:lstStyle/>
                    <a:p>
                      <a:r>
                        <a:rPr sz="1700" b="0">
                          <a:solidFill>
                            <a:srgbClr val="1F2937"/>
                          </a:solidFill>
                        </a:rPr>
                        <a:t>Prognostik omil, proliferatsiya indeksi</a:t>
                      </a:r>
                    </a:p>
                  </a:txBody>
                  <a:tcPr marL="73152" marR="73152" marT="36576" marB="36576">
                    <a:solidFill>
                      <a:srgbClr val="E8EEF6"/>
                    </a:solidFill>
                  </a:tcPr>
                </a:tc>
                <a:tc>
                  <a:txBody>
                    <a:bodyPr/>
                    <a:lstStyle/>
                    <a:p>
                      <a:r>
                        <a:rPr sz="1700" b="0">
                          <a:solidFill>
                            <a:srgbClr val="1F2937"/>
                          </a:solidFill>
                        </a:rPr>
                        <a:t>19%</a:t>
                      </a:r>
                    </a:p>
                  </a:txBody>
                  <a:tcPr marL="73152" marR="73152" marT="36576" marB="36576">
                    <a:solidFill>
                      <a:srgbClr val="E8EEF6"/>
                    </a:solidFill>
                  </a:tcPr>
                </a:tc>
              </a:tr>
              <a:tr h="614476">
                <a:tc>
                  <a:txBody>
                    <a:bodyPr/>
                    <a:lstStyle/>
                    <a:p>
                      <a:r>
                        <a:rPr sz="1700" b="0">
                          <a:solidFill>
                            <a:srgbClr val="1F2937"/>
                          </a:solidFill>
                        </a:rPr>
                        <a:t>Mikroorganizm, hujayra, tuzilma aniqlash</a:t>
                      </a:r>
                    </a:p>
                  </a:txBody>
                  <a:tcPr marL="73152" marR="73152" marT="36576" marB="36576">
                    <a:solidFill>
                      <a:srgbClr val="FFFFFF"/>
                    </a:solidFill>
                  </a:tcPr>
                </a:tc>
                <a:tc>
                  <a:txBody>
                    <a:bodyPr/>
                    <a:lstStyle/>
                    <a:p>
                      <a:r>
                        <a:rPr sz="1700" b="0">
                          <a:solidFill>
                            <a:srgbClr val="1F2937"/>
                          </a:solidFill>
                        </a:rPr>
                        <a:t>17%</a:t>
                      </a:r>
                    </a:p>
                  </a:txBody>
                  <a:tcPr marL="73152" marR="73152" marT="36576" marB="36576">
                    <a:solidFill>
                      <a:srgbClr val="FFFFFF"/>
                    </a:solidFill>
                  </a:tcPr>
                </a:tc>
              </a:tr>
              <a:tr h="614476">
                <a:tc>
                  <a:txBody>
                    <a:bodyPr/>
                    <a:lstStyle/>
                    <a:p>
                      <a:r>
                        <a:rPr sz="1700" b="0">
                          <a:solidFill>
                            <a:srgbClr val="1F2937"/>
                          </a:solidFill>
                        </a:rPr>
                        <a:t>Diagnostik qo‘llanish</a:t>
                      </a:r>
                    </a:p>
                  </a:txBody>
                  <a:tcPr marL="73152" marR="73152" marT="36576" marB="36576">
                    <a:solidFill>
                      <a:srgbClr val="E8EEF6"/>
                    </a:solidFill>
                  </a:tcPr>
                </a:tc>
                <a:tc>
                  <a:txBody>
                    <a:bodyPr/>
                    <a:lstStyle/>
                    <a:p>
                      <a:r>
                        <a:rPr sz="1700" b="0">
                          <a:solidFill>
                            <a:srgbClr val="1F2937"/>
                          </a:solidFill>
                        </a:rPr>
                        <a:t>64%</a:t>
                      </a:r>
                    </a:p>
                  </a:txBody>
                  <a:tcPr marL="73152" marR="73152" marT="36576" marB="36576">
                    <a:solidFill>
                      <a:srgbClr val="E8EEF6"/>
                    </a:solidFill>
                  </a:tcPr>
                </a:tc>
              </a:tr>
              <a:tr h="614476">
                <a:tc>
                  <a:txBody>
                    <a:bodyPr/>
                    <a:lstStyle/>
                    <a:p>
                      <a:r>
                        <a:rPr sz="1700" b="0">
                          <a:solidFill>
                            <a:srgbClr val="1F2937"/>
                          </a:solidFill>
                        </a:rPr>
                        <a:t>835 diagnostik holatda aniq tashxis</a:t>
                      </a:r>
                    </a:p>
                  </a:txBody>
                  <a:tcPr marL="73152" marR="73152" marT="36576" marB="36576">
                    <a:solidFill>
                      <a:srgbClr val="FFFFFF"/>
                    </a:solidFill>
                  </a:tcPr>
                </a:tc>
                <a:tc>
                  <a:txBody>
                    <a:bodyPr/>
                    <a:lstStyle/>
                    <a:p>
                      <a:r>
                        <a:rPr sz="1700" b="0">
                          <a:solidFill>
                            <a:srgbClr val="1F2937"/>
                          </a:solidFill>
                        </a:rPr>
                        <a:t>83%</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3760 namuna: maqsadlar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Applications and importance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qo‘llanish bo‘limi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biopsiyadagi o‘sma morfologik jihatdan differensiallanmagan, gematoksilin-eozin (G-E) bo‘yog‘i tur haqida javob bermaydi.</a:t>
            </a:r>
          </a:p>
          <a:p>
            <a:pPr>
              <a:spcAft>
                <a:spcPts val="1200"/>
              </a:spcAft>
            </a:pPr>
            <a:r>
              <a:rPr sz="2200">
                <a:solidFill>
                  <a:srgbClr val="1F2937"/>
                </a:solidFill>
                <a:latin typeface="Calibri"/>
              </a:rPr>
              <a:t>▸  Immunohistokimyo (IHK) o‘smaning gistogenezini, turini va birlamchi o‘chog‘ini aniqlaydi, prognostik omillarni va benign/malign o‘sishni ajratadi.</a:t>
            </a:r>
          </a:p>
          <a:p>
            <a:pPr>
              <a:spcAft>
                <a:spcPts val="1200"/>
              </a:spcAft>
            </a:pPr>
            <a:r>
              <a:rPr sz="2200">
                <a:solidFill>
                  <a:srgbClr val="1F2937"/>
                </a:solidFill>
                <a:latin typeface="Calibri"/>
              </a:rPr>
              <a:t>▸  Werner tahlilida 5% holatda IHK yordam bermadi: namuna juda kichik, nekroz keng yoki o‘sma haddan tashqari differensiallanmagan edi.</a:t>
            </a:r>
          </a:p>
          <a:p>
            <a:pPr>
              <a:spcAft>
                <a:spcPts val="1200"/>
              </a:spcAft>
            </a:pPr>
            <a:r>
              <a:rPr sz="2200">
                <a:solidFill>
                  <a:srgbClr val="1F2937"/>
                </a:solidFill>
                <a:latin typeface="Calibri"/>
              </a:rPr>
              <a:t>▸  Savol: bu vaziyatda IHK qaysi maqsadda qo‘llanadi va qaysi holatlarda natija bermasligi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IHK nima? Hujayra surtmalarida qo‘llanganda u qanday ataladi?</a:t>
            </a:r>
          </a:p>
          <a:p>
            <a:pPr>
              <a:spcAft>
                <a:spcPts val="1200"/>
              </a:spcAft>
            </a:pPr>
            <a:r>
              <a:rPr sz="2200">
                <a:solidFill>
                  <a:srgbClr val="1F2937"/>
                </a:solidFill>
                <a:latin typeface="Calibri"/>
              </a:rPr>
              <a:t>▸  2-savol: Coons 1940-yillar boshida qanday belgili antikor bilan antigenni ko‘rsatdi? Nakane yangiligi nimani o‘zgartirdi?</a:t>
            </a:r>
          </a:p>
          <a:p>
            <a:pPr>
              <a:spcAft>
                <a:spcPts val="1200"/>
              </a:spcAft>
            </a:pPr>
            <a:r>
              <a:rPr sz="2200">
                <a:solidFill>
                  <a:srgbClr val="1F2937"/>
                </a:solidFill>
                <a:latin typeface="Calibri"/>
              </a:rPr>
              <a:t>▸  3-savol: Diaminobenzidin (DAB) nima uchun muhim? U elektron mikroskopiyada nimani almashtirdi?</a:t>
            </a:r>
          </a:p>
          <a:p>
            <a:pPr>
              <a:spcAft>
                <a:spcPts val="1200"/>
              </a:spcAft>
            </a:pPr>
            <a:r>
              <a:rPr sz="2200">
                <a:solidFill>
                  <a:srgbClr val="1F2937"/>
                </a:solidFill>
                <a:latin typeface="Calibri"/>
              </a:rPr>
              <a:t>▸  4-savol: Werner tahlilida 3760 namunaning necha foizi diagnostik maqsadda tekshirilgan va IHK qancha holatda aniq tashxisga hissa qo‘shdi?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Reaksiya bosqichlarining ketma-ketligi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Preparat tayyorlangach (fiksatsiya, to‘qimani qayta ishlash), reaksiya bosqichlari belgilangan tartibda o‘tadi.</a:t>
            </a:r>
          </a:p>
          <a:p>
            <a:pPr>
              <a:spcAft>
                <a:spcPts val="1200"/>
              </a:spcAft>
            </a:pPr>
            <a:r>
              <a:rPr sz="2200">
                <a:solidFill>
                  <a:srgbClr val="1F2937"/>
                </a:solidFill>
                <a:latin typeface="Calibri"/>
              </a:rPr>
              <a:t>▸  Reaksiyadan keyin ikkinchi bosqich: hosil bo‘lgan ekspressiyani talqin qilish va miqdoriy baholash.</a:t>
            </a:r>
          </a:p>
          <a:p>
            <a:pPr>
              <a:spcAft>
                <a:spcPts val="1200"/>
              </a:spcAft>
            </a:pPr>
            <a:r>
              <a:rPr sz="2200">
                <a:solidFill>
                  <a:srgbClr val="1F2937"/>
                </a:solidFill>
                <a:latin typeface="Calibri"/>
              </a:rPr>
              <a:t>▸  Diqqat: reagentlar tartibi qat’iy bo‘lishi shart; ish sxemasi yolg‘on natijalardan saqlaydi.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Fiksatsiya: formalin va spirt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Formalin fiksatsiyasi immunreaktivlikni qaytar tarzda kamaytiradi: ba’zi antitelo bog‘lanish joylari yopiladi yoki shikastlanadi.</a:t>
            </a:r>
          </a:p>
          <a:p>
            <a:pPr>
              <a:spcAft>
                <a:spcPts val="800"/>
              </a:spcAft>
            </a:pPr>
            <a:r>
              <a:rPr sz="1800">
                <a:solidFill>
                  <a:srgbClr val="1F2937"/>
                </a:solidFill>
                <a:latin typeface="Calibri"/>
              </a:rPr>
              <a:t>▸  Epitoplar tiklash usullari bilan ochiladi, ammo aniqlash tizimi baribir kuchli signal beradigan darajada sezgir bo‘lishi shart.</a:t>
            </a:r>
          </a:p>
          <a:p>
            <a:pPr>
              <a:spcAft>
                <a:spcPts val="800"/>
              </a:spcAft>
            </a:pPr>
            <a:r>
              <a:rPr sz="1800">
                <a:solidFill>
                  <a:srgbClr val="1F2937"/>
                </a:solidFill>
                <a:latin typeface="Calibri"/>
              </a:rPr>
              <a:t>▸  Alves tadqiqotida (tuxumdon o‘smasi) etanolda fiksatsiya sitokeratin va vimentinni yaxshiroq ko‘rsatdi.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711492"/>
                <a:gridCol w="2002952"/>
              </a:tblGrid>
              <a:tr h="614476">
                <a:tc>
                  <a:txBody>
                    <a:bodyPr/>
                    <a:lstStyle/>
                    <a:p>
                      <a:r>
                        <a:rPr sz="1600" b="1">
                          <a:solidFill>
                            <a:srgbClr val="FFFFFF"/>
                          </a:solidFill>
                        </a:rPr>
                        <a:t>Ko‘rsatkich</a:t>
                      </a:r>
                    </a:p>
                  </a:txBody>
                  <a:tcPr marL="73152" marR="73152" marT="36576" marB="36576">
                    <a:solidFill>
                      <a:srgbClr val="0B1F3A"/>
                    </a:solidFill>
                  </a:tcPr>
                </a:tc>
                <a:tc>
                  <a:txBody>
                    <a:bodyPr/>
                    <a:lstStyle/>
                    <a:p>
                      <a:r>
                        <a:rPr sz="1600" b="1">
                          <a:solidFill>
                            <a:srgbClr val="FFFFFF"/>
                          </a:solidFill>
                        </a:rPr>
                        <a:t>Formalin</a:t>
                      </a:r>
                    </a:p>
                  </a:txBody>
                  <a:tcPr marL="73152" marR="73152" marT="36576" marB="36576">
                    <a:solidFill>
                      <a:srgbClr val="0B1F3A"/>
                    </a:solidFill>
                  </a:tcPr>
                </a:tc>
                <a:tc>
                  <a:txBody>
                    <a:bodyPr/>
                    <a:lstStyle/>
                    <a:p>
                      <a:r>
                        <a:rPr sz="1600" b="1">
                          <a:solidFill>
                            <a:srgbClr val="FFFFFF"/>
                          </a:solidFill>
                        </a:rPr>
                        <a:t>Etanol</a:t>
                      </a:r>
                    </a:p>
                  </a:txBody>
                  <a:tcPr marL="73152" marR="73152" marT="36576" marB="36576">
                    <a:solidFill>
                      <a:srgbClr val="0B1F3A"/>
                    </a:solidFill>
                  </a:tcPr>
                </a:tc>
              </a:tr>
              <a:tr h="614476">
                <a:tc>
                  <a:txBody>
                    <a:bodyPr/>
                    <a:lstStyle/>
                    <a:p>
                      <a:r>
                        <a:rPr sz="1500" b="0">
                          <a:solidFill>
                            <a:srgbClr val="1F2937"/>
                          </a:solidFill>
                        </a:rPr>
                        <a:t>Asosiy ta’siri</a:t>
                      </a:r>
                    </a:p>
                  </a:txBody>
                  <a:tcPr marL="73152" marR="73152" marT="36576" marB="36576">
                    <a:solidFill>
                      <a:srgbClr val="E8EEF6"/>
                    </a:solidFill>
                  </a:tcPr>
                </a:tc>
                <a:tc>
                  <a:txBody>
                    <a:bodyPr/>
                    <a:lstStyle/>
                    <a:p>
                      <a:r>
                        <a:rPr sz="1500" b="0">
                          <a:solidFill>
                            <a:srgbClr val="1F2937"/>
                          </a:solidFill>
                        </a:rPr>
                        <a:t>Epitoplar yopilishi mumkin</a:t>
                      </a:r>
                    </a:p>
                  </a:txBody>
                  <a:tcPr marL="73152" marR="73152" marT="36576" marB="36576">
                    <a:solidFill>
                      <a:srgbClr val="E8EEF6"/>
                    </a:solidFill>
                  </a:tcPr>
                </a:tc>
                <a:tc>
                  <a:txBody>
                    <a:bodyPr/>
                    <a:lstStyle/>
                    <a:p>
                      <a:r>
                        <a:rPr sz="1500" b="0">
                          <a:solidFill>
                            <a:srgbClr val="1F2937"/>
                          </a:solidFill>
                        </a:rPr>
                        <a:t>Reaktivlik yuqoriroq topilgan</a:t>
                      </a:r>
                    </a:p>
                  </a:txBody>
                  <a:tcPr marL="73152" marR="73152" marT="36576" marB="36576">
                    <a:solidFill>
                      <a:srgbClr val="E8EEF6"/>
                    </a:solidFill>
                  </a:tcPr>
                </a:tc>
              </a:tr>
              <a:tr h="614476">
                <a:tc>
                  <a:txBody>
                    <a:bodyPr/>
                    <a:lstStyle/>
                    <a:p>
                      <a:r>
                        <a:rPr sz="1500" b="0">
                          <a:solidFill>
                            <a:srgbClr val="1F2937"/>
                          </a:solidFill>
                        </a:rPr>
                        <a:t>Sitokeratin</a:t>
                      </a:r>
                    </a:p>
                  </a:txBody>
                  <a:tcPr marL="73152" marR="73152" marT="36576" marB="36576">
                    <a:solidFill>
                      <a:srgbClr val="FFFFFF"/>
                    </a:solidFill>
                  </a:tcPr>
                </a:tc>
                <a:tc>
                  <a:txBody>
                    <a:bodyPr/>
                    <a:lstStyle/>
                    <a:p>
                      <a:r>
                        <a:rPr sz="1500" b="0">
                          <a:solidFill>
                            <a:srgbClr val="1F2937"/>
                          </a:solidFill>
                        </a:rPr>
                        <a:t>Tripsin bilan yaxshiroq</a:t>
                      </a:r>
                    </a:p>
                  </a:txBody>
                  <a:tcPr marL="73152" marR="73152" marT="36576" marB="36576">
                    <a:solidFill>
                      <a:srgbClr val="FFFFFF"/>
                    </a:solidFill>
                  </a:tcPr>
                </a:tc>
                <a:tc>
                  <a:txBody>
                    <a:bodyPr/>
                    <a:lstStyle/>
                    <a:p>
                      <a:r>
                        <a:rPr sz="1500" b="0">
                          <a:solidFill>
                            <a:srgbClr val="1F2937"/>
                          </a:solidFill>
                        </a:rPr>
                        <a:t>Yuqori reaktivlik</a:t>
                      </a:r>
                    </a:p>
                  </a:txBody>
                  <a:tcPr marL="73152" marR="73152" marT="36576" marB="36576">
                    <a:solidFill>
                      <a:srgbClr val="FFFFFF"/>
                    </a:solidFill>
                  </a:tcPr>
                </a:tc>
              </a:tr>
              <a:tr h="614476">
                <a:tc>
                  <a:txBody>
                    <a:bodyPr/>
                    <a:lstStyle/>
                    <a:p>
                      <a:r>
                        <a:rPr sz="1500" b="0">
                          <a:solidFill>
                            <a:srgbClr val="1F2937"/>
                          </a:solidFill>
                        </a:rPr>
                        <a:t>Vimentin</a:t>
                      </a:r>
                    </a:p>
                  </a:txBody>
                  <a:tcPr marL="73152" marR="73152" marT="36576" marB="36576">
                    <a:solidFill>
                      <a:srgbClr val="E8EEF6"/>
                    </a:solidFill>
                  </a:tcPr>
                </a:tc>
                <a:tc>
                  <a:txBody>
                    <a:bodyPr/>
                    <a:lstStyle/>
                    <a:p>
                      <a:r>
                        <a:rPr sz="1500" b="0">
                          <a:solidFill>
                            <a:srgbClr val="1F2937"/>
                          </a:solidFill>
                        </a:rPr>
                        <a:t>Tripsin zarar yetkazdi</a:t>
                      </a:r>
                    </a:p>
                  </a:txBody>
                  <a:tcPr marL="73152" marR="73152" marT="36576" marB="36576">
                    <a:solidFill>
                      <a:srgbClr val="E8EEF6"/>
                    </a:solidFill>
                  </a:tcPr>
                </a:tc>
                <a:tc>
                  <a:txBody>
                    <a:bodyPr/>
                    <a:lstStyle/>
                    <a:p>
                      <a:r>
                        <a:rPr sz="1500" b="0">
                          <a:solidFill>
                            <a:srgbClr val="1F2937"/>
                          </a:solidFill>
                        </a:rPr>
                        <a:t>Yuqori reaktivlik</a:t>
                      </a:r>
                    </a:p>
                  </a:txBody>
                  <a:tcPr marL="73152" marR="73152" marT="36576" marB="36576">
                    <a:solidFill>
                      <a:srgbClr val="E8EEF6"/>
                    </a:solidFill>
                  </a:tcPr>
                </a:tc>
              </a:tr>
              <a:tr h="614476">
                <a:tc>
                  <a:txBody>
                    <a:bodyPr/>
                    <a:lstStyle/>
                    <a:p>
                      <a:r>
                        <a:rPr sz="1500" b="0">
                          <a:solidFill>
                            <a:srgbClr val="1F2937"/>
                          </a:solidFill>
                        </a:rPr>
                        <a:t>Saqlash</a:t>
                      </a:r>
                    </a:p>
                  </a:txBody>
                  <a:tcPr marL="73152" marR="73152" marT="36576" marB="36576">
                    <a:solidFill>
                      <a:srgbClr val="FFFFFF"/>
                    </a:solidFill>
                  </a:tcPr>
                </a:tc>
                <a:tc>
                  <a:txBody>
                    <a:bodyPr/>
                    <a:lstStyle/>
                    <a:p>
                      <a:r>
                        <a:rPr sz="1500" b="0">
                          <a:solidFill>
                            <a:srgbClr val="1F2937"/>
                          </a:solidFill>
                        </a:rPr>
                        <a:t>Fiksatsiya kechikishi xavfli</a:t>
                      </a:r>
                    </a:p>
                  </a:txBody>
                  <a:tcPr marL="73152" marR="73152" marT="36576" marB="36576">
                    <a:solidFill>
                      <a:srgbClr val="FFFFFF"/>
                    </a:solidFill>
                  </a:tcPr>
                </a:tc>
                <a:tc>
                  <a:txBody>
                    <a:bodyPr/>
                    <a:lstStyle/>
                    <a:p>
                      <a:r>
                        <a:rPr sz="1500" b="0">
                          <a:solidFill>
                            <a:srgbClr val="1F2937"/>
                          </a:solidFill>
                        </a:rPr>
                        <a:t>60 kungacha saqlanganda ham yaxshi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Formalin va etanol: Alves tadqiqoti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Kesma qalinligi va parafin harorati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Blokdan olinadigan kesma qalinligi 3 dan 7 mikrometrgacha (μm) bo‘lgani ma’qul.</a:t>
            </a:r>
          </a:p>
          <a:p>
            <a:pPr>
              <a:spcAft>
                <a:spcPts val="1200"/>
              </a:spcAft>
            </a:pPr>
            <a:r>
              <a:rPr sz="2200">
                <a:solidFill>
                  <a:srgbClr val="1F2937"/>
                </a:solidFill>
                <a:latin typeface="Calibri"/>
              </a:rPr>
              <a:t>▸  3 μm dan yupqa kesma juda zaif bo‘yaladi; 7 μm dan qalin kesma shishadan ajralib ketishi yoki bahoni qiyinlashtirishi mumkin.</a:t>
            </a:r>
          </a:p>
          <a:p>
            <a:pPr>
              <a:spcAft>
                <a:spcPts val="1200"/>
              </a:spcAft>
            </a:pPr>
            <a:r>
              <a:rPr sz="2200">
                <a:solidFill>
                  <a:srgbClr val="1F2937"/>
                </a:solidFill>
                <a:latin typeface="Calibri"/>
              </a:rPr>
              <a:t>▸  Kesma oldindan yopishtiruvchi (silan yoki polilizin) surtilgan shishaga qo‘yiladi.</a:t>
            </a:r>
          </a:p>
          <a:p>
            <a:pPr>
              <a:spcAft>
                <a:spcPts val="1200"/>
              </a:spcAft>
            </a:pPr>
            <a:r>
              <a:rPr sz="2200">
                <a:solidFill>
                  <a:srgbClr val="1F2937"/>
                </a:solidFill>
                <a:latin typeface="Calibri"/>
              </a:rPr>
              <a:t>▸  Diqqat: xato qilish xavfi! Parafinga joylash odatda 60 °C dan yuqori haroratda antigenlikni buzishi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Namuna miqdori va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Kichik namunalar bilan aniq tashxis qo‘yish talab etilmoqda, shuning uchun namuna miqdori muhokama qilinadi.</a:t>
            </a:r>
          </a:p>
          <a:p>
            <a:pPr>
              <a:spcAft>
                <a:spcPts val="1200"/>
              </a:spcAft>
            </a:pPr>
            <a:r>
              <a:rPr sz="2200">
                <a:solidFill>
                  <a:srgbClr val="1F2937"/>
                </a:solidFill>
                <a:latin typeface="Calibri"/>
              </a:rPr>
              <a:t>▸  Ko‘p hollarda bitta blok yetarli, ayniqsa unda o‘sma va atrofdagi parenxima chegarasi bo‘lsa.</a:t>
            </a:r>
          </a:p>
          <a:p>
            <a:pPr>
              <a:spcAft>
                <a:spcPts val="1200"/>
              </a:spcAft>
            </a:pPr>
            <a:r>
              <a:rPr sz="2200">
                <a:solidFill>
                  <a:srgbClr val="1F2937"/>
                </a:solidFill>
                <a:latin typeface="Calibri"/>
              </a:rPr>
              <a:t>▸  Blok qon quyilgan yoki keng nekrozli joylardan uzoqdan olinadi; o‘smadan uzoqdagi vakillik to‘qima ham foydali.</a:t>
            </a:r>
          </a:p>
          <a:p>
            <a:pPr>
              <a:spcAft>
                <a:spcPts val="1200"/>
              </a:spcAft>
            </a:pPr>
            <a:r>
              <a:rPr sz="2200">
                <a:solidFill>
                  <a:srgbClr val="1F2937"/>
                </a:solidFill>
                <a:latin typeface="Calibri"/>
              </a:rPr>
              <a:t>▸  Imkon bo‘lsa, avval muzlatilgan holda tekshirilgan to‘qimadan qochish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Antigenni ochish va aniqlash tizimlari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Antigenni ochish (HIER, issiqlik bilan epitopni ochish) mikroto‘lqin yoki bosimli nam bug‘ orqali bajariladi.</a:t>
            </a:r>
          </a:p>
          <a:p>
            <a:pPr>
              <a:spcAft>
                <a:spcPts val="800"/>
              </a:spcAft>
            </a:pPr>
            <a:r>
              <a:rPr sz="1800">
                <a:solidFill>
                  <a:srgbClr val="1F2937"/>
                </a:solidFill>
                <a:latin typeface="Calibri"/>
              </a:rPr>
              <a:t>▸  ABC (avidin-biotin-peroksidaza kompleksi) va LSAB (streptavidin-biotin) – asosiy kuchaytirish tizimlari.</a:t>
            </a:r>
          </a:p>
          <a:p>
            <a:pPr>
              <a:spcAft>
                <a:spcPts val="800"/>
              </a:spcAft>
            </a:pPr>
            <a:r>
              <a:rPr sz="1800">
                <a:solidFill>
                  <a:srgbClr val="1F2937"/>
                </a:solidFill>
                <a:latin typeface="Calibri"/>
              </a:rPr>
              <a:t>▸  Paradoks: tizimlar yangi musbatlar berdi, ammo nospetsifiklik oshdi; Swanson universal usulni rad etdi.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Antigenni ochish (HIER)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Ikkilamchi antikor: ABC/LSAB</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EPOS: bir bosqichli polimer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CARD: katalizli cho‘ktirish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Paradoks: yutuq va xatar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taraqqiyoti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Poliklonal va monoklonal antikorlar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Birlamchi antikorlar poliklonal yoki monoklonal bo‘ladi; ikkalasining imkoniyati har xil.</a:t>
            </a:r>
          </a:p>
          <a:p>
            <a:pPr>
              <a:spcAft>
                <a:spcPts val="800"/>
              </a:spcAft>
            </a:pPr>
            <a:r>
              <a:rPr sz="1800">
                <a:solidFill>
                  <a:srgbClr val="1F2937"/>
                </a:solidFill>
                <a:latin typeface="Calibri"/>
              </a:rPr>
              <a:t>▸  Har yangi seriya yoki klon titrlanadi; haqiqiy musbat va fon kontrasti eng katta suyultma tanlanadi.</a:t>
            </a:r>
          </a:p>
          <a:p>
            <a:pPr>
              <a:spcAft>
                <a:spcPts val="800"/>
              </a:spcAft>
            </a:pPr>
            <a:r>
              <a:rPr sz="1800">
                <a:solidFill>
                  <a:srgbClr val="1F2937"/>
                </a:solidFill>
                <a:latin typeface="Calibri"/>
              </a:rPr>
              <a:t>▸  Diqqat: ko‘p epitop ≠ yuqori o‘ziga xoslik – poliklonal sezgir, monoklonal esa o‘ziga xos.</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2259026"/>
                <a:gridCol w="1691639"/>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Poliklonal</a:t>
                      </a:r>
                    </a:p>
                  </a:txBody>
                  <a:tcPr marL="73152" marR="73152" marT="36576" marB="36576">
                    <a:solidFill>
                      <a:srgbClr val="0B1F3A"/>
                    </a:solidFill>
                  </a:tcPr>
                </a:tc>
                <a:tc>
                  <a:txBody>
                    <a:bodyPr/>
                    <a:lstStyle/>
                    <a:p>
                      <a:r>
                        <a:rPr sz="1600" b="1">
                          <a:solidFill>
                            <a:srgbClr val="FFFFFF"/>
                          </a:solidFill>
                        </a:rPr>
                        <a:t>Monoklonal</a:t>
                      </a:r>
                    </a:p>
                  </a:txBody>
                  <a:tcPr marL="73152" marR="73152" marT="36576" marB="36576">
                    <a:solidFill>
                      <a:srgbClr val="0B1F3A"/>
                    </a:solidFill>
                  </a:tcPr>
                </a:tc>
              </a:tr>
              <a:tr h="614476">
                <a:tc>
                  <a:txBody>
                    <a:bodyPr/>
                    <a:lstStyle/>
                    <a:p>
                      <a:r>
                        <a:rPr sz="1500" b="0">
                          <a:solidFill>
                            <a:srgbClr val="1F2937"/>
                          </a:solidFill>
                        </a:rPr>
                        <a:t>Olinishi</a:t>
                      </a:r>
                    </a:p>
                  </a:txBody>
                  <a:tcPr marL="73152" marR="73152" marT="36576" marB="36576">
                    <a:solidFill>
                      <a:srgbClr val="E8EEF6"/>
                    </a:solidFill>
                  </a:tcPr>
                </a:tc>
                <a:tc>
                  <a:txBody>
                    <a:bodyPr/>
                    <a:lstStyle/>
                    <a:p>
                      <a:r>
                        <a:rPr sz="1500" b="0">
                          <a:solidFill>
                            <a:srgbClr val="1F2937"/>
                          </a:solidFill>
                        </a:rPr>
                        <a:t>Hayvonni immunlash (quyon, echki va b.)</a:t>
                      </a:r>
                    </a:p>
                  </a:txBody>
                  <a:tcPr marL="73152" marR="73152" marT="36576" marB="36576">
                    <a:solidFill>
                      <a:srgbClr val="E8EEF6"/>
                    </a:solidFill>
                  </a:tcPr>
                </a:tc>
                <a:tc>
                  <a:txBody>
                    <a:bodyPr/>
                    <a:lstStyle/>
                    <a:p>
                      <a:r>
                        <a:rPr sz="1500" b="0">
                          <a:solidFill>
                            <a:srgbClr val="1F2937"/>
                          </a:solidFill>
                        </a:rPr>
                        <a:t>Gibridlardan yaratiladi</a:t>
                      </a:r>
                    </a:p>
                  </a:txBody>
                  <a:tcPr marL="73152" marR="73152" marT="36576" marB="36576">
                    <a:solidFill>
                      <a:srgbClr val="E8EEF6"/>
                    </a:solidFill>
                  </a:tcPr>
                </a:tc>
              </a:tr>
              <a:tr h="614476">
                <a:tc>
                  <a:txBody>
                    <a:bodyPr/>
                    <a:lstStyle/>
                    <a:p>
                      <a:r>
                        <a:rPr sz="1500" b="0">
                          <a:solidFill>
                            <a:srgbClr val="1F2937"/>
                          </a:solidFill>
                        </a:rPr>
                        <a:t>Epitop</a:t>
                      </a:r>
                    </a:p>
                  </a:txBody>
                  <a:tcPr marL="73152" marR="73152" marT="36576" marB="36576">
                    <a:solidFill>
                      <a:srgbClr val="FFFFFF"/>
                    </a:solidFill>
                  </a:tcPr>
                </a:tc>
                <a:tc>
                  <a:txBody>
                    <a:bodyPr/>
                    <a:lstStyle/>
                    <a:p>
                      <a:r>
                        <a:rPr sz="1500" b="0">
                          <a:solidFill>
                            <a:srgbClr val="1F2937"/>
                          </a:solidFill>
                        </a:rPr>
                        <a:t>Bir antigenning ko‘p epitopi</a:t>
                      </a:r>
                    </a:p>
                  </a:txBody>
                  <a:tcPr marL="73152" marR="73152" marT="36576" marB="36576">
                    <a:solidFill>
                      <a:srgbClr val="FFFFFF"/>
                    </a:solidFill>
                  </a:tcPr>
                </a:tc>
                <a:tc>
                  <a:txBody>
                    <a:bodyPr/>
                    <a:lstStyle/>
                    <a:p>
                      <a:r>
                        <a:rPr sz="1500" b="0">
                          <a:solidFill>
                            <a:srgbClr val="1F2937"/>
                          </a:solidFill>
                        </a:rPr>
                        <a:t>Faqat bitta epitop</a:t>
                      </a:r>
                    </a:p>
                  </a:txBody>
                  <a:tcPr marL="73152" marR="73152" marT="36576" marB="36576">
                    <a:solidFill>
                      <a:srgbClr val="FFFFFF"/>
                    </a:solidFill>
                  </a:tcPr>
                </a:tc>
              </a:tr>
              <a:tr h="614476">
                <a:tc>
                  <a:txBody>
                    <a:bodyPr/>
                    <a:lstStyle/>
                    <a:p>
                      <a:r>
                        <a:rPr sz="1500" b="0">
                          <a:solidFill>
                            <a:srgbClr val="1F2937"/>
                          </a:solidFill>
                        </a:rPr>
                        <a:t>Afzalligi</a:t>
                      </a:r>
                    </a:p>
                  </a:txBody>
                  <a:tcPr marL="73152" marR="73152" marT="36576" marB="36576">
                    <a:solidFill>
                      <a:srgbClr val="E8EEF6"/>
                    </a:solidFill>
                  </a:tcPr>
                </a:tc>
                <a:tc>
                  <a:txBody>
                    <a:bodyPr/>
                    <a:lstStyle/>
                    <a:p>
                      <a:r>
                        <a:rPr sz="1500" b="0">
                          <a:solidFill>
                            <a:srgbClr val="1F2937"/>
                          </a:solidFill>
                        </a:rPr>
                        <a:t>Yuqori sezuvchanlik</a:t>
                      </a:r>
                    </a:p>
                  </a:txBody>
                  <a:tcPr marL="73152" marR="73152" marT="36576" marB="36576">
                    <a:solidFill>
                      <a:srgbClr val="E8EEF6"/>
                    </a:solidFill>
                  </a:tcPr>
                </a:tc>
                <a:tc>
                  <a:txBody>
                    <a:bodyPr/>
                    <a:lstStyle/>
                    <a:p>
                      <a:r>
                        <a:rPr sz="1500" b="0">
                          <a:solidFill>
                            <a:srgbClr val="1F2937"/>
                          </a:solidFill>
                        </a:rPr>
                        <a:t>Yuqori o‘ziga xoslik</a:t>
                      </a:r>
                    </a:p>
                  </a:txBody>
                  <a:tcPr marL="73152" marR="73152" marT="36576" marB="36576">
                    <a:solidFill>
                      <a:srgbClr val="E8EEF6"/>
                    </a:solidFill>
                  </a:tcPr>
                </a:tc>
              </a:tr>
              <a:tr h="614476">
                <a:tc>
                  <a:txBody>
                    <a:bodyPr/>
                    <a:lstStyle/>
                    <a:p>
                      <a:r>
                        <a:rPr sz="1500" b="0">
                          <a:solidFill>
                            <a:srgbClr val="1F2937"/>
                          </a:solidFill>
                        </a:rPr>
                        <a:t>Yangi seriya</a:t>
                      </a:r>
                    </a:p>
                  </a:txBody>
                  <a:tcPr marL="73152" marR="73152" marT="36576" marB="36576">
                    <a:solidFill>
                      <a:srgbClr val="FFFFFF"/>
                    </a:solidFill>
                  </a:tcPr>
                </a:tc>
                <a:tc>
                  <a:txBody>
                    <a:bodyPr/>
                    <a:lstStyle/>
                    <a:p>
                      <a:r>
                        <a:rPr sz="1500" b="0">
                          <a:solidFill>
                            <a:srgbClr val="1F2937"/>
                          </a:solidFill>
                        </a:rPr>
                        <a:t>Qayta titrlash kerak</a:t>
                      </a:r>
                    </a:p>
                  </a:txBody>
                  <a:tcPr marL="73152" marR="73152" marT="36576" marB="36576">
                    <a:solidFill>
                      <a:srgbClr val="FFFFFF"/>
                    </a:solidFill>
                  </a:tcPr>
                </a:tc>
                <a:tc>
                  <a:txBody>
                    <a:bodyPr/>
                    <a:lstStyle/>
                    <a:p>
                      <a:r>
                        <a:rPr sz="1500" b="0">
                          <a:solidFill>
                            <a:srgbClr val="1F2937"/>
                          </a:solidFill>
                        </a:rPr>
                        <a:t>Qayta titrlash kerak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Antikor turlarini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Antikor panelini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Antikor panelini tanlash immunohistokimyoning eng muhim jihatlaridan biri bo‘lib, usulning to‘g‘ri qo‘llanishini belgilaydi.</a:t>
            </a:r>
          </a:p>
          <a:p>
            <a:pPr>
              <a:spcAft>
                <a:spcPts val="1200"/>
              </a:spcAft>
            </a:pPr>
            <a:r>
              <a:rPr sz="2200">
                <a:solidFill>
                  <a:srgbClr val="1F2937"/>
                </a:solidFill>
                <a:latin typeface="Calibri"/>
              </a:rPr>
              <a:t>▸  Jensen va hamkasblari: panel tanlovi hamda har bir holatda reaksiya naqshini talqin qilish yakuniy tashxisga eng ko‘p ta’sir qiladi.</a:t>
            </a:r>
          </a:p>
          <a:p>
            <a:pPr>
              <a:spcAft>
                <a:spcPts val="1200"/>
              </a:spcAft>
            </a:pPr>
            <a:r>
              <a:rPr sz="2200">
                <a:solidFill>
                  <a:srgbClr val="1F2937"/>
                </a:solidFill>
                <a:latin typeface="Calibri"/>
              </a:rPr>
              <a:t>▸  Tanlangan panelning sezuvchanligi usulni buyuruvchi patolog tajribasi va klinik ma’lumotlar tahlili bilan birga oshadi.</a:t>
            </a:r>
          </a:p>
          <a:p>
            <a:pPr>
              <a:spcAft>
                <a:spcPts val="1200"/>
              </a:spcAft>
            </a:pPr>
            <a:r>
              <a:rPr sz="2200">
                <a:solidFill>
                  <a:srgbClr val="1F2937"/>
                </a:solidFill>
                <a:latin typeface="Calibri"/>
              </a:rPr>
              <a:t>▸  Prescott va hamkasblari immunohistokimyodagi tashxis nomuvofiqliklarining 42,1 foizini yomon antikor tanlashga bog‘lagan.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Ichki va tashqi nazorat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Tashqi nazorat — har bir antitana uchun maxsus to‘qima kesmasi. U har bir panelga kiritiladi.</a:t>
            </a:r>
          </a:p>
          <a:p>
            <a:pPr>
              <a:spcAft>
                <a:spcPts val="800"/>
              </a:spcAft>
            </a:pPr>
            <a:r>
              <a:rPr sz="1800">
                <a:solidFill>
                  <a:srgbClr val="1F2937"/>
                </a:solidFill>
                <a:latin typeface="Calibri"/>
              </a:rPr>
              <a:t>▸  Tashqi nazorat sinov namunalari bilan bir xil fiksatsiya qilinadi va reaksiyaning bir xil bosqichlaridan o‘tadi.</a:t>
            </a:r>
          </a:p>
          <a:p>
            <a:pPr>
              <a:spcAft>
                <a:spcPts val="800"/>
              </a:spcAft>
            </a:pPr>
            <a:r>
              <a:rPr sz="1800">
                <a:solidFill>
                  <a:srgbClr val="1F2937"/>
                </a:solidFill>
                <a:latin typeface="Calibri"/>
              </a:rPr>
              <a:t>▸  Diqqat: ichki nazorat — o‘rganilayotgan preparatning o‘zidagi tuzilmalar, alohida kesma emas.</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101090"/>
                <a:gridCol w="2355163"/>
                <a:gridCol w="1831721"/>
              </a:tblGrid>
              <a:tr h="768096">
                <a:tc>
                  <a:txBody>
                    <a:bodyPr/>
                    <a:lstStyle/>
                    <a:p>
                      <a:r>
                        <a:rPr sz="1600" b="1">
                          <a:solidFill>
                            <a:srgbClr val="FFFFFF"/>
                          </a:solidFill>
                        </a:rPr>
                        <a:t>Nazorat turi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c>
                  <a:txBody>
                    <a:bodyPr/>
                    <a:lstStyle/>
                    <a:p>
                      <a:r>
                        <a:rPr sz="1600" b="1">
                          <a:solidFill>
                            <a:srgbClr val="FFFFFF"/>
                          </a:solidFill>
                        </a:rPr>
                        <a:t>Vazifasi</a:t>
                      </a:r>
                    </a:p>
                  </a:txBody>
                  <a:tcPr marL="73152" marR="73152" marT="36576" marB="36576">
                    <a:solidFill>
                      <a:srgbClr val="0B1F3A"/>
                    </a:solidFill>
                  </a:tcPr>
                </a:tc>
              </a:tr>
              <a:tr h="768096">
                <a:tc>
                  <a:txBody>
                    <a:bodyPr/>
                    <a:lstStyle/>
                    <a:p>
                      <a:r>
                        <a:rPr sz="1500" b="0">
                          <a:solidFill>
                            <a:srgbClr val="1F2937"/>
                          </a:solidFill>
                        </a:rPr>
                        <a:t>Tashqi</a:t>
                      </a:r>
                    </a:p>
                  </a:txBody>
                  <a:tcPr marL="73152" marR="73152" marT="36576" marB="36576">
                    <a:solidFill>
                      <a:srgbClr val="E8EEF6"/>
                    </a:solidFill>
                  </a:tcPr>
                </a:tc>
                <a:tc>
                  <a:txBody>
                    <a:bodyPr/>
                    <a:lstStyle/>
                    <a:p>
                      <a:r>
                        <a:rPr sz="1500" b="0">
                          <a:solidFill>
                            <a:srgbClr val="1F2937"/>
                          </a:solidFill>
                        </a:rPr>
                        <a:t>Antitanaga mos maxsus to‘qima kesmasi</a:t>
                      </a:r>
                    </a:p>
                  </a:txBody>
                  <a:tcPr marL="73152" marR="73152" marT="36576" marB="36576">
                    <a:solidFill>
                      <a:srgbClr val="E8EEF6"/>
                    </a:solidFill>
                  </a:tcPr>
                </a:tc>
                <a:tc>
                  <a:txBody>
                    <a:bodyPr/>
                    <a:lstStyle/>
                    <a:p>
                      <a:r>
                        <a:rPr sz="1500" b="0">
                          <a:solidFill>
                            <a:srgbClr val="1F2937"/>
                          </a:solidFill>
                        </a:rPr>
                        <a:t>Natijalarni tasdiqlash</a:t>
                      </a:r>
                    </a:p>
                  </a:txBody>
                  <a:tcPr marL="73152" marR="73152" marT="36576" marB="36576">
                    <a:solidFill>
                      <a:srgbClr val="E8EEF6"/>
                    </a:solidFill>
                  </a:tcPr>
                </a:tc>
              </a:tr>
              <a:tr h="768096">
                <a:tc>
                  <a:txBody>
                    <a:bodyPr/>
                    <a:lstStyle/>
                    <a:p>
                      <a:r>
                        <a:rPr sz="1500" b="0">
                          <a:solidFill>
                            <a:srgbClr val="1F2937"/>
                          </a:solidFill>
                        </a:rPr>
                        <a:t>Ichki musbat</a:t>
                      </a:r>
                    </a:p>
                  </a:txBody>
                  <a:tcPr marL="73152" marR="73152" marT="36576" marB="36576">
                    <a:solidFill>
                      <a:srgbClr val="FFFFFF"/>
                    </a:solidFill>
                  </a:tcPr>
                </a:tc>
                <a:tc>
                  <a:txBody>
                    <a:bodyPr/>
                    <a:lstStyle/>
                    <a:p>
                      <a:r>
                        <a:rPr sz="1500" b="0">
                          <a:solidFill>
                            <a:srgbClr val="1F2937"/>
                          </a:solidFill>
                        </a:rPr>
                        <a:t>Tomirlar; o‘simta yonidagi ko‘krak yo‘llari</a:t>
                      </a:r>
                    </a:p>
                  </a:txBody>
                  <a:tcPr marL="73152" marR="73152" marT="36576" marB="36576">
                    <a:solidFill>
                      <a:srgbClr val="FFFFFF"/>
                    </a:solidFill>
                  </a:tcPr>
                </a:tc>
                <a:tc>
                  <a:txBody>
                    <a:bodyPr/>
                    <a:lstStyle/>
                    <a:p>
                      <a:r>
                        <a:rPr sz="1500" b="0">
                          <a:solidFill>
                            <a:srgbClr val="1F2937"/>
                          </a:solidFill>
                        </a:rPr>
                        <a:t>Kutilgan musbat reaksiya</a:t>
                      </a:r>
                    </a:p>
                  </a:txBody>
                  <a:tcPr marL="73152" marR="73152" marT="36576" marB="36576">
                    <a:solidFill>
                      <a:srgbClr val="FFFFFF"/>
                    </a:solidFill>
                  </a:tcPr>
                </a:tc>
              </a:tr>
              <a:tr h="768096">
                <a:tc>
                  <a:txBody>
                    <a:bodyPr/>
                    <a:lstStyle/>
                    <a:p>
                      <a:r>
                        <a:rPr sz="1500" b="0">
                          <a:solidFill>
                            <a:srgbClr val="1F2937"/>
                          </a:solidFill>
                        </a:rPr>
                        <a:t>Ichki manfiy</a:t>
                      </a:r>
                    </a:p>
                  </a:txBody>
                  <a:tcPr marL="73152" marR="73152" marT="36576" marB="36576">
                    <a:solidFill>
                      <a:srgbClr val="E8EEF6"/>
                    </a:solidFill>
                  </a:tcPr>
                </a:tc>
                <a:tc>
                  <a:txBody>
                    <a:bodyPr/>
                    <a:lstStyle/>
                    <a:p>
                      <a:r>
                        <a:rPr sz="1500" b="0">
                          <a:solidFill>
                            <a:srgbClr val="1F2937"/>
                          </a:solidFill>
                        </a:rPr>
                        <a:t>Tomir ichidagi eritrotsitlar</a:t>
                      </a:r>
                    </a:p>
                  </a:txBody>
                  <a:tcPr marL="73152" marR="73152" marT="36576" marB="36576">
                    <a:solidFill>
                      <a:srgbClr val="E8EEF6"/>
                    </a:solidFill>
                  </a:tcPr>
                </a:tc>
                <a:tc>
                  <a:txBody>
                    <a:bodyPr/>
                    <a:lstStyle/>
                    <a:p>
                      <a:r>
                        <a:rPr sz="1500" b="0">
                          <a:solidFill>
                            <a:srgbClr val="1F2937"/>
                          </a:solidFill>
                        </a:rPr>
                        <a:t>Bir xil ishlov olgan manfiy fon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Nazorat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Xato manbalari: reaksiya va talqin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Bias — natijani og‘diruvchi xato. Usul sodda bo‘lsa-da, natijalar ehtiyotkorlik bilan talqin qilinadi.</a:t>
            </a:r>
          </a:p>
          <a:p>
            <a:pPr>
              <a:spcAft>
                <a:spcPts val="800"/>
              </a:spcAft>
            </a:pPr>
            <a:r>
              <a:rPr sz="1800">
                <a:solidFill>
                  <a:srgbClr val="1F2937"/>
                </a:solidFill>
                <a:latin typeface="Calibri"/>
              </a:rPr>
              <a:t>▸  Natija reaksiyani bajargan qo‘l va uni talqin qilgan ko‘z tajribasiga to‘g‘ridan-to‘g‘ri bog‘liq.</a:t>
            </a:r>
          </a:p>
          <a:p>
            <a:pPr>
              <a:spcAft>
                <a:spcPts val="800"/>
              </a:spcAft>
            </a:pPr>
            <a:r>
              <a:rPr sz="1800">
                <a:solidFill>
                  <a:srgbClr val="1F2937"/>
                </a:solidFill>
                <a:latin typeface="Calibri"/>
              </a:rPr>
              <a:t>▸  Diqqat: reaksiya biasi ≠ talqin biasi. Birinchisi texnik, ikkinchisi tanlov va baholash xatosi.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49574"/>
                <a:gridCol w="1691639"/>
                <a:gridCol w="2346761"/>
              </a:tblGrid>
              <a:tr h="614476">
                <a:tc>
                  <a:txBody>
                    <a:bodyPr/>
                    <a:lstStyle/>
                    <a:p>
                      <a:r>
                        <a:rPr sz="1600" b="1">
                          <a:solidFill>
                            <a:srgbClr val="FFFFFF"/>
                          </a:solidFill>
                        </a:rPr>
                        <a:t>Bias</a:t>
                      </a:r>
                    </a:p>
                  </a:txBody>
                  <a:tcPr marL="73152" marR="73152" marT="36576" marB="36576">
                    <a:solidFill>
                      <a:srgbClr val="0B1F3A"/>
                    </a:solidFill>
                  </a:tcPr>
                </a:tc>
                <a:tc>
                  <a:txBody>
                    <a:bodyPr/>
                    <a:lstStyle/>
                    <a:p>
                      <a:r>
                        <a:rPr sz="1600" b="1">
                          <a:solidFill>
                            <a:srgbClr val="FFFFFF"/>
                          </a:solidFill>
                        </a:rPr>
                        <a:t>Bosqich</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614476">
                <a:tc>
                  <a:txBody>
                    <a:bodyPr/>
                    <a:lstStyle/>
                    <a:p>
                      <a:r>
                        <a:rPr sz="1500" b="0">
                          <a:solidFill>
                            <a:srgbClr val="1F2937"/>
                          </a:solidFill>
                        </a:rPr>
                        <a:t>Reaksiya</a:t>
                      </a:r>
                    </a:p>
                  </a:txBody>
                  <a:tcPr marL="73152" marR="73152" marT="36576" marB="36576">
                    <a:solidFill>
                      <a:srgbClr val="E8EEF6"/>
                    </a:solidFill>
                  </a:tcPr>
                </a:tc>
                <a:tc>
                  <a:txBody>
                    <a:bodyPr/>
                    <a:lstStyle/>
                    <a:p>
                      <a:r>
                        <a:rPr sz="1500" b="0">
                          <a:solidFill>
                            <a:srgbClr val="1F2937"/>
                          </a:solidFill>
                        </a:rPr>
                        <a:t>Namuna tayyorlash</a:t>
                      </a:r>
                    </a:p>
                  </a:txBody>
                  <a:tcPr marL="73152" marR="73152" marT="36576" marB="36576">
                    <a:solidFill>
                      <a:srgbClr val="E8EEF6"/>
                    </a:solidFill>
                  </a:tcPr>
                </a:tc>
                <a:tc>
                  <a:txBody>
                    <a:bodyPr/>
                    <a:lstStyle/>
                    <a:p>
                      <a:r>
                        <a:rPr sz="1500" b="0">
                          <a:solidFill>
                            <a:srgbClr val="1F2937"/>
                          </a:solidFill>
                        </a:rPr>
                        <a:t>Fiksatsiya, to‘qima ishlovi</a:t>
                      </a:r>
                    </a:p>
                  </a:txBody>
                  <a:tcPr marL="73152" marR="73152" marT="36576" marB="36576">
                    <a:solidFill>
                      <a:srgbClr val="E8EEF6"/>
                    </a:solidFill>
                  </a:tcPr>
                </a:tc>
              </a:tr>
              <a:tr h="614476">
                <a:tc>
                  <a:txBody>
                    <a:bodyPr/>
                    <a:lstStyle/>
                    <a:p>
                      <a:r>
                        <a:rPr sz="1500" b="0">
                          <a:solidFill>
                            <a:srgbClr val="1F2937"/>
                          </a:solidFill>
                        </a:rPr>
                        <a:t>Reaksiya</a:t>
                      </a:r>
                    </a:p>
                  </a:txBody>
                  <a:tcPr marL="73152" marR="73152" marT="36576" marB="36576">
                    <a:solidFill>
                      <a:srgbClr val="FFFFFF"/>
                    </a:solidFill>
                  </a:tcPr>
                </a:tc>
                <a:tc>
                  <a:txBody>
                    <a:bodyPr/>
                    <a:lstStyle/>
                    <a:p>
                      <a:r>
                        <a:rPr sz="1500" b="0">
                          <a:solidFill>
                            <a:srgbClr val="1F2937"/>
                          </a:solidFill>
                        </a:rPr>
                        <a:t>Reaksiyaning o‘zi</a:t>
                      </a:r>
                    </a:p>
                  </a:txBody>
                  <a:tcPr marL="73152" marR="73152" marT="36576" marB="36576">
                    <a:solidFill>
                      <a:srgbClr val="FFFFFF"/>
                    </a:solidFill>
                  </a:tcPr>
                </a:tc>
                <a:tc>
                  <a:txBody>
                    <a:bodyPr/>
                    <a:lstStyle/>
                    <a:p>
                      <a:r>
                        <a:rPr sz="1500" b="0">
                          <a:solidFill>
                            <a:srgbClr val="1F2937"/>
                          </a:solidFill>
                        </a:rPr>
                        <a:t>Antigenni ochish, aniqlash tizimi</a:t>
                      </a:r>
                    </a:p>
                  </a:txBody>
                  <a:tcPr marL="73152" marR="73152" marT="36576" marB="36576">
                    <a:solidFill>
                      <a:srgbClr val="FFFFFF"/>
                    </a:solidFill>
                  </a:tcPr>
                </a:tc>
              </a:tr>
              <a:tr h="614476">
                <a:tc>
                  <a:txBody>
                    <a:bodyPr/>
                    <a:lstStyle/>
                    <a:p>
                      <a:r>
                        <a:rPr sz="1500" b="0">
                          <a:solidFill>
                            <a:srgbClr val="1F2937"/>
                          </a:solidFill>
                        </a:rPr>
                        <a:t>Talqin</a:t>
                      </a:r>
                    </a:p>
                  </a:txBody>
                  <a:tcPr marL="73152" marR="73152" marT="36576" marB="36576">
                    <a:solidFill>
                      <a:srgbClr val="E8EEF6"/>
                    </a:solidFill>
                  </a:tcPr>
                </a:tc>
                <a:tc>
                  <a:txBody>
                    <a:bodyPr/>
                    <a:lstStyle/>
                    <a:p>
                      <a:r>
                        <a:rPr sz="1500" b="0">
                          <a:solidFill>
                            <a:srgbClr val="1F2937"/>
                          </a:solidFill>
                        </a:rPr>
                        <a:t>Tanlov</a:t>
                      </a:r>
                    </a:p>
                  </a:txBody>
                  <a:tcPr marL="73152" marR="73152" marT="36576" marB="36576">
                    <a:solidFill>
                      <a:srgbClr val="E8EEF6"/>
                    </a:solidFill>
                  </a:tcPr>
                </a:tc>
                <a:tc>
                  <a:txBody>
                    <a:bodyPr/>
                    <a:lstStyle/>
                    <a:p>
                      <a:r>
                        <a:rPr sz="1500" b="0">
                          <a:solidFill>
                            <a:srgbClr val="1F2937"/>
                          </a:solidFill>
                        </a:rPr>
                        <a:t>Antitana paneli va klonini tanlash</a:t>
                      </a:r>
                    </a:p>
                  </a:txBody>
                  <a:tcPr marL="73152" marR="73152" marT="36576" marB="36576">
                    <a:solidFill>
                      <a:srgbClr val="E8EEF6"/>
                    </a:solidFill>
                  </a:tcPr>
                </a:tc>
              </a:tr>
              <a:tr h="614476">
                <a:tc>
                  <a:txBody>
                    <a:bodyPr/>
                    <a:lstStyle/>
                    <a:p>
                      <a:r>
                        <a:rPr sz="1500" b="0">
                          <a:solidFill>
                            <a:srgbClr val="1F2937"/>
                          </a:solidFill>
                        </a:rPr>
                        <a:t>Talqin</a:t>
                      </a:r>
                    </a:p>
                  </a:txBody>
                  <a:tcPr marL="73152" marR="73152" marT="36576" marB="36576">
                    <a:solidFill>
                      <a:srgbClr val="FFFFFF"/>
                    </a:solidFill>
                  </a:tcPr>
                </a:tc>
                <a:tc>
                  <a:txBody>
                    <a:bodyPr/>
                    <a:lstStyle/>
                    <a:p>
                      <a:r>
                        <a:rPr sz="1500" b="0">
                          <a:solidFill>
                            <a:srgbClr val="1F2937"/>
                          </a:solidFill>
                        </a:rPr>
                        <a:t>Baholash</a:t>
                      </a:r>
                    </a:p>
                  </a:txBody>
                  <a:tcPr marL="73152" marR="73152" marT="36576" marB="36576">
                    <a:solidFill>
                      <a:srgbClr val="FFFFFF"/>
                    </a:solidFill>
                  </a:tcPr>
                </a:tc>
                <a:tc>
                  <a:txBody>
                    <a:bodyPr/>
                    <a:lstStyle/>
                    <a:p>
                      <a:r>
                        <a:rPr sz="1500" b="0">
                          <a:solidFill>
                            <a:srgbClr val="1F2937"/>
                          </a:solidFill>
                        </a:rPr>
                        <a:t>Natija va adabiyotni talqin qilish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Bias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Sifat nazorati dasturlari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Fransiya patologiya jamiyatining immunogistokimyo sifat nazorati qo‘mitasi 1997-yilda hisobot e’lon qildi.</a:t>
            </a:r>
          </a:p>
          <a:p>
            <a:pPr>
              <a:spcAft>
                <a:spcPts val="1200"/>
              </a:spcAft>
            </a:pPr>
            <a:r>
              <a:rPr sz="2200">
                <a:solidFill>
                  <a:srgbClr val="1F2937"/>
                </a:solidFill>
                <a:latin typeface="Calibri"/>
              </a:rPr>
              <a:t>▸  Hisobotga ko‘ra, tashxis xatosining ikki asosiy sababi: antigenni ochish usullarini qo‘llamaslik va kuchsiz kuchaytirish usullaridan foydalanish.</a:t>
            </a:r>
          </a:p>
          <a:p>
            <a:pPr>
              <a:spcAft>
                <a:spcPts val="1200"/>
              </a:spcAft>
            </a:pPr>
            <a:r>
              <a:rPr sz="2200">
                <a:solidFill>
                  <a:srgbClr val="1F2937"/>
                </a:solidFill>
                <a:latin typeface="Calibri"/>
              </a:rPr>
              <a:t>▸  Boshqa xalqaro dasturlar: Immunoquery elektron bazasi va UK NEQAS — Britaniya tashqi sifat baholash sxemasi (immunotsitokimyo uchun).</a:t>
            </a:r>
          </a:p>
          <a:p>
            <a:pPr>
              <a:spcAft>
                <a:spcPts val="1200"/>
              </a:spcAft>
            </a:pPr>
            <a:r>
              <a:rPr sz="2200">
                <a:solidFill>
                  <a:srgbClr val="1F2937"/>
                </a:solidFill>
                <a:latin typeface="Calibri"/>
              </a:rPr>
              <a:t>▸  Reagentlar ketma-ketligini ish sxemalari bilan nazorat qilish yolg‘on natijalardan saqlaydi. Har bosqich va har antitana naqshini yozib borish ham tavsiya etiladi.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texnik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uzoq fiksatsiyada bo‘lgan yoki 12 hafta saqlangan ko‘krak bezi saratoni preparatida p53 va Bcl-2 kuchsiz bo‘yaldi.</a:t>
            </a:r>
          </a:p>
          <a:p>
            <a:pPr>
              <a:spcAft>
                <a:spcPts val="1200"/>
              </a:spcAft>
            </a:pPr>
            <a:r>
              <a:rPr sz="2200">
                <a:solidFill>
                  <a:srgbClr val="1F2937"/>
                </a:solidFill>
                <a:latin typeface="Calibri"/>
              </a:rPr>
              <a:t>▸  Sabab: yangi namuna uzoq fiksatsiyaga tushsa, antigenlik sezilarli kamayadi. Shishada xona haroratida 12 hafta saqlash ham antigenlikni yo‘qotadi.</a:t>
            </a:r>
          </a:p>
          <a:p>
            <a:pPr>
              <a:spcAft>
                <a:spcPts val="1200"/>
              </a:spcAft>
            </a:pPr>
            <a:r>
              <a:rPr sz="2200">
                <a:solidFill>
                  <a:srgbClr val="1F2937"/>
                </a:solidFill>
                <a:latin typeface="Calibri"/>
              </a:rPr>
              <a:t>▸  Formaldegid epitoplarni niqoblaydi yoki buzadi. Fiksatsiyaning kechikishi ham ayrim antikorlarda immunoreaktivlikni yo‘qotishi mumkin.</a:t>
            </a:r>
          </a:p>
          <a:p>
            <a:pPr>
              <a:spcAft>
                <a:spcPts val="1200"/>
              </a:spcAft>
            </a:pPr>
            <a:r>
              <a:rPr sz="2200">
                <a:solidFill>
                  <a:srgbClr val="1F2937"/>
                </a:solidFill>
                <a:latin typeface="Calibri"/>
              </a:rPr>
              <a:t>▸  Savol: oldini olish uchun nima qilinadi? Fiksatsiya va yetkazishni nazorat qilish, antigenni tiklash va paraffin harorati 60 °C dan oshmasligi.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IHK uchun blok kesmasi qalinligi qaysi oraliqda tanlanadi? 3 mkm dan yupqa yoki 7 mkm dan qalin bo‘lsa nima bo‘ladi?</a:t>
            </a:r>
          </a:p>
          <a:p>
            <a:pPr>
              <a:spcAft>
                <a:spcPts val="1200"/>
              </a:spcAft>
            </a:pPr>
            <a:r>
              <a:rPr sz="2200">
                <a:solidFill>
                  <a:srgbClr val="1F2937"/>
                </a:solidFill>
                <a:latin typeface="Calibri"/>
              </a:rPr>
              <a:t>▸  Savol 2: formaldegid bilan fiksatsiyada antikor bog‘lanish joylariga nima bo‘ladi va u qanday tuzatiladi?</a:t>
            </a:r>
          </a:p>
          <a:p>
            <a:pPr>
              <a:spcAft>
                <a:spcPts val="1200"/>
              </a:spcAft>
            </a:pPr>
            <a:r>
              <a:rPr sz="2200">
                <a:solidFill>
                  <a:srgbClr val="1F2937"/>
                </a:solidFill>
                <a:latin typeface="Calibri"/>
              </a:rPr>
              <a:t>▸  Savol 3: poliklonal va monoklonal birlamchi antikorlar qaysi jihatdan farqlanadi? Qaysi biri sezgirroq, qaysi biri o‘ziga xosroq?</a:t>
            </a:r>
          </a:p>
          <a:p>
            <a:pPr>
              <a:spcAft>
                <a:spcPts val="1200"/>
              </a:spcAft>
            </a:pPr>
            <a:r>
              <a:rPr sz="2200">
                <a:solidFill>
                  <a:srgbClr val="1F2937"/>
                </a:solidFill>
                <a:latin typeface="Calibri"/>
              </a:rPr>
              <a:t>▸  Savol 4: tashqi va ichki nazoratlarga misol keltiring. Qaysi tuzilma ichki manfiy nazorat bo‘la 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Natija talqini: sifat va subyektivlik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Talqin odatda sifat jihatidan va subyektiv bajariladi, miqdoriy baholash ko‘pincha kam ahamiyatli hisoblanadi. Qaror ko‘pincha molekulaning bor-yo‘qligiga tayanadi.</a:t>
            </a:r>
          </a:p>
          <a:p>
            <a:pPr>
              <a:spcAft>
                <a:spcPts val="1200"/>
              </a:spcAft>
            </a:pPr>
            <a:r>
              <a:rPr sz="2200">
                <a:solidFill>
                  <a:srgbClr val="1F2937"/>
                </a:solidFill>
                <a:latin typeface="Calibri"/>
              </a:rPr>
              <a:t>▸  Adabiyotdagi qarama-qarshi natijalarning o‘sib borayotgan sababi: “musbat” natija nima ekani aniq ta’riflanmagan.</a:t>
            </a:r>
          </a:p>
          <a:p>
            <a:pPr>
              <a:spcAft>
                <a:spcPts val="1200"/>
              </a:spcAft>
            </a:pPr>
            <a:r>
              <a:rPr sz="2200">
                <a:solidFill>
                  <a:srgbClr val="1F2937"/>
                </a:solidFill>
                <a:latin typeface="Calibri"/>
              </a:rPr>
              <a:t>▸  S-100 uchun ayrim mualliflar yadro va sitoplazma bo‘yalishini talab qiladi, boshqalari faqat sitoplazmani yetarli deb biladi.</a:t>
            </a:r>
          </a:p>
          <a:p>
            <a:pPr>
              <a:spcAft>
                <a:spcPts val="1200"/>
              </a:spcAft>
            </a:pPr>
            <a:r>
              <a:rPr sz="2200">
                <a:solidFill>
                  <a:srgbClr val="1F2937"/>
                </a:solidFill>
                <a:latin typeface="Calibri"/>
              </a:rPr>
              <a:t>▸  Diqqat: HER2 da faqat hujayra membranasi bo‘yalishi gen amplifikatsiyasi bilan bog‘liq. Sof sitoplazmatik bo‘yalish ≠ membranali bo‘yalish.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“Musbat” natija: S-100 va HER2 misoli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Ko‘p tadqiqotda “musbat” deganda to‘qimaning istalgan qismidagi jigarrang bo‘yalish (peroksidaza) tushuniladi.</a:t>
            </a:r>
          </a:p>
          <a:p>
            <a:pPr>
              <a:spcAft>
                <a:spcPts val="800"/>
              </a:spcAft>
            </a:pPr>
            <a:r>
              <a:rPr sz="1800">
                <a:solidFill>
                  <a:srgbClr val="1F2937"/>
                </a:solidFill>
                <a:latin typeface="Calibri"/>
              </a:rPr>
              <a:t>▸  S-100: ba’zi mualliflar yadro va sitoplazmani talab qiladi, boshqalar faqat sitoplazmani yetarli deb biladi.</a:t>
            </a:r>
          </a:p>
          <a:p>
            <a:pPr>
              <a:spcAft>
                <a:spcPts val="800"/>
              </a:spcAft>
            </a:pPr>
            <a:r>
              <a:rPr sz="1800">
                <a:solidFill>
                  <a:srgbClr val="1F2937"/>
                </a:solidFill>
                <a:latin typeface="Calibri"/>
              </a:rPr>
              <a:t>▸  Diqqat: HER2 da sitoplazma ≠ membrana; faqat membrana bo‘yalishi gen amplifikatsiyasi bilan bog‘liq.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208680"/>
                <a:gridCol w="1510850"/>
                <a:gridCol w="2568445"/>
              </a:tblGrid>
              <a:tr h="614476">
                <a:tc>
                  <a:txBody>
                    <a:bodyPr/>
                    <a:lstStyle/>
                    <a:p>
                      <a:r>
                        <a:rPr sz="1600" b="1">
                          <a:solidFill>
                            <a:srgbClr val="FFFFFF"/>
                          </a:solidFill>
                        </a:rPr>
                        <a:t>Marker</a:t>
                      </a:r>
                    </a:p>
                  </a:txBody>
                  <a:tcPr marL="73152" marR="73152" marT="36576" marB="36576">
                    <a:solidFill>
                      <a:srgbClr val="0B1F3A"/>
                    </a:solidFill>
                  </a:tcPr>
                </a:tc>
                <a:tc>
                  <a:txBody>
                    <a:bodyPr/>
                    <a:lstStyle/>
                    <a:p>
                      <a:r>
                        <a:rPr sz="1600" b="1">
                          <a:solidFill>
                            <a:srgbClr val="FFFFFF"/>
                          </a:solidFill>
                        </a:rPr>
                        <a:t>Bo‘yalish joyi</a:t>
                      </a:r>
                    </a:p>
                  </a:txBody>
                  <a:tcPr marL="73152" marR="73152" marT="36576" marB="36576">
                    <a:solidFill>
                      <a:srgbClr val="0B1F3A"/>
                    </a:solidFill>
                  </a:tcPr>
                </a:tc>
                <a:tc>
                  <a:txBody>
                    <a:bodyPr/>
                    <a:lstStyle/>
                    <a:p>
                      <a:r>
                        <a:rPr sz="1600" b="1">
                          <a:solidFill>
                            <a:srgbClr val="FFFFFF"/>
                          </a:solidFill>
                        </a:rPr>
                        <a:t>Talqin</a:t>
                      </a:r>
                    </a:p>
                  </a:txBody>
                  <a:tcPr marL="73152" marR="73152" marT="36576" marB="36576">
                    <a:solidFill>
                      <a:srgbClr val="0B1F3A"/>
                    </a:solidFill>
                  </a:tcPr>
                </a:tc>
              </a:tr>
              <a:tr h="614476">
                <a:tc>
                  <a:txBody>
                    <a:bodyPr/>
                    <a:lstStyle/>
                    <a:p>
                      <a:r>
                        <a:rPr sz="1500" b="0">
                          <a:solidFill>
                            <a:srgbClr val="1F2937"/>
                          </a:solidFill>
                        </a:rPr>
                        <a:t>S-100</a:t>
                      </a:r>
                    </a:p>
                  </a:txBody>
                  <a:tcPr marL="73152" marR="73152" marT="36576" marB="36576">
                    <a:solidFill>
                      <a:srgbClr val="E8EEF6"/>
                    </a:solidFill>
                  </a:tcPr>
                </a:tc>
                <a:tc>
                  <a:txBody>
                    <a:bodyPr/>
                    <a:lstStyle/>
                    <a:p>
                      <a:r>
                        <a:rPr sz="1500" b="0">
                          <a:solidFill>
                            <a:srgbClr val="1F2937"/>
                          </a:solidFill>
                        </a:rPr>
                        <a:t>Yadro + sitoplazma</a:t>
                      </a:r>
                    </a:p>
                  </a:txBody>
                  <a:tcPr marL="73152" marR="73152" marT="36576" marB="36576">
                    <a:solidFill>
                      <a:srgbClr val="E8EEF6"/>
                    </a:solidFill>
                  </a:tcPr>
                </a:tc>
                <a:tc>
                  <a:txBody>
                    <a:bodyPr/>
                    <a:lstStyle/>
                    <a:p>
                      <a:r>
                        <a:rPr sz="1500" b="0">
                          <a:solidFill>
                            <a:srgbClr val="1F2937"/>
                          </a:solidFill>
                        </a:rPr>
                        <a:t>Ba’zi mualliflar: musbat</a:t>
                      </a:r>
                    </a:p>
                  </a:txBody>
                  <a:tcPr marL="73152" marR="73152" marT="36576" marB="36576">
                    <a:solidFill>
                      <a:srgbClr val="E8EEF6"/>
                    </a:solidFill>
                  </a:tcPr>
                </a:tc>
              </a:tr>
              <a:tr h="614476">
                <a:tc>
                  <a:txBody>
                    <a:bodyPr/>
                    <a:lstStyle/>
                    <a:p>
                      <a:r>
                        <a:rPr sz="1500" b="0">
                          <a:solidFill>
                            <a:srgbClr val="1F2937"/>
                          </a:solidFill>
                        </a:rPr>
                        <a:t>S-100</a:t>
                      </a:r>
                    </a:p>
                  </a:txBody>
                  <a:tcPr marL="73152" marR="73152" marT="36576" marB="36576">
                    <a:solidFill>
                      <a:srgbClr val="FFFFFF"/>
                    </a:solidFill>
                  </a:tcPr>
                </a:tc>
                <a:tc>
                  <a:txBody>
                    <a:bodyPr/>
                    <a:lstStyle/>
                    <a:p>
                      <a:r>
                        <a:rPr sz="1500" b="0">
                          <a:solidFill>
                            <a:srgbClr val="1F2937"/>
                          </a:solidFill>
                        </a:rPr>
                        <a:t>Faqat sitoplazma</a:t>
                      </a:r>
                    </a:p>
                  </a:txBody>
                  <a:tcPr marL="73152" marR="73152" marT="36576" marB="36576">
                    <a:solidFill>
                      <a:srgbClr val="FFFFFF"/>
                    </a:solidFill>
                  </a:tcPr>
                </a:tc>
                <a:tc>
                  <a:txBody>
                    <a:bodyPr/>
                    <a:lstStyle/>
                    <a:p>
                      <a:r>
                        <a:rPr sz="1500" b="0">
                          <a:solidFill>
                            <a:srgbClr val="1F2937"/>
                          </a:solidFill>
                        </a:rPr>
                        <a:t>Boshqalar: musbat deb hisoblaydi</a:t>
                      </a:r>
                    </a:p>
                  </a:txBody>
                  <a:tcPr marL="73152" marR="73152" marT="36576" marB="36576">
                    <a:solidFill>
                      <a:srgbClr val="FFFFFF"/>
                    </a:solidFill>
                  </a:tcPr>
                </a:tc>
              </a:tr>
              <a:tr h="614476">
                <a:tc>
                  <a:txBody>
                    <a:bodyPr/>
                    <a:lstStyle/>
                    <a:p>
                      <a:r>
                        <a:rPr sz="1500" b="0">
                          <a:solidFill>
                            <a:srgbClr val="1F2937"/>
                          </a:solidFill>
                        </a:rPr>
                        <a:t>HER2</a:t>
                      </a:r>
                    </a:p>
                  </a:txBody>
                  <a:tcPr marL="73152" marR="73152" marT="36576" marB="36576">
                    <a:solidFill>
                      <a:srgbClr val="E8EEF6"/>
                    </a:solidFill>
                  </a:tcPr>
                </a:tc>
                <a:tc>
                  <a:txBody>
                    <a:bodyPr/>
                    <a:lstStyle/>
                    <a:p>
                      <a:r>
                        <a:rPr sz="1500" b="0">
                          <a:solidFill>
                            <a:srgbClr val="1F2937"/>
                          </a:solidFill>
                        </a:rPr>
                        <a:t>Faqat sitoplazma</a:t>
                      </a:r>
                    </a:p>
                  </a:txBody>
                  <a:tcPr marL="73152" marR="73152" marT="36576" marB="36576">
                    <a:solidFill>
                      <a:srgbClr val="E8EEF6"/>
                    </a:solidFill>
                  </a:tcPr>
                </a:tc>
                <a:tc>
                  <a:txBody>
                    <a:bodyPr/>
                    <a:lstStyle/>
                    <a:p>
                      <a:r>
                        <a:rPr sz="1500" b="0">
                          <a:solidFill>
                            <a:srgbClr val="1F2937"/>
                          </a:solidFill>
                        </a:rPr>
                        <a:t>Ba’zi ishlarda musbat hisoblangan</a:t>
                      </a:r>
                    </a:p>
                  </a:txBody>
                  <a:tcPr marL="73152" marR="73152" marT="36576" marB="36576">
                    <a:solidFill>
                      <a:srgbClr val="E8EEF6"/>
                    </a:solidFill>
                  </a:tcPr>
                </a:tc>
              </a:tr>
              <a:tr h="614476">
                <a:tc>
                  <a:txBody>
                    <a:bodyPr/>
                    <a:lstStyle/>
                    <a:p>
                      <a:r>
                        <a:rPr sz="1500" b="0">
                          <a:solidFill>
                            <a:srgbClr val="1F2937"/>
                          </a:solidFill>
                        </a:rPr>
                        <a:t>HER2</a:t>
                      </a:r>
                    </a:p>
                  </a:txBody>
                  <a:tcPr marL="73152" marR="73152" marT="36576" marB="36576">
                    <a:solidFill>
                      <a:srgbClr val="FFFFFF"/>
                    </a:solidFill>
                  </a:tcPr>
                </a:tc>
                <a:tc>
                  <a:txBody>
                    <a:bodyPr/>
                    <a:lstStyle/>
                    <a:p>
                      <a:r>
                        <a:rPr sz="1500" b="0">
                          <a:solidFill>
                            <a:srgbClr val="1F2937"/>
                          </a:solidFill>
                        </a:rPr>
                        <a:t>Hujayra membranasi</a:t>
                      </a:r>
                    </a:p>
                  </a:txBody>
                  <a:tcPr marL="73152" marR="73152" marT="36576" marB="36576">
                    <a:solidFill>
                      <a:srgbClr val="FFFFFF"/>
                    </a:solidFill>
                  </a:tcPr>
                </a:tc>
                <a:tc>
                  <a:txBody>
                    <a:bodyPr/>
                    <a:lstStyle/>
                    <a:p>
                      <a:r>
                        <a:rPr sz="1500" b="0">
                          <a:solidFill>
                            <a:srgbClr val="1F2937"/>
                          </a:solidFill>
                        </a:rPr>
                        <a:t>Gen amplifikatsiyasi bilan bog‘liq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“Musbat” talqinidagi farqlar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Joylashuv qoidasi va natijani tasdiqlash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Antigenning joylashuvi ma’lum bo‘lsa, immunoreaktivlik naqshi uning mikroanatomik yoki hujayra ichidagi taqsimotiga mos kelishi kerak.</a:t>
            </a:r>
          </a:p>
          <a:p>
            <a:pPr>
              <a:spcAft>
                <a:spcPts val="1200"/>
              </a:spcAft>
            </a:pPr>
            <a:r>
              <a:rPr sz="2200">
                <a:solidFill>
                  <a:srgbClr val="1F2937"/>
                </a:solidFill>
                <a:latin typeface="Calibri"/>
              </a:rPr>
              <a:t>▸  Sitoplazmatik pufakchalardagi molekulalar (xromogranin, von Willebrand omili, HMB-45) donador intrasitoplazmatik bo‘yalish beradi.</a:t>
            </a:r>
          </a:p>
          <a:p>
            <a:pPr>
              <a:spcAft>
                <a:spcPts val="1200"/>
              </a:spcAft>
            </a:pPr>
            <a:r>
              <a:rPr sz="2200">
                <a:solidFill>
                  <a:srgbClr val="1F2937"/>
                </a:solidFill>
                <a:latin typeface="Calibri"/>
              </a:rPr>
              <a:t>▸  Bo‘yalish kutilganidek bo‘lmasa, ko‘pchilik buni soxta musbat deydi; lekin molekulaning hali tavsiflanmagan vazifasi ham bo‘lishi mumkin.</a:t>
            </a:r>
          </a:p>
          <a:p>
            <a:pPr>
              <a:spcAft>
                <a:spcPts val="1200"/>
              </a:spcAft>
            </a:pPr>
            <a:r>
              <a:rPr sz="2200">
                <a:solidFill>
                  <a:srgbClr val="1F2937"/>
                </a:solidFill>
                <a:latin typeface="Calibri"/>
              </a:rPr>
              <a:t>▸  Shubhali holatda bir molekulaning boshqa epitoplariga antikorlar yoki bog‘liq markerlar (sinaptofizin va xromogranin) bilan natija tasdiqlanadi.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talqin bo‘limi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HER2 ga qarshi antikor bilan preparat jigarrang bo‘yaldi, ammo bo‘yalish faqat sitoplazmada, membranada yo‘q.</a:t>
            </a:r>
          </a:p>
          <a:p>
            <a:pPr>
              <a:spcAft>
                <a:spcPts val="1200"/>
              </a:spcAft>
            </a:pPr>
            <a:r>
              <a:rPr sz="2200">
                <a:solidFill>
                  <a:srgbClr val="1F2937"/>
                </a:solidFill>
                <a:latin typeface="Calibri"/>
              </a:rPr>
              <a:t>▸  Savol: bu natijani musbat deyish mumkinmi va nega klinik-morfologik kontekst kerak?</a:t>
            </a:r>
          </a:p>
          <a:p>
            <a:pPr>
              <a:spcAft>
                <a:spcPts val="1200"/>
              </a:spcAft>
            </a:pPr>
            <a:r>
              <a:rPr sz="2200">
                <a:solidFill>
                  <a:srgbClr val="1F2937"/>
                </a:solidFill>
                <a:latin typeface="Calibri"/>
              </a:rPr>
              <a:t>▸  Yo‘nalish: bo‘yalish bor, lekin gen amplifikatsiyasi bilan faqat membranali bo‘yalish bog‘liq. Turli bo‘limlardagi ekspressiya turli vazifani bildirishi mumkin.</a:t>
            </a:r>
          </a:p>
          <a:p>
            <a:pPr>
              <a:spcAft>
                <a:spcPts val="1200"/>
              </a:spcAft>
            </a:pPr>
            <a:r>
              <a:rPr sz="2200">
                <a:solidFill>
                  <a:srgbClr val="1F2937"/>
                </a:solidFill>
                <a:latin typeface="Calibri"/>
              </a:rPr>
              <a:t>▸  Xulosa: jigarrang bo‘yalishni musbat deb qayd eting, so‘ng molekula vazifasi va klinik-morfologik kontekstda talqin qiling.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IHK va ELISA: umumiy tamoyil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IHK (immunohistokimyo) to‘qima kesmasida joyida o‘tkaziladigan immunologik testdir.</a:t>
            </a:r>
          </a:p>
          <a:p>
            <a:pPr>
              <a:spcAft>
                <a:spcPts val="800"/>
              </a:spcAft>
            </a:pPr>
            <a:r>
              <a:rPr sz="1800">
                <a:solidFill>
                  <a:srgbClr val="1F2937"/>
                </a:solidFill>
                <a:latin typeface="Calibri"/>
              </a:rPr>
              <a:t>▸  ELISA (ferment bog‘langan immunosorbent tahlil) reagentlari parafin kesmada IHK uchun ham ishlaydi.</a:t>
            </a:r>
          </a:p>
          <a:p>
            <a:pPr>
              <a:spcAft>
                <a:spcPts val="800"/>
              </a:spcAft>
            </a:pPr>
            <a:r>
              <a:rPr sz="1800">
                <a:solidFill>
                  <a:srgbClr val="1F2937"/>
                </a:solidFill>
                <a:latin typeface="Calibri"/>
              </a:rPr>
              <a:t>▸  IHK miqdoriy bahosi Western blot va immunoferment usullari bilan statistik bog‘liq.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705425"/>
                <a:gridCol w="2127129"/>
              </a:tblGrid>
              <a:tr h="61447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ELISA</a:t>
                      </a:r>
                    </a:p>
                  </a:txBody>
                  <a:tcPr marL="73152" marR="73152" marT="36576" marB="36576">
                    <a:solidFill>
                      <a:srgbClr val="0B1F3A"/>
                    </a:solidFill>
                  </a:tcPr>
                </a:tc>
                <a:tc>
                  <a:txBody>
                    <a:bodyPr/>
                    <a:lstStyle/>
                    <a:p>
                      <a:r>
                        <a:rPr sz="1600" b="1">
                          <a:solidFill>
                            <a:srgbClr val="FFFFFF"/>
                          </a:solidFill>
                        </a:rPr>
                        <a:t>IHK</a:t>
                      </a:r>
                    </a:p>
                  </a:txBody>
                  <a:tcPr marL="73152" marR="73152" marT="36576" marB="36576">
                    <a:solidFill>
                      <a:srgbClr val="0B1F3A"/>
                    </a:solidFill>
                  </a:tcPr>
                </a:tc>
              </a:tr>
              <a:tr h="614476">
                <a:tc>
                  <a:txBody>
                    <a:bodyPr/>
                    <a:lstStyle/>
                    <a:p>
                      <a:r>
                        <a:rPr sz="1500" b="0">
                          <a:solidFill>
                            <a:srgbClr val="1F2937"/>
                          </a:solidFill>
                        </a:rPr>
                        <a:t>Namuna</a:t>
                      </a:r>
                    </a:p>
                  </a:txBody>
                  <a:tcPr marL="73152" marR="73152" marT="36576" marB="36576">
                    <a:solidFill>
                      <a:srgbClr val="E8EEF6"/>
                    </a:solidFill>
                  </a:tcPr>
                </a:tc>
                <a:tc>
                  <a:txBody>
                    <a:bodyPr/>
                    <a:lstStyle/>
                    <a:p>
                      <a:r>
                        <a:rPr sz="1500" b="0">
                          <a:solidFill>
                            <a:srgbClr val="1F2937"/>
                          </a:solidFill>
                        </a:rPr>
                        <a:t>Zardob</a:t>
                      </a:r>
                    </a:p>
                  </a:txBody>
                  <a:tcPr marL="73152" marR="73152" marT="36576" marB="36576">
                    <a:solidFill>
                      <a:srgbClr val="E8EEF6"/>
                    </a:solidFill>
                  </a:tcPr>
                </a:tc>
                <a:tc>
                  <a:txBody>
                    <a:bodyPr/>
                    <a:lstStyle/>
                    <a:p>
                      <a:r>
                        <a:rPr sz="1500" b="0">
                          <a:solidFill>
                            <a:srgbClr val="1F2937"/>
                          </a:solidFill>
                        </a:rPr>
                        <a:t>Parafin blokdagi kesma</a:t>
                      </a:r>
                    </a:p>
                  </a:txBody>
                  <a:tcPr marL="73152" marR="73152" marT="36576" marB="36576">
                    <a:solidFill>
                      <a:srgbClr val="E8EEF6"/>
                    </a:solidFill>
                  </a:tcPr>
                </a:tc>
              </a:tr>
              <a:tr h="614476">
                <a:tc>
                  <a:txBody>
                    <a:bodyPr/>
                    <a:lstStyle/>
                    <a:p>
                      <a:r>
                        <a:rPr sz="1500" b="0">
                          <a:solidFill>
                            <a:srgbClr val="1F2937"/>
                          </a:solidFill>
                        </a:rPr>
                        <a:t>Reagentlar</a:t>
                      </a:r>
                    </a:p>
                  </a:txBody>
                  <a:tcPr marL="73152" marR="73152" marT="36576" marB="36576">
                    <a:solidFill>
                      <a:srgbClr val="FFFFFF"/>
                    </a:solidFill>
                  </a:tcPr>
                </a:tc>
                <a:tc>
                  <a:txBody>
                    <a:bodyPr/>
                    <a:lstStyle/>
                    <a:p>
                      <a:r>
                        <a:rPr sz="1500" b="0">
                          <a:solidFill>
                            <a:srgbClr val="1F2937"/>
                          </a:solidFill>
                        </a:rPr>
                        <a:t>Bir xil reagentlar</a:t>
                      </a:r>
                    </a:p>
                  </a:txBody>
                  <a:tcPr marL="73152" marR="73152" marT="36576" marB="36576">
                    <a:solidFill>
                      <a:srgbClr val="FFFFFF"/>
                    </a:solidFill>
                  </a:tcPr>
                </a:tc>
                <a:tc>
                  <a:txBody>
                    <a:bodyPr/>
                    <a:lstStyle/>
                    <a:p>
                      <a:r>
                        <a:rPr sz="1500" b="0">
                          <a:solidFill>
                            <a:srgbClr val="1F2937"/>
                          </a:solidFill>
                        </a:rPr>
                        <a:t>Bir xil reagentlar</a:t>
                      </a:r>
                    </a:p>
                  </a:txBody>
                  <a:tcPr marL="73152" marR="73152" marT="36576" marB="36576">
                    <a:solidFill>
                      <a:srgbClr val="FFFFFF"/>
                    </a:solidFill>
                  </a:tcPr>
                </a:tc>
              </a:tr>
              <a:tr h="614476">
                <a:tc>
                  <a:txBody>
                    <a:bodyPr/>
                    <a:lstStyle/>
                    <a:p>
                      <a:r>
                        <a:rPr sz="1500" b="0">
                          <a:solidFill>
                            <a:srgbClr val="1F2937"/>
                          </a:solidFill>
                        </a:rPr>
                        <a:t>Natija atamasi</a:t>
                      </a:r>
                    </a:p>
                  </a:txBody>
                  <a:tcPr marL="73152" marR="73152" marT="36576" marB="36576">
                    <a:solidFill>
                      <a:srgbClr val="E8EEF6"/>
                    </a:solidFill>
                  </a:tcPr>
                </a:tc>
                <a:tc>
                  <a:txBody>
                    <a:bodyPr/>
                    <a:lstStyle/>
                    <a:p>
                      <a:r>
                        <a:rPr sz="1500" b="0">
                          <a:solidFill>
                            <a:srgbClr val="1F2937"/>
                          </a:solidFill>
                        </a:rPr>
                        <a:t>Miqdoriy deb tan olingan</a:t>
                      </a:r>
                    </a:p>
                  </a:txBody>
                  <a:tcPr marL="73152" marR="73152" marT="36576" marB="36576">
                    <a:solidFill>
                      <a:srgbClr val="E8EEF6"/>
                    </a:solidFill>
                  </a:tcPr>
                </a:tc>
                <a:tc>
                  <a:txBody>
                    <a:bodyPr/>
                    <a:lstStyle/>
                    <a:p>
                      <a:r>
                        <a:rPr sz="1500" b="0">
                          <a:solidFill>
                            <a:srgbClr val="1F2937"/>
                          </a:solidFill>
                        </a:rPr>
                        <a:t>Ko‘pincha shunchaki “bo‘yalish”</a:t>
                      </a:r>
                    </a:p>
                  </a:txBody>
                  <a:tcPr marL="73152" marR="73152" marT="36576" marB="36576">
                    <a:solidFill>
                      <a:srgbClr val="E8EEF6"/>
                    </a:solidFill>
                  </a:tcPr>
                </a:tc>
              </a:tr>
              <a:tr h="614476">
                <a:tc>
                  <a:txBody>
                    <a:bodyPr/>
                    <a:lstStyle/>
                    <a:p>
                      <a:r>
                        <a:rPr sz="1500" b="0">
                          <a:solidFill>
                            <a:srgbClr val="1F2937"/>
                          </a:solidFill>
                        </a:rPr>
                        <a:t>Tasdiqlash</a:t>
                      </a:r>
                    </a:p>
                  </a:txBody>
                  <a:tcPr marL="73152" marR="73152" marT="36576" marB="36576">
                    <a:solidFill>
                      <a:srgbClr val="FFFFFF"/>
                    </a:solidFill>
                  </a:tcPr>
                </a:tc>
                <a:tc>
                  <a:txBody>
                    <a:bodyPr/>
                    <a:lstStyle/>
                    <a:p>
                      <a:r>
                        <a:rPr sz="1500" b="0">
                          <a:solidFill>
                            <a:srgbClr val="1F2937"/>
                          </a:solidFill>
                        </a:rPr>
                        <a:t>Keng e‘tirof etilgan</a:t>
                      </a:r>
                    </a:p>
                  </a:txBody>
                  <a:tcPr marL="73152" marR="73152" marT="36576" marB="36576">
                    <a:solidFill>
                      <a:srgbClr val="FFFFFF"/>
                    </a:solidFill>
                  </a:tcPr>
                </a:tc>
                <a:tc>
                  <a:txBody>
                    <a:bodyPr/>
                    <a:lstStyle/>
                    <a:p>
                      <a:r>
                        <a:rPr sz="1500" b="0">
                          <a:solidFill>
                            <a:srgbClr val="1F2937"/>
                          </a:solidFill>
                        </a:rPr>
                        <a:t>Western blot bilan bog‘liq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IHK va ELISA taqqosi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Yarim miqdoriy tahlil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Intensivlik darajalari (nol, kuchsiz, o‘rtacha, kuchli) tajribaga bog‘liq, shuning uchun nomaqbul.</a:t>
            </a:r>
          </a:p>
          <a:p>
            <a:pPr>
              <a:spcAft>
                <a:spcPts val="800"/>
              </a:spcAft>
            </a:pPr>
            <a:r>
              <a:rPr sz="1800">
                <a:solidFill>
                  <a:srgbClr val="1F2937"/>
                </a:solidFill>
                <a:latin typeface="Calibri"/>
              </a:rPr>
              <a:t>▸  Tarqalish — bo‘yalgan hujayralar foizi; Ki67, p53, p21 sanog‘ida takrorlanuvchanlik past.</a:t>
            </a:r>
          </a:p>
          <a:p>
            <a:pPr>
              <a:spcAft>
                <a:spcPts val="800"/>
              </a:spcAft>
            </a:pPr>
            <a:r>
              <a:rPr sz="1800">
                <a:solidFill>
                  <a:srgbClr val="1F2937"/>
                </a:solidFill>
                <a:latin typeface="Calibri"/>
              </a:rPr>
              <a:t>▸  Ball tizimlari farqni kamaytirish uchun kiritilgan, lekin mehnat talab qiladi va charchatadi.</a:t>
            </a:r>
          </a:p>
        </p:txBody>
      </p:sp>
      <p:graphicFrame>
        <p:nvGraphicFramePr>
          <p:cNvPr id="9" name="Table 8"/>
          <p:cNvGraphicFramePr>
            <a:graphicFrameLocks noGrp="1"/>
          </p:cNvGraphicFramePr>
          <p:nvPr/>
        </p:nvGraphicFramePr>
        <p:xfrm>
          <a:off x="6263640" y="1463040"/>
          <a:ext cx="7555229" cy="3072380"/>
        </p:xfrm>
        <a:graphic>
          <a:graphicData uri="http://schemas.openxmlformats.org/drawingml/2006/table">
            <a:tbl>
              <a:tblPr firstRow="1" bandRow="1">
                <a:tableStyleId>{5C22544A-7EE6-4342-B048-85BDC9FD1C3A}</a:tableStyleId>
              </a:tblPr>
              <a:tblGrid>
                <a:gridCol w="1573530"/>
                <a:gridCol w="3463289"/>
                <a:gridCol w="2518410"/>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Nimani baholaydi</a:t>
                      </a:r>
                    </a:p>
                  </a:txBody>
                  <a:tcPr marL="73152" marR="73152" marT="36576" marB="36576">
                    <a:solidFill>
                      <a:srgbClr val="0B1F3A"/>
                    </a:solidFill>
                  </a:tcPr>
                </a:tc>
                <a:tc>
                  <a:txBody>
                    <a:bodyPr/>
                    <a:lstStyle/>
                    <a:p>
                      <a:r>
                        <a:rPr sz="1600" b="1">
                          <a:solidFill>
                            <a:srgbClr val="FFFFFF"/>
                          </a:solidFill>
                        </a:rPr>
                        <a:t>Cheklov</a:t>
                      </a:r>
                    </a:p>
                  </a:txBody>
                  <a:tcPr marL="73152" marR="73152" marT="36576" marB="36576">
                    <a:solidFill>
                      <a:srgbClr val="0B1F3A"/>
                    </a:solidFill>
                  </a:tcPr>
                </a:tc>
              </a:tr>
              <a:tr h="614476">
                <a:tc>
                  <a:txBody>
                    <a:bodyPr/>
                    <a:lstStyle/>
                    <a:p>
                      <a:r>
                        <a:rPr sz="1500" b="0">
                          <a:solidFill>
                            <a:srgbClr val="1F2937"/>
                          </a:solidFill>
                        </a:rPr>
                        <a:t>Intensivlik</a:t>
                      </a:r>
                    </a:p>
                  </a:txBody>
                  <a:tcPr marL="73152" marR="73152" marT="36576" marB="36576">
                    <a:solidFill>
                      <a:srgbClr val="E8EEF6"/>
                    </a:solidFill>
                  </a:tcPr>
                </a:tc>
                <a:tc>
                  <a:txBody>
                    <a:bodyPr/>
                    <a:lstStyle/>
                    <a:p>
                      <a:r>
                        <a:rPr sz="1500" b="0">
                          <a:solidFill>
                            <a:srgbClr val="1F2937"/>
                          </a:solidFill>
                        </a:rPr>
                        <a:t>Nol/kuchsiz/o‘rtacha/kuchli</a:t>
                      </a:r>
                    </a:p>
                  </a:txBody>
                  <a:tcPr marL="73152" marR="73152" marT="36576" marB="36576">
                    <a:solidFill>
                      <a:srgbClr val="E8EEF6"/>
                    </a:solidFill>
                  </a:tcPr>
                </a:tc>
                <a:tc>
                  <a:txBody>
                    <a:bodyPr/>
                    <a:lstStyle/>
                    <a:p>
                      <a:r>
                        <a:rPr sz="1500" b="0">
                          <a:solidFill>
                            <a:srgbClr val="1F2937"/>
                          </a:solidFill>
                        </a:rPr>
                        <a:t>Tajribaga bog‘liq, subyektiv</a:t>
                      </a:r>
                    </a:p>
                  </a:txBody>
                  <a:tcPr marL="73152" marR="73152" marT="36576" marB="36576">
                    <a:solidFill>
                      <a:srgbClr val="E8EEF6"/>
                    </a:solidFill>
                  </a:tcPr>
                </a:tc>
              </a:tr>
              <a:tr h="614476">
                <a:tc>
                  <a:txBody>
                    <a:bodyPr/>
                    <a:lstStyle/>
                    <a:p>
                      <a:r>
                        <a:rPr sz="1500" b="0">
                          <a:solidFill>
                            <a:srgbClr val="1F2937"/>
                          </a:solidFill>
                        </a:rPr>
                        <a:t>Tarqalish</a:t>
                      </a:r>
                    </a:p>
                  </a:txBody>
                  <a:tcPr marL="73152" marR="73152" marT="36576" marB="36576">
                    <a:solidFill>
                      <a:srgbClr val="FFFFFF"/>
                    </a:solidFill>
                  </a:tcPr>
                </a:tc>
                <a:tc>
                  <a:txBody>
                    <a:bodyPr/>
                    <a:lstStyle/>
                    <a:p>
                      <a:r>
                        <a:rPr sz="1500" b="0">
                          <a:solidFill>
                            <a:srgbClr val="1F2937"/>
                          </a:solidFill>
                        </a:rPr>
                        <a:t>Bo‘yalgan hujayralar foizi</a:t>
                      </a:r>
                    </a:p>
                  </a:txBody>
                  <a:tcPr marL="73152" marR="73152" marT="36576" marB="36576">
                    <a:solidFill>
                      <a:srgbClr val="FFFFFF"/>
                    </a:solidFill>
                  </a:tcPr>
                </a:tc>
                <a:tc>
                  <a:txBody>
                    <a:bodyPr/>
                    <a:lstStyle/>
                    <a:p>
                      <a:r>
                        <a:rPr sz="1500" b="0">
                          <a:solidFill>
                            <a:srgbClr val="1F2937"/>
                          </a:solidFill>
                        </a:rPr>
                        <a:t>Sanash “ko‘z bilan” ham bo‘lishi mumkin</a:t>
                      </a:r>
                    </a:p>
                  </a:txBody>
                  <a:tcPr marL="73152" marR="73152" marT="36576" marB="36576">
                    <a:solidFill>
                      <a:srgbClr val="FFFFFF"/>
                    </a:solidFill>
                  </a:tcPr>
                </a:tc>
              </a:tr>
              <a:tr h="614476">
                <a:tc>
                  <a:txBody>
                    <a:bodyPr/>
                    <a:lstStyle/>
                    <a:p>
                      <a:r>
                        <a:rPr sz="1500" b="0">
                          <a:solidFill>
                            <a:srgbClr val="1F2937"/>
                          </a:solidFill>
                        </a:rPr>
                        <a:t>Ki67, p53, p21</a:t>
                      </a:r>
                    </a:p>
                  </a:txBody>
                  <a:tcPr marL="73152" marR="73152" marT="36576" marB="36576">
                    <a:solidFill>
                      <a:srgbClr val="E8EEF6"/>
                    </a:solidFill>
                  </a:tcPr>
                </a:tc>
                <a:tc>
                  <a:txBody>
                    <a:bodyPr/>
                    <a:lstStyle/>
                    <a:p>
                      <a:r>
                        <a:rPr sz="1500" b="0">
                          <a:solidFill>
                            <a:srgbClr val="1F2937"/>
                          </a:solidFill>
                        </a:rPr>
                        <a:t>Hujayra sikli ko‘rsatkichlari</a:t>
                      </a:r>
                    </a:p>
                  </a:txBody>
                  <a:tcPr marL="73152" marR="73152" marT="36576" marB="36576">
                    <a:solidFill>
                      <a:srgbClr val="E8EEF6"/>
                    </a:solidFill>
                  </a:tcPr>
                </a:tc>
                <a:tc>
                  <a:txBody>
                    <a:bodyPr/>
                    <a:lstStyle/>
                    <a:p>
                      <a:r>
                        <a:rPr sz="1500" b="0">
                          <a:solidFill>
                            <a:srgbClr val="1F2937"/>
                          </a:solidFill>
                        </a:rPr>
                        <a:t>Takrorlanuvchanligi past</a:t>
                      </a:r>
                    </a:p>
                  </a:txBody>
                  <a:tcPr marL="73152" marR="73152" marT="36576" marB="36576">
                    <a:solidFill>
                      <a:srgbClr val="E8EEF6"/>
                    </a:solidFill>
                  </a:tcPr>
                </a:tc>
              </a:tr>
              <a:tr h="614476">
                <a:tc>
                  <a:txBody>
                    <a:bodyPr/>
                    <a:lstStyle/>
                    <a:p>
                      <a:r>
                        <a:rPr sz="1500" b="0">
                          <a:solidFill>
                            <a:srgbClr val="1F2937"/>
                          </a:solidFill>
                        </a:rPr>
                        <a:t>Ball tizimi</a:t>
                      </a:r>
                    </a:p>
                  </a:txBody>
                  <a:tcPr marL="73152" marR="73152" marT="36576" marB="36576">
                    <a:solidFill>
                      <a:srgbClr val="FFFFFF"/>
                    </a:solidFill>
                  </a:tcPr>
                </a:tc>
                <a:tc>
                  <a:txBody>
                    <a:bodyPr/>
                    <a:lstStyle/>
                    <a:p>
                      <a:r>
                        <a:rPr sz="1500" b="0">
                          <a:solidFill>
                            <a:srgbClr val="1F2937"/>
                          </a:solidFill>
                        </a:rPr>
                        <a:t>Davolash uchun bemor tanlash</a:t>
                      </a:r>
                    </a:p>
                  </a:txBody>
                  <a:tcPr marL="73152" marR="73152" marT="36576" marB="36576">
                    <a:solidFill>
                      <a:srgbClr val="FFFFFF"/>
                    </a:solidFill>
                  </a:tcPr>
                </a:tc>
                <a:tc>
                  <a:txBody>
                    <a:bodyPr/>
                    <a:lstStyle/>
                    <a:p>
                      <a:r>
                        <a:rPr sz="1500" b="0">
                          <a:solidFill>
                            <a:srgbClr val="1F2937"/>
                          </a:solidFill>
                        </a:rPr>
                        <a:t>Mehnat talab, charchatadi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Yarim miqdoriy mezonlar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Kompyuter tahlili va istiqbollar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Kompyuter yordamidagi rasm tahlili 1980-yillardan qo‘llanadi va ko‘pgina markerlarda yarim miqdoriy usuldan aniqroq natija beradi.</a:t>
            </a:r>
          </a:p>
          <a:p>
            <a:pPr>
              <a:spcAft>
                <a:spcPts val="1200"/>
              </a:spcAft>
            </a:pPr>
            <a:r>
              <a:rPr sz="2200">
                <a:solidFill>
                  <a:srgbClr val="1F2937"/>
                </a:solidFill>
                <a:latin typeface="Calibri"/>
              </a:rPr>
              <a:t>▸  Nazorat sharoitida tizim ko‘p kuzatuvchining qo‘l usulidan ustun chiqqan va ball tizimlarining takrorlanuvchanlik muammosini hal qiladi.</a:t>
            </a:r>
          </a:p>
          <a:p>
            <a:pPr>
              <a:spcAft>
                <a:spcPts val="1200"/>
              </a:spcAft>
            </a:pPr>
            <a:r>
              <a:rPr sz="2200">
                <a:solidFill>
                  <a:srgbClr val="1F2937"/>
                </a:solidFill>
                <a:latin typeface="Calibri"/>
              </a:rPr>
              <a:t>▸  Kelajak: bir bosqichli reaksiya (EPOS) inkubatsiya bosqichlarini kamaytiradi; yarim avtomatik apparatlar va mikroarray texnologiyasi ham ishlab chiqilgan.</a:t>
            </a:r>
          </a:p>
          <a:p>
            <a:pPr>
              <a:spcAft>
                <a:spcPts val="1200"/>
              </a:spcAft>
            </a:pPr>
            <a:r>
              <a:rPr sz="2200">
                <a:solidFill>
                  <a:srgbClr val="1F2937"/>
                </a:solidFill>
                <a:latin typeface="Calibri"/>
              </a:rPr>
              <a:t>▸  Patolog va klinitsist bir tilda gaplashib, bilimlarini birlashtirishi bemor foydasi uchun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IHK da “musbat” natija odatda nimani bildiradi? Javob: to‘qimaning biror qismida jigarrang (peroksidaza) bo‘yalish borligini.</a:t>
            </a:r>
          </a:p>
          <a:p>
            <a:pPr>
              <a:spcAft>
                <a:spcPts val="1200"/>
              </a:spcAft>
            </a:pPr>
            <a:r>
              <a:rPr sz="2200">
                <a:solidFill>
                  <a:srgbClr val="1F2937"/>
                </a:solidFill>
                <a:latin typeface="Calibri"/>
              </a:rPr>
              <a:t>▸  2-savol: HER2 da qaysi bo‘yalish gen amplifikatsiyasi bilan bog‘liq? Javob: faqat hujayra membranasi bo‘yalishi. Diqqat: sitoplazma ≠ membrana.</a:t>
            </a:r>
          </a:p>
          <a:p>
            <a:pPr>
              <a:spcAft>
                <a:spcPts val="1200"/>
              </a:spcAft>
            </a:pPr>
            <a:r>
              <a:rPr sz="2200">
                <a:solidFill>
                  <a:srgbClr val="1F2937"/>
                </a:solidFill>
                <a:latin typeface="Calibri"/>
              </a:rPr>
              <a:t>▸  3-savol: IHK qaysi tahlilga o‘xshaydi? Javob: ELISA (ferment bog‘langan immunosorbent tahlil): reagentlar va immunologik tamoyil bir xil.</a:t>
            </a:r>
          </a:p>
          <a:p>
            <a:pPr>
              <a:spcAft>
                <a:spcPts val="1200"/>
              </a:spcAft>
            </a:pPr>
            <a:r>
              <a:rPr sz="2200">
                <a:solidFill>
                  <a:srgbClr val="1F2937"/>
                </a:solidFill>
                <a:latin typeface="Calibri"/>
              </a:rPr>
              <a:t>▸  4-savol: Yarim miqdoriy ballardan nima ustun? Javob: kompyuter yordamidagi tasvir tahlili; nazoratli sharoitda ko‘p kuzatuvchining qo‘lda tahlilidan ham yaxshi.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Sud-tibbiyot: TBI va FOXO3a mohiyati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Bosh miya jarohati (TBI) — boshga tashqi kuch ta’sirida miya faoliyati buzilishi yoki miya patologiyasi belgilari.</a:t>
            </a:r>
          </a:p>
          <a:p>
            <a:pPr>
              <a:spcAft>
                <a:spcPts val="800"/>
              </a:spcAft>
            </a:pPr>
            <a:r>
              <a:rPr sz="1800">
                <a:solidFill>
                  <a:srgbClr val="1F2937"/>
                </a:solidFill>
                <a:latin typeface="Calibri"/>
              </a:rPr>
              <a:t>▸  Birlamchi zarar darhol, ikkilamchi zarar kun-haftalarda: ishemiya, oksidlovchi stress, apoptoz.</a:t>
            </a:r>
          </a:p>
          <a:p>
            <a:pPr>
              <a:spcAft>
                <a:spcPts val="800"/>
              </a:spcAft>
            </a:pPr>
            <a:r>
              <a:rPr sz="1800">
                <a:solidFill>
                  <a:srgbClr val="1F2937"/>
                </a:solidFill>
                <a:latin typeface="Calibri"/>
              </a:rPr>
              <a:t>▸  FOXO3a transkripsiya omili: apoptoz, neyroyallig‘lanish va oksidlovchi stressga javobni boshqaradi.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Tashqi kuch (travma)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Birlamchi zarar (darhol)</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Ikkilamchi zarar (ishemiya)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FOXO3a faollashuvi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Apoptoz, yallig‘lanish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TBI dan FOXO3a 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Maiese et al., The Expression of FOXO3a as a Forensic Diagnostic Tool in Cases of Traumatic Brain Injury: An Immunohistochemical Study, betlar: PMID 36768906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FOXO3a tadqiqotining dizayni va IHK protokoli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15 ta TBI o‘limi va 15 ta nontravmatik miya o‘limi; chirigan jasadlar ikkala guruhdan chiqarilgan.</a:t>
            </a:r>
          </a:p>
          <a:p>
            <a:pPr>
              <a:spcAft>
                <a:spcPts val="800"/>
              </a:spcAft>
            </a:pPr>
            <a:r>
              <a:rPr sz="1800">
                <a:solidFill>
                  <a:srgbClr val="1F2937"/>
                </a:solidFill>
                <a:latin typeface="Calibri"/>
              </a:rPr>
              <a:t>▸  Kiritish mezoni: o‘lim sababi TBI, jarohat oldingi 24 soat ichida, surunkali kasallik tarixi yo‘q.</a:t>
            </a:r>
          </a:p>
          <a:p>
            <a:pPr>
              <a:spcAft>
                <a:spcPts val="800"/>
              </a:spcAft>
            </a:pPr>
            <a:r>
              <a:rPr sz="1800">
                <a:solidFill>
                  <a:srgbClr val="1F2937"/>
                </a:solidFill>
                <a:latin typeface="Calibri"/>
              </a:rPr>
              <a:t>▸  Antigenni ochish EDTA buferida, bosimli bug‘da 100 °C da 90 daqiqa; poliklonal anti-FOXO3a ishlatilgan.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Holatlar: 15 TBI, 15 nazorat</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10% formalin, parafinga quyish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mkm kesma, antigenni ochish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 nazorat: ko‘krak saratoni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Ball 0–4, ikki kuzatuvchi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IHK protokoli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Maiese et al., The Expression of FOXO3a as a Forensic Diagnostic Tool in Cases of Traumatic Brain Injury: An Immunohistochemical Study, betlar: PMID 36768906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FOXO3a natijalari va baholash shkalasi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Travmatik miya jarohati (TBI) bilan o‘lgan 15 holatning barchasida FOXO3a musbat, 15 ta nazoratda manfiy bo‘ldi.</a:t>
            </a:r>
          </a:p>
          <a:p>
            <a:pPr>
              <a:spcAft>
                <a:spcPts val="800"/>
              </a:spcAft>
            </a:pPr>
            <a:r>
              <a:rPr sz="1800">
                <a:solidFill>
                  <a:srgbClr val="1F2937"/>
                </a:solidFill>
                <a:latin typeface="Calibri"/>
              </a:rPr>
              <a:t>▸  Reaksiya 0 dan +4 gacha ball bilan baholandi. Ikki tadqiqotchi ko‘rdi, kelishmasa uchinchisi hal qildi.</a:t>
            </a:r>
          </a:p>
          <a:p>
            <a:pPr>
              <a:spcAft>
                <a:spcPts val="800"/>
              </a:spcAft>
            </a:pPr>
            <a:r>
              <a:rPr sz="1800">
                <a:solidFill>
                  <a:srgbClr val="1F2937"/>
                </a:solidFill>
                <a:latin typeface="Calibri"/>
              </a:rPr>
              <a:t>▸  Jarohatdan keyin yashash vaqti uzaygan sari FOXO3a reaksiyasi kuchaydi (maksimum 6 soat).</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880168"/>
                <a:gridCol w="3407806"/>
              </a:tblGrid>
              <a:tr h="614476">
                <a:tc>
                  <a:txBody>
                    <a:bodyPr/>
                    <a:lstStyle/>
                    <a:p>
                      <a:r>
                        <a:rPr sz="1800" b="1">
                          <a:solidFill>
                            <a:srgbClr val="FFFFFF"/>
                          </a:solidFill>
                        </a:rPr>
                        <a:t>Ball</a:t>
                      </a:r>
                    </a:p>
                  </a:txBody>
                  <a:tcPr marL="73152" marR="73152" marT="36576" marB="36576">
                    <a:solidFill>
                      <a:srgbClr val="0B1F3A"/>
                    </a:solidFill>
                  </a:tcPr>
                </a:tc>
                <a:tc>
                  <a:txBody>
                    <a:bodyPr/>
                    <a:lstStyle/>
                    <a:p>
                      <a:r>
                        <a:rPr sz="1800" b="1">
                          <a:solidFill>
                            <a:srgbClr val="FFFFFF"/>
                          </a:solidFill>
                        </a:rPr>
                        <a:t>Ma’nosi</a:t>
                      </a:r>
                    </a:p>
                  </a:txBody>
                  <a:tcPr marL="73152" marR="73152" marT="36576" marB="36576">
                    <a:solidFill>
                      <a:srgbClr val="0B1F3A"/>
                    </a:solidFill>
                  </a:tcPr>
                </a:tc>
              </a:tr>
              <a:tr h="614476">
                <a:tc>
                  <a:txBody>
                    <a:bodyPr/>
                    <a:lstStyle/>
                    <a:p>
                      <a:r>
                        <a:rPr sz="1700" b="0">
                          <a:solidFill>
                            <a:srgbClr val="1F2937"/>
                          </a:solidFill>
                        </a:rPr>
                        <a:t>0</a:t>
                      </a:r>
                    </a:p>
                  </a:txBody>
                  <a:tcPr marL="73152" marR="73152" marT="36576" marB="36576">
                    <a:solidFill>
                      <a:srgbClr val="E8EEF6"/>
                    </a:solidFill>
                  </a:tcPr>
                </a:tc>
                <a:tc>
                  <a:txBody>
                    <a:bodyPr/>
                    <a:lstStyle/>
                    <a:p>
                      <a:r>
                        <a:rPr sz="1700" b="0">
                          <a:solidFill>
                            <a:srgbClr val="1F2937"/>
                          </a:solidFill>
                        </a:rPr>
                        <a:t>Bo‘yalish yo‘q (nazorat)</a:t>
                      </a:r>
                    </a:p>
                  </a:txBody>
                  <a:tcPr marL="73152" marR="73152" marT="36576" marB="36576">
                    <a:solidFill>
                      <a:srgbClr val="E8EEF6"/>
                    </a:solidFill>
                  </a:tcPr>
                </a:tc>
              </a:tr>
              <a:tr h="614476">
                <a:tc>
                  <a:txBody>
                    <a:bodyPr/>
                    <a:lstStyle/>
                    <a:p>
                      <a:r>
                        <a:rPr sz="1700" b="0">
                          <a:solidFill>
                            <a:srgbClr val="1F2937"/>
                          </a:solidFill>
                        </a:rPr>
                        <a:t>1–2</a:t>
                      </a:r>
                    </a:p>
                  </a:txBody>
                  <a:tcPr marL="73152" marR="73152" marT="36576" marB="36576">
                    <a:solidFill>
                      <a:srgbClr val="FFFFFF"/>
                    </a:solidFill>
                  </a:tcPr>
                </a:tc>
                <a:tc>
                  <a:txBody>
                    <a:bodyPr/>
                    <a:lstStyle/>
                    <a:p>
                      <a:r>
                        <a:rPr sz="1700" b="0">
                          <a:solidFill>
                            <a:srgbClr val="1F2937"/>
                          </a:solidFill>
                        </a:rPr>
                        <a:t>Taxminan 25% va 50% bo‘yalish</a:t>
                      </a:r>
                    </a:p>
                  </a:txBody>
                  <a:tcPr marL="73152" marR="73152" marT="36576" marB="36576">
                    <a:solidFill>
                      <a:srgbClr val="FFFFFF"/>
                    </a:solidFill>
                  </a:tcPr>
                </a:tc>
              </a:tr>
              <a:tr h="614476">
                <a:tc>
                  <a:txBody>
                    <a:bodyPr/>
                    <a:lstStyle/>
                    <a:p>
                      <a:r>
                        <a:rPr sz="1700" b="0">
                          <a:solidFill>
                            <a:srgbClr val="1F2937"/>
                          </a:solidFill>
                        </a:rPr>
                        <a:t>3</a:t>
                      </a:r>
                    </a:p>
                  </a:txBody>
                  <a:tcPr marL="73152" marR="73152" marT="36576" marB="36576">
                    <a:solidFill>
                      <a:srgbClr val="E8EEF6"/>
                    </a:solidFill>
                  </a:tcPr>
                </a:tc>
                <a:tc>
                  <a:txBody>
                    <a:bodyPr/>
                    <a:lstStyle/>
                    <a:p>
                      <a:r>
                        <a:rPr sz="1700" b="0">
                          <a:solidFill>
                            <a:srgbClr val="1F2937"/>
                          </a:solidFill>
                        </a:rPr>
                        <a:t>Taxminan 75% bo‘yalish</a:t>
                      </a:r>
                    </a:p>
                  </a:txBody>
                  <a:tcPr marL="73152" marR="73152" marT="36576" marB="36576">
                    <a:solidFill>
                      <a:srgbClr val="E8EEF6"/>
                    </a:solidFill>
                  </a:tcPr>
                </a:tc>
              </a:tr>
              <a:tr h="614476">
                <a:tc>
                  <a:txBody>
                    <a:bodyPr/>
                    <a:lstStyle/>
                    <a:p>
                      <a:r>
                        <a:rPr sz="1700" b="0">
                          <a:solidFill>
                            <a:srgbClr val="1F2937"/>
                          </a:solidFill>
                        </a:rPr>
                        <a:t>4</a:t>
                      </a:r>
                    </a:p>
                  </a:txBody>
                  <a:tcPr marL="73152" marR="73152" marT="36576" marB="36576">
                    <a:solidFill>
                      <a:srgbClr val="FFFFFF"/>
                    </a:solidFill>
                  </a:tcPr>
                </a:tc>
                <a:tc>
                  <a:txBody>
                    <a:bodyPr/>
                    <a:lstStyle/>
                    <a:p>
                      <a:r>
                        <a:rPr sz="1700" b="0">
                          <a:solidFill>
                            <a:srgbClr val="1F2937"/>
                          </a:solidFill>
                        </a:rPr>
                        <a:t>100% bo‘yalish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FOXO3a ball shkalasi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Maiese et al., The Expression of FOXO3a as a Forensic Diagnostic Tool in Cases of Traumatic Brain Injury: An Immunohistochemical Study, betlar: PMID 36768906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FOXO3a va post-mortem tashxis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jarohatdan bir necha soat o‘tib vafot etgan shaxs miyasida jarohat yaqinidagi neyronlarda FOXO3a musbat chiqdi.</a:t>
            </a:r>
          </a:p>
          <a:p>
            <a:pPr>
              <a:spcAft>
                <a:spcPts val="1200"/>
              </a:spcAft>
            </a:pPr>
            <a:r>
              <a:rPr sz="2200">
                <a:solidFill>
                  <a:srgbClr val="1F2937"/>
                </a:solidFill>
                <a:latin typeface="Calibri"/>
              </a:rPr>
              <a:t>▸  Bu FOXO3a ning TBIdan keyingi ikkilamchi jarohatda, neyron apoptozi va autofagiyasini boshqarishda ishtirokini ko‘rsatadi. U post-mortem tashxisda istiqbolli vosita bo‘lishi mumkin.</a:t>
            </a:r>
          </a:p>
          <a:p>
            <a:pPr>
              <a:spcAft>
                <a:spcPts val="1200"/>
              </a:spcAft>
            </a:pPr>
            <a:r>
              <a:rPr sz="2200">
                <a:solidFill>
                  <a:srgbClr val="1F2937"/>
                </a:solidFill>
                <a:latin typeface="Calibri"/>
              </a:rPr>
              <a:t>▸  Cheklov: holatlar kam (15 ta TBI va 15 ta nazorat), tadqiqot dastlabki. Mualliflar holatlar sonini oshirishni rejalashtirgan.</a:t>
            </a:r>
          </a:p>
          <a:p>
            <a:pPr>
              <a:spcAft>
                <a:spcPts val="1200"/>
              </a:spcAft>
            </a:pPr>
            <a:r>
              <a:rPr sz="2200">
                <a:solidFill>
                  <a:srgbClr val="1F2937"/>
                </a:solidFill>
                <a:latin typeface="Calibri"/>
              </a:rPr>
              <a:t>▸  Diqqat: xato qilish xavfi. Tadqiqotda maksimal yashash vaqti 6 soat edi; undan uzoq davr haqida shu ma’lumotdan xulosa chiqarib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Maiese et al., The Expression of FOXO3a as a Forensic Diagnostic Tool in Cases of Traumatic Brain Injury: An Immunohistochemical Study, betlar: PMID 36768906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IHK ikki bosqichdan iborat: preparat tayyorlash va reaksiya o‘tkazish, so‘ngra ifodani talqin qilish va miqdoriy baholash.</a:t>
            </a:r>
          </a:p>
          <a:p>
            <a:pPr>
              <a:spcAft>
                <a:spcPts val="1200"/>
              </a:spcAft>
            </a:pPr>
            <a:r>
              <a:rPr sz="2200">
                <a:solidFill>
                  <a:srgbClr val="1F2937"/>
                </a:solidFill>
                <a:latin typeface="Calibri"/>
              </a:rPr>
              <a:t>▸  Fiksatsiya, antigenni tiklash, musbat va manfiy nazoratlar hamda antitelo panelini to‘g‘ri tanlash natija ishonchliligini belgilaydi.</a:t>
            </a:r>
          </a:p>
          <a:p>
            <a:pPr>
              <a:spcAft>
                <a:spcPts val="1200"/>
              </a:spcAft>
            </a:pPr>
            <a:r>
              <a:rPr sz="2200">
                <a:solidFill>
                  <a:srgbClr val="1F2937"/>
                </a:solidFill>
                <a:latin typeface="Calibri"/>
              </a:rPr>
              <a:t>▸  Talqin ehtiyotkorlik talab qiladi; ball tizimlari subyektiv bo‘lishi mumkin, kompyuter tahlili esa aniqroq miqdoriy natija beradi.</a:t>
            </a:r>
          </a:p>
          <a:p>
            <a:pPr>
              <a:spcAft>
                <a:spcPts val="1200"/>
              </a:spcAft>
            </a:pPr>
            <a:r>
              <a:rPr sz="2200">
                <a:solidFill>
                  <a:srgbClr val="1F2937"/>
                </a:solidFill>
                <a:latin typeface="Calibri"/>
              </a:rPr>
              <a:t>▸  Sud-tibbiyotda FOXO3a TBIni post-mortem aniqlashda istiqbolli vosita sifatida taklif etilgan, ammo qo‘shimcha tadqiqotlar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Matos et al., Immunohistochemistry as an Important Tool in Biomarkers Detection and Clinical Practice, betlar: PMID 20212918; Maiese et al., The Expression of FOXO3a as a Forensic Diagnostic Tool in Cases of Traumatic Brain Injury: An Immunohistochemical Study, betlar: PMID 36768906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“Jigarrang inqilob”: immunogistokimyo patologik anatomiya laboratoriyasiga kirib kelgach, bu o‘zgarish shunday nomlandi. Peroksidaza uchun eng ko‘p ishlatiladigan xromogen DAB (diaminobenzidin) jigarrang cho‘kma beradi, shuning uchun nom shundan kelib chiqqan. DAB hosil qilgan cho‘kma elektron mikroskopiyada ham ishlatiladi.</a:t>
            </a:r>
          </a:p>
          <a:p>
            <a:pPr>
              <a:spcAft>
                <a:spcPts val="1200"/>
              </a:spcAft>
            </a:pPr>
            <a:r>
              <a:rPr sz="1800">
                <a:solidFill>
                  <a:srgbClr val="1F2937"/>
                </a:solidFill>
                <a:latin typeface="Calibri"/>
              </a:rPr>
              <a:t>▸  Eslab qolish usuli (bosqichlar tartibi, manbadagi ro‘yxat asosida): ANTIGENNI ochish → NOSPETSIFIK joyni to‘sish → ENDOGEN peroksidazani to‘sish → BIRLAMCHI antitana → ANIQLASH tizimi → XROMOGEN → QO‘SHIMCHA bo‘yash → YOPISH va saqlash. Tartibni doskada o‘qlar bilan chizib, har bosqichga bittadan so‘z biriktiring.</a:t>
            </a:r>
          </a:p>
          <a:p>
            <a:pPr>
              <a:spcAft>
                <a:spcPts val="1200"/>
              </a:spcAft>
            </a:pPr>
            <a:r>
              <a:rPr sz="1800">
                <a:solidFill>
                  <a:srgbClr val="1F2937"/>
                </a:solidFill>
                <a:latin typeface="Calibri"/>
              </a:rPr>
              <a:t>▸  Hodisa tahlili (HER2): bo‘yalish faqat sitoplazmada bo‘lsa ham, ba’zi mualliflar uni musbat deb hisoblagan. Biroq gen amplifikatsiyasi bilan faqat hujayra membranasidagi bo‘yalish bog‘liq ekani ma’lum. Shu sababli musbat natijani joylashuvi va klinik-morfologik kontekst bilan birga baholash kerak. Diqqat: “jigarrang bo‘yalish bor” va “klinik jihatdan ahamiyatli musbat” bir narsa emas.</a:t>
            </a:r>
          </a:p>
          <a:p>
            <a:pPr>
              <a:spcAft>
                <a:spcPts val="1200"/>
              </a:spcAft>
            </a:pPr>
            <a:r>
              <a:rPr sz="1800">
                <a:solidFill>
                  <a:srgbClr val="1F2937"/>
                </a:solidFill>
                <a:latin typeface="Calibri"/>
              </a:rPr>
              <a:t>▸  Fiksatsiya tanlovi natijaga ta’sir qiladi: tuxumdon kistadenofibrokarsinomasi holida etanolda fiksatsiya qilingan kesmalarda sitokeratin va vimentin reaktivligi yaxshiroq bo‘lgan. Formalinda fiksatsiyada tripsin sitokeratinni yaxshilagan, lekin vimentinni aniqlashga zarar yetkazgan. Xulosa: turli epitoplar turli fiksatorni talab qilishi mumkin, shuning uchun operatsiya xonasidagi tanlov muhim.</a:t>
            </a:r>
          </a:p>
          <a:p>
            <a:pPr>
              <a:spcAft>
                <a:spcPts val="1200"/>
              </a:spcAft>
            </a:pPr>
            <a:r>
              <a:rPr sz="1800">
                <a:solidFill>
                  <a:srgbClr val="1F2937"/>
                </a:solidFill>
                <a:latin typeface="Calibri"/>
              </a:rPr>
              <a:t>▸  Sud-tibbiy qo‘llanish: bosh miya jarohatidan (TBI) o‘lgan 15 holatning hammasida jarohat yonidagi neyronlarda FOXO3a musbat chiqdi. Jarohatsiz sabablardan o‘lgan 15 holatlik nazorat guruhida hammasi manfiy bo‘ldi. Jarohatdan keyin o‘tgan vaqt uzaygan sari (eng ko‘pi 6 soat) musbatlik kuchaygan. Muallifler namunalar soni kichikligini cheklov deb ta’kidlagan.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Immunohistokimyoviy tekshiruvning asosiy tamoyillari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de Matos et al. Immunohistochemistry as an Important Tool in Biomarkers Detection and Clinical Practice, Biomarker Insights. 2010. PMID 20212918; DOI 10.4137/bmi.s2185</a:t>
            </a:r>
          </a:p>
          <a:p>
            <a:pPr>
              <a:spcAft>
                <a:spcPts val="800"/>
              </a:spcAft>
            </a:pPr>
            <a:r>
              <a:rPr sz="2000">
                <a:solidFill>
                  <a:srgbClr val="1F2937"/>
                </a:solidFill>
                <a:latin typeface="Calibri"/>
              </a:rPr>
              <a:t>▸  Maiese et al. The Expression of FOXO3a as a Forensic Diagnostic Tool in Cases of Traumatic Brain Injury: An Immunohistochemical Study, International Journal of Molecular Sciences. 2023. PMID 36768906; DOI 10.3390/ijms24032584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