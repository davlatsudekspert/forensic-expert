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savollari: 1) Nima uchun transport travmasi bo‘yicha statistika profilaktika uchun muhim? 2) Tibbiy profilaktika mutaxassisi bu ma’lumotlarni qanday ishlatadi? Doskada chizish: dars rejasining 2 bo‘limli sxemasi (arralama yaralar -&gt; transport travmasi turlari). Tipik xato: talabalar 60-65% (o‘lim holatlari) va 20-25% (tirik shaxslar) ko‘rsatkichlarini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savollari: 1) Yara uchlaridagi yuzaki kesma va tirnalmalar qaysi arrani ko‘rsatadi? 2) Arralama oralig‘ining kengligi nimani bildiradi? Doskada chizish: sirkulyar va varaqsimon arra suyak yuzasining sxemasi. Tipik xato: sirkulyar va varaqsimon arra belgilarini almashtirib yuborish. Tezkor savol: suyak yuzasida parallel ariqchalar qaysi arradan hosil bo‘ladi?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savollari: 1) Nima uchun transport travmasi sud tibbiyotida alohida o‘rganiladi? 2) Murakkab transport travmasiga misol keltiring (masalan, mototsikl-avtomobil). Doskada chizish: transport travmasi turlarining daraxt-sxemasi. Tipik xato: murakkab travmani bir transport vositasidagi bir necha jarohat turi deb tushunish; bu yerda turli vositalar to‘qnashuvi nazarda tutiladi.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transport travmasi o‘lim holatlarida shunchalik katta ulushga ega? 2) Tirik shaxslar ekspertizasida ulush nega pastroq? Doskada: uchta ulushni ustunli diagramma shaklida chizdiring. Tipik xato: o‘lim holatlaridagi (60–65 %) va tirik shaxslardagi (20–25 %) ulushlarni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transport vositasining turi jarohat mexanizmiga ta’sir qiladi? 2) Murakkab travmaga yana qanday misol keltirish mumkin? Doskada: transport turlarining ro‘yxatini yozib, murakkab travma misollarini o‘q bilan bog‘lang. Tipik xato: murakkab transport travmasini bir transport ichidagi bir nechta jarohat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Talabalarga savollarni kitobsiz, og‘zaki yoki juftlikda javob berdiring. Muhokama: 1) Nima uchun avtotravmaning ulushi shunchalik yuqori? 2) Statistika profilaktikada qanday foyda beradi? Doskada: 3 ta savolning javob kalit so‘zlarini yozing. Tipik xato: ulushlarni (60–65 %, 20–25 %, 90 %) bir-biriga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Kiyimni ehtiyotsiz yechish qaysi izlarni yo‘qotishi mumkin? 2) Nima uchun kiyim huquqni muhofaza idoralariga topshiriladi? Doskada: 4 bosqichli zanjirni chizdiring va har bosqichga bitta xavfni yozdiring. Tipik xato: kiyimni jarohat izlarini ko‘rmasdan kesib tashlash yoki tashlab yuborish; quritish kerak bo‘lgan hollarni (zarur bo‘lsa)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murakkab avtotravma alohida tur sanaladi? 2) Tur va variantni bilish davolashda nima beradi? Doskada: olti turni raqamlab yozing va har biriga bittadan misol keltiring. Tipik xato: avtotravmani transport travmasining o‘zi bilan aralashtirish (avtotravma uning bir turi, xolos). Tezkor savol: Matishev tasnifida nechta tur bor va qaysi biri murakkab?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shilinma va qontalash avtotravma uchun ishonchli belgi emas? 2) Imitatsion jarohat ekspertni qanday adashtirishi mumkin? Doskada: to‘rt guruhni ‘aniqlik darajasi’ bo‘yicha eng aniqdan eng noaniqqa qarab joylashtiring. Tipik xato: imitatsion jarohatni spetsifik yoki xos jarohat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Spetsifik jarohat nima uchun kontakt jarohat deb ataladi? 2) Xos jarohat spetsifik jarohatdan nimasi bilan farq qiladi? Doskada: ikki ustunli ro‘yxat chizing (spetsifik va xos), har biriga 2-3 misol yozdiring. Tipik xato: talabalar spetsifik va xos jarohatni bir narsa deb o‘ylaydi. Spetsifik jarohat aniq qism shaklini aks ettiradi, xos jarohat esa travma turi yoki fazasiga mos keladi.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xos bo‘lmagan jarohat bo‘yicha avtotravmani tasdiqlab bo‘lmaydi? 2) Old oyna siniqlaridan olingan yara qaysi yaralarga o‘xshab ketadi? Doskada: to‘rt guruhni (spetsifik, xos, xos bo‘lmagan, imitatsion) strelka bilan tartiblab chizdiring. Tipik xato: imitatsion jarohatni haqiqiy kesma yoki sanchma yara deb baholash va avtotravma belgisini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Talabalar juftlikda ishlasin, javobni 2 daqiqada asoslasin. Muhokama: 1) Qaysi belgi jarohatni spetsifik guruhga o‘tkazgan bo‘lardi? 2) Bunday jarohatlar bo‘lsa, ekspert yana qaysi ma’lumotlarga tayanadi? Doskada: ikkala jarohat uchun guruhni tanlash mantiqiy zanjirini chizdiring. Tipik xato: shilinmaning o‘zini avtotravma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yosh bolalarda 2-faza bo‘lmaydi (zarb og‘irlik markazidan yuqorida)? 2) Past tezlikda qaysi faza tushib qolishi mumkin? Doskada chizing: piyoda va avtomobil sxemasini va 4 fazani o‘qlar bilan ketma-ket ko‘rsating. Tipik xato: barcha to‘qnashuvlarda 4 fazani majburiy deb o‘ylash. Diqqat: yuk avtomobili va yon zarbda 2-faza yo‘q, past tezlikda 4-faza yo‘q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Bamper-jarohat bo‘yicha ekspert qanday xulosalar chiqaradi? 2) Nega engil va yuk avtomobilida sinish sathi har xil? Doskada chizing: oyoq suyagi va uchburchak sinishni, asosini zarb tomonga qaratib. Tipik xato: uchburchakning asosi zarbning qarama-qarshi tomonida deb adashtirish. Diqqat: boldir sinishi (engil avtomobil) ≠ son sinishi (yuk avtomobili).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2- va 3-fazada yumshoq to‘qima jarohati qaysi tomonda bo‘ladi va nega? 2) Parallel shilinmalar yo‘nalishi nimani ko‘rsatadi? Doskada chizing: tana konturida 2-faza (zarb tomoni) va 3-faza (qarama-qarshi tomon) jarohatlarini turli rangda belgilang. Tipik xato: 2- va 3-fazadagi jarohat tomonlarini almashtirish. Diqqat: 2-faza = birinchi ta’sir tomoni, 3-faza = qarama-qarshi tomon.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bolalarda ikkinchi faza kuzatilmaydi? 2) Past tezlikda qaysi faza bo‘lmasligi mumkin? Doskada: to‘rt fazani strelkalar bilan chizing. Tipik xato: sirpanish izini birinchi faza zarbi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To‘liq va noto‘liq bosib o‘tishning farqi nima? 2) Qaysi fazalarda spetsifik jarohatlar ko‘proq hosil bo‘ladi? Doskada: besh fazali zanjirni chizing. Tipik xato: noto‘liq bosib o‘tishni g‘ildirak tanadan tushmagan holat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pozitiv va negativ izlar turlicha ko‘rinadi? 2) Kiyimdagi izni qanday saqlash kerak? Doskada: protektor naqshi va undan hosil bo‘ladigan izni chizing. Tipik xato: negativ izni ham shilinma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g‘ildirak chiqqan tomonda jarohat og‘irroq? 2) Tezlik 20 km/soat dan oshganda 4-fazada jarohat nega bo‘lmasligi mumkin? Doskada: tana sohalari (bosh, ko‘krak, qorin, tos, oyoq) va har biridagi asosiy jarohatni juftlab chizing. Tipik xato: g‘ildirakning tanaga chiqqan va tushgan tomonlarini adashtirish, ‘sakrab tushish’ ni jarohat yo‘q degan ma’noda umumlashtirish.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Cho‘ntaklar tananing qaysi tomonida hosil bo‘ladi? 2) Protektor izi bo‘yicha nimani aniqlash mumkin? Doskada: tana va g‘ildirak harakat yo‘nalishini chizib, ‘cho‘ntak’ va teri yorig‘i tomonlarini belgilang. Tipik xato: pozitiv va negativ izlarni, shuningdek 2-faza va 5-fazadagi shilinmalarni farqlamaslik.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haydovchida jarohatlar asosan old va chap yuzalarda? 2) Pedal izi ekspertizada nimani isbotlaydi? Doskada: 4 fazali zanjirni chizib, har faza yoniga asosiy jarohatni yozing. Tipik xato: haydovchi va oldingi o‘rindiq yo‘lovchisining jarohatlarini aralashtirish. Yo‘lovchi tanasi mahkamlanmagani uchun uning jarohatlari og‘irroq bo‘ladi.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oldingi o‘rindiq yo‘lovchisi haydovchidan ko‘ra og‘irroq shikastlanadi? 2) Kamar qachon himoya vositasidan shikastlovchi omilga aylanadi? Doskada: avtomobil salonining ustidan ko‘rinishini chizib, o‘rindiqlarni xavf darajasi bo‘yicha raqamlang. Tipik xato: kamarni faqat himoya vositasi deb o‘ylash, uning shikastlovchi ta’sirini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Uchinchi faza jarohati nima uchun farqlovchi belgi bo‘ladi? 2) Erga boshi yoki oyog‘i bilan tushganda qanday jarohatlar kutiladi? Doskada: uch fazali zanjirni chizib, har fazaga bittadan jarohat turini yozing. Tipik xato: avtomobildan tushib ketishni oddiy balandlikdan yiqilish bilan aynan bir xil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siqilishda tashqi jarohat kam, ichki jarohat og‘ir bo‘lishi mumkin? 2) Vrach tibbiy hujjatda qaysi belgilarni yozishi ekspertiza uchun muhim? Doskada: ekspertiza savollari ro‘yxatini chizib, har biriga mos belgini yozing. Tipik xato: kompression asfiksiyani yo‘l qo‘yilgan boshqa o‘lim sabablari bilan adashtirish yoki ekximotik konturni oddiy qontalash deb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Jabrlanganning salondagi o‘rnini aniqlash nima uchun muhim? 2) Haydovchi va yo‘lovchi jarohatlari qaysi belgilar bilan farqlanadi? Doskada: avtomobil salonining ustki ko‘rinishini chizib, haydovchi (chap-old) va yo‘lovchi (o‘ng-old) jarohat joylarini belgilang. Tipik xato: talaba haydovchi va yo‘lovchi jarohatlarini bir xil joylashadi deb o‘ylaydi. Aslida haydovchida chap, yo‘lovchida o‘ng tomon ko‘proq shikastlanadi.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juftlikda tez so‘rang. Muhokama: 1) Kiyimdagi protektor izi nima shaklda bo‘ladi? 2) G‘ildirak qaysi tomonda jiddiyroq shikast beradi? Doskada: protektor izining pozitiv va negativ qismlarini sxema qilib chizing. Tipik xato: pozitiv va negativ izlarni almashtirib qo‘yish. Negativ iz faqat qontalash bo‘lishini eslating.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Mototsikl travmasi nega mavsumiy? 2) Avtotravmada piyodaning erda sirpanishi bor, mototsikl travmasida nega yo‘q? Doskada: besh turni zanjir ko‘rinishida chizing, har biriga xos jarohatni yozing. Tipik xato: murakkab mototsikl travmasini alohida bir tur deb o‘ylash. Aslida u ikki va undan ortiq turning birga kelishi.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Rels travmasi avtotravmaga nimasi bilan o‘xshash, nimasi bilan farq qiladi? 2) Elektropoezd tepasidan yiqilishda nega travma murakkab bo‘ladi? Doskada olti turni ro‘yxat qilib yozdiring va har biriga bittadan misol keltirtiring. Tipik xato: talabalar vagon ichida shikastlanish va vagonlar orasida siqilishni bitta tur deb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“T” shaklidagi shilinma tananing qaysi tomonida bo‘ladi va nima uchun? 2) Bosilish yo‘lkasi rangining o‘zgarishi nimaga bog‘liq? Doskada g‘ildirak, rels boshchasi va tana kesimini chizib, “T” shilinma, bosilish va shilinish yo‘lkalarini belgilatiring. Diqqat: bosilish yo‘lkasi ≠ shilinish yo‘lkasi. Birinchisi bir tekis shilinma, ikkinchisi chetlarda notekis, yoysimon tirnalmali. Tipik xato: shu ikkisini bir-biriga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Ajralish chetlarining tekis yoki tishsimon bo‘lishi g‘ildirak va rels tomonlarini qanday ajratishga yordam beradi? 2) Ponasimon defekt nimani ko‘rsatadi? Doskada ikkiga bo‘lingan tana qismlarini chizib, rels va g‘ildirak tomonidagi chetlarni turlicha ko‘rsatishni topshiring. Tipik xato: rels tomonidagi tekis chetni g‘ildirak tomonidagi tishsimon chet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o‘rmalovchi traktorda to‘qnashuvning 4-fazasi bo‘lmaydi? Zanjir tishlari tanani nima uchun traktor tagiga tortadi? Doskada: ikki turdagi traktor jarohatlarini solishtirish jadvalini chizdiring. Tipik xato: g‘ildirakli traktorda 2-faza yo‘q, o‘rmalovchida esa bosib o‘tishda 2-faza yo‘q deb aralashtirish. Diqqat: bu ikki holat bir-biriga teng emas.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tezlik 800 km/soatdan oshganda havo oqimi nega qattiq jismdek ta’sir qiladi? Portlash dekompressiyasi bilan balandlik dekompressiyasi nimasi bilan farq qiladi? Doskada: to‘rt tur va sakkiz omilni ikki ustunda chizdiring. Tipik xato: portlash dekompressiyasi (8 km, germetizatsiya buzilishi) bilan balandlik emfizemasini (19 km va undan baland, gaz pufakchalari)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yo‘lovchilarda termik jarohat nega ekipajga qaraganda ko‘proq? Uchuvchi ekspertizasida tana holati, sog‘liq va toksik moddalar nega tekshiriladi? Doskada: portlash, termik va toksik omillarning ta’sir zanjirini chizdiring. Tipik xato: toksik ta’sirni faqat yong‘in bilan bog‘lash, holbuki dvigatel gazlari va yonilg‘i bugi ham zaharlaydi.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“T” shaklidagi shilinma tananing qaysi tomonida hosil bo‘ladi va nimani ko‘rsatadi? 2) Nog‘ora parda yorilishi nega muhim ekspert belgisi? Doskada chizish: g‘ildirak toji, rels boshchasi va ular orasidagi “T” shilinma hamda bosilish yo‘lkasi sxemasi. Tipik xato: “T” shilinmani bosilish yo‘lkasi bilan aralashtirish; ular orasida shikastlanmagan ingichka teri sohasi bo‘ladi.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Vrachning dastlabki yordamdagi yozuvlari ekspertizaga qanday yordam beradi? 2) Transport travmasi profilaktikasida ekspertiza materiallari qanday rol o‘ynaydi? Doskada chizish: transport travmasining 7 turini daraxt shaklida chizish. Tipik xato: kiyim-poyafzalni namligicha polietilenga solish yoki umuman saqlamaslik; manbada ular xonada quritilib, qog‘oz o‘ramga solinishi aytilgan.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Mexanik jarohatlar. Transport travmasi.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 maqsad va dars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Dars rejasi: avval arralama yaralar, so‘ng transport travmasi va uning turlari (avto-, moto-, rels, traktor, aviatsion).</a:t>
            </a:r>
          </a:p>
          <a:p>
            <a:pPr>
              <a:spcAft>
                <a:spcPts val="1200"/>
              </a:spcAft>
            </a:pPr>
            <a:r>
              <a:rPr sz="2200">
                <a:solidFill>
                  <a:srgbClr val="1F2937"/>
                </a:solidFill>
                <a:latin typeface="Calibri"/>
              </a:rPr>
              <a:t>▸  Dunyoda yo‘l-transport hodisalarida har yili 1,2 milliondan ziyod kishi halok bo‘ladi, 50 milliondan ortig‘i jarohatlanadi (Jahon sog‘liqni saqlash tashkiloti ma’lumoti).</a:t>
            </a:r>
          </a:p>
          <a:p>
            <a:pPr>
              <a:spcAft>
                <a:spcPts val="1200"/>
              </a:spcAft>
            </a:pPr>
            <a:r>
              <a:rPr sz="2200">
                <a:solidFill>
                  <a:srgbClr val="1F2937"/>
                </a:solidFill>
                <a:latin typeface="Calibri"/>
              </a:rPr>
              <a:t>▸  Sud-tibbiy ekspertiza ma’lumotlariga ko‘ra, mexanik jarohatlardan o‘lim holatlarining 60-65%i transport travmasiga to‘g‘ri keladi.</a:t>
            </a:r>
          </a:p>
          <a:p>
            <a:pPr>
              <a:spcAft>
                <a:spcPts val="1200"/>
              </a:spcAft>
            </a:pPr>
            <a:r>
              <a:rPr sz="2200">
                <a:solidFill>
                  <a:srgbClr val="1F2937"/>
                </a:solidFill>
                <a:latin typeface="Calibri"/>
              </a:rPr>
              <a:t>▸  Maqsad: jarohat hosil bo‘lish mexanizmini tushunish va ekspertiza materiallari asosida travmatizm profilaktikasiga tavsiya berishni o‘rganish.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55-57, 57, 58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Arralama yaralar: arra turiga qarab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Arralama oralig‘i arra varag‘ining qalinligidan kattaroq bo‘ladi.</a:t>
            </a:r>
          </a:p>
          <a:p>
            <a:pPr>
              <a:spcAft>
                <a:spcPts val="800"/>
              </a:spcAft>
            </a:pPr>
            <a:r>
              <a:rPr sz="1800">
                <a:solidFill>
                  <a:srgbClr val="1F2937"/>
                </a:solidFill>
                <a:latin typeface="Calibri"/>
              </a:rPr>
              <a:t>▸  Yara ichida va chetlarida yumshoq to‘qimaning mayda zarrachalari hamda suyak qipiqlari bo‘ladi.</a:t>
            </a:r>
          </a:p>
          <a:p>
            <a:pPr>
              <a:spcAft>
                <a:spcPts val="800"/>
              </a:spcAft>
            </a:pPr>
            <a:r>
              <a:rPr sz="1800">
                <a:solidFill>
                  <a:srgbClr val="1F2937"/>
                </a:solidFill>
                <a:latin typeface="Calibri"/>
              </a:rPr>
              <a:t>▸  Diqqat: sirkulyar arrada suyak izlari yoysimon, varaqsimon arrada esa parallel burtma va ariqchalar bo‘ladi.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455420"/>
                <a:gridCol w="1796183"/>
                <a:gridCol w="2036371"/>
              </a:tblGrid>
              <a:tr h="768096">
                <a:tc>
                  <a:txBody>
                    <a:bodyPr/>
                    <a:lstStyle/>
                    <a:p>
                      <a:r>
                        <a:rPr sz="1600" b="1">
                          <a:solidFill>
                            <a:srgbClr val="FFFFFF"/>
                          </a:solidFill>
                        </a:rPr>
                        <a:t>Arra</a:t>
                      </a:r>
                    </a:p>
                  </a:txBody>
                  <a:tcPr marL="73152" marR="73152" marT="36576" marB="36576">
                    <a:solidFill>
                      <a:srgbClr val="0B1F3A"/>
                    </a:solidFill>
                  </a:tcPr>
                </a:tc>
                <a:tc>
                  <a:txBody>
                    <a:bodyPr/>
                    <a:lstStyle/>
                    <a:p>
                      <a:r>
                        <a:rPr sz="1600" b="1">
                          <a:solidFill>
                            <a:srgbClr val="FFFFFF"/>
                          </a:solidFill>
                        </a:rPr>
                        <a:t>Yara shakli</a:t>
                      </a:r>
                    </a:p>
                  </a:txBody>
                  <a:tcPr marL="73152" marR="73152" marT="36576" marB="36576">
                    <a:solidFill>
                      <a:srgbClr val="0B1F3A"/>
                    </a:solidFill>
                  </a:tcPr>
                </a:tc>
                <a:tc>
                  <a:txBody>
                    <a:bodyPr/>
                    <a:lstStyle/>
                    <a:p>
                      <a:r>
                        <a:rPr sz="1600" b="1">
                          <a:solidFill>
                            <a:srgbClr val="FFFFFF"/>
                          </a:solidFill>
                        </a:rPr>
                        <a:t>Qo‘shimcha belgi</a:t>
                      </a:r>
                    </a:p>
                  </a:txBody>
                  <a:tcPr marL="73152" marR="73152" marT="36576" marB="36576">
                    <a:solidFill>
                      <a:srgbClr val="0B1F3A"/>
                    </a:solidFill>
                  </a:tcPr>
                </a:tc>
              </a:tr>
              <a:tr h="768096">
                <a:tc>
                  <a:txBody>
                    <a:bodyPr/>
                    <a:lstStyle/>
                    <a:p>
                      <a:r>
                        <a:rPr sz="1500" b="0">
                          <a:solidFill>
                            <a:srgbClr val="1F2937"/>
                          </a:solidFill>
                        </a:rPr>
                        <a:t>Arra bilan zarb</a:t>
                      </a:r>
                    </a:p>
                  </a:txBody>
                  <a:tcPr marL="73152" marR="73152" marT="36576" marB="36576">
                    <a:solidFill>
                      <a:srgbClr val="E8EEF6"/>
                    </a:solidFill>
                  </a:tcPr>
                </a:tc>
                <a:tc>
                  <a:txBody>
                    <a:bodyPr/>
                    <a:lstStyle/>
                    <a:p>
                      <a:r>
                        <a:rPr sz="1500" b="0">
                          <a:solidFill>
                            <a:srgbClr val="1F2937"/>
                          </a:solidFill>
                        </a:rPr>
                        <a:t>Ko‘plab mayda sanchma yaralar</a:t>
                      </a:r>
                    </a:p>
                  </a:txBody>
                  <a:tcPr marL="73152" marR="73152" marT="36576" marB="36576">
                    <a:solidFill>
                      <a:srgbClr val="E8EEF6"/>
                    </a:solidFill>
                  </a:tcPr>
                </a:tc>
                <a:tc>
                  <a:txBody>
                    <a:bodyPr/>
                    <a:lstStyle/>
                    <a:p>
                      <a:r>
                        <a:rPr sz="1500" b="0">
                          <a:solidFill>
                            <a:srgbClr val="1F2937"/>
                          </a:solidFill>
                        </a:rPr>
                        <a:t>Kuchli zarbda tubida to‘qima boylamlari</a:t>
                      </a:r>
                    </a:p>
                  </a:txBody>
                  <a:tcPr marL="73152" marR="73152" marT="36576" marB="36576">
                    <a:solidFill>
                      <a:srgbClr val="E8EEF6"/>
                    </a:solidFill>
                  </a:tcPr>
                </a:tc>
              </a:tr>
              <a:tr h="768096">
                <a:tc>
                  <a:txBody>
                    <a:bodyPr/>
                    <a:lstStyle/>
                    <a:p>
                      <a:r>
                        <a:rPr sz="1500" b="0">
                          <a:solidFill>
                            <a:srgbClr val="1F2937"/>
                          </a:solidFill>
                        </a:rPr>
                        <a:t>Sirkulyar arra</a:t>
                      </a:r>
                    </a:p>
                  </a:txBody>
                  <a:tcPr marL="73152" marR="73152" marT="36576" marB="36576">
                    <a:solidFill>
                      <a:srgbClr val="FFFFFF"/>
                    </a:solidFill>
                  </a:tcPr>
                </a:tc>
                <a:tc>
                  <a:txBody>
                    <a:bodyPr/>
                    <a:lstStyle/>
                    <a:p>
                      <a:r>
                        <a:rPr sz="1500" b="0">
                          <a:solidFill>
                            <a:srgbClr val="1F2937"/>
                          </a:solidFill>
                        </a:rPr>
                        <a:t>Chetlari notekis, tishli</a:t>
                      </a:r>
                    </a:p>
                  </a:txBody>
                  <a:tcPr marL="73152" marR="73152" marT="36576" marB="36576">
                    <a:solidFill>
                      <a:srgbClr val="FFFFFF"/>
                    </a:solidFill>
                  </a:tcPr>
                </a:tc>
                <a:tc>
                  <a:txBody>
                    <a:bodyPr/>
                    <a:lstStyle/>
                    <a:p>
                      <a:r>
                        <a:rPr sz="1500" b="0">
                          <a:solidFill>
                            <a:srgbClr val="1F2937"/>
                          </a:solidFill>
                        </a:rPr>
                        <a:t>Suyak yuzasi tekis, yoysimon iz</a:t>
                      </a:r>
                    </a:p>
                  </a:txBody>
                  <a:tcPr marL="73152" marR="73152" marT="36576" marB="36576">
                    <a:solidFill>
                      <a:srgbClr val="FFFFFF"/>
                    </a:solidFill>
                  </a:tcPr>
                </a:tc>
              </a:tr>
              <a:tr h="768096">
                <a:tc>
                  <a:txBody>
                    <a:bodyPr/>
                    <a:lstStyle/>
                    <a:p>
                      <a:r>
                        <a:rPr sz="1500" b="0">
                          <a:solidFill>
                            <a:srgbClr val="1F2937"/>
                          </a:solidFill>
                        </a:rPr>
                        <a:t>Varaqsimon arra</a:t>
                      </a:r>
                    </a:p>
                  </a:txBody>
                  <a:tcPr marL="73152" marR="73152" marT="36576" marB="36576">
                    <a:solidFill>
                      <a:srgbClr val="E8EEF6"/>
                    </a:solidFill>
                  </a:tcPr>
                </a:tc>
                <a:tc>
                  <a:txBody>
                    <a:bodyPr/>
                    <a:lstStyle/>
                    <a:p>
                      <a:r>
                        <a:rPr sz="1500" b="0">
                          <a:solidFill>
                            <a:srgbClr val="1F2937"/>
                          </a:solidFill>
                        </a:rPr>
                        <a:t>Chiziqsimon, mayda tishli chet</a:t>
                      </a:r>
                    </a:p>
                  </a:txBody>
                  <a:tcPr marL="73152" marR="73152" marT="36576" marB="36576">
                    <a:solidFill>
                      <a:srgbClr val="E8EEF6"/>
                    </a:solidFill>
                  </a:tcPr>
                </a:tc>
                <a:tc>
                  <a:txBody>
                    <a:bodyPr/>
                    <a:lstStyle/>
                    <a:p>
                      <a:r>
                        <a:rPr sz="1500" b="0">
                          <a:solidFill>
                            <a:srgbClr val="1F2937"/>
                          </a:solidFill>
                        </a:rPr>
                        <a:t>Suyakda parallel burtma, ariqcha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Arra turlarini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Transport travmasi tushunchasi va ajratilish tarixi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Ta’rif: harakatdagi transport vositalarining tashqi va ichki qismlaridan hamda ulardan yiqilishda olingan jarohatlar majmui.</a:t>
            </a:r>
          </a:p>
          <a:p>
            <a:pPr>
              <a:spcAft>
                <a:spcPts val="1200"/>
              </a:spcAft>
            </a:pPr>
            <a:r>
              <a:rPr sz="2200">
                <a:solidFill>
                  <a:srgbClr val="1F2937"/>
                </a:solidFill>
                <a:latin typeface="Calibri"/>
              </a:rPr>
              <a:t>▸  Turlari: avtomobil, mototsikl, velosiped, traktor, rels, aviatsion va suv transporti travmasi. Turli vositalar to‘qnashsa, murakkab transport travmasi deyiladi.</a:t>
            </a:r>
          </a:p>
          <a:p>
            <a:pPr>
              <a:spcAft>
                <a:spcPts val="1200"/>
              </a:spcAft>
            </a:pPr>
            <a:r>
              <a:rPr sz="2200">
                <a:solidFill>
                  <a:srgbClr val="1F2937"/>
                </a:solidFill>
                <a:latin typeface="Calibri"/>
              </a:rPr>
              <a:t>▸  Holatlar ko‘p uchragani, jarohat mexanizmi va ekspertizaning o‘ziga xosligi sababli o‘tgan asrning 60-yillaridan alohida qism sifatida ajratilgan.</a:t>
            </a:r>
          </a:p>
          <a:p>
            <a:pPr>
              <a:spcAft>
                <a:spcPts val="1200"/>
              </a:spcAft>
            </a:pPr>
            <a:r>
              <a:rPr sz="2200">
                <a:solidFill>
                  <a:srgbClr val="1F2937"/>
                </a:solidFill>
                <a:latin typeface="Calibri"/>
              </a:rPr>
              <a:t>▸  Tirik shaxslar ekspertizasida mexanik jarohatlarning 20-25%i transport travmasi hissasiga to‘g‘ri keladi.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Transport travmasi: statistik ko‘rsatkichlar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Jahon sog‘liqni saqlash tashkiloti (JSST): yiliga 1,2 milliondan ziyod kishi yo‘l-transport hodisalarida halok bo‘ladi.</a:t>
            </a:r>
          </a:p>
          <a:p>
            <a:pPr>
              <a:spcAft>
                <a:spcPts val="800"/>
              </a:spcAft>
            </a:pPr>
            <a:r>
              <a:rPr sz="1800">
                <a:solidFill>
                  <a:srgbClr val="1F2937"/>
                </a:solidFill>
                <a:latin typeface="Calibri"/>
              </a:rPr>
              <a:t>▸  Shu hodisalarda 50 milliondan ortiq kishiga turli og‘irlikdagi tan jarohatlari etkaziladi.</a:t>
            </a:r>
          </a:p>
          <a:p>
            <a:pPr>
              <a:spcAft>
                <a:spcPts val="800"/>
              </a:spcAft>
            </a:pPr>
            <a:r>
              <a:rPr sz="1800">
                <a:solidFill>
                  <a:srgbClr val="1F2937"/>
                </a:solidFill>
                <a:latin typeface="Calibri"/>
              </a:rPr>
              <a:t>▸  Jahon banki: moddiy ziyon barcha mamlakatlar yalpi ichki mahsuloti (YaIM)ning 1,5–2,0 %ini tashkil etadi.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3749655"/>
                <a:gridCol w="1538320"/>
              </a:tblGrid>
              <a:tr h="768096">
                <a:tc>
                  <a:txBody>
                    <a:bodyPr/>
                    <a:lstStyle/>
                    <a:p>
                      <a:r>
                        <a:rPr sz="1800" b="1">
                          <a:solidFill>
                            <a:srgbClr val="FFFFFF"/>
                          </a:solidFill>
                        </a:rPr>
                        <a:t>Ko‘rsatkich</a:t>
                      </a:r>
                    </a:p>
                  </a:txBody>
                  <a:tcPr marL="73152" marR="73152" marT="36576" marB="36576">
                    <a:solidFill>
                      <a:srgbClr val="0B1F3A"/>
                    </a:solidFill>
                  </a:tcPr>
                </a:tc>
                <a:tc>
                  <a:txBody>
                    <a:bodyPr/>
                    <a:lstStyle/>
                    <a:p>
                      <a:r>
                        <a:rPr sz="1800" b="1">
                          <a:solidFill>
                            <a:srgbClr val="FFFFFF"/>
                          </a:solidFill>
                        </a:rPr>
                        <a:t>Ulushi</a:t>
                      </a:r>
                    </a:p>
                  </a:txBody>
                  <a:tcPr marL="73152" marR="73152" marT="36576" marB="36576">
                    <a:solidFill>
                      <a:srgbClr val="0B1F3A"/>
                    </a:solidFill>
                  </a:tcPr>
                </a:tc>
              </a:tr>
              <a:tr h="768096">
                <a:tc>
                  <a:txBody>
                    <a:bodyPr/>
                    <a:lstStyle/>
                    <a:p>
                      <a:r>
                        <a:rPr sz="1700" b="0">
                          <a:solidFill>
                            <a:srgbClr val="1F2937"/>
                          </a:solidFill>
                        </a:rPr>
                        <a:t>Mexanik jarohatdan o‘lim holatlarida</a:t>
                      </a:r>
                    </a:p>
                  </a:txBody>
                  <a:tcPr marL="73152" marR="73152" marT="36576" marB="36576">
                    <a:solidFill>
                      <a:srgbClr val="E8EEF6"/>
                    </a:solidFill>
                  </a:tcPr>
                </a:tc>
                <a:tc>
                  <a:txBody>
                    <a:bodyPr/>
                    <a:lstStyle/>
                    <a:p>
                      <a:r>
                        <a:rPr sz="1700" b="0">
                          <a:solidFill>
                            <a:srgbClr val="1F2937"/>
                          </a:solidFill>
                        </a:rPr>
                        <a:t>60–65 %</a:t>
                      </a:r>
                    </a:p>
                  </a:txBody>
                  <a:tcPr marL="73152" marR="73152" marT="36576" marB="36576">
                    <a:solidFill>
                      <a:srgbClr val="E8EEF6"/>
                    </a:solidFill>
                  </a:tcPr>
                </a:tc>
              </a:tr>
              <a:tr h="768096">
                <a:tc>
                  <a:txBody>
                    <a:bodyPr/>
                    <a:lstStyle/>
                    <a:p>
                      <a:r>
                        <a:rPr sz="1700" b="0">
                          <a:solidFill>
                            <a:srgbClr val="1F2937"/>
                          </a:solidFill>
                        </a:rPr>
                        <a:t>Tirik shaxslar ekspertizasida (mexanik)</a:t>
                      </a:r>
                    </a:p>
                  </a:txBody>
                  <a:tcPr marL="73152" marR="73152" marT="36576" marB="36576">
                    <a:solidFill>
                      <a:srgbClr val="FFFFFF"/>
                    </a:solidFill>
                  </a:tcPr>
                </a:tc>
                <a:tc>
                  <a:txBody>
                    <a:bodyPr/>
                    <a:lstStyle/>
                    <a:p>
                      <a:r>
                        <a:rPr sz="1700" b="0">
                          <a:solidFill>
                            <a:srgbClr val="1F2937"/>
                          </a:solidFill>
                        </a:rPr>
                        <a:t>20–25 %</a:t>
                      </a:r>
                    </a:p>
                  </a:txBody>
                  <a:tcPr marL="73152" marR="73152" marT="36576" marB="36576">
                    <a:solidFill>
                      <a:srgbClr val="FFFFFF"/>
                    </a:solidFill>
                  </a:tcPr>
                </a:tc>
              </a:tr>
              <a:tr h="768096">
                <a:tc>
                  <a:txBody>
                    <a:bodyPr/>
                    <a:lstStyle/>
                    <a:p>
                      <a:r>
                        <a:rPr sz="1700" b="0">
                          <a:solidFill>
                            <a:srgbClr val="1F2937"/>
                          </a:solidFill>
                        </a:rPr>
                        <a:t>Transport ekspertizalarida avtotravma</a:t>
                      </a:r>
                    </a:p>
                  </a:txBody>
                  <a:tcPr marL="73152" marR="73152" marT="36576" marB="36576">
                    <a:solidFill>
                      <a:srgbClr val="E8EEF6"/>
                    </a:solidFill>
                  </a:tcPr>
                </a:tc>
                <a:tc>
                  <a:txBody>
                    <a:bodyPr/>
                    <a:lstStyle/>
                    <a:p>
                      <a:r>
                        <a:rPr sz="1700" b="0">
                          <a:solidFill>
                            <a:srgbClr val="1F2937"/>
                          </a:solidFill>
                        </a:rPr>
                        <a:t>90 % dan ortiq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Ekspertiza ma’lumotlaridagi ulushlar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Transport travmasi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Transport travmasi — harakatdagi transport qismlaridan yoki undan yiqilishdan olingan jarohatlar majmui.</a:t>
            </a:r>
          </a:p>
          <a:p>
            <a:pPr>
              <a:spcAft>
                <a:spcPts val="800"/>
              </a:spcAft>
            </a:pPr>
            <a:r>
              <a:rPr sz="1800">
                <a:solidFill>
                  <a:srgbClr val="1F2937"/>
                </a:solidFill>
                <a:latin typeface="Calibri"/>
              </a:rPr>
              <a:t>▸  Turlari: avtomobil, mototsikl, velosiped, traktor, rels, aviatsion va suv transporti travmasi.</a:t>
            </a:r>
          </a:p>
          <a:p>
            <a:pPr>
              <a:spcAft>
                <a:spcPts val="800"/>
              </a:spcAft>
            </a:pPr>
            <a:r>
              <a:rPr sz="1800">
                <a:solidFill>
                  <a:srgbClr val="1F2937"/>
                </a:solidFill>
                <a:latin typeface="Calibri"/>
              </a:rPr>
              <a:t>▸  O‘tgan asrning 60-yillaridan transport travmasi sud tibbiyotining alohida qismi sifatida ajratilgan.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Oddiy</a:t>
                      </a:r>
                    </a:p>
                  </a:txBody>
                  <a:tcPr marL="73152" marR="73152" marT="36576" marB="36576">
                    <a:solidFill>
                      <a:srgbClr val="E8EEF6"/>
                    </a:solidFill>
                  </a:tcPr>
                </a:tc>
                <a:tc>
                  <a:txBody>
                    <a:bodyPr/>
                    <a:lstStyle/>
                    <a:p>
                      <a:r>
                        <a:rPr sz="1700" b="0">
                          <a:solidFill>
                            <a:srgbClr val="1F2937"/>
                          </a:solidFill>
                        </a:rPr>
                        <a:t>Bir turdagi transport vositasi ishtirokida</a:t>
                      </a:r>
                    </a:p>
                  </a:txBody>
                  <a:tcPr marL="73152" marR="73152" marT="36576" marB="36576">
                    <a:solidFill>
                      <a:srgbClr val="E8EEF6"/>
                    </a:solidFill>
                  </a:tcPr>
                </a:tc>
              </a:tr>
              <a:tr h="614476">
                <a:tc>
                  <a:txBody>
                    <a:bodyPr/>
                    <a:lstStyle/>
                    <a:p>
                      <a:r>
                        <a:rPr sz="1700" b="0">
                          <a:solidFill>
                            <a:srgbClr val="1F2937"/>
                          </a:solidFill>
                        </a:rPr>
                        <a:t>Murakkab</a:t>
                      </a:r>
                    </a:p>
                  </a:txBody>
                  <a:tcPr marL="73152" marR="73152" marT="36576" marB="36576">
                    <a:solidFill>
                      <a:srgbClr val="FFFFFF"/>
                    </a:solidFill>
                  </a:tcPr>
                </a:tc>
                <a:tc>
                  <a:txBody>
                    <a:bodyPr/>
                    <a:lstStyle/>
                    <a:p>
                      <a:r>
                        <a:rPr sz="1700" b="0">
                          <a:solidFill>
                            <a:srgbClr val="1F2937"/>
                          </a:solidFill>
                        </a:rPr>
                        <a:t>Turli transport vositalari to‘qnashuvi</a:t>
                      </a:r>
                    </a:p>
                  </a:txBody>
                  <a:tcPr marL="73152" marR="73152" marT="36576" marB="36576">
                    <a:solidFill>
                      <a:srgbClr val="FFFFFF"/>
                    </a:solidFill>
                  </a:tcPr>
                </a:tc>
              </a:tr>
              <a:tr h="614476">
                <a:tc>
                  <a:txBody>
                    <a:bodyPr/>
                    <a:lstStyle/>
                    <a:p>
                      <a:r>
                        <a:rPr sz="1700" b="0">
                          <a:solidFill>
                            <a:srgbClr val="1F2937"/>
                          </a:solidFill>
                        </a:rPr>
                        <a:t>Misol 1</a:t>
                      </a:r>
                    </a:p>
                  </a:txBody>
                  <a:tcPr marL="73152" marR="73152" marT="36576" marB="36576">
                    <a:solidFill>
                      <a:srgbClr val="E8EEF6"/>
                    </a:solidFill>
                  </a:tcPr>
                </a:tc>
                <a:tc>
                  <a:txBody>
                    <a:bodyPr/>
                    <a:lstStyle/>
                    <a:p>
                      <a:r>
                        <a:rPr sz="1700" b="0">
                          <a:solidFill>
                            <a:srgbClr val="1F2937"/>
                          </a:solidFill>
                        </a:rPr>
                        <a:t>Mototsikl–avtomobil travmasi</a:t>
                      </a:r>
                    </a:p>
                  </a:txBody>
                  <a:tcPr marL="73152" marR="73152" marT="36576" marB="36576">
                    <a:solidFill>
                      <a:srgbClr val="E8EEF6"/>
                    </a:solidFill>
                  </a:tcPr>
                </a:tc>
              </a:tr>
              <a:tr h="614476">
                <a:tc>
                  <a:txBody>
                    <a:bodyPr/>
                    <a:lstStyle/>
                    <a:p>
                      <a:r>
                        <a:rPr sz="1700" b="0">
                          <a:solidFill>
                            <a:srgbClr val="1F2937"/>
                          </a:solidFill>
                        </a:rPr>
                        <a:t>Misol 2</a:t>
                      </a:r>
                    </a:p>
                  </a:txBody>
                  <a:tcPr marL="73152" marR="73152" marT="36576" marB="36576">
                    <a:solidFill>
                      <a:srgbClr val="FFFFFF"/>
                    </a:solidFill>
                  </a:tcPr>
                </a:tc>
                <a:tc>
                  <a:txBody>
                    <a:bodyPr/>
                    <a:lstStyle/>
                    <a:p>
                      <a:r>
                        <a:rPr sz="1700" b="0">
                          <a:solidFill>
                            <a:srgbClr val="1F2937"/>
                          </a:solidFill>
                        </a:rPr>
                        <a:t>Avtomobil–traktor travmasi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Oddiy va murakkab travma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transport travmasi asoslari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transport travmasi nima? Javob: harakatdagi transport vositasi qismlaridan va undan yiqilishdan olingan jarohatlar majmui.</a:t>
            </a:r>
          </a:p>
          <a:p>
            <a:pPr>
              <a:spcAft>
                <a:spcPts val="1200"/>
              </a:spcAft>
            </a:pPr>
            <a:r>
              <a:rPr sz="2200">
                <a:solidFill>
                  <a:srgbClr val="1F2937"/>
                </a:solidFill>
                <a:latin typeface="Calibri"/>
              </a:rPr>
              <a:t>▸  Savol: ekspertizalarning qancha qismini avtomobil travmasi tashkil etadi? Javob: 90 % dan ortig‘ini.</a:t>
            </a:r>
          </a:p>
          <a:p>
            <a:pPr>
              <a:spcAft>
                <a:spcPts val="1200"/>
              </a:spcAft>
            </a:pPr>
            <a:r>
              <a:rPr sz="2200">
                <a:solidFill>
                  <a:srgbClr val="1F2937"/>
                </a:solidFill>
                <a:latin typeface="Calibri"/>
              </a:rPr>
              <a:t>▸  Savol: murakkab transport travmasi nima? Javob: har xil turdagi transport vositalari to‘qnashuvida olingan shikastlanish.</a:t>
            </a:r>
          </a:p>
          <a:p>
            <a:pPr>
              <a:spcAft>
                <a:spcPts val="1200"/>
              </a:spcAft>
            </a:pPr>
            <a:r>
              <a:rPr sz="2200">
                <a:solidFill>
                  <a:srgbClr val="1F2937"/>
                </a:solidFill>
                <a:latin typeface="Calibri"/>
              </a:rPr>
              <a:t>▸  Diqqat: xato qilish xavfi — o‘lim holatlarida ulush 60–65 %, tirik shaxslarda 20–25 %. Bu ikki ko‘rsatkichni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Kiyim-boshni va poyafzalni saqlash tartibi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Vrach jarohatni to‘liq tekshirib tavsiflaydi, jabrlanganning kiyim va poyafzaliga ham e’tibor beradi.</a:t>
            </a:r>
          </a:p>
          <a:p>
            <a:pPr>
              <a:spcAft>
                <a:spcPts val="800"/>
              </a:spcAft>
            </a:pPr>
            <a:r>
              <a:rPr sz="1800">
                <a:solidFill>
                  <a:srgbClr val="1F2937"/>
                </a:solidFill>
                <a:latin typeface="Calibri"/>
              </a:rPr>
              <a:t>▸  Kiyim va poyafzalda hodisani tekshirish uchun muhim jarohat va ifloslanish izlari bo‘lishi mumkin.</a:t>
            </a:r>
          </a:p>
          <a:p>
            <a:pPr>
              <a:spcAft>
                <a:spcPts val="800"/>
              </a:spcAft>
            </a:pPr>
            <a:r>
              <a:rPr sz="1800">
                <a:solidFill>
                  <a:srgbClr val="1F2937"/>
                </a:solidFill>
                <a:latin typeface="Calibri"/>
              </a:rPr>
              <a:t>▸  Ekspertiza materiallari tahlili travmatizmni kamaytirish choralarini ishlab chiqishda taklif va tavsiyalar beradi.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Ehtiyotkorlik bilan yechish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Xona sharoitida quritish</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Qog‘oz o‘ramga solish</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Idora xodimlariga topshirish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Kiyim-bosh bilan ishlash ketma-ketligi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57, 58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Avtotravma tasnifi: olti tur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Matishev va boshqalar tasnifi (1968) bo‘yicha avtotravmaning olti turi farqlanadi.</a:t>
            </a:r>
          </a:p>
          <a:p>
            <a:pPr>
              <a:spcAft>
                <a:spcPts val="800"/>
              </a:spcAft>
            </a:pPr>
            <a:r>
              <a:rPr sz="1800">
                <a:solidFill>
                  <a:srgbClr val="1F2937"/>
                </a:solidFill>
                <a:latin typeface="Calibri"/>
              </a:rPr>
              <a:t>▸  Har bir tur turli variantlarda uchraydi; jarohatlar tur bilan birga variantga ham uzviy bog‘liq.</a:t>
            </a:r>
          </a:p>
          <a:p>
            <a:pPr>
              <a:spcAft>
                <a:spcPts val="800"/>
              </a:spcAft>
            </a:pPr>
            <a:r>
              <a:rPr sz="1800">
                <a:solidFill>
                  <a:srgbClr val="1F2937"/>
                </a:solidFill>
                <a:latin typeface="Calibri"/>
              </a:rPr>
              <a:t>▸  Jarohatlar zarb, siqilish, cho‘zilish, ishqalanish va chayqalish mexanizmlari bo‘yicha vujudga keladi.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510850"/>
                <a:gridCol w="3777125"/>
              </a:tblGrid>
              <a:tr h="768096">
                <a:tc>
                  <a:txBody>
                    <a:bodyPr/>
                    <a:lstStyle/>
                    <a:p>
                      <a:r>
                        <a:rPr sz="1800" b="1">
                          <a:solidFill>
                            <a:srgbClr val="FFFFFF"/>
                          </a:solidFill>
                        </a:rPr>
                        <a:t>Raqamlar</a:t>
                      </a:r>
                    </a:p>
                  </a:txBody>
                  <a:tcPr marL="73152" marR="73152" marT="36576" marB="36576">
                    <a:solidFill>
                      <a:srgbClr val="0B1F3A"/>
                    </a:solidFill>
                  </a:tcPr>
                </a:tc>
                <a:tc>
                  <a:txBody>
                    <a:bodyPr/>
                    <a:lstStyle/>
                    <a:p>
                      <a:r>
                        <a:rPr sz="1800" b="1">
                          <a:solidFill>
                            <a:srgbClr val="FFFFFF"/>
                          </a:solidFill>
                        </a:rPr>
                        <a:t>Tur</a:t>
                      </a:r>
                    </a:p>
                  </a:txBody>
                  <a:tcPr marL="73152" marR="73152" marT="36576" marB="36576">
                    <a:solidFill>
                      <a:srgbClr val="0B1F3A"/>
                    </a:solidFill>
                  </a:tcPr>
                </a:tc>
              </a:tr>
              <a:tr h="768096">
                <a:tc>
                  <a:txBody>
                    <a:bodyPr/>
                    <a:lstStyle/>
                    <a:p>
                      <a:r>
                        <a:rPr sz="1700" b="0">
                          <a:solidFill>
                            <a:srgbClr val="1F2937"/>
                          </a:solidFill>
                        </a:rPr>
                        <a:t>1–2</a:t>
                      </a:r>
                    </a:p>
                  </a:txBody>
                  <a:tcPr marL="73152" marR="73152" marT="36576" marB="36576">
                    <a:solidFill>
                      <a:srgbClr val="E8EEF6"/>
                    </a:solidFill>
                  </a:tcPr>
                </a:tc>
                <a:tc>
                  <a:txBody>
                    <a:bodyPr/>
                    <a:lstStyle/>
                    <a:p>
                      <a:r>
                        <a:rPr sz="1700" b="0">
                          <a:solidFill>
                            <a:srgbClr val="1F2937"/>
                          </a:solidFill>
                        </a:rPr>
                        <a:t>To‘qnashuv; g‘ildirak bilan bosib o‘tish</a:t>
                      </a:r>
                    </a:p>
                  </a:txBody>
                  <a:tcPr marL="73152" marR="73152" marT="36576" marB="36576">
                    <a:solidFill>
                      <a:srgbClr val="E8EEF6"/>
                    </a:solidFill>
                  </a:tcPr>
                </a:tc>
              </a:tr>
              <a:tr h="768096">
                <a:tc>
                  <a:txBody>
                    <a:bodyPr/>
                    <a:lstStyle/>
                    <a:p>
                      <a:r>
                        <a:rPr sz="1700" b="0">
                          <a:solidFill>
                            <a:srgbClr val="1F2937"/>
                          </a:solidFill>
                        </a:rPr>
                        <a:t>3–4</a:t>
                      </a:r>
                    </a:p>
                  </a:txBody>
                  <a:tcPr marL="73152" marR="73152" marT="36576" marB="36576">
                    <a:solidFill>
                      <a:srgbClr val="FFFFFF"/>
                    </a:solidFill>
                  </a:tcPr>
                </a:tc>
                <a:tc>
                  <a:txBody>
                    <a:bodyPr/>
                    <a:lstStyle/>
                    <a:p>
                      <a:r>
                        <a:rPr sz="1700" b="0">
                          <a:solidFill>
                            <a:srgbClr val="1F2937"/>
                          </a:solidFill>
                        </a:rPr>
                        <a:t>Salon ichida; avtomobildan yiqilish</a:t>
                      </a:r>
                    </a:p>
                  </a:txBody>
                  <a:tcPr marL="73152" marR="73152" marT="36576" marB="36576">
                    <a:solidFill>
                      <a:srgbClr val="FFFFFF"/>
                    </a:solidFill>
                  </a:tcPr>
                </a:tc>
              </a:tr>
              <a:tr h="768096">
                <a:tc>
                  <a:txBody>
                    <a:bodyPr/>
                    <a:lstStyle/>
                    <a:p>
                      <a:r>
                        <a:rPr sz="1700" b="0">
                          <a:solidFill>
                            <a:srgbClr val="1F2937"/>
                          </a:solidFill>
                        </a:rPr>
                        <a:t>5–6</a:t>
                      </a:r>
                    </a:p>
                  </a:txBody>
                  <a:tcPr marL="73152" marR="73152" marT="36576" marB="36576">
                    <a:solidFill>
                      <a:srgbClr val="E8EEF6"/>
                    </a:solidFill>
                  </a:tcPr>
                </a:tc>
                <a:tc>
                  <a:txBody>
                    <a:bodyPr/>
                    <a:lstStyle/>
                    <a:p>
                      <a:r>
                        <a:rPr sz="1700" b="0">
                          <a:solidFill>
                            <a:srgbClr val="1F2937"/>
                          </a:solidFill>
                        </a:rPr>
                        <a:t>Qisilish; murakkab (ikki va ko‘p tur)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Avtotravmaning olti turi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Avtotravmada jarohatlar to‘rt guruhi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Jarohatlar diagnostik ahamiyatiga ko‘ra to‘rt guruhga bo‘linadi; bu shikastlanish mexanizmini aniqlashga yordam beradi.</a:t>
            </a:r>
          </a:p>
          <a:p>
            <a:pPr>
              <a:spcAft>
                <a:spcPts val="800"/>
              </a:spcAft>
            </a:pPr>
            <a:r>
              <a:rPr sz="1800">
                <a:solidFill>
                  <a:srgbClr val="1F2937"/>
                </a:solidFill>
                <a:latin typeface="Calibri"/>
              </a:rPr>
              <a:t>▸  Spetsifik jarohat kontakt jarohat ham deyiladi; ba’zan u bo‘yicha konkret avtomobilni aniqlash mumkin.</a:t>
            </a:r>
          </a:p>
          <a:p>
            <a:pPr>
              <a:spcAft>
                <a:spcPts val="800"/>
              </a:spcAft>
            </a:pPr>
            <a:r>
              <a:rPr sz="1800">
                <a:solidFill>
                  <a:srgbClr val="1F2937"/>
                </a:solidFill>
                <a:latin typeface="Calibri"/>
              </a:rPr>
              <a:t>▸  Diqqat: xos jarohat ≠ xos bo‘lmagan jarohat; ikkinchisi bo‘yicha avtotravma haqida xulosa qilib bo‘lmaydi.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1746472"/>
                <a:gridCol w="2086082"/>
              </a:tblGrid>
              <a:tr h="614476">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614476">
                <a:tc>
                  <a:txBody>
                    <a:bodyPr/>
                    <a:lstStyle/>
                    <a:p>
                      <a:r>
                        <a:rPr sz="1500" b="0">
                          <a:solidFill>
                            <a:srgbClr val="1F2937"/>
                          </a:solidFill>
                        </a:rPr>
                        <a:t>Spetsifik</a:t>
                      </a:r>
                    </a:p>
                  </a:txBody>
                  <a:tcPr marL="73152" marR="73152" marT="36576" marB="36576">
                    <a:solidFill>
                      <a:srgbClr val="E8EEF6"/>
                    </a:solidFill>
                  </a:tcPr>
                </a:tc>
                <a:tc>
                  <a:txBody>
                    <a:bodyPr/>
                    <a:lstStyle/>
                    <a:p>
                      <a:r>
                        <a:rPr sz="1500" b="0">
                          <a:solidFill>
                            <a:srgbClr val="1F2937"/>
                          </a:solidFill>
                        </a:rPr>
                        <a:t>Qismning shakli, o‘lchamiga mos</a:t>
                      </a:r>
                    </a:p>
                  </a:txBody>
                  <a:tcPr marL="73152" marR="73152" marT="36576" marB="36576">
                    <a:solidFill>
                      <a:srgbClr val="E8EEF6"/>
                    </a:solidFill>
                  </a:tcPr>
                </a:tc>
                <a:tc>
                  <a:txBody>
                    <a:bodyPr/>
                    <a:lstStyle/>
                    <a:p>
                      <a:r>
                        <a:rPr sz="1500" b="0">
                          <a:solidFill>
                            <a:srgbClr val="1F2937"/>
                          </a:solidFill>
                        </a:rPr>
                        <a:t>Fara, shina protektori izi</a:t>
                      </a:r>
                    </a:p>
                  </a:txBody>
                  <a:tcPr marL="73152" marR="73152" marT="36576" marB="36576">
                    <a:solidFill>
                      <a:srgbClr val="E8EEF6"/>
                    </a:solidFill>
                  </a:tcPr>
                </a:tc>
              </a:tr>
              <a:tr h="614476">
                <a:tc>
                  <a:txBody>
                    <a:bodyPr/>
                    <a:lstStyle/>
                    <a:p>
                      <a:r>
                        <a:rPr sz="1500" b="0">
                          <a:solidFill>
                            <a:srgbClr val="1F2937"/>
                          </a:solidFill>
                        </a:rPr>
                        <a:t>Xos</a:t>
                      </a:r>
                    </a:p>
                  </a:txBody>
                  <a:tcPr marL="73152" marR="73152" marT="36576" marB="36576">
                    <a:solidFill>
                      <a:srgbClr val="FFFFFF"/>
                    </a:solidFill>
                  </a:tcPr>
                </a:tc>
                <a:tc>
                  <a:txBody>
                    <a:bodyPr/>
                    <a:lstStyle/>
                    <a:p>
                      <a:r>
                        <a:rPr sz="1500" b="0">
                          <a:solidFill>
                            <a:srgbClr val="1F2937"/>
                          </a:solidFill>
                        </a:rPr>
                        <a:t>Turi yoki fazasiga mos keladi</a:t>
                      </a:r>
                    </a:p>
                  </a:txBody>
                  <a:tcPr marL="73152" marR="73152" marT="36576" marB="36576">
                    <a:solidFill>
                      <a:srgbClr val="FFFFFF"/>
                    </a:solidFill>
                  </a:tcPr>
                </a:tc>
                <a:tc>
                  <a:txBody>
                    <a:bodyPr/>
                    <a:lstStyle/>
                    <a:p>
                      <a:r>
                        <a:rPr sz="1500" b="0">
                          <a:solidFill>
                            <a:srgbClr val="1F2937"/>
                          </a:solidFill>
                        </a:rPr>
                        <a:t>Bamper-jarohat, qamchisimon sinish</a:t>
                      </a:r>
                    </a:p>
                  </a:txBody>
                  <a:tcPr marL="73152" marR="73152" marT="36576" marB="36576">
                    <a:solidFill>
                      <a:srgbClr val="FFFFFF"/>
                    </a:solidFill>
                  </a:tcPr>
                </a:tc>
              </a:tr>
              <a:tr h="614476">
                <a:tc>
                  <a:txBody>
                    <a:bodyPr/>
                    <a:lstStyle/>
                    <a:p>
                      <a:r>
                        <a:rPr sz="1500" b="0">
                          <a:solidFill>
                            <a:srgbClr val="1F2937"/>
                          </a:solidFill>
                        </a:rPr>
                        <a:t>Xos bo‘lmagan</a:t>
                      </a:r>
                    </a:p>
                  </a:txBody>
                  <a:tcPr marL="73152" marR="73152" marT="36576" marB="36576">
                    <a:solidFill>
                      <a:srgbClr val="E8EEF6"/>
                    </a:solidFill>
                  </a:tcPr>
                </a:tc>
                <a:tc>
                  <a:txBody>
                    <a:bodyPr/>
                    <a:lstStyle/>
                    <a:p>
                      <a:r>
                        <a:rPr sz="1500" b="0">
                          <a:solidFill>
                            <a:srgbClr val="1F2937"/>
                          </a:solidFill>
                        </a:rPr>
                        <a:t>Tur haqida to‘xtam qilib bo‘lmaydi</a:t>
                      </a:r>
                    </a:p>
                  </a:txBody>
                  <a:tcPr marL="73152" marR="73152" marT="36576" marB="36576">
                    <a:solidFill>
                      <a:srgbClr val="E8EEF6"/>
                    </a:solidFill>
                  </a:tcPr>
                </a:tc>
                <a:tc>
                  <a:txBody>
                    <a:bodyPr/>
                    <a:lstStyle/>
                    <a:p>
                      <a:r>
                        <a:rPr sz="1500" b="0">
                          <a:solidFill>
                            <a:srgbClr val="1F2937"/>
                          </a:solidFill>
                        </a:rPr>
                        <a:t>Shilinma, qontalash, ayrim yaralar</a:t>
                      </a:r>
                    </a:p>
                  </a:txBody>
                  <a:tcPr marL="73152" marR="73152" marT="36576" marB="36576">
                    <a:solidFill>
                      <a:srgbClr val="E8EEF6"/>
                    </a:solidFill>
                  </a:tcPr>
                </a:tc>
              </a:tr>
              <a:tr h="614476">
                <a:tc>
                  <a:txBody>
                    <a:bodyPr/>
                    <a:lstStyle/>
                    <a:p>
                      <a:r>
                        <a:rPr sz="1500" b="0">
                          <a:solidFill>
                            <a:srgbClr val="1F2937"/>
                          </a:solidFill>
                        </a:rPr>
                        <a:t>Imitatsion</a:t>
                      </a:r>
                    </a:p>
                  </a:txBody>
                  <a:tcPr marL="73152" marR="73152" marT="36576" marB="36576">
                    <a:solidFill>
                      <a:srgbClr val="FFFFFF"/>
                    </a:solidFill>
                  </a:tcPr>
                </a:tc>
                <a:tc>
                  <a:txBody>
                    <a:bodyPr/>
                    <a:lstStyle/>
                    <a:p>
                      <a:r>
                        <a:rPr sz="1500" b="0">
                          <a:solidFill>
                            <a:srgbClr val="1F2937"/>
                          </a:solidFill>
                        </a:rPr>
                        <a:t>Boshqa hodisa jarohatiga o‘xshash</a:t>
                      </a:r>
                    </a:p>
                  </a:txBody>
                  <a:tcPr marL="73152" marR="73152" marT="36576" marB="36576">
                    <a:solidFill>
                      <a:srgbClr val="FFFFFF"/>
                    </a:solidFill>
                  </a:tcPr>
                </a:tc>
                <a:tc>
                  <a:txBody>
                    <a:bodyPr/>
                    <a:lstStyle/>
                    <a:p>
                      <a:r>
                        <a:rPr sz="1500" b="0">
                          <a:solidFill>
                            <a:srgbClr val="1F2937"/>
                          </a:solidFill>
                        </a:rPr>
                        <a:t>Old oyna siniqlaridan kesma yara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Jarohat guruhlarini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58, 59, 60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Spetsifik va xos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Spetsifik jarohat avtomobilning aniq qismi (fara, old bezak, shina protektori) ta’siridan hosil bo‘ladi. Shu sabab uni kontakt jarohat ham deyiladi.</a:t>
            </a:r>
          </a:p>
          <a:p>
            <a:pPr>
              <a:spcAft>
                <a:spcPts val="1200"/>
              </a:spcAft>
            </a:pPr>
            <a:r>
              <a:rPr sz="2200">
                <a:solidFill>
                  <a:srgbClr val="1F2937"/>
                </a:solidFill>
                <a:latin typeface="Calibri"/>
              </a:rPr>
              <a:t>▸  Uning shakli, o‘lchami va rasmi kontaktda bo‘lgan qismga mos keladi. Shunga qarab avtotravma turini, ba’zan konkret avtomobilni aniqlash mumkin.</a:t>
            </a:r>
          </a:p>
          <a:p>
            <a:pPr>
              <a:spcAft>
                <a:spcPts val="1200"/>
              </a:spcAft>
            </a:pPr>
            <a:r>
              <a:rPr sz="2200">
                <a:solidFill>
                  <a:srgbClr val="1F2937"/>
                </a:solidFill>
                <a:latin typeface="Calibri"/>
              </a:rPr>
              <a:t>▸  Xos jarohat avtotravmaning ma’lum turi yoki fazasiga mos keladi. Misol: bamper-jarohat, sirpanish va sudralish izlari, qobirg‘alarning ko‘plab sinishi.</a:t>
            </a:r>
          </a:p>
          <a:p>
            <a:pPr>
              <a:spcAft>
                <a:spcPts val="1200"/>
              </a:spcAft>
            </a:pPr>
            <a:r>
              <a:rPr sz="2200">
                <a:solidFill>
                  <a:srgbClr val="1F2937"/>
                </a:solidFill>
                <a:latin typeface="Calibri"/>
              </a:rPr>
              <a:t>▸  Yana xos jarohatlar: yumshoq to‘qimadagi qonli “cho‘ntaklar”, bo‘yin umurtqalarining “qamchisimon” sinishi, to‘sh va tos suyaklarining ko‘p sinishi.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59, 60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Xos bo‘lmagan va imitatsion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Xos bo‘lmagan jarohatda spetsifik ham, xos ham belgi yo‘q. Shu sabab ular bo‘yicha avtotravma haqida aniq to‘xtam qilib bo‘lmaydi.</a:t>
            </a:r>
          </a:p>
          <a:p>
            <a:pPr>
              <a:spcAft>
                <a:spcPts val="1200"/>
              </a:spcAft>
            </a:pPr>
            <a:r>
              <a:rPr sz="2200">
                <a:solidFill>
                  <a:srgbClr val="1F2937"/>
                </a:solidFill>
                <a:latin typeface="Calibri"/>
              </a:rPr>
              <a:t>▸  Bu guruhga asosan jabrlanganning tanasidagi shilinmalar, qontalashlar va ayrim yaralar kiradi.</a:t>
            </a:r>
          </a:p>
          <a:p>
            <a:pPr>
              <a:spcAft>
                <a:spcPts val="1200"/>
              </a:spcAft>
            </a:pPr>
            <a:r>
              <a:rPr sz="2200">
                <a:solidFill>
                  <a:srgbClr val="1F2937"/>
                </a:solidFill>
                <a:latin typeface="Calibri"/>
              </a:rPr>
              <a:t>▸  Imitatsion jarohat boshqa hodisalardagi jarohatlarga o‘xshaydi. Old oyna siniqlari kesma yoki sanchma-kesma yarani eslatadi.</a:t>
            </a:r>
          </a:p>
          <a:p>
            <a:pPr>
              <a:spcAft>
                <a:spcPts val="1200"/>
              </a:spcAft>
            </a:pPr>
            <a:r>
              <a:rPr sz="2200">
                <a:solidFill>
                  <a:srgbClr val="1F2937"/>
                </a:solidFill>
                <a:latin typeface="Calibri"/>
              </a:rPr>
              <a:t>▸  Diqqat: tashqariga bo‘rtib turgan boltlardan olingan jarohat sanchma yaraga o‘xshaydi. Faqat yara shakliga qarab shoshilib xulosa qilmang.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jarohat guruhini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avtotravmada jabrlanganning tanasida faqat shilinma va qontalash bor. Fara, bamper yoki shina izini eslatuvchi shakl topilmagan.</a:t>
            </a:r>
          </a:p>
          <a:p>
            <a:pPr>
              <a:spcAft>
                <a:spcPts val="1200"/>
              </a:spcAft>
            </a:pPr>
            <a:r>
              <a:rPr sz="2200">
                <a:solidFill>
                  <a:srgbClr val="1F2937"/>
                </a:solidFill>
                <a:latin typeface="Calibri"/>
              </a:rPr>
              <a:t>▸  Savol 1: bu jarohatlar to‘rt guruhdan qaysiga kiradi? Ular bo‘yicha avtotravma haqida aniq xulosa qilish mumkinmi?</a:t>
            </a:r>
          </a:p>
          <a:p>
            <a:pPr>
              <a:spcAft>
                <a:spcPts val="1200"/>
              </a:spcAft>
            </a:pPr>
            <a:r>
              <a:rPr sz="2200">
                <a:solidFill>
                  <a:srgbClr val="1F2937"/>
                </a:solidFill>
                <a:latin typeface="Calibri"/>
              </a:rPr>
              <a:t>▸  Vaziyatga qo‘shimcha: yuzda old oyna siniqlariga o‘xshash kesma yara aniqlangan. Savol 2: bu yara qaysi guruhga kiradi?</a:t>
            </a:r>
          </a:p>
          <a:p>
            <a:pPr>
              <a:spcAft>
                <a:spcPts val="1200"/>
              </a:spcAft>
            </a:pPr>
            <a:r>
              <a:rPr sz="2200">
                <a:solidFill>
                  <a:srgbClr val="1F2937"/>
                </a:solidFill>
                <a:latin typeface="Calibri"/>
              </a:rPr>
              <a:t>▸  Javob yo‘nalishi: shilinma va qontalash xos bo‘lmagan guruhga, oyna siniqlaridan kesma yara imitatsion guruhga kiradi. Ikkalasi ham avtotravmani alohida isbotlamaydi.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Piyoda to‘qnashuvi: to‘rt faza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Piyodaning harakatdagi avtomobil bilan to‘qnashuvi avtotravmaning eng ko‘p uchraydigan turidir.</a:t>
            </a:r>
          </a:p>
          <a:p>
            <a:pPr>
              <a:spcAft>
                <a:spcPts val="800"/>
              </a:spcAft>
            </a:pPr>
            <a:r>
              <a:rPr sz="1800">
                <a:solidFill>
                  <a:srgbClr val="1F2937"/>
                </a:solidFill>
                <a:latin typeface="Calibri"/>
              </a:rPr>
              <a:t>▸  Yuk avtomobili, vagon kuzovli mashina yoki avtomobilning yon qismi zarbida 2-faza kuzatilmaydi.</a:t>
            </a:r>
          </a:p>
          <a:p>
            <a:pPr>
              <a:spcAft>
                <a:spcPts val="800"/>
              </a:spcAft>
            </a:pPr>
            <a:r>
              <a:rPr sz="1800">
                <a:solidFill>
                  <a:srgbClr val="1F2937"/>
                </a:solidFill>
                <a:latin typeface="Calibri"/>
              </a:rPr>
              <a:t>▸  Yosh bolalarda 2-faza bo‘lmaydi. Past tezlikda esa 4-faza bo‘lmasligi mumkin.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Qismlar bilan zarb</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Avtomobilga yiqilish</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Uloqtirilish va erga tushish</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Erda sirpanish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Piyoda to‘qnashuvi fazalari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Bamper-jarohatlar va ularning ma‘nosi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Suyak shikasti bamper balandligi va ta’sir paytidagi harakat tezligiga bog‘liq.</a:t>
            </a:r>
          </a:p>
          <a:p>
            <a:pPr>
              <a:spcAft>
                <a:spcPts val="800"/>
              </a:spcAft>
            </a:pPr>
            <a:r>
              <a:rPr sz="1800">
                <a:solidFill>
                  <a:srgbClr val="1F2937"/>
                </a:solidFill>
                <a:latin typeface="Calibri"/>
              </a:rPr>
              <a:t>▸  Bamper ingichka va tezlik 55–60 km/soatdan katta bo‘lsa, suyakda halqasimon sinish bo‘lishi mumkin.</a:t>
            </a:r>
          </a:p>
          <a:p>
            <a:pPr>
              <a:spcAft>
                <a:spcPts val="800"/>
              </a:spcAft>
            </a:pPr>
            <a:r>
              <a:rPr sz="1800">
                <a:solidFill>
                  <a:srgbClr val="1F2937"/>
                </a:solidFill>
                <a:latin typeface="Calibri"/>
              </a:rPr>
              <a:t>▸  Bamper-jarohat bo‘yicha rusum, tezlik, birlamchi zarb sohasi va jabrlanuvchi holati haqida fikr yuritiladi.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746758"/>
                <a:gridCol w="3541217"/>
              </a:tblGrid>
              <a:tr h="614476">
                <a:tc>
                  <a:txBody>
                    <a:bodyPr/>
                    <a:lstStyle/>
                    <a:p>
                      <a:r>
                        <a:rPr sz="1800" b="1">
                          <a:solidFill>
                            <a:srgbClr val="FFFFFF"/>
                          </a:solidFill>
                        </a:rPr>
                        <a:t>Ko‘rsatkich</a:t>
                      </a:r>
                    </a:p>
                  </a:txBody>
                  <a:tcPr marL="73152" marR="73152" marT="36576" marB="36576">
                    <a:solidFill>
                      <a:srgbClr val="0B1F3A"/>
                    </a:solidFill>
                  </a:tcPr>
                </a:tc>
                <a:tc>
                  <a:txBody>
                    <a:bodyPr/>
                    <a:lstStyle/>
                    <a:p>
                      <a:r>
                        <a:rPr sz="1800" b="1">
                          <a:solidFill>
                            <a:srgbClr val="FFFFFF"/>
                          </a:solidFill>
                        </a:rPr>
                        <a:t>Qanday bo‘ladi</a:t>
                      </a:r>
                    </a:p>
                  </a:txBody>
                  <a:tcPr marL="73152" marR="73152" marT="36576" marB="36576">
                    <a:solidFill>
                      <a:srgbClr val="0B1F3A"/>
                    </a:solidFill>
                  </a:tcPr>
                </a:tc>
              </a:tr>
              <a:tr h="614476">
                <a:tc>
                  <a:txBody>
                    <a:bodyPr/>
                    <a:lstStyle/>
                    <a:p>
                      <a:r>
                        <a:rPr sz="1700" b="0">
                          <a:solidFill>
                            <a:srgbClr val="1F2937"/>
                          </a:solidFill>
                        </a:rPr>
                        <a:t>Teri jarohati</a:t>
                      </a:r>
                    </a:p>
                  </a:txBody>
                  <a:tcPr marL="73152" marR="73152" marT="36576" marB="36576">
                    <a:solidFill>
                      <a:srgbClr val="E8EEF6"/>
                    </a:solidFill>
                  </a:tcPr>
                </a:tc>
                <a:tc>
                  <a:txBody>
                    <a:bodyPr/>
                    <a:lstStyle/>
                    <a:p>
                      <a:r>
                        <a:rPr sz="1700" b="0">
                          <a:solidFill>
                            <a:srgbClr val="1F2937"/>
                          </a:solidFill>
                        </a:rPr>
                        <a:t>Ko‘ndalang shilinma, qontalash, yara</a:t>
                      </a:r>
                    </a:p>
                  </a:txBody>
                  <a:tcPr marL="73152" marR="73152" marT="36576" marB="36576">
                    <a:solidFill>
                      <a:srgbClr val="E8EEF6"/>
                    </a:solidFill>
                  </a:tcPr>
                </a:tc>
              </a:tr>
              <a:tr h="614476">
                <a:tc>
                  <a:txBody>
                    <a:bodyPr/>
                    <a:lstStyle/>
                    <a:p>
                      <a:r>
                        <a:rPr sz="1700" b="0">
                          <a:solidFill>
                            <a:srgbClr val="1F2937"/>
                          </a:solidFill>
                        </a:rPr>
                        <a:t>Engil avtomobil</a:t>
                      </a:r>
                    </a:p>
                  </a:txBody>
                  <a:tcPr marL="73152" marR="73152" marT="36576" marB="36576">
                    <a:solidFill>
                      <a:srgbClr val="FFFFFF"/>
                    </a:solidFill>
                  </a:tcPr>
                </a:tc>
                <a:tc>
                  <a:txBody>
                    <a:bodyPr/>
                    <a:lstStyle/>
                    <a:p>
                      <a:r>
                        <a:rPr sz="1700" b="0">
                          <a:solidFill>
                            <a:srgbClr val="1F2937"/>
                          </a:solidFill>
                        </a:rPr>
                        <a:t>Boldir suyaklari sinadi</a:t>
                      </a:r>
                    </a:p>
                  </a:txBody>
                  <a:tcPr marL="73152" marR="73152" marT="36576" marB="36576">
                    <a:solidFill>
                      <a:srgbClr val="FFFFFF"/>
                    </a:solidFill>
                  </a:tcPr>
                </a:tc>
              </a:tr>
              <a:tr h="614476">
                <a:tc>
                  <a:txBody>
                    <a:bodyPr/>
                    <a:lstStyle/>
                    <a:p>
                      <a:r>
                        <a:rPr sz="1700" b="0">
                          <a:solidFill>
                            <a:srgbClr val="1F2937"/>
                          </a:solidFill>
                        </a:rPr>
                        <a:t>Yuk avtomobili</a:t>
                      </a:r>
                    </a:p>
                  </a:txBody>
                  <a:tcPr marL="73152" marR="73152" marT="36576" marB="36576">
                    <a:solidFill>
                      <a:srgbClr val="E8EEF6"/>
                    </a:solidFill>
                  </a:tcPr>
                </a:tc>
                <a:tc>
                  <a:txBody>
                    <a:bodyPr/>
                    <a:lstStyle/>
                    <a:p>
                      <a:r>
                        <a:rPr sz="1700" b="0">
                          <a:solidFill>
                            <a:srgbClr val="1F2937"/>
                          </a:solidFill>
                        </a:rPr>
                        <a:t>Son suyaklari sinadi</a:t>
                      </a:r>
                    </a:p>
                  </a:txBody>
                  <a:tcPr marL="73152" marR="73152" marT="36576" marB="36576">
                    <a:solidFill>
                      <a:srgbClr val="E8EEF6"/>
                    </a:solidFill>
                  </a:tcPr>
                </a:tc>
              </a:tr>
              <a:tr h="614476">
                <a:tc>
                  <a:txBody>
                    <a:bodyPr/>
                    <a:lstStyle/>
                    <a:p>
                      <a:r>
                        <a:rPr sz="1700" b="0">
                          <a:solidFill>
                            <a:srgbClr val="1F2937"/>
                          </a:solidFill>
                        </a:rPr>
                        <a:t>Sinish shakli</a:t>
                      </a:r>
                    </a:p>
                  </a:txBody>
                  <a:tcPr marL="73152" marR="73152" marT="36576" marB="36576">
                    <a:solidFill>
                      <a:srgbClr val="FFFFFF"/>
                    </a:solidFill>
                  </a:tcPr>
                </a:tc>
                <a:tc>
                  <a:txBody>
                    <a:bodyPr/>
                    <a:lstStyle/>
                    <a:p>
                      <a:r>
                        <a:rPr sz="1700" b="0">
                          <a:solidFill>
                            <a:srgbClr val="1F2937"/>
                          </a:solidFill>
                        </a:rPr>
                        <a:t>Uchburchak, asosi zarb tomonda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Bamper-jarohat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To‘qnashuv fazalari bo‘yicha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1-fazada fara, pastki chiroq, old bezak shaklidagi kontakt shilinma va qontalashlar bo‘lishi mumkin.</a:t>
            </a:r>
          </a:p>
          <a:p>
            <a:pPr>
              <a:spcAft>
                <a:spcPts val="800"/>
              </a:spcAft>
            </a:pPr>
            <a:r>
              <a:rPr sz="1800">
                <a:solidFill>
                  <a:srgbClr val="1F2937"/>
                </a:solidFill>
                <a:latin typeface="Calibri"/>
              </a:rPr>
              <a:t>▸  2-fazada asosan bosh va ko‘krak qafasida shilinma, qontalash, yara, suyak sinishi, ichki a’zo shikasti bo‘ladi.</a:t>
            </a:r>
          </a:p>
          <a:p>
            <a:pPr>
              <a:spcAft>
                <a:spcPts val="800"/>
              </a:spcAft>
            </a:pPr>
            <a:r>
              <a:rPr sz="1800">
                <a:solidFill>
                  <a:srgbClr val="1F2937"/>
                </a:solidFill>
                <a:latin typeface="Calibri"/>
              </a:rPr>
              <a:t>▸  3-fazada barcha sohalarda tashqi va ichki jarohat; 4-fazada sirpanishga mos parallel shilinmalar.</a:t>
            </a:r>
          </a:p>
        </p:txBody>
      </p:sp>
      <p:graphicFrame>
        <p:nvGraphicFramePr>
          <p:cNvPr id="9" name="Table 8"/>
          <p:cNvGraphicFramePr>
            <a:graphicFrameLocks noGrp="1"/>
          </p:cNvGraphicFramePr>
          <p:nvPr/>
        </p:nvGraphicFramePr>
        <p:xfrm>
          <a:off x="6263640" y="1463040"/>
          <a:ext cx="5287973" cy="3072380"/>
        </p:xfrm>
        <a:graphic>
          <a:graphicData uri="http://schemas.openxmlformats.org/drawingml/2006/table">
            <a:tbl>
              <a:tblPr firstRow="1" bandRow="1">
                <a:tableStyleId>{5C22544A-7EE6-4342-B048-85BDC9FD1C3A}</a:tableStyleId>
              </a:tblPr>
              <a:tblGrid>
                <a:gridCol w="1113257"/>
                <a:gridCol w="2574408"/>
                <a:gridCol w="1600308"/>
              </a:tblGrid>
              <a:tr h="614476">
                <a:tc>
                  <a:txBody>
                    <a:bodyPr/>
                    <a:lstStyle/>
                    <a:p>
                      <a:r>
                        <a:rPr sz="1600" b="1">
                          <a:solidFill>
                            <a:srgbClr val="FFFFFF"/>
                          </a:solidFill>
                        </a:rPr>
                        <a:t>Faza</a:t>
                      </a:r>
                    </a:p>
                  </a:txBody>
                  <a:tcPr marL="73152" marR="73152" marT="36576" marB="36576">
                    <a:solidFill>
                      <a:srgbClr val="0B1F3A"/>
                    </a:solidFill>
                  </a:tcPr>
                </a:tc>
                <a:tc>
                  <a:txBody>
                    <a:bodyPr/>
                    <a:lstStyle/>
                    <a:p>
                      <a:r>
                        <a:rPr sz="1600" b="1">
                          <a:solidFill>
                            <a:srgbClr val="FFFFFF"/>
                          </a:solidFill>
                        </a:rPr>
                        <a:t>Joylashuvi</a:t>
                      </a:r>
                    </a:p>
                  </a:txBody>
                  <a:tcPr marL="73152" marR="73152" marT="36576" marB="36576">
                    <a:solidFill>
                      <a:srgbClr val="0B1F3A"/>
                    </a:solidFill>
                  </a:tcPr>
                </a:tc>
                <a:tc>
                  <a:txBody>
                    <a:bodyPr/>
                    <a:lstStyle/>
                    <a:p>
                      <a:r>
                        <a:rPr sz="1600" b="1">
                          <a:solidFill>
                            <a:srgbClr val="FFFFFF"/>
                          </a:solidFill>
                        </a:rPr>
                        <a:t>Mexanizm</a:t>
                      </a:r>
                    </a:p>
                  </a:txBody>
                  <a:tcPr marL="73152" marR="73152" marT="36576" marB="36576">
                    <a:solidFill>
                      <a:srgbClr val="0B1F3A"/>
                    </a:solidFill>
                  </a:tcPr>
                </a:tc>
              </a:tr>
              <a:tr h="614476">
                <a:tc>
                  <a:txBody>
                    <a:bodyPr/>
                    <a:lstStyle/>
                    <a:p>
                      <a:r>
                        <a:rPr sz="1500" b="0">
                          <a:solidFill>
                            <a:srgbClr val="1F2937"/>
                          </a:solidFill>
                        </a:rPr>
                        <a:t>1-faza</a:t>
                      </a:r>
                    </a:p>
                  </a:txBody>
                  <a:tcPr marL="73152" marR="73152" marT="36576" marB="36576">
                    <a:solidFill>
                      <a:srgbClr val="E8EEF6"/>
                    </a:solidFill>
                  </a:tcPr>
                </a:tc>
                <a:tc>
                  <a:txBody>
                    <a:bodyPr/>
                    <a:lstStyle/>
                    <a:p>
                      <a:r>
                        <a:rPr sz="1500" b="0">
                          <a:solidFill>
                            <a:srgbClr val="1F2937"/>
                          </a:solidFill>
                        </a:rPr>
                        <a:t>Birlamchi ta’sir sohasi</a:t>
                      </a:r>
                    </a:p>
                  </a:txBody>
                  <a:tcPr marL="73152" marR="73152" marT="36576" marB="36576">
                    <a:solidFill>
                      <a:srgbClr val="E8EEF6"/>
                    </a:solidFill>
                  </a:tcPr>
                </a:tc>
                <a:tc>
                  <a:txBody>
                    <a:bodyPr/>
                    <a:lstStyle/>
                    <a:p>
                      <a:r>
                        <a:rPr sz="1500" b="0">
                          <a:solidFill>
                            <a:srgbClr val="1F2937"/>
                          </a:solidFill>
                        </a:rPr>
                        <a:t>Zarb, umumiy chayqalish</a:t>
                      </a:r>
                    </a:p>
                  </a:txBody>
                  <a:tcPr marL="73152" marR="73152" marT="36576" marB="36576">
                    <a:solidFill>
                      <a:srgbClr val="E8EEF6"/>
                    </a:solidFill>
                  </a:tcPr>
                </a:tc>
              </a:tr>
              <a:tr h="614476">
                <a:tc>
                  <a:txBody>
                    <a:bodyPr/>
                    <a:lstStyle/>
                    <a:p>
                      <a:r>
                        <a:rPr sz="1500" b="0">
                          <a:solidFill>
                            <a:srgbClr val="1F2937"/>
                          </a:solidFill>
                        </a:rPr>
                        <a:t>2-faza</a:t>
                      </a:r>
                    </a:p>
                  </a:txBody>
                  <a:tcPr marL="73152" marR="73152" marT="36576" marB="36576">
                    <a:solidFill>
                      <a:srgbClr val="FFFFFF"/>
                    </a:solidFill>
                  </a:tcPr>
                </a:tc>
                <a:tc>
                  <a:txBody>
                    <a:bodyPr/>
                    <a:lstStyle/>
                    <a:p>
                      <a:r>
                        <a:rPr sz="1500" b="0">
                          <a:solidFill>
                            <a:srgbClr val="1F2937"/>
                          </a:solidFill>
                        </a:rPr>
                        <a:t>Birinchi ta’sir bo‘lgan tomon</a:t>
                      </a:r>
                    </a:p>
                  </a:txBody>
                  <a:tcPr marL="73152" marR="73152" marT="36576" marB="36576">
                    <a:solidFill>
                      <a:srgbClr val="FFFFFF"/>
                    </a:solidFill>
                  </a:tcPr>
                </a:tc>
                <a:tc>
                  <a:txBody>
                    <a:bodyPr/>
                    <a:lstStyle/>
                    <a:p>
                      <a:r>
                        <a:rPr sz="1500" b="0">
                          <a:solidFill>
                            <a:srgbClr val="1F2937"/>
                          </a:solidFill>
                        </a:rPr>
                        <a:t>Zarb, chayqalish</a:t>
                      </a:r>
                    </a:p>
                  </a:txBody>
                  <a:tcPr marL="73152" marR="73152" marT="36576" marB="36576">
                    <a:solidFill>
                      <a:srgbClr val="FFFFFF"/>
                    </a:solidFill>
                  </a:tcPr>
                </a:tc>
              </a:tr>
              <a:tr h="614476">
                <a:tc>
                  <a:txBody>
                    <a:bodyPr/>
                    <a:lstStyle/>
                    <a:p>
                      <a:r>
                        <a:rPr sz="1500" b="0">
                          <a:solidFill>
                            <a:srgbClr val="1F2937"/>
                          </a:solidFill>
                        </a:rPr>
                        <a:t>3-faza</a:t>
                      </a:r>
                    </a:p>
                  </a:txBody>
                  <a:tcPr marL="73152" marR="73152" marT="36576" marB="36576">
                    <a:solidFill>
                      <a:srgbClr val="E8EEF6"/>
                    </a:solidFill>
                  </a:tcPr>
                </a:tc>
                <a:tc>
                  <a:txBody>
                    <a:bodyPr/>
                    <a:lstStyle/>
                    <a:p>
                      <a:r>
                        <a:rPr sz="1500" b="0">
                          <a:solidFill>
                            <a:srgbClr val="1F2937"/>
                          </a:solidFill>
                        </a:rPr>
                        <a:t>Birinchi ta’sirga qarama-qarshi tomon</a:t>
                      </a:r>
                    </a:p>
                  </a:txBody>
                  <a:tcPr marL="73152" marR="73152" marT="36576" marB="36576">
                    <a:solidFill>
                      <a:srgbClr val="E8EEF6"/>
                    </a:solidFill>
                  </a:tcPr>
                </a:tc>
                <a:tc>
                  <a:txBody>
                    <a:bodyPr/>
                    <a:lstStyle/>
                    <a:p>
                      <a:r>
                        <a:rPr sz="1500" b="0">
                          <a:solidFill>
                            <a:srgbClr val="1F2937"/>
                          </a:solidFill>
                        </a:rPr>
                        <a:t>Erga zarb, chayqalish</a:t>
                      </a:r>
                    </a:p>
                  </a:txBody>
                  <a:tcPr marL="73152" marR="73152" marT="36576" marB="36576">
                    <a:solidFill>
                      <a:srgbClr val="E8EEF6"/>
                    </a:solidFill>
                  </a:tcPr>
                </a:tc>
              </a:tr>
              <a:tr h="614476">
                <a:tc>
                  <a:txBody>
                    <a:bodyPr/>
                    <a:lstStyle/>
                    <a:p>
                      <a:r>
                        <a:rPr sz="1500" b="0">
                          <a:solidFill>
                            <a:srgbClr val="1F2937"/>
                          </a:solidFill>
                        </a:rPr>
                        <a:t>4-faza</a:t>
                      </a:r>
                    </a:p>
                  </a:txBody>
                  <a:tcPr marL="73152" marR="73152" marT="36576" marB="36576">
                    <a:solidFill>
                      <a:srgbClr val="FFFFFF"/>
                    </a:solidFill>
                  </a:tcPr>
                </a:tc>
                <a:tc>
                  <a:txBody>
                    <a:bodyPr/>
                    <a:lstStyle/>
                    <a:p>
                      <a:r>
                        <a:rPr sz="1500" b="0">
                          <a:solidFill>
                            <a:srgbClr val="1F2937"/>
                          </a:solidFill>
                        </a:rPr>
                        <a:t>Sirpanish yo‘nalishiga mos</a:t>
                      </a:r>
                    </a:p>
                  </a:txBody>
                  <a:tcPr marL="73152" marR="73152" marT="36576" marB="36576">
                    <a:solidFill>
                      <a:srgbClr val="FFFFFF"/>
                    </a:solidFill>
                  </a:tcPr>
                </a:tc>
                <a:tc>
                  <a:txBody>
                    <a:bodyPr/>
                    <a:lstStyle/>
                    <a:p>
                      <a:r>
                        <a:rPr sz="1500" b="0">
                          <a:solidFill>
                            <a:srgbClr val="1F2937"/>
                          </a:solidFill>
                        </a:rPr>
                        <a:t>Parallel shilinmalar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Fazalar va jarohat joyi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61, 62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piyoda to‘qnashuvi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old qism bilan to‘qnashuvda nechta faza bor? Javob: to‘rtta. Zarb, avtomobilga yiqilish, uloqtirilish va erga tushish, erda sirpanish.</a:t>
            </a:r>
          </a:p>
          <a:p>
            <a:pPr>
              <a:spcAft>
                <a:spcPts val="1200"/>
              </a:spcAft>
            </a:pPr>
            <a:r>
              <a:rPr sz="2200">
                <a:solidFill>
                  <a:srgbClr val="1F2937"/>
                </a:solidFill>
                <a:latin typeface="Calibri"/>
              </a:rPr>
              <a:t>▸  Savol: bamper-jarohat qanday ko‘rinadi? Javob: ko‘ndalang shilinma, qontalash yoki yara. Bamper-sinish uchburchak, asosi birlamchi zarb tomonida.</a:t>
            </a:r>
          </a:p>
          <a:p>
            <a:pPr>
              <a:spcAft>
                <a:spcPts val="1200"/>
              </a:spcAft>
            </a:pPr>
            <a:r>
              <a:rPr sz="2200">
                <a:solidFill>
                  <a:srgbClr val="1F2937"/>
                </a:solidFill>
                <a:latin typeface="Calibri"/>
              </a:rPr>
              <a:t>▸  Savol: qaysi suyaklar sinadi? Javob: yengil avtomobilda boldir suyaklari, yuk avtomobilida son suyaklari.</a:t>
            </a:r>
          </a:p>
          <a:p>
            <a:pPr>
              <a:spcAft>
                <a:spcPts val="1200"/>
              </a:spcAft>
            </a:pPr>
            <a:r>
              <a:rPr sz="2200">
                <a:solidFill>
                  <a:srgbClr val="1F2937"/>
                </a:solidFill>
                <a:latin typeface="Calibri"/>
              </a:rPr>
              <a:t>▸  Diqqat: yuk avtomobili, vagon kuzovli mashina, yon qism zarbi va yosh bolalarda ikkinchi faza bo‘lmaydi. Sirpanish izlari parallel shilinmalardir.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61, 61-62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G‘ildirak bilan bosib o‘tish: turlari va fazalari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To‘liq bosib o‘tishda g‘ildirak tanani kesib o‘tadi. Noto‘liq bosib o‘tishda faqat tanaga chiqadi.</a:t>
            </a:r>
          </a:p>
          <a:p>
            <a:pPr>
              <a:spcAft>
                <a:spcPts val="800"/>
              </a:spcAft>
            </a:pPr>
            <a:r>
              <a:rPr sz="1800">
                <a:solidFill>
                  <a:srgbClr val="1F2937"/>
                </a:solidFill>
                <a:latin typeface="Calibri"/>
              </a:rPr>
              <a:t>▸  Yo‘nalish tana o‘qiga nisbatan ko‘ndalang, egri yoki uzunasiga bo‘lishi mumkin.</a:t>
            </a:r>
          </a:p>
          <a:p>
            <a:pPr>
              <a:spcAft>
                <a:spcPts val="800"/>
              </a:spcAft>
            </a:pPr>
            <a:r>
              <a:rPr sz="1800">
                <a:solidFill>
                  <a:srgbClr val="1F2937"/>
                </a:solidFill>
                <a:latin typeface="Calibri"/>
              </a:rPr>
              <a:t>▸  Asosiy og‘ir jarohat tananing g‘ildirak va er orasida siqilishidan hosil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G‘ildirak tanaga uriladi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Tana yo‘nalishda siljiydi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G‘ildirak tanaga chiqadi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G‘ildirak tanadan tushadi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Ikkilamchi siljish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Besh faza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G‘ildirak shinasi protektorining izlari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Protektor izi jarohat izi (qontalash, shilinma) yoki qoplanma iz (ifloslanish) ko‘rinishida bo‘ladi.</a:t>
            </a:r>
          </a:p>
          <a:p>
            <a:pPr>
              <a:spcAft>
                <a:spcPts val="800"/>
              </a:spcAft>
            </a:pPr>
            <a:r>
              <a:rPr sz="1800">
                <a:solidFill>
                  <a:srgbClr val="1F2937"/>
                </a:solidFill>
                <a:latin typeface="Calibri"/>
              </a:rPr>
              <a:t>▸  Spetsifik jarohatlardan shina protektorining bosma izlari amaliyotda nisbatan ko‘p uchraydi.</a:t>
            </a:r>
          </a:p>
          <a:p>
            <a:pPr>
              <a:spcAft>
                <a:spcPts val="800"/>
              </a:spcAft>
            </a:pPr>
            <a:r>
              <a:rPr sz="1800">
                <a:solidFill>
                  <a:srgbClr val="1F2937"/>
                </a:solidFill>
                <a:latin typeface="Calibri"/>
              </a:rPr>
              <a:t>▸  Kiyimda protektor izlari asosan qoplanma iz shaklida bo‘ladi.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19200"/>
                <a:gridCol w="2485343"/>
                <a:gridCol w="1583431"/>
              </a:tblGrid>
              <a:tr h="614476">
                <a:tc>
                  <a:txBody>
                    <a:bodyPr/>
                    <a:lstStyle/>
                    <a:p>
                      <a:r>
                        <a:rPr sz="1600" b="1">
                          <a:solidFill>
                            <a:srgbClr val="FFFFFF"/>
                          </a:solidFill>
                        </a:rPr>
                        <a:t>Iz turi</a:t>
                      </a:r>
                    </a:p>
                  </a:txBody>
                  <a:tcPr marL="73152" marR="73152" marT="36576" marB="36576">
                    <a:solidFill>
                      <a:srgbClr val="0B1F3A"/>
                    </a:solidFill>
                  </a:tcPr>
                </a:tc>
                <a:tc>
                  <a:txBody>
                    <a:bodyPr/>
                    <a:lstStyle/>
                    <a:p>
                      <a:r>
                        <a:rPr sz="1600" b="1">
                          <a:solidFill>
                            <a:srgbClr val="FFFFFF"/>
                          </a:solidFill>
                        </a:rPr>
                        <a:t>Qaysi qismdan</a:t>
                      </a:r>
                    </a:p>
                  </a:txBody>
                  <a:tcPr marL="73152" marR="73152" marT="36576" marB="36576">
                    <a:solidFill>
                      <a:srgbClr val="0B1F3A"/>
                    </a:solidFill>
                  </a:tcPr>
                </a:tc>
                <a:tc>
                  <a:txBody>
                    <a:bodyPr/>
                    <a:lstStyle/>
                    <a:p>
                      <a:r>
                        <a:rPr sz="1600" b="1">
                          <a:solidFill>
                            <a:srgbClr val="FFFFFF"/>
                          </a:solidFill>
                        </a:rPr>
                        <a:t>Ko‘rinishi</a:t>
                      </a:r>
                    </a:p>
                  </a:txBody>
                  <a:tcPr marL="73152" marR="73152" marT="36576" marB="36576">
                    <a:solidFill>
                      <a:srgbClr val="0B1F3A"/>
                    </a:solidFill>
                  </a:tcPr>
                </a:tc>
              </a:tr>
              <a:tr h="614476">
                <a:tc>
                  <a:txBody>
                    <a:bodyPr/>
                    <a:lstStyle/>
                    <a:p>
                      <a:r>
                        <a:rPr sz="1500" b="0">
                          <a:solidFill>
                            <a:srgbClr val="1F2937"/>
                          </a:solidFill>
                        </a:rPr>
                        <a:t>Pozitiv iz</a:t>
                      </a:r>
                    </a:p>
                  </a:txBody>
                  <a:tcPr marL="73152" marR="73152" marT="36576" marB="36576">
                    <a:solidFill>
                      <a:srgbClr val="E8EEF6"/>
                    </a:solidFill>
                  </a:tcPr>
                </a:tc>
                <a:tc>
                  <a:txBody>
                    <a:bodyPr/>
                    <a:lstStyle/>
                    <a:p>
                      <a:r>
                        <a:rPr sz="1500" b="0">
                          <a:solidFill>
                            <a:srgbClr val="1F2937"/>
                          </a:solidFill>
                        </a:rPr>
                        <a:t>Protektorning bo‘rtib turgan qismidan</a:t>
                      </a:r>
                    </a:p>
                  </a:txBody>
                  <a:tcPr marL="73152" marR="73152" marT="36576" marB="36576">
                    <a:solidFill>
                      <a:srgbClr val="E8EEF6"/>
                    </a:solidFill>
                  </a:tcPr>
                </a:tc>
                <a:tc>
                  <a:txBody>
                    <a:bodyPr/>
                    <a:lstStyle/>
                    <a:p>
                      <a:r>
                        <a:rPr sz="1500" b="0">
                          <a:solidFill>
                            <a:srgbClr val="1F2937"/>
                          </a:solidFill>
                        </a:rPr>
                        <a:t>Shilinma, qontalash</a:t>
                      </a:r>
                    </a:p>
                  </a:txBody>
                  <a:tcPr marL="73152" marR="73152" marT="36576" marB="36576">
                    <a:solidFill>
                      <a:srgbClr val="E8EEF6"/>
                    </a:solidFill>
                  </a:tcPr>
                </a:tc>
              </a:tr>
              <a:tr h="614476">
                <a:tc>
                  <a:txBody>
                    <a:bodyPr/>
                    <a:lstStyle/>
                    <a:p>
                      <a:r>
                        <a:rPr sz="1500" b="0">
                          <a:solidFill>
                            <a:srgbClr val="1F2937"/>
                          </a:solidFill>
                        </a:rPr>
                        <a:t>Negativ iz</a:t>
                      </a:r>
                    </a:p>
                  </a:txBody>
                  <a:tcPr marL="73152" marR="73152" marT="36576" marB="36576">
                    <a:solidFill>
                      <a:srgbClr val="FFFFFF"/>
                    </a:solidFill>
                  </a:tcPr>
                </a:tc>
                <a:tc>
                  <a:txBody>
                    <a:bodyPr/>
                    <a:lstStyle/>
                    <a:p>
                      <a:r>
                        <a:rPr sz="1500" b="0">
                          <a:solidFill>
                            <a:srgbClr val="1F2937"/>
                          </a:solidFill>
                        </a:rPr>
                        <a:t>Protektorning botiq qismidan</a:t>
                      </a:r>
                    </a:p>
                  </a:txBody>
                  <a:tcPr marL="73152" marR="73152" marT="36576" marB="36576">
                    <a:solidFill>
                      <a:srgbClr val="FFFFFF"/>
                    </a:solidFill>
                  </a:tcPr>
                </a:tc>
                <a:tc>
                  <a:txBody>
                    <a:bodyPr/>
                    <a:lstStyle/>
                    <a:p>
                      <a:r>
                        <a:rPr sz="1500" b="0">
                          <a:solidFill>
                            <a:srgbClr val="1F2937"/>
                          </a:solidFill>
                        </a:rPr>
                        <a:t>Faqat qontalash</a:t>
                      </a:r>
                    </a:p>
                  </a:txBody>
                  <a:tcPr marL="73152" marR="73152" marT="36576" marB="36576">
                    <a:solidFill>
                      <a:srgbClr val="FFFFFF"/>
                    </a:solidFill>
                  </a:tcPr>
                </a:tc>
              </a:tr>
              <a:tr h="614476">
                <a:tc>
                  <a:txBody>
                    <a:bodyPr/>
                    <a:lstStyle/>
                    <a:p>
                      <a:r>
                        <a:rPr sz="1500" b="0">
                          <a:solidFill>
                            <a:srgbClr val="1F2937"/>
                          </a:solidFill>
                        </a:rPr>
                        <a:t>Jarohat izi</a:t>
                      </a:r>
                    </a:p>
                  </a:txBody>
                  <a:tcPr marL="73152" marR="73152" marT="36576" marB="36576">
                    <a:solidFill>
                      <a:srgbClr val="E8EEF6"/>
                    </a:solidFill>
                  </a:tcPr>
                </a:tc>
                <a:tc>
                  <a:txBody>
                    <a:bodyPr/>
                    <a:lstStyle/>
                    <a:p>
                      <a:r>
                        <a:rPr sz="1500" b="0">
                          <a:solidFill>
                            <a:srgbClr val="1F2937"/>
                          </a:solidFill>
                        </a:rPr>
                        <a:t>Tana terisida</a:t>
                      </a:r>
                    </a:p>
                  </a:txBody>
                  <a:tcPr marL="73152" marR="73152" marT="36576" marB="36576">
                    <a:solidFill>
                      <a:srgbClr val="E8EEF6"/>
                    </a:solidFill>
                  </a:tcPr>
                </a:tc>
                <a:tc>
                  <a:txBody>
                    <a:bodyPr/>
                    <a:lstStyle/>
                    <a:p>
                      <a:r>
                        <a:rPr sz="1500" b="0">
                          <a:solidFill>
                            <a:srgbClr val="1F2937"/>
                          </a:solidFill>
                        </a:rPr>
                        <a:t>Qontalash, shilinma</a:t>
                      </a:r>
                    </a:p>
                  </a:txBody>
                  <a:tcPr marL="73152" marR="73152" marT="36576" marB="36576">
                    <a:solidFill>
                      <a:srgbClr val="E8EEF6"/>
                    </a:solidFill>
                  </a:tcPr>
                </a:tc>
              </a:tr>
              <a:tr h="614476">
                <a:tc>
                  <a:txBody>
                    <a:bodyPr/>
                    <a:lstStyle/>
                    <a:p>
                      <a:r>
                        <a:rPr sz="1500" b="0">
                          <a:solidFill>
                            <a:srgbClr val="1F2937"/>
                          </a:solidFill>
                        </a:rPr>
                        <a:t>Qoplanma iz</a:t>
                      </a:r>
                    </a:p>
                  </a:txBody>
                  <a:tcPr marL="73152" marR="73152" marT="36576" marB="36576">
                    <a:solidFill>
                      <a:srgbClr val="FFFFFF"/>
                    </a:solidFill>
                  </a:tcPr>
                </a:tc>
                <a:tc>
                  <a:txBody>
                    <a:bodyPr/>
                    <a:lstStyle/>
                    <a:p>
                      <a:r>
                        <a:rPr sz="1500" b="0">
                          <a:solidFill>
                            <a:srgbClr val="1F2937"/>
                          </a:solidFill>
                        </a:rPr>
                        <a:t>Kiyimda, ifloslanish</a:t>
                      </a:r>
                    </a:p>
                  </a:txBody>
                  <a:tcPr marL="73152" marR="73152" marT="36576" marB="36576">
                    <a:solidFill>
                      <a:srgbClr val="FFFFFF"/>
                    </a:solidFill>
                  </a:tcPr>
                </a:tc>
                <a:tc>
                  <a:txBody>
                    <a:bodyPr/>
                    <a:lstStyle/>
                    <a:p>
                      <a:r>
                        <a:rPr sz="1500" b="0">
                          <a:solidFill>
                            <a:srgbClr val="1F2937"/>
                          </a:solidFill>
                        </a:rPr>
                        <a:t>Asosan kiyimda uchraydi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Pozitiv va negativ izlar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Bosib o‘tishda tana sohalari bo‘yicha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G‘ildirak boshni bosib o‘tganda kalla va yuz suyaklari ko‘plab sinadi, bosh miya majaqlanadi. Quloq suprasi to‘liq yoki qisman ajralishi mumkin.</a:t>
            </a:r>
          </a:p>
          <a:p>
            <a:pPr>
              <a:spcAft>
                <a:spcPts val="1200"/>
              </a:spcAft>
            </a:pPr>
            <a:r>
              <a:rPr sz="2000">
                <a:solidFill>
                  <a:srgbClr val="1F2937"/>
                </a:solidFill>
                <a:latin typeface="Calibri"/>
              </a:rPr>
              <a:t>▸  Ko‘krakdan o‘tganda qobirg‘alar ikki tomonlama ko‘p chiziq bo‘ylab sinadi. Chalqancha yotganda kurak suyaklari va umurtqalarning orqa o‘siqlari ham sinadi.</a:t>
            </a:r>
          </a:p>
          <a:p>
            <a:pPr>
              <a:spcAft>
                <a:spcPts val="1200"/>
              </a:spcAft>
            </a:pPr>
            <a:r>
              <a:rPr sz="2000">
                <a:solidFill>
                  <a:srgbClr val="1F2937"/>
                </a:solidFill>
                <a:latin typeface="Calibri"/>
              </a:rPr>
              <a:t>▸  Qorin sohasida ichki a’zolar jarohatlanadi va siljiydi. Tosda suyaklar ko‘plab sinadi, oyoqlarda esa siniqli sinishlar bo‘ladi.</a:t>
            </a:r>
          </a:p>
          <a:p>
            <a:pPr>
              <a:spcAft>
                <a:spcPts val="1200"/>
              </a:spcAft>
            </a:pPr>
            <a:r>
              <a:rPr sz="2000">
                <a:solidFill>
                  <a:srgbClr val="1F2937"/>
                </a:solidFill>
                <a:latin typeface="Calibri"/>
              </a:rPr>
              <a:t>▸  G‘ildirak tanaga chiqqan tomonda shikastlanish jiddiyroq bo‘ladi. Tezlik 20 km/soat va undan katta bo‘lsa, g‘ildirak tanadan ‘sakrab tushadi’ va 4-fazada jarohat bo‘lmasligi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64, 65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g‘ildirak izi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jabrlanganning shimida g‘ildirak shinasi protektorining izi, tanasida esa harakat yo‘nalishiga parallel yo‘lkasimon shilinmalar aniqlangan.</a:t>
            </a:r>
          </a:p>
          <a:p>
            <a:pPr>
              <a:spcAft>
                <a:spcPts val="1200"/>
              </a:spcAft>
            </a:pPr>
            <a:r>
              <a:rPr sz="2200">
                <a:solidFill>
                  <a:srgbClr val="1F2937"/>
                </a:solidFill>
                <a:latin typeface="Calibri"/>
              </a:rPr>
              <a:t>▸  Kiyimdagi protektor izi asosan qoplanma iz (ifloslanish) bo‘ladi. Tanada bo‘rtiq qismdan pozitiv, botiq qismdan negativ iz qoladi.</a:t>
            </a:r>
          </a:p>
          <a:p>
            <a:pPr>
              <a:spcAft>
                <a:spcPts val="1200"/>
              </a:spcAft>
            </a:pPr>
            <a:r>
              <a:rPr sz="2200">
                <a:solidFill>
                  <a:srgbClr val="1F2937"/>
                </a:solidFill>
                <a:latin typeface="Calibri"/>
              </a:rPr>
              <a:t>▸  Bir tomonda teri ostida qon to‘lgan ‘cho‘ntaklar’, qarama-qarshi tomonda teri yoriqlari topilgan. Bu g‘ildirakning tanaga chiqish tomonini ko‘rsatadi.</a:t>
            </a:r>
          </a:p>
          <a:p>
            <a:pPr>
              <a:spcAft>
                <a:spcPts val="1200"/>
              </a:spcAft>
            </a:pPr>
            <a:r>
              <a:rPr sz="2200">
                <a:solidFill>
                  <a:srgbClr val="1F2937"/>
                </a:solidFill>
                <a:latin typeface="Calibri"/>
              </a:rPr>
              <a:t>▸  Savol: g‘ildirak qaysi tomondan chiqqan? Qaysi fazalarda yo‘lkasimon shilinmalar hosil bo‘ladi va izlar nima uchun muhim?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63-64, 64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Avtomobil ichida: haydovchi jarohatlari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Rulga urilganda ko‘krakda yarim oysimon shilinma va qontalash paydo bo‘ladi, to‘sh va qobirg‘alar sinishi mumkin.</a:t>
            </a:r>
          </a:p>
          <a:p>
            <a:pPr>
              <a:spcAft>
                <a:spcPts val="800"/>
              </a:spcAft>
            </a:pPr>
            <a:r>
              <a:rPr sz="1800">
                <a:solidFill>
                  <a:srgbClr val="1F2937"/>
                </a:solidFill>
                <a:latin typeface="Calibri"/>
              </a:rPr>
              <a:t>▸  Jarohatlar tananing old va chap yuzalarida joylashadi. Son va boldir sinishi ko‘proq chap tomonda.</a:t>
            </a:r>
          </a:p>
          <a:p>
            <a:pPr>
              <a:spcAft>
                <a:spcPts val="800"/>
              </a:spcAft>
            </a:pPr>
            <a:r>
              <a:rPr sz="1800">
                <a:solidFill>
                  <a:srgbClr val="1F2937"/>
                </a:solidFill>
                <a:latin typeface="Calibri"/>
              </a:rPr>
              <a:t>▸  Poyafzal tagida pedallarning bosma izi bo‘ladi. Katta tezlikda ensa suyagi halqasimon sinishi mumkin.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Oyoq panelga uriladi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Ko‘krak rulga uriladi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Bosh old oynaga uriladi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Tana va bo‘yin orqaga</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Haydovchi: 4 faza</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Yo‘lovchilar jarohatlari va xavfsizlik kamari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Oldingi o‘rindiq yo‘lovchisining tanasi mahkamlanmagan. Shu sabab bu o‘rin salondagi eng xavfli joy deb tan olingan.</a:t>
            </a:r>
          </a:p>
          <a:p>
            <a:pPr>
              <a:spcAft>
                <a:spcPts val="800"/>
              </a:spcAft>
            </a:pPr>
            <a:r>
              <a:rPr sz="1800">
                <a:solidFill>
                  <a:srgbClr val="1F2937"/>
                </a:solidFill>
                <a:latin typeface="Calibri"/>
              </a:rPr>
              <a:t>▸  Orqa o‘rindiq yo‘lovchilarida shikast kamroq. Jarohat asosan oldingi o‘rindiq orqasiga urilishdan paydo bo‘ladi.</a:t>
            </a:r>
          </a:p>
          <a:p>
            <a:pPr>
              <a:spcAft>
                <a:spcPts val="800"/>
              </a:spcAft>
            </a:pPr>
            <a:r>
              <a:rPr sz="1800">
                <a:solidFill>
                  <a:srgbClr val="1F2937"/>
                </a:solidFill>
                <a:latin typeface="Calibri"/>
              </a:rPr>
              <a:t>▸  Kamar jarohatning oldini oladi. Lekin tezlik belgilangandan oshsa, kamarning o‘zi shikastlovchi omilga aylanadi.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19200"/>
                <a:gridCol w="1331595"/>
                <a:gridCol w="2737179"/>
              </a:tblGrid>
              <a:tr h="614476">
                <a:tc>
                  <a:txBody>
                    <a:bodyPr/>
                    <a:lstStyle/>
                    <a:p>
                      <a:r>
                        <a:rPr sz="1600" b="1">
                          <a:solidFill>
                            <a:srgbClr val="FFFFFF"/>
                          </a:solidFill>
                        </a:rPr>
                        <a:t>Omil</a:t>
                      </a:r>
                    </a:p>
                  </a:txBody>
                  <a:tcPr marL="73152" marR="73152" marT="36576" marB="36576">
                    <a:solidFill>
                      <a:srgbClr val="0B1F3A"/>
                    </a:solidFill>
                  </a:tcPr>
                </a:tc>
                <a:tc>
                  <a:txBody>
                    <a:bodyPr/>
                    <a:lstStyle/>
                    <a:p>
                      <a:r>
                        <a:rPr sz="1600" b="1">
                          <a:solidFill>
                            <a:srgbClr val="FFFFFF"/>
                          </a:solidFill>
                        </a:rPr>
                        <a:t>Xavf darajasi</a:t>
                      </a:r>
                    </a:p>
                  </a:txBody>
                  <a:tcPr marL="73152" marR="73152" marT="36576" marB="36576">
                    <a:solidFill>
                      <a:srgbClr val="0B1F3A"/>
                    </a:solidFill>
                  </a:tcPr>
                </a:tc>
                <a:tc>
                  <a:txBody>
                    <a:bodyPr/>
                    <a:lstStyle/>
                    <a:p>
                      <a:r>
                        <a:rPr sz="1600" b="1">
                          <a:solidFill>
                            <a:srgbClr val="FFFFFF"/>
                          </a:solidFill>
                        </a:rPr>
                        <a:t>Xos jarohat</a:t>
                      </a:r>
                    </a:p>
                  </a:txBody>
                  <a:tcPr marL="73152" marR="73152" marT="36576" marB="36576">
                    <a:solidFill>
                      <a:srgbClr val="0B1F3A"/>
                    </a:solidFill>
                  </a:tcPr>
                </a:tc>
              </a:tr>
              <a:tr h="614476">
                <a:tc>
                  <a:txBody>
                    <a:bodyPr/>
                    <a:lstStyle/>
                    <a:p>
                      <a:r>
                        <a:rPr sz="1500" b="0">
                          <a:solidFill>
                            <a:srgbClr val="1F2937"/>
                          </a:solidFill>
                        </a:rPr>
                        <a:t>Oldingi o‘rindiq</a:t>
                      </a:r>
                    </a:p>
                  </a:txBody>
                  <a:tcPr marL="73152" marR="73152" marT="36576" marB="36576">
                    <a:solidFill>
                      <a:srgbClr val="E8EEF6"/>
                    </a:solidFill>
                  </a:tcPr>
                </a:tc>
                <a:tc>
                  <a:txBody>
                    <a:bodyPr/>
                    <a:lstStyle/>
                    <a:p>
                      <a:r>
                        <a:rPr sz="1500" b="0">
                          <a:solidFill>
                            <a:srgbClr val="1F2937"/>
                          </a:solidFill>
                        </a:rPr>
                        <a:t>Eng xavfli joy</a:t>
                      </a:r>
                    </a:p>
                  </a:txBody>
                  <a:tcPr marL="73152" marR="73152" marT="36576" marB="36576">
                    <a:solidFill>
                      <a:srgbClr val="E8EEF6"/>
                    </a:solidFill>
                  </a:tcPr>
                </a:tc>
                <a:tc>
                  <a:txBody>
                    <a:bodyPr/>
                    <a:lstStyle/>
                    <a:p>
                      <a:r>
                        <a:rPr sz="1500" b="0">
                          <a:solidFill>
                            <a:srgbClr val="1F2937"/>
                          </a:solidFill>
                        </a:rPr>
                        <a:t>Kalla-yuz sinishi, ichki a’zolar jarohati</a:t>
                      </a:r>
                    </a:p>
                  </a:txBody>
                  <a:tcPr marL="73152" marR="73152" marT="36576" marB="36576">
                    <a:solidFill>
                      <a:srgbClr val="E8EEF6"/>
                    </a:solidFill>
                  </a:tcPr>
                </a:tc>
              </a:tr>
              <a:tr h="614476">
                <a:tc>
                  <a:txBody>
                    <a:bodyPr/>
                    <a:lstStyle/>
                    <a:p>
                      <a:r>
                        <a:rPr sz="1500" b="0">
                          <a:solidFill>
                            <a:srgbClr val="1F2937"/>
                          </a:solidFill>
                        </a:rPr>
                        <a:t>Orqa o‘rindiq</a:t>
                      </a:r>
                    </a:p>
                  </a:txBody>
                  <a:tcPr marL="73152" marR="73152" marT="36576" marB="36576">
                    <a:solidFill>
                      <a:srgbClr val="FFFFFF"/>
                    </a:solidFill>
                  </a:tcPr>
                </a:tc>
                <a:tc>
                  <a:txBody>
                    <a:bodyPr/>
                    <a:lstStyle/>
                    <a:p>
                      <a:r>
                        <a:rPr sz="1500" b="0">
                          <a:solidFill>
                            <a:srgbClr val="1F2937"/>
                          </a:solidFill>
                        </a:rPr>
                        <a:t>Nisbatan kam</a:t>
                      </a:r>
                    </a:p>
                  </a:txBody>
                  <a:tcPr marL="73152" marR="73152" marT="36576" marB="36576">
                    <a:solidFill>
                      <a:srgbClr val="FFFFFF"/>
                    </a:solidFill>
                  </a:tcPr>
                </a:tc>
                <a:tc>
                  <a:txBody>
                    <a:bodyPr/>
                    <a:lstStyle/>
                    <a:p>
                      <a:r>
                        <a:rPr sz="1500" b="0">
                          <a:solidFill>
                            <a:srgbClr val="1F2937"/>
                          </a:solidFill>
                        </a:rPr>
                        <a:t>Oldingi o‘rindiq orqasiga urilish izi</a:t>
                      </a:r>
                    </a:p>
                  </a:txBody>
                  <a:tcPr marL="73152" marR="73152" marT="36576" marB="36576">
                    <a:solidFill>
                      <a:srgbClr val="FFFFFF"/>
                    </a:solidFill>
                  </a:tcPr>
                </a:tc>
              </a:tr>
              <a:tr h="614476">
                <a:tc>
                  <a:txBody>
                    <a:bodyPr/>
                    <a:lstStyle/>
                    <a:p>
                      <a:r>
                        <a:rPr sz="1500" b="0">
                          <a:solidFill>
                            <a:srgbClr val="1F2937"/>
                          </a:solidFill>
                        </a:rPr>
                        <a:t>Diagonal kamar</a:t>
                      </a:r>
                    </a:p>
                  </a:txBody>
                  <a:tcPr marL="73152" marR="73152" marT="36576" marB="36576">
                    <a:solidFill>
                      <a:srgbClr val="E8EEF6"/>
                    </a:solidFill>
                  </a:tcPr>
                </a:tc>
                <a:tc>
                  <a:txBody>
                    <a:bodyPr/>
                    <a:lstStyle/>
                    <a:p>
                      <a:r>
                        <a:rPr sz="1500" b="0">
                          <a:solidFill>
                            <a:srgbClr val="1F2937"/>
                          </a:solidFill>
                        </a:rPr>
                        <a:t>Tezlik oshsa xavfli</a:t>
                      </a:r>
                    </a:p>
                  </a:txBody>
                  <a:tcPr marL="73152" marR="73152" marT="36576" marB="36576">
                    <a:solidFill>
                      <a:srgbClr val="E8EEF6"/>
                    </a:solidFill>
                  </a:tcPr>
                </a:tc>
                <a:tc>
                  <a:txBody>
                    <a:bodyPr/>
                    <a:lstStyle/>
                    <a:p>
                      <a:r>
                        <a:rPr sz="1500" b="0">
                          <a:solidFill>
                            <a:srgbClr val="1F2937"/>
                          </a:solidFill>
                        </a:rPr>
                        <a:t>Bo‘yin boylamlari, to‘sh-umrov bo‘g‘ini yorilishi</a:t>
                      </a:r>
                    </a:p>
                  </a:txBody>
                  <a:tcPr marL="73152" marR="73152" marT="36576" marB="36576">
                    <a:solidFill>
                      <a:srgbClr val="E8EEF6"/>
                    </a:solidFill>
                  </a:tcPr>
                </a:tc>
              </a:tr>
              <a:tr h="614476">
                <a:tc>
                  <a:txBody>
                    <a:bodyPr/>
                    <a:lstStyle/>
                    <a:p>
                      <a:r>
                        <a:rPr sz="1500" b="0">
                          <a:solidFill>
                            <a:srgbClr val="1F2937"/>
                          </a:solidFill>
                        </a:rPr>
                        <a:t>Katta tezlik</a:t>
                      </a:r>
                    </a:p>
                  </a:txBody>
                  <a:tcPr marL="73152" marR="73152" marT="36576" marB="36576">
                    <a:solidFill>
                      <a:srgbClr val="FFFFFF"/>
                    </a:solidFill>
                  </a:tcPr>
                </a:tc>
                <a:tc>
                  <a:txBody>
                    <a:bodyPr/>
                    <a:lstStyle/>
                    <a:p>
                      <a:r>
                        <a:rPr sz="1500" b="0">
                          <a:solidFill>
                            <a:srgbClr val="1F2937"/>
                          </a:solidFill>
                        </a:rPr>
                        <a:t>Otilib ketish xavfi</a:t>
                      </a:r>
                    </a:p>
                  </a:txBody>
                  <a:tcPr marL="73152" marR="73152" marT="36576" marB="36576">
                    <a:solidFill>
                      <a:srgbClr val="FFFFFF"/>
                    </a:solidFill>
                  </a:tcPr>
                </a:tc>
                <a:tc>
                  <a:txBody>
                    <a:bodyPr/>
                    <a:lstStyle/>
                    <a:p>
                      <a:r>
                        <a:rPr sz="1500" b="0">
                          <a:solidFill>
                            <a:srgbClr val="1F2937"/>
                          </a:solidFill>
                        </a:rPr>
                        <a:t>Old oyna orqali tashqariga otilish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O‘rindiqlar va kamar: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66, 67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Avtomobildan tushib ketish: uch faza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Birinchi fazada avtomobil qismlariga urilishdan shilinma, qontalash, ba’zan lat va yirtma yaralar paydo bo‘ladi.</a:t>
            </a:r>
          </a:p>
          <a:p>
            <a:pPr>
              <a:spcAft>
                <a:spcPts val="800"/>
              </a:spcAft>
            </a:pPr>
            <a:r>
              <a:rPr sz="1800">
                <a:solidFill>
                  <a:srgbClr val="1F2937"/>
                </a:solidFill>
                <a:latin typeface="Calibri"/>
              </a:rPr>
              <a:t>▸  Asosiy jarohatlar ikkinchi fazada hosil bo‘ladi. Ular bevosita va bilvosita bo‘lib, tananing erga tushgan qismiga bog‘liq.</a:t>
            </a:r>
          </a:p>
          <a:p>
            <a:pPr>
              <a:spcAft>
                <a:spcPts val="800"/>
              </a:spcAft>
            </a:pPr>
            <a:r>
              <a:rPr sz="1800">
                <a:solidFill>
                  <a:srgbClr val="1F2937"/>
                </a:solidFill>
                <a:latin typeface="Calibri"/>
              </a:rPr>
              <a:t>▸  Uchinchi fazadagi parallel yo‘lkasimon shilinmalar bu shikastni balandlikdan yiqilishdan farqlashga yordam beradi.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Avtomobil qismlariga urilish</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Tananing erga tushishi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Tananing erda siljishi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Yo‘lkasimon shilinmalar</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Avtomobildan tushish fazalari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67, 68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Qisilish va ekspertiza savollarining o‘ziga xosligi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Qisilishda ikki faza bor: avtomobilning tashqi qismlari bilan zarb, so‘ng tananing avtomobil va boshqa jism orasida siqilishi.</a:t>
            </a:r>
          </a:p>
          <a:p>
            <a:pPr>
              <a:spcAft>
                <a:spcPts val="1200"/>
              </a:spcAft>
            </a:pPr>
            <a:r>
              <a:rPr sz="2200">
                <a:solidFill>
                  <a:srgbClr val="1F2937"/>
                </a:solidFill>
                <a:latin typeface="Calibri"/>
              </a:rPr>
              <a:t>▸  Ikkinchi fazada ko‘krak qafasi va tos suyaklari ko‘plab sinadi, ko‘krak, qorin va tos bo‘shliqlari ichki a’zolari shikastlanadi.</a:t>
            </a:r>
          </a:p>
          <a:p>
            <a:pPr>
              <a:spcAft>
                <a:spcPts val="1200"/>
              </a:spcAft>
            </a:pPr>
            <a:r>
              <a:rPr sz="2200">
                <a:solidFill>
                  <a:srgbClr val="1F2937"/>
                </a:solidFill>
                <a:latin typeface="Calibri"/>
              </a:rPr>
              <a:t>▸  Tanada kiyimning ekximotik konturi bo‘lishi mumkin: choklar va burmalarning teriga qon quyilish shaklidagi izi. Ko‘krak va qorin siqilsa, kompression asfiksiyadan o‘lim ro‘y berishi mumkin.</a:t>
            </a:r>
          </a:p>
          <a:p>
            <a:pPr>
              <a:spcAft>
                <a:spcPts val="1200"/>
              </a:spcAft>
            </a:pPr>
            <a:r>
              <a:rPr sz="2200">
                <a:solidFill>
                  <a:srgbClr val="1F2937"/>
                </a:solidFill>
                <a:latin typeface="Calibri"/>
              </a:rPr>
              <a:t>▸  Ekspertizada odatdagi masalalardan tashqari avtotravma turi, rusumi, mexanizmi, jabrlanganning holati, ta’sir qismi va yo‘nalishi, ba’zan tezlik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68, 69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salon ichidagi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avtomobil harakatsiz jismga urildi. Haydovchi va oldingi o‘rindiq yo‘lovchisi shikastlandi. Savol: kimning jarohati og‘irroq va nega?</a:t>
            </a:r>
          </a:p>
          <a:p>
            <a:pPr>
              <a:spcAft>
                <a:spcPts val="1200"/>
              </a:spcAft>
            </a:pPr>
            <a:r>
              <a:rPr sz="2000">
                <a:solidFill>
                  <a:srgbClr val="1F2937"/>
                </a:solidFill>
                <a:latin typeface="Calibri"/>
              </a:rPr>
              <a:t>▸  Haydovchida jarohatlar tananing old va chap yuzalarida bo‘ladi. Rulga urilishdan ko‘krakda yarim oysimon shilinma va qontalash paydo bo‘ladi.</a:t>
            </a:r>
          </a:p>
          <a:p>
            <a:pPr>
              <a:spcAft>
                <a:spcPts val="1200"/>
              </a:spcAft>
            </a:pPr>
            <a:r>
              <a:rPr sz="2000">
                <a:solidFill>
                  <a:srgbClr val="1F2937"/>
                </a:solidFill>
                <a:latin typeface="Calibri"/>
              </a:rPr>
              <a:t>▸  Oldingi o‘rindiq yo‘lovchisining tanasi mahkamlanmagan, shuning uchun shikast haydovchinikidan jiddiyroq. Bu o‘rin salondagi eng xavfli joy hisoblanadi.</a:t>
            </a:r>
          </a:p>
          <a:p>
            <a:pPr>
              <a:spcAft>
                <a:spcPts val="1200"/>
              </a:spcAft>
            </a:pPr>
            <a:r>
              <a:rPr sz="2000">
                <a:solidFill>
                  <a:srgbClr val="1F2937"/>
                </a:solidFill>
                <a:latin typeface="Calibri"/>
              </a:rPr>
              <a:t>▸  Diqqat: xato qilish xavfi. Haydovchida shilinma chap eshik detallaridan, yo‘lovchida o‘ng eshik bo‘rtmalaridan bo‘ladi. Yo‘lovchi yuzida old oyna siniqlaridan ko‘plab shilinma va kesma yaralar topiladi.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g‘ildirak va salon travmasi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g‘ildirak bilan bosib o‘tishda nechta faza bor? Javob: beshta. Birinchisi g‘ildirakning tanaga urilishi, oxirgisi tananing g‘ildirak ortidan ikkilamchi siljishi.</a:t>
            </a:r>
          </a:p>
          <a:p>
            <a:pPr>
              <a:spcAft>
                <a:spcPts val="1200"/>
              </a:spcAft>
            </a:pPr>
            <a:r>
              <a:rPr sz="2000">
                <a:solidFill>
                  <a:srgbClr val="1F2937"/>
                </a:solidFill>
                <a:latin typeface="Calibri"/>
              </a:rPr>
              <a:t>▸  Savol: protektorning bo‘rtiq va botiq qismlari qanday iz qoldiradi? Javob: bo‘rtiq qismdan pozitiv iz (shilinma, qontalash), botiq qismdan negativ iz (faqat qontalash).</a:t>
            </a:r>
          </a:p>
          <a:p>
            <a:pPr>
              <a:spcAft>
                <a:spcPts val="1200"/>
              </a:spcAft>
            </a:pPr>
            <a:r>
              <a:rPr sz="2000">
                <a:solidFill>
                  <a:srgbClr val="1F2937"/>
                </a:solidFill>
                <a:latin typeface="Calibri"/>
              </a:rPr>
              <a:t>▸  Savol: qaysi o‘rindiq salonda eng xavfli? Javob: oldingi o‘rindiq. Orqa o‘rindiq yo‘lovchilarida shikastlanish nisbatan kamroq bo‘ladi.</a:t>
            </a:r>
          </a:p>
          <a:p>
            <a:pPr>
              <a:spcAft>
                <a:spcPts val="1200"/>
              </a:spcAft>
            </a:pPr>
            <a:r>
              <a:rPr sz="2000">
                <a:solidFill>
                  <a:srgbClr val="1F2937"/>
                </a:solidFill>
                <a:latin typeface="Calibri"/>
              </a:rPr>
              <a:t>▸  Savol: to‘rtinchi fazada jarohat nega bo‘lmasligi mumkin? Javob: tezlik 20 km/soat va undan katta bo‘lsa, g‘ildirak tanadan “sakrab tushadi”.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63, 66-67, 65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Mototsikl travmasi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Avtotravmaga nisbatan ancha kam uchraydi. Asosan kech bahor, yoz va erta kuzda kuzatiladi.</a:t>
            </a:r>
          </a:p>
          <a:p>
            <a:pPr>
              <a:spcAft>
                <a:spcPts val="800"/>
              </a:spcAft>
            </a:pPr>
            <a:r>
              <a:rPr sz="1800">
                <a:solidFill>
                  <a:srgbClr val="1F2937"/>
                </a:solidFill>
                <a:latin typeface="Calibri"/>
              </a:rPr>
              <a:t>▸  Mototsikl noturg‘un, shuning uchun haydovchi va yo‘lovchi har qanday holatda shikastlanishi mumkin.</a:t>
            </a:r>
          </a:p>
          <a:p>
            <a:pPr>
              <a:spcAft>
                <a:spcPts val="800"/>
              </a:spcAft>
            </a:pPr>
            <a:r>
              <a:rPr sz="1800">
                <a:solidFill>
                  <a:srgbClr val="1F2937"/>
                </a:solidFill>
                <a:latin typeface="Calibri"/>
              </a:rPr>
              <a:t>▸  Xos jarohat: boldir va son old-ichki yuzasida yo‘lkasimon shilinma, lat yara, boldir suyagi sinishi.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Piyoda bilan to‘qnashuv</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G‘ildirak bilan bosib o‘tish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Harakatdagi mototsikldan yiqilish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Boshqa jism bilan to‘qnashuv</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Murakkab mototsikl travmasi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Mototsikl travmasining 5 turi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69, 70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Rels travmasi: turlari va spetsifik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Rels travmasi — lokomotiv, elektrovoz, vagonlardan olingan jarohatlar majmui; tramvay ham kiradi.</a:t>
            </a:r>
          </a:p>
          <a:p>
            <a:pPr>
              <a:spcAft>
                <a:spcPts val="800"/>
              </a:spcAft>
            </a:pPr>
            <a:r>
              <a:rPr sz="1800">
                <a:solidFill>
                  <a:srgbClr val="1F2937"/>
                </a:solidFill>
                <a:latin typeface="Calibri"/>
              </a:rPr>
              <a:t>▸  Vagon tomidan yiqilishda jarohat avtomobildan yiqilishdagidan og‘irroq: tezlik va balandlik katta.</a:t>
            </a:r>
          </a:p>
          <a:p>
            <a:pPr>
              <a:spcAft>
                <a:spcPts val="800"/>
              </a:spcAft>
            </a:pPr>
            <a:r>
              <a:rPr sz="1800">
                <a:solidFill>
                  <a:srgbClr val="1F2937"/>
                </a:solidFill>
                <a:latin typeface="Calibri"/>
              </a:rPr>
              <a:t>▸  Kiyim va tanadagi moy, ballast, ko‘mir zarralari izlari ko‘pincha rels travmasi uchun xos.</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Turlar</a:t>
                      </a:r>
                    </a:p>
                  </a:txBody>
                  <a:tcPr marL="73152" marR="73152" marT="36576" marB="36576">
                    <a:solidFill>
                      <a:srgbClr val="0B1F3A"/>
                    </a:solidFill>
                  </a:tcPr>
                </a:tc>
              </a:tr>
              <a:tr h="614476">
                <a:tc>
                  <a:txBody>
                    <a:bodyPr/>
                    <a:lstStyle/>
                    <a:p>
                      <a:r>
                        <a:rPr sz="1700" b="0">
                          <a:solidFill>
                            <a:srgbClr val="1F2937"/>
                          </a:solidFill>
                        </a:rPr>
                        <a:t>1-2-tur</a:t>
                      </a:r>
                    </a:p>
                  </a:txBody>
                  <a:tcPr marL="73152" marR="73152" marT="36576" marB="36576">
                    <a:solidFill>
                      <a:srgbClr val="E8EEF6"/>
                    </a:solidFill>
                  </a:tcPr>
                </a:tc>
                <a:tc>
                  <a:txBody>
                    <a:bodyPr/>
                    <a:lstStyle/>
                    <a:p>
                      <a:r>
                        <a:rPr sz="1700" b="0">
                          <a:solidFill>
                            <a:srgbClr val="1F2937"/>
                          </a:solidFill>
                        </a:rPr>
                        <a:t>To‘qnashuv; g‘ildirak bilan bosib o‘tish</a:t>
                      </a:r>
                    </a:p>
                  </a:txBody>
                  <a:tcPr marL="73152" marR="73152" marT="36576" marB="36576">
                    <a:solidFill>
                      <a:srgbClr val="E8EEF6"/>
                    </a:solidFill>
                  </a:tcPr>
                </a:tc>
              </a:tr>
              <a:tr h="614476">
                <a:tc>
                  <a:txBody>
                    <a:bodyPr/>
                    <a:lstStyle/>
                    <a:p>
                      <a:r>
                        <a:rPr sz="1700" b="0">
                          <a:solidFill>
                            <a:srgbClr val="1F2937"/>
                          </a:solidFill>
                        </a:rPr>
                        <a:t>3-4-tur</a:t>
                      </a:r>
                    </a:p>
                  </a:txBody>
                  <a:tcPr marL="73152" marR="73152" marT="36576" marB="36576">
                    <a:solidFill>
                      <a:srgbClr val="FFFFFF"/>
                    </a:solidFill>
                  </a:tcPr>
                </a:tc>
                <a:tc>
                  <a:txBody>
                    <a:bodyPr/>
                    <a:lstStyle/>
                    <a:p>
                      <a:r>
                        <a:rPr sz="1700" b="0">
                          <a:solidFill>
                            <a:srgbClr val="1F2937"/>
                          </a:solidFill>
                        </a:rPr>
                        <a:t>Vagondan yiqilish; transport ichida</a:t>
                      </a:r>
                    </a:p>
                  </a:txBody>
                  <a:tcPr marL="73152" marR="73152" marT="36576" marB="36576">
                    <a:solidFill>
                      <a:srgbClr val="FFFFFF"/>
                    </a:solidFill>
                  </a:tcPr>
                </a:tc>
              </a:tr>
              <a:tr h="614476">
                <a:tc>
                  <a:txBody>
                    <a:bodyPr/>
                    <a:lstStyle/>
                    <a:p>
                      <a:r>
                        <a:rPr sz="1700" b="0">
                          <a:solidFill>
                            <a:srgbClr val="1F2937"/>
                          </a:solidFill>
                        </a:rPr>
                        <a:t>5-6-tur</a:t>
                      </a:r>
                    </a:p>
                  </a:txBody>
                  <a:tcPr marL="73152" marR="73152" marT="36576" marB="36576">
                    <a:solidFill>
                      <a:srgbClr val="E8EEF6"/>
                    </a:solidFill>
                  </a:tcPr>
                </a:tc>
                <a:tc>
                  <a:txBody>
                    <a:bodyPr/>
                    <a:lstStyle/>
                    <a:p>
                      <a:r>
                        <a:rPr sz="1700" b="0">
                          <a:solidFill>
                            <a:srgbClr val="1F2937"/>
                          </a:solidFill>
                        </a:rPr>
                        <a:t>Siqilish; murakkab rels travmasi</a:t>
                      </a:r>
                    </a:p>
                  </a:txBody>
                  <a:tcPr marL="73152" marR="73152" marT="36576" marB="36576">
                    <a:solidFill>
                      <a:srgbClr val="E8EEF6"/>
                    </a:solidFill>
                  </a:tcPr>
                </a:tc>
              </a:tr>
              <a:tr h="614476">
                <a:tc>
                  <a:txBody>
                    <a:bodyPr/>
                    <a:lstStyle/>
                    <a:p>
                      <a:r>
                        <a:rPr sz="1700" b="0">
                          <a:solidFill>
                            <a:srgbClr val="1F2937"/>
                          </a:solidFill>
                        </a:rPr>
                        <a:t>Xos iz</a:t>
                      </a:r>
                    </a:p>
                  </a:txBody>
                  <a:tcPr marL="73152" marR="73152" marT="36576" marB="36576">
                    <a:solidFill>
                      <a:srgbClr val="FFFFFF"/>
                    </a:solidFill>
                  </a:tcPr>
                </a:tc>
                <a:tc>
                  <a:txBody>
                    <a:bodyPr/>
                    <a:lstStyle/>
                    <a:p>
                      <a:r>
                        <a:rPr sz="1700" b="0">
                          <a:solidFill>
                            <a:srgbClr val="1F2937"/>
                          </a:solidFill>
                        </a:rPr>
                        <a:t>Moy, ballast, ko‘mir zarralari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Rels travmasining olti turi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70, 71, 73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Rels: bosilish va shilinish yo‘lkalari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Qisilgan terida ishqalanishdan “T” shaklidagi shilinma — “chimchi” belgisi — hosil bo‘ladi.</a:t>
            </a:r>
          </a:p>
          <a:p>
            <a:pPr>
              <a:spcAft>
                <a:spcPts val="800"/>
              </a:spcAft>
            </a:pPr>
            <a:r>
              <a:rPr sz="1800">
                <a:solidFill>
                  <a:srgbClr val="1F2937"/>
                </a:solidFill>
                <a:latin typeface="Calibri"/>
              </a:rPr>
              <a:t>▸  Bosilish yo‘lkasi dastlab yumshoq, oqimtir; quriganda dag‘al, to‘q-qo‘ng‘ir tusga kiradi.</a:t>
            </a:r>
          </a:p>
          <a:p>
            <a:pPr>
              <a:spcAft>
                <a:spcPts val="800"/>
              </a:spcAft>
            </a:pPr>
            <a:r>
              <a:rPr sz="1800">
                <a:solidFill>
                  <a:srgbClr val="1F2937"/>
                </a:solidFill>
                <a:latin typeface="Calibri"/>
              </a:rPr>
              <a:t>▸  Shilinish yo‘lkasida yoysimon chuqur tirnalmalar va ifloslanish belgilari aniqlanadi.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41095"/>
                <a:gridCol w="3646879"/>
              </a:tblGrid>
              <a:tr h="614476">
                <a:tc>
                  <a:txBody>
                    <a:bodyPr/>
                    <a:lstStyle/>
                    <a:p>
                      <a:r>
                        <a:rPr sz="1800" b="1">
                          <a:solidFill>
                            <a:srgbClr val="FFFFFF"/>
                          </a:solidFill>
                        </a:rPr>
                        <a:t>Yo‘lka</a:t>
                      </a:r>
                    </a:p>
                  </a:txBody>
                  <a:tcPr marL="73152" marR="73152" marT="36576" marB="36576">
                    <a:solidFill>
                      <a:srgbClr val="0B1F3A"/>
                    </a:solidFill>
                  </a:tcPr>
                </a:tc>
                <a:tc>
                  <a:txBody>
                    <a:bodyPr/>
                    <a:lstStyle/>
                    <a:p>
                      <a:r>
                        <a:rPr sz="1800" b="1">
                          <a:solidFill>
                            <a:srgbClr val="FFFFFF"/>
                          </a:solidFill>
                        </a:rPr>
                        <a:t>Belgisi</a:t>
                      </a:r>
                    </a:p>
                  </a:txBody>
                  <a:tcPr marL="73152" marR="73152" marT="36576" marB="36576">
                    <a:solidFill>
                      <a:srgbClr val="0B1F3A"/>
                    </a:solidFill>
                  </a:tcPr>
                </a:tc>
              </a:tr>
              <a:tr h="614476">
                <a:tc>
                  <a:txBody>
                    <a:bodyPr/>
                    <a:lstStyle/>
                    <a:p>
                      <a:r>
                        <a:rPr sz="1700" b="0">
                          <a:solidFill>
                            <a:srgbClr val="1F2937"/>
                          </a:solidFill>
                        </a:rPr>
                        <a:t>“T” shilinma</a:t>
                      </a:r>
                    </a:p>
                  </a:txBody>
                  <a:tcPr marL="73152" marR="73152" marT="36576" marB="36576">
                    <a:solidFill>
                      <a:srgbClr val="E8EEF6"/>
                    </a:solidFill>
                  </a:tcPr>
                </a:tc>
                <a:tc>
                  <a:txBody>
                    <a:bodyPr/>
                    <a:lstStyle/>
                    <a:p>
                      <a:r>
                        <a:rPr sz="1700" b="0">
                          <a:solidFill>
                            <a:srgbClr val="1F2937"/>
                          </a:solidFill>
                        </a:rPr>
                        <a:t>Chimchi belgisi; g‘ildirak chiqayotgan joyda</a:t>
                      </a:r>
                    </a:p>
                  </a:txBody>
                  <a:tcPr marL="73152" marR="73152" marT="36576" marB="36576">
                    <a:solidFill>
                      <a:srgbClr val="E8EEF6"/>
                    </a:solidFill>
                  </a:tcPr>
                </a:tc>
              </a:tr>
              <a:tr h="614476">
                <a:tc>
                  <a:txBody>
                    <a:bodyPr/>
                    <a:lstStyle/>
                    <a:p>
                      <a:r>
                        <a:rPr sz="1700" b="0">
                          <a:solidFill>
                            <a:srgbClr val="1F2937"/>
                          </a:solidFill>
                        </a:rPr>
                        <a:t>Bosilish yo‘lkasi</a:t>
                      </a:r>
                    </a:p>
                  </a:txBody>
                  <a:tcPr marL="73152" marR="73152" marT="36576" marB="36576">
                    <a:solidFill>
                      <a:srgbClr val="FFFFFF"/>
                    </a:solidFill>
                  </a:tcPr>
                </a:tc>
                <a:tc>
                  <a:txBody>
                    <a:bodyPr/>
                    <a:lstStyle/>
                    <a:p>
                      <a:r>
                        <a:rPr sz="1700" b="0">
                          <a:solidFill>
                            <a:srgbClr val="1F2937"/>
                          </a:solidFill>
                        </a:rPr>
                        <a:t>G‘ildirak tomonda 12-14, rels tomonda 7-8 sm</a:t>
                      </a:r>
                    </a:p>
                  </a:txBody>
                  <a:tcPr marL="73152" marR="73152" marT="36576" marB="36576">
                    <a:solidFill>
                      <a:srgbClr val="FFFFFF"/>
                    </a:solidFill>
                  </a:tcPr>
                </a:tc>
              </a:tr>
              <a:tr h="614476">
                <a:tc>
                  <a:txBody>
                    <a:bodyPr/>
                    <a:lstStyle/>
                    <a:p>
                      <a:r>
                        <a:rPr sz="1700" b="0">
                          <a:solidFill>
                            <a:srgbClr val="1F2937"/>
                          </a:solidFill>
                        </a:rPr>
                        <a:t>Shilinish yo‘lkasi</a:t>
                      </a:r>
                    </a:p>
                  </a:txBody>
                  <a:tcPr marL="73152" marR="73152" marT="36576" marB="36576">
                    <a:solidFill>
                      <a:srgbClr val="E8EEF6"/>
                    </a:solidFill>
                  </a:tcPr>
                </a:tc>
                <a:tc>
                  <a:txBody>
                    <a:bodyPr/>
                    <a:lstStyle/>
                    <a:p>
                      <a:r>
                        <a:rPr sz="1700" b="0">
                          <a:solidFill>
                            <a:srgbClr val="1F2937"/>
                          </a:solidFill>
                        </a:rPr>
                        <a:t>Chetlarda, 2-15 sm; g‘ildirak tomonda kengroq</a:t>
                      </a:r>
                    </a:p>
                  </a:txBody>
                  <a:tcPr marL="73152" marR="73152" marT="36576" marB="36576">
                    <a:solidFill>
                      <a:srgbClr val="E8EEF6"/>
                    </a:solidFill>
                  </a:tcPr>
                </a:tc>
              </a:tr>
              <a:tr h="614476">
                <a:tc>
                  <a:txBody>
                    <a:bodyPr/>
                    <a:lstStyle/>
                    <a:p>
                      <a:r>
                        <a:rPr sz="1700" b="0">
                          <a:solidFill>
                            <a:srgbClr val="1F2937"/>
                          </a:solidFill>
                        </a:rPr>
                        <a:t>Engil vagon</a:t>
                      </a:r>
                    </a:p>
                  </a:txBody>
                  <a:tcPr marL="73152" marR="73152" marT="36576" marB="36576">
                    <a:solidFill>
                      <a:srgbClr val="FFFFFF"/>
                    </a:solidFill>
                  </a:tcPr>
                </a:tc>
                <a:tc>
                  <a:txBody>
                    <a:bodyPr/>
                    <a:lstStyle/>
                    <a:p>
                      <a:r>
                        <a:rPr sz="1700" b="0">
                          <a:solidFill>
                            <a:srgbClr val="1F2937"/>
                          </a:solidFill>
                        </a:rPr>
                        <a:t>Terida 2-4 sm, teri ostida 12-14 sm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Yo‘lkalarni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Rels: tananing bo‘linishi va suyak sinishi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Tana g‘ildirak va rels orasida 1 kv. sm ga 5 tonna va undan ortiq kuch bilan siqilib majaqlanadi. G‘ildirak toji qaychisimon ta’sir qilib to‘qimalarni ajratadi, tana bo‘linadi.</a:t>
            </a:r>
          </a:p>
          <a:p>
            <a:pPr>
              <a:spcAft>
                <a:spcPts val="1200"/>
              </a:spcAft>
            </a:pPr>
            <a:r>
              <a:rPr sz="2000">
                <a:solidFill>
                  <a:srgbClr val="1F2937"/>
                </a:solidFill>
                <a:latin typeface="Calibri"/>
              </a:rPr>
              <a:t>▸  Rels tarafida ajralish chetlari nisbatan tekis. G‘ildirak tomonda teri laxtaklari yirik tishsimon bo‘lib, burchaklari transport harakati tomonga qaraydi.</a:t>
            </a:r>
          </a:p>
          <a:p>
            <a:pPr>
              <a:spcAft>
                <a:spcPts val="1200"/>
              </a:spcAft>
            </a:pPr>
            <a:r>
              <a:rPr sz="2000">
                <a:solidFill>
                  <a:srgbClr val="1F2937"/>
                </a:solidFill>
                <a:latin typeface="Calibri"/>
              </a:rPr>
              <a:t>▸  Uzun naysimon suyak sinishining relsdan tashqari chekkasi tekis, relslar oralig‘idagisi egri. Orasida mayda suyak bo‘laklari bo‘ladi.</a:t>
            </a:r>
          </a:p>
          <a:p>
            <a:pPr>
              <a:spcAft>
                <a:spcPts val="1200"/>
              </a:spcAft>
            </a:pPr>
            <a:r>
              <a:rPr sz="2000">
                <a:solidFill>
                  <a:srgbClr val="1F2937"/>
                </a:solidFill>
                <a:latin typeface="Calibri"/>
              </a:rPr>
              <a:t>▸  To‘qimalar majaqlanib tashqariga chiqqani uchun ponasimon defekt hosil bo‘ladi. Bo‘laklar yaqinlashtirilsa, rels tomoni mos tushadi, g‘ildirak tomonida masofa qoladi.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71, 73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Traktor travmasi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Traktor travmasi kam uchraydi, asosan qishloq joylarida; jarohat traktor konstruksiyasiga bog‘liq.</a:t>
            </a:r>
          </a:p>
          <a:p>
            <a:pPr>
              <a:spcAft>
                <a:spcPts val="800"/>
              </a:spcAft>
            </a:pPr>
            <a:r>
              <a:rPr sz="1800">
                <a:solidFill>
                  <a:srgbClr val="1F2937"/>
                </a:solidFill>
                <a:latin typeface="Calibri"/>
              </a:rPr>
              <a:t>▸  Zanjirdagi tishlar kiyim va tanani ilib, traktor tagiga tortadi; tishlarning ta’siri juda katta.</a:t>
            </a:r>
          </a:p>
          <a:p>
            <a:pPr>
              <a:spcAft>
                <a:spcPts val="800"/>
              </a:spcAft>
            </a:pPr>
            <a:r>
              <a:rPr sz="1800">
                <a:solidFill>
                  <a:srgbClr val="1F2937"/>
                </a:solidFill>
                <a:latin typeface="Calibri"/>
              </a:rPr>
              <a:t>▸  Siqilishda tashqi jarohat yaqqol bo‘lmaydi, ichki a’zolar og‘ir shikastlanadi; asfiksiyadan o‘lim mumkin.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455420"/>
                <a:gridCol w="2043817"/>
                <a:gridCol w="1788737"/>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G‘ildirakli</a:t>
                      </a:r>
                    </a:p>
                  </a:txBody>
                  <a:tcPr marL="73152" marR="73152" marT="36576" marB="36576">
                    <a:solidFill>
                      <a:srgbClr val="0B1F3A"/>
                    </a:solidFill>
                  </a:tcPr>
                </a:tc>
                <a:tc>
                  <a:txBody>
                    <a:bodyPr/>
                    <a:lstStyle/>
                    <a:p>
                      <a:r>
                        <a:rPr sz="1600" b="1">
                          <a:solidFill>
                            <a:srgbClr val="FFFFFF"/>
                          </a:solidFill>
                        </a:rPr>
                        <a:t>O‘rmalovchi</a:t>
                      </a:r>
                    </a:p>
                  </a:txBody>
                  <a:tcPr marL="73152" marR="73152" marT="36576" marB="36576">
                    <a:solidFill>
                      <a:srgbClr val="0B1F3A"/>
                    </a:solidFill>
                  </a:tcPr>
                </a:tc>
              </a:tr>
              <a:tr h="768096">
                <a:tc>
                  <a:txBody>
                    <a:bodyPr/>
                    <a:lstStyle/>
                    <a:p>
                      <a:r>
                        <a:rPr sz="1500" b="0">
                          <a:solidFill>
                            <a:srgbClr val="1F2937"/>
                          </a:solidFill>
                        </a:rPr>
                        <a:t>To‘qnashuv</a:t>
                      </a:r>
                    </a:p>
                  </a:txBody>
                  <a:tcPr marL="73152" marR="73152" marT="36576" marB="36576">
                    <a:solidFill>
                      <a:srgbClr val="E8EEF6"/>
                    </a:solidFill>
                  </a:tcPr>
                </a:tc>
                <a:tc>
                  <a:txBody>
                    <a:bodyPr/>
                    <a:lstStyle/>
                    <a:p>
                      <a:r>
                        <a:rPr sz="1500" b="0">
                          <a:solidFill>
                            <a:srgbClr val="1F2937"/>
                          </a:solidFill>
                        </a:rPr>
                        <a:t>2-faza kuzatilmaydi</a:t>
                      </a:r>
                    </a:p>
                  </a:txBody>
                  <a:tcPr marL="73152" marR="73152" marT="36576" marB="36576">
                    <a:solidFill>
                      <a:srgbClr val="E8EEF6"/>
                    </a:solidFill>
                  </a:tcPr>
                </a:tc>
                <a:tc>
                  <a:txBody>
                    <a:bodyPr/>
                    <a:lstStyle/>
                    <a:p>
                      <a:r>
                        <a:rPr sz="1500" b="0">
                          <a:solidFill>
                            <a:srgbClr val="1F2937"/>
                          </a:solidFill>
                        </a:rPr>
                        <a:t>4-faza bo‘lmaydi</a:t>
                      </a:r>
                    </a:p>
                  </a:txBody>
                  <a:tcPr marL="73152" marR="73152" marT="36576" marB="36576">
                    <a:solidFill>
                      <a:srgbClr val="E8EEF6"/>
                    </a:solidFill>
                  </a:tcPr>
                </a:tc>
              </a:tr>
              <a:tr h="768096">
                <a:tc>
                  <a:txBody>
                    <a:bodyPr/>
                    <a:lstStyle/>
                    <a:p>
                      <a:r>
                        <a:rPr sz="1500" b="0">
                          <a:solidFill>
                            <a:srgbClr val="1F2937"/>
                          </a:solidFill>
                        </a:rPr>
                        <a:t>Bosib o‘tish</a:t>
                      </a:r>
                    </a:p>
                  </a:txBody>
                  <a:tcPr marL="73152" marR="73152" marT="36576" marB="36576">
                    <a:solidFill>
                      <a:srgbClr val="FFFFFF"/>
                    </a:solidFill>
                  </a:tcPr>
                </a:tc>
                <a:tc>
                  <a:txBody>
                    <a:bodyPr/>
                    <a:lstStyle/>
                    <a:p>
                      <a:r>
                        <a:rPr sz="1500" b="0">
                          <a:solidFill>
                            <a:srgbClr val="1F2937"/>
                          </a:solidFill>
                        </a:rPr>
                        <a:t>Massa va g‘ildirak o‘lchami muhim</a:t>
                      </a:r>
                    </a:p>
                  </a:txBody>
                  <a:tcPr marL="73152" marR="73152" marT="36576" marB="36576">
                    <a:solidFill>
                      <a:srgbClr val="FFFFFF"/>
                    </a:solidFill>
                  </a:tcPr>
                </a:tc>
                <a:tc>
                  <a:txBody>
                    <a:bodyPr/>
                    <a:lstStyle/>
                    <a:p>
                      <a:r>
                        <a:rPr sz="1500" b="0">
                          <a:solidFill>
                            <a:srgbClr val="1F2937"/>
                          </a:solidFill>
                        </a:rPr>
                        <a:t>2-faza bo‘lmaydi</a:t>
                      </a:r>
                    </a:p>
                  </a:txBody>
                  <a:tcPr marL="73152" marR="73152" marT="36576" marB="36576">
                    <a:solidFill>
                      <a:srgbClr val="FFFFFF"/>
                    </a:solidFill>
                  </a:tcPr>
                </a:tc>
              </a:tr>
              <a:tr h="768096">
                <a:tc>
                  <a:txBody>
                    <a:bodyPr/>
                    <a:lstStyle/>
                    <a:p>
                      <a:r>
                        <a:rPr sz="1500" b="0">
                          <a:solidFill>
                            <a:srgbClr val="1F2937"/>
                          </a:solidFill>
                        </a:rPr>
                        <a:t>Izlar</a:t>
                      </a:r>
                    </a:p>
                  </a:txBody>
                  <a:tcPr marL="73152" marR="73152" marT="36576" marB="36576">
                    <a:solidFill>
                      <a:srgbClr val="E8EEF6"/>
                    </a:solidFill>
                  </a:tcPr>
                </a:tc>
                <a:tc>
                  <a:txBody>
                    <a:bodyPr/>
                    <a:lstStyle/>
                    <a:p>
                      <a:r>
                        <a:rPr sz="1500" b="0">
                          <a:solidFill>
                            <a:srgbClr val="1F2937"/>
                          </a:solidFill>
                        </a:rPr>
                        <a:t>Protektor izi avtomobildan farq qiladi</a:t>
                      </a:r>
                    </a:p>
                  </a:txBody>
                  <a:tcPr marL="73152" marR="73152" marT="36576" marB="36576">
                    <a:solidFill>
                      <a:srgbClr val="E8EEF6"/>
                    </a:solidFill>
                  </a:tcPr>
                </a:tc>
                <a:tc>
                  <a:txBody>
                    <a:bodyPr/>
                    <a:lstStyle/>
                    <a:p>
                      <a:r>
                        <a:rPr sz="1500" b="0">
                          <a:solidFill>
                            <a:srgbClr val="1F2937"/>
                          </a:solidFill>
                        </a:rPr>
                        <a:t>Kiyimda zanjir traklariga mos iz</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G‘ildirakli va o‘rmalovchi traktor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74, 74-75, 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Aviatravma: turlari va shikastlovchi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Aviatravma — uchuvchi apparat bilan bog‘liq ekipaj, yo‘lovchi va boshqa shaxslar jarohatlari majmui.</a:t>
            </a:r>
          </a:p>
          <a:p>
            <a:pPr>
              <a:spcAft>
                <a:spcPts val="800"/>
              </a:spcAft>
            </a:pPr>
            <a:r>
              <a:rPr sz="1800">
                <a:solidFill>
                  <a:srgbClr val="1F2937"/>
                </a:solidFill>
                <a:latin typeface="Calibri"/>
              </a:rPr>
              <a:t>▸  Omillar: dinamik va zarb o‘ta kuch, qarama-qarshi havo oqimi, portlash va balandlik dekompressiyasi.</a:t>
            </a:r>
          </a:p>
          <a:p>
            <a:pPr>
              <a:spcAft>
                <a:spcPts val="800"/>
              </a:spcAft>
            </a:pPr>
            <a:r>
              <a:rPr sz="1800">
                <a:solidFill>
                  <a:srgbClr val="1F2937"/>
                </a:solidFill>
                <a:latin typeface="Calibri"/>
              </a:rPr>
              <a:t>▸  8 km dan baland: germetizatsiya buzilsa portlash dekompressiyasi; 19 km dan baland: balandlik emfizemasi.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Parvoz vaqtida apparat ichida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Parvozda apparatni tark etish</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Erga urilishda shikastlanish</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Erda apparatdan shikastlanish</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Aviatravmaning to‘rt turi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75, 76, 77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Aviatravma: portlash, termik va toksik ta’sir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Erga urilganda yonilg‘i baklari portlashi mumkin; portlash to‘lqini tanani emiradi, bo‘laklar 500 m gacha radiusda sochiladi.</a:t>
            </a:r>
          </a:p>
          <a:p>
            <a:pPr>
              <a:spcAft>
                <a:spcPts val="1200"/>
              </a:spcAft>
            </a:pPr>
            <a:r>
              <a:rPr sz="2200">
                <a:solidFill>
                  <a:srgbClr val="1F2937"/>
                </a:solidFill>
                <a:latin typeface="Calibri"/>
              </a:rPr>
              <a:t>▸  Yong‘inda kiyim alangalanadi, tana kuyadi, ba’zan ko‘mirlanadi. Baklar fyuzelaj o‘rtasida bo‘lgani uchun yo‘lovchilarda termik jarohat ko‘proq.</a:t>
            </a:r>
          </a:p>
          <a:p>
            <a:pPr>
              <a:spcAft>
                <a:spcPts val="1200"/>
              </a:spcAft>
            </a:pPr>
            <a:r>
              <a:rPr sz="2200">
                <a:solidFill>
                  <a:srgbClr val="1F2937"/>
                </a:solidFill>
                <a:latin typeface="Calibri"/>
              </a:rPr>
              <a:t>▸  Bo‘yoq va polimer materiallar yonganda is gazi, formaldegid, vinilxlorid hosil bo‘ladi. Dvigatel gazlari va yonilg‘i bugi ham zaharlaydi.</a:t>
            </a:r>
          </a:p>
          <a:p>
            <a:pPr>
              <a:spcAft>
                <a:spcPts val="1200"/>
              </a:spcAft>
            </a:pPr>
            <a:r>
              <a:rPr sz="2200">
                <a:solidFill>
                  <a:srgbClr val="1F2937"/>
                </a:solidFill>
                <a:latin typeface="Calibri"/>
              </a:rPr>
              <a:t>▸  Qanot chekkasi, vint parraklari (chopmaga o‘xshash jarohat), reaktiv dvigatel gazi (500-600 gradus) jarohatlaydi. Uchuvchi murdasi puxta tekshiriladi.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77, 78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rels va aviatravma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 temir yo‘l yonidagi jabrlanganning g‘ildirakka qaragan tomonida “T” shaklidagi shilinma bor. Kiyimida moy va ko‘mir zarralari aniqlangan.</a:t>
            </a:r>
          </a:p>
          <a:p>
            <a:pPr>
              <a:spcAft>
                <a:spcPts val="1200"/>
              </a:spcAft>
            </a:pPr>
            <a:r>
              <a:rPr sz="2200">
                <a:solidFill>
                  <a:srgbClr val="1F2937"/>
                </a:solidFill>
                <a:latin typeface="Calibri"/>
              </a:rPr>
              <a:t>▸  Bu belgilar rels travmasiga xos. Tanadagi bosilish yo‘lkasi dastlab yumshoq, oqimtir bo‘ladi, quriganda dag‘al, to‘q-qo‘ng‘ir tusga kiradi.</a:t>
            </a:r>
          </a:p>
          <a:p>
            <a:pPr>
              <a:spcAft>
                <a:spcPts val="1200"/>
              </a:spcAft>
            </a:pPr>
            <a:r>
              <a:rPr sz="2200">
                <a:solidFill>
                  <a:srgbClr val="1F2937"/>
                </a:solidFill>
                <a:latin typeface="Calibri"/>
              </a:rPr>
              <a:t>▸  Vaziyat 2: samolyot halokati murdasida nog‘ora parda yorilgan, o‘rta va ichki quloq bo‘shliqlarida qon quyilishlar bor.</a:t>
            </a:r>
          </a:p>
          <a:p>
            <a:pPr>
              <a:spcAft>
                <a:spcPts val="1200"/>
              </a:spcAft>
            </a:pPr>
            <a:r>
              <a:rPr sz="2200">
                <a:solidFill>
                  <a:srgbClr val="1F2937"/>
                </a:solidFill>
                <a:latin typeface="Calibri"/>
              </a:rPr>
              <a:t>▸  Savol: ikkinchi holatda falokat sababi nima? Javob: bu belgilar kabina germetizatsiyasining buzilishidan, ya’ni portlash dekompressiyasidan dalolat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72-73, 77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Transport travmasi — harakatdagi transport vositasining qismlaridan va undan yiqilishdan olingan jarohatlar majmui. Ekspertizalarning 90%dan ortig‘ini avtotravma tashkil etadi.</a:t>
            </a:r>
          </a:p>
          <a:p>
            <a:pPr>
              <a:spcAft>
                <a:spcPts val="1200"/>
              </a:spcAft>
            </a:pPr>
            <a:r>
              <a:rPr sz="2000">
                <a:solidFill>
                  <a:srgbClr val="1F2937"/>
                </a:solidFill>
                <a:latin typeface="Calibri"/>
              </a:rPr>
              <a:t>▸  Vrach jarohatni to‘liq tavsiflaydi. Kiyim-poyafzalni ehtiyotkorlik bilan echib, kerak bo‘lsa quritadi, qog‘ozga o‘rab huquqni muhofaza idoralariga topshiradi.</a:t>
            </a:r>
          </a:p>
          <a:p>
            <a:pPr>
              <a:spcAft>
                <a:spcPts val="1200"/>
              </a:spcAft>
            </a:pPr>
            <a:r>
              <a:rPr sz="2000">
                <a:solidFill>
                  <a:srgbClr val="1F2937"/>
                </a:solidFill>
                <a:latin typeface="Calibri"/>
              </a:rPr>
              <a:t>▸  Ekspert travma turi, mexanizmi va jabrlanganning holatini aniqlaydi. Ekspertiza materiallari tahlili travmatizmni kamaytirish bo‘yicha tavsiyalar beradi.</a:t>
            </a:r>
          </a:p>
          <a:p>
            <a:pPr>
              <a:spcAft>
                <a:spcPts val="1200"/>
              </a:spcAft>
            </a:pPr>
            <a:r>
              <a:rPr sz="2000">
                <a:solidFill>
                  <a:srgbClr val="1F2937"/>
                </a:solidFill>
                <a:latin typeface="Calibri"/>
              </a:rPr>
              <a:t>▸  Nazorat: bamper-jarohatlar turlari, rels travmasida bosilish va shilinish yo‘lkalarining hosil bo‘lishi, aviatravmadagi shikastlovchi omillar.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57, 57-58, 58, 69, 78-79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Fakt: Jahon sog‘liqni saqlash tashkilotiga ko‘ra, yo‘l-transport hodisalarida har yili 1,2 milliondan ziyod kishi halok bo‘ladi, 50 milliondan ortiq kishi jarohat oladi. Sud-tibbiy ma’lumotlarda mexanik jarohatdan o‘lim holatlarining 60-65 %i transport travmasiga to‘g‘ri keladi.</a:t>
            </a:r>
          </a:p>
          <a:p>
            <a:pPr>
              <a:spcAft>
                <a:spcPts val="1200"/>
              </a:spcAft>
            </a:pPr>
            <a:r>
              <a:rPr sz="1800">
                <a:solidFill>
                  <a:srgbClr val="1F2937"/>
                </a:solidFill>
                <a:latin typeface="Calibri"/>
              </a:rPr>
              <a:t>▸  Eslab qolish usuli: piyoda avtomobil bilan to‘qnashganda to‘rt fazani «Zarb – Yiqilish – Uloqtirilish – Sirpanish» tartibida eslang. Yuk avtomobili yoki yon qism bilan to‘qnashuvda 2-faza bo‘lmaydi. Tezlik past bo‘lsa, 4-faza bo‘lmasligi mumkin.</a:t>
            </a:r>
          </a:p>
          <a:p>
            <a:pPr>
              <a:spcAft>
                <a:spcPts val="1200"/>
              </a:spcAft>
            </a:pPr>
            <a:r>
              <a:rPr sz="1800">
                <a:solidFill>
                  <a:srgbClr val="1F2937"/>
                </a:solidFill>
                <a:latin typeface="Calibri"/>
              </a:rPr>
              <a:t>▸  Hodisa tahlili: relsda tana qismlarga ajralgan. Teri g‘ildirakka qaragan, relslar oralig‘i tomonda «T» shaklidagi shilinma («chimchi» belgisi) bo‘lsa, bu g‘ildirak tanaga chiqqan sohani ko‘rsatadi. Bu belgi rels travmasi va tananing holatini aniqlashga yordam beradi.</a:t>
            </a:r>
          </a:p>
          <a:p>
            <a:pPr>
              <a:spcAft>
                <a:spcPts val="1200"/>
              </a:spcAft>
            </a:pPr>
            <a:r>
              <a:rPr sz="1800">
                <a:solidFill>
                  <a:srgbClr val="1F2937"/>
                </a:solidFill>
                <a:latin typeface="Calibri"/>
              </a:rPr>
              <a:t>▸  Fakt: tana g‘ildirak va rels orasida qolganda 1 kv. sm ga 5 tonna va undan ortiq kuch ta’sir qiladi. Shu sababli to‘qimalar majaqlanadi, g‘ildirak toji esa ularni qaychi kabi ajratadi. Natijada tana qismlarga bo‘linishi mumkin.</a:t>
            </a:r>
          </a:p>
          <a:p>
            <a:pPr>
              <a:spcAft>
                <a:spcPts val="1200"/>
              </a:spcAft>
            </a:pPr>
            <a:r>
              <a:rPr sz="1800">
                <a:solidFill>
                  <a:srgbClr val="1F2937"/>
                </a:solidFill>
                <a:latin typeface="Calibri"/>
              </a:rPr>
              <a:t>▸  Fakt: aviatravmada tezlik 800 km/soat va undan katta bo‘lsa, qarama-qarshi havo oqimi qattiq jism kabi ta’sir qiladi. Og‘iz burchaklari yoriladi, yuz yumshoq to‘qimalari suyakdan ajraladi, kiyim va poyafzal tanadan yirtilib ketishi mumkin.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Mexanik jarohatlar. Transport travmasi.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3. Transport travmasi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