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zaharlanish zo‘raki o‘lim tarkibida uchinchi o‘rinda turadi deb o‘ylaysiz? 2) Tirik shaxslar ekspertizasida zaharlanish qanday uchrashi mumkin? Doskada: zo‘raki o‘lim sabablarini 1-2-3 tartibda yozdiring (jarohat, asfiksiya, zaharlanish). Tipik xato: zaharlanishni zo‘raki o‘limning eng ko‘p uchraydigan turi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Dori qachon zaharga aylanadi? 2) Nega ‘mutlaq zahar yo‘q’ deyiladi? Doskada: ‘modda → doza → ta’sir’ zanjirini chizdiring. Tipik xato: zahar va zaharlanish tushunchalarini aralashtirish, zaharni doza hisobga olinmagan mutlaq xususiyat deb qarash.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Klinik toksikolog va sud-tibbiy ekspert vazifalari qanday farqlanadi? 2) Ekspertga huquqni muhofaza idoralari qanday savollar beradi? Doskada: ikki ustunli jadval chizdiring (boshqa turlar va sud-tibbiy). Tipik xato: sud-tibbiy toksikologiyaning vazifasini davolash va oldini olish deb ko‘rsatish.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amaliyotda baxtsiz hodisalar eng ko‘p uchraydi? 2) Qasddan va tasodifiy zaharlanishni nima ajratadi? Doskada chizing: uchta tarmoqli sxema (qotillik, o‘z-o‘zini o‘ldirish, baxtsiz hodisa) va ularni uchrash tartibida raqamlang. Tipik xato: qotillikni eng ko‘p uchraydigan tur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Dozadagi xato va dorini almashtirib yuborish nima bilan o‘xshash va nima bilan farqlanadi? 2) Shifokor bunday holatda nimaga e’tibor berishi kerak? Doskada chizing: ikki ustunli ‘qasddan’ va ‘tasodifan’ jadvali, har biriga turlarni joylang. Tipik xato: yatrogen zaharlanishni qasddan qilingan harakat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Nima uchun bolalar kattalarga nisbatan sezgirroq? 2) Yog‘da eriydigan modda qaysi yo‘llar bilan o‘tishi mumkin? Doskada chizing: markazda ‘zaharlanish’, atrofida to‘rt omil bilan strelkali sxema. Tipik xato: tashqi sharoitni barcha zaharlar uchun muhim deb o‘ylash, aslida u faqat ayrim moddalarda ahamiyatli.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gaz suyuqlikdan tezroq ta’sir qiladi? 2) Doza va konsentratsiya bir narsami? Doskada chizish: zaharli modda omillarining 5 shoxli sxemasi (tuzilish, doza, agregat holat, eruvchanlik, barqarorlik). Tipik xato: talaba ‘o‘xshash kimyoviy tarkib = o‘xshash toksiklik’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bir xil zahar turli ichimlikda turlicha ta’sir qiladi? 2) Kumulyatsiya surunkali zaharlanishda nimaga olib keladi? Doskada chizish: ‘modda → vexikulum → ta’sir’ zanjiri. Tipik xato: margimush va sianidning muhitga munosabatini aralashtirish (margimush — ishqoriyda kuchayadi, sianid — kislotalida).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Eruvchanlik nima uchun toksiklikni belgilaydi? 2) Fenolning konsentrlangan va suyultirilgan eritmasi nimasi bilan farq qiladi? Doskada chizish: ikki ustunli ‘erimaydi / eriydi’ jadvali (bariy sulfat va bariy xlorid). Tipik xato: bariyning har qanday tuzi zaharli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bolalarda zaharning bir xil dozasi xavfliroq? 2) Oshqozon to‘la va bo‘sh bo‘lganda zaharning so‘rilishi qanday farqlanadi? Doskaga chizish: 4 ta omil (vazn, jins/yosh, salomatlik, oshqozon massasi) bilan «organizm omillari» sxemasi. Tipik xato: jins bo‘yicha toksik ta’sirda farq bor deb o‘ylash; manbada farq yo‘q, faqat homiladorlik kabi davrlarda sezgirlik ortadi.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Tolerantlik va bog‘liqlik qanday bog‘lanadi? 2) Nega abstinensiya sindromi narkomaniya va toksikomaniyada muhim? Doskaga chizish: «takroriy qabul → tolerantlik → doza oshishi → bog‘liqlik → abstinensiya» zanjiri. Tipik xato: idiosinkraziyani oddiy allergiya yoki tolerantlik bilan almashtirish. Manbada idiosinkraziya genetik o‘ta sezgirlik sifatida beriladi.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to‘g‘ri ichak orqali kirgan zahar kuchliroq ta’sir qilishi mumkin? 2) Qaysi tashqi sharoit is gazi va alkogol ta’sirini oshiradi? Doskaga chizish: kirish yo‘llari → qon → jigardan o‘tish / o‘tmaslik sxemasi. Tipik xato: barcha so‘rilish yo‘llarini bir xil deb hisoblash. Manbaga ko‘ra jigardan o‘tmagan moddalar kuchliroq ta’sir qiladi.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savollari: 1) Nega vodorod sulfid aynan quduq va o‘ralarda to‘planadi? 2) Hodisa joyidagi havo tarkibini o‘rganish nima uchun muhim? Doskada chizish: yopiq muhit omillari (harorat, namlik, shamollatish) va ularga mos zaharlar ro‘yxati. Tipik xato: yopiq muhit hamma zaharga bir xil ta’sir qiladi deb o‘ylash. Manbada bu omillar faqat ayrim moddalar uchun ahamiyatli deyilgan (135-bet). Javob tayanchi: vodorod sulfid zaharlanishida murdada tuxum hidi va olcha rang-qizil qon (155-bet).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savollari: 1) Nega funksional zaharlarda tibbiy hujjatlar muhim dalil bo‘ladi? 2) Laboratoriya natijasi nima uchun boshqa ma’lumotlar bilan birga baholanadi? Doskada chizish: uch bosqichli zanjir va har bosqichga 2 ta misol dalil. Tipik xato: faqat murda tekshiruviga tayanish. Manbada ko‘p zaharlanishda xos o‘zgarish bo‘lmasligi aytilgan (136-bet). Qo‘shimcha: zahar ma’lum bo‘lsa, “uch nuqta” qoidasi bo‘yicha namuna olinadi: zahar kirgan, ta’sir etgan va chiqqan joydan (136-bet).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Nega namuna uch joydan olinadi? 2) Manba noma’lum bo‘lsa, nega ko‘p a’zo olinadi? Doskada: ‘kirdi – ta’sir etdi – chiqdi’ uch nuqtasini chizib, har biriga a’zo yozdiring. Eslab qoling: uch nuqta = kirgan + ta’sir etgan + chiqqan joy. Tipik xato: qonni boshqa suyuqliklar bilan bir idishga solish yoki ‘o‘rta sinama’ni har qanday holatda olish. Aslida u faqat chuqur chirishda olinadi.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Zahar qanchalik tez qonga o‘tsa, toksik ta’sir qanday o‘zgaradi? 2) Etil spirti misolida miqdoriy o‘zgarishni tushuntiring. Doskada: diagrammadagi to‘rt bosqichni chizib, har biriga bittadan misol yozdiring. Diqqat: toksikokinetika (zahar bilan nima bo‘ladi) ≠ toksikodinamika (organizm zaharga qanday javob beradi). Tipik xato: bu ikki tushunchani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Nega metanol va etilenglikol zaharlanishida metabolitlar muhim? 2) Zahar eruvchanligi uning to‘planish joyi va chiqarilish yo‘lini qanday belgilaydi? Doskada: ‘eruvchanlik → to‘planish → chiqarilish’ jadvalini (yog‘da / suvda eruvchi) chizdiring. Tipik xato: biotransformatsiya har doim zaharni zararsizlantiradi deb o‘ylash. Aslida metanol va etilenglikolda toksiklik kuchayadi.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bir moddaning dastlabki va kech ta’siri har xil bo‘ladi? 2) Metabolit nima uchun muhim? Doskada chizish: sirka kislotasi uchun uch bosqichli zanjir (birlamchi → keyingi → metatoksik). Tipik xato: toksikokinetika va toksikodinamikani aralashtirish; kech asoratni zaharning birlamchi ta’siri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Talabalar 2 daqiqa mustaqil javob yozadi, keyin muhokama. Muhokama: 1) Yashirin davr nimani bildiradi? 2) Sud-kimyoviy tekshiruvda metanolni qancha vaqt aniqlash mumkin (3-5 kun, 161-bet)? Doskada chizish: metil spirti → formaldegid (→ chumoli kislotasi) sxemasi. Tipik xato: metanolning o‘zi kuchli zahar deb o‘ylash; aslida kuchli toksik ta’sirni asosan metabolitlar ko‘rsatadi.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Destruktiv va funksional zaharlarning morfologik farqi nimada? 2) Is gazi qaysi guruhga kiradi va nega? Doskada chizish: tasnif daraxti (zaharlar → mahalliy / umumiy → destruktiv, gemotrop, funksional). Tipik xato: sirka kislotasini faqat mahalliy zahar deb hisoblash, uning gemolitik rezorbtiv ta’sirini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kislota ta’sirida nekroz quruq bo‘ladi? 2) Erta va kech o‘lim sabablari qanday farqlanadi? Doskada chizing: vodorod ionlari → suvsizlanish → oqsil ivishi → quruq nekroz → strup. Tipik xato: kislota nekrozini ishqor nekrozi (suyuqlanish)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xlorid va sirka kislotasida hiqildoq shishi ko‘proq? 2) Nitrat kislotada rang nimaga bog‘liq? Doskada jadvalni chizing va talabalar to‘ldirsin. Tipik xato: sulfat kislotasining perforatsiya xavfini sirka kislotasining gemolitik ta’siri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Kolliqvatsion va koagulyatsion nekroz qanday farqlanadi? 2) Nega alkogol mastligida nashatir spirti ichish xavfli? Doskada ikki ustunli taqqoslash chizing: kislota va ishqor nekrozi. Tipik xato: ammoniy gidroksidning mahalliy ta’sirini kaliy va natriy gidroksidlari kabi kuchli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Formalin bilan zaharlanishda shilliq qavat nega o‘zgarishsiz ko‘rinadi? 2) Vodorod peroksidni boshqa o‘yuvchilardan qaysi belgi ajratadi? Doskada: to‘rt modda — murdadagi asosiy belgi jadvalini chizdiring. Tipik xato: formalinda shilliq qavat o‘zgarishsizligini ‘zaharlanish yo‘q’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Javob: ishqor (yumshoq, oson yirtiladigan oshqozon devori, kulrang-yashil rang). Muhokama: 1) Kislota va ishqor nekrozi nimasi bilan farq qiladi? 2) Ammiak hidi qaysi modda haqida darak beradi? Doskada: kislota va ishqorni ikki ustunda solishtiring. Tipik xato: ikkala guruhda ham og‘iz atrofida oqma bor, shuning uchun ularni farqlab bo‘lmaydi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Simob murdada o‘n yillardan keyin ham aniqlanishining sud-tibbiy ahamiyati nimada? 2) Organik simobda nega ensefalopatiya yaqqol bo‘ladi? Doskada: sulema ta’sirida ichak va buyrak o‘zgarishlari zanjirini chizdiring. Tipik xato: sof metall simob og‘iz orqali kuchli zaharlaydi deb o‘ylash; u erimagani uchun zaharlamaydi, bug‘i esa xavfli.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Qo‘rg‘oshin va simob zaharlanishining farqi nimada? 2) Mishyakning oshqozon-ichak va paralitik turi qaysi kirish yo‘liga bog‘liq? Doskada: ikki ustunli jadval chizing (qo‘rg‘oshin va simob: ichak-buyrak va nerv tizimi shikasti). Tipik xato: talliyni mishyak bilan, qo‘rg‘oshin klinikasini simob klinikasi bilan aralashtirish. Diqqat: simobda ichak-buyrak shikasti kuchli, qo‘rg‘oshinda nerv tizimi shikasti kuchli.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tez o‘lganda yoki o‘limdan oldin toza havoda bo‘lganda karboksigemoglobin past chiqishi mumkin? 2) Dastlabki sinamalarning afzalligi nima? Doskada: mexanizm zanjirini chizing (is gazi, karboksigemoglobin, gipoksiya). Qo‘shimcha: tasdiq uchun miqdoriy spektrofotometrik tekshiruv kerak, qon namunasi imkon qadar erta olinadi. Tipik xato: pushti murda dog‘larini faqat sianid bilan bog‘lash (sianidda olcha rang).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nitratlar nitritlardan kuchsizroq ta’sir qiladi? 2) Nega 1–2 kundan keyin qonda metgemoglobin topilmasligi mumkin va bu diagnostikaga qanday ta’sir qiladi? Doskada: dastlabki kun va keyingi kunlardagi o‘lim sabablari zanjirini chizing. Qo‘shimcha: diagnostikada metgemoglobinning sifat va miqdori spektrofotometrik yoki gaz-xromatografik usulda aniqlanadi. Tipik xato: metgemoglobinni karboksigemoglobin bilan adashtirish (rangi qo‘ng‘ir, is gazida pushti). Nitrobenzolda achchiq bodom hidi sianiddan uzoqroq saqlanishini eslatib o‘ting.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Qonda karboksigemoglobin manfiy bo‘lsa, qaysi boshqa ma’lumotlarga tayanasiz (voqea tafsiloti, murda ko‘rinishi, gistologiya)? 2) Namunani nega erta olish kerak? Doskada chizish: ‘o‘lim sur’ati va toza havo → karboksigemoglobin miqdori’ strelkali sxemasi. Tipik xato: manfiy natijani zaharlanishni inkor etuvchi mutlaq dalil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Sianid va vodorod sulfidning ta’sir mexanizmi qanday o‘xshaydi? 2) Fosfororganik birikmalarda o‘lim kech bo‘lsa, nega toksikologik tekshiruvda zahar topilmasligi mumkin (xolinesteraza aktivligi pastligi saqlanadi)? Doskada chizish: hujayra nafas zanjiri va sitoxromoksidaza blokadasi. Tipik xato: achchiq bodom hidi uchuvchan, tez yo‘qolishi mumkin; nitrobenzolda esa uzoqroq saqlanadi.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oshqozon to‘la bo‘lsa, spirt so‘rilishi kechikadi? 2) Vidmark konstantasi qaysi holatlarda o‘zgaradi (eliminatsiya boshi, jismoniy yuklama, uyqu)? Doskada chizish: qon spirti konsentratsiyasi egri chizig‘i (rezorbsiya va eliminatsiya davrlari). Tipik xato: P ni doimiy son deb olish; imkon bo‘lsa har bir holat uchun alohida aniqlanadi. Murdadan olingan qonda 5,0 promille va undan ko‘p spirt o‘tkir zaharlanishdan o‘lim sababi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tirik shaxsdan namuna imkon qadar erta olinadi? 2) Qon va siydik nisbati ichimlik vaqti haqida nima deydi? Doskada: Rappoport sinamasi rang o‘zgarishini va Vidmark–Balyakin formulasini chizdiring (A – 100 gradusli spirt miqdori, R – tana vazni kg, r – reduksiya omili, Ct – qondagi spirt, P – Vidmark konstantasi, T – soat). Qo‘shimcha: qonda 0,5–1,5 promille yengil, 1,5–2,5 o‘rta, 2,5–3,0 kuchli mastlik; 3,0 dan yuqori zaharlanish (160-bet). Tipik xato: sinama musbat bo‘lsa, uni qat’iy dalil deb olish; u faqat dastlabki sinama.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Nega metanol etil spirtidan xavfliroq? 2) Surrogat nima va qaysi moddalar kiradi? Doskada: metanol → formaldegid + chumoli kislotasi, etilenglikol → oksalat kislotasi zanjirini chizdiring. Diqqat: metanol ≠ etil spirti — metanol sekinroq oksidlanadi, sud-kimyoda 3–5 kun aniqlanadi; etilenglikol 3–6 kun, tetraetilqo‘rg‘oshin 3 oygacha (161–163-betlar). MNT – markaziy nerv tizimi. Eslatma: ko‘rish buzilishi haqidagi gap manbada etil spirti deb yozilgan, ma’nosi bo‘yicha metanolga tegishli (matn xatosi). Tipik xato: surrogatlarni bir xil klinika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12 daq. Muhokama: 1) Strixnin va atropin klinikasi qanday farqlanadi (qorachiq, hush, talvasa)? 2) Nega bu zaharlarda murdada xos o‘zgarish kam bo‘lib, sud-kimyo hal qiluvchi? Doskada: atropin va pilokarpinda qorachiq holatini (kengaygan/torayagan) qarama-qarshi chizdiring. Qo‘shimcha: strixnin barqaror, murdada oylab saqlanadi; atropin ham bir necha oy; murdada mushak qotishi tez va kuchli rivojlanadi (165–166-betlar). Tipik xato: pilokarpin va atropinni bir xil ta’sirli deb adashtirish; klofelin dozasini bolalar uchun ham kattalardagidek deb olish (bolada 0,004 g va kam).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funksional zaharlarda laboratoriya tekshiruvi hal qiluvchi? 2) Mushak qotishi tezligi qaysi zaharlarni farqlashga yordam beradi? Doskada chizing: ikki ustunli jadval — mushak qotishi tez/kuchli va sust/kuchsiz zaharlar. Tipik xato: morfologik o‘zgarish yo‘q bo‘lsa zaharlanishni inkor etish.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DRD tushunchasiga qaysi o‘lim turlari kiradi? 2) Murda belgilarining 4 guruhi (spetsifik, qayta in’eksiya, infeksion, turmush tarzi) nega yakka o‘zi qat’iy xulosa bermaydi? Qo‘shimcha: prekursorlar (masalan, xlorid va sulfat kislotalari, kaliy permanganat, atseton) narkotik tayyorlashda ishlatiladi, ro‘yxati tasdiqlanadi. Doskada chizing: 4 guruhli murda belgilari sxemasi. Tipik xato: in’eksiya izlari yoki ozginlikka qarab iste’molni qat’iy tasdiqlash.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Toksikoinfeksiya va intoksikatsiya farqi nima? 2) Nega qo‘shimchali mahsulotdan zaharlanishda epidemiologik tekshiruv ham kerak? Doskada chizing: ovqatdan zaharlanish tasnifi (bakterial va nobakterial) daraxti. Tipik xato: tashqaridan zahar qo‘shilgan ovqatni ovqatdan zaharlanishga kiritish.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daqiqa. Muhokama: 1) Zahar topilsa, har doim zaharlanish bo‘lganmi? 2) Zahar topilmasa, zaharlanishni inkor etish mumkinmi? Doskada: ikki ustunli ro‘yxat chizdiring (soxta musbat sabablari va soxta manfiy sabablari). Diqqat: xato qilish xavfi — laboratoriya natijasini yolg‘iz o‘zi hal qiluvchi deb bo‘lmaydi, u boshqa ma’lumotlar bilan baholanadi. Tipik xato: talabalar namunani kech olishning oqibatini hisobga olmaydi.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Amaliy mashg’ulot: Sud-tibbiy toksikologiya.</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sud-tibbiy toksikologiya va mashg‘ulot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omillar ta’sirida sog‘liqning buzilishi va o‘lim holatlari murda hamda tirik shaxslar ekspertizasida nisbatan keng uchraydi.</a:t>
            </a:r>
          </a:p>
          <a:p>
            <a:pPr>
              <a:spcAft>
                <a:spcPts val="1200"/>
              </a:spcAft>
            </a:pPr>
            <a:r>
              <a:rPr sz="2200">
                <a:solidFill>
                  <a:srgbClr val="1F2937"/>
                </a:solidFill>
                <a:latin typeface="Calibri"/>
              </a:rPr>
              <a:t>▸  Zo‘raki o‘lim tarkibida zaharlanishlar mexanik jarohatlar va mexanik asfiksiyadan keyin uchinchi o‘rinni egallaydi.</a:t>
            </a:r>
          </a:p>
          <a:p>
            <a:pPr>
              <a:spcAft>
                <a:spcPts val="1200"/>
              </a:spcAft>
            </a:pPr>
            <a:r>
              <a:rPr sz="2200">
                <a:solidFill>
                  <a:srgbClr val="1F2937"/>
                </a:solidFill>
                <a:latin typeface="Calibri"/>
              </a:rPr>
              <a:t>▸  Sud tibbiyoti fan sifatida aynan sud-tibbiy toksikologiyadan boshlab shakllangan.</a:t>
            </a:r>
          </a:p>
          <a:p>
            <a:pPr>
              <a:spcAft>
                <a:spcPts val="1200"/>
              </a:spcAft>
            </a:pPr>
            <a:r>
              <a:rPr sz="2200">
                <a:solidFill>
                  <a:srgbClr val="1F2937"/>
                </a:solidFill>
                <a:latin typeface="Calibri"/>
              </a:rPr>
              <a:t>▸  Bob mavzulari: zahar tushunchasi, omillar, sud-tibbiy diagnostika, toksikokinetika, zaharlar tasnifi va alohida zaharlanishlar.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132–139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va zaharlanish tushunchalari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miqdorda ta’sir etib, sog‘liqni buzadigan yoki o‘limga olib keladigan moddadir.</a:t>
            </a:r>
          </a:p>
          <a:p>
            <a:pPr>
              <a:spcAft>
                <a:spcPts val="1200"/>
              </a:spcAft>
            </a:pPr>
            <a:r>
              <a:rPr sz="2200">
                <a:solidFill>
                  <a:srgbClr val="1F2937"/>
                </a:solidFill>
                <a:latin typeface="Calibri"/>
              </a:rPr>
              <a:t>▸  Tabiatda mutlaq zahar bo‘lmaganidek, mutlaq beziyon modda ham bo‘lmaydi.</a:t>
            </a:r>
          </a:p>
          <a:p>
            <a:pPr>
              <a:spcAft>
                <a:spcPts val="1200"/>
              </a:spcAft>
            </a:pPr>
            <a:r>
              <a:rPr sz="2200">
                <a:solidFill>
                  <a:srgbClr val="1F2937"/>
                </a:solidFill>
                <a:latin typeface="Calibri"/>
              </a:rPr>
              <a:t>▸  Paratsels iborasi: faqat doza ma’lum bir moddani doriga yoki zaharga aylantiradi.</a:t>
            </a:r>
          </a:p>
          <a:p>
            <a:pPr>
              <a:spcAft>
                <a:spcPts val="1200"/>
              </a:spcAft>
            </a:pPr>
            <a:r>
              <a:rPr sz="2200">
                <a:solidFill>
                  <a:srgbClr val="1F2937"/>
                </a:solidFill>
                <a:latin typeface="Calibri"/>
              </a:rPr>
              <a:t>▸  Diqqat: zahar ≠ zaharlanish. Zahar – modda, zaharlanish esa uning oz miqdori ta’sirida vujudga kelgan sog‘liq buzilishidir.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Toksikologiya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Toksikologiya yo‘nalishlari: sanoat, qishloq xo‘jaligi, harbiy, oziq-ovqat, maishiy va sud-tibbiy.</a:t>
            </a:r>
          </a:p>
          <a:p>
            <a:pPr>
              <a:spcAft>
                <a:spcPts val="800"/>
              </a:spcAft>
            </a:pPr>
            <a:r>
              <a:rPr sz="1800">
                <a:solidFill>
                  <a:srgbClr val="1F2937"/>
                </a:solidFill>
                <a:latin typeface="Calibri"/>
              </a:rPr>
              <a:t>▸  Sud-tibbiy toksikologiya zaharlanishda huquqni muhofaza idoralari qo‘ygan vazifalarni hal etadi.</a:t>
            </a:r>
          </a:p>
          <a:p>
            <a:pPr>
              <a:spcAft>
                <a:spcPts val="800"/>
              </a:spcAft>
            </a:pPr>
            <a:r>
              <a:rPr sz="1800">
                <a:solidFill>
                  <a:srgbClr val="1F2937"/>
                </a:solidFill>
                <a:latin typeface="Calibri"/>
              </a:rPr>
              <a:t>▸  Sud tibbiyoti fan sifatida sud-tibbiy toksikologiyadan boshlab shakllangan.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596369"/>
                <a:gridCol w="3691605"/>
              </a:tblGrid>
              <a:tr h="411480">
                <a:tc>
                  <a:txBody>
                    <a:bodyPr/>
                    <a:lstStyle/>
                    <a:p>
                      <a:r>
                        <a:rPr sz="1400" b="1">
                          <a:solidFill>
                            <a:srgbClr val="FFFFFF"/>
                          </a:solidFill>
                        </a:rPr>
                        <a:t>Yo‘nalish</a:t>
                      </a:r>
                    </a:p>
                  </a:txBody>
                  <a:tcPr marL="73152" marR="73152" marT="36576" marB="36576">
                    <a:solidFill>
                      <a:srgbClr val="0B1F3A"/>
                    </a:solidFill>
                  </a:tcPr>
                </a:tc>
                <a:tc>
                  <a:txBody>
                    <a:bodyPr/>
                    <a:lstStyle/>
                    <a:p>
                      <a:r>
                        <a:rPr sz="1400" b="1">
                          <a:solidFill>
                            <a:srgbClr val="FFFFFF"/>
                          </a:solidFill>
                        </a:rPr>
                        <a:t>Vazifasi</a:t>
                      </a:r>
                    </a:p>
                  </a:txBody>
                  <a:tcPr marL="73152" marR="73152" marT="36576" marB="36576">
                    <a:solidFill>
                      <a:srgbClr val="0B1F3A"/>
                    </a:solidFill>
                  </a:tcPr>
                </a:tc>
              </a:tr>
              <a:tr h="411480">
                <a:tc>
                  <a:txBody>
                    <a:bodyPr/>
                    <a:lstStyle/>
                    <a:p>
                      <a:r>
                        <a:rPr sz="1300" b="0">
                          <a:solidFill>
                            <a:srgbClr val="1F2937"/>
                          </a:solidFill>
                        </a:rPr>
                        <a:t>Boshqa turlar</a:t>
                      </a:r>
                    </a:p>
                  </a:txBody>
                  <a:tcPr marL="73152" marR="73152" marT="36576" marB="36576">
                    <a:solidFill>
                      <a:srgbClr val="E8EEF6"/>
                    </a:solidFill>
                  </a:tcPr>
                </a:tc>
                <a:tc>
                  <a:txBody>
                    <a:bodyPr/>
                    <a:lstStyle/>
                    <a:p>
                      <a:r>
                        <a:rPr sz="1300" b="0">
                          <a:solidFill>
                            <a:srgbClr val="1F2937"/>
                          </a:solidFill>
                        </a:rPr>
                        <a:t>Sabab, malakali yordam, oldini olish</a:t>
                      </a:r>
                    </a:p>
                  </a:txBody>
                  <a:tcPr marL="73152" marR="73152" marT="36576" marB="36576">
                    <a:solidFill>
                      <a:srgbClr val="E8EEF6"/>
                    </a:solidFill>
                  </a:tcPr>
                </a:tc>
              </a:tr>
              <a:tr h="411480">
                <a:tc>
                  <a:txBody>
                    <a:bodyPr/>
                    <a:lstStyle/>
                    <a:p>
                      <a:r>
                        <a:rPr sz="1300" b="0">
                          <a:solidFill>
                            <a:srgbClr val="1F2937"/>
                          </a:solidFill>
                        </a:rPr>
                        <a:t>Sud-tibbiy</a:t>
                      </a:r>
                    </a:p>
                  </a:txBody>
                  <a:tcPr marL="73152" marR="73152" marT="36576" marB="36576">
                    <a:solidFill>
                      <a:srgbClr val="FFFFFF"/>
                    </a:solidFill>
                  </a:tcPr>
                </a:tc>
                <a:tc>
                  <a:txBody>
                    <a:bodyPr/>
                    <a:lstStyle/>
                    <a:p>
                      <a:r>
                        <a:rPr sz="1300" b="0">
                          <a:solidFill>
                            <a:srgbClr val="1F2937"/>
                          </a:solidFill>
                        </a:rPr>
                        <a:t>Huquqni muhofaza idoralari vazifalari</a:t>
                      </a:r>
                    </a:p>
                  </a:txBody>
                  <a:tcPr marL="73152" marR="73152" marT="36576" marB="36576">
                    <a:solidFill>
                      <a:srgbClr val="FFFFFF"/>
                    </a:solidFill>
                  </a:tcPr>
                </a:tc>
              </a:tr>
              <a:tr h="411480">
                <a:tc>
                  <a:txBody>
                    <a:bodyPr/>
                    <a:lstStyle/>
                    <a:p>
                      <a:r>
                        <a:rPr sz="1300" b="0">
                          <a:solidFill>
                            <a:srgbClr val="1F2937"/>
                          </a:solidFill>
                        </a:rPr>
                        <a:t>Tarixiy o‘rni</a:t>
                      </a:r>
                    </a:p>
                  </a:txBody>
                  <a:tcPr marL="73152" marR="73152" marT="36576" marB="36576">
                    <a:solidFill>
                      <a:srgbClr val="E8EEF6"/>
                    </a:solidFill>
                  </a:tcPr>
                </a:tc>
                <a:tc>
                  <a:txBody>
                    <a:bodyPr/>
                    <a:lstStyle/>
                    <a:p>
                      <a:r>
                        <a:rPr sz="1300" b="0">
                          <a:solidFill>
                            <a:srgbClr val="1F2937"/>
                          </a:solidFill>
                        </a:rPr>
                        <a:t>Sud tibbiyoti shundan shakllangan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Toksikologiya vazifalarini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Zaharlanishlarning kelib chiqish tafsilotlari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Kelib chiqish tafsiloti bo‘yicha zaharlanish qotillik, o‘z-o‘zini o‘ldirish yoki baxtsiz hodisa ko‘rinishida bo‘lishi mumkin.</a:t>
            </a:r>
          </a:p>
          <a:p>
            <a:pPr>
              <a:spcAft>
                <a:spcPts val="1200"/>
              </a:spcAft>
            </a:pPr>
            <a:r>
              <a:rPr sz="2200">
                <a:solidFill>
                  <a:srgbClr val="1F2937"/>
                </a:solidFill>
                <a:latin typeface="Calibri"/>
              </a:rPr>
              <a:t>▸  Ekspertiza ma’lumotlarida ko‘pchilikni baxtsiz hodisalar tashkil etadi. Keyingi o‘rinda o‘z-o‘zini o‘ldirish turadi, zaharlab qotillik kam uchraydi.</a:t>
            </a:r>
          </a:p>
          <a:p>
            <a:pPr>
              <a:spcAft>
                <a:spcPts val="1200"/>
              </a:spcAft>
            </a:pPr>
            <a:r>
              <a:rPr sz="2200">
                <a:solidFill>
                  <a:srgbClr val="1F2937"/>
                </a:solidFill>
                <a:latin typeface="Calibri"/>
              </a:rPr>
              <a:t>▸  Qotillik va o‘z-o‘zini o‘ldirishda zahar qasddan beriladi, baxtsiz hodisada esa tasodifan tushadi.</a:t>
            </a:r>
          </a:p>
          <a:p>
            <a:pPr>
              <a:spcAft>
                <a:spcPts val="1200"/>
              </a:spcAft>
            </a:pPr>
            <a:r>
              <a:rPr sz="2200">
                <a:solidFill>
                  <a:srgbClr val="1F2937"/>
                </a:solidFill>
                <a:latin typeface="Calibri"/>
              </a:rPr>
              <a:t>▸  Ayrim tasodifiy zaharlanishlar yatrogen bo‘ladi: dori dozasi xato belgilanadi yoki bir dori o‘rniga boshqa modda qo‘llanadi.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yatrogen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tibbiy muolajada dori dozasi noto‘g‘ri belgilangan yoki bir dori o‘rniga boshqa modda yuborilgan, bemorda zaharlanish belgilari paydo bo‘lgan.</a:t>
            </a:r>
          </a:p>
          <a:p>
            <a:pPr>
              <a:spcAft>
                <a:spcPts val="1200"/>
              </a:spcAft>
            </a:pPr>
            <a:r>
              <a:rPr sz="2200">
                <a:solidFill>
                  <a:srgbClr val="1F2937"/>
                </a:solidFill>
                <a:latin typeface="Calibri"/>
              </a:rPr>
              <a:t>▸  Manbaga ko‘ra bunday holat tasodifan yuz beradi, ya’ni baxtsiz hodisa turiga kirib, yatrogen kelib chiqishga ega bo‘ladi.</a:t>
            </a:r>
          </a:p>
          <a:p>
            <a:pPr>
              <a:spcAft>
                <a:spcPts val="1200"/>
              </a:spcAft>
            </a:pPr>
            <a:r>
              <a:rPr sz="2200">
                <a:solidFill>
                  <a:srgbClr val="1F2937"/>
                </a:solidFill>
                <a:latin typeface="Calibri"/>
              </a:rPr>
              <a:t>▸  Savol: bu holat qotillik, o‘z-o‘zini o‘ldirish yoki baxtsiz hodisadan qaysi biriga kiradi va nima uchun?</a:t>
            </a:r>
          </a:p>
          <a:p>
            <a:pPr>
              <a:spcAft>
                <a:spcPts val="1200"/>
              </a:spcAft>
            </a:pPr>
            <a:r>
              <a:rPr sz="2200">
                <a:solidFill>
                  <a:srgbClr val="1F2937"/>
                </a:solidFill>
                <a:latin typeface="Calibri"/>
              </a:rPr>
              <a:t>▸  Diqqat: qasddan zaharlash ≠ tasodifiy (yatrogen) zaharlanish. Ularni zaharning kirishidagi qasd bor-yo‘qligi farqlaydi.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to‘rt guruh omil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Ahamiyatli omillar to‘rt guruhga bo‘linadi: zahar, organizm, kirish yo‘li va tashqi shart-sharoit.</a:t>
            </a:r>
          </a:p>
          <a:p>
            <a:pPr>
              <a:spcAft>
                <a:spcPts val="800"/>
              </a:spcAft>
            </a:pPr>
            <a:r>
              <a:rPr sz="1800">
                <a:solidFill>
                  <a:srgbClr val="1F2937"/>
                </a:solidFill>
                <a:latin typeface="Calibri"/>
              </a:rPr>
              <a:t>▸  Zahar qanchalik tez va to‘liq qonga o‘tsa, toksik ta’sir shunchalik kuchli bo‘ladi.</a:t>
            </a:r>
          </a:p>
          <a:p>
            <a:pPr>
              <a:spcAft>
                <a:spcPts val="800"/>
              </a:spcAft>
            </a:pPr>
            <a:r>
              <a:rPr sz="1800">
                <a:solidFill>
                  <a:srgbClr val="1F2937"/>
                </a:solidFill>
                <a:latin typeface="Calibri"/>
              </a:rPr>
              <a:t>▸  Alkogol va is gazi ta’siriga yopiq, issiq, nam muhit moyillik yaratadi.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692152"/>
                <a:gridCol w="3595823"/>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Nimaga bog‘liq</a:t>
                      </a:r>
                    </a:p>
                  </a:txBody>
                  <a:tcPr marL="73152" marR="73152" marT="36576" marB="36576">
                    <a:solidFill>
                      <a:srgbClr val="0B1F3A"/>
                    </a:solidFill>
                  </a:tcPr>
                </a:tc>
              </a:tr>
              <a:tr h="411480">
                <a:tc>
                  <a:txBody>
                    <a:bodyPr/>
                    <a:lstStyle/>
                    <a:p>
                      <a:r>
                        <a:rPr sz="1300" b="0">
                          <a:solidFill>
                            <a:srgbClr val="1F2937"/>
                          </a:solidFill>
                        </a:rPr>
                        <a:t>Zaharli modda</a:t>
                      </a:r>
                    </a:p>
                  </a:txBody>
                  <a:tcPr marL="73152" marR="73152" marT="36576" marB="36576">
                    <a:solidFill>
                      <a:srgbClr val="E8EEF6"/>
                    </a:solidFill>
                  </a:tcPr>
                </a:tc>
                <a:tc>
                  <a:txBody>
                    <a:bodyPr/>
                    <a:lstStyle/>
                    <a:p>
                      <a:r>
                        <a:rPr sz="1300" b="0">
                          <a:solidFill>
                            <a:srgbClr val="1F2937"/>
                          </a:solidFill>
                        </a:rPr>
                        <a:t>Tuzilishi, miqdori, eruvchanligi</a:t>
                      </a:r>
                    </a:p>
                  </a:txBody>
                  <a:tcPr marL="73152" marR="73152" marT="36576" marB="36576">
                    <a:solidFill>
                      <a:srgbClr val="E8EEF6"/>
                    </a:solidFill>
                  </a:tcPr>
                </a:tc>
              </a:tr>
              <a:tr h="411480">
                <a:tc>
                  <a:txBody>
                    <a:bodyPr/>
                    <a:lstStyle/>
                    <a:p>
                      <a:r>
                        <a:rPr sz="1300" b="0">
                          <a:solidFill>
                            <a:srgbClr val="1F2937"/>
                          </a:solidFill>
                        </a:rPr>
                        <a:t>Organizm</a:t>
                      </a:r>
                    </a:p>
                  </a:txBody>
                  <a:tcPr marL="73152" marR="73152" marT="36576" marB="36576">
                    <a:solidFill>
                      <a:srgbClr val="FFFFFF"/>
                    </a:solidFill>
                  </a:tcPr>
                </a:tc>
                <a:tc>
                  <a:txBody>
                    <a:bodyPr/>
                    <a:lstStyle/>
                    <a:p>
                      <a:r>
                        <a:rPr sz="1300" b="0">
                          <a:solidFill>
                            <a:srgbClr val="1F2937"/>
                          </a:solidFill>
                        </a:rPr>
                        <a:t>Vazni, yoshi, salomatligi</a:t>
                      </a:r>
                    </a:p>
                  </a:txBody>
                  <a:tcPr marL="73152" marR="73152" marT="36576" marB="36576">
                    <a:solidFill>
                      <a:srgbClr val="FFFFFF"/>
                    </a:solidFill>
                  </a:tcPr>
                </a:tc>
              </a:tr>
              <a:tr h="411480">
                <a:tc>
                  <a:txBody>
                    <a:bodyPr/>
                    <a:lstStyle/>
                    <a:p>
                      <a:r>
                        <a:rPr sz="1300" b="0">
                          <a:solidFill>
                            <a:srgbClr val="1F2937"/>
                          </a:solidFill>
                        </a:rPr>
                        <a:t>Kirish yo‘li</a:t>
                      </a:r>
                    </a:p>
                  </a:txBody>
                  <a:tcPr marL="73152" marR="73152" marT="36576" marB="36576">
                    <a:solidFill>
                      <a:srgbClr val="E8EEF6"/>
                    </a:solidFill>
                  </a:tcPr>
                </a:tc>
                <a:tc>
                  <a:txBody>
                    <a:bodyPr/>
                    <a:lstStyle/>
                    <a:p>
                      <a:r>
                        <a:rPr sz="1300" b="0">
                          <a:solidFill>
                            <a:srgbClr val="1F2937"/>
                          </a:solidFill>
                        </a:rPr>
                        <a:t>Qonga o‘tish tezligi va to‘liqligi</a:t>
                      </a:r>
                    </a:p>
                  </a:txBody>
                  <a:tcPr marL="73152" marR="73152" marT="36576" marB="36576">
                    <a:solidFill>
                      <a:srgbClr val="E8EEF6"/>
                    </a:solidFill>
                  </a:tcPr>
                </a:tc>
              </a:tr>
              <a:tr h="411480">
                <a:tc>
                  <a:txBody>
                    <a:bodyPr/>
                    <a:lstStyle/>
                    <a:p>
                      <a:r>
                        <a:rPr sz="1300" b="0">
                          <a:solidFill>
                            <a:srgbClr val="1F2937"/>
                          </a:solidFill>
                        </a:rPr>
                        <a:t>Tashqi sharoit</a:t>
                      </a:r>
                    </a:p>
                  </a:txBody>
                  <a:tcPr marL="73152" marR="73152" marT="36576" marB="36576">
                    <a:solidFill>
                      <a:srgbClr val="FFFFFF"/>
                    </a:solidFill>
                  </a:tcPr>
                </a:tc>
                <a:tc>
                  <a:txBody>
                    <a:bodyPr/>
                    <a:lstStyle/>
                    <a:p>
                      <a:r>
                        <a:rPr sz="1300" b="0">
                          <a:solidFill>
                            <a:srgbClr val="1F2937"/>
                          </a:solidFill>
                        </a:rPr>
                        <a:t>Harorat, namlik, yopiq muhit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Omillar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134, 135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Zaharli modda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Moddaning kimyoviy tuzilishi uning xususiyatlarini belgilaydi. Is gazi va karbonat angidrid ikkalasi uglerod va kisloroddan iborat, lekin toksikligi bir xil emas.</a:t>
            </a:r>
          </a:p>
          <a:p>
            <a:pPr>
              <a:spcAft>
                <a:spcPts val="1200"/>
              </a:spcAft>
            </a:pPr>
            <a:r>
              <a:rPr sz="2200">
                <a:solidFill>
                  <a:srgbClr val="1F2937"/>
                </a:solidFill>
                <a:latin typeface="Calibri"/>
              </a:rPr>
              <a:t>▸  Zahar miqdori muhim: farmakologiyada terapevtik, toksik va letal dozalar farqlanadi. Suyuq moddalar konsentratsiyasiga qarab turlicha ta’sir etadi.</a:t>
            </a:r>
          </a:p>
          <a:p>
            <a:pPr>
              <a:spcAft>
                <a:spcPts val="1200"/>
              </a:spcAft>
            </a:pPr>
            <a:r>
              <a:rPr sz="2200">
                <a:solidFill>
                  <a:srgbClr val="1F2937"/>
                </a:solidFill>
                <a:latin typeface="Calibri"/>
              </a:rPr>
              <a:t>▸  Agregat holat ham ahamiyatli: gazsimon modda suyuqqa, suyuq modda qattiqqa nisbatan kuchliroq ta’sir etadi, chunki qonga tezroq o‘tadi.</a:t>
            </a:r>
          </a:p>
          <a:p>
            <a:pPr>
              <a:spcAft>
                <a:spcPts val="1200"/>
              </a:spcAft>
            </a:pPr>
            <a:r>
              <a:rPr sz="2200">
                <a:solidFill>
                  <a:srgbClr val="1F2937"/>
                </a:solidFill>
                <a:latin typeface="Calibri"/>
              </a:rPr>
              <a:t>▸  Toksik ta’sir eruvchanlik va saqlanish davomidagi barqarorlikka bog‘liq. Dorilarning ta’siri vaqt o‘tgach o‘zgarishi mumkin, saqlash sharoiti ham muhim.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132-133, 133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Vexikulum, kumulyatsiya va muhit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Zaharni olib kiruvchi modda — vexikulum — toksik ta’sir darajasini o‘zgartirishi mumkin.</a:t>
            </a:r>
          </a:p>
          <a:p>
            <a:pPr>
              <a:spcAft>
                <a:spcPts val="800"/>
              </a:spcAft>
            </a:pPr>
            <a:r>
              <a:rPr sz="1800">
                <a:solidFill>
                  <a:srgbClr val="1F2937"/>
                </a:solidFill>
                <a:latin typeface="Calibri"/>
              </a:rPr>
              <a:t>▸  Zahar kamdan-kam toza holda kiradi: ko‘pincha ichimlik, ovqat va shu kabilarga qo‘shilgan bo‘ladi.</a:t>
            </a:r>
          </a:p>
          <a:p>
            <a:pPr>
              <a:spcAft>
                <a:spcPts val="800"/>
              </a:spcAft>
            </a:pPr>
            <a:r>
              <a:rPr sz="1800">
                <a:solidFill>
                  <a:srgbClr val="1F2937"/>
                </a:solidFill>
                <a:latin typeface="Calibri"/>
              </a:rPr>
              <a:t>▸  Kumulyatsiya — zaharning organizmda to‘planishi; og‘ir metall birikmalarida ayniqsa katta ahamiyatga ega.</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547700"/>
                <a:gridCol w="1354237"/>
                <a:gridCol w="2386037"/>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Muhit</a:t>
                      </a:r>
                    </a:p>
                  </a:txBody>
                  <a:tcPr marL="73152" marR="73152" marT="36576" marB="36576">
                    <a:solidFill>
                      <a:srgbClr val="0B1F3A"/>
                    </a:solidFill>
                  </a:tcPr>
                </a:tc>
                <a:tc>
                  <a:txBody>
                    <a:bodyPr/>
                    <a:lstStyle/>
                    <a:p>
                      <a:r>
                        <a:rPr sz="1300" b="1">
                          <a:solidFill>
                            <a:srgbClr val="FFFFFF"/>
                          </a:solidFill>
                        </a:rPr>
                        <a:t>Ta’sir</a:t>
                      </a:r>
                    </a:p>
                  </a:txBody>
                  <a:tcPr marL="73152" marR="73152" marT="36576" marB="36576">
                    <a:solidFill>
                      <a:srgbClr val="0B1F3A"/>
                    </a:solidFill>
                  </a:tcPr>
                </a:tc>
              </a:tr>
              <a:tr h="411480">
                <a:tc>
                  <a:txBody>
                    <a:bodyPr/>
                    <a:lstStyle/>
                    <a:p>
                      <a:r>
                        <a:rPr sz="1200" b="0">
                          <a:solidFill>
                            <a:srgbClr val="1F2937"/>
                          </a:solidFill>
                        </a:rPr>
                        <a:t>Margimush birikmalari</a:t>
                      </a:r>
                    </a:p>
                  </a:txBody>
                  <a:tcPr marL="73152" marR="73152" marT="36576" marB="36576">
                    <a:solidFill>
                      <a:srgbClr val="E8EEF6"/>
                    </a:solidFill>
                  </a:tcPr>
                </a:tc>
                <a:tc>
                  <a:txBody>
                    <a:bodyPr/>
                    <a:lstStyle/>
                    <a:p>
                      <a:r>
                        <a:rPr sz="1200" b="0">
                          <a:solidFill>
                            <a:srgbClr val="1F2937"/>
                          </a:solidFill>
                        </a:rPr>
                        <a:t>Ishqoriy muhit</a:t>
                      </a:r>
                    </a:p>
                  </a:txBody>
                  <a:tcPr marL="73152" marR="73152" marT="36576" marB="36576">
                    <a:solidFill>
                      <a:srgbClr val="E8EEF6"/>
                    </a:solidFill>
                  </a:tcPr>
                </a:tc>
                <a:tc>
                  <a:txBody>
                    <a:bodyPr/>
                    <a:lstStyle/>
                    <a:p>
                      <a:r>
                        <a:rPr sz="1200" b="0">
                          <a:solidFill>
                            <a:srgbClr val="1F2937"/>
                          </a:solidFill>
                        </a:rPr>
                        <a:t>Kuchayadi; kislotali muhitda susayadi</a:t>
                      </a:r>
                    </a:p>
                  </a:txBody>
                  <a:tcPr marL="73152" marR="73152" marT="36576" marB="36576">
                    <a:solidFill>
                      <a:srgbClr val="E8EEF6"/>
                    </a:solidFill>
                  </a:tcPr>
                </a:tc>
              </a:tr>
              <a:tr h="411480">
                <a:tc>
                  <a:txBody>
                    <a:bodyPr/>
                    <a:lstStyle/>
                    <a:p>
                      <a:r>
                        <a:rPr sz="1200" b="0">
                          <a:solidFill>
                            <a:srgbClr val="1F2937"/>
                          </a:solidFill>
                        </a:rPr>
                        <a:t>Sianidlar</a:t>
                      </a:r>
                    </a:p>
                  </a:txBody>
                  <a:tcPr marL="73152" marR="73152" marT="36576" marB="36576">
                    <a:solidFill>
                      <a:srgbClr val="FFFFFF"/>
                    </a:solidFill>
                  </a:tcPr>
                </a:tc>
                <a:tc>
                  <a:txBody>
                    <a:bodyPr/>
                    <a:lstStyle/>
                    <a:p>
                      <a:r>
                        <a:rPr sz="1200" b="0">
                          <a:solidFill>
                            <a:srgbClr val="1F2937"/>
                          </a:solidFill>
                        </a:rPr>
                        <a:t>Kislotali muhit</a:t>
                      </a:r>
                    </a:p>
                  </a:txBody>
                  <a:tcPr marL="73152" marR="73152" marT="36576" marB="36576">
                    <a:solidFill>
                      <a:srgbClr val="FFFFFF"/>
                    </a:solidFill>
                  </a:tcPr>
                </a:tc>
                <a:tc>
                  <a:txBody>
                    <a:bodyPr/>
                    <a:lstStyle/>
                    <a:p>
                      <a:r>
                        <a:rPr sz="1200" b="0">
                          <a:solidFill>
                            <a:srgbClr val="1F2937"/>
                          </a:solidFill>
                        </a:rPr>
                        <a:t>Kislotali muhitda kuchayadi</a:t>
                      </a:r>
                    </a:p>
                  </a:txBody>
                  <a:tcPr marL="73152" marR="73152" marT="36576" marB="36576">
                    <a:solidFill>
                      <a:srgbClr val="FFFFFF"/>
                    </a:solidFill>
                  </a:tcPr>
                </a:tc>
              </a:tr>
              <a:tr h="411480">
                <a:tc>
                  <a:txBody>
                    <a:bodyPr/>
                    <a:lstStyle/>
                    <a:p>
                      <a:r>
                        <a:rPr sz="1200" b="0">
                          <a:solidFill>
                            <a:srgbClr val="1F2937"/>
                          </a:solidFill>
                        </a:rPr>
                        <a:t>Fosfororganik birikmalar</a:t>
                      </a:r>
                    </a:p>
                  </a:txBody>
                  <a:tcPr marL="73152" marR="73152" marT="36576" marB="36576">
                    <a:solidFill>
                      <a:srgbClr val="E8EEF6"/>
                    </a:solidFill>
                  </a:tcPr>
                </a:tc>
                <a:tc>
                  <a:txBody>
                    <a:bodyPr/>
                    <a:lstStyle/>
                    <a:p>
                      <a:r>
                        <a:rPr sz="1200" b="0">
                          <a:solidFill>
                            <a:srgbClr val="1F2937"/>
                          </a:solidFill>
                        </a:rPr>
                        <a:t>Yog‘li muhit</a:t>
                      </a:r>
                    </a:p>
                  </a:txBody>
                  <a:tcPr marL="73152" marR="73152" marT="36576" marB="36576">
                    <a:solidFill>
                      <a:srgbClr val="E8EEF6"/>
                    </a:solidFill>
                  </a:tcPr>
                </a:tc>
                <a:tc>
                  <a:txBody>
                    <a:bodyPr/>
                    <a:lstStyle/>
                    <a:p>
                      <a:r>
                        <a:rPr sz="1200" b="0">
                          <a:solidFill>
                            <a:srgbClr val="1F2937"/>
                          </a:solidFill>
                        </a:rPr>
                        <a:t>Ta’siri kuchayadi</a:t>
                      </a:r>
                    </a:p>
                  </a:txBody>
                  <a:tcPr marL="73152" marR="73152" marT="36576" marB="36576">
                    <a:solidFill>
                      <a:srgbClr val="E8EEF6"/>
                    </a:solidFill>
                  </a:tcPr>
                </a:tc>
              </a:tr>
              <a:tr h="411480">
                <a:tc>
                  <a:txBody>
                    <a:bodyPr/>
                    <a:lstStyle/>
                    <a:p>
                      <a:r>
                        <a:rPr sz="1200" b="0">
                          <a:solidFill>
                            <a:srgbClr val="1F2937"/>
                          </a:solidFill>
                        </a:rPr>
                        <a:t>Og‘ir metallar</a:t>
                      </a:r>
                    </a:p>
                  </a:txBody>
                  <a:tcPr marL="73152" marR="73152" marT="36576" marB="36576">
                    <a:solidFill>
                      <a:srgbClr val="FFFFFF"/>
                    </a:solidFill>
                  </a:tcPr>
                </a:tc>
                <a:tc>
                  <a:txBody>
                    <a:bodyPr/>
                    <a:lstStyle/>
                    <a:p>
                      <a:r>
                        <a:rPr sz="1200" b="0">
                          <a:solidFill>
                            <a:srgbClr val="1F2937"/>
                          </a:solidFill>
                        </a:rPr>
                        <a:t>Organizmda to‘planish</a:t>
                      </a:r>
                    </a:p>
                  </a:txBody>
                  <a:tcPr marL="73152" marR="73152" marT="36576" marB="36576">
                    <a:solidFill>
                      <a:srgbClr val="FFFFFF"/>
                    </a:solidFill>
                  </a:tcPr>
                </a:tc>
                <a:tc>
                  <a:txBody>
                    <a:bodyPr/>
                    <a:lstStyle/>
                    <a:p>
                      <a:r>
                        <a:rPr sz="1200" b="0">
                          <a:solidFill>
                            <a:srgbClr val="1F2937"/>
                          </a:solidFill>
                        </a:rPr>
                        <a:t>Kumulyatsiya katta ahamiyatli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Muhit va to‘planish ta’siri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zaharli modda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bariy sulfat va bariy xlorid ikkalasi ham bariy tuzi. Qaysi biri kuchli zahar hisoblanadi va nima uchun?</a:t>
            </a:r>
          </a:p>
          <a:p>
            <a:pPr>
              <a:spcAft>
                <a:spcPts val="1200"/>
              </a:spcAft>
            </a:pPr>
            <a:r>
              <a:rPr sz="2200">
                <a:solidFill>
                  <a:srgbClr val="1F2937"/>
                </a:solidFill>
                <a:latin typeface="Calibri"/>
              </a:rPr>
              <a:t>▸  Javob: bariy xlorid suvda eriydi, shuning uchun kuchli zahar. Bariy sulfat erimaydi, oshqozon-ichak rentgenografiyasida butqa sifatida ishlatiladi.</a:t>
            </a:r>
          </a:p>
          <a:p>
            <a:pPr>
              <a:spcAft>
                <a:spcPts val="1200"/>
              </a:spcAft>
            </a:pPr>
            <a:r>
              <a:rPr sz="2200">
                <a:solidFill>
                  <a:srgbClr val="1F2937"/>
                </a:solidFill>
                <a:latin typeface="Calibri"/>
              </a:rPr>
              <a:t>▸  Sirka: 3% kislota eritmasi bilan essensiya ta’sirini taqqoslab bo‘lmaydi. Fenol: konsentrlangani mahalliy kuyish, suyultirilgani rezorbtiv zarar beradi.</a:t>
            </a:r>
          </a:p>
          <a:p>
            <a:pPr>
              <a:spcAft>
                <a:spcPts val="1200"/>
              </a:spcAft>
            </a:pPr>
            <a:r>
              <a:rPr sz="2200">
                <a:solidFill>
                  <a:srgbClr val="1F2937"/>
                </a:solidFill>
                <a:latin typeface="Calibri"/>
              </a:rPr>
              <a:t>▸  Diqqat: xato qilish xavfi! Tuzilishi o‘xshash ≠ toksikligi bir xil (is gazi ≠ karbonat angidrid).</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 132-133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Organizm bilan bog‘liq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Bir xil miqdordagi zahar turli vazndagi odamlarga bir xil ta’sir qilmaydi. Dori dozasi ham 1 kg vaznga hisoblanadi.</a:t>
            </a:r>
          </a:p>
          <a:p>
            <a:pPr>
              <a:spcAft>
                <a:spcPts val="1200"/>
              </a:spcAft>
            </a:pPr>
            <a:r>
              <a:rPr sz="2200">
                <a:solidFill>
                  <a:srgbClr val="1F2937"/>
                </a:solidFill>
                <a:latin typeface="Calibri"/>
              </a:rPr>
              <a:t>▸  Jins bo‘yicha toksik ta’sirda farq yo‘q, ammo homiladorlikda ayollar sezgirligi ortadi. Bolalar sezgirroq: vazni kichik, qarshilik tizimi to‘liq shakllanmagan.</a:t>
            </a:r>
          </a:p>
          <a:p>
            <a:pPr>
              <a:spcAft>
                <a:spcPts val="1200"/>
              </a:spcAft>
            </a:pPr>
            <a:r>
              <a:rPr sz="2200">
                <a:solidFill>
                  <a:srgbClr val="1F2937"/>
                </a:solidFill>
                <a:latin typeface="Calibri"/>
              </a:rPr>
              <a:t>▸  Sog‘lom organizm zaharga kuchliroq qarshilik ko‘rsatadi. Yurak, jigar, buyrak kasalliklarida bu qobiliyat ancha cheklanadi.</a:t>
            </a:r>
          </a:p>
          <a:p>
            <a:pPr>
              <a:spcAft>
                <a:spcPts val="1200"/>
              </a:spcAft>
            </a:pPr>
            <a:r>
              <a:rPr sz="2200">
                <a:solidFill>
                  <a:srgbClr val="1F2937"/>
                </a:solidFill>
                <a:latin typeface="Calibri"/>
              </a:rPr>
              <a:t>▸  Zahar og‘iz orqali kirganda oshqozondagi massaning tarkibi va miqdori zaharning ta’sirini hamda qonga so‘rilishini o‘zgartirishi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133–134, 134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Genetik sezgirlik, tolerantlik va bog‘liqlik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Xolinesteraza aktivligining tug‘ma pastligi miorelaksantlar ta’sirini, eritrotsitlarda G6FDG (glyukoza-6-fosfatdegidrogenaza) yetishmasligi sulfanilamidlarga sezgirlikni oshiradi.</a:t>
            </a:r>
          </a:p>
          <a:p>
            <a:pPr>
              <a:spcAft>
                <a:spcPts val="1200"/>
              </a:spcAft>
            </a:pPr>
            <a:r>
              <a:rPr sz="2000">
                <a:solidFill>
                  <a:srgbClr val="1F2937"/>
                </a:solidFill>
                <a:latin typeface="Calibri"/>
              </a:rPr>
              <a:t>▸  Idiosinkraziya — ayrim moddalarga organizmning o‘ta sezgirligi. U ham genetik xususiyatlar bilan tushuntiriladi.</a:t>
            </a:r>
          </a:p>
          <a:p>
            <a:pPr>
              <a:spcAft>
                <a:spcPts val="1200"/>
              </a:spcAft>
            </a:pPr>
            <a:r>
              <a:rPr sz="2000">
                <a:solidFill>
                  <a:srgbClr val="1F2937"/>
                </a:solidFill>
                <a:latin typeface="Calibri"/>
              </a:rPr>
              <a:t>▸  Qisqa vaqtda takroran ta’sir tolerantlikni (o‘rganib qolishni) keltiradi. Uyqu dorilari, analgetiklar, gipotenziv preparatlarda kuzatiladi.</a:t>
            </a:r>
          </a:p>
          <a:p>
            <a:pPr>
              <a:spcAft>
                <a:spcPts val="1200"/>
              </a:spcAft>
            </a:pPr>
            <a:r>
              <a:rPr sz="2000">
                <a:solidFill>
                  <a:srgbClr val="1F2937"/>
                </a:solidFill>
                <a:latin typeface="Calibri"/>
              </a:rPr>
              <a:t>▸  Giyohvand va ayrim toksik moddalarda ruhiy-jismoniy bog‘liqlik tufayli ko‘proq dozaga intiladi. Qabul qilinmasa abstinensiya sindromi chiqadi (narkomaniya, toksikomaniya).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Zaharning kirish yo‘llari va tashqi sharoit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teri, og‘iz, nafas yo‘llari, to‘g‘ri ichak yoki in’eksiya orqali kiradi. Qonga qanchalik tez va to‘liq o‘tsa, ta’sir shunchalik kuchli.</a:t>
            </a:r>
          </a:p>
          <a:p>
            <a:pPr>
              <a:spcAft>
                <a:spcPts val="1200"/>
              </a:spcAft>
            </a:pPr>
            <a:r>
              <a:rPr sz="2200">
                <a:solidFill>
                  <a:srgbClr val="1F2937"/>
                </a:solidFill>
                <a:latin typeface="Calibri"/>
              </a:rPr>
              <a:t>▸  Suvda ham, yog‘da ham erimaydigan moddalar faqat mahalliy ta’sir qiladi. Yog‘da yaxshi eriydigan fosfororganik birikmalar shikastlanmagan teridan ham so‘riladi.</a:t>
            </a:r>
          </a:p>
          <a:p>
            <a:pPr>
              <a:spcAft>
                <a:spcPts val="1200"/>
              </a:spcAft>
            </a:pPr>
            <a:r>
              <a:rPr sz="2200">
                <a:solidFill>
                  <a:srgbClr val="1F2937"/>
                </a:solidFill>
                <a:latin typeface="Calibri"/>
              </a:rPr>
              <a:t>▸  Nafas yo‘llari, to‘g‘ri ichak va qin shilliq qavatidan so‘rilgan modda jigardan o‘tmaydi. Shu sabab oshqozon-ichakdan so‘rilganga nisbatan kuchliroq ta’sir qiladi.</a:t>
            </a:r>
          </a:p>
          <a:p>
            <a:pPr>
              <a:spcAft>
                <a:spcPts val="1200"/>
              </a:spcAft>
            </a:pPr>
            <a:r>
              <a:rPr sz="2200">
                <a:solidFill>
                  <a:srgbClr val="1F2937"/>
                </a:solidFill>
                <a:latin typeface="Calibri"/>
              </a:rPr>
              <a:t>▸  Yopiq, issiq, nam muhit alkogol va is gazi zaharlanishiga moyillik yaratadi. Ochiq muhit, past harorat va namlik ta’sirni susaytiradi.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134, 134–135, 135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yopiq muhitda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O‘quv misoli: kanalizatsiya quduqida ishchi o‘lik topildi, quduq bo‘shlig‘ida palag‘da tuxum hidi bor edi.</a:t>
            </a:r>
          </a:p>
          <a:p>
            <a:pPr>
              <a:spcAft>
                <a:spcPts val="1200"/>
              </a:spcAft>
            </a:pPr>
            <a:r>
              <a:rPr sz="2200">
                <a:solidFill>
                  <a:srgbClr val="1F2937"/>
                </a:solidFill>
                <a:latin typeface="Calibri"/>
              </a:rPr>
              <a:t>▸  Vodorod sulfid havodan og‘ir, shu sababli shaxta, kanalizatsiya va oqava o‘ralarida to‘planadi. Zaharlanish odatda baxtsiz hodisa bo‘ladi.</a:t>
            </a:r>
          </a:p>
          <a:p>
            <a:pPr>
              <a:spcAft>
                <a:spcPts val="1200"/>
              </a:spcAft>
            </a:pPr>
            <a:r>
              <a:rPr sz="2200">
                <a:solidFill>
                  <a:srgbClr val="1F2937"/>
                </a:solidFill>
                <a:latin typeface="Calibri"/>
              </a:rPr>
              <a:t>▸  Alkogol va is gazi bilan zaharlanishga yopiq, issiq, nam muhit moyillik yaratadi. Ochiq muhit, past harorat va namlik ta’sirni susaytiradi.</a:t>
            </a:r>
          </a:p>
          <a:p>
            <a:pPr>
              <a:spcAft>
                <a:spcPts val="1200"/>
              </a:spcAft>
            </a:pPr>
            <a:r>
              <a:rPr sz="2200">
                <a:solidFill>
                  <a:srgbClr val="1F2937"/>
                </a:solidFill>
                <a:latin typeface="Calibri"/>
              </a:rPr>
              <a:t>▸  Savol: qanday dalillar izlanadi? Bo‘shliqlar va ichki a’zolardan tuxum hidi, olcha rang-qizil qon; hodisa joyi havosi tahlil qilinadi.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154, 135, 155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sud-tibbiy diagnostikasi: 3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1-bosqich: hodisa joyi, idish, shprits, qusuq va tibbiy hujjatlar o‘rganiladi.</a:t>
            </a:r>
          </a:p>
          <a:p>
            <a:pPr>
              <a:spcAft>
                <a:spcPts val="800"/>
              </a:spcAft>
            </a:pPr>
            <a:r>
              <a:rPr sz="1800">
                <a:solidFill>
                  <a:srgbClr val="1F2937"/>
                </a:solidFill>
                <a:latin typeface="Calibri"/>
              </a:rPr>
              <a:t>▸  2-bosqich: murdada in’eksiya izi, teri va murda dog‘lari rangi, hid, mushak qotishi baholanadi.</a:t>
            </a:r>
          </a:p>
          <a:p>
            <a:pPr>
              <a:spcAft>
                <a:spcPts val="800"/>
              </a:spcAft>
            </a:pPr>
            <a:r>
              <a:rPr sz="1800">
                <a:solidFill>
                  <a:srgbClr val="1F2937"/>
                </a:solidFill>
                <a:latin typeface="Calibri"/>
              </a:rPr>
              <a:t>▸  3-bosqich: gistologik, sud-kimyoviy va boshqa tekshiruvlar; eng ko‘p sud-kimyoviy, sifat va miqdoriy.</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Hodisa joyi, hujjatlar</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Murda tekshiruvi</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Laboratoriya tekshiruvlari</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zanjiri</a:t>
            </a:r>
          </a:p>
        </p:txBody>
      </p:sp>
      <p:sp>
        <p:nvSpPr>
          <p:cNvPr id="15" name="TextBox 14"/>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135-136, 136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Murdadagi xos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Hid: sianidda ichki a’zolardan achchiq bodom hidi, sirka kislotasida o‘tkir o‘ziga xos hid seziladi.</a:t>
            </a:r>
          </a:p>
          <a:p>
            <a:pPr>
              <a:spcAft>
                <a:spcPts val="800"/>
              </a:spcAft>
            </a:pPr>
            <a:r>
              <a:rPr sz="1800">
                <a:solidFill>
                  <a:srgbClr val="1F2937"/>
                </a:solidFill>
                <a:latin typeface="Calibri"/>
              </a:rPr>
              <a:t>▸  Mushak qotishi: strixninda tez va kuchli; xloral gidrat, kurare, miorelaksantlarda sust va kuchsiz.</a:t>
            </a:r>
          </a:p>
          <a:p>
            <a:pPr>
              <a:spcAft>
                <a:spcPts val="800"/>
              </a:spcAft>
            </a:pPr>
            <a:r>
              <a:rPr sz="1800">
                <a:solidFill>
                  <a:srgbClr val="1F2937"/>
                </a:solidFill>
                <a:latin typeface="Calibri"/>
              </a:rPr>
              <a:t>▸  Diqqat: pushti dog‘ (is gazi) ≠ olcha rang (sianid). Funksional zaharlarda xos belgi bo‘lmasligi mumkin.</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2980495"/>
                <a:gridCol w="2307480"/>
              </a:tblGrid>
              <a:tr h="411480">
                <a:tc>
                  <a:txBody>
                    <a:bodyPr/>
                    <a:lstStyle/>
                    <a:p>
                      <a:r>
                        <a:rPr sz="1400" b="1">
                          <a:solidFill>
                            <a:srgbClr val="FFFFFF"/>
                          </a:solidFill>
                        </a:rPr>
                        <a:t>Zahar guruhi</a:t>
                      </a:r>
                    </a:p>
                  </a:txBody>
                  <a:tcPr marL="73152" marR="73152" marT="36576" marB="36576">
                    <a:solidFill>
                      <a:srgbClr val="0B1F3A"/>
                    </a:solidFill>
                  </a:tcPr>
                </a:tc>
                <a:tc>
                  <a:txBody>
                    <a:bodyPr/>
                    <a:lstStyle/>
                    <a:p>
                      <a:r>
                        <a:rPr sz="1400" b="1">
                          <a:solidFill>
                            <a:srgbClr val="FFFFFF"/>
                          </a:solidFill>
                        </a:rPr>
                        <a:t>Murda dog‘i</a:t>
                      </a:r>
                    </a:p>
                  </a:txBody>
                  <a:tcPr marL="73152" marR="73152" marT="36576" marB="36576">
                    <a:solidFill>
                      <a:srgbClr val="0B1F3A"/>
                    </a:solidFill>
                  </a:tcPr>
                </a:tc>
              </a:tr>
              <a:tr h="411480">
                <a:tc>
                  <a:txBody>
                    <a:bodyPr/>
                    <a:lstStyle/>
                    <a:p>
                      <a:r>
                        <a:rPr sz="1300" b="0">
                          <a:solidFill>
                            <a:srgbClr val="1F2937"/>
                          </a:solidFill>
                        </a:rPr>
                        <a:t>Is gazi</a:t>
                      </a:r>
                    </a:p>
                  </a:txBody>
                  <a:tcPr marL="73152" marR="73152" marT="36576" marB="36576">
                    <a:solidFill>
                      <a:srgbClr val="E8EEF6"/>
                    </a:solidFill>
                  </a:tcPr>
                </a:tc>
                <a:tc>
                  <a:txBody>
                    <a:bodyPr/>
                    <a:lstStyle/>
                    <a:p>
                      <a:r>
                        <a:rPr sz="1300" b="0">
                          <a:solidFill>
                            <a:srgbClr val="1F2937"/>
                          </a:solidFill>
                        </a:rPr>
                        <a:t>Pushti tus</a:t>
                      </a:r>
                    </a:p>
                  </a:txBody>
                  <a:tcPr marL="73152" marR="73152" marT="36576" marB="36576">
                    <a:solidFill>
                      <a:srgbClr val="E8EEF6"/>
                    </a:solidFill>
                  </a:tcPr>
                </a:tc>
              </a:tr>
              <a:tr h="411480">
                <a:tc>
                  <a:txBody>
                    <a:bodyPr/>
                    <a:lstStyle/>
                    <a:p>
                      <a:r>
                        <a:rPr sz="1300" b="0">
                          <a:solidFill>
                            <a:srgbClr val="1F2937"/>
                          </a:solidFill>
                        </a:rPr>
                        <a:t>Sianid kislotasi yoki tuzlari</a:t>
                      </a:r>
                    </a:p>
                  </a:txBody>
                  <a:tcPr marL="73152" marR="73152" marT="36576" marB="36576">
                    <a:solidFill>
                      <a:srgbClr val="FFFFFF"/>
                    </a:solidFill>
                  </a:tcPr>
                </a:tc>
                <a:tc>
                  <a:txBody>
                    <a:bodyPr/>
                    <a:lstStyle/>
                    <a:p>
                      <a:r>
                        <a:rPr sz="1300" b="0">
                          <a:solidFill>
                            <a:srgbClr val="1F2937"/>
                          </a:solidFill>
                        </a:rPr>
                        <a:t>Yorqin olcha rang</a:t>
                      </a:r>
                    </a:p>
                  </a:txBody>
                  <a:tcPr marL="73152" marR="73152" marT="36576" marB="36576">
                    <a:solidFill>
                      <a:srgbClr val="FFFFFF"/>
                    </a:solidFill>
                  </a:tcPr>
                </a:tc>
              </a:tr>
              <a:tr h="411480">
                <a:tc>
                  <a:txBody>
                    <a:bodyPr/>
                    <a:lstStyle/>
                    <a:p>
                      <a:r>
                        <a:rPr sz="1300" b="0">
                          <a:solidFill>
                            <a:srgbClr val="1F2937"/>
                          </a:solidFill>
                        </a:rPr>
                        <a:t>Metgemoglobin hosil qiluvchilar</a:t>
                      </a:r>
                    </a:p>
                  </a:txBody>
                  <a:tcPr marL="73152" marR="73152" marT="36576" marB="36576">
                    <a:solidFill>
                      <a:srgbClr val="E8EEF6"/>
                    </a:solidFill>
                  </a:tcPr>
                </a:tc>
                <a:tc>
                  <a:txBody>
                    <a:bodyPr/>
                    <a:lstStyle/>
                    <a:p>
                      <a:r>
                        <a:rPr sz="1300" b="0">
                          <a:solidFill>
                            <a:srgbClr val="1F2937"/>
                          </a:solidFill>
                        </a:rPr>
                        <a:t>Jigar rang, qo‘ng‘ir tus</a:t>
                      </a:r>
                    </a:p>
                  </a:txBody>
                  <a:tcPr marL="73152" marR="73152" marT="36576" marB="36576">
                    <a:solidFill>
                      <a:srgbClr val="E8EEF6"/>
                    </a:solidFill>
                  </a:tcPr>
                </a:tc>
              </a:tr>
              <a:tr h="411480">
                <a:tc>
                  <a:txBody>
                    <a:bodyPr/>
                    <a:lstStyle/>
                    <a:p>
                      <a:r>
                        <a:rPr sz="1300" b="0">
                          <a:solidFill>
                            <a:srgbClr val="1F2937"/>
                          </a:solidFill>
                        </a:rPr>
                        <a:t>Gemoliz chaqiruvchilar</a:t>
                      </a:r>
                    </a:p>
                  </a:txBody>
                  <a:tcPr marL="73152" marR="73152" marT="36576" marB="36576">
                    <a:solidFill>
                      <a:srgbClr val="FFFFFF"/>
                    </a:solidFill>
                  </a:tcPr>
                </a:tc>
                <a:tc>
                  <a:txBody>
                    <a:bodyPr/>
                    <a:lstStyle/>
                    <a:p>
                      <a:r>
                        <a:rPr sz="1300" b="0">
                          <a:solidFill>
                            <a:srgbClr val="1F2937"/>
                          </a:solidFill>
                        </a:rPr>
                        <a:t>Sarg‘ish tus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Murda dog‘lari rangi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uchun material olish: ‘uch nuqta’ qoidasi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Zaharlovchi modda ma’lum bo‘lsa, namunalar ‘uch nuqta’ qoidasi bo‘yicha olinadi: zahar kirgan, asosan ta’sir etgan va organizmdan chiqqan joydan.</a:t>
            </a:r>
          </a:p>
          <a:p>
            <a:pPr>
              <a:spcAft>
                <a:spcPts val="1200"/>
              </a:spcAft>
            </a:pPr>
            <a:r>
              <a:rPr sz="2200">
                <a:solidFill>
                  <a:srgbClr val="1F2937"/>
                </a:solidFill>
                <a:latin typeface="Calibri"/>
              </a:rPr>
              <a:t>▸  Misol: zahar og‘iz orqali kirib, jigarga ta’sir etsa va siydik bilan chiqsa, oshqozon massasi, jigarning bir qismi va butun buyrak siydik bilan olinadi.</a:t>
            </a:r>
          </a:p>
          <a:p>
            <a:pPr>
              <a:spcAft>
                <a:spcPts val="1200"/>
              </a:spcAft>
            </a:pPr>
            <a:r>
              <a:rPr sz="2200">
                <a:solidFill>
                  <a:srgbClr val="1F2937"/>
                </a:solidFill>
                <a:latin typeface="Calibri"/>
              </a:rPr>
              <a:t>▸  Zahar manbai noma’lum bo‘lsa: bosh miyaning 1/3, o‘pkaning 1/4, jigarning 1/3 qismi o‘t qopi va o‘t bilan, butun buyrak siydik bilan olinadi.</a:t>
            </a:r>
          </a:p>
          <a:p>
            <a:pPr>
              <a:spcAft>
                <a:spcPts val="1200"/>
              </a:spcAft>
            </a:pPr>
            <a:r>
              <a:rPr sz="2200">
                <a:solidFill>
                  <a:srgbClr val="1F2937"/>
                </a:solidFill>
                <a:latin typeface="Calibri"/>
              </a:rPr>
              <a:t>▸  Yana oshqozon massasi, bir metr ichak va 100–200 ml qon olinadi, har biri alohida idishda. Chuqur chirishda 1,5–2,0 kg ‘o‘rta sinama’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Toksikokinetika — zaharning kirishi, taqsimlanishi, metabolizmi va chiqarilishi jarayonlari majmui.</a:t>
            </a:r>
          </a:p>
          <a:p>
            <a:pPr>
              <a:spcAft>
                <a:spcPts val="800"/>
              </a:spcAft>
            </a:pPr>
            <a:r>
              <a:rPr sz="1800">
                <a:solidFill>
                  <a:srgbClr val="1F2937"/>
                </a:solidFill>
                <a:latin typeface="Calibri"/>
              </a:rPr>
              <a:t>▸  Miqdoriy jihat — konsentratsiya o‘zgarishi: etil spirti qonda avval ortadi, so‘ng kamayadi.</a:t>
            </a:r>
          </a:p>
          <a:p>
            <a:pPr>
              <a:spcAft>
                <a:spcPts val="800"/>
              </a:spcAft>
            </a:pPr>
            <a:r>
              <a:rPr sz="1800">
                <a:solidFill>
                  <a:srgbClr val="1F2937"/>
                </a:solidFill>
                <a:latin typeface="Calibri"/>
              </a:rPr>
              <a:t>▸  Sifat jihati — biotransformatsiya: oksidlanish, qaytarilish, gidroliz, sintez; asosan jigarda.</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Organizmga kirish</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To‘qimalarda taqsimlanish</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Metabolizm (biotransformatsiya)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Organizmdan chiqarilish</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 yo‘li organizmda</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136-137, 137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Biotransformatsiya va to‘planish/chiqarilish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Fosfororganik birikmalar oksidlanganda toksikligi kuchayadi, gidrolizga uchrasa ancha susayadi.</a:t>
            </a:r>
          </a:p>
          <a:p>
            <a:pPr>
              <a:spcAft>
                <a:spcPts val="1200"/>
              </a:spcAft>
            </a:pPr>
            <a:r>
              <a:rPr sz="2200">
                <a:solidFill>
                  <a:srgbClr val="1F2937"/>
                </a:solidFill>
                <a:latin typeface="Calibri"/>
              </a:rPr>
              <a:t>▸  Metanoldan formaldegid, etanoldan atsetaldegid, etilenglikoldan oksalat kislotasi hosil bo‘ladi. Metanol va etilenglikol metabolitlari ancha kuchli toksik.</a:t>
            </a:r>
          </a:p>
          <a:p>
            <a:pPr>
              <a:spcAft>
                <a:spcPts val="1200"/>
              </a:spcAft>
            </a:pPr>
            <a:r>
              <a:rPr sz="2200">
                <a:solidFill>
                  <a:srgbClr val="1F2937"/>
                </a:solidFill>
                <a:latin typeface="Calibri"/>
              </a:rPr>
              <a:t>▸  To‘planish: yog‘da eruvchilar — bosh miya, jigar, yog‘ to‘qimasi; suvda eruvchilar — mushak, jigar, buyrak; margimush va qo‘rg‘oshin — suyak, soch.</a:t>
            </a:r>
          </a:p>
          <a:p>
            <a:pPr>
              <a:spcAft>
                <a:spcPts val="1200"/>
              </a:spcAft>
            </a:pPr>
            <a:r>
              <a:rPr sz="2200">
                <a:solidFill>
                  <a:srgbClr val="1F2937"/>
                </a:solidFill>
                <a:latin typeface="Calibri"/>
              </a:rPr>
              <a:t>▸  Chiqarilish: uchuvchanlar — o‘pka, suvda eruvchilar — buyrak, og‘ir metallar — yo‘g‘on ichak, yog‘da eruvchilar — o‘t, narkotiklar va alkogol — sut va so‘lak bezlari.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137, 137-138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Toksikodinamika — zahar bilan organizm o‘rtasidagi o‘zaro ta’sir mexanizmi. U organizmning zaharga va uning metabolitlariga javob reaksiyalari majmuidir.</a:t>
            </a:r>
          </a:p>
          <a:p>
            <a:pPr>
              <a:spcAft>
                <a:spcPts val="1200"/>
              </a:spcAft>
            </a:pPr>
            <a:r>
              <a:rPr sz="2000">
                <a:solidFill>
                  <a:srgbClr val="1F2937"/>
                </a:solidFill>
                <a:latin typeface="Calibri"/>
              </a:rPr>
              <a:t>▸  Diqqat: toksikokinetika ≠ toksikodinamika. Birinchisi modda organizmda nima bo‘lishini, ikkinchisi organizm moddaga qanday javob berishini bildiradi.</a:t>
            </a:r>
          </a:p>
          <a:p>
            <a:pPr>
              <a:spcAft>
                <a:spcPts val="1200"/>
              </a:spcAft>
            </a:pPr>
            <a:r>
              <a:rPr sz="2000">
                <a:solidFill>
                  <a:srgbClr val="1F2937"/>
                </a:solidFill>
                <a:latin typeface="Calibri"/>
              </a:rPr>
              <a:t>▸  Ta’sir shartli ravishda birlamchi toksik, keyingi toksik va metatoksik bosqichlarga bo‘linadi. Sirka kislotasi avval shilliq qavatni kuydiradi, so‘ng atsidoz tufayli gemoliz, keyin toksik gepatit va nefroz chiqadi.</a:t>
            </a:r>
          </a:p>
          <a:p>
            <a:pPr>
              <a:spcAft>
                <a:spcPts val="1200"/>
              </a:spcAft>
            </a:pPr>
            <a:r>
              <a:rPr sz="2000">
                <a:solidFill>
                  <a:srgbClr val="1F2937"/>
                </a:solidFill>
                <a:latin typeface="Calibri"/>
              </a:rPr>
              <a:t>▸  Etilenglikolning butun molekulasi narkotik ta’sir qiladi, metaboliti oksalat kislotasi esa jigar va buyrakni zaharlaydi. Metanolda ham shunday: dastlab narkotik, keyin metabolit ta’siri.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 136-138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toksikokinetika va toksikodinamika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shaxs etil spirti o‘rniga metil spirti (metanol) ichgan. Dastlab qisqa, kuchsiz mastlik va bosh og‘rig‘i kuzatilgan, so‘ng chuqur uyqu.</a:t>
            </a:r>
          </a:p>
          <a:p>
            <a:pPr>
              <a:spcAft>
                <a:spcPts val="1200"/>
              </a:spcAft>
            </a:pPr>
            <a:r>
              <a:rPr sz="2000">
                <a:solidFill>
                  <a:srgbClr val="1F2937"/>
                </a:solidFill>
                <a:latin typeface="Calibri"/>
              </a:rPr>
              <a:t>▸  Bir necha soatdan bir necha kungacha ahvol yaxshi bo‘lgan. Keyin ahvol keskin yomonlashib, ko‘rish buzilgan, 2-3 kunda nafas markazi falajidan o‘lim ehtimoli bor.</a:t>
            </a:r>
          </a:p>
          <a:p>
            <a:pPr>
              <a:spcAft>
                <a:spcPts val="1200"/>
              </a:spcAft>
            </a:pPr>
            <a:r>
              <a:rPr sz="2000">
                <a:solidFill>
                  <a:srgbClr val="1F2937"/>
                </a:solidFill>
                <a:latin typeface="Calibri"/>
              </a:rPr>
              <a:t>▸  Savol: nima uchun yashirin davrdan keyin ahvol og‘irlashdi? Fikrlang: metanol oksidlanishi qanday kechadi va qaysi metabolitlar hosil bo‘ladi?</a:t>
            </a:r>
          </a:p>
          <a:p>
            <a:pPr>
              <a:spcAft>
                <a:spcPts val="1200"/>
              </a:spcAft>
            </a:pPr>
            <a:r>
              <a:rPr sz="2000">
                <a:solidFill>
                  <a:srgbClr val="1F2937"/>
                </a:solidFill>
                <a:latin typeface="Calibri"/>
              </a:rPr>
              <a:t>▸  Javob yo‘nalishi: metanol etil spirtidan sekin oksidlanadi, formaldegid va chumoli kislotasi hosil bo‘ladi. Kardio-, nefro- va neyrotoksik o‘zgarishlar formaldegidga bog‘liq.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161, 138, 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sud-tibbiy tasnifi (V.L. Popov)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Zaharlar asosan mahalliy va asosan umumiy ta’sir etuvchilarga bo‘linadi.</a:t>
            </a:r>
          </a:p>
          <a:p>
            <a:pPr>
              <a:spcAft>
                <a:spcPts val="800"/>
              </a:spcAft>
            </a:pPr>
            <a:r>
              <a:rPr sz="1800">
                <a:solidFill>
                  <a:srgbClr val="1F2937"/>
                </a:solidFill>
                <a:latin typeface="Calibri"/>
              </a:rPr>
              <a:t>▸  Umumiy ta’sirli zaharlar qonga so‘rilgach ta’sir etgani uchun rezorbtiv zaharlar ham deyiladi.</a:t>
            </a:r>
          </a:p>
          <a:p>
            <a:pPr>
              <a:spcAft>
                <a:spcPts val="800"/>
              </a:spcAft>
            </a:pPr>
            <a:r>
              <a:rPr sz="1800">
                <a:solidFill>
                  <a:srgbClr val="1F2937"/>
                </a:solidFill>
                <a:latin typeface="Calibri"/>
              </a:rPr>
              <a:t>▸  Diqqat: mahalliy zaharlar ham umumiy reaksiya chaqiradi, funksionallarda esa morfologik o‘zgarish kam.</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226197"/>
                <a:gridCol w="1226197"/>
                <a:gridCol w="2835580"/>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Misollar</a:t>
                      </a:r>
                    </a:p>
                  </a:txBody>
                  <a:tcPr marL="73152" marR="73152" marT="36576" marB="36576">
                    <a:solidFill>
                      <a:srgbClr val="0B1F3A"/>
                    </a:solidFill>
                  </a:tcPr>
                </a:tc>
              </a:tr>
              <a:tr h="411480">
                <a:tc>
                  <a:txBody>
                    <a:bodyPr/>
                    <a:lstStyle/>
                    <a:p>
                      <a:r>
                        <a:rPr sz="1200" b="0">
                          <a:solidFill>
                            <a:srgbClr val="1F2937"/>
                          </a:solidFill>
                        </a:rPr>
                        <a:t>Mahalliy</a:t>
                      </a:r>
                    </a:p>
                  </a:txBody>
                  <a:tcPr marL="73152" marR="73152" marT="36576" marB="36576">
                    <a:solidFill>
                      <a:srgbClr val="E8EEF6"/>
                    </a:solidFill>
                  </a:tcPr>
                </a:tc>
                <a:tc>
                  <a:txBody>
                    <a:bodyPr/>
                    <a:lstStyle/>
                    <a:p>
                      <a:r>
                        <a:rPr sz="1200" b="0">
                          <a:solidFill>
                            <a:srgbClr val="1F2937"/>
                          </a:solidFill>
                        </a:rPr>
                        <a:t>Asosan mahalliy</a:t>
                      </a:r>
                    </a:p>
                  </a:txBody>
                  <a:tcPr marL="73152" marR="73152" marT="36576" marB="36576">
                    <a:solidFill>
                      <a:srgbClr val="E8EEF6"/>
                    </a:solidFill>
                  </a:tcPr>
                </a:tc>
                <a:tc>
                  <a:txBody>
                    <a:bodyPr/>
                    <a:lstStyle/>
                    <a:p>
                      <a:r>
                        <a:rPr sz="1200" b="0">
                          <a:solidFill>
                            <a:srgbClr val="1F2937"/>
                          </a:solidFill>
                        </a:rPr>
                        <a:t>Kislotalar, ishqorlar, yod tindirmasi</a:t>
                      </a:r>
                    </a:p>
                  </a:txBody>
                  <a:tcPr marL="73152" marR="73152" marT="36576" marB="36576">
                    <a:solidFill>
                      <a:srgbClr val="E8EEF6"/>
                    </a:solidFill>
                  </a:tcPr>
                </a:tc>
              </a:tr>
              <a:tr h="411480">
                <a:tc>
                  <a:txBody>
                    <a:bodyPr/>
                    <a:lstStyle/>
                    <a:p>
                      <a:r>
                        <a:rPr sz="1200" b="0">
                          <a:solidFill>
                            <a:srgbClr val="1F2937"/>
                          </a:solidFill>
                        </a:rPr>
                        <a:t>Umumiy</a:t>
                      </a:r>
                    </a:p>
                  </a:txBody>
                  <a:tcPr marL="73152" marR="73152" marT="36576" marB="36576">
                    <a:solidFill>
                      <a:srgbClr val="FFFFFF"/>
                    </a:solidFill>
                  </a:tcPr>
                </a:tc>
                <a:tc>
                  <a:txBody>
                    <a:bodyPr/>
                    <a:lstStyle/>
                    <a:p>
                      <a:r>
                        <a:rPr sz="1200" b="0">
                          <a:solidFill>
                            <a:srgbClr val="1F2937"/>
                          </a:solidFill>
                        </a:rPr>
                        <a:t>Destruktiv</a:t>
                      </a:r>
                    </a:p>
                  </a:txBody>
                  <a:tcPr marL="73152" marR="73152" marT="36576" marB="36576">
                    <a:solidFill>
                      <a:srgbClr val="FFFFFF"/>
                    </a:solidFill>
                  </a:tcPr>
                </a:tc>
                <a:tc>
                  <a:txBody>
                    <a:bodyPr/>
                    <a:lstStyle/>
                    <a:p>
                      <a:r>
                        <a:rPr sz="1200" b="0">
                          <a:solidFill>
                            <a:srgbClr val="1F2937"/>
                          </a:solidFill>
                        </a:rPr>
                        <a:t>Simob, qo‘rg‘oshin, margimush</a:t>
                      </a:r>
                    </a:p>
                  </a:txBody>
                  <a:tcPr marL="73152" marR="73152" marT="36576" marB="36576">
                    <a:solidFill>
                      <a:srgbClr val="FFFFFF"/>
                    </a:solidFill>
                  </a:tcPr>
                </a:tc>
              </a:tr>
              <a:tr h="411480">
                <a:tc>
                  <a:txBody>
                    <a:bodyPr/>
                    <a:lstStyle/>
                    <a:p>
                      <a:r>
                        <a:rPr sz="1200" b="0">
                          <a:solidFill>
                            <a:srgbClr val="1F2937"/>
                          </a:solidFill>
                        </a:rPr>
                        <a:t>Umumiy</a:t>
                      </a:r>
                    </a:p>
                  </a:txBody>
                  <a:tcPr marL="73152" marR="73152" marT="36576" marB="36576">
                    <a:solidFill>
                      <a:srgbClr val="E8EEF6"/>
                    </a:solidFill>
                  </a:tcPr>
                </a:tc>
                <a:tc>
                  <a:txBody>
                    <a:bodyPr/>
                    <a:lstStyle/>
                    <a:p>
                      <a:r>
                        <a:rPr sz="1200" b="0">
                          <a:solidFill>
                            <a:srgbClr val="1F2937"/>
                          </a:solidFill>
                        </a:rPr>
                        <a:t>Gemotrop (qon)</a:t>
                      </a:r>
                    </a:p>
                  </a:txBody>
                  <a:tcPr marL="73152" marR="73152" marT="36576" marB="36576">
                    <a:solidFill>
                      <a:srgbClr val="E8EEF6"/>
                    </a:solidFill>
                  </a:tcPr>
                </a:tc>
                <a:tc>
                  <a:txBody>
                    <a:bodyPr/>
                    <a:lstStyle/>
                    <a:p>
                      <a:r>
                        <a:rPr sz="1200" b="0">
                          <a:solidFill>
                            <a:srgbClr val="1F2937"/>
                          </a:solidFill>
                        </a:rPr>
                        <a:t>Is gazi, arsin, ritsin</a:t>
                      </a:r>
                    </a:p>
                  </a:txBody>
                  <a:tcPr marL="73152" marR="73152" marT="36576" marB="36576">
                    <a:solidFill>
                      <a:srgbClr val="E8EEF6"/>
                    </a:solidFill>
                  </a:tcPr>
                </a:tc>
              </a:tr>
              <a:tr h="411480">
                <a:tc>
                  <a:txBody>
                    <a:bodyPr/>
                    <a:lstStyle/>
                    <a:p>
                      <a:r>
                        <a:rPr sz="1200" b="0">
                          <a:solidFill>
                            <a:srgbClr val="1F2937"/>
                          </a:solidFill>
                        </a:rPr>
                        <a:t>Umumiy</a:t>
                      </a:r>
                    </a:p>
                  </a:txBody>
                  <a:tcPr marL="73152" marR="73152" marT="36576" marB="36576">
                    <a:solidFill>
                      <a:srgbClr val="FFFFFF"/>
                    </a:solidFill>
                  </a:tcPr>
                </a:tc>
                <a:tc>
                  <a:txBody>
                    <a:bodyPr/>
                    <a:lstStyle/>
                    <a:p>
                      <a:r>
                        <a:rPr sz="1200" b="0">
                          <a:solidFill>
                            <a:srgbClr val="1F2937"/>
                          </a:solidFill>
                        </a:rPr>
                        <a:t>Funksional</a:t>
                      </a:r>
                    </a:p>
                  </a:txBody>
                  <a:tcPr marL="73152" marR="73152" marT="36576" marB="36576">
                    <a:solidFill>
                      <a:srgbClr val="FFFFFF"/>
                    </a:solidFill>
                  </a:tcPr>
                </a:tc>
                <a:tc>
                  <a:txBody>
                    <a:bodyPr/>
                    <a:lstStyle/>
                    <a:p>
                      <a:r>
                        <a:rPr sz="1200" b="0">
                          <a:solidFill>
                            <a:srgbClr val="1F2937"/>
                          </a:solidFill>
                        </a:rPr>
                        <a:t>Sianidlar, etil spirti, strixnin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Popov tasnifi (qisqartirilgan)</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 138, 156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O‘yuvchi moddalar: kislotalar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Kislotaning shikastlovchi ta’sirini erkin vodorod ionlari ko‘rsatadi: to‘qimani suvsizlantirib, oqsilni ivitadi va koagulyatsion (quruq) nekroz hosil qiladi.</a:t>
            </a:r>
          </a:p>
          <a:p>
            <a:pPr>
              <a:spcAft>
                <a:spcPts val="1200"/>
              </a:spcAft>
            </a:pPr>
            <a:r>
              <a:rPr sz="2000">
                <a:solidFill>
                  <a:srgbClr val="1F2937"/>
                </a:solidFill>
                <a:latin typeface="Calibri"/>
              </a:rPr>
              <a:t>▸  Nekroz joyida quruq, zich, qo‘ng‘ir-qora strup paydo bo‘ladi, atrofida yallig‘lanish bo‘ladi. Gemoglobin nordon gematin va metgemoglobinga aylanadi.</a:t>
            </a:r>
          </a:p>
          <a:p>
            <a:pPr>
              <a:spcAft>
                <a:spcPts val="1200"/>
              </a:spcAft>
            </a:pPr>
            <a:r>
              <a:rPr sz="2000">
                <a:solidFill>
                  <a:srgbClr val="1F2937"/>
                </a:solidFill>
                <a:latin typeface="Calibri"/>
              </a:rPr>
              <a:t>▸  Qizilo‘ngach va oshqozonda kuchli og‘riq, qonli qusuq kuzatiladi. Dastlabki soatlarda shok, asfiksiya va ichki qon ketish o‘limga olib kelishi mumkin.</a:t>
            </a:r>
          </a:p>
          <a:p>
            <a:pPr>
              <a:spcAft>
                <a:spcPts val="1200"/>
              </a:spcAft>
            </a:pPr>
            <a:r>
              <a:rPr sz="2000">
                <a:solidFill>
                  <a:srgbClr val="1F2937"/>
                </a:solidFill>
                <a:latin typeface="Calibri"/>
              </a:rPr>
              <a:t>▸  Letal doza: sulfat va nitrat kislotalari 5–10 ml, xlorid 15–20 ml. Kech o‘limga pnevmoniya, o‘tkir jigar-buyrak yetishmovchiligi, mediastenit yoki peritonit sabab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140, 140-141, 141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Kislotalar: murda belgilari va turlari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Organik kislotalar kuchsiz dissotsiatsiyalanadi: butun molekulasi shikastlab, yuzaki nekroz va kuchli yallig‘lanish beradi.</a:t>
            </a:r>
          </a:p>
          <a:p>
            <a:pPr>
              <a:spcAft>
                <a:spcPts val="800"/>
              </a:spcAft>
            </a:pPr>
            <a:r>
              <a:rPr sz="1800">
                <a:solidFill>
                  <a:srgbClr val="1F2937"/>
                </a:solidFill>
                <a:latin typeface="Calibri"/>
              </a:rPr>
              <a:t>▸  Fenol (karbol kislotasi) — nerv-protoplazmatik zahar: koma, nafas markazi falaji; siydik havoda yashil-jigarrang bo‘ladi.</a:t>
            </a:r>
          </a:p>
          <a:p>
            <a:pPr>
              <a:spcAft>
                <a:spcPts val="800"/>
              </a:spcAft>
            </a:pPr>
            <a:r>
              <a:rPr sz="1800">
                <a:solidFill>
                  <a:srgbClr val="1F2937"/>
                </a:solidFill>
                <a:latin typeface="Calibri"/>
              </a:rPr>
              <a:t>▸  Diqqat: sirka kislotasida mahalliy ta’sir bilan birga gemolitik (rezorbtiv) ta’sir boshqa kislotalardan kuchliroq.</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890606"/>
                <a:gridCol w="2226515"/>
                <a:gridCol w="2170852"/>
              </a:tblGrid>
              <a:tr h="411480">
                <a:tc>
                  <a:txBody>
                    <a:bodyPr/>
                    <a:lstStyle/>
                    <a:p>
                      <a:r>
                        <a:rPr sz="1300" b="1">
                          <a:solidFill>
                            <a:srgbClr val="FFFFFF"/>
                          </a:solidFill>
                        </a:rPr>
                        <a:t>Kislota</a:t>
                      </a:r>
                    </a:p>
                  </a:txBody>
                  <a:tcPr marL="73152" marR="73152" marT="36576" marB="36576">
                    <a:solidFill>
                      <a:srgbClr val="0B1F3A"/>
                    </a:solidFill>
                  </a:tcPr>
                </a:tc>
                <a:tc>
                  <a:txBody>
                    <a:bodyPr/>
                    <a:lstStyle/>
                    <a:p>
                      <a:r>
                        <a:rPr sz="1300" b="1">
                          <a:solidFill>
                            <a:srgbClr val="FFFFFF"/>
                          </a:solidFill>
                        </a:rPr>
                        <a:t>Murda belgisi</a:t>
                      </a:r>
                    </a:p>
                  </a:txBody>
                  <a:tcPr marL="73152" marR="73152" marT="36576" marB="36576">
                    <a:solidFill>
                      <a:srgbClr val="0B1F3A"/>
                    </a:solidFill>
                  </a:tcPr>
                </a:tc>
                <a:tc>
                  <a:txBody>
                    <a:bodyPr/>
                    <a:lstStyle/>
                    <a:p>
                      <a:r>
                        <a:rPr sz="1300" b="1">
                          <a:solidFill>
                            <a:srgbClr val="FFFFFF"/>
                          </a:solidFill>
                        </a:rPr>
                        <a:t>Xavfi</a:t>
                      </a:r>
                    </a:p>
                  </a:txBody>
                  <a:tcPr marL="73152" marR="73152" marT="36576" marB="36576">
                    <a:solidFill>
                      <a:srgbClr val="0B1F3A"/>
                    </a:solidFill>
                  </a:tcPr>
                </a:tc>
              </a:tr>
              <a:tr h="411480">
                <a:tc>
                  <a:txBody>
                    <a:bodyPr/>
                    <a:lstStyle/>
                    <a:p>
                      <a:r>
                        <a:rPr sz="1200" b="0">
                          <a:solidFill>
                            <a:srgbClr val="1F2937"/>
                          </a:solidFill>
                        </a:rPr>
                        <a:t>Sulfat</a:t>
                      </a:r>
                    </a:p>
                  </a:txBody>
                  <a:tcPr marL="73152" marR="73152" marT="36576" marB="36576">
                    <a:solidFill>
                      <a:srgbClr val="E8EEF6"/>
                    </a:solidFill>
                  </a:tcPr>
                </a:tc>
                <a:tc>
                  <a:txBody>
                    <a:bodyPr/>
                    <a:lstStyle/>
                    <a:p>
                      <a:r>
                        <a:rPr sz="1200" b="0">
                          <a:solidFill>
                            <a:srgbClr val="1F2937"/>
                          </a:solidFill>
                        </a:rPr>
                        <a:t>Oshqozon shilliq qavati qo‘ng‘ir-qora</a:t>
                      </a:r>
                    </a:p>
                  </a:txBody>
                  <a:tcPr marL="73152" marR="73152" marT="36576" marB="36576">
                    <a:solidFill>
                      <a:srgbClr val="E8EEF6"/>
                    </a:solidFill>
                  </a:tcPr>
                </a:tc>
                <a:tc>
                  <a:txBody>
                    <a:bodyPr/>
                    <a:lstStyle/>
                    <a:p>
                      <a:r>
                        <a:rPr sz="1200" b="0">
                          <a:solidFill>
                            <a:srgbClr val="1F2937"/>
                          </a:solidFill>
                        </a:rPr>
                        <a:t>Perforatsiya ko‘proq kuzatiladi</a:t>
                      </a:r>
                    </a:p>
                  </a:txBody>
                  <a:tcPr marL="73152" marR="73152" marT="36576" marB="36576">
                    <a:solidFill>
                      <a:srgbClr val="E8EEF6"/>
                    </a:solidFill>
                  </a:tcPr>
                </a:tc>
              </a:tr>
              <a:tr h="411480">
                <a:tc>
                  <a:txBody>
                    <a:bodyPr/>
                    <a:lstStyle/>
                    <a:p>
                      <a:r>
                        <a:rPr sz="1200" b="0">
                          <a:solidFill>
                            <a:srgbClr val="1F2937"/>
                          </a:solidFill>
                        </a:rPr>
                        <a:t>Nitrat</a:t>
                      </a:r>
                    </a:p>
                  </a:txBody>
                  <a:tcPr marL="73152" marR="73152" marT="36576" marB="36576">
                    <a:solidFill>
                      <a:srgbClr val="FFFFFF"/>
                    </a:solidFill>
                  </a:tcPr>
                </a:tc>
                <a:tc>
                  <a:txBody>
                    <a:bodyPr/>
                    <a:lstStyle/>
                    <a:p>
                      <a:r>
                        <a:rPr sz="1200" b="0">
                          <a:solidFill>
                            <a:srgbClr val="1F2937"/>
                          </a:solidFill>
                        </a:rPr>
                        <a:t>Sarg‘ish (30% dan yuqori); bo‘g‘uvchi hid</a:t>
                      </a:r>
                    </a:p>
                  </a:txBody>
                  <a:tcPr marL="73152" marR="73152" marT="36576" marB="36576">
                    <a:solidFill>
                      <a:srgbClr val="FFFFFF"/>
                    </a:solidFill>
                  </a:tcPr>
                </a:tc>
                <a:tc>
                  <a:txBody>
                    <a:bodyPr/>
                    <a:lstStyle/>
                    <a:p>
                      <a:r>
                        <a:rPr sz="1200" b="0">
                          <a:solidFill>
                            <a:srgbClr val="1F2937"/>
                          </a:solidFill>
                        </a:rPr>
                        <a:t>O‘pka toksik shishi, pnevmoniya</a:t>
                      </a:r>
                    </a:p>
                  </a:txBody>
                  <a:tcPr marL="73152" marR="73152" marT="36576" marB="36576">
                    <a:solidFill>
                      <a:srgbClr val="FFFFFF"/>
                    </a:solidFill>
                  </a:tcPr>
                </a:tc>
              </a:tr>
              <a:tr h="411480">
                <a:tc>
                  <a:txBody>
                    <a:bodyPr/>
                    <a:lstStyle/>
                    <a:p>
                      <a:r>
                        <a:rPr sz="1200" b="0">
                          <a:solidFill>
                            <a:srgbClr val="1F2937"/>
                          </a:solidFill>
                        </a:rPr>
                        <a:t>Xlorid</a:t>
                      </a:r>
                    </a:p>
                  </a:txBody>
                  <a:tcPr marL="73152" marR="73152" marT="36576" marB="36576">
                    <a:solidFill>
                      <a:srgbClr val="E8EEF6"/>
                    </a:solidFill>
                  </a:tcPr>
                </a:tc>
                <a:tc>
                  <a:txBody>
                    <a:bodyPr/>
                    <a:lstStyle/>
                    <a:p>
                      <a:r>
                        <a:rPr sz="1200" b="0">
                          <a:solidFill>
                            <a:srgbClr val="1F2937"/>
                          </a:solidFill>
                        </a:rPr>
                        <a:t>Qo‘ng‘ir-kulrang shilliq qavat</a:t>
                      </a:r>
                    </a:p>
                  </a:txBody>
                  <a:tcPr marL="73152" marR="73152" marT="36576" marB="36576">
                    <a:solidFill>
                      <a:srgbClr val="E8EEF6"/>
                    </a:solidFill>
                  </a:tcPr>
                </a:tc>
                <a:tc>
                  <a:txBody>
                    <a:bodyPr/>
                    <a:lstStyle/>
                    <a:p>
                      <a:r>
                        <a:rPr sz="1200" b="0">
                          <a:solidFill>
                            <a:srgbClr val="1F2937"/>
                          </a:solidFill>
                        </a:rPr>
                        <a:t>Hiqildoq va o‘pka shishi ko‘proq</a:t>
                      </a:r>
                    </a:p>
                  </a:txBody>
                  <a:tcPr marL="73152" marR="73152" marT="36576" marB="36576">
                    <a:solidFill>
                      <a:srgbClr val="E8EEF6"/>
                    </a:solidFill>
                  </a:tcPr>
                </a:tc>
              </a:tr>
              <a:tr h="411480">
                <a:tc>
                  <a:txBody>
                    <a:bodyPr/>
                    <a:lstStyle/>
                    <a:p>
                      <a:r>
                        <a:rPr sz="1200" b="0">
                          <a:solidFill>
                            <a:srgbClr val="1F2937"/>
                          </a:solidFill>
                        </a:rPr>
                        <a:t>Sirka</a:t>
                      </a:r>
                    </a:p>
                  </a:txBody>
                  <a:tcPr marL="73152" marR="73152" marT="36576" marB="36576">
                    <a:solidFill>
                      <a:srgbClr val="FFFFFF"/>
                    </a:solidFill>
                  </a:tcPr>
                </a:tc>
                <a:tc>
                  <a:txBody>
                    <a:bodyPr/>
                    <a:lstStyle/>
                    <a:p>
                      <a:r>
                        <a:rPr sz="1200" b="0">
                          <a:solidFill>
                            <a:srgbClr val="1F2937"/>
                          </a:solidFill>
                        </a:rPr>
                        <a:t>Ichki a’zolardan o‘tkir sirka hidi</a:t>
                      </a:r>
                    </a:p>
                  </a:txBody>
                  <a:tcPr marL="73152" marR="73152" marT="36576" marB="36576">
                    <a:solidFill>
                      <a:srgbClr val="FFFFFF"/>
                    </a:solidFill>
                  </a:tcPr>
                </a:tc>
                <a:tc>
                  <a:txBody>
                    <a:bodyPr/>
                    <a:lstStyle/>
                    <a:p>
                      <a:r>
                        <a:rPr sz="1200" b="0">
                          <a:solidFill>
                            <a:srgbClr val="1F2937"/>
                          </a:solidFill>
                        </a:rPr>
                        <a:t>Gemoliz, o‘tkir buyrak yetishmovchiligi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Kislotalar farqi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141, 142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Ishqorlar va ammiak (nashatir spirti)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Ishqorlar gidroksil anionlari bilan oqsillarni suyultirib, yog‘larni sovunlab, kolliqvatsion nekroz beradi.</a:t>
            </a:r>
          </a:p>
          <a:p>
            <a:pPr>
              <a:spcAft>
                <a:spcPts val="800"/>
              </a:spcAft>
            </a:pPr>
            <a:r>
              <a:rPr sz="1800">
                <a:solidFill>
                  <a:srgbClr val="1F2937"/>
                </a:solidFill>
                <a:latin typeface="Calibri"/>
              </a:rPr>
              <a:t>▸  Zararlangan joy yumshoq, shishgan, sirpanuvchan; tomirlar yemirilib, chiqqan qon ivimaydi.</a:t>
            </a:r>
          </a:p>
          <a:p>
            <a:pPr>
              <a:spcAft>
                <a:spcPts val="800"/>
              </a:spcAft>
            </a:pPr>
            <a:r>
              <a:rPr sz="1800">
                <a:solidFill>
                  <a:srgbClr val="1F2937"/>
                </a:solidFill>
                <a:latin typeface="Calibri"/>
              </a:rPr>
              <a:t>▸  Diqqat: nashatir spirti mahalliy kuchsiz, ammo so‘rilgach nafas markazini buzadi; alkogol bilan xavfli.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95383"/>
                <a:gridCol w="2426247"/>
                <a:gridCol w="1866344"/>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K/Na gidroksid</a:t>
                      </a:r>
                    </a:p>
                  </a:txBody>
                  <a:tcPr marL="73152" marR="73152" marT="36576" marB="36576">
                    <a:solidFill>
                      <a:srgbClr val="0B1F3A"/>
                    </a:solidFill>
                  </a:tcPr>
                </a:tc>
                <a:tc>
                  <a:txBody>
                    <a:bodyPr/>
                    <a:lstStyle/>
                    <a:p>
                      <a:r>
                        <a:rPr sz="1300" b="1">
                          <a:solidFill>
                            <a:srgbClr val="FFFFFF"/>
                          </a:solidFill>
                        </a:rPr>
                        <a:t>Nashatir spirt</a:t>
                      </a:r>
                    </a:p>
                  </a:txBody>
                  <a:tcPr marL="73152" marR="73152" marT="36576" marB="36576">
                    <a:solidFill>
                      <a:srgbClr val="0B1F3A"/>
                    </a:solidFill>
                  </a:tcPr>
                </a:tc>
              </a:tr>
              <a:tr h="411480">
                <a:tc>
                  <a:txBody>
                    <a:bodyPr/>
                    <a:lstStyle/>
                    <a:p>
                      <a:r>
                        <a:rPr sz="1200" b="0">
                          <a:solidFill>
                            <a:srgbClr val="1F2937"/>
                          </a:solidFill>
                        </a:rPr>
                        <a:t>Letal doza</a:t>
                      </a:r>
                    </a:p>
                  </a:txBody>
                  <a:tcPr marL="73152" marR="73152" marT="36576" marB="36576">
                    <a:solidFill>
                      <a:srgbClr val="E8EEF6"/>
                    </a:solidFill>
                  </a:tcPr>
                </a:tc>
                <a:tc>
                  <a:txBody>
                    <a:bodyPr/>
                    <a:lstStyle/>
                    <a:p>
                      <a:r>
                        <a:rPr sz="1200" b="0">
                          <a:solidFill>
                            <a:srgbClr val="1F2937"/>
                          </a:solidFill>
                        </a:rPr>
                        <a:t>10–15 g</a:t>
                      </a:r>
                    </a:p>
                  </a:txBody>
                  <a:tcPr marL="73152" marR="73152" marT="36576" marB="36576">
                    <a:solidFill>
                      <a:srgbClr val="E8EEF6"/>
                    </a:solidFill>
                  </a:tcPr>
                </a:tc>
                <a:tc>
                  <a:txBody>
                    <a:bodyPr/>
                    <a:lstStyle/>
                    <a:p>
                      <a:r>
                        <a:rPr sz="1200" b="0">
                          <a:solidFill>
                            <a:srgbClr val="1F2937"/>
                          </a:solidFill>
                        </a:rPr>
                        <a:t>25–40 ml</a:t>
                      </a:r>
                    </a:p>
                  </a:txBody>
                  <a:tcPr marL="73152" marR="73152" marT="36576" marB="36576">
                    <a:solidFill>
                      <a:srgbClr val="E8EEF6"/>
                    </a:solidFill>
                  </a:tcPr>
                </a:tc>
              </a:tr>
              <a:tr h="411480">
                <a:tc>
                  <a:txBody>
                    <a:bodyPr/>
                    <a:lstStyle/>
                    <a:p>
                      <a:r>
                        <a:rPr sz="1200" b="0">
                          <a:solidFill>
                            <a:srgbClr val="1F2937"/>
                          </a:solidFill>
                        </a:rPr>
                        <a:t>Mahalliy ta’sir</a:t>
                      </a:r>
                    </a:p>
                  </a:txBody>
                  <a:tcPr marL="73152" marR="73152" marT="36576" marB="36576">
                    <a:solidFill>
                      <a:srgbClr val="FFFFFF"/>
                    </a:solidFill>
                  </a:tcPr>
                </a:tc>
                <a:tc>
                  <a:txBody>
                    <a:bodyPr/>
                    <a:lstStyle/>
                    <a:p>
                      <a:r>
                        <a:rPr sz="1200" b="0">
                          <a:solidFill>
                            <a:srgbClr val="1F2937"/>
                          </a:solidFill>
                        </a:rPr>
                        <a:t>Kuchli</a:t>
                      </a:r>
                    </a:p>
                  </a:txBody>
                  <a:tcPr marL="73152" marR="73152" marT="36576" marB="36576">
                    <a:solidFill>
                      <a:srgbClr val="FFFFFF"/>
                    </a:solidFill>
                  </a:tcPr>
                </a:tc>
                <a:tc>
                  <a:txBody>
                    <a:bodyPr/>
                    <a:lstStyle/>
                    <a:p>
                      <a:r>
                        <a:rPr sz="1200" b="0">
                          <a:solidFill>
                            <a:srgbClr val="1F2937"/>
                          </a:solidFill>
                        </a:rPr>
                        <a:t>Kuchsizroq</a:t>
                      </a:r>
                    </a:p>
                  </a:txBody>
                  <a:tcPr marL="73152" marR="73152" marT="36576" marB="36576">
                    <a:solidFill>
                      <a:srgbClr val="FFFFFF"/>
                    </a:solidFill>
                  </a:tcPr>
                </a:tc>
              </a:tr>
              <a:tr h="411480">
                <a:tc>
                  <a:txBody>
                    <a:bodyPr/>
                    <a:lstStyle/>
                    <a:p>
                      <a:r>
                        <a:rPr sz="1200" b="0">
                          <a:solidFill>
                            <a:srgbClr val="1F2937"/>
                          </a:solidFill>
                        </a:rPr>
                        <a:t>Qonga so‘rilgach</a:t>
                      </a:r>
                    </a:p>
                  </a:txBody>
                  <a:tcPr marL="73152" marR="73152" marT="36576" marB="36576">
                    <a:solidFill>
                      <a:srgbClr val="E8EEF6"/>
                    </a:solidFill>
                  </a:tcPr>
                </a:tc>
                <a:tc>
                  <a:txBody>
                    <a:bodyPr/>
                    <a:lstStyle/>
                    <a:p>
                      <a:r>
                        <a:rPr sz="1200" b="0">
                          <a:solidFill>
                            <a:srgbClr val="1F2937"/>
                          </a:solidFill>
                        </a:rPr>
                        <a:t>Alkaloz, modda almashinuvi buzilishi</a:t>
                      </a:r>
                    </a:p>
                  </a:txBody>
                  <a:tcPr marL="73152" marR="73152" marT="36576" marB="36576">
                    <a:solidFill>
                      <a:srgbClr val="E8EEF6"/>
                    </a:solidFill>
                  </a:tcPr>
                </a:tc>
                <a:tc>
                  <a:txBody>
                    <a:bodyPr/>
                    <a:lstStyle/>
                    <a:p>
                      <a:r>
                        <a:rPr sz="1200" b="0">
                          <a:solidFill>
                            <a:srgbClr val="1F2937"/>
                          </a:solidFill>
                        </a:rPr>
                        <a:t>MNT va nafas markazi buzilishi</a:t>
                      </a:r>
                    </a:p>
                  </a:txBody>
                  <a:tcPr marL="73152" marR="73152" marT="36576" marB="36576">
                    <a:solidFill>
                      <a:srgbClr val="E8EEF6"/>
                    </a:solidFill>
                  </a:tcPr>
                </a:tc>
              </a:tr>
              <a:tr h="411480">
                <a:tc>
                  <a:txBody>
                    <a:bodyPr/>
                    <a:lstStyle/>
                    <a:p>
                      <a:r>
                        <a:rPr sz="1200" b="0">
                          <a:solidFill>
                            <a:srgbClr val="1F2937"/>
                          </a:solidFill>
                        </a:rPr>
                        <a:t>Murda belgisi</a:t>
                      </a:r>
                    </a:p>
                  </a:txBody>
                  <a:tcPr marL="73152" marR="73152" marT="36576" marB="36576">
                    <a:solidFill>
                      <a:srgbClr val="FFFFFF"/>
                    </a:solidFill>
                  </a:tcPr>
                </a:tc>
                <a:tc>
                  <a:txBody>
                    <a:bodyPr/>
                    <a:lstStyle/>
                    <a:p>
                      <a:r>
                        <a:rPr sz="1200" b="0">
                          <a:solidFill>
                            <a:srgbClr val="1F2937"/>
                          </a:solidFill>
                        </a:rPr>
                        <a:t>Oshqozon devori yumshoq, oson yirtiladi</a:t>
                      </a:r>
                    </a:p>
                  </a:txBody>
                  <a:tcPr marL="73152" marR="73152" marT="36576" marB="36576">
                    <a:solidFill>
                      <a:srgbClr val="FFFFFF"/>
                    </a:solidFill>
                  </a:tcPr>
                </a:tc>
                <a:tc>
                  <a:txBody>
                    <a:bodyPr/>
                    <a:lstStyle/>
                    <a:p>
                      <a:r>
                        <a:rPr sz="1200" b="0">
                          <a:solidFill>
                            <a:srgbClr val="1F2937"/>
                          </a:solidFill>
                        </a:rPr>
                        <a:t>Ichki a’zolardan ammiak hidi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Ishqorlar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142-143, 143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Boshqa o‘yuvchi 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Formalin (formaldegidning 37–40% eritmasi) tasodifan yoki o‘z-o‘zini o‘ldirish uchun ichilishi mumkin. Qizilo‘ngach va oshqozon shilliq qavati o‘zgarishsiz, fiksatsiyalangan ko‘rinadi.</a:t>
            </a:r>
          </a:p>
          <a:p>
            <a:pPr>
              <a:spcAft>
                <a:spcPts val="1200"/>
              </a:spcAft>
            </a:pPr>
            <a:r>
              <a:rPr sz="2000">
                <a:solidFill>
                  <a:srgbClr val="1F2937"/>
                </a:solidFill>
                <a:latin typeface="Calibri"/>
              </a:rPr>
              <a:t>▸  Kaliy permanganat shilliq qavatda jigarrang-qizg‘ish strup hosil qiladi. 15–20 g og‘iz orqali qabul qilinsa o‘limga olib keladi. Cho‘zilgan holda oshqozon flegmonasi rivojlanishi mumkin.</a:t>
            </a:r>
          </a:p>
          <a:p>
            <a:pPr>
              <a:spcAft>
                <a:spcPts val="1200"/>
              </a:spcAft>
            </a:pPr>
            <a:r>
              <a:rPr sz="2000">
                <a:solidFill>
                  <a:srgbClr val="1F2937"/>
                </a:solidFill>
                <a:latin typeface="Calibri"/>
              </a:rPr>
              <a:t>▸  Vodorod peroksidda shilliq qavatlar oqimtir, gaz pufakchalaridan ko‘piklangan bo‘ladi. 33% li eritmasi (pergidrol) 100 ml hajmda o‘limga olib kelishi mumkin.</a:t>
            </a:r>
          </a:p>
          <a:p>
            <a:pPr>
              <a:spcAft>
                <a:spcPts val="1200"/>
              </a:spcAft>
            </a:pPr>
            <a:r>
              <a:rPr sz="2000">
                <a:solidFill>
                  <a:srgbClr val="1F2937"/>
                </a:solidFill>
                <a:latin typeface="Calibri"/>
              </a:rPr>
              <a:t>▸  Yod tindirmasi va Lyugol eritmasi shilliq qavatda qo‘ng‘ir strup qoldiradi. Qonga so‘rilgach yurak, o‘pka, jigar va buyrakni shikastlaydi.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144, 144-145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o‘yuvchi 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murdada og‘iz atrofida oqma shaklidagi kuyish izlari bor. Oshqozon shilliq qavati shishgan, kulrang-yashil, devori yumshoq va oson yirtiladi.</a:t>
            </a:r>
          </a:p>
          <a:p>
            <a:pPr>
              <a:spcAft>
                <a:spcPts val="1200"/>
              </a:spcAft>
            </a:pPr>
            <a:r>
              <a:rPr sz="2200">
                <a:solidFill>
                  <a:srgbClr val="1F2937"/>
                </a:solidFill>
                <a:latin typeface="Calibri"/>
              </a:rPr>
              <a:t>▸  Savol: bu kislota ta’siri yoki ishqor ta’siri? Qaysi belgilar qarorni tasdiqlaydi?</a:t>
            </a:r>
          </a:p>
          <a:p>
            <a:pPr>
              <a:spcAft>
                <a:spcPts val="1200"/>
              </a:spcAft>
            </a:pPr>
            <a:r>
              <a:rPr sz="2200">
                <a:solidFill>
                  <a:srgbClr val="1F2937"/>
                </a:solidFill>
                <a:latin typeface="Calibri"/>
              </a:rPr>
              <a:t>▸  Diqqat: xato qilish xavfi! Kislotada oqmalar pergament zichligida, ishqorda esa to‘qima yumshoq, shishgan, sirpanuvchan.</a:t>
            </a:r>
          </a:p>
          <a:p>
            <a:pPr>
              <a:spcAft>
                <a:spcPts val="1200"/>
              </a:spcAft>
            </a:pPr>
            <a:r>
              <a:rPr sz="2200">
                <a:solidFill>
                  <a:srgbClr val="1F2937"/>
                </a:solidFill>
                <a:latin typeface="Calibri"/>
              </a:rPr>
              <a:t>▸  Qo‘shimcha kalit: ichki a’zolardan ammiak hidi — nashatir spirti. Sulfat kislotada oshqozon qo‘ng‘ir-qora, nitrat kislotada sarg‘imtir.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143, 141, 143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Destruktiv zaharlar: umumiy xususiyatlar va simob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Simob, qo‘rg‘oshin, margimush sulfgidril guruhlarini bog‘lab, fermentlarni o‘chiradi.</a:t>
            </a:r>
          </a:p>
          <a:p>
            <a:pPr>
              <a:spcAft>
                <a:spcPts val="800"/>
              </a:spcAft>
            </a:pPr>
            <a:r>
              <a:rPr sz="1800">
                <a:solidFill>
                  <a:srgbClr val="1F2937"/>
                </a:solidFill>
                <a:latin typeface="Calibri"/>
              </a:rPr>
              <a:t>▸  Ko‘pchiligi to‘planadi (kumulyatsiya); simob suyak va buyrakda o‘n yillar o‘tib ham topiladi.</a:t>
            </a:r>
          </a:p>
          <a:p>
            <a:pPr>
              <a:spcAft>
                <a:spcPts val="800"/>
              </a:spcAft>
            </a:pPr>
            <a:r>
              <a:rPr sz="1800">
                <a:solidFill>
                  <a:srgbClr val="1F2937"/>
                </a:solidFill>
                <a:latin typeface="Calibri"/>
              </a:rPr>
              <a:t>▸  Sulemada yo‘g‘on ichakda “sulema dizenteriyasi”, buyrakda “sulema buyragi” bo‘ladi.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09383"/>
                <a:gridCol w="1686021"/>
                <a:gridCol w="1992570"/>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Sulema</a:t>
                      </a:r>
                    </a:p>
                  </a:txBody>
                  <a:tcPr marL="73152" marR="73152" marT="36576" marB="36576">
                    <a:solidFill>
                      <a:srgbClr val="0B1F3A"/>
                    </a:solidFill>
                  </a:tcPr>
                </a:tc>
                <a:tc>
                  <a:txBody>
                    <a:bodyPr/>
                    <a:lstStyle/>
                    <a:p>
                      <a:r>
                        <a:rPr sz="1300" b="1">
                          <a:solidFill>
                            <a:srgbClr val="FFFFFF"/>
                          </a:solidFill>
                        </a:rPr>
                        <a:t>Organik simob</a:t>
                      </a:r>
                    </a:p>
                  </a:txBody>
                  <a:tcPr marL="73152" marR="73152" marT="36576" marB="36576">
                    <a:solidFill>
                      <a:srgbClr val="0B1F3A"/>
                    </a:solidFill>
                  </a:tcPr>
                </a:tc>
              </a:tr>
              <a:tr h="411480">
                <a:tc>
                  <a:txBody>
                    <a:bodyPr/>
                    <a:lstStyle/>
                    <a:p>
                      <a:r>
                        <a:rPr sz="1200" b="0">
                          <a:solidFill>
                            <a:srgbClr val="1F2937"/>
                          </a:solidFill>
                        </a:rPr>
                        <a:t>Buyrak, yo‘g‘on ichak</a:t>
                      </a:r>
                    </a:p>
                  </a:txBody>
                  <a:tcPr marL="73152" marR="73152" marT="36576" marB="36576">
                    <a:solidFill>
                      <a:srgbClr val="E8EEF6"/>
                    </a:solidFill>
                  </a:tcPr>
                </a:tc>
                <a:tc>
                  <a:txBody>
                    <a:bodyPr/>
                    <a:lstStyle/>
                    <a:p>
                      <a:r>
                        <a:rPr sz="1200" b="0">
                          <a:solidFill>
                            <a:srgbClr val="1F2937"/>
                          </a:solidFill>
                        </a:rPr>
                        <a:t>Kuchli shikastlanadi</a:t>
                      </a:r>
                    </a:p>
                  </a:txBody>
                  <a:tcPr marL="73152" marR="73152" marT="36576" marB="36576">
                    <a:solidFill>
                      <a:srgbClr val="E8EEF6"/>
                    </a:solidFill>
                  </a:tcPr>
                </a:tc>
                <a:tc>
                  <a:txBody>
                    <a:bodyPr/>
                    <a:lstStyle/>
                    <a:p>
                      <a:r>
                        <a:rPr sz="1200" b="0">
                          <a:solidFill>
                            <a:srgbClr val="1F2937"/>
                          </a:solidFill>
                        </a:rPr>
                        <a:t>Kuchsizroq shikastlanadi</a:t>
                      </a:r>
                    </a:p>
                  </a:txBody>
                  <a:tcPr marL="73152" marR="73152" marT="36576" marB="36576">
                    <a:solidFill>
                      <a:srgbClr val="E8EEF6"/>
                    </a:solidFill>
                  </a:tcPr>
                </a:tc>
              </a:tr>
              <a:tr h="411480">
                <a:tc>
                  <a:txBody>
                    <a:bodyPr/>
                    <a:lstStyle/>
                    <a:p>
                      <a:r>
                        <a:rPr sz="1200" b="0">
                          <a:solidFill>
                            <a:srgbClr val="1F2937"/>
                          </a:solidFill>
                        </a:rPr>
                        <a:t>Stomatit</a:t>
                      </a:r>
                    </a:p>
                  </a:txBody>
                  <a:tcPr marL="73152" marR="73152" marT="36576" marB="36576">
                    <a:solidFill>
                      <a:srgbClr val="FFFFFF"/>
                    </a:solidFill>
                  </a:tcPr>
                </a:tc>
                <a:tc>
                  <a:txBody>
                    <a:bodyPr/>
                    <a:lstStyle/>
                    <a:p>
                      <a:r>
                        <a:rPr sz="1200" b="0">
                          <a:solidFill>
                            <a:srgbClr val="1F2937"/>
                          </a:solidFill>
                        </a:rPr>
                        <a:t>Rivojlanadi</a:t>
                      </a:r>
                    </a:p>
                  </a:txBody>
                  <a:tcPr marL="73152" marR="73152" marT="36576" marB="36576">
                    <a:solidFill>
                      <a:srgbClr val="FFFFFF"/>
                    </a:solidFill>
                  </a:tcPr>
                </a:tc>
                <a:tc>
                  <a:txBody>
                    <a:bodyPr/>
                    <a:lstStyle/>
                    <a:p>
                      <a:r>
                        <a:rPr sz="1200" b="0">
                          <a:solidFill>
                            <a:srgbClr val="1F2937"/>
                          </a:solidFill>
                        </a:rPr>
                        <a:t>Rivojlanmaydi</a:t>
                      </a:r>
                    </a:p>
                  </a:txBody>
                  <a:tcPr marL="73152" marR="73152" marT="36576" marB="36576">
                    <a:solidFill>
                      <a:srgbClr val="FFFFFF"/>
                    </a:solidFill>
                  </a:tcPr>
                </a:tc>
              </a:tr>
              <a:tr h="411480">
                <a:tc>
                  <a:txBody>
                    <a:bodyPr/>
                    <a:lstStyle/>
                    <a:p>
                      <a:r>
                        <a:rPr sz="1200" b="0">
                          <a:solidFill>
                            <a:srgbClr val="1F2937"/>
                          </a:solidFill>
                        </a:rPr>
                        <a:t>Neyrotoksik ta’sir</a:t>
                      </a:r>
                    </a:p>
                  </a:txBody>
                  <a:tcPr marL="73152" marR="73152" marT="36576" marB="36576">
                    <a:solidFill>
                      <a:srgbClr val="E8EEF6"/>
                    </a:solidFill>
                  </a:tcPr>
                </a:tc>
                <a:tc>
                  <a:txBody>
                    <a:bodyPr/>
                    <a:lstStyle/>
                    <a:p>
                      <a:r>
                        <a:rPr sz="1200" b="0">
                          <a:solidFill>
                            <a:srgbClr val="1F2937"/>
                          </a:solidFill>
                        </a:rPr>
                        <a:t>Kamroq</a:t>
                      </a:r>
                    </a:p>
                  </a:txBody>
                  <a:tcPr marL="73152" marR="73152" marT="36576" marB="36576">
                    <a:solidFill>
                      <a:srgbClr val="E8EEF6"/>
                    </a:solidFill>
                  </a:tcPr>
                </a:tc>
                <a:tc>
                  <a:txBody>
                    <a:bodyPr/>
                    <a:lstStyle/>
                    <a:p>
                      <a:r>
                        <a:rPr sz="1200" b="0">
                          <a:solidFill>
                            <a:srgbClr val="1F2937"/>
                          </a:solidFill>
                        </a:rPr>
                        <a:t>Kuchliroq</a:t>
                      </a:r>
                    </a:p>
                  </a:txBody>
                  <a:tcPr marL="73152" marR="73152" marT="36576" marB="36576">
                    <a:solidFill>
                      <a:srgbClr val="E8EEF6"/>
                    </a:solidFill>
                  </a:tcPr>
                </a:tc>
              </a:tr>
              <a:tr h="411480">
                <a:tc>
                  <a:txBody>
                    <a:bodyPr/>
                    <a:lstStyle/>
                    <a:p>
                      <a:r>
                        <a:rPr sz="1200" b="0">
                          <a:solidFill>
                            <a:srgbClr val="1F2937"/>
                          </a:solidFill>
                        </a:rPr>
                        <a:t>Kechishi</a:t>
                      </a:r>
                    </a:p>
                  </a:txBody>
                  <a:tcPr marL="73152" marR="73152" marT="36576" marB="36576">
                    <a:solidFill>
                      <a:srgbClr val="FFFFFF"/>
                    </a:solidFill>
                  </a:tcPr>
                </a:tc>
                <a:tc>
                  <a:txBody>
                    <a:bodyPr/>
                    <a:lstStyle/>
                    <a:p>
                      <a:r>
                        <a:rPr sz="1200" b="0">
                          <a:solidFill>
                            <a:srgbClr val="1F2937"/>
                          </a:solidFill>
                        </a:rPr>
                        <a:t>Bir haftagacha, o‘tkir</a:t>
                      </a:r>
                    </a:p>
                  </a:txBody>
                  <a:tcPr marL="73152" marR="73152" marT="36576" marB="36576">
                    <a:solidFill>
                      <a:srgbClr val="FFFFFF"/>
                    </a:solidFill>
                  </a:tcPr>
                </a:tc>
                <a:tc>
                  <a:txBody>
                    <a:bodyPr/>
                    <a:lstStyle/>
                    <a:p>
                      <a:r>
                        <a:rPr sz="1200" b="0">
                          <a:solidFill>
                            <a:srgbClr val="1F2937"/>
                          </a:solidFill>
                        </a:rPr>
                        <a:t>Surunkali, yashirin davrli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Sulema va organik simob</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145, 145, 147, 146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Qo‘rg‘oshin, talliy va mishyak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Qo‘rg‘oshinning suvda eruvchi tuzlari (xlorid, nitrat, atsetat) fermentlarni inaktivlab, hujayralarni o‘ldiradi. Simobdan farqli, nerv tizimi shikasti kuchliroq, kamqonlik rivojlanadi.</a:t>
            </a:r>
          </a:p>
          <a:p>
            <a:pPr>
              <a:spcAft>
                <a:spcPts val="1200"/>
              </a:spcAft>
            </a:pPr>
            <a:r>
              <a:rPr sz="2000">
                <a:solidFill>
                  <a:srgbClr val="1F2937"/>
                </a:solidFill>
                <a:latin typeface="Calibri"/>
              </a:rPr>
              <a:t>▸  Tetraetilqo‘rg‘oshin (etillangan benzin) teri, og‘iz va nafas yo‘llari orqali kiradi; miyada fermentlarni bloklab, o‘tkir psixoz, talvasa va koma chaqiradi.</a:t>
            </a:r>
          </a:p>
          <a:p>
            <a:pPr>
              <a:spcAft>
                <a:spcPts val="1200"/>
              </a:spcAft>
            </a:pPr>
            <a:r>
              <a:rPr sz="2000">
                <a:solidFill>
                  <a:srgbClr val="1F2937"/>
                </a:solidFill>
                <a:latin typeface="Calibri"/>
              </a:rPr>
              <a:t>▸  Talliy tuzlari osh tuziga o‘xshaydi, zaharlanish ko‘pincha baxtsiz hodisa. Gastroenterit, ataksiya, soch to‘kilishi va og‘riqli polineyropatiya kuzatiladi.</a:t>
            </a:r>
          </a:p>
          <a:p>
            <a:pPr>
              <a:spcAft>
                <a:spcPts val="1200"/>
              </a:spcAft>
            </a:pPr>
            <a:r>
              <a:rPr sz="2000">
                <a:solidFill>
                  <a:srgbClr val="1F2937"/>
                </a:solidFill>
                <a:latin typeface="Calibri"/>
              </a:rPr>
              <a:t>▸  Margimush (mishyak): oshqozon-ichak turida qusish, vabosimon ich ketishi, o‘lim 1–2-kunda; paralitik turida ensefalopatiya va koma. Letal doza 0,1–0,2 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147, 147-148, 148-149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 zaharlari: is gazi (uglerod monooksidi)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 gazi gemoglobin bilan turg‘un karboksigemoglobin hosil qiladi; kislorod tashilmay, gipoksiya rivojlanadi.</a:t>
            </a:r>
          </a:p>
          <a:p>
            <a:pPr>
              <a:spcAft>
                <a:spcPts val="800"/>
              </a:spcAft>
            </a:pPr>
            <a:r>
              <a:rPr sz="1800">
                <a:solidFill>
                  <a:srgbClr val="1F2937"/>
                </a:solidFill>
                <a:latin typeface="Calibri"/>
              </a:rPr>
              <a:t>▸  Bosh og‘rig‘i, quloq shang‘illashi, ko‘ngil aynishi, yuz qizarishi; keyin talvasali koma.</a:t>
            </a:r>
          </a:p>
          <a:p>
            <a:pPr>
              <a:spcAft>
                <a:spcPts val="800"/>
              </a:spcAft>
            </a:pPr>
            <a:r>
              <a:rPr sz="1800">
                <a:solidFill>
                  <a:srgbClr val="1F2937"/>
                </a:solidFill>
                <a:latin typeface="Calibri"/>
              </a:rPr>
              <a:t>▸  Murda dog‘lari, mushaklar va suyuq qon pushti-qizg‘ish; ichki a’zolarda to‘laqonlik, mayda qon quyilishlar.</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177401"/>
                <a:gridCol w="3110573"/>
              </a:tblGrid>
              <a:tr h="411480">
                <a:tc>
                  <a:txBody>
                    <a:bodyPr/>
                    <a:lstStyle/>
                    <a:p>
                      <a:r>
                        <a:rPr sz="1400" b="1">
                          <a:solidFill>
                            <a:srgbClr val="FFFFFF"/>
                          </a:solidFill>
                        </a:rPr>
                        <a:t>Ko‘rsatkich</a:t>
                      </a:r>
                    </a:p>
                  </a:txBody>
                  <a:tcPr marL="73152" marR="73152" marT="36576" marB="36576">
                    <a:solidFill>
                      <a:srgbClr val="0B1F3A"/>
                    </a:solidFill>
                  </a:tcPr>
                </a:tc>
                <a:tc>
                  <a:txBody>
                    <a:bodyPr/>
                    <a:lstStyle/>
                    <a:p>
                      <a:r>
                        <a:rPr sz="1400" b="1">
                          <a:solidFill>
                            <a:srgbClr val="FFFFFF"/>
                          </a:solidFill>
                        </a:rPr>
                        <a:t>Natija</a:t>
                      </a:r>
                    </a:p>
                  </a:txBody>
                  <a:tcPr marL="73152" marR="73152" marT="36576" marB="36576">
                    <a:solidFill>
                      <a:srgbClr val="0B1F3A"/>
                    </a:solidFill>
                  </a:tcPr>
                </a:tc>
              </a:tr>
              <a:tr h="411480">
                <a:tc>
                  <a:txBody>
                    <a:bodyPr/>
                    <a:lstStyle/>
                    <a:p>
                      <a:r>
                        <a:rPr sz="1300" b="0">
                          <a:solidFill>
                            <a:srgbClr val="1F2937"/>
                          </a:solidFill>
                        </a:rPr>
                        <a:t>Karboksigemoglobin &gt;25–30%</a:t>
                      </a:r>
                    </a:p>
                  </a:txBody>
                  <a:tcPr marL="73152" marR="73152" marT="36576" marB="36576">
                    <a:solidFill>
                      <a:srgbClr val="E8EEF6"/>
                    </a:solidFill>
                  </a:tcPr>
                </a:tc>
                <a:tc>
                  <a:txBody>
                    <a:bodyPr/>
                    <a:lstStyle/>
                    <a:p>
                      <a:r>
                        <a:rPr sz="1300" b="0">
                          <a:solidFill>
                            <a:srgbClr val="1F2937"/>
                          </a:solidFill>
                        </a:rPr>
                        <a:t>dastlabki zaharlanish belgilari</a:t>
                      </a:r>
                    </a:p>
                  </a:txBody>
                  <a:tcPr marL="73152" marR="73152" marT="36576" marB="36576">
                    <a:solidFill>
                      <a:srgbClr val="E8EEF6"/>
                    </a:solidFill>
                  </a:tcPr>
                </a:tc>
              </a:tr>
              <a:tr h="411480">
                <a:tc>
                  <a:txBody>
                    <a:bodyPr/>
                    <a:lstStyle/>
                    <a:p>
                      <a:r>
                        <a:rPr sz="1300" b="0">
                          <a:solidFill>
                            <a:srgbClr val="1F2937"/>
                          </a:solidFill>
                        </a:rPr>
                        <a:t>Karboksigemoglobin &gt;60%</a:t>
                      </a:r>
                    </a:p>
                  </a:txBody>
                  <a:tcPr marL="73152" marR="73152" marT="36576" marB="36576">
                    <a:solidFill>
                      <a:srgbClr val="FFFFFF"/>
                    </a:solidFill>
                  </a:tcPr>
                </a:tc>
                <a:tc>
                  <a:txBody>
                    <a:bodyPr/>
                    <a:lstStyle/>
                    <a:p>
                      <a:r>
                        <a:rPr sz="1300" b="0">
                          <a:solidFill>
                            <a:srgbClr val="1F2937"/>
                          </a:solidFill>
                        </a:rPr>
                        <a:t>nafas markazi falaji, o‘lim</a:t>
                      </a:r>
                    </a:p>
                  </a:txBody>
                  <a:tcPr marL="73152" marR="73152" marT="36576" marB="36576">
                    <a:solidFill>
                      <a:srgbClr val="FFFFFF"/>
                    </a:solidFill>
                  </a:tcPr>
                </a:tc>
              </a:tr>
              <a:tr h="411480">
                <a:tc>
                  <a:txBody>
                    <a:bodyPr/>
                    <a:lstStyle/>
                    <a:p>
                      <a:r>
                        <a:rPr sz="1300" b="0">
                          <a:solidFill>
                            <a:srgbClr val="1F2937"/>
                          </a:solidFill>
                        </a:rPr>
                        <a:t>Goppe-Zeyler sinamasi</a:t>
                      </a:r>
                    </a:p>
                  </a:txBody>
                  <a:tcPr marL="73152" marR="73152" marT="36576" marB="36576">
                    <a:solidFill>
                      <a:srgbClr val="E8EEF6"/>
                    </a:solidFill>
                  </a:tcPr>
                </a:tc>
                <a:tc>
                  <a:txBody>
                    <a:bodyPr/>
                    <a:lstStyle/>
                    <a:p>
                      <a:r>
                        <a:rPr sz="1300" b="0">
                          <a:solidFill>
                            <a:srgbClr val="1F2937"/>
                          </a:solidFill>
                        </a:rPr>
                        <a:t>oddiy qon qo‘ng‘ir; is gazli qon o‘zgarmas</a:t>
                      </a:r>
                    </a:p>
                  </a:txBody>
                  <a:tcPr marL="73152" marR="73152" marT="36576" marB="36576">
                    <a:solidFill>
                      <a:srgbClr val="E8EEF6"/>
                    </a:solidFill>
                  </a:tcPr>
                </a:tc>
              </a:tr>
              <a:tr h="411480">
                <a:tc>
                  <a:txBody>
                    <a:bodyPr/>
                    <a:lstStyle/>
                    <a:p>
                      <a:r>
                        <a:rPr sz="1300" b="0">
                          <a:solidFill>
                            <a:srgbClr val="1F2937"/>
                          </a:solidFill>
                        </a:rPr>
                        <a:t>Spektroskopiya (gidrosulfit)</a:t>
                      </a:r>
                    </a:p>
                  </a:txBody>
                  <a:tcPr marL="73152" marR="73152" marT="36576" marB="36576">
                    <a:solidFill>
                      <a:srgbClr val="FFFFFF"/>
                    </a:solidFill>
                  </a:tcPr>
                </a:tc>
                <a:tc>
                  <a:txBody>
                    <a:bodyPr/>
                    <a:lstStyle/>
                    <a:p>
                      <a:r>
                        <a:rPr sz="1300" b="0">
                          <a:solidFill>
                            <a:srgbClr val="1F2937"/>
                          </a:solidFill>
                        </a:rPr>
                        <a:t>ikki yutish yo‘li o‘zgarmay qoladi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 gazi: chegaralar va sinamalar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150, 151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Metgemoglobin hosil qiluvchi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Nitrat va nitrit tuzlari, nitrobenzol, anilin, bertole tuzi, gidroxinon metgemoglobin hosil qiladi; uch valentli temir tufayli gemoglobin kislorod tashiy olmaydi.</a:t>
            </a:r>
          </a:p>
          <a:p>
            <a:pPr>
              <a:spcAft>
                <a:spcPts val="1200"/>
              </a:spcAft>
            </a:pPr>
            <a:r>
              <a:rPr sz="2000">
                <a:solidFill>
                  <a:srgbClr val="1F2937"/>
                </a:solidFill>
                <a:latin typeface="Calibri"/>
              </a:rPr>
              <a:t>▸  Klinika gemik gipoksiya: hansirash, sianoz, bosh og‘rig‘i, kollaps. Nitratlar ichak mikroflorasida nitritga aylangachgina ta’sir qiladi, shuning uchun kuchsizroq.</a:t>
            </a:r>
          </a:p>
          <a:p>
            <a:pPr>
              <a:spcAft>
                <a:spcPts val="1200"/>
              </a:spcAft>
            </a:pPr>
            <a:r>
              <a:rPr sz="2000">
                <a:solidFill>
                  <a:srgbClr val="1F2937"/>
                </a:solidFill>
                <a:latin typeface="Calibri"/>
              </a:rPr>
              <a:t>▸  Belgilar metgemoglobin 30% dan oshganda boshlanadi, 70% dan oshsa o‘lim. Birinchi kuni gemik gipoksiyadan, keyin o‘tkir buyrak yetishmovchiligidan o‘ladi.</a:t>
            </a:r>
          </a:p>
          <a:p>
            <a:pPr>
              <a:spcAft>
                <a:spcPts val="1200"/>
              </a:spcAft>
            </a:pPr>
            <a:r>
              <a:rPr sz="2000">
                <a:solidFill>
                  <a:srgbClr val="1F2937"/>
                </a:solidFill>
                <a:latin typeface="Calibri"/>
              </a:rPr>
              <a:t>▸  Murda dog‘lari ko‘kimtir-qo‘ng‘ir, qon jigarrang; nitrobenzolda achchiq bodom, anilinda aromatik hid. Metgemoglobin 1–2 kundan so‘ng qonda topilmasligi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is gazi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yong‘in yoki nosoz pechkali yopiq xonada murda topildi. Is gazi rangsiz, hidsiz bo‘lib, organik moddalar to‘liq yonmaganda hosil bo‘ladi.</a:t>
            </a:r>
          </a:p>
          <a:p>
            <a:pPr>
              <a:spcAft>
                <a:spcPts val="1200"/>
              </a:spcAft>
            </a:pPr>
            <a:r>
              <a:rPr sz="2200">
                <a:solidFill>
                  <a:srgbClr val="1F2937"/>
                </a:solidFill>
                <a:latin typeface="Calibri"/>
              </a:rPr>
              <a:t>▸  Murda dog‘lari, mushaklar va suyuq qon pushti-qizg‘ish bo‘ladi. Bu karboksigemoglobin va karboksimioglobinning rangidir.</a:t>
            </a:r>
          </a:p>
          <a:p>
            <a:pPr>
              <a:spcAft>
                <a:spcPts val="1200"/>
              </a:spcAft>
            </a:pPr>
            <a:r>
              <a:rPr sz="2200">
                <a:solidFill>
                  <a:srgbClr val="1F2937"/>
                </a:solidFill>
                <a:latin typeface="Calibri"/>
              </a:rPr>
              <a:t>▸  Savol: qonda karboksigemoglobin manfiy chiqdi. Is gazidan zaharlanishni istisno qilish mumkinmi?</a:t>
            </a:r>
          </a:p>
          <a:p>
            <a:pPr>
              <a:spcAft>
                <a:spcPts val="1200"/>
              </a:spcAft>
            </a:pPr>
            <a:r>
              <a:rPr sz="2200">
                <a:solidFill>
                  <a:srgbClr val="1F2937"/>
                </a:solidFill>
                <a:latin typeface="Calibri"/>
              </a:rPr>
              <a:t>▸  Diqqat: yo‘q. Tez o‘lim yoki o‘limdan oldin toza havoda bo‘lish natijani pasaytiradi yoki manfiy qiladi. Qon namunasi imkon qadar erta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150, 151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Funksional zaharlar: MNTni falajlovchilar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Sianidlar, vodorod sulfid va fosfororganik birikmalar markaziy nerv tizimini (MNT) falajlaydi.</a:t>
            </a:r>
          </a:p>
          <a:p>
            <a:pPr>
              <a:spcAft>
                <a:spcPts val="800"/>
              </a:spcAft>
            </a:pPr>
            <a:r>
              <a:rPr sz="1800">
                <a:solidFill>
                  <a:srgbClr val="1F2937"/>
                </a:solidFill>
                <a:latin typeface="Calibri"/>
              </a:rPr>
              <a:t>▸  Sianid katta dozada daqiqalarda hush yo‘qotadi; antidot — metgemoglobin hosil qiluvchi moddalar.</a:t>
            </a:r>
          </a:p>
          <a:p>
            <a:pPr>
              <a:spcAft>
                <a:spcPts val="800"/>
              </a:spcAft>
            </a:pPr>
            <a:r>
              <a:rPr sz="1800">
                <a:solidFill>
                  <a:srgbClr val="1F2937"/>
                </a:solidFill>
                <a:latin typeface="Calibri"/>
              </a:rPr>
              <a:t>▸  Fosfororganik birikmalarda mioz, bronxospazm, bradikardiya; o‘lim nafas markazi falajidan.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181356"/>
                <a:gridCol w="1968926"/>
                <a:gridCol w="2137692"/>
              </a:tblGrid>
              <a:tr h="411480">
                <a:tc>
                  <a:txBody>
                    <a:bodyPr/>
                    <a:lstStyle/>
                    <a:p>
                      <a:r>
                        <a:rPr sz="1300" b="1">
                          <a:solidFill>
                            <a:srgbClr val="FFFFFF"/>
                          </a:solidFill>
                        </a:rPr>
                        <a:t>Zahar</a:t>
                      </a:r>
                    </a:p>
                  </a:txBody>
                  <a:tcPr marL="73152" marR="73152" marT="36576" marB="36576">
                    <a:solidFill>
                      <a:srgbClr val="0B1F3A"/>
                    </a:solidFill>
                  </a:tcPr>
                </a:tc>
                <a:tc>
                  <a:txBody>
                    <a:bodyPr/>
                    <a:lstStyle/>
                    <a:p>
                      <a:r>
                        <a:rPr sz="1300" b="1">
                          <a:solidFill>
                            <a:srgbClr val="FFFFFF"/>
                          </a:solidFill>
                        </a:rPr>
                        <a:t>Mexanizm</a:t>
                      </a:r>
                    </a:p>
                  </a:txBody>
                  <a:tcPr marL="73152" marR="73152" marT="36576" marB="36576">
                    <a:solidFill>
                      <a:srgbClr val="0B1F3A"/>
                    </a:solidFill>
                  </a:tcPr>
                </a:tc>
                <a:tc>
                  <a:txBody>
                    <a:bodyPr/>
                    <a:lstStyle/>
                    <a:p>
                      <a:r>
                        <a:rPr sz="1300" b="1">
                          <a:solidFill>
                            <a:srgbClr val="FFFFFF"/>
                          </a:solidFill>
                        </a:rPr>
                        <a:t>Murdada</a:t>
                      </a:r>
                    </a:p>
                  </a:txBody>
                  <a:tcPr marL="73152" marR="73152" marT="36576" marB="36576">
                    <a:solidFill>
                      <a:srgbClr val="0B1F3A"/>
                    </a:solidFill>
                  </a:tcPr>
                </a:tc>
              </a:tr>
              <a:tr h="411480">
                <a:tc>
                  <a:txBody>
                    <a:bodyPr/>
                    <a:lstStyle/>
                    <a:p>
                      <a:r>
                        <a:rPr sz="1200" b="0">
                          <a:solidFill>
                            <a:srgbClr val="1F2937"/>
                          </a:solidFill>
                        </a:rPr>
                        <a:t>Sianidlar</a:t>
                      </a:r>
                    </a:p>
                  </a:txBody>
                  <a:tcPr marL="73152" marR="73152" marT="36576" marB="36576">
                    <a:solidFill>
                      <a:srgbClr val="E8EEF6"/>
                    </a:solidFill>
                  </a:tcPr>
                </a:tc>
                <a:tc>
                  <a:txBody>
                    <a:bodyPr/>
                    <a:lstStyle/>
                    <a:p>
                      <a:r>
                        <a:rPr sz="1200" b="0">
                          <a:solidFill>
                            <a:srgbClr val="1F2937"/>
                          </a:solidFill>
                        </a:rPr>
                        <a:t>Sitoxromoksidaza temirini bog‘laydi</a:t>
                      </a:r>
                    </a:p>
                  </a:txBody>
                  <a:tcPr marL="73152" marR="73152" marT="36576" marB="36576">
                    <a:solidFill>
                      <a:srgbClr val="E8EEF6"/>
                    </a:solidFill>
                  </a:tcPr>
                </a:tc>
                <a:tc>
                  <a:txBody>
                    <a:bodyPr/>
                    <a:lstStyle/>
                    <a:p>
                      <a:r>
                        <a:rPr sz="1200" b="0">
                          <a:solidFill>
                            <a:srgbClr val="1F2937"/>
                          </a:solidFill>
                        </a:rPr>
                        <a:t>Olcha rang dog‘lar, achchiq bodom hidi</a:t>
                      </a:r>
                    </a:p>
                  </a:txBody>
                  <a:tcPr marL="73152" marR="73152" marT="36576" marB="36576">
                    <a:solidFill>
                      <a:srgbClr val="E8EEF6"/>
                    </a:solidFill>
                  </a:tcPr>
                </a:tc>
              </a:tr>
              <a:tr h="411480">
                <a:tc>
                  <a:txBody>
                    <a:bodyPr/>
                    <a:lstStyle/>
                    <a:p>
                      <a:r>
                        <a:rPr sz="1200" b="0">
                          <a:solidFill>
                            <a:srgbClr val="1F2937"/>
                          </a:solidFill>
                        </a:rPr>
                        <a:t>Vodorod sulfid</a:t>
                      </a:r>
                    </a:p>
                  </a:txBody>
                  <a:tcPr marL="73152" marR="73152" marT="36576" marB="36576">
                    <a:solidFill>
                      <a:srgbClr val="FFFFFF"/>
                    </a:solidFill>
                  </a:tcPr>
                </a:tc>
                <a:tc>
                  <a:txBody>
                    <a:bodyPr/>
                    <a:lstStyle/>
                    <a:p>
                      <a:r>
                        <a:rPr sz="1200" b="0">
                          <a:solidFill>
                            <a:srgbClr val="1F2937"/>
                          </a:solidFill>
                        </a:rPr>
                        <a:t>Sitoxrom temirini bog‘laydi</a:t>
                      </a:r>
                    </a:p>
                  </a:txBody>
                  <a:tcPr marL="73152" marR="73152" marT="36576" marB="36576">
                    <a:solidFill>
                      <a:srgbClr val="FFFFFF"/>
                    </a:solidFill>
                  </a:tcPr>
                </a:tc>
                <a:tc>
                  <a:txBody>
                    <a:bodyPr/>
                    <a:lstStyle/>
                    <a:p>
                      <a:r>
                        <a:rPr sz="1200" b="0">
                          <a:solidFill>
                            <a:srgbClr val="1F2937"/>
                          </a:solidFill>
                        </a:rPr>
                        <a:t>Palag‘da tuxum hidi, qon olcha-qizil</a:t>
                      </a:r>
                    </a:p>
                  </a:txBody>
                  <a:tcPr marL="73152" marR="73152" marT="36576" marB="36576">
                    <a:solidFill>
                      <a:srgbClr val="FFFFFF"/>
                    </a:solidFill>
                  </a:tcPr>
                </a:tc>
              </a:tr>
              <a:tr h="411480">
                <a:tc>
                  <a:txBody>
                    <a:bodyPr/>
                    <a:lstStyle/>
                    <a:p>
                      <a:r>
                        <a:rPr sz="1200" b="0">
                          <a:solidFill>
                            <a:srgbClr val="1F2937"/>
                          </a:solidFill>
                        </a:rPr>
                        <a:t>Fosfororganik birikma</a:t>
                      </a:r>
                    </a:p>
                  </a:txBody>
                  <a:tcPr marL="73152" marR="73152" marT="36576" marB="36576">
                    <a:solidFill>
                      <a:srgbClr val="E8EEF6"/>
                    </a:solidFill>
                  </a:tcPr>
                </a:tc>
                <a:tc>
                  <a:txBody>
                    <a:bodyPr/>
                    <a:lstStyle/>
                    <a:p>
                      <a:r>
                        <a:rPr sz="1200" b="0">
                          <a:solidFill>
                            <a:srgbClr val="1F2937"/>
                          </a:solidFill>
                        </a:rPr>
                        <a:t>Xolinesterazani so‘ndiradi</a:t>
                      </a:r>
                    </a:p>
                  </a:txBody>
                  <a:tcPr marL="73152" marR="73152" marT="36576" marB="36576">
                    <a:solidFill>
                      <a:srgbClr val="E8EEF6"/>
                    </a:solidFill>
                  </a:tcPr>
                </a:tc>
                <a:tc>
                  <a:txBody>
                    <a:bodyPr/>
                    <a:lstStyle/>
                    <a:p>
                      <a:r>
                        <a:rPr sz="1200" b="0">
                          <a:solidFill>
                            <a:srgbClr val="1F2937"/>
                          </a:solidFill>
                        </a:rPr>
                        <a:t>Qorachiq torayadi, mushak qotishi tez</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MNTni falajlovchi zaharlar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153, 154, 155-156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toksikokinetika va mastlik darajalari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Spirtning 20% oshqozonda, 80% ichakda so‘riladi; 90% organizmda o‘zlashtiriladi.</a:t>
            </a:r>
          </a:p>
          <a:p>
            <a:pPr>
              <a:spcAft>
                <a:spcPts val="800"/>
              </a:spcAft>
            </a:pPr>
            <a:r>
              <a:rPr sz="1800">
                <a:solidFill>
                  <a:srgbClr val="1F2937"/>
                </a:solidFill>
                <a:latin typeface="Calibri"/>
              </a:rPr>
              <a:t>▸  Etanol atsetaldegidga, so‘ng sirka kislotasiga oksidlanadi; atsetaldegid “poxmele” sindromini beradi.</a:t>
            </a:r>
          </a:p>
          <a:p>
            <a:pPr>
              <a:spcAft>
                <a:spcPts val="800"/>
              </a:spcAft>
            </a:pPr>
            <a:r>
              <a:rPr sz="1800">
                <a:solidFill>
                  <a:srgbClr val="1F2937"/>
                </a:solidFill>
                <a:latin typeface="Calibri"/>
              </a:rPr>
              <a:t>▸  Vidmark konstantasi (P) — soatiga pasayish; aniqlanmasa, o‘rtacha 0,13–0,15 promille olinadi.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090594"/>
                <a:gridCol w="3197380"/>
              </a:tblGrid>
              <a:tr h="411480">
                <a:tc>
                  <a:txBody>
                    <a:bodyPr/>
                    <a:lstStyle/>
                    <a:p>
                      <a:r>
                        <a:rPr sz="1400" b="1">
                          <a:solidFill>
                            <a:srgbClr val="FFFFFF"/>
                          </a:solidFill>
                        </a:rPr>
                        <a:t>Promille</a:t>
                      </a:r>
                    </a:p>
                  </a:txBody>
                  <a:tcPr marL="73152" marR="73152" marT="36576" marB="36576">
                    <a:solidFill>
                      <a:srgbClr val="0B1F3A"/>
                    </a:solidFill>
                  </a:tcPr>
                </a:tc>
                <a:tc>
                  <a:txBody>
                    <a:bodyPr/>
                    <a:lstStyle/>
                    <a:p>
                      <a:r>
                        <a:rPr sz="1400" b="1">
                          <a:solidFill>
                            <a:srgbClr val="FFFFFF"/>
                          </a:solidFill>
                        </a:rPr>
                        <a:t>Baho</a:t>
                      </a:r>
                    </a:p>
                  </a:txBody>
                  <a:tcPr marL="73152" marR="73152" marT="36576" marB="36576">
                    <a:solidFill>
                      <a:srgbClr val="0B1F3A"/>
                    </a:solidFill>
                  </a:tcPr>
                </a:tc>
              </a:tr>
              <a:tr h="411480">
                <a:tc>
                  <a:txBody>
                    <a:bodyPr/>
                    <a:lstStyle/>
                    <a:p>
                      <a:r>
                        <a:rPr sz="1300" b="0">
                          <a:solidFill>
                            <a:srgbClr val="1F2937"/>
                          </a:solidFill>
                        </a:rPr>
                        <a:t>0,5 dan 1,5 gacha</a:t>
                      </a:r>
                    </a:p>
                  </a:txBody>
                  <a:tcPr marL="73152" marR="73152" marT="36576" marB="36576">
                    <a:solidFill>
                      <a:srgbClr val="E8EEF6"/>
                    </a:solidFill>
                  </a:tcPr>
                </a:tc>
                <a:tc>
                  <a:txBody>
                    <a:bodyPr/>
                    <a:lstStyle/>
                    <a:p>
                      <a:r>
                        <a:rPr sz="1300" b="0">
                          <a:solidFill>
                            <a:srgbClr val="1F2937"/>
                          </a:solidFill>
                        </a:rPr>
                        <a:t>Yengil mastlik</a:t>
                      </a:r>
                    </a:p>
                  </a:txBody>
                  <a:tcPr marL="73152" marR="73152" marT="36576" marB="36576">
                    <a:solidFill>
                      <a:srgbClr val="E8EEF6"/>
                    </a:solidFill>
                  </a:tcPr>
                </a:tc>
              </a:tr>
              <a:tr h="411480">
                <a:tc>
                  <a:txBody>
                    <a:bodyPr/>
                    <a:lstStyle/>
                    <a:p>
                      <a:r>
                        <a:rPr sz="1300" b="0">
                          <a:solidFill>
                            <a:srgbClr val="1F2937"/>
                          </a:solidFill>
                        </a:rPr>
                        <a:t>1,5 dan 2,5 gacha</a:t>
                      </a:r>
                    </a:p>
                  </a:txBody>
                  <a:tcPr marL="73152" marR="73152" marT="36576" marB="36576">
                    <a:solidFill>
                      <a:srgbClr val="FFFFFF"/>
                    </a:solidFill>
                  </a:tcPr>
                </a:tc>
                <a:tc>
                  <a:txBody>
                    <a:bodyPr/>
                    <a:lstStyle/>
                    <a:p>
                      <a:r>
                        <a:rPr sz="1300" b="0">
                          <a:solidFill>
                            <a:srgbClr val="1F2937"/>
                          </a:solidFill>
                        </a:rPr>
                        <a:t>O‘rta darajali mastlik</a:t>
                      </a:r>
                    </a:p>
                  </a:txBody>
                  <a:tcPr marL="73152" marR="73152" marT="36576" marB="36576">
                    <a:solidFill>
                      <a:srgbClr val="FFFFFF"/>
                    </a:solidFill>
                  </a:tcPr>
                </a:tc>
              </a:tr>
              <a:tr h="411480">
                <a:tc>
                  <a:txBody>
                    <a:bodyPr/>
                    <a:lstStyle/>
                    <a:p>
                      <a:r>
                        <a:rPr sz="1300" b="0">
                          <a:solidFill>
                            <a:srgbClr val="1F2937"/>
                          </a:solidFill>
                        </a:rPr>
                        <a:t>2,5 dan 3,0 gacha</a:t>
                      </a:r>
                    </a:p>
                  </a:txBody>
                  <a:tcPr marL="73152" marR="73152" marT="36576" marB="36576">
                    <a:solidFill>
                      <a:srgbClr val="E8EEF6"/>
                    </a:solidFill>
                  </a:tcPr>
                </a:tc>
                <a:tc>
                  <a:txBody>
                    <a:bodyPr/>
                    <a:lstStyle/>
                    <a:p>
                      <a:r>
                        <a:rPr sz="1300" b="0">
                          <a:solidFill>
                            <a:srgbClr val="1F2937"/>
                          </a:solidFill>
                        </a:rPr>
                        <a:t>Kuchli mastlik</a:t>
                      </a:r>
                    </a:p>
                  </a:txBody>
                  <a:tcPr marL="73152" marR="73152" marT="36576" marB="36576">
                    <a:solidFill>
                      <a:srgbClr val="E8EEF6"/>
                    </a:solidFill>
                  </a:tcPr>
                </a:tc>
              </a:tr>
              <a:tr h="411480">
                <a:tc>
                  <a:txBody>
                    <a:bodyPr/>
                    <a:lstStyle/>
                    <a:p>
                      <a:r>
                        <a:rPr sz="1300" b="0">
                          <a:solidFill>
                            <a:srgbClr val="1F2937"/>
                          </a:solidFill>
                        </a:rPr>
                        <a:t>3,0 dan yuqori</a:t>
                      </a:r>
                    </a:p>
                  </a:txBody>
                  <a:tcPr marL="73152" marR="73152" marT="36576" marB="36576">
                    <a:solidFill>
                      <a:srgbClr val="FFFFFF"/>
                    </a:solidFill>
                  </a:tcPr>
                </a:tc>
                <a:tc>
                  <a:txBody>
                    <a:bodyPr/>
                    <a:lstStyle/>
                    <a:p>
                      <a:r>
                        <a:rPr sz="1300" b="0">
                          <a:solidFill>
                            <a:srgbClr val="1F2937"/>
                          </a:solidFill>
                        </a:rPr>
                        <a:t>Zaharlanish deb baholanadi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Mastlik darajalari (qondagi spirt)</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157, 159-160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spirtini aniqlash va hisoblash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Ikki sinama 0,3–0,4 promillegacha sezgir; kariesda va diabetda soxta musbat natija bo‘lishi mumkin.</a:t>
            </a:r>
          </a:p>
          <a:p>
            <a:pPr>
              <a:spcAft>
                <a:spcPts val="800"/>
              </a:spcAft>
            </a:pPr>
            <a:r>
              <a:rPr sz="1800">
                <a:solidFill>
                  <a:srgbClr val="1F2937"/>
                </a:solidFill>
                <a:latin typeface="Calibri"/>
              </a:rPr>
              <a:t>▸  Miqdori gaz-xromatografiya bilan aniqlanadi; namuna (qon, siydik) kamida 5 ml, idish to‘la bo‘lsin.</a:t>
            </a:r>
          </a:p>
          <a:p>
            <a:pPr>
              <a:spcAft>
                <a:spcPts val="800"/>
              </a:spcAft>
            </a:pPr>
            <a:r>
              <a:rPr sz="1800">
                <a:solidFill>
                  <a:srgbClr val="1F2937"/>
                </a:solidFill>
                <a:latin typeface="Calibri"/>
              </a:rPr>
              <a:t>▸  Vidmark–Balyakin: A = R·r·(Ct + P·T); erkakda r≈0,68, ayolda 0,55; P o‘rtacha 0,13–0,15.</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33137"/>
                <a:gridCol w="2140370"/>
                <a:gridCol w="2014466"/>
              </a:tblGrid>
              <a:tr h="411480">
                <a:tc>
                  <a:txBody>
                    <a:bodyPr/>
                    <a:lstStyle/>
                    <a:p>
                      <a:r>
                        <a:rPr sz="1300" b="1">
                          <a:solidFill>
                            <a:srgbClr val="FFFFFF"/>
                          </a:solidFill>
                        </a:rPr>
                        <a:t>Sinama/davr</a:t>
                      </a:r>
                    </a:p>
                  </a:txBody>
                  <a:tcPr marL="73152" marR="73152" marT="36576" marB="36576">
                    <a:solidFill>
                      <a:srgbClr val="0B1F3A"/>
                    </a:solidFill>
                  </a:tcPr>
                </a:tc>
                <a:tc>
                  <a:txBody>
                    <a:bodyPr/>
                    <a:lstStyle/>
                    <a:p>
                      <a:r>
                        <a:rPr sz="1300" b="1">
                          <a:solidFill>
                            <a:srgbClr val="FFFFFF"/>
                          </a:solidFill>
                        </a:rPr>
                        <a:t>Asosi</a:t>
                      </a:r>
                    </a:p>
                  </a:txBody>
                  <a:tcPr marL="73152" marR="73152" marT="36576" marB="36576">
                    <a:solidFill>
                      <a:srgbClr val="0B1F3A"/>
                    </a:solidFill>
                  </a:tcPr>
                </a:tc>
                <a:tc>
                  <a:txBody>
                    <a:bodyPr/>
                    <a:lstStyle/>
                    <a:p>
                      <a:r>
                        <a:rPr sz="1300" b="1">
                          <a:solidFill>
                            <a:srgbClr val="FFFFFF"/>
                          </a:solidFill>
                        </a:rPr>
                        <a:t>Natija/belgi</a:t>
                      </a:r>
                    </a:p>
                  </a:txBody>
                  <a:tcPr marL="73152" marR="73152" marT="36576" marB="36576">
                    <a:solidFill>
                      <a:srgbClr val="0B1F3A"/>
                    </a:solidFill>
                  </a:tcPr>
                </a:tc>
              </a:tr>
              <a:tr h="411480">
                <a:tc>
                  <a:txBody>
                    <a:bodyPr/>
                    <a:lstStyle/>
                    <a:p>
                      <a:r>
                        <a:rPr sz="1200" b="0">
                          <a:solidFill>
                            <a:srgbClr val="1F2937"/>
                          </a:solidFill>
                        </a:rPr>
                        <a:t>Rappoport</a:t>
                      </a:r>
                    </a:p>
                  </a:txBody>
                  <a:tcPr marL="73152" marR="73152" marT="36576" marB="36576">
                    <a:solidFill>
                      <a:srgbClr val="E8EEF6"/>
                    </a:solidFill>
                  </a:tcPr>
                </a:tc>
                <a:tc>
                  <a:txBody>
                    <a:bodyPr/>
                    <a:lstStyle/>
                    <a:p>
                      <a:r>
                        <a:rPr sz="1200" b="0">
                          <a:solidFill>
                            <a:srgbClr val="1F2937"/>
                          </a:solidFill>
                        </a:rPr>
                        <a:t>kaliy permanganat + sulfat kislota</a:t>
                      </a:r>
                    </a:p>
                  </a:txBody>
                  <a:tcPr marL="73152" marR="73152" marT="36576" marB="36576">
                    <a:solidFill>
                      <a:srgbClr val="E8EEF6"/>
                    </a:solidFill>
                  </a:tcPr>
                </a:tc>
                <a:tc>
                  <a:txBody>
                    <a:bodyPr/>
                    <a:lstStyle/>
                    <a:p>
                      <a:r>
                        <a:rPr sz="1200" b="0">
                          <a:solidFill>
                            <a:srgbClr val="1F2937"/>
                          </a:solidFill>
                        </a:rPr>
                        <a:t>pushti rang yo‘qoladi</a:t>
                      </a:r>
                    </a:p>
                  </a:txBody>
                  <a:tcPr marL="73152" marR="73152" marT="36576" marB="36576">
                    <a:solidFill>
                      <a:srgbClr val="E8EEF6"/>
                    </a:solidFill>
                  </a:tcPr>
                </a:tc>
              </a:tr>
              <a:tr h="411480">
                <a:tc>
                  <a:txBody>
                    <a:bodyPr/>
                    <a:lstStyle/>
                    <a:p>
                      <a:r>
                        <a:rPr sz="1200" b="0">
                          <a:solidFill>
                            <a:srgbClr val="1F2937"/>
                          </a:solidFill>
                        </a:rPr>
                        <a:t>Moxov–Shinkarenko</a:t>
                      </a:r>
                    </a:p>
                  </a:txBody>
                  <a:tcPr marL="73152" marR="73152" marT="36576" marB="36576">
                    <a:solidFill>
                      <a:srgbClr val="FFFFFF"/>
                    </a:solidFill>
                  </a:tcPr>
                </a:tc>
                <a:tc>
                  <a:txBody>
                    <a:bodyPr/>
                    <a:lstStyle/>
                    <a:p>
                      <a:r>
                        <a:rPr sz="1200" b="0">
                          <a:solidFill>
                            <a:srgbClr val="1F2937"/>
                          </a:solidFill>
                        </a:rPr>
                        <a:t>bixromat + sulfat kislota</a:t>
                      </a:r>
                    </a:p>
                  </a:txBody>
                  <a:tcPr marL="73152" marR="73152" marT="36576" marB="36576">
                    <a:solidFill>
                      <a:srgbClr val="FFFFFF"/>
                    </a:solidFill>
                  </a:tcPr>
                </a:tc>
                <a:tc>
                  <a:txBody>
                    <a:bodyPr/>
                    <a:lstStyle/>
                    <a:p>
                      <a:r>
                        <a:rPr sz="1200" b="0">
                          <a:solidFill>
                            <a:srgbClr val="1F2937"/>
                          </a:solidFill>
                        </a:rPr>
                        <a:t>sariq-olov rang yashilga o‘tadi</a:t>
                      </a:r>
                    </a:p>
                  </a:txBody>
                  <a:tcPr marL="73152" marR="73152" marT="36576" marB="36576">
                    <a:solidFill>
                      <a:srgbClr val="FFFFFF"/>
                    </a:solidFill>
                  </a:tcPr>
                </a:tc>
              </a:tr>
              <a:tr h="411480">
                <a:tc>
                  <a:txBody>
                    <a:bodyPr/>
                    <a:lstStyle/>
                    <a:p>
                      <a:r>
                        <a:rPr sz="1200" b="0">
                          <a:solidFill>
                            <a:srgbClr val="1F2937"/>
                          </a:solidFill>
                        </a:rPr>
                        <a:t>Rezorbsiya davri</a:t>
                      </a:r>
                    </a:p>
                  </a:txBody>
                  <a:tcPr marL="73152" marR="73152" marT="36576" marB="36576">
                    <a:solidFill>
                      <a:srgbClr val="E8EEF6"/>
                    </a:solidFill>
                  </a:tcPr>
                </a:tc>
                <a:tc>
                  <a:txBody>
                    <a:bodyPr/>
                    <a:lstStyle/>
                    <a:p>
                      <a:r>
                        <a:rPr sz="1200" b="0">
                          <a:solidFill>
                            <a:srgbClr val="1F2937"/>
                          </a:solidFill>
                        </a:rPr>
                        <a:t>qonda siydikdagidan balandroq</a:t>
                      </a:r>
                    </a:p>
                  </a:txBody>
                  <a:tcPr marL="73152" marR="73152" marT="36576" marB="36576">
                    <a:solidFill>
                      <a:srgbClr val="E8EEF6"/>
                    </a:solidFill>
                  </a:tcPr>
                </a:tc>
                <a:tc>
                  <a:txBody>
                    <a:bodyPr/>
                    <a:lstStyle/>
                    <a:p>
                      <a:r>
                        <a:rPr sz="1200" b="0">
                          <a:solidFill>
                            <a:srgbClr val="1F2937"/>
                          </a:solidFill>
                        </a:rPr>
                        <a:t>konsentratsiya ko‘tarilib boradi</a:t>
                      </a:r>
                    </a:p>
                  </a:txBody>
                  <a:tcPr marL="73152" marR="73152" marT="36576" marB="36576">
                    <a:solidFill>
                      <a:srgbClr val="E8EEF6"/>
                    </a:solidFill>
                  </a:tcPr>
                </a:tc>
              </a:tr>
              <a:tr h="411480">
                <a:tc>
                  <a:txBody>
                    <a:bodyPr/>
                    <a:lstStyle/>
                    <a:p>
                      <a:r>
                        <a:rPr sz="1200" b="0">
                          <a:solidFill>
                            <a:srgbClr val="1F2937"/>
                          </a:solidFill>
                        </a:rPr>
                        <a:t>Eliminatsiya davri</a:t>
                      </a:r>
                    </a:p>
                  </a:txBody>
                  <a:tcPr marL="73152" marR="73152" marT="36576" marB="36576">
                    <a:solidFill>
                      <a:srgbClr val="FFFFFF"/>
                    </a:solidFill>
                  </a:tcPr>
                </a:tc>
                <a:tc>
                  <a:txBody>
                    <a:bodyPr/>
                    <a:lstStyle/>
                    <a:p>
                      <a:r>
                        <a:rPr sz="1200" b="0">
                          <a:solidFill>
                            <a:srgbClr val="1F2937"/>
                          </a:solidFill>
                        </a:rPr>
                        <a:t>qonda pasayadi</a:t>
                      </a:r>
                    </a:p>
                  </a:txBody>
                  <a:tcPr marL="73152" marR="73152" marT="36576" marB="36576">
                    <a:solidFill>
                      <a:srgbClr val="FFFFFF"/>
                    </a:solidFill>
                  </a:tcPr>
                </a:tc>
                <a:tc>
                  <a:txBody>
                    <a:bodyPr/>
                    <a:lstStyle/>
                    <a:p>
                      <a:r>
                        <a:rPr sz="1200" b="0">
                          <a:solidFill>
                            <a:srgbClr val="1F2937"/>
                          </a:solidFill>
                        </a:rPr>
                        <a:t>siydikda baland bo‘ladi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Sinamalar va qon–siydik nisbati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159, 159–160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Spirt surrogatlari: metanol, etilenglikol va boshqalar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Metanol (letal doza 30–100 ml) sekin oksidlanib formaldegid va chumoli kislotasi hosil qiladi; atsidoz rivojlanib, to‘qima nafasi buziladi.</a:t>
            </a:r>
          </a:p>
          <a:p>
            <a:pPr>
              <a:spcAft>
                <a:spcPts val="1200"/>
              </a:spcAft>
            </a:pPr>
            <a:r>
              <a:rPr sz="2200">
                <a:solidFill>
                  <a:srgbClr val="1F2937"/>
                </a:solidFill>
                <a:latin typeface="Calibri"/>
              </a:rPr>
              <a:t>▸  Bosqichlar: qisqa mastlik; bir necha soatdan kungacha yashirin davr; so‘ng og‘ir ahvol va ko‘rish buzilishi (qorachiq kengayadi, ko‘rlik mumkin). O‘lim ko‘pincha 2–3 kunda. (?)</a:t>
            </a:r>
          </a:p>
          <a:p>
            <a:pPr>
              <a:spcAft>
                <a:spcPts val="1200"/>
              </a:spcAft>
            </a:pPr>
            <a:r>
              <a:rPr sz="2200">
                <a:solidFill>
                  <a:srgbClr val="1F2937"/>
                </a:solidFill>
                <a:latin typeface="Calibri"/>
              </a:rPr>
              <a:t>▸  Etilenglikol: 4 bosqich — mastlik, qisqa yashirin davr, MNT shikasti, jigar–buyrak shikasti. Metaboliti oksalat kislotasi; letal doza 100–200 ml.</a:t>
            </a:r>
          </a:p>
          <a:p>
            <a:pPr>
              <a:spcAft>
                <a:spcPts val="1200"/>
              </a:spcAft>
            </a:pPr>
            <a:r>
              <a:rPr sz="2200">
                <a:solidFill>
                  <a:srgbClr val="1F2937"/>
                </a:solidFill>
                <a:latin typeface="Calibri"/>
              </a:rPr>
              <a:t>▸  Propil, butil, amil spirtlari komaga olib keladi (letal doza 300, 200–250, 20–30 ml). Tetraetilqo‘rg‘oshin (10–15 ml) psixoz va koma chaqiradi.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161, 162–163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Uyqu dorilari, strixnin, atropin va boshqa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Barbituratlar markaziy nerv tizimi (MNT) faoliyatini so‘ndiradi, qon tomir o‘tkazuvchanligini oshiradi. Belgilari: chuqur uyqu, bosim va harorat pasayishi, koma; o‘lim nafas markazi falajidan.</a:t>
            </a:r>
          </a:p>
          <a:p>
            <a:pPr>
              <a:spcAft>
                <a:spcPts val="1200"/>
              </a:spcAft>
            </a:pPr>
            <a:r>
              <a:rPr sz="2000">
                <a:solidFill>
                  <a:srgbClr val="1F2937"/>
                </a:solidFill>
                <a:latin typeface="Calibri"/>
              </a:rPr>
              <a:t>▸  Letal dozalar: barbamil, nembutal 1,0–2,0 g; medinal, tetridin 3,0–5,0 g; noksiron 5,0–10 g. Spirt ta’sirni kuchaytiradi; miqdoriy sud-kimyo kerak.</a:t>
            </a:r>
          </a:p>
          <a:p>
            <a:pPr>
              <a:spcAft>
                <a:spcPts val="1200"/>
              </a:spcAft>
            </a:pPr>
            <a:r>
              <a:rPr sz="2000">
                <a:solidFill>
                  <a:srgbClr val="1F2937"/>
                </a:solidFill>
                <a:latin typeface="Calibri"/>
              </a:rPr>
              <a:t>▸  Strixnin: tonik talvasa xuruji, hush saqlanadi, tana yoysimon (opistotonus); kuchsiz ta’sir ham xurujni chaqiradi. Letal doza kattada 0,1–0,3 g, bolada 0,005 g.</a:t>
            </a:r>
          </a:p>
          <a:p>
            <a:pPr>
              <a:spcAft>
                <a:spcPts val="1200"/>
              </a:spcAft>
            </a:pPr>
            <a:r>
              <a:rPr sz="2000">
                <a:solidFill>
                  <a:srgbClr val="1F2937"/>
                </a:solidFill>
                <a:latin typeface="Calibri"/>
              </a:rPr>
              <a:t>▸  Atropin: qorachiq kengayadi, alahsirash (letal 0,1 g). Pilokarpin: qorachiq torayadi, ter va so‘lak ko‘p (0,06 g). Paxikarpin 1,0–2,0 g; klofelin 0,005–0,01 g. Miorelaksantlar: nafas mushaklari falaji.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163–164, 164, 165, 166–167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funksional zaharlar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funksional zaharlar ichki a’zolarda odatda yaqqol morfologik o‘zgarish chaqirmaydi. Diagnoz nimalarga tayanadi?</a:t>
            </a:r>
          </a:p>
          <a:p>
            <a:pPr>
              <a:spcAft>
                <a:spcPts val="1200"/>
              </a:spcAft>
            </a:pPr>
            <a:r>
              <a:rPr sz="2200">
                <a:solidFill>
                  <a:srgbClr val="1F2937"/>
                </a:solidFill>
                <a:latin typeface="Calibri"/>
              </a:rPr>
              <a:t>▸  Javob: voqea tafsilotlari, zaharlanish klinikasi hamda toksikologik va boshqa laboratoriya tekshiruvlari natijalariga.</a:t>
            </a:r>
          </a:p>
          <a:p>
            <a:pPr>
              <a:spcAft>
                <a:spcPts val="1200"/>
              </a:spcAft>
            </a:pPr>
            <a:r>
              <a:rPr sz="2200">
                <a:solidFill>
                  <a:srgbClr val="1F2937"/>
                </a:solidFill>
                <a:latin typeface="Calibri"/>
              </a:rPr>
              <a:t>▸  Mushak qotishi: strixninda tez va kuchli; xloral gidrat, kurare, miorelaksantlarda sust va kuchsiz.</a:t>
            </a:r>
          </a:p>
          <a:p>
            <a:pPr>
              <a:spcAft>
                <a:spcPts val="1200"/>
              </a:spcAft>
            </a:pPr>
            <a:r>
              <a:rPr sz="2200">
                <a:solidFill>
                  <a:srgbClr val="1F2937"/>
                </a:solidFill>
                <a:latin typeface="Calibri"/>
              </a:rPr>
              <a:t>▸  Diqqat: xato qilish xavfi — sianidda murda dog‘lari yorqin olcha rangli, is gazida pushti. Ranglarni almashtirmang.</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153, 136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 va psixotrop moddalardan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Opiatlar, nasha — sedativ; kokain, amfetamin — qo‘zg‘atuvchi. Opiatlardan o‘lim nafas markazi falajidan.</a:t>
            </a:r>
          </a:p>
          <a:p>
            <a:pPr>
              <a:spcAft>
                <a:spcPts val="800"/>
              </a:spcAft>
            </a:pPr>
            <a:r>
              <a:rPr sz="1800">
                <a:solidFill>
                  <a:srgbClr val="1F2937"/>
                </a:solidFill>
                <a:latin typeface="Calibri"/>
              </a:rPr>
              <a:t>▸  Narkotiklar bilan bog‘liq o‘lim (DRD): zaharlanish, o‘z-o‘zini o‘ldirish, baxtsiz hodisa, qotillik.</a:t>
            </a:r>
          </a:p>
          <a:p>
            <a:pPr>
              <a:spcAft>
                <a:spcPts val="800"/>
              </a:spcAft>
            </a:pPr>
            <a:r>
              <a:rPr sz="1800">
                <a:solidFill>
                  <a:srgbClr val="1F2937"/>
                </a:solidFill>
                <a:latin typeface="Calibri"/>
              </a:rPr>
              <a:t>▸  Qayta qabul: bog‘liqlik, tolerantlik, abstinensiya; murda belgilari 4 guruh, ular faqat bilvosita dalil.</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92152"/>
                <a:gridCol w="1797911"/>
                <a:gridCol w="1797911"/>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Boshlanishi</a:t>
                      </a:r>
                    </a:p>
                  </a:txBody>
                  <a:tcPr marL="73152" marR="73152" marT="36576" marB="36576">
                    <a:solidFill>
                      <a:srgbClr val="0B1F3A"/>
                    </a:solidFill>
                  </a:tcPr>
                </a:tc>
                <a:tc>
                  <a:txBody>
                    <a:bodyPr/>
                    <a:lstStyle/>
                    <a:p>
                      <a:r>
                        <a:rPr sz="1300" b="1">
                          <a:solidFill>
                            <a:srgbClr val="FFFFFF"/>
                          </a:solidFill>
                        </a:rPr>
                        <a:t>Davomiyligi</a:t>
                      </a:r>
                    </a:p>
                  </a:txBody>
                  <a:tcPr marL="73152" marR="73152" marT="36576" marB="36576">
                    <a:solidFill>
                      <a:srgbClr val="0B1F3A"/>
                    </a:solidFill>
                  </a:tcPr>
                </a:tc>
              </a:tr>
              <a:tr h="411480">
                <a:tc>
                  <a:txBody>
                    <a:bodyPr/>
                    <a:lstStyle/>
                    <a:p>
                      <a:r>
                        <a:rPr sz="1200" b="0">
                          <a:solidFill>
                            <a:srgbClr val="1F2937"/>
                          </a:solidFill>
                        </a:rPr>
                        <a:t>Kannabinoidlar</a:t>
                      </a:r>
                    </a:p>
                  </a:txBody>
                  <a:tcPr marL="73152" marR="73152" marT="36576" marB="36576">
                    <a:solidFill>
                      <a:srgbClr val="E8EEF6"/>
                    </a:solidFill>
                  </a:tcPr>
                </a:tc>
                <a:tc>
                  <a:txBody>
                    <a:bodyPr/>
                    <a:lstStyle/>
                    <a:p>
                      <a:r>
                        <a:rPr sz="1200" b="0">
                          <a:solidFill>
                            <a:srgbClr val="1F2937"/>
                          </a:solidFill>
                        </a:rPr>
                        <a:t>1-3 soat</a:t>
                      </a:r>
                    </a:p>
                  </a:txBody>
                  <a:tcPr marL="73152" marR="73152" marT="36576" marB="36576">
                    <a:solidFill>
                      <a:srgbClr val="E8EEF6"/>
                    </a:solidFill>
                  </a:tcPr>
                </a:tc>
                <a:tc>
                  <a:txBody>
                    <a:bodyPr/>
                    <a:lstStyle/>
                    <a:p>
                      <a:r>
                        <a:rPr sz="1200" b="0">
                          <a:solidFill>
                            <a:srgbClr val="1F2937"/>
                          </a:solidFill>
                        </a:rPr>
                        <a:t>24-168 soat</a:t>
                      </a:r>
                    </a:p>
                  </a:txBody>
                  <a:tcPr marL="73152" marR="73152" marT="36576" marB="36576">
                    <a:solidFill>
                      <a:srgbClr val="E8EEF6"/>
                    </a:solidFill>
                  </a:tcPr>
                </a:tc>
              </a:tr>
              <a:tr h="411480">
                <a:tc>
                  <a:txBody>
                    <a:bodyPr/>
                    <a:lstStyle/>
                    <a:p>
                      <a:r>
                        <a:rPr sz="1200" b="0">
                          <a:solidFill>
                            <a:srgbClr val="1F2937"/>
                          </a:solidFill>
                        </a:rPr>
                        <a:t>Geroin</a:t>
                      </a:r>
                    </a:p>
                  </a:txBody>
                  <a:tcPr marL="73152" marR="73152" marT="36576" marB="36576">
                    <a:solidFill>
                      <a:srgbClr val="FFFFFF"/>
                    </a:solidFill>
                  </a:tcPr>
                </a:tc>
                <a:tc>
                  <a:txBody>
                    <a:bodyPr/>
                    <a:lstStyle/>
                    <a:p>
                      <a:r>
                        <a:rPr sz="1200" b="0">
                          <a:solidFill>
                            <a:srgbClr val="1F2937"/>
                          </a:solidFill>
                        </a:rPr>
                        <a:t>2-6 soat</a:t>
                      </a:r>
                    </a:p>
                  </a:txBody>
                  <a:tcPr marL="73152" marR="73152" marT="36576" marB="36576">
                    <a:solidFill>
                      <a:srgbClr val="FFFFFF"/>
                    </a:solidFill>
                  </a:tcPr>
                </a:tc>
                <a:tc>
                  <a:txBody>
                    <a:bodyPr/>
                    <a:lstStyle/>
                    <a:p>
                      <a:r>
                        <a:rPr sz="1200" b="0">
                          <a:solidFill>
                            <a:srgbClr val="1F2937"/>
                          </a:solidFill>
                        </a:rPr>
                        <a:t>24-72 soat</a:t>
                      </a:r>
                    </a:p>
                  </a:txBody>
                  <a:tcPr marL="73152" marR="73152" marT="36576" marB="36576">
                    <a:solidFill>
                      <a:srgbClr val="FFFFFF"/>
                    </a:solidFill>
                  </a:tcPr>
                </a:tc>
              </a:tr>
              <a:tr h="411480">
                <a:tc>
                  <a:txBody>
                    <a:bodyPr/>
                    <a:lstStyle/>
                    <a:p>
                      <a:r>
                        <a:rPr sz="1200" b="0">
                          <a:solidFill>
                            <a:srgbClr val="1F2937"/>
                          </a:solidFill>
                        </a:rPr>
                        <a:t>Kokain</a:t>
                      </a:r>
                    </a:p>
                  </a:txBody>
                  <a:tcPr marL="73152" marR="73152" marT="36576" marB="36576">
                    <a:solidFill>
                      <a:srgbClr val="E8EEF6"/>
                    </a:solidFill>
                  </a:tcPr>
                </a:tc>
                <a:tc>
                  <a:txBody>
                    <a:bodyPr/>
                    <a:lstStyle/>
                    <a:p>
                      <a:r>
                        <a:rPr sz="1200" b="0">
                          <a:solidFill>
                            <a:srgbClr val="1F2937"/>
                          </a:solidFill>
                        </a:rPr>
                        <a:t>2-6 soat</a:t>
                      </a:r>
                    </a:p>
                  </a:txBody>
                  <a:tcPr marL="73152" marR="73152" marT="36576" marB="36576">
                    <a:solidFill>
                      <a:srgbClr val="E8EEF6"/>
                    </a:solidFill>
                  </a:tcPr>
                </a:tc>
                <a:tc>
                  <a:txBody>
                    <a:bodyPr/>
                    <a:lstStyle/>
                    <a:p>
                      <a:r>
                        <a:rPr sz="1200" b="0">
                          <a:solidFill>
                            <a:srgbClr val="1F2937"/>
                          </a:solidFill>
                        </a:rPr>
                        <a:t>48-72 soat</a:t>
                      </a:r>
                    </a:p>
                  </a:txBody>
                  <a:tcPr marL="73152" marR="73152" marT="36576" marB="36576">
                    <a:solidFill>
                      <a:srgbClr val="E8EEF6"/>
                    </a:solidFill>
                  </a:tcPr>
                </a:tc>
              </a:tr>
              <a:tr h="411480">
                <a:tc>
                  <a:txBody>
                    <a:bodyPr/>
                    <a:lstStyle/>
                    <a:p>
                      <a:r>
                        <a:rPr sz="1200" b="0">
                          <a:solidFill>
                            <a:srgbClr val="1F2937"/>
                          </a:solidFill>
                        </a:rPr>
                        <a:t>Fensiklidin</a:t>
                      </a:r>
                    </a:p>
                  </a:txBody>
                  <a:tcPr marL="73152" marR="73152" marT="36576" marB="36576">
                    <a:solidFill>
                      <a:srgbClr val="FFFFFF"/>
                    </a:solidFill>
                  </a:tcPr>
                </a:tc>
                <a:tc>
                  <a:txBody>
                    <a:bodyPr/>
                    <a:lstStyle/>
                    <a:p>
                      <a:r>
                        <a:rPr sz="1200" b="0">
                          <a:solidFill>
                            <a:srgbClr val="1F2937"/>
                          </a:solidFill>
                        </a:rPr>
                        <a:t>4-6 soat</a:t>
                      </a:r>
                    </a:p>
                  </a:txBody>
                  <a:tcPr marL="73152" marR="73152" marT="36576" marB="36576">
                    <a:solidFill>
                      <a:srgbClr val="FFFFFF"/>
                    </a:solidFill>
                  </a:tcPr>
                </a:tc>
                <a:tc>
                  <a:txBody>
                    <a:bodyPr/>
                    <a:lstStyle/>
                    <a:p>
                      <a:r>
                        <a:rPr sz="1200" b="0">
                          <a:solidFill>
                            <a:srgbClr val="1F2937"/>
                          </a:solidFill>
                        </a:rPr>
                        <a:t>7-14 kun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Siydikda aniqlanish muddatlari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167-169, 168, 170-172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Ovqatdan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84</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Ovqatdan zaharlanish odatda baxtsiz hodisa; tayyor ovqatga tashqaridan zahar qo‘shilsa, bunga kirmaydi.</a:t>
            </a:r>
          </a:p>
          <a:p>
            <a:pPr>
              <a:spcAft>
                <a:spcPts val="800"/>
              </a:spcAft>
            </a:pPr>
            <a:r>
              <a:rPr sz="1800">
                <a:solidFill>
                  <a:srgbClr val="1F2937"/>
                </a:solidFill>
                <a:latin typeface="Calibri"/>
              </a:rPr>
              <a:t>▸  Botulizm: anaerob toksin, konservada; o‘lim odatda ikkinchi kuni nafas markazi falajidan.</a:t>
            </a:r>
          </a:p>
          <a:p>
            <a:pPr>
              <a:spcAft>
                <a:spcPts val="800"/>
              </a:spcAft>
            </a:pPr>
            <a:r>
              <a:rPr sz="1800">
                <a:solidFill>
                  <a:srgbClr val="1F2937"/>
                </a:solidFill>
                <a:latin typeface="Calibri"/>
              </a:rPr>
              <a:t>▸  Bakterial o‘limda diagnoz tasdiqlansa — patologoanatomik tekshiruv; aks holda sud-tibbiy ekspertiza.</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88308"/>
                <a:gridCol w="1723048"/>
                <a:gridCol w="2376617"/>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c>
                  <a:txBody>
                    <a:bodyPr/>
                    <a:lstStyle/>
                    <a:p>
                      <a:r>
                        <a:rPr sz="1300" b="1">
                          <a:solidFill>
                            <a:srgbClr val="FFFFFF"/>
                          </a:solidFill>
                        </a:rPr>
                        <a:t>Asosiy belgi</a:t>
                      </a:r>
                    </a:p>
                  </a:txBody>
                  <a:tcPr marL="73152" marR="73152" marT="36576" marB="36576">
                    <a:solidFill>
                      <a:srgbClr val="0B1F3A"/>
                    </a:solidFill>
                  </a:tcPr>
                </a:tc>
              </a:tr>
              <a:tr h="411480">
                <a:tc>
                  <a:txBody>
                    <a:bodyPr/>
                    <a:lstStyle/>
                    <a:p>
                      <a:r>
                        <a:rPr sz="1200" b="0">
                          <a:solidFill>
                            <a:srgbClr val="1F2937"/>
                          </a:solidFill>
                        </a:rPr>
                        <a:t>Toksikoinfeksiya</a:t>
                      </a:r>
                    </a:p>
                  </a:txBody>
                  <a:tcPr marL="73152" marR="73152" marT="36576" marB="36576">
                    <a:solidFill>
                      <a:srgbClr val="E8EEF6"/>
                    </a:solidFill>
                  </a:tcPr>
                </a:tc>
                <a:tc>
                  <a:txBody>
                    <a:bodyPr/>
                    <a:lstStyle/>
                    <a:p>
                      <a:r>
                        <a:rPr sz="1200" b="0">
                          <a:solidFill>
                            <a:srgbClr val="1F2937"/>
                          </a:solidFill>
                        </a:rPr>
                        <a:t>Salmonella, ichak tayoqchasi</a:t>
                      </a:r>
                    </a:p>
                  </a:txBody>
                  <a:tcPr marL="73152" marR="73152" marT="36576" marB="36576">
                    <a:solidFill>
                      <a:srgbClr val="E8EEF6"/>
                    </a:solidFill>
                  </a:tcPr>
                </a:tc>
                <a:tc>
                  <a:txBody>
                    <a:bodyPr/>
                    <a:lstStyle/>
                    <a:p>
                      <a:r>
                        <a:rPr sz="1200" b="0">
                          <a:solidFill>
                            <a:srgbClr val="1F2937"/>
                          </a:solidFill>
                        </a:rPr>
                        <a:t>Gastroenterokolit, suvsizlanish</a:t>
                      </a:r>
                    </a:p>
                  </a:txBody>
                  <a:tcPr marL="73152" marR="73152" marT="36576" marB="36576">
                    <a:solidFill>
                      <a:srgbClr val="E8EEF6"/>
                    </a:solidFill>
                  </a:tcPr>
                </a:tc>
              </a:tr>
              <a:tr h="411480">
                <a:tc>
                  <a:txBody>
                    <a:bodyPr/>
                    <a:lstStyle/>
                    <a:p>
                      <a:r>
                        <a:rPr sz="1200" b="0">
                          <a:solidFill>
                            <a:srgbClr val="1F2937"/>
                          </a:solidFill>
                        </a:rPr>
                        <a:t>Intoksikatsiya</a:t>
                      </a:r>
                    </a:p>
                  </a:txBody>
                  <a:tcPr marL="73152" marR="73152" marT="36576" marB="36576">
                    <a:solidFill>
                      <a:srgbClr val="FFFFFF"/>
                    </a:solidFill>
                  </a:tcPr>
                </a:tc>
                <a:tc>
                  <a:txBody>
                    <a:bodyPr/>
                    <a:lstStyle/>
                    <a:p>
                      <a:r>
                        <a:rPr sz="1200" b="0">
                          <a:solidFill>
                            <a:srgbClr val="1F2937"/>
                          </a:solidFill>
                        </a:rPr>
                        <a:t>Botulizm, stafilokok toksini</a:t>
                      </a:r>
                    </a:p>
                  </a:txBody>
                  <a:tcPr marL="73152" marR="73152" marT="36576" marB="36576">
                    <a:solidFill>
                      <a:srgbClr val="FFFFFF"/>
                    </a:solidFill>
                  </a:tcPr>
                </a:tc>
                <a:tc>
                  <a:txBody>
                    <a:bodyPr/>
                    <a:lstStyle/>
                    <a:p>
                      <a:r>
                        <a:rPr sz="1200" b="0">
                          <a:solidFill>
                            <a:srgbClr val="1F2937"/>
                          </a:solidFill>
                        </a:rPr>
                        <a:t>Toksin to‘plangan mahsulotdan</a:t>
                      </a:r>
                    </a:p>
                  </a:txBody>
                  <a:tcPr marL="73152" marR="73152" marT="36576" marB="36576">
                    <a:solidFill>
                      <a:srgbClr val="FFFFFF"/>
                    </a:solidFill>
                  </a:tcPr>
                </a:tc>
              </a:tr>
              <a:tr h="411480">
                <a:tc>
                  <a:txBody>
                    <a:bodyPr/>
                    <a:lstStyle/>
                    <a:p>
                      <a:r>
                        <a:rPr sz="1200" b="0">
                          <a:solidFill>
                            <a:srgbClr val="1F2937"/>
                          </a:solidFill>
                        </a:rPr>
                        <a:t>O‘simlik, qo‘ziqorin</a:t>
                      </a:r>
                    </a:p>
                  </a:txBody>
                  <a:tcPr marL="73152" marR="73152" marT="36576" marB="36576">
                    <a:solidFill>
                      <a:srgbClr val="E8EEF6"/>
                    </a:solidFill>
                  </a:tcPr>
                </a:tc>
                <a:tc>
                  <a:txBody>
                    <a:bodyPr/>
                    <a:lstStyle/>
                    <a:p>
                      <a:r>
                        <a:rPr sz="1200" b="0">
                          <a:solidFill>
                            <a:srgbClr val="1F2937"/>
                          </a:solidFill>
                        </a:rPr>
                        <a:t>Poganka, strochok, sikuta</a:t>
                      </a:r>
                    </a:p>
                  </a:txBody>
                  <a:tcPr marL="73152" marR="73152" marT="36576" marB="36576">
                    <a:solidFill>
                      <a:srgbClr val="E8EEF6"/>
                    </a:solidFill>
                  </a:tcPr>
                </a:tc>
                <a:tc>
                  <a:txBody>
                    <a:bodyPr/>
                    <a:lstStyle/>
                    <a:p>
                      <a:r>
                        <a:rPr sz="1200" b="0">
                          <a:solidFill>
                            <a:srgbClr val="1F2937"/>
                          </a:solidFill>
                        </a:rPr>
                        <a:t>Klinika toksin turiga bog‘liq</a:t>
                      </a:r>
                    </a:p>
                  </a:txBody>
                  <a:tcPr marL="73152" marR="73152" marT="36576" marB="36576">
                    <a:solidFill>
                      <a:srgbClr val="E8EEF6"/>
                    </a:solidFill>
                  </a:tcPr>
                </a:tc>
              </a:tr>
              <a:tr h="411480">
                <a:tc>
                  <a:txBody>
                    <a:bodyPr/>
                    <a:lstStyle/>
                    <a:p>
                      <a:r>
                        <a:rPr sz="1200" b="0">
                          <a:solidFill>
                            <a:srgbClr val="1F2937"/>
                          </a:solidFill>
                        </a:rPr>
                        <a:t>Hayvon, qo‘shimcha</a:t>
                      </a:r>
                    </a:p>
                  </a:txBody>
                  <a:tcPr marL="73152" marR="73152" marT="36576" marB="36576">
                    <a:solidFill>
                      <a:srgbClr val="FFFFFF"/>
                    </a:solidFill>
                  </a:tcPr>
                </a:tc>
                <a:tc>
                  <a:txBody>
                    <a:bodyPr/>
                    <a:lstStyle/>
                    <a:p>
                      <a:r>
                        <a:rPr sz="1200" b="0">
                          <a:solidFill>
                            <a:srgbClr val="1F2937"/>
                          </a:solidFill>
                        </a:rPr>
                        <a:t>Baliq ikrasi; geliotropli don</a:t>
                      </a:r>
                    </a:p>
                  </a:txBody>
                  <a:tcPr marL="73152" marR="73152" marT="36576" marB="36576">
                    <a:solidFill>
                      <a:srgbClr val="FFFFFF"/>
                    </a:solidFill>
                  </a:tcPr>
                </a:tc>
                <a:tc>
                  <a:txBody>
                    <a:bodyPr/>
                    <a:lstStyle/>
                    <a:p>
                      <a:r>
                        <a:rPr sz="1200" b="0">
                          <a:solidFill>
                            <a:srgbClr val="1F2937"/>
                          </a:solidFill>
                        </a:rPr>
                        <a:t>Baliq – neyrotoksin; qo‘shimcha – guruhiy</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Ovqatdan zaharlanish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172-173, 173-174, 174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tekshiruvlarining ahamiyati va 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84</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Zaharlanishni isbotlash yoki inkor etishda laboratoriya tekshiruvlari muhim. Eng ko‘p sud-kimyoviy va gistologik tekshiruv o‘tkaziladi; gistologiya mikroskopik o‘zgarishlarni aniqlaydi.</a:t>
            </a:r>
          </a:p>
          <a:p>
            <a:pPr>
              <a:spcAft>
                <a:spcPts val="1200"/>
              </a:spcAft>
            </a:pPr>
            <a:r>
              <a:rPr sz="2000">
                <a:solidFill>
                  <a:srgbClr val="1F2937"/>
                </a:solidFill>
                <a:latin typeface="Calibri"/>
              </a:rPr>
              <a:t>▸  Soxta musbat natija: dori sifatida qo‘llash, chirish, kasbiy aloqa yoki olishdagi xato tufayli. Soxta manfiy: zahar tez parchalangan, infuziya o‘tkazilgan, vaqt o‘tgan yoki usul yo‘q.</a:t>
            </a:r>
          </a:p>
          <a:p>
            <a:pPr>
              <a:spcAft>
                <a:spcPts val="1200"/>
              </a:spcAft>
            </a:pPr>
            <a:r>
              <a:rPr sz="2000">
                <a:solidFill>
                  <a:srgbClr val="1F2937"/>
                </a:solidFill>
                <a:latin typeface="Calibri"/>
              </a:rPr>
              <a:t>▸  Namunalar imkon qadar tez olinadi: qon, siydik, oshqozon yuvmasi, qusuq, axlat, zahar qoldig‘i yoki idishi. Imkon bo‘lmasa, namunalar surishtiruvchi yoki tergovchiga rasman topshiriladi.</a:t>
            </a:r>
          </a:p>
          <a:p>
            <a:pPr>
              <a:spcAft>
                <a:spcPts val="1200"/>
              </a:spcAft>
            </a:pPr>
            <a:r>
              <a:rPr sz="2000">
                <a:solidFill>
                  <a:srgbClr val="1F2937"/>
                </a:solidFill>
                <a:latin typeface="Calibri"/>
              </a:rPr>
              <a:t>▸  Xulosa: natijalar hamisha voqea tafsiloti, klinik yoki katamnestik ma’lumotlar va murdaning makroskopik tekshiruvi bilan birga, tanqidiy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179-180, 180, 180-181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84</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Hodisa tahlili: Paratselsning mashhur iborasi bo‘yicha dorini zahardan faqat doza ajratadi. Mutlaq zahar ham, mutlaq beziyon modda ham bo‘lmaydi. Shuning uchun ekspert avval moddaning miqdorini baholaydi.</a:t>
            </a:r>
          </a:p>
          <a:p>
            <a:pPr>
              <a:spcAft>
                <a:spcPts val="1200"/>
              </a:spcAft>
            </a:pPr>
            <a:r>
              <a:rPr sz="1800">
                <a:solidFill>
                  <a:srgbClr val="1F2937"/>
                </a:solidFill>
                <a:latin typeface="Calibri"/>
              </a:rPr>
              <a:t>▸  Eslab qolish usuli — “uch nuqta” qoidasi: zahar kirgan, asosan ta’sir etgan va organizmdan chiqqan joydan namuna olinadi. Masalan, og‘iz orqali kirgan zaharda oshqozon massasi, jigar bo‘lagi va siydik bilan buyrak olinadi.</a:t>
            </a:r>
          </a:p>
          <a:p>
            <a:pPr>
              <a:spcAft>
                <a:spcPts val="1200"/>
              </a:spcAft>
            </a:pPr>
            <a:r>
              <a:rPr sz="1800">
                <a:solidFill>
                  <a:srgbClr val="1F2937"/>
                </a:solidFill>
                <a:latin typeface="Calibri"/>
              </a:rPr>
              <a:t>▸  Eslab qolish jadvali — murda dog‘lari rangi: is gazida pushti, sianidda yorqin olcha rang, metgemoglobin hosil qiluvchilarda jigarrang-qo‘ng‘ir, gemoliz chaqiruvchilarda sarg‘ish. Rang ekspertga zahar turini taxmin qilishda yordam beradi.</a:t>
            </a:r>
          </a:p>
          <a:p>
            <a:pPr>
              <a:spcAft>
                <a:spcPts val="1200"/>
              </a:spcAft>
            </a:pPr>
            <a:r>
              <a:rPr sz="1800">
                <a:solidFill>
                  <a:srgbClr val="1F2937"/>
                </a:solidFill>
                <a:latin typeface="Calibri"/>
              </a:rPr>
              <a:t>▸  Qiziqarli hodisa: metanol, etanol va etilenglikol organizmda oksidlanganda o‘zidan kuchliroq toksik moddalarga aylanadi. Metanoldan formaldegid, etilenglikoldan oksalat kislotasi hosil bo‘ladi. Shu sababli zaharlanish davomida ularning ta’siri o‘zgaradi.</a:t>
            </a:r>
          </a:p>
          <a:p>
            <a:pPr>
              <a:spcAft>
                <a:spcPts val="1200"/>
              </a:spcAft>
            </a:pPr>
            <a:r>
              <a:rPr sz="1800">
                <a:solidFill>
                  <a:srgbClr val="1F2937"/>
                </a:solidFill>
                <a:latin typeface="Calibri"/>
              </a:rPr>
              <a:t>▸  Tezkor sinama: qonga natriy yoki kaliy ishqorining 33% eritmasi (Goppe-Zeyler sinamasi) qo‘shilsa, normal qon qo‘ng‘ir-qora bo‘ladi. Karboksigemoglobinli qonning rangi o‘zgarmaydi. Qoida: rang o‘zgarmasa — is gaziga shubha qilinadi.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Paratselsning iborasiga ko‘ra, aynan nima moddani doriga yoki zaharga aylantiradi?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Moddaning rangi va hidi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Moddaning ma’lum bir dozasi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Moddaning kelib chiqish joyi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Moddaning saqlanish muddati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Sud-tibbiy toksikologiyaning boshqa toksikologiya yo‘nalishlaridan asosiy farqi nimada?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Zaharlanishlarning oldini olish choralarini ishlab chiqishda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Jabrlanganlarga malakali tibbiy yordam ko‘rsatishni o‘rganishda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Zaharlanish sabablarini faqat sanoatda o‘rganishda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Huquqni muhofaza etuvchi idoralar vazifalarini hal etishda</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Hamshira dori dozasini hisoblashda xatoga yo‘l qo‘yib, bemorga ortiqcha miqdorda preparat yubordi va bemor zaharlandi. Bu zaharlanish qanday nomlanadi?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Yatrogen kelib chiqishli tasodifiy zaharlanish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Qasddan sodir etilgan qotillik zaharlanishi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O‘z-o‘zini o‘ldirish maqsadidagi zaharlanish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Kasbiy faoliyat bilan bog‘liq zaharlanish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Radiolog oshqozon-ichak rentgenografiyasida bemorga bariy sulfat butqasini berdi va zaharlanish bo‘lmadi. Bariy xlorid esa kuchli zahar hisoblanadi. Buning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Bariy sulfat gazsimon holatda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Bariy xlorid yog‘da yaxshi eriydi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Bariy sulfat suvda erimaydi, xlorid esa eriydi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Bariy xlorid organizmda to‘planmaydi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Jarrohlikda miorelaksant yuborilgan bemorda ta’sir g‘ayrioddiy kuchli bo‘ldi. Tekshiruvda qaysi genetik xususiyat bunga sabab bo‘lishi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Eritrotsitlarda glyukoza-6-fosfatdegidrogenaza yetishmovchiligi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Xolinesteraza fermenti aktivligining tug‘ma pastligi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Qisqa vaqt ichida moddaga tolerantlik rivojlanishi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Organizmda endogen alkogolning ko‘p bo‘lishi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Operatsiyada bemorga miorelaksant yuborildi; uning xolinesteraza fermenti aktivligi tug‘ma past. Miorelaksant ta’siri qanday o‘zgaradi?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Ta’siri susayadi va tezroq tugab qoladi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Ta’siri kuchayadi va xavfli bo‘lib qoladi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Ta’sirida hech qanday o‘zgarish bo‘lmaydi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Ta’siri butunlay yo‘qolib, samara bermaydi</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Zahar to‘g‘ri ichak shilliq qavatidan so‘rildi. Nima sababdan uning ta’siri oshqozon-ichakdan so‘rilgan zaharnikidan kuchliroq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 avval jigarda to‘planib, so‘ngra qonga o‘tadi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Ichak shilliq qavati zaharni tez parchalab yuboradi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Zahar o‘z-o‘zidan yog‘da yaxshiroq erib ketib qoladi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Zahar jigardan o‘tmasdan bevosita qonga so‘riladi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Kanalizatsiya quduqidan ishchi murdasi chiqarildi. Bo‘shliq va ichki a’zolardan palag‘da tuxum hidi keladi, qon olcha rang-qizil. Qaysi zaharlanish ehtimoli yuqori?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Vodorod sulfid gazi bilan zaharlanish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Uglerod monooksidi (is gazi) bilan zaharlanish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Sianid kislotasi bug‘lari bilan zaharlanish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Fosfororganik birikmalar bilan zaharlanish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Og‘iz orqali qabul qilingan zahar jigarga ta’sir etib, siydik bilan chiqadi. ‘Uch nuqta’ qoidasiga ko‘ra murdadan qaysi namunalar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Bosh miya, o‘pka va yurakdan bittadan bo‘lak olinadi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siydik bilan oshqozon yuvma suvi olinadi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Oshqozon massasi, jigar bo‘lagi, buyrak siydik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qon va ichakning bir metr qismi olinadi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Sirka kislotasidan zaharlangan bemorda atsidoz tufayli eritrotsitlar gemolizi rivojlandi. Bu toksikodinamikaning qaysi ta’siriga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Birlamchi toksik ta’sir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Keyingi toksik ta’sir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Metatoksik ta’sir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Toksikokinetik ta’sir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V.L. Popov tasnifiga ko‘ra simob, qo‘rg‘oshin, rux, margimush va fosfor birikmalari qaysi guruhga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Asosan mahalliy ta’sir etuvchi zaharlar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Destruktiv zaharlar (umumiy ta’sirli)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Gemotrop zaharlar (qon zaharlari)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Funksional zaharlar (nerv tizimiga)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og‘iz atrofida pergamentdek zich, sarg‘ish-kulrang-qo‘ng‘ir oqmalar bor, oshqozon shilliq qavati qo‘ng‘ir-qora, devor teshilgan. Qaysi zaharlanish ehtimoli yuqori?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Sulfat kislotasi bilan zaharlanish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Nitrat kislotasi bilan zaharlanish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Xlorid kislotasi bilan zaharlanish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Kaliy gidroksid bilan zaharlanish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Shaxs alkogol mastligini “bartaraf qilish” maqsadida nashatir spirtini ichib, vafot etdi. Murdada ichki a’zolardan qanday hid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Achchiq bodomga o‘xshash hid</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Palag‘da tuxumga o‘xshash hid</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Olma hidiga o‘xshash yoqimli hid</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Ammiakning o‘ziga xos hidi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Yong‘in joyidan topilgan murdada dog‘lar pushti rangda. Qonga natriy ishqorining 33% eritmasi (Goppe-Zeyler sinamasi) qo‘shilganda qon rangi o‘zgarmadi. Bu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Qonda metgemoglobin borligini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Qonda sianidlar mavjudligini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Qonda karboksigemoglobin borligini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Qonda ishqoriy gematin hosil bo‘lganini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Metgemoglobin hosil qiluvchi modda bilan zaharlangan bemorda 2 kundan keyin anemiya va gemoglobinuriyali nefroz belgilari bor, lekin qonda metgemoglobin topilmadi. Eng to‘g‘ri izoh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1-2 kundan so‘ng metgemoglobin qonda topilmasligi mumkin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Demak, zaharlanish metgemoglobin hosil qiluvchi modda bilan bo‘lmagan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Metgemoglobin faqat siydikda aniqlanadi, qonda aniqlanmaydi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Gemoglobinuriyali nefroz boshqa kasallik belgisi bo‘lgani uchun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Yong‘indan keyin topilgan murdada murda dog‘lari pushti-qizg‘ish. Qonga 33% ishqor (Goppe-Zeyler sinamasi) qo‘shilganda qon rangi o‘zgarmadi. Bu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Qonda karboksigemoglobin bor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Qonda metgemoglobin mavjud</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Qonda sianid birikmasi bor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 tarkibi butunlay normal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Bola ko‘p miqdorda o‘rik danagining mag‘zini yeb zaharlandi, ichki a’zolardan achchiq bodom hidi keldi. Bu zaharning hujayra darajasidagi ta’sir mexanizmi qanday?</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Xolinesteraza fermenti faolligini so‘ndiradi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Sitoxromoksidazadagi temirni bog‘laydi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Gemoglobinni karboksigemoglobinga o‘tkazadi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Nerv-mushak sinapslarida impulsni to‘sadi</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Avtohalokatdan keyin haydovchining qonida 2,0 promille etil spirti aniqlandi. Amaldagi qoidalarga ko‘ra bu mastlikning qaysi darajasiga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Yengil darajali mastlik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Kuchli darajali mastlik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O‘rta darajali mastlik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Etil spirti zaharlanishi</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Vidmark–Balyakin formulasi bo‘yicha qabul qilingan spirt miqdorini hisoblashda erkaklar uchun reduksiya omilining o‘rtacha qiymati qanchaga teng?</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0,55</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0,40</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0,75</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0,68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84</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Etil spirti o‘rniga metil spirti ichgan kishining ahvoli bir kun yaxshi bo‘ldi, so‘ng ko‘rish buzilib, holati og‘irlashdi. Og‘ir toksik ta’sir qaysi omil bilan bog‘liq?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Butun molekulasi kuchli narkotik ta’sir qiladi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Metabolitlari formaldegid va chumoli kislotasi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Oksidlanishi etil spirtidan ham tezroq kechadi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Organizmdan bir necha soatda to‘liq chiqadi</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Moddaning ma’lum bir dozasi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 nisbiy tushuncha: mutloq zahar ham, mutloq beziyon modda ham yo‘q. Paratsels fikricha, faqat doza ma’lum bir moddani doriga yoki zaharga aylantiradi.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Huquqni muhofaza etuvchi idoralar vazifalarini hal etishda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Boshqa yo‘nalishlar sabablar, tibbiy yordam va oldini olishga qaratilgan. Sud-tibbiy toksikologiya esa zaharlanish hollarida huquqni muhofaza etuvchi idoralar qo‘ygan vazifalarni hal etadi.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Yatrogen kelib chiqishli tasodifiy zaharlanish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Ayrim tasodifiy zaharlanishlar yatrogen bo‘lib, tibbiy muolajada dori dozasini belgilashda xato qilinganda yoki bir dori o‘rniga boshqa modda qo‘llanganda yuz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Bariy sulfat suvda erimaydi, xlorid esa eriydi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Toksik ta’sir moddaning eruvchanligi bilan bog‘liq. Bariy sulfat suvda erimaydi, shuning uchun kontrast sifatida ishlatiladi. Bariy xlorid suvda eriydi va kuchli zahar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133-bet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Xolinesteraza fermenti aktivligining tug‘ma pastligi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Xolinesteraza aktivligining tug‘ma pastligi motor-paralitik moddalar, masalan miorelaksantlar ta’sirini kuchaytiradi. G6PD yetishmovchiligi esa sulfanilamidlar va ayrim antibiotiklarga sezgirlikni oshiradi.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Ta’siri kuchayadi va xavfli bo‘lib qoladi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Xolinesteraza aktivligining tug‘ma pastligi motor-paralitik moddalar (masalan, miorelaksantlar) ta’sirini kuchaytiradi. Bu zaharlanish xavfini oshiradi.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Zahar jigardan o‘tmasdan bevosita qonga so‘riladi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 to‘g‘ri ichak va qin shilliq qavatidan so‘rilgan moddalar jigardan o‘tmaydi. Shu sababli ular oshqozon-ichakdan so‘rilganlarga nisbatan kuchliroq ta’sir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Vodorod sulfid gazi bilan zaharlanish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Vodorod sulfid cheklangan muhitda (kanalizatsiya quduqlarida) to‘planadi. Murdada palag‘da tuxum hidi va olcha rang-qizil qon xos. Sianidlarda esa achchiq bodom hidi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 155-bet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Oshqozon massasi, jigar bo‘lagi, buyrak siydik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Namunalar zahar kirgan (oshqozon massasi), asosan ta’sir etgan (jigar bo‘lagi) va chiqqan (siydikli butun buyrak) joylardan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Keyingi toksik ta’sir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Birlamchi ta’sir — shilliq qavatlarning kimyoviy kuyishi. Atsidoz tufayli gemoliz keyingi toksik ta’sir, toksik gepatit va nefroz esa metatoksik ta’sir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138-bet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Destruktiv zaharlar (umumiy ta’sirli)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Bu moddalar asosan umumiy (rezorbtiv) ta’sir etuvchi zaharlar ichida destruktiv guruhga kiradi, ular ichki a’zolarda to‘qima tuzilishini buzadi. Mahalliy ta’sir etuvchilarga kislotalar, ishqorlar, yod tindirmasi, vodorod peroksid va kaliy permanganat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139-bet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Sulfat kislotasi bilan zaharlanish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Sulfat kislotasida oshqozon shilliq qavati qo‘ng‘ir-qora bo‘ladi, devor shikastlanishi kuchliroq va perforatsiya ko‘proq uchraydi. Nitrat kislotasida shilliq qavat sarg‘ish, xlorid kislotasida qo‘ng‘ir-kul rangda bo‘ladi. Ishqorlarda devor yumshoq bo‘lib, oson yirtiladi.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141-142-bet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Ammiakning o‘ziga xos hidi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Nashatir spirti (ammoniy gidroksid) bilan zaharlanganda ichki a’zolardan ammiakning xos hidi keladi. Achchiq bodom hidi sianidlarga, palag‘da tuxum hidi vodorod sulfidga, olma hidi tetraetil qo‘rg‘oshinga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Qonda karboksigemoglobin borligini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Normal qonga ishqor qo‘shilganda ishqoriy gematin hosil bo‘lib, qon qo‘ng‘ir-qora tusga kiradi. Karboksigemoglobin bo‘lsa, qon rangi o‘zgarmaydi. Bu dastlabki sinama bo‘lib, tashxis miqdoriy spektrofotometrik tekshiruv bilan tasdiqlanadi.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151-bet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1-2 kundan so‘ng metgemoglobin qonda topilmasligi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Zaharlanishdan 1-2 kun o‘tgach anemiya va gemoglobinuriyali nefroz belgilari bo‘lsa ham, qonda metgemoglobin aniqlanmasligi mumkin. Og‘ir hollarda u 5-6 kun davomida topilishi mumkin. Shuning uchun natijani voqea tafsiloti va klinik ko‘rinish bilan birga baholash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152-bet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Qonda karboksigemoglobin bor</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Normal qonga ishqor qo‘shilsa, ishqoriy gematin hosil bo‘lib, qon qo‘ng‘ir-qora tusga kiradi. Karboksigemoglobin bor qonning rangi o‘zgarmaydi. Shuning uchun rangning o‘zgarmasligi is gazi bilan zaharlanishni ko‘rsatadi. Diagnozni qondagi miqdoriy spektrofotometrik tekshiruv tasdiqlaydi.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151-bet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Sitoxromoksidazadagi temirni bog‘laydi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Danak mag‘zidagi amigdalin ichakda parchalanib, sianid kislotasini hosil qiladi. Sian anioni nafas fermenti sitoxromoksidazadagi temirni bog‘laydi. Qonda kislorod yetarli bo‘lsa ham to‘qima gipoksiyasi rivojlanadi. Natijada nafas va yurak-qon tomir markazlari falajlanadi.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153-bet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O‘rta darajali mastlik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Qonda 0,5 dan 1,5 promillegacha yengil, 1,5 dan 2,5 gacha o‘rta, 2,5 dan 3,0 gacha kuchli mastlik deb baholanadi. 3,0 promilledan yuqori bo‘lsa zaharlanish hisoblanadi. 2,0 promille o‘rta daraja oralig‘iga tushadi.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160-bet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0,68</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Reduksiya omili erkaklarda o‘rtacha 0,68, ayollarda 0,55 ga teng. Ozg‘in odamlarda u balandroq (0,70–0,75), to‘la odamlarda pastroq (0,55–0,65)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160-bet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83 / 84</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Metabolitlari formaldegid va chumoli kislotasi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Metanolning butun molekulasi kuchsiz narkotik ta’sir qiladi. Kuchli toksik ta’sirni uning metabolitlari – formaldegid va chumoli kislotasi ko‘rsatadi. Atsidoz rivojlanib, to‘qima nafasi buziladi. Oksidlanish etil spirtiga nisbatan sekin kechadi, shu sababli yashirin bosqich bo‘ladi va metabolitlar uzoq saqlanadi.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161-bet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Amaliy mashg’ulot: Sud-tibbiy toksikologiya.</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84 / 84</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6. Sud-tibbiy toksikologiya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