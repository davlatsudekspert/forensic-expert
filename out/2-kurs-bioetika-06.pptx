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Yangi texnologiya foydasi va xavfi nega birga o‘rganilishi kerak? 2) Talabalar genetikadan qanday yangiliklarni eshitgan? Doskada: dars rejasining 4 bandini ro‘yxat qilib yozing. Tipik xato: mavzuni faqat texnik yutuqlar deb tushunish, axloqiy tomonni unutish.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Tug‘ilmagan bola xavfini bilish qanday axloqiy savollar tug‘diradi? 2) Prognoz va tashxis nima bilan farq qiladi? Doskada: zanjirni o‘zingiz chizib, har strelkaga bittadan misol yozing. Tipik xato: genetik prognozni aniq kasallik tashxisi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Voqea tahlili: yadro fizikasi misolida oqibatlar kashfiyotdan keyin ma’lum bo‘ldi — genetikada buning oldini qanday olish mumkin? Muhokama: 1) Nega oqibatlarni oldindan tahlil qilish kerak? 2) Qaysi genetik texnologiyada shunga o‘xshash xavf bo‘lishi mumkin? Doskada: ikki ustun — ‘foyda’ va ‘xavf’ — chizib to‘ldiring. Tipik xato: ilmiy kashfiyotning o‘zini yomon deb baholash; manbada gap uni tahlilsiz qo‘llash xavfi haqida.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buyuk kashfiyot ham xavf tug‘dirishi mumkin? 2) Biologik cheklash erkinlikka qanday ta’sir qiladi? Doskada: zanjirni chizdiring va har bosqichga bittadan misol keltirtiring. Qo‘shimcha: manbada yadro fizikasi misoli (Xirosima, Nagasaki, Chernobil) keltirilgan, salbiy oqibatlar keyinroq ma’lum bo‘lgan. Tipik xato: prognozni tashxis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Talabalarni ikki guruhga bo‘ling: ‘yordam’ va ‘cheklov’ tarafi. Qo‘shimcha savol: bunday ma’lumotni bilish huquqi kimda (manba, 162-bet: bu masala alohida axloqiy muammo sifatida qayd etilgan)? Doskada: ikki ustunli ‘foyda / xavf’ jadvalini chizdiring. Tipik xato: faqat bir tomonni (faqat foyda yoki faqat xavfni) ko‘rish.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naslga o‘tish axloqiy bahoni o‘zgartiradi? 2) Kelajak avlodlar roziligi masalasi qanday hal bo‘ladi? Doskada: jadvalni talabalar bilan birga to‘ldiring. Eslatma: manbada homila (fetal) terapiyasi ham tilga olingan; ba’zilar uni an’anaviy axloq buzilishi deb hisoblaydi. Manba OCR matni noaniq, jinsiy hujayra usulining nomi manbada ‘homila terapiyasi’ deb berilgan, shuni aniqlashtiring. Tipik xato: somatik va jinsiy hujayra terapiyasini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somatik o‘zgarish naslga o‘tmasligi uni axloqan xavfsizroq qiladi? 2) Nega homila hujayralaridan foydalanish e’tiroz uyg‘otadi? Doskada: ikki ustunli sxema chizing – «Somatik terapiya» va «Fetal terapiya», har biriga asosiy belgisini yozing. Tipik xato: fetal terapiyani ham somatik terapiya kabi to‘liq «zararsiz» deb hisoblash. Manbadagi fetal terapiya haqidagi OCR matni aniq emas, shuning uchun bu band ehtiyotkorlik bilan berilsin.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Nasldan naslga o‘tuvchi o‘zgarish nega alohida xavf tug‘diradi? 2) «Hozircha» so‘zi taqiqning kelajakda o‘zgarishi mumkinligini bildiradimi? Doskada: zanjir sxemasini chizib, har bir strelkaga «nima uchun?» savolini yozing. Tipik xato: taqiq yilini va tashkilotni adashtirish (1994, UNESKO).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mezon bo‘yicha usullar eng ko‘p farq qiladi? 2) Reproduktiv funksiyaga aralashuvga nega alohida qonuniy normativ kerak? Doskada: jadvalni talabalar yopiq kitob bilan o‘zlari to‘ldirsin. Tipik xato: «jinsiy hujayra» va «somatik» tushunchalarini almashtirib yuborish. Eslatma: kitobda jinsiy hujayra usuli «homila terapiyasi» deb ham atalgan.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naslga o‘tadigan o‘zgarish alohida axloqiy xavf tug‘diradi? 2) Somatik terapiya nega zararsiz hisoblanadi? Doskada: ikki ustunli taqqoslash (somatik | jinsiy hujayra) chizdiring. Tipik xato: talabalar ikkala usulni bir xil axloqiy baholaydi. Eslatma: manbada jinsiy hujayra usuli ‘homila terapiyasi’ deb atalgan, atamani aniqlashtiring. UNESKO = BMTning ta’lim, fan va madaniyat masalalari tashkiloti.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Talabalarni 3-4 kishilik guruhlarga bo‘ling. Muhokama: 1) Somatik usulni tanlashning axloqiy asosi nima? 2) Kelajak avlodlar roziligi masalasi qanday hal bo‘ladi? Doskada: qaror daraxti chizing (usul turi → naslga ta’siri → axloqiy baho). Tipik xato: ‘davolash maqsadi bo‘lsa, jinsiy hujayra usuli ham mumkin’ deb o‘ylash. Manbada u hozircha qat’iy taqiqlangan.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BMT = Birlashgan Millatlar Tashkiloti. Muhokama: 1) Nega genomni patentlash mumkin emas? 2) Deklaratsiya tadqiqotchi va bemor huquqlarini qanday muvozanatlaydi? Doskada: 1994–2000 yillar vaqt o‘qini chizib, to‘rt voqeani joylashtiring. Tipik xato: 1997 va 1998-yildagi qarorlarni bitta tashkilotga bog‘lash. 1998-yil qaydi manbada qisqa berilgan, uni aniqlashtiring.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genom ‘insoniyat mulki’ deb ataladi? 2) Genetik xilma-xillik tenglikka qanday zid emas? Doskada: ‘Genom → birlik + qadr-qimmat + xilma-xillik’ sxemasini chizdiring. Tipik xato: talabalar genomni yagona ‘bir xil’ genlar deb tushunadi; aslida gap umumiy genlar to‘plami va uning rang-barang variantlari haqida.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Genom qismini patentlash tijorat manfaatini oshirishi mumkinmi, bu 4-moddaga qanday zid? 2) Irsiy kasallikka moyil odamni ishga olmaslik 2-moddaga qanday zid? Doskada: 2 va 4-moddalarni ikki ustunli jadval qilib chizdiring. Diqqat: xato qilish xavfi — ‘genom qismini patentlash’ ≠ ‘foydali ixtiroga patent’; manbada ikkinchisi alohida mavzu sifatida (176-bet) ko‘rsatilgan, ularni aralashtirmang. Tipik xato: 2-moddani faqat irqiy kamsitishga tegishli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Genetik ma’lumot sirligi buzilsa, bemorga qanday zarar yetishi mumkin? 2) Tadqiqotchi erkinligi va bemor huquqi to‘qnashsa, qaysi biri ustun? Doskada: ‘Tadqiqot ←→ Inson huquqi’ tarozisini chizdiring (huquq og‘irroq). Tipik xato: deklaratsiya klonlash bo‘yicha barcha ilmiy ishlarni taqiqlaydi deb o‘ylash; aslida inson yaratish maqsadidagi klonlash taqiqlanadi.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Deklaratsiya muqaddimasida tenglik va qadr-qimmat tamoyillari birinchi o‘rinda turadi? 2) UNESKOning vazifasi tadqiqotni to‘xtatishmi yoki oqibatlarini nazorat qilishmi? Doskada chizish: «Tamoyil → UNESKO vazifasi → tadqiqotchi majburiyati» zanjirini chizdiring. Tipik xato: talabalar Deklaratsiyani ilmiy tadqiqotni butunlay taqiqlaydi, deb o‘ylaydi. Aslida u tadqiqot inson qadr-qimmatidan ustun qo‘yilmasligini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Genom qismini tavsiflash uni ixtiro qilish bilan teng keladimi? 2) Bu tamoyil butun insoniyat manfaatiga qanday xizmat qiladi? Doskada chizish: «tadqiqotchi — genom qismi — patent — tijorat» sxemasini chizib, 4-modda to‘sig‘ini belgilang. Tipik xato: talabalar genomni tabiiy holatda ham, tavsiflangan qism sifatida ham bir xil deb oladi. Ularni ikki guruhga bo‘lib, 4-modda talqinini bahslashtiring.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tug‘ma kasalliklarda qaror qabul qiluvchi shaxs bemorning o‘zi bo‘lmaydi? 2) Shifokorning mas’uliyati yakka bemordan oila va avlodlarga qanday kengayadi? Doskada chizish: «ota-ona → homila → keyingi avlod» irsiy o‘tish strelkalarini chizdiring. Tipik xato: bemorni faqat shifokor qarshisidagi odam deb tushunish. Bu sohada qaror qabul qiluvchi va oqibatni ko‘taruvchi tomonlar har xil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Alomatsiz bosqichda aniqlangan xavfni kim bilishi kerak? (2) Farzandning irsiy ma’lumotini ota-ona hal qilsa, nimani yo‘qotamiz? Doskada: ikki ustunli jadval (1-muammo / 2-muammo) chizdiring va har biriga bittadan misol yozdiring. Tipik xato: genomdagi buzilishni aniqlashni kasallik boshlanganiga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Yangi texnologiya foyda bersa ham, shifokor nega ehtiyotkor bo‘lishi kerak? (2) Ildiz hujayra yoki klonlash misolida foyda va xavfni solishtiring. Doskada: foyda va xavf tarozisini chizib, ikkala pallaga misol yozdiring. Tipik xato: “Zarar yetkazma” tamoyili bekor bo‘ldi deb o‘ylash; u bekor bo‘lmagan, faqat murakkablashgan.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Talabalar javobni 30 soniya ichida juftlikda aytadi. Muhokama: ikkala savolda shifokor qaysi tomonga ko‘proq javobgar? Doskada: ikki savolni yozib, javob kalit so‘zlarini (huquq; foyda va tavakkal) belgilang. Tipik xato: bilish huquqi masalasiga bitta tayyor javob berish; manbada bu ochiq savol sifatida qo‘yilgan.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Test natijasini bemorning o‘ziga aytish majburiymi? 2) Farzandlar va qarindoshlarning bilish huquqi qanday hal qilinadi? Doskada: ikki ustunli jadval chizdiring: ’bilish huquqi’ va ’bilmaslik huquqi’. Tipik xato: genetik xavfni aniq kasallik bilan tenglashtirish. Test faqat xavfni ko‘rsatadi, kasallik hali boshlanmagan. Vaziyat misoli o‘qituvchi tomonidan manba mazmuniga tayanib tuzilgan.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yangi texnologiya foyda bilan birga xavfni ham oshiradi? 2) “Zarar yetkazma” prinsipi nima uchun murakkablashdi? Doskada: 5 ta texnologiyani ro‘yxat qilib, har biri yoniga bitta axloqiy savol yozdiring. Tipik xato: talabalar texnologiyani faqat xavfli yoki faqat foydali deb baholaydi. Kitobda ikkala tomon ham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klinik tadqiqot xavfsizlikka kafolat bermaydi? 2) Foyda aniq, xavf noaniq bo‘lsa, bemorga qanday ma’lumot berish kerak? Doskada: zanjirni o‘zlari chizsin va har bosqichga savol belgisi qo‘ysin. Tipik xato: saraton xavfini isbotlangan fakt deb aytish. Kitobda bu faqat nazariy taxmin va donor geni o‘tishi haqidagi fikr ham aniq isbotlanmagan.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klinik tadqiqotlarning o‘zi xavfsizlikni kafolatlamaydi? 2) Hujayra banki g‘oyasi qanday axloqiy savollar tug‘diradi? Doskada: imkoniyat va xavf jadvalini talabalar bilan birga chizing. Tipik xato: saraton xavfini isbotlangan fakt deb tushunish; manbada u faqat nazariy faraz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Davolash umidi embrionning axloqiy maqomidan ustun turadimi? 2) Ota-ona donorning roziligi qanday bo‘lishi kerak? Doskada: ikki ustun chizing, chapda umid, o‘ngda axloqiy savollar. Tipik xato: ilmiy tadqiqotni ta’qiqlash va uni cheklash masalasini aralashtirish. Eslatma: Parkinson kasalligi nomi OCR matnida aniq o‘qilmagan, shuning uchun band ‘ishonchsiz’ deb belgilangan.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Siz qaysi pozitsiyaga yaqinsiz va nega? 2) Qat’iy shartlar nimalardan iborat bo‘lishi mumkin? Doskada: uch pozitsiyani ‘rad etish – shartli ruxsat – taqiqlash’ shkalasi ko‘rinishida chizing. Tipik xato: ikkinchi pozitsiyani to‘liq ruxsat deb tushunish; u faqat tibbiy maqsad va qat’iy shartlar bilan cheklangan.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Uch yondashuvdan qaysi biri taklifni qanday baholaydi? 2) Embrion maqomi nima uchun hal qiluvchi? Doskada: uch ustunli ro‘yxat (a – mutlaq man, b – shartli ruxsat, v – taqiq) chizdiring va talabalar fikrini belgilang. Tipik xato: uch yondashuvni bitta pozitsiya deb aralashtirish yoki ildiz hujayrani faqat embriondan olinadi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Ma’lumot egasi sifatida kim eng ko‘p huquqqa ega? 2) Genom qismini kashf qilish bilan uni patentlash orasida qanday farq bor? Doskada: to‘rt ishtirokchi (donor, olim, tadqiqotchi, firma) va ularning ‘da’vosi’ni strelkalar bilan chizing. Tipik xato: har qanday gen topilmasini patentlash mumkin deb o‘ylash; kitobda faqat foydali, sanoatda qo‘llanadigan kashfiyot haqida gap boradi.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Ilg‘or jamiyatlardagi xabardor rozilik tub xalqlarda nega muammo tug‘diradi? 2) Daromadni adolatli taqsimlash qanday bo‘lishi mumkin? Doskada: zanjirni chizib, qaysi bosqichda adolat buzilishini talabalar belgilasin. Tipik xato: ‘biologik qaroqchilik’ni isbotlangan holat deb qabul qilish; kitobda bu savol shaklida qo‘yilgan.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 jarayon spermatozoid bilan urug‘lanishga o‘xshatiladi? 2) Klonda genetik material kimdan olinadi? Doskada: 5 bosqichli zanjirni talabalar chizsin va har bosqichga bir so‘z yozsin. Tipik xato: klon sperma va tuxum qo‘shilishidan hosil bo‘ladi deb o‘ylash; aslida yadro somatik hujayradan olinadi. Eslatma: YuNESKO — BMTning ta’lim, fan va madaniyat tashkiloti.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ijobiy dalil sizga eng kuchli tuyuladi va nega? 2) Suiiste’mol xavfini qonun bilan qanday cheklash mumkin? Doskada: ikki ustunli jadvalni (tarafdor/qarshi) talabalar o‘zlari to‘ldirsin. Tipik xato: klonni asl nusxaning aynan o‘zi (barmoq izi ham bir xil) deb hisoblash. Qarshilar ro‘yxatidagi boylar haqidagi band matni OCR sifatida qisman xira, ehtiyotkorlik bilan izohlang.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Davolash uchun klonlash nasl uchun klonlashga olib kelmaydimi? 2) Davolash maqsadida yaratilgan embrionning maqomi qanday bo‘lishi kerak? Doskada: ikki turni solishtiruvchi jadval chizdiring. Tipik xato: klonlash fanini butunlay taqiqlangan deb o‘ylash; taqiqlanayotgani faqat inson yaratish amaliyoti. Qo‘shimcha: shu slayddan keyin qisqa Voqea tahlili o‘tkazish mumkin.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Davolash uchun klonlash ruxsat etilsa, qanday xavf paydo bo‘ladi? 2) Embrion maqomi bu masalada nima uchun muhim? Doskada: ikki ustunli sxema chizdiring (davolash maqsadi | nasl qoldirish maqsadi) va har biriga hozirgi xalqaro holatni yozdiring. Tipik xato: ikki xil klonlashni aralashtirish va ‘klonlash butunlay taqiqlangan’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Uchala yo‘nalish bir-biriga qanday bog‘liq? 2) Nima uchun manbada bu atama yo‘qligini bilish muhim? Doskada: sxemani talabalar bilan to‘ldiring, har tugun yoniga bitta axloqiy savol yozdiring. Tipik xato: talqinni muallifning o‘z so‘zi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Shifokor genetik ma’lumot sirini qanday saqlaydi? 2) “Zarar yetkazma” tamoyili yangi texnologiyalarda nega qiyinlashdi? Doskada: to‘rt tamoyilni (qadr-qimmat, sir, rozilik, taqiq) ustun qilib yozdiring va har biriga bitta misol keltiring. Tipik xato: somatik va jinsiy hujayra terapiyasini bir xil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Zamonaviy va innovatsion biotibbiyot texnologiyalari, inson tabiatiga aralashishning axloqiy masalalari, konvergent texnologiyalar, tibbiyot xodimlarining roli (M6; M7)</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Mavzu: genom, gen terapiyasi, ildiz hujayra va klonlashni qo‘llashdagi axloqiy muammolar hamda biohavfsizlik masalalari.</a:t>
            </a:r>
          </a:p>
          <a:p>
            <a:pPr>
              <a:spcAft>
                <a:spcPts val="1200"/>
              </a:spcAft>
            </a:pPr>
            <a:r>
              <a:rPr sz="2200">
                <a:solidFill>
                  <a:srgbClr val="1F2937"/>
                </a:solidFill>
                <a:latin typeface="Calibri"/>
              </a:rPr>
              <a:t>▸  Maqsad: genetika yutuqlarining foydasini ham, xavfini ham axloq nuqtayi nazaridan chuqur tahlil qilishni o‘rganish.</a:t>
            </a:r>
          </a:p>
          <a:p>
            <a:pPr>
              <a:spcAft>
                <a:spcPts val="1200"/>
              </a:spcAft>
            </a:pPr>
            <a:r>
              <a:rPr sz="2200">
                <a:solidFill>
                  <a:srgbClr val="1F2937"/>
                </a:solidFill>
                <a:latin typeface="Calibri"/>
              </a:rPr>
              <a:t>▸  Reja: genetik prognoz, gen terapiyasi, inson genomi deklaratsiyasi, ildiz hujayra va klonlash masalalari.</a:t>
            </a:r>
          </a:p>
          <a:p>
            <a:pPr>
              <a:spcAft>
                <a:spcPts val="1200"/>
              </a:spcAft>
            </a:pPr>
            <a:r>
              <a:rPr sz="2200">
                <a:solidFill>
                  <a:srgbClr val="1F2937"/>
                </a:solidFill>
                <a:latin typeface="Calibri"/>
              </a:rPr>
              <a:t>▸  Natija: talaba yangi texnologiyalar oqibatlarini oldindan tahlil qilish zarurligini tushuntirib bera 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159, 159, 175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Genom o‘rganilishi va genetik prognoz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Genom chuqur o‘rganilgach, irsiy kasalliklar diagnostikasi va terapiyasi imkoniyatlari kengaydi.</a:t>
            </a:r>
          </a:p>
          <a:p>
            <a:pPr>
              <a:spcAft>
                <a:spcPts val="800"/>
              </a:spcAft>
            </a:pPr>
            <a:r>
              <a:rPr sz="1800">
                <a:solidFill>
                  <a:srgbClr val="1F2937"/>
                </a:solidFill>
                <a:latin typeface="Calibri"/>
              </a:rPr>
              <a:t>▸  Genetik prognoz kasallik belgisi chiqmasdan, hatto bola tug‘ilmasdan xavfni aniqlashga imkon beradi.</a:t>
            </a:r>
          </a:p>
          <a:p>
            <a:pPr>
              <a:spcAft>
                <a:spcPts val="800"/>
              </a:spcAft>
            </a:pPr>
            <a:r>
              <a:rPr sz="1800">
                <a:solidFill>
                  <a:srgbClr val="1F2937"/>
                </a:solidFill>
                <a:latin typeface="Calibri"/>
              </a:rPr>
              <a:t>▸  Diqqat: prognoz kelajakdagi xavfni ko‘rsatadi, u hali boshlangan kasallik tashxisi emas.</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Inson genomini o‘rganish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Genetik diagnostika kengayadi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Genetik prognoz paydo bo‘ladi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Xavfni oldindan bilish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Genomdan prognozgacha</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159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Buyuk kashfiyotning ikki yoqlama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 asr birinchi yarmida yadro fizikasidagi kashfiyotlar katta foyda keltirdi, lekin jiddiy xavf ham tug‘dirdi.</a:t>
            </a:r>
          </a:p>
          <a:p>
            <a:pPr>
              <a:spcAft>
                <a:spcPts val="1200"/>
              </a:spcAft>
            </a:pPr>
            <a:r>
              <a:rPr sz="2200">
                <a:solidFill>
                  <a:srgbClr val="1F2937"/>
                </a:solidFill>
                <a:latin typeface="Calibri"/>
              </a:rPr>
              <a:t>▸  Salbiy oqibatlar atom va vodorod bombalari urushda qo‘llangach (Xirosima, Nagasaki) va Chernobil halokatidan keyin ma’lum bo‘ldi.</a:t>
            </a:r>
          </a:p>
          <a:p>
            <a:pPr>
              <a:spcAft>
                <a:spcPts val="1200"/>
              </a:spcAft>
            </a:pPr>
            <a:r>
              <a:rPr sz="2200">
                <a:solidFill>
                  <a:srgbClr val="1F2937"/>
                </a:solidFill>
                <a:latin typeface="Calibri"/>
              </a:rPr>
              <a:t>▸  Nobel mukofoti sovrindori Jan Dasse fikricha, genetika kashfiyotlarini chuqur nazariy tahlilsiz qo‘llash falokatga olib kelishi mumkin.</a:t>
            </a:r>
          </a:p>
          <a:p>
            <a:pPr>
              <a:spcAft>
                <a:spcPts val="1200"/>
              </a:spcAft>
            </a:pPr>
            <a:r>
              <a:rPr sz="2200">
                <a:solidFill>
                  <a:srgbClr val="1F2937"/>
                </a:solidFill>
                <a:latin typeface="Calibri"/>
              </a:rPr>
              <a:t>▸  Shu sababli zamonaviy biogenetik tadqiqotlar axloq nuqtayi nazaridan chuqur tahlil qilinishi lozim.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159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Dasse ogohlantirishi: biologik cheklash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Jan Dasse (Nobel sovrindori): oqibati tahlil qilinmagan texnologiya insoniyat uchun fojiali bo‘lishi mumkin.</a:t>
            </a:r>
          </a:p>
          <a:p>
            <a:pPr>
              <a:spcAft>
                <a:spcPts val="800"/>
              </a:spcAft>
            </a:pPr>
            <a:r>
              <a:rPr sz="1800">
                <a:solidFill>
                  <a:srgbClr val="1F2937"/>
                </a:solidFill>
                <a:latin typeface="Calibri"/>
              </a:rPr>
              <a:t>▸  Genetik bashorat inson hayotini boshqarishning tibbiy-biologik vositasiga aylanib, erkinligini biologik jihatdan cheklashi mumkin.</a:t>
            </a:r>
          </a:p>
          <a:p>
            <a:pPr>
              <a:spcAft>
                <a:spcPts val="800"/>
              </a:spcAft>
            </a:pPr>
            <a:r>
              <a:rPr sz="1800">
                <a:solidFill>
                  <a:srgbClr val="1F2937"/>
                </a:solidFill>
                <a:latin typeface="Calibri"/>
              </a:rPr>
              <a:t>▸  Diqqat: genetik prognoz ≠ kasallik. U kelajakdagi xavfni ko‘rsatadi, klinik belgi hali yo‘q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Yangi genetik kashfiyot</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Genetik bashorat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Hayotni boshqarish vositasi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Biologik cheklash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Erkinlik yo‘qolish xavfi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Bashoratdan cheklashgacha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genetik prognoz va erkinlik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bola tug‘ilishidan oldin genetik tekshiruv unga kelajakda qanday kasalliklar xavf solishini ko‘rsatdi.</a:t>
            </a:r>
          </a:p>
          <a:p>
            <a:pPr>
              <a:spcAft>
                <a:spcPts val="1200"/>
              </a:spcAft>
            </a:pPr>
            <a:r>
              <a:rPr sz="2200">
                <a:solidFill>
                  <a:srgbClr val="1F2937"/>
                </a:solidFill>
                <a:latin typeface="Calibri"/>
              </a:rPr>
              <a:t>▸  Foyda: irsiy kasalliklar diagnostikasi va terapiyasi imkoniyatlari kengaydi, xavfni oldindan bilish mumkin bo‘ldi.</a:t>
            </a:r>
          </a:p>
          <a:p>
            <a:pPr>
              <a:spcAft>
                <a:spcPts val="1200"/>
              </a:spcAft>
            </a:pPr>
            <a:r>
              <a:rPr sz="2200">
                <a:solidFill>
                  <a:srgbClr val="1F2937"/>
                </a:solidFill>
                <a:latin typeface="Calibri"/>
              </a:rPr>
              <a:t>▸  Xavf: bashorat inson hayotini boshqarish vositasiga aylanib, uning erkinligini biologik jihatdan cheklashi mumkin.</a:t>
            </a:r>
          </a:p>
          <a:p>
            <a:pPr>
              <a:spcAft>
                <a:spcPts val="1200"/>
              </a:spcAft>
            </a:pPr>
            <a:r>
              <a:rPr sz="2200">
                <a:solidFill>
                  <a:srgbClr val="1F2937"/>
                </a:solidFill>
                <a:latin typeface="Calibri"/>
              </a:rPr>
              <a:t>▸  Muhokama savoli: bu bashorat bolaga yordammi yoki cheklovmi? Javobingizni manbadagi dalillar bilan asoslang.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159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 terapiyasi: ikki usul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Gen terapiyasi ikki usulda amalga oshiriladi: somatik hujayralar orqali va jinsiy hujayralar orqali.</a:t>
            </a:r>
          </a:p>
          <a:p>
            <a:pPr>
              <a:spcAft>
                <a:spcPts val="800"/>
              </a:spcAft>
            </a:pPr>
            <a:r>
              <a:rPr sz="1800">
                <a:solidFill>
                  <a:srgbClr val="1F2937"/>
                </a:solidFill>
                <a:latin typeface="Calibri"/>
              </a:rPr>
              <a:t>▸  Somatik usulda o‘zgarish faqat shu shaxsga tegishli, naslga ta’sir qilmaydi, shuning uchun axloqan zararsiz.</a:t>
            </a:r>
          </a:p>
          <a:p>
            <a:pPr>
              <a:spcAft>
                <a:spcPts val="800"/>
              </a:spcAft>
            </a:pPr>
            <a:r>
              <a:rPr sz="1800">
                <a:solidFill>
                  <a:srgbClr val="1F2937"/>
                </a:solidFill>
                <a:latin typeface="Calibri"/>
              </a:rPr>
              <a:t>▸  Diqqat: jinsiy hujayra o‘zgarishi naslga o‘tadi, shu sabab UNESCO uni 1994-yilda (hozircha) taqiqlagan.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104082"/>
                <a:gridCol w="2266275"/>
                <a:gridCol w="191761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Somatik</a:t>
                      </a:r>
                    </a:p>
                  </a:txBody>
                  <a:tcPr marL="73152" marR="73152" marT="36576" marB="36576">
                    <a:solidFill>
                      <a:srgbClr val="0B1F3A"/>
                    </a:solidFill>
                  </a:tcPr>
                </a:tc>
                <a:tc>
                  <a:txBody>
                    <a:bodyPr/>
                    <a:lstStyle/>
                    <a:p>
                      <a:r>
                        <a:rPr sz="1300" b="1">
                          <a:solidFill>
                            <a:srgbClr val="FFFFFF"/>
                          </a:solidFill>
                        </a:rPr>
                        <a:t>Jinsiy hujayra</a:t>
                      </a:r>
                    </a:p>
                  </a:txBody>
                  <a:tcPr marL="73152" marR="73152" marT="36576" marB="36576">
                    <a:solidFill>
                      <a:srgbClr val="0B1F3A"/>
                    </a:solidFill>
                  </a:tcPr>
                </a:tc>
              </a:tr>
              <a:tr h="411480">
                <a:tc>
                  <a:txBody>
                    <a:bodyPr/>
                    <a:lstStyle/>
                    <a:p>
                      <a:r>
                        <a:rPr sz="1200" b="0">
                          <a:solidFill>
                            <a:srgbClr val="1F2937"/>
                          </a:solidFill>
                        </a:rPr>
                        <a:t>Nimani o‘zgartiradi</a:t>
                      </a:r>
                    </a:p>
                  </a:txBody>
                  <a:tcPr marL="73152" marR="73152" marT="36576" marB="36576">
                    <a:solidFill>
                      <a:srgbClr val="E8EEF6"/>
                    </a:solidFill>
                  </a:tcPr>
                </a:tc>
                <a:tc>
                  <a:txBody>
                    <a:bodyPr/>
                    <a:lstStyle/>
                    <a:p>
                      <a:r>
                        <a:rPr sz="1200" b="0">
                          <a:solidFill>
                            <a:srgbClr val="1F2937"/>
                          </a:solidFill>
                        </a:rPr>
                        <a:t>Mutant genni sog‘lom genga almashtirish</a:t>
                      </a:r>
                    </a:p>
                  </a:txBody>
                  <a:tcPr marL="73152" marR="73152" marT="36576" marB="36576">
                    <a:solidFill>
                      <a:srgbClr val="E8EEF6"/>
                    </a:solidFill>
                  </a:tcPr>
                </a:tc>
                <a:tc>
                  <a:txBody>
                    <a:bodyPr/>
                    <a:lstStyle/>
                    <a:p>
                      <a:r>
                        <a:rPr sz="1200" b="0">
                          <a:solidFill>
                            <a:srgbClr val="1F2937"/>
                          </a:solidFill>
                        </a:rPr>
                        <a:t>Jinsiy hujayralar irsiy materiali</a:t>
                      </a:r>
                    </a:p>
                  </a:txBody>
                  <a:tcPr marL="73152" marR="73152" marT="36576" marB="36576">
                    <a:solidFill>
                      <a:srgbClr val="E8EEF6"/>
                    </a:solidFill>
                  </a:tcPr>
                </a:tc>
              </a:tr>
              <a:tr h="411480">
                <a:tc>
                  <a:txBody>
                    <a:bodyPr/>
                    <a:lstStyle/>
                    <a:p>
                      <a:r>
                        <a:rPr sz="1200" b="0">
                          <a:solidFill>
                            <a:srgbClr val="1F2937"/>
                          </a:solidFill>
                        </a:rPr>
                        <a:t>Ta’sir doirasi</a:t>
                      </a:r>
                    </a:p>
                  </a:txBody>
                  <a:tcPr marL="73152" marR="73152" marT="36576" marB="36576">
                    <a:solidFill>
                      <a:srgbClr val="FFFFFF"/>
                    </a:solidFill>
                  </a:tcPr>
                </a:tc>
                <a:tc>
                  <a:txBody>
                    <a:bodyPr/>
                    <a:lstStyle/>
                    <a:p>
                      <a:r>
                        <a:rPr sz="1200" b="0">
                          <a:solidFill>
                            <a:srgbClr val="1F2937"/>
                          </a:solidFill>
                        </a:rPr>
                        <a:t>Faqat shu shaxs; naslga o‘tmaydi</a:t>
                      </a:r>
                    </a:p>
                  </a:txBody>
                  <a:tcPr marL="73152" marR="73152" marT="36576" marB="36576">
                    <a:solidFill>
                      <a:srgbClr val="FFFFFF"/>
                    </a:solidFill>
                  </a:tcPr>
                </a:tc>
                <a:tc>
                  <a:txBody>
                    <a:bodyPr/>
                    <a:lstStyle/>
                    <a:p>
                      <a:r>
                        <a:rPr sz="1200" b="0">
                          <a:solidFill>
                            <a:srgbClr val="1F2937"/>
                          </a:solidFill>
                        </a:rPr>
                        <a:t>Avloddan avlodga o‘tadi</a:t>
                      </a:r>
                    </a:p>
                  </a:txBody>
                  <a:tcPr marL="73152" marR="73152" marT="36576" marB="36576">
                    <a:solidFill>
                      <a:srgbClr val="FFFFFF"/>
                    </a:solidFill>
                  </a:tcPr>
                </a:tc>
              </a:tr>
              <a:tr h="411480">
                <a:tc>
                  <a:txBody>
                    <a:bodyPr/>
                    <a:lstStyle/>
                    <a:p>
                      <a:r>
                        <a:rPr sz="1200" b="0">
                          <a:solidFill>
                            <a:srgbClr val="1F2937"/>
                          </a:solidFill>
                        </a:rPr>
                        <a:t>Axloqiy baho</a:t>
                      </a:r>
                    </a:p>
                  </a:txBody>
                  <a:tcPr marL="73152" marR="73152" marT="36576" marB="36576">
                    <a:solidFill>
                      <a:srgbClr val="E8EEF6"/>
                    </a:solidFill>
                  </a:tcPr>
                </a:tc>
                <a:tc>
                  <a:txBody>
                    <a:bodyPr/>
                    <a:lstStyle/>
                    <a:p>
                      <a:r>
                        <a:rPr sz="1200" b="0">
                          <a:solidFill>
                            <a:srgbClr val="1F2937"/>
                          </a:solidFill>
                        </a:rPr>
                        <a:t>Inson uchun zararsiz</a:t>
                      </a:r>
                    </a:p>
                  </a:txBody>
                  <a:tcPr marL="73152" marR="73152" marT="36576" marB="36576">
                    <a:solidFill>
                      <a:srgbClr val="E8EEF6"/>
                    </a:solidFill>
                  </a:tcPr>
                </a:tc>
                <a:tc>
                  <a:txBody>
                    <a:bodyPr/>
                    <a:lstStyle/>
                    <a:p>
                      <a:r>
                        <a:rPr sz="1200" b="0">
                          <a:solidFill>
                            <a:srgbClr val="1F2937"/>
                          </a:solidFill>
                        </a:rPr>
                        <a:t>UNESCO 1994: hozircha taqiqlangan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Somatik va jinsiy hujayra terapiyasi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Somatik terapiya va fetal terapiya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Gen terapiyasining birinchi usuli – somatik hujayra terapiyasi. Unda mutant gen sog‘lom gen bilan almashtiriladi, ayrim muvaffaqiyatli natijalarga erishilgan.</a:t>
            </a:r>
          </a:p>
          <a:p>
            <a:pPr>
              <a:spcAft>
                <a:spcPts val="1200"/>
              </a:spcAft>
            </a:pPr>
            <a:r>
              <a:rPr sz="2200">
                <a:solidFill>
                  <a:srgbClr val="1F2937"/>
                </a:solidFill>
                <a:latin typeface="Calibri"/>
              </a:rPr>
              <a:t>▸  Somatik hujayrada irsiyat o‘zgarsa, natija faqat o‘sha shaxsga tegishli bo‘ladi va uning naslga ta’sir qilmaydi.</a:t>
            </a:r>
          </a:p>
          <a:p>
            <a:pPr>
              <a:spcAft>
                <a:spcPts val="1200"/>
              </a:spcAft>
            </a:pPr>
            <a:r>
              <a:rPr sz="2200">
                <a:solidFill>
                  <a:srgbClr val="1F2937"/>
                </a:solidFill>
                <a:latin typeface="Calibri"/>
              </a:rPr>
              <a:t>▸  Shuning uchun somatik usul axloqiy jihatdan inson uchun zararsiz hisoblanadi.</a:t>
            </a:r>
          </a:p>
          <a:p>
            <a:pPr>
              <a:spcAft>
                <a:spcPts val="1200"/>
              </a:spcAft>
            </a:pPr>
            <a:r>
              <a:rPr sz="2200">
                <a:solidFill>
                  <a:srgbClr val="1F2937"/>
                </a:solidFill>
                <a:latin typeface="Calibri"/>
              </a:rPr>
              <a:t>▸  Fetal terapiyada homila hujayralari ishlatiladi. Buni an’anaviy axloq va etika qoidalarining buzilishi deb talqin qiluvchilar oz emas.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hujayra terapiyasi va UNESKO taqiqi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Ikkinchi usulda jinsiy hujayralarning irsiy materiali o‘zgartiriladi.</a:t>
            </a:r>
          </a:p>
          <a:p>
            <a:pPr>
              <a:spcAft>
                <a:spcPts val="800"/>
              </a:spcAft>
            </a:pPr>
            <a:r>
              <a:rPr sz="1800">
                <a:solidFill>
                  <a:srgbClr val="1F2937"/>
                </a:solidFill>
                <a:latin typeface="Calibri"/>
              </a:rPr>
              <a:t>▸  Bunday o‘zgarishlar avloddan avlodga o‘tadi.</a:t>
            </a:r>
          </a:p>
          <a:p>
            <a:pPr>
              <a:spcAft>
                <a:spcPts val="800"/>
              </a:spcAft>
            </a:pPr>
            <a:r>
              <a:rPr sz="1800">
                <a:solidFill>
                  <a:srgbClr val="1F2937"/>
                </a:solidFill>
                <a:latin typeface="Calibri"/>
              </a:rPr>
              <a:t>▸  UNESKO (BMT Ta’lim, fan va madaniyat tashkiloti) 1994 yilda uni hozircha qat’iy taqiqlagan.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Jinsiy hujayra o‘zgartiriladi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O‘zgarish avlodga o‘tadi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Nasl taqdiriga ta’sir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UNESKO taqiqi (1994)</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Jinsiy hujayra terapiyasi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somatik ≠ jinsiy hujayra terapiyasi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Xato xavfi: ikkala usulni bir xil baholash. Asosiy farq – o‘zgarish naslga o‘tish-o‘tmasligida.</a:t>
            </a:r>
          </a:p>
          <a:p>
            <a:pPr>
              <a:spcAft>
                <a:spcPts val="800"/>
              </a:spcAft>
            </a:pPr>
            <a:r>
              <a:rPr sz="1800">
                <a:solidFill>
                  <a:srgbClr val="1F2937"/>
                </a:solidFill>
                <a:latin typeface="Calibri"/>
              </a:rPr>
              <a:t>▸  Somatik usul faqat bitta bemorga tegadi, jinsiy hujayra usuli esa kelajak avlodlarga ham tegadi.</a:t>
            </a:r>
          </a:p>
          <a:p>
            <a:pPr>
              <a:spcAft>
                <a:spcPts val="800"/>
              </a:spcAft>
            </a:pPr>
            <a:r>
              <a:rPr sz="1800">
                <a:solidFill>
                  <a:srgbClr val="1F2937"/>
                </a:solidFill>
                <a:latin typeface="Calibri"/>
              </a:rPr>
              <a:t>▸  Reproduktiv aralashuv avlodlar taqdiriga bog‘liq, shu uchun chuqur axloqiy tahlil zarur.</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204855"/>
                <a:gridCol w="1874218"/>
                <a:gridCol w="2208900"/>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Somatik</a:t>
                      </a:r>
                    </a:p>
                  </a:txBody>
                  <a:tcPr marL="73152" marR="73152" marT="36576" marB="36576">
                    <a:solidFill>
                      <a:srgbClr val="0B1F3A"/>
                    </a:solidFill>
                  </a:tcPr>
                </a:tc>
                <a:tc>
                  <a:txBody>
                    <a:bodyPr/>
                    <a:lstStyle/>
                    <a:p>
                      <a:r>
                        <a:rPr sz="1300" b="1">
                          <a:solidFill>
                            <a:srgbClr val="FFFFFF"/>
                          </a:solidFill>
                        </a:rPr>
                        <a:t>Jinsiy hujayra</a:t>
                      </a:r>
                    </a:p>
                  </a:txBody>
                  <a:tcPr marL="73152" marR="73152" marT="36576" marB="36576">
                    <a:solidFill>
                      <a:srgbClr val="0B1F3A"/>
                    </a:solidFill>
                  </a:tcPr>
                </a:tc>
              </a:tr>
              <a:tr h="411480">
                <a:tc>
                  <a:txBody>
                    <a:bodyPr/>
                    <a:lstStyle/>
                    <a:p>
                      <a:r>
                        <a:rPr sz="1200" b="0">
                          <a:solidFill>
                            <a:srgbClr val="1F2937"/>
                          </a:solidFill>
                        </a:rPr>
                        <a:t>Nasl uchun oqibati</a:t>
                      </a:r>
                    </a:p>
                  </a:txBody>
                  <a:tcPr marL="73152" marR="73152" marT="36576" marB="36576">
                    <a:solidFill>
                      <a:srgbClr val="E8EEF6"/>
                    </a:solidFill>
                  </a:tcPr>
                </a:tc>
                <a:tc>
                  <a:txBody>
                    <a:bodyPr/>
                    <a:lstStyle/>
                    <a:p>
                      <a:r>
                        <a:rPr sz="1200" b="0">
                          <a:solidFill>
                            <a:srgbClr val="1F2937"/>
                          </a:solidFill>
                        </a:rPr>
                        <a:t>Naslga o‘tmaydi</a:t>
                      </a:r>
                    </a:p>
                  </a:txBody>
                  <a:tcPr marL="73152" marR="73152" marT="36576" marB="36576">
                    <a:solidFill>
                      <a:srgbClr val="E8EEF6"/>
                    </a:solidFill>
                  </a:tcPr>
                </a:tc>
                <a:tc>
                  <a:txBody>
                    <a:bodyPr/>
                    <a:lstStyle/>
                    <a:p>
                      <a:r>
                        <a:rPr sz="1200" b="0">
                          <a:solidFill>
                            <a:srgbClr val="1F2937"/>
                          </a:solidFill>
                        </a:rPr>
                        <a:t>Avlodlarga o‘tadi</a:t>
                      </a:r>
                    </a:p>
                  </a:txBody>
                  <a:tcPr marL="73152" marR="73152" marT="36576" marB="36576">
                    <a:solidFill>
                      <a:srgbClr val="E8EEF6"/>
                    </a:solidFill>
                  </a:tcPr>
                </a:tc>
              </a:tr>
              <a:tr h="411480">
                <a:tc>
                  <a:txBody>
                    <a:bodyPr/>
                    <a:lstStyle/>
                    <a:p>
                      <a:r>
                        <a:rPr sz="1200" b="0">
                          <a:solidFill>
                            <a:srgbClr val="1F2937"/>
                          </a:solidFill>
                        </a:rPr>
                        <a:t>Axloqiy baho</a:t>
                      </a:r>
                    </a:p>
                  </a:txBody>
                  <a:tcPr marL="73152" marR="73152" marT="36576" marB="36576">
                    <a:solidFill>
                      <a:srgbClr val="FFFFFF"/>
                    </a:solidFill>
                  </a:tcPr>
                </a:tc>
                <a:tc>
                  <a:txBody>
                    <a:bodyPr/>
                    <a:lstStyle/>
                    <a:p>
                      <a:r>
                        <a:rPr sz="1200" b="0">
                          <a:solidFill>
                            <a:srgbClr val="1F2937"/>
                          </a:solidFill>
                        </a:rPr>
                        <a:t>Inson uchun zararsiz</a:t>
                      </a:r>
                    </a:p>
                  </a:txBody>
                  <a:tcPr marL="73152" marR="73152" marT="36576" marB="36576">
                    <a:solidFill>
                      <a:srgbClr val="FFFFFF"/>
                    </a:solidFill>
                  </a:tcPr>
                </a:tc>
                <a:tc>
                  <a:txBody>
                    <a:bodyPr/>
                    <a:lstStyle/>
                    <a:p>
                      <a:r>
                        <a:rPr sz="1200" b="0">
                          <a:solidFill>
                            <a:srgbClr val="1F2937"/>
                          </a:solidFill>
                        </a:rPr>
                        <a:t>Chuqur axloqiy tahlil kerak</a:t>
                      </a:r>
                    </a:p>
                  </a:txBody>
                  <a:tcPr marL="73152" marR="73152" marT="36576" marB="36576">
                    <a:solidFill>
                      <a:srgbClr val="FFFFFF"/>
                    </a:solidFill>
                  </a:tcPr>
                </a:tc>
              </a:tr>
              <a:tr h="411480">
                <a:tc>
                  <a:txBody>
                    <a:bodyPr/>
                    <a:lstStyle/>
                    <a:p>
                      <a:r>
                        <a:rPr sz="1200" b="0">
                          <a:solidFill>
                            <a:srgbClr val="1F2937"/>
                          </a:solidFill>
                        </a:rPr>
                        <a:t>Taqiq holati</a:t>
                      </a:r>
                    </a:p>
                  </a:txBody>
                  <a:tcPr marL="73152" marR="73152" marT="36576" marB="36576">
                    <a:solidFill>
                      <a:srgbClr val="E8EEF6"/>
                    </a:solidFill>
                  </a:tcPr>
                </a:tc>
                <a:tc>
                  <a:txBody>
                    <a:bodyPr/>
                    <a:lstStyle/>
                    <a:p>
                      <a:r>
                        <a:rPr sz="1200" b="0">
                          <a:solidFill>
                            <a:srgbClr val="1F2937"/>
                          </a:solidFill>
                        </a:rPr>
                        <a:t>Manbada taqiq qayd etilmagan</a:t>
                      </a:r>
                    </a:p>
                  </a:txBody>
                  <a:tcPr marL="73152" marR="73152" marT="36576" marB="36576">
                    <a:solidFill>
                      <a:srgbClr val="E8EEF6"/>
                    </a:solidFill>
                  </a:tcPr>
                </a:tc>
                <a:tc>
                  <a:txBody>
                    <a:bodyPr/>
                    <a:lstStyle/>
                    <a:p>
                      <a:r>
                        <a:rPr sz="1200" b="0">
                          <a:solidFill>
                            <a:srgbClr val="1F2937"/>
                          </a:solidFill>
                        </a:rPr>
                        <a:t>UNESKO 1994: hozircha taqiqlangan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usulni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gen terapiyasi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qaysi usul naslga o‘tadi? Javob: jinsiy hujayralarning irsiy materiali o‘zgartiriladigan usul. Bu o‘zgarishlar avloddan avlodga o‘tadi.</a:t>
            </a:r>
          </a:p>
          <a:p>
            <a:pPr>
              <a:spcAft>
                <a:spcPts val="1200"/>
              </a:spcAft>
            </a:pPr>
            <a:r>
              <a:rPr sz="2200">
                <a:solidFill>
                  <a:srgbClr val="1F2937"/>
                </a:solidFill>
                <a:latin typeface="Calibri"/>
              </a:rPr>
              <a:t>▸  Savol: nega taqiqlangan? Javob: u kelajak avlodlar taqdiriga ta’sir qiladi. 1994-yilda UNESKO uni (hozircha) qat’iy taqiqlagan.</a:t>
            </a:r>
          </a:p>
          <a:p>
            <a:pPr>
              <a:spcAft>
                <a:spcPts val="1200"/>
              </a:spcAft>
            </a:pPr>
            <a:r>
              <a:rPr sz="2200">
                <a:solidFill>
                  <a:srgbClr val="1F2937"/>
                </a:solidFill>
                <a:latin typeface="Calibri"/>
              </a:rPr>
              <a:t>▸  Savol: somatik hujayra terapiyasi-chi? Javob: natija faqat shu shaxsga tegishli, naslga ta’sir qilmaydi, shuning uchun axloqan zararsiz.</a:t>
            </a:r>
          </a:p>
          <a:p>
            <a:pPr>
              <a:spcAft>
                <a:spcPts val="1200"/>
              </a:spcAft>
            </a:pPr>
            <a:r>
              <a:rPr sz="2200">
                <a:solidFill>
                  <a:srgbClr val="1F2937"/>
                </a:solidFill>
                <a:latin typeface="Calibri"/>
              </a:rPr>
              <a:t>▸  Diqqat: xato qilish xavfi! Somatik hujayra terapiyasi ≠ jinsiy hujayra terapiyasi. Birinchisi naslga o‘tmaydi, ikkinchisi o‘tadi.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gen terapiyasini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oilada irsiy kasallik aniqlangan. Shifokor mutant genni sog‘lom gen bilan almashtirish usulini ko‘rib chiqmoqda.</a:t>
            </a:r>
          </a:p>
          <a:p>
            <a:pPr>
              <a:spcAft>
                <a:spcPts val="1200"/>
              </a:spcAft>
            </a:pPr>
            <a:r>
              <a:rPr sz="2200">
                <a:solidFill>
                  <a:srgbClr val="1F2937"/>
                </a:solidFill>
                <a:latin typeface="Calibri"/>
              </a:rPr>
              <a:t>▸  Somatik hujayralarda o‘zgarish faqat o‘sha shaxsga tegishli bo‘ladi va naslga ta’sir qilmaydi. Shu sabab usul axloqan zararsiz.</a:t>
            </a:r>
          </a:p>
          <a:p>
            <a:pPr>
              <a:spcAft>
                <a:spcPts val="1200"/>
              </a:spcAft>
            </a:pPr>
            <a:r>
              <a:rPr sz="2200">
                <a:solidFill>
                  <a:srgbClr val="1F2937"/>
                </a:solidFill>
                <a:latin typeface="Calibri"/>
              </a:rPr>
              <a:t>▸  Jinsiy hujayralarni o‘zgartirish avlodlarga o‘tadi va UNESKO tomonidan taqiqlangan. Homila hujayralarini ishlatishni ayrimlar axloq buzilishi deb biladi.</a:t>
            </a:r>
          </a:p>
          <a:p>
            <a:pPr>
              <a:spcAft>
                <a:spcPts val="1200"/>
              </a:spcAft>
            </a:pPr>
            <a:r>
              <a:rPr sz="2200">
                <a:solidFill>
                  <a:srgbClr val="1F2937"/>
                </a:solidFill>
                <a:latin typeface="Calibri"/>
              </a:rPr>
              <a:t>▸  Savol: bu oila uchun qaysi hujayra turi axloqan maqbul va nega? Jinsiy hujayra usulini tanlash qanday oqibatlarga olib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UNESKO Deklaratsiyasi: qabul qilinish xronologiyasi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Deklaratsiyaning 1-bo‘limi: inson genomi barcha odamlar birligi, qadr-qimmati va xilma-xilligini e’tirof etish asosida yotadi.</a:t>
            </a:r>
          </a:p>
          <a:p>
            <a:pPr>
              <a:spcAft>
                <a:spcPts val="800"/>
              </a:spcAft>
            </a:pPr>
            <a:r>
              <a:rPr sz="1800">
                <a:solidFill>
                  <a:srgbClr val="1F2937"/>
                </a:solidFill>
                <a:latin typeface="Calibri"/>
              </a:rPr>
              <a:t>▸  4-modda: inson genomi tabiiy holatda daromad manbai bo‘la olmaydi, shuning uchun genom qismini patentlab bo‘lmaydi.</a:t>
            </a:r>
          </a:p>
          <a:p>
            <a:pPr>
              <a:spcAft>
                <a:spcPts val="800"/>
              </a:spcAft>
            </a:pPr>
            <a:r>
              <a:rPr sz="1800">
                <a:solidFill>
                  <a:srgbClr val="1F2937"/>
                </a:solidFill>
                <a:latin typeface="Calibri"/>
              </a:rPr>
              <a:t>▸  Diqqat: 1997 (UNESKO qabuli) ≠ 1998 (BMT Bosh Assambleyasi qarori). Sanalarni aralashtirmang.</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031800"/>
                <a:gridCol w="1676675"/>
                <a:gridCol w="2579500"/>
              </a:tblGrid>
              <a:tr h="411480">
                <a:tc>
                  <a:txBody>
                    <a:bodyPr/>
                    <a:lstStyle/>
                    <a:p>
                      <a:r>
                        <a:rPr sz="1300" b="1">
                          <a:solidFill>
                            <a:srgbClr val="FFFFFF"/>
                          </a:solidFill>
                        </a:rPr>
                        <a:t>Yil</a:t>
                      </a:r>
                    </a:p>
                  </a:txBody>
                  <a:tcPr marL="73152" marR="73152" marT="36576" marB="36576">
                    <a:solidFill>
                      <a:srgbClr val="0B1F3A"/>
                    </a:solidFill>
                  </a:tcPr>
                </a:tc>
                <a:tc>
                  <a:txBody>
                    <a:bodyPr/>
                    <a:lstStyle/>
                    <a:p>
                      <a:r>
                        <a:rPr sz="1300" b="1">
                          <a:solidFill>
                            <a:srgbClr val="FFFFFF"/>
                          </a:solidFill>
                        </a:rPr>
                        <a:t>Voqea</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r>
              <a:tr h="411480">
                <a:tc>
                  <a:txBody>
                    <a:bodyPr/>
                    <a:lstStyle/>
                    <a:p>
                      <a:r>
                        <a:rPr sz="1200" b="0">
                          <a:solidFill>
                            <a:srgbClr val="1F2937"/>
                          </a:solidFill>
                        </a:rPr>
                        <a:t>1994</a:t>
                      </a:r>
                    </a:p>
                  </a:txBody>
                  <a:tcPr marL="73152" marR="73152" marT="36576" marB="36576">
                    <a:solidFill>
                      <a:srgbClr val="E8EEF6"/>
                    </a:solidFill>
                  </a:tcPr>
                </a:tc>
                <a:tc>
                  <a:txBody>
                    <a:bodyPr/>
                    <a:lstStyle/>
                    <a:p>
                      <a:r>
                        <a:rPr sz="1200" b="0">
                          <a:solidFill>
                            <a:srgbClr val="1F2937"/>
                          </a:solidFill>
                        </a:rPr>
                        <a:t>UNESKO taqiqi</a:t>
                      </a:r>
                    </a:p>
                  </a:txBody>
                  <a:tcPr marL="73152" marR="73152" marT="36576" marB="36576">
                    <a:solidFill>
                      <a:srgbClr val="E8EEF6"/>
                    </a:solidFill>
                  </a:tcPr>
                </a:tc>
                <a:tc>
                  <a:txBody>
                    <a:bodyPr/>
                    <a:lstStyle/>
                    <a:p>
                      <a:r>
                        <a:rPr sz="1200" b="0">
                          <a:solidFill>
                            <a:srgbClr val="1F2937"/>
                          </a:solidFill>
                        </a:rPr>
                        <a:t>Jinsiy hujayra terapiyasi taqiqlandi</a:t>
                      </a:r>
                    </a:p>
                  </a:txBody>
                  <a:tcPr marL="73152" marR="73152" marT="36576" marB="36576">
                    <a:solidFill>
                      <a:srgbClr val="E8EEF6"/>
                    </a:solidFill>
                  </a:tcPr>
                </a:tc>
              </a:tr>
              <a:tr h="411480">
                <a:tc>
                  <a:txBody>
                    <a:bodyPr/>
                    <a:lstStyle/>
                    <a:p>
                      <a:r>
                        <a:rPr sz="1200" b="0">
                          <a:solidFill>
                            <a:srgbClr val="1F2937"/>
                          </a:solidFill>
                        </a:rPr>
                        <a:t>1997, 11-noyabr</a:t>
                      </a:r>
                    </a:p>
                  </a:txBody>
                  <a:tcPr marL="73152" marR="73152" marT="36576" marB="36576">
                    <a:solidFill>
                      <a:srgbClr val="FFFFFF"/>
                    </a:solidFill>
                  </a:tcPr>
                </a:tc>
                <a:tc>
                  <a:txBody>
                    <a:bodyPr/>
                    <a:lstStyle/>
                    <a:p>
                      <a:r>
                        <a:rPr sz="1200" b="0">
                          <a:solidFill>
                            <a:srgbClr val="1F2937"/>
                          </a:solidFill>
                        </a:rPr>
                        <a:t>UNESKO Bosh konferensiyasi</a:t>
                      </a:r>
                    </a:p>
                  </a:txBody>
                  <a:tcPr marL="73152" marR="73152" marT="36576" marB="36576">
                    <a:solidFill>
                      <a:srgbClr val="FFFFFF"/>
                    </a:solidFill>
                  </a:tcPr>
                </a:tc>
                <a:tc>
                  <a:txBody>
                    <a:bodyPr/>
                    <a:lstStyle/>
                    <a:p>
                      <a:r>
                        <a:rPr sz="1200" b="0">
                          <a:solidFill>
                            <a:srgbClr val="1F2937"/>
                          </a:solidFill>
                        </a:rPr>
                        <a:t>Genom deklaratsiyasi qabul qilindi</a:t>
                      </a:r>
                    </a:p>
                  </a:txBody>
                  <a:tcPr marL="73152" marR="73152" marT="36576" marB="36576">
                    <a:solidFill>
                      <a:srgbClr val="FFFFFF"/>
                    </a:solidFill>
                  </a:tcPr>
                </a:tc>
              </a:tr>
              <a:tr h="411480">
                <a:tc>
                  <a:txBody>
                    <a:bodyPr/>
                    <a:lstStyle/>
                    <a:p>
                      <a:r>
                        <a:rPr sz="1200" b="0">
                          <a:solidFill>
                            <a:srgbClr val="1F2937"/>
                          </a:solidFill>
                        </a:rPr>
                        <a:t>1998</a:t>
                      </a:r>
                    </a:p>
                  </a:txBody>
                  <a:tcPr marL="73152" marR="73152" marT="36576" marB="36576">
                    <a:solidFill>
                      <a:srgbClr val="E8EEF6"/>
                    </a:solidFill>
                  </a:tcPr>
                </a:tc>
                <a:tc>
                  <a:txBody>
                    <a:bodyPr/>
                    <a:lstStyle/>
                    <a:p>
                      <a:r>
                        <a:rPr sz="1200" b="0">
                          <a:solidFill>
                            <a:srgbClr val="1F2937"/>
                          </a:solidFill>
                        </a:rPr>
                        <a:t>BMT Bosh Assambleyasi</a:t>
                      </a:r>
                    </a:p>
                  </a:txBody>
                  <a:tcPr marL="73152" marR="73152" marT="36576" marB="36576">
                    <a:solidFill>
                      <a:srgbClr val="E8EEF6"/>
                    </a:solidFill>
                  </a:tcPr>
                </a:tc>
                <a:tc>
                  <a:txBody>
                    <a:bodyPr/>
                    <a:lstStyle/>
                    <a:p>
                      <a:r>
                        <a:rPr sz="1200" b="0">
                          <a:solidFill>
                            <a:srgbClr val="1F2937"/>
                          </a:solidFill>
                        </a:rPr>
                        <a:t>Deklaratsiya tamoyillari qabul qilindi</a:t>
                      </a:r>
                    </a:p>
                  </a:txBody>
                  <a:tcPr marL="73152" marR="73152" marT="36576" marB="36576">
                    <a:solidFill>
                      <a:srgbClr val="E8EEF6"/>
                    </a:solidFill>
                  </a:tcPr>
                </a:tc>
              </a:tr>
              <a:tr h="411480">
                <a:tc>
                  <a:txBody>
                    <a:bodyPr/>
                    <a:lstStyle/>
                    <a:p>
                      <a:r>
                        <a:rPr sz="1200" b="0">
                          <a:solidFill>
                            <a:srgbClr val="1F2937"/>
                          </a:solidFill>
                        </a:rPr>
                        <a:t>2000</a:t>
                      </a:r>
                    </a:p>
                  </a:txBody>
                  <a:tcPr marL="73152" marR="73152" marT="36576" marB="36576">
                    <a:solidFill>
                      <a:srgbClr val="FFFFFF"/>
                    </a:solidFill>
                  </a:tcPr>
                </a:tc>
                <a:tc>
                  <a:txBody>
                    <a:bodyPr/>
                    <a:lstStyle/>
                    <a:p>
                      <a:r>
                        <a:rPr sz="1200" b="0">
                          <a:solidFill>
                            <a:srgbClr val="1F2937"/>
                          </a:solidFill>
                        </a:rPr>
                        <a:t>Okinava uchrashuvi</a:t>
                      </a:r>
                    </a:p>
                  </a:txBody>
                  <a:tcPr marL="73152" marR="73152" marT="36576" marB="36576">
                    <a:solidFill>
                      <a:srgbClr val="FFFFFF"/>
                    </a:solidFill>
                  </a:tcPr>
                </a:tc>
                <a:tc>
                  <a:txBody>
                    <a:bodyPr/>
                    <a:lstStyle/>
                    <a:p>
                      <a:r>
                        <a:rPr sz="1200" b="0">
                          <a:solidFill>
                            <a:srgbClr val="1F2937"/>
                          </a:solidFill>
                        </a:rPr>
                        <a:t>Yetakchi sakkiz davlat konsepsiyani tasdiqladi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 161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Genom va inson qadr-qimmati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Deklaratsiyaning 1-bo‘limiga ko‘ra, genom barcha odamlarning birligi, ularning qadr-qimmati va xilma-xilligini e’tirof etish asosida yotadi.</a:t>
            </a:r>
          </a:p>
          <a:p>
            <a:pPr>
              <a:spcAft>
                <a:spcPts val="1200"/>
              </a:spcAft>
            </a:pPr>
            <a:r>
              <a:rPr sz="2200">
                <a:solidFill>
                  <a:srgbClr val="1F2937"/>
                </a:solidFill>
                <a:latin typeface="Calibri"/>
              </a:rPr>
              <a:t>▸  Genom inson qadr-qimmatini ifodalaydi. Bu g‘oya barcha odamlar va har bir shaxsning tengligi hamda rang-barangligini asoslaydi.</a:t>
            </a:r>
          </a:p>
          <a:p>
            <a:pPr>
              <a:spcAft>
                <a:spcPts val="1200"/>
              </a:spcAft>
            </a:pPr>
            <a:r>
              <a:rPr sz="2200">
                <a:solidFill>
                  <a:srgbClr val="1F2937"/>
                </a:solidFill>
                <a:latin typeface="Calibri"/>
              </a:rPr>
              <a:t>▸  Insoniyat yagona genlar to‘plami asosida rivojlangan, bu genlar avloddan avlodga o‘tib kelgan. Genlar variantlari odamlarni rang-barang, ammo teng qadrli qilgan.</a:t>
            </a:r>
          </a:p>
          <a:p>
            <a:pPr>
              <a:spcAft>
                <a:spcPts val="1200"/>
              </a:spcAft>
            </a:pPr>
            <a:r>
              <a:rPr sz="2200">
                <a:solidFill>
                  <a:srgbClr val="1F2937"/>
                </a:solidFill>
                <a:latin typeface="Calibri"/>
              </a:rPr>
              <a:t>▸  Deklaratsiyaning 1-moddasiga binoan genom insoniyat mulki hisoblanadi. Shu sababli unga adolatli munosabat talab etiladi.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160, 177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 va 4-moddalar: kamsitmaslik va patent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2-modda: har bir inson irsiy xususiyatidan qat’i nazar, o‘z huquq va qadr-qimmati hurmat qilinishiga ega.</a:t>
            </a:r>
          </a:p>
          <a:p>
            <a:pPr>
              <a:spcAft>
                <a:spcPts val="800"/>
              </a:spcAft>
            </a:pPr>
            <a:r>
              <a:rPr sz="1800">
                <a:solidFill>
                  <a:srgbClr val="1F2937"/>
                </a:solidFill>
                <a:latin typeface="Calibri"/>
              </a:rPr>
              <a:t>▸  4-modda: inson genomi tabiiy holatda daromad manbai bo‘la olmaydi.</a:t>
            </a:r>
          </a:p>
          <a:p>
            <a:pPr>
              <a:spcAft>
                <a:spcPts val="800"/>
              </a:spcAft>
            </a:pPr>
            <a:r>
              <a:rPr sz="1800">
                <a:solidFill>
                  <a:srgbClr val="1F2937"/>
                </a:solidFill>
                <a:latin typeface="Calibri"/>
              </a:rPr>
              <a:t>▸  Demak, tadqiqotchi tasvirlagan genom qismini patentlab, tijoratga aylantirib bo‘lmaydi.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40084"/>
                <a:gridCol w="2350211"/>
                <a:gridCol w="1997679"/>
              </a:tblGrid>
              <a:tr h="411480">
                <a:tc>
                  <a:txBody>
                    <a:bodyPr/>
                    <a:lstStyle/>
                    <a:p>
                      <a:r>
                        <a:rPr sz="1300" b="1">
                          <a:solidFill>
                            <a:srgbClr val="FFFFFF"/>
                          </a:solidFill>
                        </a:rPr>
                        <a:t>Qoida</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2-modda</a:t>
                      </a:r>
                    </a:p>
                  </a:txBody>
                  <a:tcPr marL="73152" marR="73152" marT="36576" marB="36576">
                    <a:solidFill>
                      <a:srgbClr val="E8EEF6"/>
                    </a:solidFill>
                  </a:tcPr>
                </a:tc>
                <a:tc>
                  <a:txBody>
                    <a:bodyPr/>
                    <a:lstStyle/>
                    <a:p>
                      <a:r>
                        <a:rPr sz="1200" b="0">
                          <a:solidFill>
                            <a:srgbClr val="1F2937"/>
                          </a:solidFill>
                        </a:rPr>
                        <a:t>Irsiyatidan qat’i nazar hurmat</a:t>
                      </a:r>
                    </a:p>
                  </a:txBody>
                  <a:tcPr marL="73152" marR="73152" marT="36576" marB="36576">
                    <a:solidFill>
                      <a:srgbClr val="E8EEF6"/>
                    </a:solidFill>
                  </a:tcPr>
                </a:tc>
                <a:tc>
                  <a:txBody>
                    <a:bodyPr/>
                    <a:lstStyle/>
                    <a:p>
                      <a:r>
                        <a:rPr sz="1200" b="0">
                          <a:solidFill>
                            <a:srgbClr val="1F2937"/>
                          </a:solidFill>
                        </a:rPr>
                        <a:t>Kamsitish mumkin emas</a:t>
                      </a:r>
                    </a:p>
                  </a:txBody>
                  <a:tcPr marL="73152" marR="73152" marT="36576" marB="36576">
                    <a:solidFill>
                      <a:srgbClr val="E8EEF6"/>
                    </a:solidFill>
                  </a:tcPr>
                </a:tc>
              </a:tr>
              <a:tr h="411480">
                <a:tc>
                  <a:txBody>
                    <a:bodyPr/>
                    <a:lstStyle/>
                    <a:p>
                      <a:r>
                        <a:rPr sz="1200" b="0">
                          <a:solidFill>
                            <a:srgbClr val="1F2937"/>
                          </a:solidFill>
                        </a:rPr>
                        <a:t>4-modda</a:t>
                      </a:r>
                    </a:p>
                  </a:txBody>
                  <a:tcPr marL="73152" marR="73152" marT="36576" marB="36576">
                    <a:solidFill>
                      <a:srgbClr val="FFFFFF"/>
                    </a:solidFill>
                  </a:tcPr>
                </a:tc>
                <a:tc>
                  <a:txBody>
                    <a:bodyPr/>
                    <a:lstStyle/>
                    <a:p>
                      <a:r>
                        <a:rPr sz="1200" b="0">
                          <a:solidFill>
                            <a:srgbClr val="1F2937"/>
                          </a:solidFill>
                        </a:rPr>
                        <a:t>Genom tabiiy holatda daromad manbai emas</a:t>
                      </a:r>
                    </a:p>
                  </a:txBody>
                  <a:tcPr marL="73152" marR="73152" marT="36576" marB="36576">
                    <a:solidFill>
                      <a:srgbClr val="FFFFFF"/>
                    </a:solidFill>
                  </a:tcPr>
                </a:tc>
                <a:tc>
                  <a:txBody>
                    <a:bodyPr/>
                    <a:lstStyle/>
                    <a:p>
                      <a:r>
                        <a:rPr sz="1200" b="0">
                          <a:solidFill>
                            <a:srgbClr val="1F2937"/>
                          </a:solidFill>
                        </a:rPr>
                        <a:t>Genom qismi patentlanmaydi</a:t>
                      </a:r>
                    </a:p>
                  </a:txBody>
                  <a:tcPr marL="73152" marR="73152" marT="36576" marB="36576">
                    <a:solidFill>
                      <a:srgbClr val="FFFFFF"/>
                    </a:solidFill>
                  </a:tcPr>
                </a:tc>
              </a:tr>
              <a:tr h="411480">
                <a:tc>
                  <a:txBody>
                    <a:bodyPr/>
                    <a:lstStyle/>
                    <a:p>
                      <a:r>
                        <a:rPr sz="1200" b="0">
                          <a:solidFill>
                            <a:srgbClr val="1F2937"/>
                          </a:solidFill>
                        </a:rPr>
                        <a:t>Okinava, 2000</a:t>
                      </a:r>
                    </a:p>
                  </a:txBody>
                  <a:tcPr marL="73152" marR="73152" marT="36576" marB="36576">
                    <a:solidFill>
                      <a:srgbClr val="E8EEF6"/>
                    </a:solidFill>
                  </a:tcPr>
                </a:tc>
                <a:tc>
                  <a:txBody>
                    <a:bodyPr/>
                    <a:lstStyle/>
                    <a:p>
                      <a:r>
                        <a:rPr sz="1200" b="0">
                          <a:solidFill>
                            <a:srgbClr val="1F2937"/>
                          </a:solidFill>
                        </a:rPr>
                        <a:t>Yetakchi sakkiz davlat rahbarlari tasdiqladi</a:t>
                      </a:r>
                    </a:p>
                  </a:txBody>
                  <a:tcPr marL="73152" marR="73152" marT="36576" marB="36576">
                    <a:solidFill>
                      <a:srgbClr val="E8EEF6"/>
                    </a:solidFill>
                  </a:tcPr>
                </a:tc>
                <a:tc>
                  <a:txBody>
                    <a:bodyPr/>
                    <a:lstStyle/>
                    <a:p>
                      <a:r>
                        <a:rPr sz="1200" b="0">
                          <a:solidFill>
                            <a:srgbClr val="1F2937"/>
                          </a:solidFill>
                        </a:rPr>
                        <a:t>Insoniyat manfaatiga xizmat qiladi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modda mantiqi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Genetik ma’lumot sirliligi va tadqiqot chegarasi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Shaxsni aniqlash mumkin bo‘lgan, saqlanayotgan yoki qayta ishlanayotgan genetik ma’lumotlarning sirliligi qonun bilan himoyalanishi lozim.</a:t>
            </a:r>
          </a:p>
          <a:p>
            <a:pPr>
              <a:spcAft>
                <a:spcPts val="1200"/>
              </a:spcAft>
            </a:pPr>
            <a:r>
              <a:rPr sz="2200">
                <a:solidFill>
                  <a:srgbClr val="1F2937"/>
                </a:solidFill>
                <a:latin typeface="Calibri"/>
              </a:rPr>
              <a:t>▸  Deklaratsiyaning ‘C’ bo‘limida bemor yoki sog‘lom odam huquqlari bilan tadqiqotchining ilm bilan shug‘ullanish huquqi birga ko‘riladi.</a:t>
            </a:r>
          </a:p>
          <a:p>
            <a:pPr>
              <a:spcAft>
                <a:spcPts val="1200"/>
              </a:spcAft>
            </a:pPr>
            <a:r>
              <a:rPr sz="2200">
                <a:solidFill>
                  <a:srgbClr val="1F2937"/>
                </a:solidFill>
                <a:latin typeface="Calibri"/>
              </a:rPr>
              <a:t>▸  Genomga oid hech bir tadqiqot inson yoki odamlar guruhining huquqi, asosiy erkinligi va qadr-qimmatidan ustun qo‘yilishi mumkin emas.</a:t>
            </a:r>
          </a:p>
          <a:p>
            <a:pPr>
              <a:spcAft>
                <a:spcPts val="1200"/>
              </a:spcAft>
            </a:pPr>
            <a:r>
              <a:rPr sz="2200">
                <a:solidFill>
                  <a:srgbClr val="1F2937"/>
                </a:solidFill>
                <a:latin typeface="Calibri"/>
              </a:rPr>
              <a:t>▸  Qadr-qimmatni kamsituvchi amaliyotga, jumladan inson yaratish maqsadidagi klonlashga yo‘l qo‘yilmaydi. Ilmiy ishlar emas, aynan shu amaliyot taqiqlanadi.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161, 161-162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Deklaratsiya muqaddimasidagi 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UNESKO Ustavi muqaddimasida shaxs qadr-qimmatini hurmat qilish, insonlarning teng huquqliligi va o‘zaro hurmat tamoyillari e’lon qilingan.</a:t>
            </a:r>
          </a:p>
          <a:p>
            <a:pPr>
              <a:spcAft>
                <a:spcPts val="1200"/>
              </a:spcAft>
            </a:pPr>
            <a:r>
              <a:rPr sz="2200">
                <a:solidFill>
                  <a:srgbClr val="1F2937"/>
                </a:solidFill>
                <a:latin typeface="Calibri"/>
              </a:rPr>
              <a:t>▸  Muqaddima millatlar va irqlar tengsizligi doktrinasini rad etadi. Dunyo insoniyatning intellektual va axloqiy birdamligiga tayanishi shart, deyiladi.</a:t>
            </a:r>
          </a:p>
          <a:p>
            <a:pPr>
              <a:spcAft>
                <a:spcPts val="1200"/>
              </a:spcAft>
            </a:pPr>
            <a:r>
              <a:rPr sz="2200">
                <a:solidFill>
                  <a:srgbClr val="1F2937"/>
                </a:solidFill>
                <a:latin typeface="Calibri"/>
              </a:rPr>
              <a:t>▸  UNESKOga biologiya va genetikadagi taraqqiyot oqibatlariga qarshi choralar ishlab chiqish va axloqiy tadqiqotlarni rag‘batlantirish vazifasi yuklangan.</a:t>
            </a:r>
          </a:p>
          <a:p>
            <a:pPr>
              <a:spcAft>
                <a:spcPts val="1200"/>
              </a:spcAft>
            </a:pPr>
            <a:r>
              <a:rPr sz="2200">
                <a:solidFill>
                  <a:srgbClr val="1F2937"/>
                </a:solidFill>
                <a:latin typeface="Calibri"/>
              </a:rPr>
              <a:t>▸  Genom bo‘yicha tadqiqotlar odam yoki guruhning qadr-qimmati, erkinliklari va huquqlarini to‘liq hurmat qilishi lozim, deb qayd etilgan.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genom va patent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tadqiqotchilar guruhi inson genomining bir qismini tavsifladi va uni patentlab, tijorat foydasi olmoqchi.</a:t>
            </a:r>
          </a:p>
          <a:p>
            <a:pPr>
              <a:spcAft>
                <a:spcPts val="1200"/>
              </a:spcAft>
            </a:pPr>
            <a:r>
              <a:rPr sz="2200">
                <a:solidFill>
                  <a:srgbClr val="1F2937"/>
                </a:solidFill>
                <a:latin typeface="Calibri"/>
              </a:rPr>
              <a:t>▸  Deklaratsiyaning 4-moddasi: inson genomi tabiiy holatda daromad manbai bo‘lishi mumkin emas.</a:t>
            </a:r>
          </a:p>
          <a:p>
            <a:pPr>
              <a:spcAft>
                <a:spcPts val="1200"/>
              </a:spcAft>
            </a:pPr>
            <a:r>
              <a:rPr sz="2200">
                <a:solidFill>
                  <a:srgbClr val="1F2937"/>
                </a:solidFill>
                <a:latin typeface="Calibri"/>
              </a:rPr>
              <a:t>▸  Demak, tadqiqotchi tavsiflagan genom qismini patentlab, tijorat predmetiga aylantirib bo‘lmaydi. 2000-yilgi Okinava uchrashuvida sakkiz yetakchi davlat rahbari ham shu g‘oyani tasdiqlagan.</a:t>
            </a:r>
          </a:p>
          <a:p>
            <a:pPr>
              <a:spcAft>
                <a:spcPts val="1200"/>
              </a:spcAft>
            </a:pPr>
            <a:r>
              <a:rPr sz="2200">
                <a:solidFill>
                  <a:srgbClr val="1F2937"/>
                </a:solidFill>
                <a:latin typeface="Calibri"/>
              </a:rPr>
              <a:t>▸  Savol: 4-modda nuqtai nazaridan bu guruhning rejasini qanday baholaysiz va nima uchun?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va bemor: ota-onalar qarori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Tibbiyotning ko‘p sohasida asosiy masala shifokor va bemor munosabatining maqbul axloqiy me’yorlarini belgilashdir.</a:t>
            </a:r>
          </a:p>
          <a:p>
            <a:pPr>
              <a:spcAft>
                <a:spcPts val="1200"/>
              </a:spcAft>
            </a:pPr>
            <a:r>
              <a:rPr sz="2200">
                <a:solidFill>
                  <a:srgbClr val="1F2937"/>
                </a:solidFill>
                <a:latin typeface="Calibri"/>
              </a:rPr>
              <a:t>▸  Yuqumli va tug‘ma kasalliklar sohasida shifokor bitta bemor bilan emas, kasallikni boshqalarga yuqtirish xavfi katta guruh bilan ishlaydi.</a:t>
            </a:r>
          </a:p>
          <a:p>
            <a:pPr>
              <a:spcAft>
                <a:spcPts val="1200"/>
              </a:spcAft>
            </a:pPr>
            <a:r>
              <a:rPr sz="2200">
                <a:solidFill>
                  <a:srgbClr val="1F2937"/>
                </a:solidFill>
                <a:latin typeface="Calibri"/>
              </a:rPr>
              <a:t>▸  Irsiy patologiya ota-onadan bolaga, keyin keyingi avlodlarga o‘tadi. Ko‘p shakllari bola tug‘ilmasdan, onaning qornida rivojlanadi va tug‘ma nuqson bo‘lib chiqadi.</a:t>
            </a:r>
          </a:p>
          <a:p>
            <a:pPr>
              <a:spcAft>
                <a:spcPts val="1200"/>
              </a:spcAft>
            </a:pPr>
            <a:r>
              <a:rPr sz="2200">
                <a:solidFill>
                  <a:srgbClr val="1F2937"/>
                </a:solidFill>
                <a:latin typeface="Calibri"/>
              </a:rPr>
              <a:t>▸  Diqqat: oldini olish yoki davolash haqida qarorni bemorning o‘zi emas, homilador ayol yoki ota-onalar qabul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aniqlash va ikki o‘zaro bog‘liq muammo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Zamonaviy biotexnologiya genom buzilishini kasallik belgisi hali yo‘q bosqichda ham aniqlay oladi.</a:t>
            </a:r>
          </a:p>
          <a:p>
            <a:pPr>
              <a:spcAft>
                <a:spcPts val="800"/>
              </a:spcAft>
            </a:pPr>
            <a:r>
              <a:rPr sz="1800">
                <a:solidFill>
                  <a:srgbClr val="1F2937"/>
                </a:solidFill>
                <a:latin typeface="Calibri"/>
              </a:rPr>
              <a:t>▸  Misol: Alsgeymer kasalligi va Gentington xoreyasi odam 40 dan, ba’zan 70 yoshdan oshganda belgi beradi.</a:t>
            </a:r>
          </a:p>
          <a:p>
            <a:pPr>
              <a:spcAft>
                <a:spcPts val="800"/>
              </a:spcAft>
            </a:pPr>
            <a:r>
              <a:rPr sz="1800">
                <a:solidFill>
                  <a:srgbClr val="1F2937"/>
                </a:solidFill>
                <a:latin typeface="Calibri"/>
              </a:rPr>
              <a:t>▸  Bu holat ikki o‘zaro bog‘liq axloqiy muammoni keltirib chiqaradi.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930530"/>
                <a:gridCol w="3357444"/>
              </a:tblGrid>
              <a:tr h="411480">
                <a:tc>
                  <a:txBody>
                    <a:bodyPr/>
                    <a:lstStyle/>
                    <a:p>
                      <a:r>
                        <a:rPr sz="1400" b="1">
                          <a:solidFill>
                            <a:srgbClr val="FFFFFF"/>
                          </a:solidFill>
                        </a:rPr>
                        <a:t>Muammo</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1. Bilish huquqi</a:t>
                      </a:r>
                    </a:p>
                  </a:txBody>
                  <a:tcPr marL="73152" marR="73152" marT="36576" marB="36576">
                    <a:solidFill>
                      <a:srgbClr val="E8EEF6"/>
                    </a:solidFill>
                  </a:tcPr>
                </a:tc>
                <a:tc>
                  <a:txBody>
                    <a:bodyPr/>
                    <a:lstStyle/>
                    <a:p>
                      <a:r>
                        <a:rPr sz="1300" b="0">
                          <a:solidFill>
                            <a:srgbClr val="1F2937"/>
                          </a:solidFill>
                        </a:rPr>
                        <a:t>Kim bo‘lajak irsiy belgilarni bilishi mumkin</a:t>
                      </a:r>
                    </a:p>
                  </a:txBody>
                  <a:tcPr marL="73152" marR="73152" marT="36576" marB="36576">
                    <a:solidFill>
                      <a:srgbClr val="E8EEF6"/>
                    </a:solidFill>
                  </a:tcPr>
                </a:tc>
              </a:tr>
              <a:tr h="411480">
                <a:tc>
                  <a:txBody>
                    <a:bodyPr/>
                    <a:lstStyle/>
                    <a:p>
                      <a:r>
                        <a:rPr sz="1300" b="0">
                          <a:solidFill>
                            <a:srgbClr val="1F2937"/>
                          </a:solidFill>
                        </a:rPr>
                        <a:t>2. Genotipga aralashish</a:t>
                      </a:r>
                    </a:p>
                  </a:txBody>
                  <a:tcPr marL="73152" marR="73152" marT="36576" marB="36576">
                    <a:solidFill>
                      <a:srgbClr val="FFFFFF"/>
                    </a:solidFill>
                  </a:tcPr>
                </a:tc>
                <a:tc>
                  <a:txBody>
                    <a:bodyPr/>
                    <a:lstStyle/>
                    <a:p>
                      <a:r>
                        <a:rPr sz="1300" b="0">
                          <a:solidFill>
                            <a:srgbClr val="1F2937"/>
                          </a:solidFill>
                        </a:rPr>
                        <a:t>Genotipni qo‘llash va o‘zgartirish chegarasi</a:t>
                      </a:r>
                    </a:p>
                  </a:txBody>
                  <a:tcPr marL="73152" marR="73152" marT="36576" marB="36576">
                    <a:solidFill>
                      <a:srgbClr val="FFFFFF"/>
                    </a:solidFill>
                  </a:tcPr>
                </a:tc>
              </a:tr>
              <a:tr h="411480">
                <a:tc>
                  <a:txBody>
                    <a:bodyPr/>
                    <a:lstStyle/>
                    <a:p>
                      <a:r>
                        <a:rPr sz="1300" b="0">
                          <a:solidFill>
                            <a:srgbClr val="1F2937"/>
                          </a:solidFill>
                        </a:rPr>
                        <a:t>Qaror egasi</a:t>
                      </a:r>
                    </a:p>
                  </a:txBody>
                  <a:tcPr marL="73152" marR="73152" marT="36576" marB="36576">
                    <a:solidFill>
                      <a:srgbClr val="E8EEF6"/>
                    </a:solidFill>
                  </a:tcPr>
                </a:tc>
                <a:tc>
                  <a:txBody>
                    <a:bodyPr/>
                    <a:lstStyle/>
                    <a:p>
                      <a:r>
                        <a:rPr sz="1300" b="0">
                          <a:solidFill>
                            <a:srgbClr val="1F2937"/>
                          </a:solidFill>
                        </a:rPr>
                        <a:t>Ko‘pincha homilador ayol yoki ota-ona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axloqiy muammo</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xodimining roli: “Zarar yetkazma”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Gippokratdan qolgan “Zarar yetkazma” tamoyili bugungi kunda ancha murakkablashdi.</a:t>
            </a:r>
          </a:p>
          <a:p>
            <a:pPr>
              <a:spcAft>
                <a:spcPts val="800"/>
              </a:spcAft>
            </a:pPr>
            <a:r>
              <a:rPr sz="1800">
                <a:solidFill>
                  <a:srgbClr val="1F2937"/>
                </a:solidFill>
                <a:latin typeface="Calibri"/>
              </a:rPr>
              <a:t>▸  Sabab: irsiy davolash, embrion to‘qimasidan foydalanish, umrni uzaytirish va klonlash muammolari.</a:t>
            </a:r>
          </a:p>
          <a:p>
            <a:pPr>
              <a:spcAft>
                <a:spcPts val="800"/>
              </a:spcAft>
            </a:pPr>
            <a:r>
              <a:rPr sz="1800">
                <a:solidFill>
                  <a:srgbClr val="1F2937"/>
                </a:solidFill>
                <a:latin typeface="Calibri"/>
              </a:rPr>
              <a:t>▸  Tibbiy texnologiyalar doirasi kengaydi: bemorga foyda ham, tavakkal darajasi ham ortdi.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texnologiyalar kengayadi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Bemorga tegadigan foyda ortadi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Xavf (tavakkal) darajasi ortadi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 yetkazma” murakkablashadi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Foyda va xavf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shifokor va genetik axborot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o‘zining, farzandlari yoki avlodining bo‘lajak irsiy belgilarini bilishga kim huquqli? Manba buni hal etilishi kerak bo‘lgan axloqiy savol deb qo‘yadi.</a:t>
            </a:r>
          </a:p>
          <a:p>
            <a:pPr>
              <a:spcAft>
                <a:spcPts val="1200"/>
              </a:spcAft>
            </a:pPr>
            <a:r>
              <a:rPr sz="2200">
                <a:solidFill>
                  <a:srgbClr val="1F2937"/>
                </a:solidFill>
                <a:latin typeface="Calibri"/>
              </a:rPr>
              <a:t>▸  Savol 2: “Zarar yetkazma” tamoyili nega murakkablashdi? Javob: tibbiy aralashuv doirasi kengayib, foyda bilan birga tavakkal ham oshdi.</a:t>
            </a:r>
          </a:p>
          <a:p>
            <a:pPr>
              <a:spcAft>
                <a:spcPts val="1200"/>
              </a:spcAft>
            </a:pPr>
            <a:r>
              <a:rPr sz="2200">
                <a:solidFill>
                  <a:srgbClr val="1F2937"/>
                </a:solidFill>
                <a:latin typeface="Calibri"/>
              </a:rPr>
              <a:t>▸  Diqqat: xato qilish xavfi. Genom buzilishini aniqlash ≠ kasallik alomatlari mavjudligi; alomat hali bo‘lmasligi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162, 175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alomatsiz Gentington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odamda kasallik belgisi yo‘q, ammo genetik test Gentington xoreyasi xavfini ko‘rsatdi. Natijani kimga aytish kerak?</a:t>
            </a:r>
          </a:p>
          <a:p>
            <a:pPr>
              <a:spcAft>
                <a:spcPts val="1200"/>
              </a:spcAft>
            </a:pPr>
            <a:r>
              <a:rPr sz="2200">
                <a:solidFill>
                  <a:srgbClr val="1F2937"/>
                </a:solidFill>
                <a:latin typeface="Calibri"/>
              </a:rPr>
              <a:t>▸  Zamonaviy biotexnologiya genom buzilishini alomatlar hali yo‘q bosqichda ham aniqlaydi. Misol: Alsgeymer kasalligi va Gentington xoreyasi.</a:t>
            </a:r>
          </a:p>
          <a:p>
            <a:pPr>
              <a:spcAft>
                <a:spcPts val="1200"/>
              </a:spcAft>
            </a:pPr>
            <a:r>
              <a:rPr sz="2200">
                <a:solidFill>
                  <a:srgbClr val="1F2937"/>
                </a:solidFill>
                <a:latin typeface="Calibri"/>
              </a:rPr>
              <a:t>▸  Birinchi muammo: o‘zining, farzandlarining, avlodlarining va bemorlarining kelajakdagi irsiy belgilarini bilishga kim haqli, kim haqli emas?</a:t>
            </a:r>
          </a:p>
          <a:p>
            <a:pPr>
              <a:spcAft>
                <a:spcPts val="1200"/>
              </a:spcAft>
            </a:pPr>
            <a:r>
              <a:rPr sz="2200">
                <a:solidFill>
                  <a:srgbClr val="1F2937"/>
                </a:solidFill>
                <a:latin typeface="Calibri"/>
              </a:rPr>
              <a:t>▸  Ikkinchi muammo: muayyan patologik genotipdan klinik foydalanishga yo‘l qo‘ymaslik va uni izchil o‘zgartirish masalalari.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Biotexnologiya va biohavfsizlik muammolari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Biotibbiyot va biotexnologiyaning tez rivoji axloqiy jihatdan o‘ta murakkab masalalarni kun tartibiga qo‘ydi.</a:t>
            </a:r>
          </a:p>
          <a:p>
            <a:pPr>
              <a:spcAft>
                <a:spcPts val="1200"/>
              </a:spcAft>
            </a:pPr>
            <a:r>
              <a:rPr sz="2200">
                <a:solidFill>
                  <a:srgbClr val="1F2937"/>
                </a:solidFill>
                <a:latin typeface="Calibri"/>
              </a:rPr>
              <a:t>▸  Ular qatoriga inson hujayra va to‘qimalarini klonlash, irsiy testlash, ildiz hujayralardan foydalanish va irsiy injeneriya kiradi.</a:t>
            </a:r>
          </a:p>
          <a:p>
            <a:pPr>
              <a:spcAft>
                <a:spcPts val="1200"/>
              </a:spcAft>
            </a:pPr>
            <a:r>
              <a:rPr sz="2200">
                <a:solidFill>
                  <a:srgbClr val="1F2937"/>
                </a:solidFill>
                <a:latin typeface="Calibri"/>
              </a:rPr>
              <a:t>▸  Inson a’zo va to‘qimalarini transplantatsiya qilish ham shu qatorda. Bunday aralashuv oqibatini oldindan ko‘rish juda qiyin.</a:t>
            </a:r>
          </a:p>
          <a:p>
            <a:pPr>
              <a:spcAft>
                <a:spcPts val="1200"/>
              </a:spcAft>
            </a:pPr>
            <a:r>
              <a:rPr sz="2200">
                <a:solidFill>
                  <a:srgbClr val="1F2937"/>
                </a:solidFill>
                <a:latin typeface="Calibri"/>
              </a:rPr>
              <a:t>▸  Tibbiy texnologiyalar kengayib, bemorga foyda ortdi, ammo tavakkal darajasi ham oshdi. Bu Gippokratning “Zarar yetkazma” prinsipini murakkablashtirdi.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Ildiz hujayra: xavf noaniqligi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Ildiz hujayralar har narsaga aylanishi mumkin, shuning uchun aralashuv oqibatini oldindan aytish qiyin.</a:t>
            </a:r>
          </a:p>
          <a:p>
            <a:pPr>
              <a:spcAft>
                <a:spcPts val="800"/>
              </a:spcAft>
            </a:pPr>
            <a:r>
              <a:rPr sz="1800">
                <a:solidFill>
                  <a:srgbClr val="1F2937"/>
                </a:solidFill>
                <a:latin typeface="Calibri"/>
              </a:rPr>
              <a:t>▸  Klinik tadqiqotlarning o‘zi bunday aralashuv xavfsizligini kafolatlash uchun yetarli emas.</a:t>
            </a:r>
          </a:p>
          <a:p>
            <a:pPr>
              <a:spcAft>
                <a:spcPts val="800"/>
              </a:spcAft>
            </a:pPr>
            <a:r>
              <a:rPr sz="1800">
                <a:solidFill>
                  <a:srgbClr val="1F2937"/>
                </a:solidFill>
                <a:latin typeface="Calibri"/>
              </a:rPr>
              <a:t>▸  Jigar va miya funksiyasini tiklashda foydali bo‘lishi mumkin; bo‘g‘im tog‘ayida tajriba katta.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Ildiz hujayra kiritiladi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Har xil to‘qimaga aylanishi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 geni o‘tishi haqida fikr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Nazariy xavf: saraton (taxmin)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Uzoq oqibat o‘rganilmagan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Xavf noaniqligi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Ildiz hujayra bilan davolash istiqbollari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Ildiz hujayra jigar va bosh miyaning shikastlangan vazifalarini tiklashda foydali bo‘lishi mumkin.</a:t>
            </a:r>
          </a:p>
          <a:p>
            <a:pPr>
              <a:spcAft>
                <a:spcPts val="800"/>
              </a:spcAft>
            </a:pPr>
            <a:r>
              <a:rPr sz="1800">
                <a:solidFill>
                  <a:srgbClr val="1F2937"/>
                </a:solidFill>
                <a:latin typeface="Calibri"/>
              </a:rPr>
              <a:t>▸  G‘oya: tug‘ilganda kindik hujayralaridan bank yaratib, 40–50 yildan so‘ng organni o‘stirish.</a:t>
            </a:r>
          </a:p>
          <a:p>
            <a:pPr>
              <a:spcAft>
                <a:spcPts val="800"/>
              </a:spcAft>
            </a:pPr>
            <a:r>
              <a:rPr sz="1800">
                <a:solidFill>
                  <a:srgbClr val="1F2937"/>
                </a:solidFill>
                <a:latin typeface="Calibri"/>
              </a:rPr>
              <a:t>▸  Uzoq oqibatlar yetarli o‘rganilmagan; klinik tadqiqotlarning o‘zi xavfsizlikka kafolat bermaydi.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069207"/>
                <a:gridCol w="2299119"/>
              </a:tblGrid>
              <a:tr h="411480">
                <a:tc>
                  <a:txBody>
                    <a:bodyPr/>
                    <a:lstStyle/>
                    <a:p>
                      <a:r>
                        <a:rPr sz="1300" b="1">
                          <a:solidFill>
                            <a:srgbClr val="FFFFFF"/>
                          </a:solidFill>
                        </a:rPr>
                        <a:t>Yo‘nalish</a:t>
                      </a:r>
                    </a:p>
                  </a:txBody>
                  <a:tcPr marL="73152" marR="73152" marT="36576" marB="36576">
                    <a:solidFill>
                      <a:srgbClr val="0B1F3A"/>
                    </a:solidFill>
                  </a:tcPr>
                </a:tc>
                <a:tc>
                  <a:txBody>
                    <a:bodyPr/>
                    <a:lstStyle/>
                    <a:p>
                      <a:r>
                        <a:rPr sz="1300" b="1">
                          <a:solidFill>
                            <a:srgbClr val="FFFFFF"/>
                          </a:solidFill>
                        </a:rPr>
                        <a:t>Imkoniyat</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Jigar, bosh miya</a:t>
                      </a:r>
                    </a:p>
                  </a:txBody>
                  <a:tcPr marL="73152" marR="73152" marT="36576" marB="36576">
                    <a:solidFill>
                      <a:srgbClr val="E8EEF6"/>
                    </a:solidFill>
                  </a:tcPr>
                </a:tc>
                <a:tc>
                  <a:txBody>
                    <a:bodyPr/>
                    <a:lstStyle/>
                    <a:p>
                      <a:r>
                        <a:rPr sz="1200" b="0">
                          <a:solidFill>
                            <a:srgbClr val="1F2937"/>
                          </a:solidFill>
                        </a:rPr>
                        <a:t>Shikastlangan vazifani tiklash</a:t>
                      </a:r>
                    </a:p>
                  </a:txBody>
                  <a:tcPr marL="73152" marR="73152" marT="36576" marB="36576">
                    <a:solidFill>
                      <a:srgbClr val="E8EEF6"/>
                    </a:solidFill>
                  </a:tcPr>
                </a:tc>
                <a:tc>
                  <a:txBody>
                    <a:bodyPr/>
                    <a:lstStyle/>
                    <a:p>
                      <a:r>
                        <a:rPr sz="1200" b="0">
                          <a:solidFill>
                            <a:srgbClr val="1F2937"/>
                          </a:solidFill>
                        </a:rPr>
                        <a:t>Uzoq oqibatlar o‘rganilmagan</a:t>
                      </a:r>
                    </a:p>
                  </a:txBody>
                  <a:tcPr marL="73152" marR="73152" marT="36576" marB="36576">
                    <a:solidFill>
                      <a:srgbClr val="E8EEF6"/>
                    </a:solidFill>
                  </a:tcPr>
                </a:tc>
              </a:tr>
              <a:tr h="411480">
                <a:tc>
                  <a:txBody>
                    <a:bodyPr/>
                    <a:lstStyle/>
                    <a:p>
                      <a:r>
                        <a:rPr sz="1200" b="0">
                          <a:solidFill>
                            <a:srgbClr val="1F2937"/>
                          </a:solidFill>
                        </a:rPr>
                        <a:t>Bo‘g‘im tog‘ayi</a:t>
                      </a:r>
                    </a:p>
                  </a:txBody>
                  <a:tcPr marL="73152" marR="73152" marT="36576" marB="36576">
                    <a:solidFill>
                      <a:srgbClr val="FFFFFF"/>
                    </a:solidFill>
                  </a:tcPr>
                </a:tc>
                <a:tc>
                  <a:txBody>
                    <a:bodyPr/>
                    <a:lstStyle/>
                    <a:p>
                      <a:r>
                        <a:rPr sz="1200" b="0">
                          <a:solidFill>
                            <a:srgbClr val="1F2937"/>
                          </a:solidFill>
                        </a:rPr>
                        <a:t>Mexanik shikastda katta tajriba</a:t>
                      </a:r>
                    </a:p>
                  </a:txBody>
                  <a:tcPr marL="73152" marR="73152" marT="36576" marB="36576">
                    <a:solidFill>
                      <a:srgbClr val="FFFFFF"/>
                    </a:solidFill>
                  </a:tcPr>
                </a:tc>
                <a:tc>
                  <a:txBody>
                    <a:bodyPr/>
                    <a:lstStyle/>
                    <a:p>
                      <a:r>
                        <a:rPr sz="1200" b="0">
                          <a:solidFill>
                            <a:srgbClr val="1F2937"/>
                          </a:solidFill>
                        </a:rPr>
                        <a:t>Ko‘p jihatlari hali yaxshi o‘rganilmagan</a:t>
                      </a:r>
                    </a:p>
                  </a:txBody>
                  <a:tcPr marL="73152" marR="73152" marT="36576" marB="36576">
                    <a:solidFill>
                      <a:srgbClr val="FFFFFF"/>
                    </a:solidFill>
                  </a:tcPr>
                </a:tc>
              </a:tr>
              <a:tr h="411480">
                <a:tc>
                  <a:txBody>
                    <a:bodyPr/>
                    <a:lstStyle/>
                    <a:p>
                      <a:r>
                        <a:rPr sz="1200" b="0">
                          <a:solidFill>
                            <a:srgbClr val="1F2937"/>
                          </a:solidFill>
                        </a:rPr>
                        <a:t>Hujayra banki</a:t>
                      </a:r>
                    </a:p>
                  </a:txBody>
                  <a:tcPr marL="73152" marR="73152" marT="36576" marB="36576">
                    <a:solidFill>
                      <a:srgbClr val="E8EEF6"/>
                    </a:solidFill>
                  </a:tcPr>
                </a:tc>
                <a:tc>
                  <a:txBody>
                    <a:bodyPr/>
                    <a:lstStyle/>
                    <a:p>
                      <a:r>
                        <a:rPr sz="1200" b="0">
                          <a:solidFill>
                            <a:srgbClr val="1F2937"/>
                          </a:solidFill>
                        </a:rPr>
                        <a:t>Organni sun’iy o‘stirib almashtirish</a:t>
                      </a:r>
                    </a:p>
                  </a:txBody>
                  <a:tcPr marL="73152" marR="73152" marT="36576" marB="36576">
                    <a:solidFill>
                      <a:srgbClr val="E8EEF6"/>
                    </a:solidFill>
                  </a:tcPr>
                </a:tc>
                <a:tc>
                  <a:txBody>
                    <a:bodyPr/>
                    <a:lstStyle/>
                    <a:p>
                      <a:r>
                        <a:rPr sz="1200" b="0">
                          <a:solidFill>
                            <a:srgbClr val="1F2937"/>
                          </a:solidFill>
                        </a:rPr>
                        <a:t>Professor Tarantul fikriga asoslangan</a:t>
                      </a:r>
                    </a:p>
                  </a:txBody>
                  <a:tcPr marL="73152" marR="73152" marT="36576" marB="36576">
                    <a:solidFill>
                      <a:srgbClr val="E8EEF6"/>
                    </a:solidFill>
                  </a:tcPr>
                </a:tc>
              </a:tr>
              <a:tr h="411480">
                <a:tc>
                  <a:txBody>
                    <a:bodyPr/>
                    <a:lstStyle/>
                    <a:p>
                      <a:r>
                        <a:rPr sz="1200" b="0">
                          <a:solidFill>
                            <a:srgbClr val="1F2937"/>
                          </a:solidFill>
                        </a:rPr>
                        <a:t>Uzoq xavf</a:t>
                      </a:r>
                    </a:p>
                  </a:txBody>
                  <a:tcPr marL="73152" marR="73152" marT="36576" marB="36576">
                    <a:solidFill>
                      <a:srgbClr val="FFFFFF"/>
                    </a:solidFill>
                  </a:tcPr>
                </a:tc>
                <a:tc>
                  <a:txBody>
                    <a:bodyPr/>
                    <a:lstStyle/>
                    <a:p>
                      <a:r>
                        <a:rPr sz="1200" b="0">
                          <a:solidFill>
                            <a:srgbClr val="1F2937"/>
                          </a:solidFill>
                        </a:rPr>
                        <a:t>—</a:t>
                      </a:r>
                    </a:p>
                  </a:txBody>
                  <a:tcPr marL="73152" marR="73152" marT="36576" marB="36576">
                    <a:solidFill>
                      <a:srgbClr val="FFFFFF"/>
                    </a:solidFill>
                  </a:tcPr>
                </a:tc>
                <a:tc>
                  <a:txBody>
                    <a:bodyPr/>
                    <a:lstStyle/>
                    <a:p>
                      <a:r>
                        <a:rPr sz="1200" b="0">
                          <a:solidFill>
                            <a:srgbClr val="1F2937"/>
                          </a:solidFill>
                        </a:rPr>
                        <a:t>Yillar o‘tib saraton: faqat nazariy faraz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Imkoniyat va cheklov</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175, 178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Embrional ildiz hujayra: kurashli bahslar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Embrional ildiz hujayralar ustidagi tadqiqotlar bugun keskin bahslarga sabab bo‘lmoqda.</a:t>
            </a:r>
          </a:p>
          <a:p>
            <a:pPr>
              <a:spcAft>
                <a:spcPts val="1200"/>
              </a:spcAft>
            </a:pPr>
            <a:r>
              <a:rPr sz="2200">
                <a:solidFill>
                  <a:srgbClr val="1F2937"/>
                </a:solidFill>
                <a:latin typeface="Calibri"/>
              </a:rPr>
              <a:t>▸  Umid: Parkinson, Alsgeymer, tarqoq skleroz kabi hozircha davosiz kasalliklarni davolash va ko‘chirib o‘tkazish uchun organ, to‘qima yaratish. (?)</a:t>
            </a:r>
          </a:p>
          <a:p>
            <a:pPr>
              <a:spcAft>
                <a:spcPts val="1200"/>
              </a:spcAft>
            </a:pPr>
            <a:r>
              <a:rPr sz="2200">
                <a:solidFill>
                  <a:srgbClr val="1F2937"/>
                </a:solidFill>
                <a:latin typeface="Calibri"/>
              </a:rPr>
              <a:t>▸  Ildiz hujayralar asosan embriondan olinadi. Savol: tadqiqot uchun sun’iy embrion yaratish mumkinmi va zarurmi?</a:t>
            </a:r>
          </a:p>
          <a:p>
            <a:pPr>
              <a:spcAft>
                <a:spcPts val="1200"/>
              </a:spcAft>
            </a:pPr>
            <a:r>
              <a:rPr sz="2200">
                <a:solidFill>
                  <a:srgbClr val="1F2937"/>
                </a:solidFill>
                <a:latin typeface="Calibri"/>
              </a:rPr>
              <a:t>▸  Faqat farzand ko‘rishga mo‘ljallanmagan embrionlar ishlatilsa, natijani qanday aniqlash va ota-ona donorlar huquqini qanday ta’minlash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UNESKO: embrion hujayralariga uch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UNESKO (ta’lim, fan, madaniyat tashkiloti) qo‘mitasi uch yondashuvni qayd etgan.</a:t>
            </a:r>
          </a:p>
          <a:p>
            <a:pPr>
              <a:spcAft>
                <a:spcPts val="800"/>
              </a:spcAft>
            </a:pPr>
            <a:r>
              <a:rPr sz="1800">
                <a:solidFill>
                  <a:srgbClr val="1F2937"/>
                </a:solidFill>
                <a:latin typeface="Calibri"/>
              </a:rPr>
              <a:t>▸  Hujjatga ko‘ra, embrion hujayrasi tadqiqotining axloqiy asosi ko‘p jihatdan embrion maqomiga bog‘liq.</a:t>
            </a:r>
          </a:p>
          <a:p>
            <a:pPr>
              <a:spcAft>
                <a:spcPts val="800"/>
              </a:spcAft>
            </a:pPr>
            <a:r>
              <a:rPr sz="1800">
                <a:solidFill>
                  <a:srgbClr val="1F2937"/>
                </a:solidFill>
                <a:latin typeface="Calibri"/>
              </a:rPr>
              <a:t>▸  Ikkinchi pozitsiya faqat tibbiy maqsad va qat’iy shartlar bajarilgandagina ruxsat beradi.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19368"/>
                <a:gridCol w="2548421"/>
                <a:gridCol w="1720184"/>
              </a:tblGrid>
              <a:tr h="411480">
                <a:tc>
                  <a:txBody>
                    <a:bodyPr/>
                    <a:lstStyle/>
                    <a:p>
                      <a:r>
                        <a:rPr sz="1300" b="1">
                          <a:solidFill>
                            <a:srgbClr val="FFFFFF"/>
                          </a:solidFill>
                        </a:rPr>
                        <a:t>Pozitsiya</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Xulosa</a:t>
                      </a:r>
                    </a:p>
                  </a:txBody>
                  <a:tcPr marL="73152" marR="73152" marT="36576" marB="36576">
                    <a:solidFill>
                      <a:srgbClr val="0B1F3A"/>
                    </a:solidFill>
                  </a:tcPr>
                </a:tc>
              </a:tr>
              <a:tr h="411480">
                <a:tc>
                  <a:txBody>
                    <a:bodyPr/>
                    <a:lstStyle/>
                    <a:p>
                      <a:r>
                        <a:rPr sz="1200" b="0">
                          <a:solidFill>
                            <a:srgbClr val="1F2937"/>
                          </a:solidFill>
                        </a:rPr>
                        <a:t>1-yondashuv</a:t>
                      </a:r>
                    </a:p>
                  </a:txBody>
                  <a:tcPr marL="73152" marR="73152" marT="36576" marB="36576">
                    <a:solidFill>
                      <a:srgbClr val="E8EEF6"/>
                    </a:solidFill>
                  </a:tcPr>
                </a:tc>
                <a:tc>
                  <a:txBody>
                    <a:bodyPr/>
                    <a:lstStyle/>
                    <a:p>
                      <a:r>
                        <a:rPr sz="1200" b="0">
                          <a:solidFill>
                            <a:srgbClr val="1F2937"/>
                          </a:solidFill>
                        </a:rPr>
                        <a:t>Embriondan foydalanish mutlaqo axloqqa zid</a:t>
                      </a:r>
                    </a:p>
                  </a:txBody>
                  <a:tcPr marL="73152" marR="73152" marT="36576" marB="36576">
                    <a:solidFill>
                      <a:srgbClr val="E8EEF6"/>
                    </a:solidFill>
                  </a:tcPr>
                </a:tc>
                <a:tc>
                  <a:txBody>
                    <a:bodyPr/>
                    <a:lstStyle/>
                    <a:p>
                      <a:r>
                        <a:rPr sz="1200" b="0">
                          <a:solidFill>
                            <a:srgbClr val="1F2937"/>
                          </a:solidFill>
                        </a:rPr>
                        <a:t>Butunlay rad etiladi</a:t>
                      </a:r>
                    </a:p>
                  </a:txBody>
                  <a:tcPr marL="73152" marR="73152" marT="36576" marB="36576">
                    <a:solidFill>
                      <a:srgbClr val="E8EEF6"/>
                    </a:solidFill>
                  </a:tcPr>
                </a:tc>
              </a:tr>
              <a:tr h="411480">
                <a:tc>
                  <a:txBody>
                    <a:bodyPr/>
                    <a:lstStyle/>
                    <a:p>
                      <a:r>
                        <a:rPr sz="1200" b="0">
                          <a:solidFill>
                            <a:srgbClr val="1F2937"/>
                          </a:solidFill>
                        </a:rPr>
                        <a:t>2-yondashuv</a:t>
                      </a:r>
                    </a:p>
                  </a:txBody>
                  <a:tcPr marL="73152" marR="73152" marT="36576" marB="36576">
                    <a:solidFill>
                      <a:srgbClr val="FFFFFF"/>
                    </a:solidFill>
                  </a:tcPr>
                </a:tc>
                <a:tc>
                  <a:txBody>
                    <a:bodyPr/>
                    <a:lstStyle/>
                    <a:p>
                      <a:r>
                        <a:rPr sz="1200" b="0">
                          <a:solidFill>
                            <a:srgbClr val="1F2937"/>
                          </a:solidFill>
                        </a:rPr>
                        <a:t>Faqat tibbiy maqsad, qat’iy shartlar</a:t>
                      </a:r>
                    </a:p>
                  </a:txBody>
                  <a:tcPr marL="73152" marR="73152" marT="36576" marB="36576">
                    <a:solidFill>
                      <a:srgbClr val="FFFFFF"/>
                    </a:solidFill>
                  </a:tcPr>
                </a:tc>
                <a:tc>
                  <a:txBody>
                    <a:bodyPr/>
                    <a:lstStyle/>
                    <a:p>
                      <a:r>
                        <a:rPr sz="1200" b="0">
                          <a:solidFill>
                            <a:srgbClr val="1F2937"/>
                          </a:solidFill>
                        </a:rPr>
                        <a:t>Shartli maqbul</a:t>
                      </a:r>
                    </a:p>
                  </a:txBody>
                  <a:tcPr marL="73152" marR="73152" marT="36576" marB="36576">
                    <a:solidFill>
                      <a:srgbClr val="FFFFFF"/>
                    </a:solidFill>
                  </a:tcPr>
                </a:tc>
              </a:tr>
              <a:tr h="411480">
                <a:tc>
                  <a:txBody>
                    <a:bodyPr/>
                    <a:lstStyle/>
                    <a:p>
                      <a:r>
                        <a:rPr sz="1200" b="0">
                          <a:solidFill>
                            <a:srgbClr val="1F2937"/>
                          </a:solidFill>
                        </a:rPr>
                        <a:t>3-yondashuv</a:t>
                      </a:r>
                    </a:p>
                  </a:txBody>
                  <a:tcPr marL="73152" marR="73152" marT="36576" marB="36576">
                    <a:solidFill>
                      <a:srgbClr val="E8EEF6"/>
                    </a:solidFill>
                  </a:tcPr>
                </a:tc>
                <a:tc>
                  <a:txBody>
                    <a:bodyPr/>
                    <a:lstStyle/>
                    <a:p>
                      <a:r>
                        <a:rPr sz="1200" b="0">
                          <a:solidFill>
                            <a:srgbClr val="1F2937"/>
                          </a:solidFill>
                        </a:rPr>
                        <a:t>Xavf va axloqiy oqibatlar sababli</a:t>
                      </a:r>
                    </a:p>
                  </a:txBody>
                  <a:tcPr marL="73152" marR="73152" marT="36576" marB="36576">
                    <a:solidFill>
                      <a:srgbClr val="E8EEF6"/>
                    </a:solidFill>
                  </a:tcPr>
                </a:tc>
                <a:tc>
                  <a:txBody>
                    <a:bodyPr/>
                    <a:lstStyle/>
                    <a:p>
                      <a:r>
                        <a:rPr sz="1200" b="0">
                          <a:solidFill>
                            <a:srgbClr val="1F2937"/>
                          </a:solidFill>
                        </a:rPr>
                        <a:t>Tadqiqot taqiqlanishi lozim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pozitsiya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embrional ildiz hujayra tadqiqoti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laboratoriya ota-onaning bola ko‘rishiga mo‘ljallanmagan embrionlardan ildiz hujayra olishni taklif qiladi.</a:t>
            </a:r>
          </a:p>
          <a:p>
            <a:pPr>
              <a:spcAft>
                <a:spcPts val="1200"/>
              </a:spcAft>
            </a:pPr>
            <a:r>
              <a:rPr sz="2200">
                <a:solidFill>
                  <a:srgbClr val="1F2937"/>
                </a:solidFill>
                <a:latin typeface="Calibri"/>
              </a:rPr>
              <a:t>▸  YUNESKO Bioetika xalqaro qo‘mitasi hujjatida uch yondashuv bor: mutlaqo axloqqa zid; faqat qat’iy shartlarda o‘rinli; xavf sababli taqiqlash lozim.</a:t>
            </a:r>
          </a:p>
          <a:p>
            <a:pPr>
              <a:spcAft>
                <a:spcPts val="1200"/>
              </a:spcAft>
            </a:pPr>
            <a:r>
              <a:rPr sz="2200">
                <a:solidFill>
                  <a:srgbClr val="1F2937"/>
                </a:solidFill>
                <a:latin typeface="Calibri"/>
              </a:rPr>
              <a:t>▸  Ochiq savol: bunday tadqiqot natijasini qanday aniqlash va ota-ona donorlar huquqini qanday ta’minlash mumkin?</a:t>
            </a:r>
          </a:p>
          <a:p>
            <a:pPr>
              <a:spcAft>
                <a:spcPts val="1200"/>
              </a:spcAft>
            </a:pPr>
            <a:r>
              <a:rPr sz="2200">
                <a:solidFill>
                  <a:srgbClr val="1F2937"/>
                </a:solidFill>
                <a:latin typeface="Calibri"/>
              </a:rPr>
              <a:t>▸  Embrionlardan sun’iy o‘stirilgan ildiz hujayra texnologiyasiga kitobda e‘tiroz bildirilmaydi. Buyuk Britaniyada u tibbiy maqsadda ruxsat etilgan.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176, 179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Genetik ma’lumot egasi va patentlash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irsiy axborot egasi kim? Materialini bergan odammi, tavsiflagan olimmi, qo‘llagan tadqiqotchimi yoki mablag‘ bergan firmami?</a:t>
            </a:r>
          </a:p>
          <a:p>
            <a:pPr>
              <a:spcAft>
                <a:spcPts val="1200"/>
              </a:spcAft>
            </a:pPr>
            <a:r>
              <a:rPr sz="2200">
                <a:solidFill>
                  <a:srgbClr val="1F2937"/>
                </a:solidFill>
                <a:latin typeface="Calibri"/>
              </a:rPr>
              <a:t>▸  Mohiyatan faqat foyda beradigan yoki sanoatda qo‘llanadigan haqiqiy kashfiyotni patentlash mumkin.</a:t>
            </a:r>
          </a:p>
          <a:p>
            <a:pPr>
              <a:spcAft>
                <a:spcPts val="1200"/>
              </a:spcAft>
            </a:pPr>
            <a:r>
              <a:rPr sz="2200">
                <a:solidFill>
                  <a:srgbClr val="1F2937"/>
                </a:solidFill>
                <a:latin typeface="Calibri"/>
              </a:rPr>
              <a:t>▸  YUNESKO deklaratsiyasining 4-moddasi: genom tabiiy holatda daromad manbai bo‘lmaydi, tavsiflangan genom qismi patentlanib tijoratga aylantirilmaydi.</a:t>
            </a:r>
          </a:p>
          <a:p>
            <a:pPr>
              <a:spcAft>
                <a:spcPts val="1200"/>
              </a:spcAft>
            </a:pPr>
            <a:r>
              <a:rPr sz="2200">
                <a:solidFill>
                  <a:srgbClr val="1F2937"/>
                </a:solidFill>
                <a:latin typeface="Calibri"/>
              </a:rPr>
              <a:t>▸  Genetik ma’lumotlarni to‘plash, qayta ishlash, saqlash va undan foydalanish ham axloqiy savollar tug‘diradi.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176, 161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Ma’lumot to‘plash, biopiratlik va adolat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Xabardor rozilik tub xalqlar uchun ma’noga egami? Ular zarur axborotni qaysi tilda oladi?</a:t>
            </a:r>
          </a:p>
          <a:p>
            <a:pPr>
              <a:spcAft>
                <a:spcPts val="800"/>
              </a:spcAft>
            </a:pPr>
            <a:r>
              <a:rPr sz="1800">
                <a:solidFill>
                  <a:srgbClr val="1F2937"/>
                </a:solidFill>
                <a:latin typeface="Calibri"/>
              </a:rPr>
              <a:t>▸  Donor jamoa daromaddan ulush olmasa, bu “biologik qaroqchilik” bo‘lmaydimi — deb savol qo‘yiladi.</a:t>
            </a:r>
          </a:p>
          <a:p>
            <a:pPr>
              <a:spcAft>
                <a:spcPts val="800"/>
              </a:spcAft>
            </a:pPr>
            <a:r>
              <a:rPr sz="1800">
                <a:solidFill>
                  <a:srgbClr val="1F2937"/>
                </a:solidFill>
                <a:latin typeface="Calibri"/>
              </a:rPr>
              <a:t>▸  Bioetika xalqaro qo‘mitasi genom ma’lumotidan olinadigan daromad uchun maxsus xalqaro mexanizm taklif qildi.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Jamoa genetik materiali olinadi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natija beradi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Natija patentlanadi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 jamoa daromaddan ulushsiz</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Biologik qaroqchilik?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Biopiratlik savoli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 jarayoni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Avval tuxum hujayradan mikroxirurgiya bilan yadro olib tashlanadi (enukleatsiya).</a:t>
            </a:r>
          </a:p>
          <a:p>
            <a:pPr>
              <a:spcAft>
                <a:spcPts val="800"/>
              </a:spcAft>
            </a:pPr>
            <a:r>
              <a:rPr sz="1800">
                <a:solidFill>
                  <a:srgbClr val="1F2937"/>
                </a:solidFill>
                <a:latin typeface="Calibri"/>
              </a:rPr>
              <a:t>▸  Yadro kiritilgach, elektr razryad yoki kimyoviy ta’sir bilan hujayra bo‘linishni boshlaydi.</a:t>
            </a:r>
          </a:p>
          <a:p>
            <a:pPr>
              <a:spcAft>
                <a:spcPts val="800"/>
              </a:spcAft>
            </a:pPr>
            <a:r>
              <a:rPr sz="1800">
                <a:solidFill>
                  <a:srgbClr val="1F2937"/>
                </a:solidFill>
                <a:latin typeface="Calibri"/>
              </a:rPr>
              <a:t>▸  Surrogat ona donorning genetik egizak nusxasini dunyoga keltiradi.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Somatik hujayradan yadro olinadi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Tuxum yadrosi olib tashlanadi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Yadro tuxum hujayraga kiritiladi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Bo‘linish va embrion hosil bo‘lishi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Surrogat onaga implantatsiya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Klonlash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178, 179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 tarafdorlar va qarshilar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Klon donorning genetik egizagi; u asl nusxadan bir necha o‘n yilga yosh bo‘ladi.</a:t>
            </a:r>
          </a:p>
          <a:p>
            <a:pPr>
              <a:spcAft>
                <a:spcPts val="800"/>
              </a:spcAft>
            </a:pPr>
            <a:r>
              <a:rPr sz="1800">
                <a:solidFill>
                  <a:srgbClr val="1F2937"/>
                </a:solidFill>
                <a:latin typeface="Calibri"/>
              </a:rPr>
              <a:t>▸  Qarshilar fikricha, genetik farq kamayib, jamiyat epidemiyalar oldida zaiflashadi.</a:t>
            </a:r>
          </a:p>
          <a:p>
            <a:pPr>
              <a:spcAft>
                <a:spcPts val="800"/>
              </a:spcAft>
            </a:pPr>
            <a:r>
              <a:rPr sz="1800">
                <a:solidFill>
                  <a:srgbClr val="1F2937"/>
                </a:solidFill>
                <a:latin typeface="Calibri"/>
              </a:rPr>
              <a:t>▸  Diqqat: klon genetik nusxa, lekin barmoq izi boshqa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00080"/>
                <a:gridCol w="2250202"/>
                <a:gridCol w="2137692"/>
              </a:tblGrid>
              <a:tr h="411480">
                <a:tc>
                  <a:txBody>
                    <a:bodyPr/>
                    <a:lstStyle/>
                    <a:p>
                      <a:r>
                        <a:rPr sz="1300" b="1">
                          <a:solidFill>
                            <a:srgbClr val="FFFFFF"/>
                          </a:solidFill>
                        </a:rPr>
                        <a:t>Soha</a:t>
                      </a:r>
                    </a:p>
                  </a:txBody>
                  <a:tcPr marL="73152" marR="73152" marT="36576" marB="36576">
                    <a:solidFill>
                      <a:srgbClr val="0B1F3A"/>
                    </a:solidFill>
                  </a:tcPr>
                </a:tc>
                <a:tc>
                  <a:txBody>
                    <a:bodyPr/>
                    <a:lstStyle/>
                    <a:p>
                      <a:r>
                        <a:rPr sz="1300" b="1">
                          <a:solidFill>
                            <a:srgbClr val="FFFFFF"/>
                          </a:solidFill>
                        </a:rPr>
                        <a:t>Tarafdorlar</a:t>
                      </a:r>
                    </a:p>
                  </a:txBody>
                  <a:tcPr marL="73152" marR="73152" marT="36576" marB="36576">
                    <a:solidFill>
                      <a:srgbClr val="0B1F3A"/>
                    </a:solidFill>
                  </a:tcPr>
                </a:tc>
                <a:tc>
                  <a:txBody>
                    <a:bodyPr/>
                    <a:lstStyle/>
                    <a:p>
                      <a:r>
                        <a:rPr sz="1300" b="1">
                          <a:solidFill>
                            <a:srgbClr val="FFFFFF"/>
                          </a:solidFill>
                        </a:rPr>
                        <a:t>Qarshilar</a:t>
                      </a:r>
                    </a:p>
                  </a:txBody>
                  <a:tcPr marL="73152" marR="73152" marT="36576" marB="36576">
                    <a:solidFill>
                      <a:srgbClr val="0B1F3A"/>
                    </a:solidFill>
                  </a:tcPr>
                </a:tc>
              </a:tr>
              <a:tr h="411480">
                <a:tc>
                  <a:txBody>
                    <a:bodyPr/>
                    <a:lstStyle/>
                    <a:p>
                      <a:r>
                        <a:rPr sz="1200" b="0">
                          <a:solidFill>
                            <a:srgbClr val="1F2937"/>
                          </a:solidFill>
                        </a:rPr>
                        <a:t>Tibbiyot</a:t>
                      </a:r>
                    </a:p>
                  </a:txBody>
                  <a:tcPr marL="73152" marR="73152" marT="36576" marB="36576">
                    <a:solidFill>
                      <a:srgbClr val="E8EEF6"/>
                    </a:solidFill>
                  </a:tcPr>
                </a:tc>
                <a:tc>
                  <a:txBody>
                    <a:bodyPr/>
                    <a:lstStyle/>
                    <a:p>
                      <a:r>
                        <a:rPr sz="1200" b="0">
                          <a:solidFill>
                            <a:srgbClr val="1F2937"/>
                          </a:solidFill>
                        </a:rPr>
                        <a:t>Transplantatsiya uchun sog‘lom organ</a:t>
                      </a:r>
                    </a:p>
                  </a:txBody>
                  <a:tcPr marL="73152" marR="73152" marT="36576" marB="36576">
                    <a:solidFill>
                      <a:srgbClr val="E8EEF6"/>
                    </a:solidFill>
                  </a:tcPr>
                </a:tc>
                <a:tc>
                  <a:txBody>
                    <a:bodyPr/>
                    <a:lstStyle/>
                    <a:p>
                      <a:r>
                        <a:rPr sz="1200" b="0">
                          <a:solidFill>
                            <a:srgbClr val="1F2937"/>
                          </a:solidFill>
                        </a:rPr>
                        <a:t>Klonlarda tug‘ma nuqson xavfi yuqori</a:t>
                      </a:r>
                    </a:p>
                  </a:txBody>
                  <a:tcPr marL="73152" marR="73152" marT="36576" marB="36576">
                    <a:solidFill>
                      <a:srgbClr val="E8EEF6"/>
                    </a:solidFill>
                  </a:tcPr>
                </a:tc>
              </a:tr>
              <a:tr h="411480">
                <a:tc>
                  <a:txBody>
                    <a:bodyPr/>
                    <a:lstStyle/>
                    <a:p>
                      <a:r>
                        <a:rPr sz="1200" b="0">
                          <a:solidFill>
                            <a:srgbClr val="1F2937"/>
                          </a:solidFill>
                        </a:rPr>
                        <a:t>Ilm</a:t>
                      </a:r>
                    </a:p>
                  </a:txBody>
                  <a:tcPr marL="73152" marR="73152" marT="36576" marB="36576">
                    <a:solidFill>
                      <a:srgbClr val="FFFFFF"/>
                    </a:solidFill>
                  </a:tcPr>
                </a:tc>
                <a:tc>
                  <a:txBody>
                    <a:bodyPr/>
                    <a:lstStyle/>
                    <a:p>
                      <a:r>
                        <a:rPr sz="1200" b="0">
                          <a:solidFill>
                            <a:srgbClr val="1F2937"/>
                          </a:solidFill>
                        </a:rPr>
                        <a:t>Daholar ilmiy ishini davom ettirish</a:t>
                      </a:r>
                    </a:p>
                  </a:txBody>
                  <a:tcPr marL="73152" marR="73152" marT="36576" marB="36576">
                    <a:solidFill>
                      <a:srgbClr val="FFFFFF"/>
                    </a:solidFill>
                  </a:tcPr>
                </a:tc>
                <a:tc>
                  <a:txBody>
                    <a:bodyPr/>
                    <a:lstStyle/>
                    <a:p>
                      <a:r>
                        <a:rPr sz="1200" b="0">
                          <a:solidFill>
                            <a:srgbClr val="1F2937"/>
                          </a:solidFill>
                        </a:rPr>
                        <a:t>Genetik xilma-xillik kamayadi</a:t>
                      </a:r>
                    </a:p>
                  </a:txBody>
                  <a:tcPr marL="73152" marR="73152" marT="36576" marB="36576">
                    <a:solidFill>
                      <a:srgbClr val="FFFFFF"/>
                    </a:solidFill>
                  </a:tcPr>
                </a:tc>
              </a:tr>
              <a:tr h="411480">
                <a:tc>
                  <a:txBody>
                    <a:bodyPr/>
                    <a:lstStyle/>
                    <a:p>
                      <a:r>
                        <a:rPr sz="1200" b="0">
                          <a:solidFill>
                            <a:srgbClr val="1F2937"/>
                          </a:solidFill>
                        </a:rPr>
                        <a:t>Oila</a:t>
                      </a:r>
                    </a:p>
                  </a:txBody>
                  <a:tcPr marL="73152" marR="73152" marT="36576" marB="36576">
                    <a:solidFill>
                      <a:srgbClr val="E8EEF6"/>
                    </a:solidFill>
                  </a:tcPr>
                </a:tc>
                <a:tc>
                  <a:txBody>
                    <a:bodyPr/>
                    <a:lstStyle/>
                    <a:p>
                      <a:r>
                        <a:rPr sz="1200" b="0">
                          <a:solidFill>
                            <a:srgbClr val="1F2937"/>
                          </a:solidFill>
                        </a:rPr>
                        <a:t>Halokatda o‘lgan bolani qaytarish</a:t>
                      </a:r>
                    </a:p>
                  </a:txBody>
                  <a:tcPr marL="73152" marR="73152" marT="36576" marB="36576">
                    <a:solidFill>
                      <a:srgbClr val="E8EEF6"/>
                    </a:solidFill>
                  </a:tcPr>
                </a:tc>
                <a:tc>
                  <a:txBody>
                    <a:bodyPr/>
                    <a:lstStyle/>
                    <a:p>
                      <a:r>
                        <a:rPr sz="1200" b="0">
                          <a:solidFill>
                            <a:srgbClr val="1F2937"/>
                          </a:solidFill>
                        </a:rPr>
                        <a:t>Boylar faqat o‘zi uchun organ oladi</a:t>
                      </a:r>
                    </a:p>
                  </a:txBody>
                  <a:tcPr marL="73152" marR="73152" marT="36576" marB="36576">
                    <a:solidFill>
                      <a:srgbClr val="E8EEF6"/>
                    </a:solidFill>
                  </a:tcPr>
                </a:tc>
              </a:tr>
              <a:tr h="411480">
                <a:tc>
                  <a:txBody>
                    <a:bodyPr/>
                    <a:lstStyle/>
                    <a:p>
                      <a:r>
                        <a:rPr sz="1200" b="0">
                          <a:solidFill>
                            <a:srgbClr val="1F2937"/>
                          </a:solidFill>
                        </a:rPr>
                        <a:t>Boshqa</a:t>
                      </a:r>
                    </a:p>
                  </a:txBody>
                  <a:tcPr marL="73152" marR="73152" marT="36576" marB="36576">
                    <a:solidFill>
                      <a:srgbClr val="FFFFFF"/>
                    </a:solidFill>
                  </a:tcPr>
                </a:tc>
                <a:tc>
                  <a:txBody>
                    <a:bodyPr/>
                    <a:lstStyle/>
                    <a:p>
                      <a:r>
                        <a:rPr sz="1200" b="0">
                          <a:solidFill>
                            <a:srgbClr val="1F2937"/>
                          </a:solidFill>
                        </a:rPr>
                        <a:t>Klon asl nusxadan yosh, barmoq izi boshqa</a:t>
                      </a:r>
                    </a:p>
                  </a:txBody>
                  <a:tcPr marL="73152" marR="73152" marT="36576" marB="36576">
                    <a:solidFill>
                      <a:srgbClr val="FFFFFF"/>
                    </a:solidFill>
                  </a:tcPr>
                </a:tc>
                <a:tc>
                  <a:txBody>
                    <a:bodyPr/>
                    <a:lstStyle/>
                    <a:p>
                      <a:r>
                        <a:rPr sz="1200" b="0">
                          <a:solidFill>
                            <a:srgbClr val="1F2937"/>
                          </a:solidFill>
                        </a:rPr>
                        <a:t>Diktator minglab klon yaratishi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Klonlash: ijobiy va salbiy</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Reproduktiv va terapevtik klonlash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Inson yaratish maqsadidagi klonlash inson qadr-qimmatini kamsitadi va ruxsat etilmaydi.</a:t>
            </a:r>
          </a:p>
          <a:p>
            <a:pPr>
              <a:spcAft>
                <a:spcPts val="800"/>
              </a:spcAft>
            </a:pPr>
            <a:r>
              <a:rPr sz="1800">
                <a:solidFill>
                  <a:srgbClr val="1F2937"/>
                </a:solidFill>
                <a:latin typeface="Calibri"/>
              </a:rPr>
              <a:t>▸  Og‘ir kasallikni davolovchi klonlashga ruxsat berish mumkinmi — bu masala hali hal bo‘lmagan.</a:t>
            </a:r>
          </a:p>
          <a:p>
            <a:pPr>
              <a:spcAft>
                <a:spcPts val="800"/>
              </a:spcAft>
            </a:pPr>
            <a:r>
              <a:rPr sz="1800">
                <a:solidFill>
                  <a:srgbClr val="1F2937"/>
                </a:solidFill>
                <a:latin typeface="Calibri"/>
              </a:rPr>
              <a:t>▸  Ruxsat nasl uchun klonlashga yo‘l ochishi mumkin degan xavotir bor; yana embrion muammosi chiqadi.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890606"/>
                <a:gridCol w="2226515"/>
                <a:gridCol w="2170852"/>
              </a:tblGrid>
              <a:tr h="411480">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Maqsad</a:t>
                      </a:r>
                    </a:p>
                  </a:txBody>
                  <a:tcPr marL="73152" marR="73152" marT="36576" marB="36576">
                    <a:solidFill>
                      <a:srgbClr val="0B1F3A"/>
                    </a:solidFill>
                  </a:tcPr>
                </a:tc>
                <a:tc>
                  <a:txBody>
                    <a:bodyPr/>
                    <a:lstStyle/>
                    <a:p>
                      <a:r>
                        <a:rPr sz="1300" b="1">
                          <a:solidFill>
                            <a:srgbClr val="FFFFFF"/>
                          </a:solidFill>
                        </a:rPr>
                        <a:t>Holati</a:t>
                      </a:r>
                    </a:p>
                  </a:txBody>
                  <a:tcPr marL="73152" marR="73152" marT="36576" marB="36576">
                    <a:solidFill>
                      <a:srgbClr val="0B1F3A"/>
                    </a:solidFill>
                  </a:tcPr>
                </a:tc>
              </a:tr>
              <a:tr h="411480">
                <a:tc>
                  <a:txBody>
                    <a:bodyPr/>
                    <a:lstStyle/>
                    <a:p>
                      <a:r>
                        <a:rPr sz="1200" b="0">
                          <a:solidFill>
                            <a:srgbClr val="1F2937"/>
                          </a:solidFill>
                        </a:rPr>
                        <a:t>Reproduktiv</a:t>
                      </a:r>
                    </a:p>
                  </a:txBody>
                  <a:tcPr marL="73152" marR="73152" marT="36576" marB="36576">
                    <a:solidFill>
                      <a:srgbClr val="E8EEF6"/>
                    </a:solidFill>
                  </a:tcPr>
                </a:tc>
                <a:tc>
                  <a:txBody>
                    <a:bodyPr/>
                    <a:lstStyle/>
                    <a:p>
                      <a:r>
                        <a:rPr sz="1200" b="0">
                          <a:solidFill>
                            <a:srgbClr val="1F2937"/>
                          </a:solidFill>
                        </a:rPr>
                        <a:t>Klon bola tug‘ilishi uchun</a:t>
                      </a:r>
                    </a:p>
                  </a:txBody>
                  <a:tcPr marL="73152" marR="73152" marT="36576" marB="36576">
                    <a:solidFill>
                      <a:srgbClr val="E8EEF6"/>
                    </a:solidFill>
                  </a:tcPr>
                </a:tc>
                <a:tc>
                  <a:txBody>
                    <a:bodyPr/>
                    <a:lstStyle/>
                    <a:p>
                      <a:r>
                        <a:rPr sz="1200" b="0">
                          <a:solidFill>
                            <a:srgbClr val="1F2937"/>
                          </a:solidFill>
                        </a:rPr>
                        <a:t>Ko‘p mamlakatda qonun bilan taqiqlangan</a:t>
                      </a:r>
                    </a:p>
                  </a:txBody>
                  <a:tcPr marL="73152" marR="73152" marT="36576" marB="36576">
                    <a:solidFill>
                      <a:srgbClr val="E8EEF6"/>
                    </a:solidFill>
                  </a:tcPr>
                </a:tc>
              </a:tr>
              <a:tr h="411480">
                <a:tc>
                  <a:txBody>
                    <a:bodyPr/>
                    <a:lstStyle/>
                    <a:p>
                      <a:r>
                        <a:rPr sz="1200" b="0">
                          <a:solidFill>
                            <a:srgbClr val="1F2937"/>
                          </a:solidFill>
                        </a:rPr>
                        <a:t>Terapevtik</a:t>
                      </a:r>
                    </a:p>
                  </a:txBody>
                  <a:tcPr marL="73152" marR="73152" marT="36576" marB="36576">
                    <a:solidFill>
                      <a:srgbClr val="FFFFFF"/>
                    </a:solidFill>
                  </a:tcPr>
                </a:tc>
                <a:tc>
                  <a:txBody>
                    <a:bodyPr/>
                    <a:lstStyle/>
                    <a:p>
                      <a:r>
                        <a:rPr sz="1200" b="0">
                          <a:solidFill>
                            <a:srgbClr val="1F2937"/>
                          </a:solidFill>
                        </a:rPr>
                        <a:t>Og‘ir kasallikni davolash</a:t>
                      </a:r>
                    </a:p>
                  </a:txBody>
                  <a:tcPr marL="73152" marR="73152" marT="36576" marB="36576">
                    <a:solidFill>
                      <a:srgbClr val="FFFFFF"/>
                    </a:solidFill>
                  </a:tcPr>
                </a:tc>
                <a:tc>
                  <a:txBody>
                    <a:bodyPr/>
                    <a:lstStyle/>
                    <a:p>
                      <a:r>
                        <a:rPr sz="1200" b="0">
                          <a:solidFill>
                            <a:srgbClr val="1F2937"/>
                          </a:solidFill>
                        </a:rPr>
                        <a:t>Ruxsat masalasi hal bo‘lmagan</a:t>
                      </a:r>
                    </a:p>
                  </a:txBody>
                  <a:tcPr marL="73152" marR="73152" marT="36576" marB="36576">
                    <a:solidFill>
                      <a:srgbClr val="FFFFFF"/>
                    </a:solidFill>
                  </a:tcPr>
                </a:tc>
              </a:tr>
              <a:tr h="411480">
                <a:tc>
                  <a:txBody>
                    <a:bodyPr/>
                    <a:lstStyle/>
                    <a:p>
                      <a:r>
                        <a:rPr sz="1200" b="0">
                          <a:solidFill>
                            <a:srgbClr val="1F2937"/>
                          </a:solidFill>
                        </a:rPr>
                        <a:t>Embrion masalasi</a:t>
                      </a:r>
                    </a:p>
                  </a:txBody>
                  <a:tcPr marL="73152" marR="73152" marT="36576" marB="36576">
                    <a:solidFill>
                      <a:srgbClr val="E8EEF6"/>
                    </a:solidFill>
                  </a:tcPr>
                </a:tc>
                <a:tc>
                  <a:txBody>
                    <a:bodyPr/>
                    <a:lstStyle/>
                    <a:p>
                      <a:r>
                        <a:rPr sz="1200" b="0">
                          <a:solidFill>
                            <a:srgbClr val="1F2937"/>
                          </a:solidFill>
                        </a:rPr>
                        <a:t>Ildiz hujayra olish uchun maxsus embrion</a:t>
                      </a:r>
                    </a:p>
                  </a:txBody>
                  <a:tcPr marL="73152" marR="73152" marT="36576" marB="36576">
                    <a:solidFill>
                      <a:srgbClr val="E8EEF6"/>
                    </a:solidFill>
                  </a:tcPr>
                </a:tc>
                <a:tc>
                  <a:txBody>
                    <a:bodyPr/>
                    <a:lstStyle/>
                    <a:p>
                      <a:r>
                        <a:rPr sz="1200" b="0">
                          <a:solidFill>
                            <a:srgbClr val="1F2937"/>
                          </a:solidFill>
                        </a:rPr>
                        <a:t>Axloqiy bahs: embrion maqomi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Klonlash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161, 180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klonlash va davolash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og‘ir, davosiz kasallikni davolash uchun klon embrion yaratish taklif qilindi. Bu taklif davolash maqsadini ko‘zlaydi.</a:t>
            </a:r>
          </a:p>
          <a:p>
            <a:pPr>
              <a:spcAft>
                <a:spcPts val="1200"/>
              </a:spcAft>
            </a:pPr>
            <a:r>
              <a:rPr sz="2200">
                <a:solidFill>
                  <a:srgbClr val="1F2937"/>
                </a:solidFill>
                <a:latin typeface="Calibri"/>
              </a:rPr>
              <a:t>▸  Hujayra yadrosini ko‘chirib klonlash faqat o‘zak (ildiz) hujayra olish uchun xos embrion yaratilishiga olib keladi.</a:t>
            </a:r>
          </a:p>
          <a:p>
            <a:pPr>
              <a:spcAft>
                <a:spcPts val="1200"/>
              </a:spcAft>
            </a:pPr>
            <a:r>
              <a:rPr sz="2200">
                <a:solidFill>
                  <a:srgbClr val="1F2937"/>
                </a:solidFill>
                <a:latin typeface="Calibri"/>
              </a:rPr>
              <a:t>▸  Savol: davolash uchun klonlashga ruxsat berilsa, bu nasl qoldirish maqsadidagi klonlashga yo‘l ochmaydimi?</a:t>
            </a:r>
          </a:p>
          <a:p>
            <a:pPr>
              <a:spcAft>
                <a:spcPts val="1200"/>
              </a:spcAft>
            </a:pPr>
            <a:r>
              <a:rPr sz="2200">
                <a:solidFill>
                  <a:srgbClr val="1F2937"/>
                </a:solidFill>
                <a:latin typeface="Calibri"/>
              </a:rPr>
              <a:t>▸  Diqqat: davolash uchun klonlash ≠ nasl uchun klonlash. Xalqaro hamjamiyat faqat nasl qoldirish maqsadidan voz kechgan, birinchisi hal bo‘lmagan.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Konvergent texnologiyalar: manbadagi kesishuv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Manbada “konvergent texnologiyalar” atamasi uchramaydi; slayd manbadagi kesishuvni umumlashtiradi. (?)</a:t>
            </a:r>
          </a:p>
          <a:p>
            <a:pPr>
              <a:spcAft>
                <a:spcPts val="800"/>
              </a:spcAft>
            </a:pPr>
            <a:r>
              <a:rPr sz="1800">
                <a:solidFill>
                  <a:srgbClr val="1F2937"/>
                </a:solidFill>
                <a:latin typeface="Calibri"/>
              </a:rPr>
              <a:t>▸  Genetika, klonlash va o‘zak hujayralar birgalikda tibbiyot va jamiyatga ta’sir ko‘rsatadi. (?)</a:t>
            </a:r>
          </a:p>
          <a:p>
            <a:pPr>
              <a:spcAft>
                <a:spcPts val="800"/>
              </a:spcAft>
            </a:pPr>
            <a:r>
              <a:rPr sz="1800">
                <a:solidFill>
                  <a:srgbClr val="1F2937"/>
                </a:solidFill>
                <a:latin typeface="Calibri"/>
              </a:rPr>
              <a:t>▸  Yadro ko‘chirib klonlash o‘zak hujayra olishga mo‘ljallangan embrion yaratadi; bu axloqiy savol tug‘diradi.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Genom va genetik diagnostika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Klonlash (yadro ko‘chirish)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O‘zak hujayralar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Davolash imkoniyati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Axloqiy savollar va xavf</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Texnologiyalar kesishuvi (talqin)</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178, 180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erkinlik, mas’uliyat va shifokor roli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Inson geni qadr-qimmatni ifodalaydi; genom daromad manbai bo‘lmaydi, shaxsni aniqlaydigan genetik ma’lumot sirini qonun himoya qilishi kerak.</a:t>
            </a:r>
          </a:p>
          <a:p>
            <a:pPr>
              <a:spcAft>
                <a:spcPts val="1200"/>
              </a:spcAft>
            </a:pPr>
            <a:r>
              <a:rPr sz="2200">
                <a:solidFill>
                  <a:srgbClr val="1F2937"/>
                </a:solidFill>
                <a:latin typeface="Calibri"/>
              </a:rPr>
              <a:t>▸  Jinsiy hujayra genini o‘zgartirish naslga o‘tgani uchun hozircha taqiqlangan. Inson yaratish uchun klonlashga ham yo‘l qo‘yilmaydi.</a:t>
            </a:r>
          </a:p>
          <a:p>
            <a:pPr>
              <a:spcAft>
                <a:spcPts val="1200"/>
              </a:spcAft>
            </a:pPr>
            <a:r>
              <a:rPr sz="2200">
                <a:solidFill>
                  <a:srgbClr val="1F2937"/>
                </a:solidFill>
                <a:latin typeface="Calibri"/>
              </a:rPr>
              <a:t>▸  Genetik tadqiqotda ishtirok ixtiyoriy bo‘lishi va qatnashchi to‘liq ma’lumotga ega bo‘lishi (xabardor rozilik) lozim.</a:t>
            </a:r>
          </a:p>
          <a:p>
            <a:pPr>
              <a:spcAft>
                <a:spcPts val="1200"/>
              </a:spcAft>
            </a:pPr>
            <a:r>
              <a:rPr sz="2200">
                <a:solidFill>
                  <a:srgbClr val="1F2937"/>
                </a:solidFill>
                <a:latin typeface="Calibri"/>
              </a:rPr>
              <a:t>▸  Yangi texnologiyalar foydani ham, tavakkalni ham oshirdi; Gippokratning “Zarar yetkazma” tamoyili murakkablashdi.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161, 160, 161, 180, 177, 175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Hodisa tahlili: yadro fizikasi kashfiyotlarining salbiy oqibatlari atom bombasi (Xirosima, Nagasaki) va Chernobil halokatidan keyingina ma‘lum bo‘lgan. Nobel mukofoti sohibi Jan Dosse ham genetika yangiliklarini chuqur nazariy tahlilsiz qo‘llashni xavfli, deb hisoblagan. Savol: genetik prognoz bilan bog‘liq qanday xavflarni oldindan ko‘ra olamiz?</a:t>
            </a:r>
          </a:p>
          <a:p>
            <a:pPr>
              <a:spcAft>
                <a:spcPts val="1200"/>
              </a:spcAft>
            </a:pPr>
            <a:r>
              <a:rPr sz="1800">
                <a:solidFill>
                  <a:srgbClr val="1F2937"/>
                </a:solidFill>
                <a:latin typeface="Calibri"/>
              </a:rPr>
              <a:t>▸  Eslab qolish usuli: gen terapiyasi ikki xil. Somatik hujayra terapiyasi faqat o‘sha shaxsga ta’sir qiladi, naslga o‘tmaydi, shuning uchun axloqiy jihatdan zararsiz hisoblanadi. Jinsiy hujayra terapiyasi o‘zgarishni avlodlarga o‘tkazadi. YuNESKO uni 1994 yilda (hozircha) qat’iy taqiqlagan. Qisqacha: soma – shaxs, jinsiy hujayra – nasl.</a:t>
            </a:r>
          </a:p>
          <a:p>
            <a:pPr>
              <a:spcAft>
                <a:spcPts val="1200"/>
              </a:spcAft>
            </a:pPr>
            <a:r>
              <a:rPr sz="1800">
                <a:solidFill>
                  <a:srgbClr val="1F2937"/>
                </a:solidFill>
                <a:latin typeface="Calibri"/>
              </a:rPr>
              <a:t>▸  Eslab qolish usuli: klonlash zanjiri. Somatik hujayra olinadi, yadrosi ajratiladi va yadrosi olib tashlangan (enukleatsiya) tuxum hujayraga kiritiladi. Tuxum bo‘linadi, embrion hosil bo‘ladi, u surrogat onaga joylanadi. Natijada genetik egizak-nusxa tug‘iladi. Bola tug‘dirish maqsadidagi reproduktiv klonlash ko‘p mamlakatlarda qonun bilan taqiqlangan.</a:t>
            </a:r>
          </a:p>
          <a:p>
            <a:pPr>
              <a:spcAft>
                <a:spcPts val="1200"/>
              </a:spcAft>
            </a:pPr>
            <a:r>
              <a:rPr sz="1800">
                <a:solidFill>
                  <a:srgbClr val="1F2937"/>
                </a:solidFill>
                <a:latin typeface="Calibri"/>
              </a:rPr>
              <a:t>▸  Hodisa tahlili: tub xalq jamoasidan genetik material olinib, tadqiqot natijasi patentlandi, jamoa esa daromaddan ulush olmadi. Kitobda bunday holat «biologik qaroqchilik» bo‘lmaydimi, deb so‘raladi. Shuningdek, ilg‘or jamiyatdagi xabardor rozilik tub xalqlarda qanday ma’no kasb etishi masalasi ko‘tariladi. Savol: rozilik qaysi tilda va qanday olinishi kerak?</a:t>
            </a:r>
          </a:p>
          <a:p>
            <a:pPr>
              <a:spcAft>
                <a:spcPts val="1200"/>
              </a:spcAft>
            </a:pPr>
            <a:r>
              <a:rPr sz="1800">
                <a:solidFill>
                  <a:srgbClr val="1F2937"/>
                </a:solidFill>
                <a:latin typeface="Calibri"/>
              </a:rPr>
              <a:t>▸  Diqqat: xato qilish xavfi. Genomning tabiiy holati daromad manbai bo‘lolmaydi va uning tavsiflangan qismini patentlab bo‘lmaydi. Ammo foyda beradigan, sanoatda qo‘llanadigan haqiqiy kashfiyotni patentlash mumkin. «Genom» va «undan olingan kashfiyot» bir narsa emas.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Tug‘ilmagan bolada kelajakdagi kasallik xavfi aniqlandi, ammo klinik belgilar hali yo‘q. Bu imkoniyat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Somatik gen terapiyasi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Genetik prognoz berish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Reproduktiv klonlash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Jinsiy hujayra terapiyasi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Kitobda Xirosima, Nagasaki va Chernobil misollari nimani ko‘rsatish uchun keltirilgan?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Yadro texnologiyasi xavfsizligi isbotlanganini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Genetika yadro fizikasidan xavfsizroq ekanini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Urushlarning ilmiy rivojlanishga ta’sirini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Kashfiyot oqibati ancha keyin ayon bo‘lishini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bemorning genetik prognoziga tayanib, uning hayotini boshqarmoqchi bo‘lsa, qaysi xavf yuzaga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Inson erkinligining biologik cheklanishi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Kasalliklar diagnostikasi aniqligining pasayishi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Inson genomini o‘rganish imkoniyatining tugashi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Ilmiy tadqiqotlar uchun mablag‘ning kamayishi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Bemorning somatik hujayralarida mutant gen sog‘lom genga almashtirildi. Bu usul nega etik jihatdan zararsiz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Nasldan naslga o‘tib, avlodlarni himoya qilgani uchun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homila hujayralari bilan bajarilgani uchun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O‘zgarish faqat shu shaxsga tegishli, naslga o‘tmaydi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UNESKO tomonidan majburiy qilib belgilangani uchun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Klinika jinsiy hujayralar irsiy materialini o‘zgartirib, bu o‘zgarish nasldan naslga o‘tishini rejalashtirmoqda. UNESKO 1994 yildagi pozitsiyasi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nodir kasalliklarda ruxsat etilgan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Hozircha qat’iy taqiqlangan usul sanaladi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Davlat xohishiga ko‘ra erkin qo‘llanadi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tadqiqot maqsadida tavsiya etilgan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Gen terapiyasining qaysi usuli UNESKO tomonidan 1994-yilda (hozircha) qat‘iy taqiqlangan?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Somatik hujayralarda genni almashtirish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Jinsiy hujayralar irsiy materialini o‘zgartirish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Bemorning o‘z hujayralarini davolash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Ildiz hujayralar bilan davolashning barcha turi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Bemorga somatik hujayralarda mutant genni sog‘lom gen bilan almashtirish taklif qilindi. Bu usul nima uchun axloqan zararsiz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O‘zgarish avlodlarga o‘tib, naslni himoya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Usul faqat homila hujayralarida o‘tkaziladi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Natijani patentlab, daromad olish mumkin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O‘zgarish faqat shu shaxsga tegishli, naslga ta’sir qilmaydi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Inson genomi va inson huquqlari to‘g‘risidagi Umumiy deklaratsiya UNESKO Bosh konferensiyasining 29-sessiyasida qachon qabul qilindi?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1997-yil 11-noyabrda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1994-yilda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1998-yilda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2000-yilda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Tadqiqotchilar guruhi inson genomining tavsiflangan qismini patentlab, tijorat foydasini olmoqchi. Deklaratsiyaning 4-moddasiga ko‘ra bu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Mumkin, chunki genomni tavsiflagan olim uning egasi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Mumkin, agar tadqiqotga firma mablag‘ ajratgan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Mumkin emas, tabiiy holatdagi genom daromad manbai bo‘lolmaydi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Mumkin, agar donorga ma’lumot berilgan bo‘lsa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Homilada tug‘ma nuqson rivojlanishi aniqlandi. Uning oldini olish yoki davolash haqidagi qarorni odatda kim qabul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davolovchi shifokor o‘zi hal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Homilador ayol yoki ota-onalar qaror qiladi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Rivojlanayotgan homilaning o‘zi qaror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tibbiy muassasa ma’muriyati qaror qiladi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Genetik test alomatsiz odamda kelajakdagi irsiy kasallik xavfini aniqladi. Birinchi axloqiy muammo nima haqida?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Testni o‘tkazishning eng arzon usulini tanlash masalasi haqida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Kasallikda dori vositalarini tanlash masalasi haqida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Bo‘lajak irsiy belgilarni bilish huquqi kimlarga tegishliligi haqida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Genetik laboratoriyani qaysi hududda ochish masalasi haqida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Gippokratdan qolgan “Zarar yetkazma” tamoyili zamonaviy biotexnologiyalar sharoitida nima uchun murakkablashdi?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 aralashuvlar kengayib, foyda bilan birga tavakkal darajasi ham ortdi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aralashuvlar kamayib, shifokorning javobgarligi butunlay yo‘qoldi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Genetik ma’lumotlar hammaga ochiq bo‘lgani uchun tavakkal batamom tugadi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Bemorlar davolanishdan butunlay voz kechgani uchun tamoyil kuchsizlandi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Prenatal tekshiruvda homilada irsiy nuqson aniqlandi. Uning oldini olish yoki davolash haqida kim qaror qabul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homilani kuzatayotgan davolovchi shifokorning o‘zi qaror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tibbiyot muassasasining rahbari qaror qabul qilib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genetik laboratoriya xodimi yakuniy qarorni chiqaradi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Homilador ayol yoki ota-onalar qarorni o‘zlari qabul qiladilar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Komissiya a’zosi embrion ildiz hujayralari tadqiqoti faqat aniq tibbiy maqsadda va qat’iy shartlarga rioya qilinsa o‘rinli, dedi. U qaysi yondashuvni qo‘lladi?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Embrionlardan foydalanish mutlaqo axloqqa zid, degan yondashuvni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Shartli ruxsat: tibbiy maqsad va qat’iy shartlar bilan o‘rinli, degan yondashuvni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Xavf-xatar sababli tadqiqot taqiqlanishi lozim, degan yondashuvni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Hech qanday cheklovsiz ruxsat berilishi lozim, degan yondashuvni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Ildiz hujayra bilan davolangan bemorda uzoq muddatli xavfni qanday baholash to‘g‘ri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Xavf yo‘q, chunki ildiz hujayralar faqat bitta to‘qimaga aylanadi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Klinik tadqiqotlarning o‘zi xavfsizlikni to‘liq kafolatlash uchun yetarli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Yillar o‘tib saraton ehtimoli nazariy faraz sifatida mavjud, kafolat yo‘q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Saraton rivojlanishi bu usulda isbotlangan, qat’iy qonuniyatdir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Etika komissiyasi inson embrional hujayralarida o‘tkaziladigan tadqiqotning axloqiy asoslanganligini baholamoqda. UNESCO Bioetika bo‘yicha xalqaro qo‘mitasi hujjatiga ko‘ra, bu asosan nimaga bog‘liq?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Donorning yoshi va jinsiga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Embrionning axloqiy maqomiga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Laboratoriya jihozlari narxiga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Natijani e’lon qilish tezligiga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Tadqiqotchilar guruhi o‘zi tavsiflagan genom qismini patentlab, tijorat predmetiga aylantirmoqchi. Deklaratsiyaning 4-moddasiga ko‘ra bu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Mablag‘ ajratgan firma bo‘lsa, ruxsat etiladi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Tavsiflagan olim bo‘lsa, ruxsat etiladi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donor roziligi bilan ruxsat etiladi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Mumkin emas: genom daromad manbai bo‘lolmaydi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Laboratoriyada klonlash o‘tkazilmoqda: urg‘ochi organizmdan tuxum hujayra olindi. Somatik hujayra yadrosini kiritishdan oldin tuxum hujayrada nima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Yadrosi mikroxirurgiya bilan olib tashlanadi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Yadrosi ikkilantirib, hujayra bo‘linadi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Spermatozoid bilan tabiiy urug‘lantiriladi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Surrogat onaning bachadoniga ko‘chiriladi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dalillardan qaysi biri kitobda klonlashga qarshi dalil sifatida keltirilgan?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Klon asl nusxadan bir necha o‘n yilga yosh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Transplantatsiya uchun sog‘lom a’zolar yaratish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Klonlarda tug‘ma nuqsonlar xavfi yuqori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Halokatda o‘lgan bolani ota-onaga qaytarish mumkin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Munozarada davolash maqsadidagi klonlashga ruxsat berish taklif qilindi. Kitobda aytilgan asosiy xavotirga ko‘ra, bu ruxsat nimaga olib kelishi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Ildiz hujayralar bankining yopilishiga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Nasl qoldirish maqsadidagi klonlashga yo‘l ochilishiga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Genetik tahlillarning butunlay to‘xtashiga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Embrionlardan foydalanishning to‘liq tugashiga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Genetik prognoz berish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Genom chuqur o‘rganilgach genetik prognoz paydo bo‘ldi: kasallik belgilari ko‘rinishidan ancha oldin, hatto bola tug‘ilgunga qadar xavfni aniqlash mumkin. Gen terapiyasi va klonlash esa davolash yoki nusxa yaratish usullari bo‘lib, xavfni oldindan aytib berish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159-bet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Kashfiyot oqibati ancha keyin ayon bo‘lishini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Yadro fizikasidagi buyuk kashfiyotlarning salbiy natijalari atom bombalari urushda qo‘llangandan va Chernobil halokatidan keyingina ma’lum bo‘ldi. Muallif shu orqali genetik kashfiyotlar ham katta xavf tug‘dirishi mumkinligini eslatadi.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159-bet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Inson erkinligining biologik cheklanishi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Genetik prognoz inson hayoti ustidan hukmronlik va uni boshqarishning tibbiy-biologik vositasiga aylanishi mumkin. Bu inson erkinligini biologik jihatdan cheklaydi, shu sababli biogenetik tadqiqotlar etik nuqtai nazardan chuqur tahlil qilinishi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159-bet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O‘zgarish faqat shu shaxsga tegishli, naslga o‘tmaydi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Somatik hujayralarda irsiyatning o‘zgarishi faqat o‘sha shaxsga taalluqli bo‘ladi va uning naslini o‘zgartirmaydi. Shu sababli bu usul etik tomondan inson uchun zararsiz hisoblanadi. Nasldan naslga o‘tish jinsiy hujayra o‘zgarishining xususiyatidir.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160-bet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Hozircha qat’iy taqiqlangan usul sanaladi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Jinsiy hujayralar irsiy materialini o‘zgartirish o‘zgarishlarning avlodlarga o‘tishiga olib keladi. Shuning uchun bu usul 1994 yilda UNESKO tomonidan (hozircha) qat’iy taqiqlangan.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160-bet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Jinsiy hujayralar irsiy materialini o‘zgartirish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Jinsiy hujayralar irsiy materialini o‘zgartirish naslga o‘tadi, shuning uchun u taqiqlangan. Somatik terapiya faqat shu shaxsga tegishli bo‘ladi va naslga ta’sir qilmaydi.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160-bet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O‘zgarish faqat shu shaxsga tegishli, naslga ta’sir qilmaydi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Somatik hujayralarda irsiyat o‘zgarishining natijasi faqat o‘sha shaxsga tegishli. U naslga ta’sir qilmaydi, shu sababli usul etik jihatdan inson uchun zararsiz sanaladi.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160-bet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1997-yil 11-noyabrda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Deklaratsiya 1997-yil 11-noyabrda qabul qilindi. 1994 — germinal terapiyaning taqiqlanishi, 1998 — BMT Bosh assambleyasining rezolyutsiyasi, 2000 — Okinava uchrashuvi.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160-bet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Mumkin emas, tabiiy holatdagi genom daromad manbai bo‘lolmaydi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4-moddaga ko‘ra inson genomi tabiiy holatda daromad manbai bo‘la olmaydi. Shuning uchun tavsiflangan genom qismini patentlab, tijorat predmetiga aylantirib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161-bet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Homilador ayol yoki ota-onalar qaror qiladi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Ko‘p irsiy patologiya tug‘ilishdan oldin rivojlanadi. Uning oldini olish yoki davolash haqida bemorlarning o‘zi emas, homilador ayollar yoki ota-onalar qaror qabul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162-bet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Bo‘lajak irsiy belgilarni bilish huquqi kimlarga tegishliligi haqida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Erta aniqlash ikki o‘zaro bog‘liq axloqiy muammo tug‘diradi. Birinchisi: o‘zining, farzandlarining, bemorlarining bo‘lajak irsiy belgilarini bilish huquqi kimlarda bor yoki yo‘q. Ikkinchisi: patologik genotipdan klinik foydalanish va uni izchil o‘zgartirishga yo‘l qo‘ymaslik masalasi.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162-bet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Tibbiy aralashuvlar kengayib, foyda bilan birga tavakkal darajasi ham ortdi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Irsiy davolash, embrion to‘qimalaridan foydalanish, umrni uzaytirish va klonlash tamoyilni murakkablashtirdi. Tibbiy texnologiyalar doirasi kengaydi, bemorlarga foyda ham ortdi, lekin tavakkal darajasi ham ko‘paydi.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175-bet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Homilador ayol yoki ota-onalar qarorni o‘zlari qabul qiladilar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Ko‘pgina irsiy patologiyalar tug‘ilishdan oldin, ona qornida rivojlanadi. Ularning oldini olish yoki davolash haqida bemorning o‘zi emas, homilador ayollar yoki ota-onalar qaror qabul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162-bet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Shartli ruxsat: tibbiy maqsad va qat’iy shartlar bilan o‘rinli, degan yondashuvni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UNESKO Bioetika bo‘yicha xalqaro qo‘mitasi hujjatida uchta yondashuv bor. Birinchisi: embrionlardan foydalanish mutlaqo axloqqa zid. Ikkinchisi: faqat aniq tibbiy maqsad va qat’iy shartlar bilan axloqan o‘rinli. Uchinchisi: xavf-xatar tufayli tadqiqot taqiqlanishi lozim. Cheklovsiz ruxsat bu uchtaning hech birida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176-bet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Yillar o‘tib saraton ehtimoli nazariy faraz sifatida mavjud, kafolat yo‘q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Ildiz hujayralar har narsaga aylanishi mumkin, shuning uchun oqibatlarni oldindan ko‘rish qiyin. Nazariy jihatdan yillar o‘tib saraton ham rivojlanishi mumkin, lekin bu faqat faraz. Xavfsizlikni kafolatlash uchun klinik tadqiqotlarning o‘zi yetarli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175-bet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Embrionning axloqiy maqomiga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Hujjatda inson embrional hujayralaridagi tadqiqotlarning axloqiy asoslanganligi ko‘p jihatdan embrion maqomiga bog‘liq deyilgan. Shu sababli hujjatda uchta qarash keltirilgan: mutlaq taqiqlash, qat‘iy shartlar bilan ruxsat berish va tadqiqotni butunlay taqiqlash.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176-bet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Mumkin emas: genom daromad manbai bo‘lolmaydi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Deklaratsiyaning 4-moddasiga ko‘ra inson genomi tabiiy holatda daromad manbai bo‘la olmaydi. Shuning uchun tadqiqotchi tavsiflagan genom qismini patentlab, tijorat predmetiga aylantirib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161-bet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Yadrosi mikroxirurgiya bilan olib tashlanadi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Avval tuxum hujayradan mikroxirurgiya usulida yadro olib tashlanadi (enukleatsiya). Keyin unga somatik hujayra yadrosi kiritiladi va homila rivojlanishi boshlanadi.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178-bet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Klonlarda tug‘ma nuqsonlar xavfi yuqori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Qarshi dalillar qatorida klonlarda tug‘ma nuqsonlar xavfi yuqoriligi, genetik xilma-xillik kamayib epidemiyalarga bardoshlik pasayishi, boylar a’zolari uchun klonlashi va diktatorlar klonlardan foydalanishi keltirilgan. Boshqa uchta variant tarafdorlar dalillari.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179-bet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Nasl qoldirish maqsadidagi klonlashga yo‘l ochilishiga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Kitobda savol qo‘yilgan: davolash maqsadidagi klonlashga ruxsat berilsa, bu nasl qoldirish maqsadidagi klonlashga olib kelmaydimi. Yadroni ko‘chirish usuli faqat ildiz hujayra olish uchun maxsus embrion yaratadi, shu sababli embrion muammosi yana yuzaga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180-bet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Zamonaviy va innovatsion biotibbiyot texnologiyalari, inson tabiatiga aralashishning axloq</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Indiaminov S.I. Bioetika (o‘quv qo‘llanma), Samarqand. 2022. XVI bob (genom, ildiz hujayra, klonlash), kitob betlari 159-162; 174-180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