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savoli: 1) Nega suyak faqat tayanch emas, kalsiy zaxirasi hamdir? 2) Rezorbsiya har doim kasallikmi? Doskada chizish: ikki pallali tarozi (osteoklast va osteoblast). Shakllar tasnifi: fiziologik qayta qurilish, umumiy yo‘qolish (osteoporoz), mahalliy litik o‘choqlar, implant atrofidagi osteoliz. Tipik xato: rezorbsiyani doim patologiya deb tushunish — normal qayta qurilishning ajralmas bosqichi.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savoli: 1) Rezorbsiya joyiga osteoblastlarni nima chaqiradi? 2) Qaytish chizig‘i nimani ko‘rsatadi? Doskada chizish: trabekula yuzasida zovur va uning tubidagi qaytish chizig‘i. Tipik xato: osteoklast va osteoblast ishini bir vaqtda, bir joyda deb o‘ylash; avval rezorbsiya, keyin shakllanish. Diqqat: qaytish chizig‘i ≠ yangi suyak qatlami; u zovur tubining belgisi. Patologiyada chiziq tartibsiz bo‘ladi (mozaik ko‘rinish, Paget kasalligida).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savoli: 1) Nega katepsin K faqat mineral erigandan keyin samarali ishlaydi? 2) Sealing zone buzilsa nima bo‘ladi? Doskada chizish: osteoklast kesimi — ruffled border, sealing zone, lakuna va kanopi. Qo‘shimcha: osteoklast avval xlorid kislota ajratib mineralni eritadi, keyin metalloproteazalar va katepsin K kollagen matriksni parchalaydi; parchalar hujayra orqali o‘tib sinusoidlar orqali qonga chiqariladi. Tipik xato: kislota kollagenni ham eritadi deb o‘ylash — kollagenni fermentlar parchalaydi.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transheya silliq tubli bo‘ladi? 2) Osteon ichida qanday tomirlar bor? Doskada: g‘ovak suyakdagi transheya va kortikal suyakdagi tunnelning kesimini yonma-yon chizing, qaytish chizig‘ini belgilang. Tipik xato: BRU ni faqat kortikal suyakka xos deb o‘ylash, yoki osteonni rezorbsiya o‘chog‘ining o‘zi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kasalliklarda BRU soni ortadi? 2) Umumiy suyak yo‘qolishi bilan mahalliy litik o‘choq qanday farq qiladi? Doskada: ikki ustunli jadvalni talabalar bilan birga to‘ldiring. Tipik xato: osteoporozni faqat mahalliy jarayon deb hisoblash. Aslida u umumiy suyak yo‘qolishi.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bu patologik, kuchaygan rezorbsiya; tezlik oshgani uchun osteoklastlar tartibsiz ishlaydi va chiziqlar notekis bo‘ladi. Muhokama: 1) Mozaika ko‘rinishi nimani bildiradi? 2) Normal qaytish chizig‘i qanday ko‘rinadi? Doskada: silliq va notekis qaytish chizig‘ini ikki xil chizib solishtiring. Tipik xato: qaytish chizig‘ini o‘zi patologiya belgisi deb o‘ylash. Aslida normada ham bor, patologiyada uning tartibsizligi muhim.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mineral avval erishi kerak? 2) Sealing zone bo‘lmasa nima o‘zgaradi? Doskada chizish: osteoklast osti — ruffled border, sealing zone va lakunani sxematik chizing, H+ va katepsin K ni belgilang. Tipik xato: talabalar kislota kollagenni ham eritadi deb o‘ylaydi; aslida kollagenni ferment parchalaydi.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ikkala sitokin (M-CSF va RANKL) ham kerak? 2) Qo‘shilish rezorbtiv faollikka qanday ta’sir qiladi? Doskada chizish: besh tugunli zanjirni strelkalar bilan chizing va har bosqichga sitokin nomini yozing. Tipik xato: osteoklastni osteoblast yoki mezenximal hujayradan kelib chiqadi deb adashtirish; u miyeloid (gemopoetik) qatordan.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RANKL ko‘payib, OPG kamaysa suyakda nima bo‘ladi? 2) Nima uchun OPG ‘yolg‘on retseptor’ deyiladi? Doskada chizish: RANKL, RANK va OPG ni uch shakl sifatida chizib, OPG RANKL ni ushlab qolishini ko‘rsating. Tipik xato: OPG ni RANK bilan almashtirish; RANK membrana retseptori, OPG esa eruvchan yolg‘on retseptor.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osteosit RANKLi embrionda kerak emas, kattalarda esa zarur? 2) Yallig‘lanishda qaysi hujayralar RANKL manbaiga qo‘shiladi? Doskada chizing: markazda osteoklast prekursori, atrofida 5 ta RANKL manbai (osteoblast, osteosit, T/B limfosit, sinovitsit, endotelial hujayra) strelkalar bilan. Tipik xato: faqat osteoblastni RANKL manbai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osteopetroz suyagi rentgenda zich, lekin sinuvchan? 2) RANKL/OPG nisbati periprotez osteolizida qanday o‘zgaradi? Doskada chizing: tarozi, bir pallada RANKL, ikkinchisida OPG, ikki xil og‘ish. Tipik xato: osteopetrozni osteoporoz bilan aralashtirish yoki zich suyakni mustahkam deb hisoblash. Jadvaldagi OPG qatori ma’lumotlari Yin va boshq. (PMID 40932933) dan: OPG-nokaut sichqonlarda erta osteoporoz va sinuvchanlik.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Wnt signalini osteoklastogenezda ikki yoqlama deyish mumkin? 2) LGR4 RANK bilan qanday raqobatlashadi va natija nima? Doskada chizing: RANKL ikki retseptor (RANK va LGR4) o‘rtasida, RANK tomoni NFATc1 ni oshiradi, LGR4 tomoni bostiradi. Tipik xato: barcha Wnt oqsillarini bir xil ta’sir qiladi deb o‘ylash (Wnt5a RANKni oshiradi, Wnt3a/16/4a cheklaydi).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Osteoklast yo‘q bo‘lsa remodeling nima uchun to‘xtaydi? 2) Nima uchun rentgenda suyak oq, lekin sinishga moyil? Doskada: normal va RANK−/− sichqon boldir suyagining o‘q kesimini chizing (o‘sish plastinkasi, iligi bo‘shlig‘i, zich suyak). Tipik xato: talabalar zich suyakni kuchli suyak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p50/p52 o‘chirilsa osteoklast hosil bo‘lmaydi? 2) Qaysi yo‘l yallig‘lanish sitokinlari bilan bog‘liq? Doskada: ikki ustunli sxema chizing: retseptor → kinaza → dimer → yadro. Tipik xato: p100 ni p52 ga aylanishini kanonik yo‘lga bog‘lash.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TRAF3 ni ‘tormoz’, TRAF6 ni ‘gaz pedali’ deb atash mumkin? 2) TRAF3 parchalanishini to‘xtatish nimaga olib keladi? Doskada: RANK → TRAF6 (yoqadi) va TRAF3 (parchalanadi) sxemasini chizing. Tipik xato: TRAF3 ham osteoklast uchun zarur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TRAF3 “tormoz” deyiladi? 2) Xloroxin zanjirning qaysi bo‘g‘inini to‘sadi? Doskada: 5 bosqichli zanjirni o‘qlar bilan chizdirib, TRAF3 va NIK ni rangli belgilang. Tipik xato: TRAF3 ni osteoklast hosil bo‘lishi uchun zarur deb o‘ylash. Aslida u uni cheklaydi, RANKL esa uni parchalaydi.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MAPK inhibitori yetarli emas? 2) ERK va JNK o‘rtasidagi teskari aloqa nimaga xizmat qiladi? Doskada: uchta tarmoq va ularning qo‘zg‘atuvchilarini uchta ustunli sxemada chizdiring. Tipik xato: uchala tarmoqni bir xil vazifali deb hisoblash. ERK erta bosqichga, JNK va p38 yetilish va qo‘shilishga ko‘proq xos.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RANK TRAF 1, 2, 3, 5 va 6 ni jalb qiladi, faqat TRAF6 zarur. 2) NFATc1 (va c-Fos) NF-κB dan keyin joylashadi; c-Fos NFATc1 ning yuqorisida turadi. 3) NIK to‘planadi, p100 p52 ga ko‘proq o‘tadi, osteoklast shakllanishi ortadi (sichqonlarda erta osteoporoz). Muhokama: nega bir xil oila oqsillari qarama-qarshi rol o‘ynaydi? Doskada: TRAF6 (+) va TRAF3 (–) belgili ikki o‘qli sxema. Tipik xato: TRAF raqamlarini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TNF nima uchun RANKLdan ‘kuchsizroq’ osteoklast hosil qiladi? 2) RA da sinovitsitlarning roli nima? Doskada chizing: RANKL va TNF ustunli jadval, TRAF6/TRAF2 va TRAF3 o‘qlari bilan. Tipik xato: TNF ham TRAF6 ni jalb qiladi deb o‘ylash (aslida TRAF2). Diqqat: TRAF3 ≠ TRAF6 — TRAF3 cheklaydi, TRAF6 zarur. Bahsli jihat: ba’zi mualliflar TNF ta’siri uchun RANKL bilan oldindan tayyorlash kerak deydi.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Talabalarga avval ‘nima uchun?’ savolini bering, 1 daqiqa juftlikda o‘ylashsin. Muhokama: 1) Dori nishoni bo‘lmasa nima bo‘ladi? 2) Bu natija TRAF3 ni dori nishoni sifatida qanday asoslaydi? Doskada chizing: RANKL → TRAF3 parchalanishi → NIK to‘planishi → p52/RelB zanjiri, xloroxin to‘sadigan joyni belgilang. Tipik xato: xloroxin RANKL ni to‘sadi deb o‘ylash (aslida TRAF3 parchalanishini to‘sadi).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bu jarayon ‘o‘z-o‘zini davom ettiruvchi’ doira deyiladi? 2) Zarracha o‘lchami va shakli yallig‘lanishga qanday ta’sir qiladi? Doskada chizing: 5 bosqichli zanjir va undan makrofagga qaytuvchi teskari strelka. Tipik xato: PPO ni infeksiya natijasi deb o‘ylash — bu steril yallig‘lanishli suyak yemirilishi. Diqqat: RANKL oshadi, OPG kamayadi — ikkalasi bir yo‘nalishda emas.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submikron zarra kattaroq zarradan xavfliroq bo‘lishi mumkin? 2) Zarra shakli yallig‘lanishga qanday ta’sir qiladi? Doskada: zarra turlari (PE, metall, keramika, sement) va xususiyatlari (o‘lcham, shakl, tarkib) ro‘yxatini chizdiring. Tipik xato: talabalar faqat polietilenni zarra manbai deb o‘ylaydi, metall, keramika va sementni unutadi.</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TNF-α markaziy tartibga soluvchi hisoblanadi? 2) IFN-γ nega ikki tomonlama ta’sir ko‘rsatadi? Doskada: jadvaldagi to‘rt sitokinni ustunlarga bo‘lib, ularning suyakka ta’sirini o‘qlar bilan chizdiring. Tipik xato: IL-10 ni ham rezorbsiyani kuchaytiruvchi sitokin deb o‘ylash, aslida u matriks buzilishini cheklaydi.</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erta bosqichda M2 ning ortiqcha bo‘lishi zararli? 2) PMMA zarralari makrofagni qaysi yo‘nalishga siljitadi? Doskada: M1 va M2 uchun ikki ustunli solishtirma sxema chizdiring. Tipik xato: M2 ni har doim foydali deb hisoblash, vaholanki erta va ortiqcha M2 suyak o‘rniga fibroz to‘qima hosil qilishi mumkin.</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operatsiyadan keyin bemorni umuman harakatsiz qoldirish xavfli? 2) Barqaror fiksatsiya va erta yuklama qanday muvozanatlanadi? Doskada chizing: yuklama kamayishi → osteosit → RANKL ↑ → osteoklast ↑ → PPO. Tipik xato: osteositni faqat passiv hujayra deb o‘ylash. Manbada sklerostin pasayishi va uning RANKLni rag‘batlantirishi haqidagi gaplar o‘zaro mos emas, shuning uchun bu band ‘ishonchsiz’ deb belgilangan. Talabalarga shuni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Javob kaliti: implant-suyak chegarasida yeyilish zarrachalari → makrofaglar fagotsitozi → TNF-α, IL-1β, IL-6 ↑ → osteoblast va fibroblastlarda RANKL ↑, OPG ↓ → osteoklast giperfaolligi → suyak yo‘qolishi → implant bo‘shashishi. Muhokama: 1) Zarracha o‘lchami va shakli yallig‘lanishga qanday ta’sir qiladi? 2) Bu bemorda nega antibiotik yordam bermaydi? Doskada chizing: zarracha → makrofag → sitokinlar → RANKL/OPG → osteoliz. Tipik xato: bo‘shashishning hammasini infeksiyaga bog‘lash.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postmenopauzada suyak yo‘qolishi tezlashadi? 2) Bir xil PTH nega ham katabolik, ham anabolik bo‘lishi mumkin? Doskada jadvalni o‘zlari chizib, har qatorga ‘RANKL ↑ yoki ↓’ belgisini qo‘ysin. Tipik xato: doimiy PTH ≠ intermittent PTH. Ularning natijasi qarama-qarshi, ikkalasini bir xil deb yozish xatodir. D3 vitamini haqidagi ma’lumot tajriba modeliga tegishli, buni klinik tavsiya sifatida o‘qitmang.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suyakdan tashqaridagi o‘smada osteoklast paydo bo‘lishi mumkin? 2) Gigant hujayra ko‘p yadroli bo‘lsa ham, nega uni osteoklast deb bo‘lmaydi? Doskada: ikki ustunli jadvalni (TRAP-musbat va TRAP-manfiy) talabalar bilan birga to‘ldiring. Tipik xato: har qanday ko‘p yadroli gigant hujayrani suyakni eritadi deb hisoblash. Diqqat: osteoklast ≠ TRAP-manfiy gigant hujayra.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Fuziya nima uchun rezorbsiya kuchini oshiradi? 2) Fuziyani tanlab to‘xtatish nega ba‘zi muolajalarda foydali bo‘lishi mumkin? Doskada: besh bosqichli zanjirni chizing va har bosqich ostiga mos molekulani yozing. Tipik xato: DC-STAMP va OC-STAMP ni bir xil, o‘zaro almashadigan molekula deb o‘ylash; manbada ular bir-birini to‘liq almashtirmaydi. Eslab qoling: oldin tanish, keyin yopishish, oxirida membrana qo‘shiladi.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sealing zone yopiq bo‘lishi rezorbsiya uchun muhim? 2) Qutblanishni to‘xtatish fuziyani to‘xtatishdan qanday farq qilishi mumkin? Doskada: osteoklastning suyakka qaragan yuzasini chizing: sealing zone, ruffled border, lakuna. Tipik xato: ruffled border bilan sealing zone ni aralashtirish. Diqqat: sealing zone ≠ ruffled border; birinchisi yopuvchi halqa, ikkinchisi sekretsiya qiladigan burmali membrana. Eslab qoling: oldin yopishadi, keyin halqa yopadi, so‘ng burmali membrana kislota va ferment chiqaradi.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Fuziya buzilsa ham osteoklast bo‘ladimi? 2) Qutblanish buzilsa-chi? Doskaga chizing: preosteoklast → fuziya → ko‘p yadroli hujayra → qutblanish → burmali chegara. Tipik xato: fuziya va qutblanishni bitta jarayon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denosumabni to‘satdan to‘xtatish xavfli? 2) Uzoq muddatli bisfosfonat nega atipik sinishga olib kelishi mumkin? Doskaga: ikki dori uchun ta’sir zanjirini chizing. Tipik xato: bisfosfonat ham RANKL ni bloklaydi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Fuziyani yoki qutblanishni to‘sish qaysi jihatdan afzal? 2) Nega klinikadan oldin odamda xavfsizlikni tekshirish shart? Doskaga: nishon → modda → bosqich jadvalini ko‘chiring. Tipik xato: tajriba natijalarini tasdiqlangan davo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osteoklastni butunlay o‘chirish yaxshi emas? 2) PDGF-BB foydasi va xavfi qayerda? Doskada: osteoklast markazda, atrofida S1P, Wnt10b, BMP6, CTHRC1 o‘qlari osteoblastga, PDGF-BB o‘qi tomirga. Tipik xato: PDGF-BB ni faqat foydali omil deb o‘ylash; manbada ortiqcha miqdori xavfli deyiladi.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RANKL to‘xtatishdan keyin to‘planib, osteoklastlarni oshiradi? 2) Chiqish strategiyasi nimani oldini oladi? Doskada: vaqt o‘qi — davolash, to‘xtatish, 6 oy, RANKL va TRAcP5b o‘sishi, BMD tushishi. Tipik xato: denosumabni bisfosfonat kabi suyakda qoladi deb o‘ylash; u suyakka joylashmaydi, ta’siri qaytuvchan.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shaklda RANKL/OPG muvozanati buziladi? 2) Nega bitta nishonli davo yetarli emas? Doskada: to‘rt shakl (fiziologik, yallig‘lanishli, gormonal, o‘smaga bog‘liq) va ularni bog‘lovchi yo‘llar RANKL/RANK/OPG, NF-κB, MAPK/ERK. Tipik xato: barcha rezorbsiyani patologik deb hisoblash; remodellanishda u normal jarayon.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Suyak rezorbsiyasi shakllari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suyak rezorbsiyasi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Skelet tayanch vazifasini bajaradi, miya va yurak kabi a’zolarni himoya qiladi hamda kalsiy va boshqa elementlar zaxirasi bo‘lib xizmat qiladi.</a:t>
            </a:r>
          </a:p>
          <a:p>
            <a:pPr>
              <a:spcAft>
                <a:spcPts val="1200"/>
              </a:spcAft>
            </a:pPr>
            <a:r>
              <a:rPr sz="2200">
                <a:solidFill>
                  <a:srgbClr val="1F2937"/>
                </a:solidFill>
                <a:latin typeface="Calibri"/>
              </a:rPr>
              <a:t>▸  Rezorbsiya — osteoklastlarning suyak mineral va organik qismini yemirishi. Suyak massasi rezorbsiya va osteoblastlar hosil qilgan yangi suyak muvozanatiga bog‘liq.</a:t>
            </a:r>
          </a:p>
          <a:p>
            <a:pPr>
              <a:spcAft>
                <a:spcPts val="1200"/>
              </a:spcAft>
            </a:pPr>
            <a:r>
              <a:rPr sz="2200">
                <a:solidFill>
                  <a:srgbClr val="1F2937"/>
                </a:solidFill>
                <a:latin typeface="Calibri"/>
              </a:rPr>
              <a:t>▸  Muvozanat buzilsa, rezorbsiya umumiy suyak yo‘qolishiga (osteoporoz) yoki mahalliy, rentgenda litik o‘choqlarga olib keladi.</a:t>
            </a:r>
          </a:p>
          <a:p>
            <a:pPr>
              <a:spcAft>
                <a:spcPts val="1200"/>
              </a:spcAft>
            </a:pPr>
            <a:r>
              <a:rPr sz="2200">
                <a:solidFill>
                  <a:srgbClr val="1F2937"/>
                </a:solidFill>
                <a:latin typeface="Calibri"/>
              </a:rPr>
              <a:t>▸  Qo‘shma protezdan keyin ortiqcha rezorbsiya hosil bo‘lishdan oshib ketsa, periprostetik osteoliz (PPO) yuzaga keladi va implant bo‘shashadi.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 Shunsuke Uehara va boshq., Beyond resorption: targeting osteoclast fusion and polarization to restore balanced bone remodeling, betlar: PMID 42328629;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qayta qurilishi sikli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Osteoklastlar mikroskopik eskirgan yoki shikastlangan suyakni yemiradi, osteoblastlar uning o‘rniga yangi suyak qo‘yadi.</a:t>
            </a:r>
          </a:p>
          <a:p>
            <a:pPr>
              <a:spcAft>
                <a:spcPts val="1200"/>
              </a:spcAft>
            </a:pPr>
            <a:r>
              <a:rPr sz="2200">
                <a:solidFill>
                  <a:srgbClr val="1F2937"/>
                </a:solidFill>
                <a:latin typeface="Calibri"/>
              </a:rPr>
              <a:t>▸  Osteoklast ~60 µm chuqur zovur — suyak qayta qurilish birligi (BRU) — hosil qiladi; zovur tubi qaytish chizig‘i bilan belgilanadi.</a:t>
            </a:r>
          </a:p>
          <a:p>
            <a:pPr>
              <a:spcAft>
                <a:spcPts val="1200"/>
              </a:spcAft>
            </a:pPr>
            <a:r>
              <a:rPr sz="2200">
                <a:solidFill>
                  <a:srgbClr val="1F2937"/>
                </a:solidFill>
                <a:latin typeface="Calibri"/>
              </a:rPr>
              <a:t>▸  Matriksdan va osteoklastdan ajralgan bog‘lovchi omillar osteoblast avlodlarini rezorbsiya joyiga chaqiradi.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Osteoklast suyakni qanday yemiradi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Ruffled border — membrananing barmoqsimon burmalari; kislota va ferment ajratish yuzasini oshiradi.</a:t>
            </a:r>
          </a:p>
          <a:p>
            <a:pPr>
              <a:spcAft>
                <a:spcPts val="1200"/>
              </a:spcAft>
            </a:pPr>
            <a:r>
              <a:rPr sz="2200">
                <a:solidFill>
                  <a:srgbClr val="1F2937"/>
                </a:solidFill>
                <a:latin typeface="Calibri"/>
              </a:rPr>
              <a:t>▸  Sealing zone — suyakka zich yopishgan halqa; lakunani yopiq lizosomal bo‘shliqqa aylantiradi.</a:t>
            </a:r>
          </a:p>
          <a:p>
            <a:pPr>
              <a:spcAft>
                <a:spcPts val="1200"/>
              </a:spcAft>
            </a:pPr>
            <a:r>
              <a:rPr sz="2200">
                <a:solidFill>
                  <a:srgbClr val="1F2937"/>
                </a:solidFill>
                <a:latin typeface="Calibri"/>
              </a:rPr>
              <a:t>▸  Lakuna, ko‘rinishidan, yupqa kollagen qopqoq — kanopi — bilan yopiladi; u qo‘shni ilikni himoya qiladi.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G‘ovak va kortikal suyakda rezorbsiya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Osteoklastlar g‘ovak suyak yuzasida transhey shaklidagi qayta qurish birligini (BRU) hosil qiladi.</a:t>
            </a:r>
          </a:p>
          <a:p>
            <a:pPr>
              <a:spcAft>
                <a:spcPts val="800"/>
              </a:spcAft>
            </a:pPr>
            <a:r>
              <a:rPr sz="1800">
                <a:solidFill>
                  <a:srgbClr val="1F2937"/>
                </a:solidFill>
                <a:latin typeface="Calibri"/>
              </a:rPr>
              <a:t>▸  Transheya o‘rtacha ~60 μm chuqurlikkacha yemiriladi. Uning tubi qaytish chizig‘i bilan belgilanadi.</a:t>
            </a:r>
          </a:p>
          <a:p>
            <a:pPr>
              <a:spcAft>
                <a:spcPts val="800"/>
              </a:spcAft>
            </a:pPr>
            <a:r>
              <a:rPr sz="1800">
                <a:solidFill>
                  <a:srgbClr val="1F2937"/>
                </a:solidFill>
                <a:latin typeface="Calibri"/>
              </a:rPr>
              <a:t>▸  Zich kortikal suyakda osteoklastlar dumaloq tunnel ochadi. Tunnel yangi suyak bilan to‘lib, osteonga aylanadi.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87863"/>
                <a:gridCol w="1975726"/>
                <a:gridCol w="232438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G‘ovak suyak</a:t>
                      </a:r>
                    </a:p>
                  </a:txBody>
                  <a:tcPr marL="73152" marR="73152" marT="36576" marB="36576">
                    <a:solidFill>
                      <a:srgbClr val="0B1F3A"/>
                    </a:solidFill>
                  </a:tcPr>
                </a:tc>
                <a:tc>
                  <a:txBody>
                    <a:bodyPr/>
                    <a:lstStyle/>
                    <a:p>
                      <a:r>
                        <a:rPr sz="1300" b="1">
                          <a:solidFill>
                            <a:srgbClr val="FFFFFF"/>
                          </a:solidFill>
                        </a:rPr>
                        <a:t>Kortikal suyak</a:t>
                      </a:r>
                    </a:p>
                  </a:txBody>
                  <a:tcPr marL="73152" marR="73152" marT="36576" marB="36576">
                    <a:solidFill>
                      <a:srgbClr val="0B1F3A"/>
                    </a:solidFill>
                  </a:tcPr>
                </a:tc>
              </a:tr>
              <a:tr h="411480">
                <a:tc>
                  <a:txBody>
                    <a:bodyPr/>
                    <a:lstStyle/>
                    <a:p>
                      <a:r>
                        <a:rPr sz="1200" b="0">
                          <a:solidFill>
                            <a:srgbClr val="1F2937"/>
                          </a:solidFill>
                        </a:rPr>
                        <a:t>Joylashuvi</a:t>
                      </a:r>
                    </a:p>
                  </a:txBody>
                  <a:tcPr marL="73152" marR="73152" marT="36576" marB="36576">
                    <a:solidFill>
                      <a:srgbClr val="E8EEF6"/>
                    </a:solidFill>
                  </a:tcPr>
                </a:tc>
                <a:tc>
                  <a:txBody>
                    <a:bodyPr/>
                    <a:lstStyle/>
                    <a:p>
                      <a:r>
                        <a:rPr sz="1200" b="0">
                          <a:solidFill>
                            <a:srgbClr val="1F2937"/>
                          </a:solidFill>
                        </a:rPr>
                        <a:t>G‘ovak (trabekulyar) yuzalar</a:t>
                      </a:r>
                    </a:p>
                  </a:txBody>
                  <a:tcPr marL="73152" marR="73152" marT="36576" marB="36576">
                    <a:solidFill>
                      <a:srgbClr val="E8EEF6"/>
                    </a:solidFill>
                  </a:tcPr>
                </a:tc>
                <a:tc>
                  <a:txBody>
                    <a:bodyPr/>
                    <a:lstStyle/>
                    <a:p>
                      <a:r>
                        <a:rPr sz="1200" b="0">
                          <a:solidFill>
                            <a:srgbClr val="1F2937"/>
                          </a:solidFill>
                        </a:rPr>
                        <a:t>Zich qatlam, g‘ovak suyakni o‘rab turadi</a:t>
                      </a:r>
                    </a:p>
                  </a:txBody>
                  <a:tcPr marL="73152" marR="73152" marT="36576" marB="36576">
                    <a:solidFill>
                      <a:srgbClr val="E8EEF6"/>
                    </a:solidFill>
                  </a:tcPr>
                </a:tc>
              </a:tr>
              <a:tr h="411480">
                <a:tc>
                  <a:txBody>
                    <a:bodyPr/>
                    <a:lstStyle/>
                    <a:p>
                      <a:r>
                        <a:rPr sz="1200" b="0">
                          <a:solidFill>
                            <a:srgbClr val="1F2937"/>
                          </a:solidFill>
                        </a:rPr>
                        <a:t>Rezorbsiya shakli</a:t>
                      </a:r>
                    </a:p>
                  </a:txBody>
                  <a:tcPr marL="73152" marR="73152" marT="36576" marB="36576">
                    <a:solidFill>
                      <a:srgbClr val="FFFFFF"/>
                    </a:solidFill>
                  </a:tcPr>
                </a:tc>
                <a:tc>
                  <a:txBody>
                    <a:bodyPr/>
                    <a:lstStyle/>
                    <a:p>
                      <a:r>
                        <a:rPr sz="1200" b="0">
                          <a:solidFill>
                            <a:srgbClr val="1F2937"/>
                          </a:solidFill>
                        </a:rPr>
                        <a:t>Transhey shaklidagi BRU</a:t>
                      </a:r>
                    </a:p>
                  </a:txBody>
                  <a:tcPr marL="73152" marR="73152" marT="36576" marB="36576">
                    <a:solidFill>
                      <a:srgbClr val="FFFFFF"/>
                    </a:solidFill>
                  </a:tcPr>
                </a:tc>
                <a:tc>
                  <a:txBody>
                    <a:bodyPr/>
                    <a:lstStyle/>
                    <a:p>
                      <a:r>
                        <a:rPr sz="1200" b="0">
                          <a:solidFill>
                            <a:srgbClr val="1F2937"/>
                          </a:solidFill>
                        </a:rPr>
                        <a:t>Deyarli dumaloq tunnellar</a:t>
                      </a:r>
                    </a:p>
                  </a:txBody>
                  <a:tcPr marL="73152" marR="73152" marT="36576" marB="36576">
                    <a:solidFill>
                      <a:srgbClr val="FFFFFF"/>
                    </a:solidFill>
                  </a:tcPr>
                </a:tc>
              </a:tr>
              <a:tr h="411480">
                <a:tc>
                  <a:txBody>
                    <a:bodyPr/>
                    <a:lstStyle/>
                    <a:p>
                      <a:r>
                        <a:rPr sz="1200" b="0">
                          <a:solidFill>
                            <a:srgbClr val="1F2937"/>
                          </a:solidFill>
                        </a:rPr>
                        <a:t>Keyingi holat</a:t>
                      </a:r>
                    </a:p>
                  </a:txBody>
                  <a:tcPr marL="73152" marR="73152" marT="36576" marB="36576">
                    <a:solidFill>
                      <a:srgbClr val="E8EEF6"/>
                    </a:solidFill>
                  </a:tcPr>
                </a:tc>
                <a:tc>
                  <a:txBody>
                    <a:bodyPr/>
                    <a:lstStyle/>
                    <a:p>
                      <a:r>
                        <a:rPr sz="1200" b="0">
                          <a:solidFill>
                            <a:srgbClr val="1F2937"/>
                          </a:solidFill>
                        </a:rPr>
                        <a:t>Qaytish chizig‘i bilan belgilanadi</a:t>
                      </a:r>
                    </a:p>
                  </a:txBody>
                  <a:tcPr marL="73152" marR="73152" marT="36576" marB="36576">
                    <a:solidFill>
                      <a:srgbClr val="E8EEF6"/>
                    </a:solidFill>
                  </a:tcPr>
                </a:tc>
                <a:tc>
                  <a:txBody>
                    <a:bodyPr/>
                    <a:lstStyle/>
                    <a:p>
                      <a:r>
                        <a:rPr sz="1200" b="0">
                          <a:solidFill>
                            <a:srgbClr val="1F2937"/>
                          </a:solidFill>
                        </a:rPr>
                        <a:t>Yangi suyak bilan to‘lib, osteon bo‘ladi</a:t>
                      </a:r>
                    </a:p>
                  </a:txBody>
                  <a:tcPr marL="73152" marR="73152" marT="36576" marB="36576">
                    <a:solidFill>
                      <a:srgbClr val="E8EEF6"/>
                    </a:solidFill>
                  </a:tcPr>
                </a:tc>
              </a:tr>
              <a:tr h="411480">
                <a:tc>
                  <a:txBody>
                    <a:bodyPr/>
                    <a:lstStyle/>
                    <a:p>
                      <a:r>
                        <a:rPr sz="1200" b="0">
                          <a:solidFill>
                            <a:srgbClr val="1F2937"/>
                          </a:solidFill>
                        </a:rPr>
                        <a:t>Markaziy tuzilma</a:t>
                      </a:r>
                    </a:p>
                  </a:txBody>
                  <a:tcPr marL="73152" marR="73152" marT="36576" marB="36576">
                    <a:solidFill>
                      <a:srgbClr val="FFFFFF"/>
                    </a:solidFill>
                  </a:tcPr>
                </a:tc>
                <a:tc>
                  <a:txBody>
                    <a:bodyPr/>
                    <a:lstStyle/>
                    <a:p>
                      <a:r>
                        <a:rPr sz="1200" b="0">
                          <a:solidFill>
                            <a:srgbClr val="1F2937"/>
                          </a:solidFill>
                        </a:rPr>
                        <a:t>Qayd etilmagan</a:t>
                      </a:r>
                    </a:p>
                  </a:txBody>
                  <a:tcPr marL="73152" marR="73152" marT="36576" marB="36576">
                    <a:solidFill>
                      <a:srgbClr val="FFFFFF"/>
                    </a:solidFill>
                  </a:tcPr>
                </a:tc>
                <a:tc>
                  <a:txBody>
                    <a:bodyPr/>
                    <a:lstStyle/>
                    <a:p>
                      <a:r>
                        <a:rPr sz="1200" b="0">
                          <a:solidFill>
                            <a:srgbClr val="1F2937"/>
                          </a:solidFill>
                        </a:rPr>
                        <a:t>Kichik arteriya va vena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suyak turida rezorbsiya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Fiziologik va patologik rezorbsiya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Me‘yorda osteoklastlar silliq tubli transheya hosil qiladi, keyin osteoblastlar yangi suyak qo‘yadi.</a:t>
            </a:r>
          </a:p>
          <a:p>
            <a:pPr>
              <a:spcAft>
                <a:spcPts val="800"/>
              </a:spcAft>
            </a:pPr>
            <a:r>
              <a:rPr sz="1800">
                <a:solidFill>
                  <a:srgbClr val="1F2937"/>
                </a:solidFill>
                <a:latin typeface="Calibri"/>
              </a:rPr>
              <a:t>▸  Infeksiya, yallig‘lanish, endokrin buzilish va metastazda BRU soni oshadi, suyak hosil bo‘lishi esa susayadi.</a:t>
            </a:r>
          </a:p>
          <a:p>
            <a:pPr>
              <a:spcAft>
                <a:spcPts val="800"/>
              </a:spcAft>
            </a:pPr>
            <a:r>
              <a:rPr sz="1800">
                <a:solidFill>
                  <a:srgbClr val="1F2937"/>
                </a:solidFill>
                <a:latin typeface="Calibri"/>
              </a:rPr>
              <a:t>▸  Natija umumiy suyak yo‘qolishi (osteoporoz) yoki rentgenda ko‘rinadigan mahalliy litik o‘choq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91572"/>
                <a:gridCol w="1948201"/>
                <a:gridCol w="194820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Me‘yor</a:t>
                      </a:r>
                    </a:p>
                  </a:txBody>
                  <a:tcPr marL="73152" marR="73152" marT="36576" marB="36576">
                    <a:solidFill>
                      <a:srgbClr val="0B1F3A"/>
                    </a:solidFill>
                  </a:tcPr>
                </a:tc>
                <a:tc>
                  <a:txBody>
                    <a:bodyPr/>
                    <a:lstStyle/>
                    <a:p>
                      <a:r>
                        <a:rPr sz="1300" b="1">
                          <a:solidFill>
                            <a:srgbClr val="FFFFFF"/>
                          </a:solidFill>
                        </a:rPr>
                        <a:t>Kasallik</a:t>
                      </a:r>
                    </a:p>
                  </a:txBody>
                  <a:tcPr marL="73152" marR="73152" marT="36576" marB="36576">
                    <a:solidFill>
                      <a:srgbClr val="0B1F3A"/>
                    </a:solidFill>
                  </a:tcPr>
                </a:tc>
              </a:tr>
              <a:tr h="411480">
                <a:tc>
                  <a:txBody>
                    <a:bodyPr/>
                    <a:lstStyle/>
                    <a:p>
                      <a:r>
                        <a:rPr sz="1200" b="0">
                          <a:solidFill>
                            <a:srgbClr val="1F2937"/>
                          </a:solidFill>
                        </a:rPr>
                        <a:t>BRU soni</a:t>
                      </a:r>
                    </a:p>
                  </a:txBody>
                  <a:tcPr marL="73152" marR="73152" marT="36576" marB="36576">
                    <a:solidFill>
                      <a:srgbClr val="E8EEF6"/>
                    </a:solidFill>
                  </a:tcPr>
                </a:tc>
                <a:tc>
                  <a:txBody>
                    <a:bodyPr/>
                    <a:lstStyle/>
                    <a:p>
                      <a:r>
                        <a:rPr sz="1200" b="0">
                          <a:solidFill>
                            <a:srgbClr val="1F2937"/>
                          </a:solidFill>
                        </a:rPr>
                        <a:t>Kattalarda &gt;1 million</a:t>
                      </a:r>
                    </a:p>
                  </a:txBody>
                  <a:tcPr marL="73152" marR="73152" marT="36576" marB="36576">
                    <a:solidFill>
                      <a:srgbClr val="E8EEF6"/>
                    </a:solidFill>
                  </a:tcPr>
                </a:tc>
                <a:tc>
                  <a:txBody>
                    <a:bodyPr/>
                    <a:lstStyle/>
                    <a:p>
                      <a:r>
                        <a:rPr sz="1200" b="0">
                          <a:solidFill>
                            <a:srgbClr val="1F2937"/>
                          </a:solidFill>
                        </a:rPr>
                        <a:t>Ko‘payadi</a:t>
                      </a:r>
                    </a:p>
                  </a:txBody>
                  <a:tcPr marL="73152" marR="73152" marT="36576" marB="36576">
                    <a:solidFill>
                      <a:srgbClr val="E8EEF6"/>
                    </a:solidFill>
                  </a:tcPr>
                </a:tc>
              </a:tr>
              <a:tr h="411480">
                <a:tc>
                  <a:txBody>
                    <a:bodyPr/>
                    <a:lstStyle/>
                    <a:p>
                      <a:r>
                        <a:rPr sz="1200" b="0">
                          <a:solidFill>
                            <a:srgbClr val="1F2937"/>
                          </a:solidFill>
                        </a:rPr>
                        <a:t>Qaytish chizig‘i</a:t>
                      </a:r>
                    </a:p>
                  </a:txBody>
                  <a:tcPr marL="73152" marR="73152" marT="36576" marB="36576">
                    <a:solidFill>
                      <a:srgbClr val="FFFFFF"/>
                    </a:solidFill>
                  </a:tcPr>
                </a:tc>
                <a:tc>
                  <a:txBody>
                    <a:bodyPr/>
                    <a:lstStyle/>
                    <a:p>
                      <a:r>
                        <a:rPr sz="1200" b="0">
                          <a:solidFill>
                            <a:srgbClr val="1F2937"/>
                          </a:solidFill>
                        </a:rPr>
                        <a:t>Silliq, tartibli</a:t>
                      </a:r>
                    </a:p>
                  </a:txBody>
                  <a:tcPr marL="73152" marR="73152" marT="36576" marB="36576">
                    <a:solidFill>
                      <a:srgbClr val="FFFFFF"/>
                    </a:solidFill>
                  </a:tcPr>
                </a:tc>
                <a:tc>
                  <a:txBody>
                    <a:bodyPr/>
                    <a:lstStyle/>
                    <a:p>
                      <a:r>
                        <a:rPr sz="1200" b="0">
                          <a:solidFill>
                            <a:srgbClr val="1F2937"/>
                          </a:solidFill>
                        </a:rPr>
                        <a:t>Notekis, tartibsiz</a:t>
                      </a:r>
                    </a:p>
                  </a:txBody>
                  <a:tcPr marL="73152" marR="73152" marT="36576" marB="36576">
                    <a:solidFill>
                      <a:srgbClr val="FFFFFF"/>
                    </a:solidFill>
                  </a:tcPr>
                </a:tc>
              </a:tr>
              <a:tr h="411480">
                <a:tc>
                  <a:txBody>
                    <a:bodyPr/>
                    <a:lstStyle/>
                    <a:p>
                      <a:r>
                        <a:rPr sz="1200" b="0">
                          <a:solidFill>
                            <a:srgbClr val="1F2937"/>
                          </a:solidFill>
                        </a:rPr>
                        <a:t>Suyak hosil bo‘lishi</a:t>
                      </a:r>
                    </a:p>
                  </a:txBody>
                  <a:tcPr marL="73152" marR="73152" marT="36576" marB="36576">
                    <a:solidFill>
                      <a:srgbClr val="E8EEF6"/>
                    </a:solidFill>
                  </a:tcPr>
                </a:tc>
                <a:tc>
                  <a:txBody>
                    <a:bodyPr/>
                    <a:lstStyle/>
                    <a:p>
                      <a:r>
                        <a:rPr sz="1200" b="0">
                          <a:solidFill>
                            <a:srgbClr val="1F2937"/>
                          </a:solidFill>
                        </a:rPr>
                        <a:t>Rezorbsiya joyiga bog‘langan</a:t>
                      </a:r>
                    </a:p>
                  </a:txBody>
                  <a:tcPr marL="73152" marR="73152" marT="36576" marB="36576">
                    <a:solidFill>
                      <a:srgbClr val="E8EEF6"/>
                    </a:solidFill>
                  </a:tcPr>
                </a:tc>
                <a:tc>
                  <a:txBody>
                    <a:bodyPr/>
                    <a:lstStyle/>
                    <a:p>
                      <a:r>
                        <a:rPr sz="1200" b="0">
                          <a:solidFill>
                            <a:srgbClr val="1F2937"/>
                          </a:solidFill>
                        </a:rPr>
                        <a:t>Odatda susayadi</a:t>
                      </a:r>
                    </a:p>
                  </a:txBody>
                  <a:tcPr marL="73152" marR="73152" marT="36576" marB="36576">
                    <a:solidFill>
                      <a:srgbClr val="E8EEF6"/>
                    </a:solidFill>
                  </a:tcPr>
                </a:tc>
              </a:tr>
              <a:tr h="411480">
                <a:tc>
                  <a:txBody>
                    <a:bodyPr/>
                    <a:lstStyle/>
                    <a:p>
                      <a:r>
                        <a:rPr sz="1200" b="0">
                          <a:solidFill>
                            <a:srgbClr val="1F2937"/>
                          </a:solidFill>
                        </a:rPr>
                        <a:t>Oqibat</a:t>
                      </a:r>
                    </a:p>
                  </a:txBody>
                  <a:tcPr marL="73152" marR="73152" marT="36576" marB="36576">
                    <a:solidFill>
                      <a:srgbClr val="FFFFFF"/>
                    </a:solidFill>
                  </a:tcPr>
                </a:tc>
                <a:tc>
                  <a:txBody>
                    <a:bodyPr/>
                    <a:lstStyle/>
                    <a:p>
                      <a:r>
                        <a:rPr sz="1200" b="0">
                          <a:solidFill>
                            <a:srgbClr val="1F2937"/>
                          </a:solidFill>
                        </a:rPr>
                        <a:t>Skelet yangilanadi</a:t>
                      </a:r>
                    </a:p>
                  </a:txBody>
                  <a:tcPr marL="73152" marR="73152" marT="36576" marB="36576">
                    <a:solidFill>
                      <a:srgbClr val="FFFFFF"/>
                    </a:solidFill>
                  </a:tcPr>
                </a:tc>
                <a:tc>
                  <a:txBody>
                    <a:bodyPr/>
                    <a:lstStyle/>
                    <a:p>
                      <a:r>
                        <a:rPr sz="1200" b="0">
                          <a:solidFill>
                            <a:srgbClr val="1F2937"/>
                          </a:solidFill>
                        </a:rPr>
                        <a:t>Osteoporoz yoki litik o‘choq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Me‘yor va kasallik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mozaik tasvirli suyak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gistologik kesmada (H&amp;E bo‘yash) qaytish chiziqlari notekis, suyak mozaika ko‘rinishida.</a:t>
            </a:r>
          </a:p>
          <a:p>
            <a:pPr>
              <a:spcAft>
                <a:spcPts val="1200"/>
              </a:spcAft>
            </a:pPr>
            <a:r>
              <a:rPr sz="2200">
                <a:solidFill>
                  <a:srgbClr val="1F2937"/>
                </a:solidFill>
                <a:latin typeface="Calibri"/>
              </a:rPr>
              <a:t>▸  Rezorbsiya tezligi oshganda osteoklastlar tartibsiz ishlaydi. Klassik misol — Paget kasalligi.</a:t>
            </a:r>
          </a:p>
          <a:p>
            <a:pPr>
              <a:spcAft>
                <a:spcPts val="1200"/>
              </a:spcAft>
            </a:pPr>
            <a:r>
              <a:rPr sz="2200">
                <a:solidFill>
                  <a:srgbClr val="1F2937"/>
                </a:solidFill>
                <a:latin typeface="Calibri"/>
              </a:rPr>
              <a:t>▸  Savol: bu qanday rezorbsiya shakli va chiziqlar nima uchun tartibsiz?</a:t>
            </a:r>
          </a:p>
          <a:p>
            <a:pPr>
              <a:spcAft>
                <a:spcPts val="1200"/>
              </a:spcAft>
            </a:pPr>
            <a:r>
              <a:rPr sz="2200">
                <a:solidFill>
                  <a:srgbClr val="1F2937"/>
                </a:solidFill>
                <a:latin typeface="Calibri"/>
              </a:rPr>
              <a:t>▸  Diqqat: silliq tubli transheya me‘yorni, notekis chiziq kuchaygan (patologik) rezorbsiyani bildiradi.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rezorbsiya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osteoklast suyak mineralini nima bilan eritadi? Javob: kislota. Proton nasoslari H+ ionlarini, xlor kanallari Cl− ionlarini ajratadi.</a:t>
            </a:r>
          </a:p>
          <a:p>
            <a:pPr>
              <a:spcAft>
                <a:spcPts val="1200"/>
              </a:spcAft>
            </a:pPr>
            <a:r>
              <a:rPr sz="2200">
                <a:solidFill>
                  <a:srgbClr val="1F2937"/>
                </a:solidFill>
                <a:latin typeface="Calibri"/>
              </a:rPr>
              <a:t>▸  Savol 2: mineral erigach, kollagenli matriksni nima parchalaydi? Javob: metalloproteazalar; asosiy proteolitik ferment — katepsin K.</a:t>
            </a:r>
          </a:p>
          <a:p>
            <a:pPr>
              <a:spcAft>
                <a:spcPts val="1200"/>
              </a:spcAft>
            </a:pPr>
            <a:r>
              <a:rPr sz="2200">
                <a:solidFill>
                  <a:srgbClr val="1F2937"/>
                </a:solidFill>
                <a:latin typeface="Calibri"/>
              </a:rPr>
              <a:t>▸  Savol 3: katepsin K qaysi pH da eng samarali, sealing zone nima qiladi? Javob: pH ~5,5; sealing zone yopiq lizosomal bo‘shliq hosil qilib, hujayralarni kislotadan himoya qiladi.</a:t>
            </a:r>
          </a:p>
          <a:p>
            <a:pPr>
              <a:spcAft>
                <a:spcPts val="1200"/>
              </a:spcAft>
            </a:pPr>
            <a:r>
              <a:rPr sz="2200">
                <a:solidFill>
                  <a:srgbClr val="1F2937"/>
                </a:solidFill>
                <a:latin typeface="Calibri"/>
              </a:rPr>
              <a:t>▸  Diqqat: xato qilish xavfi — demineralizatsiya (kislota bilan mineralning erishi) ≠ matriks parchalanishi (ferment); ular ketma-ket bosqichlar.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Osteoklastning kelib chiqishi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Osteoklastlar suyak ko‘migidagi gemopoetik miyeloid prekursorlarning qo‘shilishidan hosil bo‘lgan ko‘p yadroli hujayralardir.</a:t>
            </a:r>
          </a:p>
          <a:p>
            <a:pPr>
              <a:spcAft>
                <a:spcPts val="800"/>
              </a:spcAft>
            </a:pPr>
            <a:r>
              <a:rPr sz="1800">
                <a:solidFill>
                  <a:srgbClr val="1F2937"/>
                </a:solidFill>
                <a:latin typeface="Calibri"/>
              </a:rPr>
              <a:t>▸  M-CSF prekursorlarda RANK ifodasini oshiradi; RANKL ta’sirida ular differensiallanib, bir-biri bilan qo‘shiladi.</a:t>
            </a:r>
          </a:p>
          <a:p>
            <a:pPr>
              <a:spcAft>
                <a:spcPts val="800"/>
              </a:spcAft>
            </a:pPr>
            <a:r>
              <a:rPr sz="1800">
                <a:solidFill>
                  <a:srgbClr val="1F2937"/>
                </a:solidFill>
                <a:latin typeface="Calibri"/>
              </a:rPr>
              <a:t>▸  RANKL va M-CSF osteoklastni lakunada saqlaydi; o‘rtacha umri taxminan 30 kun.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Miyeloid prekursor (ko‘mik)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M-CSF: RANK ifodasi ↑</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RANKL: differensiallanish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Prekursorlar qo‘shiladi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yadroli osteoklast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Osteoklast hosil bo‘lish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RANKL/RANK/OPG tizimi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RANKL osteoblast, osteotsit va immun hujayralarda ifodalanadi; RANK esa osteoklast prekursorlarida joylashgan.</a:t>
            </a:r>
          </a:p>
          <a:p>
            <a:pPr>
              <a:spcAft>
                <a:spcPts val="800"/>
              </a:spcAft>
            </a:pPr>
            <a:r>
              <a:rPr sz="1800">
                <a:solidFill>
                  <a:srgbClr val="1F2937"/>
                </a:solidFill>
                <a:latin typeface="Calibri"/>
              </a:rPr>
              <a:t>▸  Eslab qoling: OPG – tabiiy tormoz; RANKL ni RANK dan kuchliroq bog‘lab, osteoklastni cheklaydi.</a:t>
            </a:r>
          </a:p>
          <a:p>
            <a:pPr>
              <a:spcAft>
                <a:spcPts val="800"/>
              </a:spcAft>
            </a:pPr>
            <a:r>
              <a:rPr sz="1800">
                <a:solidFill>
                  <a:srgbClr val="1F2937"/>
                </a:solidFill>
                <a:latin typeface="Calibri"/>
              </a:rPr>
              <a:t>▸  RANKL/OPG nisbati normal va kasal holatda suyak rezorbsiyasi darajasini belgilaydi.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1741921"/>
                <a:gridCol w="2488458"/>
              </a:tblGrid>
              <a:tr h="411480">
                <a:tc>
                  <a:txBody>
                    <a:bodyPr/>
                    <a:lstStyle/>
                    <a:p>
                      <a:r>
                        <a:rPr sz="1300" b="1">
                          <a:solidFill>
                            <a:srgbClr val="FFFFFF"/>
                          </a:solidFill>
                        </a:rPr>
                        <a:t>Ishtirokchi</a:t>
                      </a:r>
                    </a:p>
                  </a:txBody>
                  <a:tcPr marL="73152" marR="73152" marT="36576" marB="36576">
                    <a:solidFill>
                      <a:srgbClr val="0B1F3A"/>
                    </a:solidFill>
                  </a:tcPr>
                </a:tc>
                <a:tc>
                  <a:txBody>
                    <a:bodyPr/>
                    <a:lstStyle/>
                    <a:p>
                      <a:r>
                        <a:rPr sz="1300" b="1">
                          <a:solidFill>
                            <a:srgbClr val="FFFFFF"/>
                          </a:solidFill>
                        </a:rPr>
                        <a:t>Tabiati</a:t>
                      </a:r>
                    </a:p>
                  </a:txBody>
                  <a:tcPr marL="73152" marR="73152" marT="36576" marB="36576">
                    <a:solidFill>
                      <a:srgbClr val="0B1F3A"/>
                    </a:solidFill>
                  </a:tcPr>
                </a:tc>
                <a:tc>
                  <a:txBody>
                    <a:bodyPr/>
                    <a:lstStyle/>
                    <a:p>
                      <a:r>
                        <a:rPr sz="1300" b="1">
                          <a:solidFill>
                            <a:srgbClr val="FFFFFF"/>
                          </a:solidFill>
                        </a:rPr>
                        <a:t>Vazifasi</a:t>
                      </a:r>
                    </a:p>
                  </a:txBody>
                  <a:tcPr marL="73152" marR="73152" marT="36576" marB="36576">
                    <a:solidFill>
                      <a:srgbClr val="0B1F3A"/>
                    </a:solidFill>
                  </a:tcPr>
                </a:tc>
              </a:tr>
              <a:tr h="411480">
                <a:tc>
                  <a:txBody>
                    <a:bodyPr/>
                    <a:lstStyle/>
                    <a:p>
                      <a:r>
                        <a:rPr sz="1200" b="0">
                          <a:solidFill>
                            <a:srgbClr val="1F2937"/>
                          </a:solidFill>
                        </a:rPr>
                        <a:t>RANKL</a:t>
                      </a:r>
                    </a:p>
                  </a:txBody>
                  <a:tcPr marL="73152" marR="73152" marT="36576" marB="36576">
                    <a:solidFill>
                      <a:srgbClr val="E8EEF6"/>
                    </a:solidFill>
                  </a:tcPr>
                </a:tc>
                <a:tc>
                  <a:txBody>
                    <a:bodyPr/>
                    <a:lstStyle/>
                    <a:p>
                      <a:r>
                        <a:rPr sz="1200" b="0">
                          <a:solidFill>
                            <a:srgbClr val="1F2937"/>
                          </a:solidFill>
                        </a:rPr>
                        <a:t>Ligand; TNFSF11 geni</a:t>
                      </a:r>
                    </a:p>
                  </a:txBody>
                  <a:tcPr marL="73152" marR="73152" marT="36576" marB="36576">
                    <a:solidFill>
                      <a:srgbClr val="E8EEF6"/>
                    </a:solidFill>
                  </a:tcPr>
                </a:tc>
                <a:tc>
                  <a:txBody>
                    <a:bodyPr/>
                    <a:lstStyle/>
                    <a:p>
                      <a:r>
                        <a:rPr sz="1200" b="0">
                          <a:solidFill>
                            <a:srgbClr val="1F2937"/>
                          </a:solidFill>
                        </a:rPr>
                        <a:t>Prekursorni osteoklastga aylantiradi</a:t>
                      </a:r>
                    </a:p>
                  </a:txBody>
                  <a:tcPr marL="73152" marR="73152" marT="36576" marB="36576">
                    <a:solidFill>
                      <a:srgbClr val="E8EEF6"/>
                    </a:solidFill>
                  </a:tcPr>
                </a:tc>
              </a:tr>
              <a:tr h="411480">
                <a:tc>
                  <a:txBody>
                    <a:bodyPr/>
                    <a:lstStyle/>
                    <a:p>
                      <a:r>
                        <a:rPr sz="1200" b="0">
                          <a:solidFill>
                            <a:srgbClr val="1F2937"/>
                          </a:solidFill>
                        </a:rPr>
                        <a:t>RANK</a:t>
                      </a:r>
                    </a:p>
                  </a:txBody>
                  <a:tcPr marL="73152" marR="73152" marT="36576" marB="36576">
                    <a:solidFill>
                      <a:srgbClr val="FFFFFF"/>
                    </a:solidFill>
                  </a:tcPr>
                </a:tc>
                <a:tc>
                  <a:txBody>
                    <a:bodyPr/>
                    <a:lstStyle/>
                    <a:p>
                      <a:r>
                        <a:rPr sz="1200" b="0">
                          <a:solidFill>
                            <a:srgbClr val="1F2937"/>
                          </a:solidFill>
                        </a:rPr>
                        <a:t>Retseptor; TNFRSF11A geni</a:t>
                      </a:r>
                    </a:p>
                  </a:txBody>
                  <a:tcPr marL="73152" marR="73152" marT="36576" marB="36576">
                    <a:solidFill>
                      <a:srgbClr val="FFFFFF"/>
                    </a:solidFill>
                  </a:tcPr>
                </a:tc>
                <a:tc>
                  <a:txBody>
                    <a:bodyPr/>
                    <a:lstStyle/>
                    <a:p>
                      <a:r>
                        <a:rPr sz="1200" b="0">
                          <a:solidFill>
                            <a:srgbClr val="1F2937"/>
                          </a:solidFill>
                        </a:rPr>
                        <a:t>RANKL ni bog‘laydi, TRAF6 ni chaqiradi</a:t>
                      </a:r>
                    </a:p>
                  </a:txBody>
                  <a:tcPr marL="73152" marR="73152" marT="36576" marB="36576">
                    <a:solidFill>
                      <a:srgbClr val="FFFFFF"/>
                    </a:solidFill>
                  </a:tcPr>
                </a:tc>
              </a:tr>
              <a:tr h="411480">
                <a:tc>
                  <a:txBody>
                    <a:bodyPr/>
                    <a:lstStyle/>
                    <a:p>
                      <a:r>
                        <a:rPr sz="1200" b="0">
                          <a:solidFill>
                            <a:srgbClr val="1F2937"/>
                          </a:solidFill>
                        </a:rPr>
                        <a:t>OPG</a:t>
                      </a:r>
                    </a:p>
                  </a:txBody>
                  <a:tcPr marL="73152" marR="73152" marT="36576" marB="36576">
                    <a:solidFill>
                      <a:srgbClr val="E8EEF6"/>
                    </a:solidFill>
                  </a:tcPr>
                </a:tc>
                <a:tc>
                  <a:txBody>
                    <a:bodyPr/>
                    <a:lstStyle/>
                    <a:p>
                      <a:r>
                        <a:rPr sz="1200" b="0">
                          <a:solidFill>
                            <a:srgbClr val="1F2937"/>
                          </a:solidFill>
                        </a:rPr>
                        <a:t>Yolg‘on retseptor; TNFRSF11B</a:t>
                      </a:r>
                    </a:p>
                  </a:txBody>
                  <a:tcPr marL="73152" marR="73152" marT="36576" marB="36576">
                    <a:solidFill>
                      <a:srgbClr val="E8EEF6"/>
                    </a:solidFill>
                  </a:tcPr>
                </a:tc>
                <a:tc>
                  <a:txBody>
                    <a:bodyPr/>
                    <a:lstStyle/>
                    <a:p>
                      <a:r>
                        <a:rPr sz="1200" b="0">
                          <a:solidFill>
                            <a:srgbClr val="1F2937"/>
                          </a:solidFill>
                        </a:rPr>
                        <a:t>RANKL ni bog‘lab, RANK dan ushlab qoladi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Tizim ishtirokchilari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RANKL manbalari va aksessuar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RANKL (NF-κB retseptori faollashtiruvchisi ligandi)ni osteoblast va stromal hujayralar, B va T limfositlar ifodalaydi. Ular aksessuar hujayralar deyiladi.</a:t>
            </a:r>
          </a:p>
          <a:p>
            <a:pPr>
              <a:spcAft>
                <a:spcPts val="1200"/>
              </a:spcAft>
            </a:pPr>
            <a:r>
              <a:rPr sz="2200">
                <a:solidFill>
                  <a:srgbClr val="1F2937"/>
                </a:solidFill>
                <a:latin typeface="Calibri"/>
              </a:rPr>
              <a:t>▸  Osteositlar suyakdagi eng ko‘p hujayralar bo‘lib, membranali va ajraluvchi RANKL chiqaradi. Embrionda bu RANKL shart emas, o‘smir va kattalarda remodellash uchun zarur.</a:t>
            </a:r>
          </a:p>
          <a:p>
            <a:pPr>
              <a:spcAft>
                <a:spcPts val="1200"/>
              </a:spcAft>
            </a:pPr>
            <a:r>
              <a:rPr sz="2200">
                <a:solidFill>
                  <a:srgbClr val="1F2937"/>
                </a:solidFill>
                <a:latin typeface="Calibri"/>
              </a:rPr>
              <a:t>▸  Revmatoid artritda yallig‘langan bo‘g‘imda sinovitsitlar RANKLning asosiy manbai. O‘sma nekrozi omili (TNF) aksessuar hujayralarda RANKLni oshiradi.</a:t>
            </a:r>
          </a:p>
          <a:p>
            <a:pPr>
              <a:spcAft>
                <a:spcPts val="1200"/>
              </a:spcAft>
            </a:pPr>
            <a:r>
              <a:rPr sz="2200">
                <a:solidFill>
                  <a:srgbClr val="1F2937"/>
                </a:solidFill>
                <a:latin typeface="Calibri"/>
              </a:rPr>
              <a:t>▸  Yallig‘langan suyak muhitida qon tomir endotelial hujayralari ham RANKL ajratib, osteoklast hosil bo‘lishiga hissa qo‘shadi.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RANKL/OPG nisbati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RANKL osteoklast hosil bo‘lishi uchun asosiy omil. OPG esa RANKLni tutib, rezorbsiyani cheklaydi.</a:t>
            </a:r>
          </a:p>
          <a:p>
            <a:pPr>
              <a:spcAft>
                <a:spcPts val="800"/>
              </a:spcAft>
            </a:pPr>
            <a:r>
              <a:rPr sz="1800">
                <a:solidFill>
                  <a:srgbClr val="1F2937"/>
                </a:solidFill>
                <a:latin typeface="Calibri"/>
              </a:rPr>
              <a:t>▸  RANKL va OPG nisbati norma va kasallikda rezorbsiya darajasini belgilovchi asosiy omil.</a:t>
            </a:r>
          </a:p>
          <a:p>
            <a:pPr>
              <a:spcAft>
                <a:spcPts val="800"/>
              </a:spcAft>
            </a:pPr>
            <a:r>
              <a:rPr sz="1800">
                <a:solidFill>
                  <a:srgbClr val="1F2937"/>
                </a:solidFill>
                <a:latin typeface="Calibri"/>
              </a:rPr>
              <a:t>▸  Diqqat: zich suyak ≠ mustahkam suyak. Osteopetrozda suyak to‘qilgan (woven) turda va mo‘rt.</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362054"/>
                <a:gridCol w="1842779"/>
                <a:gridCol w="2083141"/>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RANKL yo‘q</a:t>
                      </a:r>
                    </a:p>
                  </a:txBody>
                  <a:tcPr marL="73152" marR="73152" marT="36576" marB="36576">
                    <a:solidFill>
                      <a:srgbClr val="0B1F3A"/>
                    </a:solidFill>
                  </a:tcPr>
                </a:tc>
                <a:tc>
                  <a:txBody>
                    <a:bodyPr/>
                    <a:lstStyle/>
                    <a:p>
                      <a:r>
                        <a:rPr sz="1300" b="1">
                          <a:solidFill>
                            <a:srgbClr val="FFFFFF"/>
                          </a:solidFill>
                        </a:rPr>
                        <a:t>OPG yo‘q</a:t>
                      </a:r>
                    </a:p>
                  </a:txBody>
                  <a:tcPr marL="73152" marR="73152" marT="36576" marB="36576">
                    <a:solidFill>
                      <a:srgbClr val="0B1F3A"/>
                    </a:solidFill>
                  </a:tcPr>
                </a:tc>
              </a:tr>
              <a:tr h="411480">
                <a:tc>
                  <a:txBody>
                    <a:bodyPr/>
                    <a:lstStyle/>
                    <a:p>
                      <a:r>
                        <a:rPr sz="1200" b="0">
                          <a:solidFill>
                            <a:srgbClr val="1F2937"/>
                          </a:solidFill>
                        </a:rPr>
                        <a:t>Osteoklastlar</a:t>
                      </a:r>
                    </a:p>
                  </a:txBody>
                  <a:tcPr marL="73152" marR="73152" marT="36576" marB="36576">
                    <a:solidFill>
                      <a:srgbClr val="E8EEF6"/>
                    </a:solidFill>
                  </a:tcPr>
                </a:tc>
                <a:tc>
                  <a:txBody>
                    <a:bodyPr/>
                    <a:lstStyle/>
                    <a:p>
                      <a:r>
                        <a:rPr sz="1200" b="0">
                          <a:solidFill>
                            <a:srgbClr val="1F2937"/>
                          </a:solidFill>
                        </a:rPr>
                        <a:t>Hosil bo‘lmaydi</a:t>
                      </a:r>
                    </a:p>
                  </a:txBody>
                  <a:tcPr marL="73152" marR="73152" marT="36576" marB="36576">
                    <a:solidFill>
                      <a:srgbClr val="E8EEF6"/>
                    </a:solidFill>
                  </a:tcPr>
                </a:tc>
                <a:tc>
                  <a:txBody>
                    <a:bodyPr/>
                    <a:lstStyle/>
                    <a:p>
                      <a:r>
                        <a:rPr sz="1200" b="0">
                          <a:solidFill>
                            <a:srgbClr val="1F2937"/>
                          </a:solidFill>
                        </a:rPr>
                        <a:t>Haddan ko‘p faol</a:t>
                      </a:r>
                    </a:p>
                  </a:txBody>
                  <a:tcPr marL="73152" marR="73152" marT="36576" marB="36576">
                    <a:solidFill>
                      <a:srgbClr val="E8EEF6"/>
                    </a:solidFill>
                  </a:tcPr>
                </a:tc>
              </a:tr>
              <a:tr h="411480">
                <a:tc>
                  <a:txBody>
                    <a:bodyPr/>
                    <a:lstStyle/>
                    <a:p>
                      <a:r>
                        <a:rPr sz="1200" b="0">
                          <a:solidFill>
                            <a:srgbClr val="1F2937"/>
                          </a:solidFill>
                        </a:rPr>
                        <a:t>Suyak holati</a:t>
                      </a:r>
                    </a:p>
                  </a:txBody>
                  <a:tcPr marL="73152" marR="73152" marT="36576" marB="36576">
                    <a:solidFill>
                      <a:srgbClr val="FFFFFF"/>
                    </a:solidFill>
                  </a:tcPr>
                </a:tc>
                <a:tc>
                  <a:txBody>
                    <a:bodyPr/>
                    <a:lstStyle/>
                    <a:p>
                      <a:r>
                        <a:rPr sz="1200" b="0">
                          <a:solidFill>
                            <a:srgbClr val="1F2937"/>
                          </a:solidFill>
                        </a:rPr>
                        <a:t>Osteopetroz</a:t>
                      </a:r>
                    </a:p>
                  </a:txBody>
                  <a:tcPr marL="73152" marR="73152" marT="36576" marB="36576">
                    <a:solidFill>
                      <a:srgbClr val="FFFFFF"/>
                    </a:solidFill>
                  </a:tcPr>
                </a:tc>
                <a:tc>
                  <a:txBody>
                    <a:bodyPr/>
                    <a:lstStyle/>
                    <a:p>
                      <a:r>
                        <a:rPr sz="1200" b="0">
                          <a:solidFill>
                            <a:srgbClr val="1F2937"/>
                          </a:solidFill>
                        </a:rPr>
                        <a:t>Erta osteoporoz</a:t>
                      </a:r>
                    </a:p>
                  </a:txBody>
                  <a:tcPr marL="73152" marR="73152" marT="36576" marB="36576">
                    <a:solidFill>
                      <a:srgbClr val="FFFFFF"/>
                    </a:solidFill>
                  </a:tcPr>
                </a:tc>
              </a:tr>
              <a:tr h="411480">
                <a:tc>
                  <a:txBody>
                    <a:bodyPr/>
                    <a:lstStyle/>
                    <a:p>
                      <a:r>
                        <a:rPr sz="1200" b="0">
                          <a:solidFill>
                            <a:srgbClr val="1F2937"/>
                          </a:solidFill>
                        </a:rPr>
                        <a:t>Oqibat</a:t>
                      </a:r>
                    </a:p>
                  </a:txBody>
                  <a:tcPr marL="73152" marR="73152" marT="36576" marB="36576">
                    <a:solidFill>
                      <a:srgbClr val="E8EEF6"/>
                    </a:solidFill>
                  </a:tcPr>
                </a:tc>
                <a:tc>
                  <a:txBody>
                    <a:bodyPr/>
                    <a:lstStyle/>
                    <a:p>
                      <a:r>
                        <a:rPr sz="1200" b="0">
                          <a:solidFill>
                            <a:srgbClr val="1F2937"/>
                          </a:solidFill>
                        </a:rPr>
                        <a:t>Zich, lekin mo‘rt suyak</a:t>
                      </a:r>
                    </a:p>
                  </a:txBody>
                  <a:tcPr marL="73152" marR="73152" marT="36576" marB="36576">
                    <a:solidFill>
                      <a:srgbClr val="E8EEF6"/>
                    </a:solidFill>
                  </a:tcPr>
                </a:tc>
                <a:tc>
                  <a:txBody>
                    <a:bodyPr/>
                    <a:lstStyle/>
                    <a:p>
                      <a:r>
                        <a:rPr sz="1200" b="0">
                          <a:solidFill>
                            <a:srgbClr val="1F2937"/>
                          </a:solidFill>
                        </a:rPr>
                        <a:t>Ko‘p rezorbsiya, sinishlar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RANKL va OPG yetishmasligi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Wnt signali va LGR4 ning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Wnt/β-katenin signali mezenximal ildiz hujayralaridan osteoblast hosil bo‘lishini boshqaradi. Kanonik yo‘l osteoblastlarda OPG ifodasini ham oshiradi.</a:t>
            </a:r>
          </a:p>
          <a:p>
            <a:pPr>
              <a:spcAft>
                <a:spcPts val="1200"/>
              </a:spcAft>
            </a:pPr>
            <a:r>
              <a:rPr sz="2000">
                <a:solidFill>
                  <a:srgbClr val="1F2937"/>
                </a:solidFill>
                <a:latin typeface="Calibri"/>
              </a:rPr>
              <a:t>▸  Wnt3a va Wnt16 RANKL keltirib chiqargan NF-κB–NFATc1 (T-hujayralar yadro omili) ifodasini to‘sib, rezorbsiyani cheklaydi. Wnt4a ham osteoklast hosil bo‘lishini to‘sadi.</a:t>
            </a:r>
          </a:p>
          <a:p>
            <a:pPr>
              <a:spcAft>
                <a:spcPts val="1200"/>
              </a:spcAft>
            </a:pPr>
            <a:r>
              <a:rPr sz="2000">
                <a:solidFill>
                  <a:srgbClr val="1F2937"/>
                </a:solidFill>
                <a:latin typeface="Calibri"/>
              </a:rPr>
              <a:t>▸  Wnt5a osteoklast prekursorlarida RANK ifodasini oshiradi. β-katenin erta prekursorlarda differensiatsiyani kuchaytiradi, yetilganlarda to‘sadi.</a:t>
            </a:r>
          </a:p>
          <a:p>
            <a:pPr>
              <a:spcAft>
                <a:spcPts val="1200"/>
              </a:spcAft>
            </a:pPr>
            <a:r>
              <a:rPr sz="2000">
                <a:solidFill>
                  <a:srgbClr val="1F2937"/>
                </a:solidFill>
                <a:latin typeface="Calibri"/>
              </a:rPr>
              <a:t>▸  LGR4 (leysinga boy takrorli G-oqsil bilan bog‘liq retseptor 4) RANKL uchun qo‘shimcha retseptor; RANK bilan raqobatlashib, Gαq va GSK3-β orqali NFATc1 ni bostiradi.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RANKL‘siz sichqonlar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RANKL yoki RANK geni o‘chirilgan sichqonlarda osteoklast va TRAP (tartratga chidamli kislotali fosfataza) bo‘yalishi yo‘q; iligi bo‘shlig‘ini zich suyak to‘ldiradi.</a:t>
            </a:r>
          </a:p>
          <a:p>
            <a:pPr>
              <a:spcAft>
                <a:spcPts val="1200"/>
              </a:spcAft>
            </a:pPr>
            <a:r>
              <a:rPr sz="2200">
                <a:solidFill>
                  <a:srgbClr val="1F2937"/>
                </a:solidFill>
                <a:latin typeface="Calibri"/>
              </a:rPr>
              <a:t>▸  Savolga javob: osteoklast bo‘lmasa, mineralli suyak matritsasi uzun suyaklar va umurtqalar iligi bo‘shlig‘idan olib tashlanmaydi. Bu holat osteopetroz deyiladi.</a:t>
            </a:r>
          </a:p>
          <a:p>
            <a:pPr>
              <a:spcAft>
                <a:spcPts val="1200"/>
              </a:spcAft>
            </a:pPr>
            <a:r>
              <a:rPr sz="2200">
                <a:solidFill>
                  <a:srgbClr val="1F2937"/>
                </a:solidFill>
                <a:latin typeface="Calibri"/>
              </a:rPr>
              <a:t>▸  Osteopetrotik suyak rentgenda nur o‘tkazmaydi, uchlari kolbasimon. Zich ko‘rinsa ham, to‘qilgan (woven) suyakdan iborat bo‘lgani uchun normal suyakdan zaif.</a:t>
            </a:r>
          </a:p>
          <a:p>
            <a:pPr>
              <a:spcAft>
                <a:spcPts val="1200"/>
              </a:spcAft>
            </a:pPr>
            <a:r>
              <a:rPr sz="2200">
                <a:solidFill>
                  <a:srgbClr val="1F2937"/>
                </a:solidFill>
                <a:latin typeface="Calibri"/>
              </a:rPr>
              <a:t>▸  Diqqat: zich suyak ≠ mustahkam suyak. Osteoklast yo‘qligi suyakni kuchli emas, aksincha mo‘rt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NF-κB signal yo‘li: ikki tarmoq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Kanonik yo‘lda IκB kinaza (IKK) kompleksi IKKβ orqali IκBα ni fosforlaydi, RelA/p50 yadroga o‘tadi.</a:t>
            </a:r>
          </a:p>
          <a:p>
            <a:pPr>
              <a:spcAft>
                <a:spcPts val="800"/>
              </a:spcAft>
            </a:pPr>
            <a:r>
              <a:rPr sz="1800">
                <a:solidFill>
                  <a:srgbClr val="1F2937"/>
                </a:solidFill>
                <a:latin typeface="Calibri"/>
              </a:rPr>
              <a:t>▸  Noan‘anaviy yo‘lda NIK (NF-κB induksiyalovchi kinaza) IKKα ni faollaydi, p100 esa p52 ga ishlanadi.</a:t>
            </a:r>
          </a:p>
          <a:p>
            <a:pPr>
              <a:spcAft>
                <a:spcPts val="800"/>
              </a:spcAft>
            </a:pPr>
            <a:r>
              <a:rPr sz="1800">
                <a:solidFill>
                  <a:srgbClr val="1F2937"/>
                </a:solidFill>
                <a:latin typeface="Calibri"/>
              </a:rPr>
              <a:t>▸  p50 va p52 ikkalasi o‘chirilgan sichqonlarda osteoklast hosil bo‘lmaydi (og‘ir osteopetroz).</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434027"/>
                <a:gridCol w="2151040"/>
                <a:gridCol w="170290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Kanonik</a:t>
                      </a:r>
                    </a:p>
                  </a:txBody>
                  <a:tcPr marL="73152" marR="73152" marT="36576" marB="36576">
                    <a:solidFill>
                      <a:srgbClr val="0B1F3A"/>
                    </a:solidFill>
                  </a:tcPr>
                </a:tc>
                <a:tc>
                  <a:txBody>
                    <a:bodyPr/>
                    <a:lstStyle/>
                    <a:p>
                      <a:r>
                        <a:rPr sz="1300" b="1">
                          <a:solidFill>
                            <a:srgbClr val="FFFFFF"/>
                          </a:solidFill>
                        </a:rPr>
                        <a:t>Noan‘anaviy</a:t>
                      </a:r>
                    </a:p>
                  </a:txBody>
                  <a:tcPr marL="73152" marR="73152" marT="36576" marB="36576">
                    <a:solidFill>
                      <a:srgbClr val="0B1F3A"/>
                    </a:solidFill>
                  </a:tcPr>
                </a:tc>
              </a:tr>
              <a:tr h="411480">
                <a:tc>
                  <a:txBody>
                    <a:bodyPr/>
                    <a:lstStyle/>
                    <a:p>
                      <a:r>
                        <a:rPr sz="1200" b="0">
                          <a:solidFill>
                            <a:srgbClr val="1F2937"/>
                          </a:solidFill>
                        </a:rPr>
                        <a:t>Qo‘zg‘atuvchi</a:t>
                      </a:r>
                    </a:p>
                  </a:txBody>
                  <a:tcPr marL="73152" marR="73152" marT="36576" marB="36576">
                    <a:solidFill>
                      <a:srgbClr val="E8EEF6"/>
                    </a:solidFill>
                  </a:tcPr>
                </a:tc>
                <a:tc>
                  <a:txBody>
                    <a:bodyPr/>
                    <a:lstStyle/>
                    <a:p>
                      <a:r>
                        <a:rPr sz="1200" b="0">
                          <a:solidFill>
                            <a:srgbClr val="1F2937"/>
                          </a:solidFill>
                        </a:rPr>
                        <a:t>TNF-α, IL-1β, TLR</a:t>
                      </a:r>
                    </a:p>
                  </a:txBody>
                  <a:tcPr marL="73152" marR="73152" marT="36576" marB="36576">
                    <a:solidFill>
                      <a:srgbClr val="E8EEF6"/>
                    </a:solidFill>
                  </a:tcPr>
                </a:tc>
                <a:tc>
                  <a:txBody>
                    <a:bodyPr/>
                    <a:lstStyle/>
                    <a:p>
                      <a:r>
                        <a:rPr sz="1200" b="0">
                          <a:solidFill>
                            <a:srgbClr val="1F2937"/>
                          </a:solidFill>
                        </a:rPr>
                        <a:t>CD40, BAFF-R</a:t>
                      </a:r>
                    </a:p>
                  </a:txBody>
                  <a:tcPr marL="73152" marR="73152" marT="36576" marB="36576">
                    <a:solidFill>
                      <a:srgbClr val="E8EEF6"/>
                    </a:solidFill>
                  </a:tcPr>
                </a:tc>
              </a:tr>
              <a:tr h="411480">
                <a:tc>
                  <a:txBody>
                    <a:bodyPr/>
                    <a:lstStyle/>
                    <a:p>
                      <a:r>
                        <a:rPr sz="1200" b="0">
                          <a:solidFill>
                            <a:srgbClr val="1F2937"/>
                          </a:solidFill>
                        </a:rPr>
                        <a:t>Asosiy kinaza</a:t>
                      </a:r>
                    </a:p>
                  </a:txBody>
                  <a:tcPr marL="73152" marR="73152" marT="36576" marB="36576">
                    <a:solidFill>
                      <a:srgbClr val="FFFFFF"/>
                    </a:solidFill>
                  </a:tcPr>
                </a:tc>
                <a:tc>
                  <a:txBody>
                    <a:bodyPr/>
                    <a:lstStyle/>
                    <a:p>
                      <a:r>
                        <a:rPr sz="1200" b="0">
                          <a:solidFill>
                            <a:srgbClr val="1F2937"/>
                          </a:solidFill>
                        </a:rPr>
                        <a:t>IKKβ (IκBα parchalanadi)</a:t>
                      </a:r>
                    </a:p>
                  </a:txBody>
                  <a:tcPr marL="73152" marR="73152" marT="36576" marB="36576">
                    <a:solidFill>
                      <a:srgbClr val="FFFFFF"/>
                    </a:solidFill>
                  </a:tcPr>
                </a:tc>
                <a:tc>
                  <a:txBody>
                    <a:bodyPr/>
                    <a:lstStyle/>
                    <a:p>
                      <a:r>
                        <a:rPr sz="1200" b="0">
                          <a:solidFill>
                            <a:srgbClr val="1F2937"/>
                          </a:solidFill>
                        </a:rPr>
                        <a:t>NIK → IKKα</a:t>
                      </a:r>
                    </a:p>
                  </a:txBody>
                  <a:tcPr marL="73152" marR="73152" marT="36576" marB="36576">
                    <a:solidFill>
                      <a:srgbClr val="FFFFFF"/>
                    </a:solidFill>
                  </a:tcPr>
                </a:tc>
              </a:tr>
              <a:tr h="411480">
                <a:tc>
                  <a:txBody>
                    <a:bodyPr/>
                    <a:lstStyle/>
                    <a:p>
                      <a:r>
                        <a:rPr sz="1200" b="0">
                          <a:solidFill>
                            <a:srgbClr val="1F2937"/>
                          </a:solidFill>
                        </a:rPr>
                        <a:t>Faol dimer</a:t>
                      </a:r>
                    </a:p>
                  </a:txBody>
                  <a:tcPr marL="73152" marR="73152" marT="36576" marB="36576">
                    <a:solidFill>
                      <a:srgbClr val="E8EEF6"/>
                    </a:solidFill>
                  </a:tcPr>
                </a:tc>
                <a:tc>
                  <a:txBody>
                    <a:bodyPr/>
                    <a:lstStyle/>
                    <a:p>
                      <a:r>
                        <a:rPr sz="1200" b="0">
                          <a:solidFill>
                            <a:srgbClr val="1F2937"/>
                          </a:solidFill>
                        </a:rPr>
                        <a:t>RelA/p50</a:t>
                      </a:r>
                    </a:p>
                  </a:txBody>
                  <a:tcPr marL="73152" marR="73152" marT="36576" marB="36576">
                    <a:solidFill>
                      <a:srgbClr val="E8EEF6"/>
                    </a:solidFill>
                  </a:tcPr>
                </a:tc>
                <a:tc>
                  <a:txBody>
                    <a:bodyPr/>
                    <a:lstStyle/>
                    <a:p>
                      <a:r>
                        <a:rPr sz="1200" b="0">
                          <a:solidFill>
                            <a:srgbClr val="1F2937"/>
                          </a:solidFill>
                        </a:rPr>
                        <a:t>RelB/p52 (p100→p52)</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NF-κB: ikki yo‘l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 Boyce BF va boshq., Bone Remodeling and the Role of TRAF3 in Osteoclastic Bone Resorption, betlar: PMID 30323820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TRAF oilasi: TRAF6 va TRAF3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RANK kinaza faolligiga ega emas; u TRAF oqsillarini jalb qilib, MAPK, NF-κB va AP-1 yo‘llarini yoqadi.</a:t>
            </a:r>
          </a:p>
          <a:p>
            <a:pPr>
              <a:spcAft>
                <a:spcPts val="800"/>
              </a:spcAft>
            </a:pPr>
            <a:r>
              <a:rPr sz="1800">
                <a:solidFill>
                  <a:srgbClr val="1F2937"/>
                </a:solidFill>
                <a:latin typeface="Calibri"/>
              </a:rPr>
              <a:t>▸  RANK jalb qiladigan TRAFlardan faqat TRAF6 nokaut sichqonlari osteopetrotik: TRAF6 zarur.</a:t>
            </a:r>
          </a:p>
          <a:p>
            <a:pPr>
              <a:spcAft>
                <a:spcPts val="800"/>
              </a:spcAft>
            </a:pPr>
            <a:r>
              <a:rPr sz="1800">
                <a:solidFill>
                  <a:srgbClr val="1F2937"/>
                </a:solidFill>
                <a:latin typeface="Calibri"/>
              </a:rPr>
              <a:t>▸  TRAF3 osteoklastogenezni cheklaydi; RANKL uni parchalaganda p52 ko‘payib, osteoklast hosil bo‘ladi.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23694"/>
                <a:gridCol w="1784691"/>
                <a:gridCol w="237958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TRAF6</a:t>
                      </a:r>
                    </a:p>
                  </a:txBody>
                  <a:tcPr marL="73152" marR="73152" marT="36576" marB="36576">
                    <a:solidFill>
                      <a:srgbClr val="0B1F3A"/>
                    </a:solidFill>
                  </a:tcPr>
                </a:tc>
                <a:tc>
                  <a:txBody>
                    <a:bodyPr/>
                    <a:lstStyle/>
                    <a:p>
                      <a:r>
                        <a:rPr sz="1300" b="1">
                          <a:solidFill>
                            <a:srgbClr val="FFFFFF"/>
                          </a:solidFill>
                        </a:rPr>
                        <a:t>TRAF3</a:t>
                      </a:r>
                    </a:p>
                  </a:txBody>
                  <a:tcPr marL="73152" marR="73152" marT="36576" marB="36576">
                    <a:solidFill>
                      <a:srgbClr val="0B1F3A"/>
                    </a:solidFill>
                  </a:tcPr>
                </a:tc>
              </a:tr>
              <a:tr h="411480">
                <a:tc>
                  <a:txBody>
                    <a:bodyPr/>
                    <a:lstStyle/>
                    <a:p>
                      <a:r>
                        <a:rPr sz="1200" b="0">
                          <a:solidFill>
                            <a:srgbClr val="1F2937"/>
                          </a:solidFill>
                        </a:rPr>
                        <a:t>Osteoklastga roli</a:t>
                      </a:r>
                    </a:p>
                  </a:txBody>
                  <a:tcPr marL="73152" marR="73152" marT="36576" marB="36576">
                    <a:solidFill>
                      <a:srgbClr val="E8EEF6"/>
                    </a:solidFill>
                  </a:tcPr>
                </a:tc>
                <a:tc>
                  <a:txBody>
                    <a:bodyPr/>
                    <a:lstStyle/>
                    <a:p>
                      <a:r>
                        <a:rPr sz="1200" b="0">
                          <a:solidFill>
                            <a:srgbClr val="1F2937"/>
                          </a:solidFill>
                        </a:rPr>
                        <a:t>Hosil bo‘lishi uchun zarur</a:t>
                      </a:r>
                    </a:p>
                  </a:txBody>
                  <a:tcPr marL="73152" marR="73152" marT="36576" marB="36576">
                    <a:solidFill>
                      <a:srgbClr val="E8EEF6"/>
                    </a:solidFill>
                  </a:tcPr>
                </a:tc>
                <a:tc>
                  <a:txBody>
                    <a:bodyPr/>
                    <a:lstStyle/>
                    <a:p>
                      <a:r>
                        <a:rPr sz="1200" b="0">
                          <a:solidFill>
                            <a:srgbClr val="1F2937"/>
                          </a:solidFill>
                        </a:rPr>
                        <a:t>Zarur emas, cheklaydi</a:t>
                      </a:r>
                    </a:p>
                  </a:txBody>
                  <a:tcPr marL="73152" marR="73152" marT="36576" marB="36576">
                    <a:solidFill>
                      <a:srgbClr val="E8EEF6"/>
                    </a:solidFill>
                  </a:tcPr>
                </a:tc>
              </a:tr>
              <a:tr h="411480">
                <a:tc>
                  <a:txBody>
                    <a:bodyPr/>
                    <a:lstStyle/>
                    <a:p>
                      <a:r>
                        <a:rPr sz="1200" b="0">
                          <a:solidFill>
                            <a:srgbClr val="1F2937"/>
                          </a:solidFill>
                        </a:rPr>
                        <a:t>Nokaut natijasi</a:t>
                      </a:r>
                    </a:p>
                  </a:txBody>
                  <a:tcPr marL="73152" marR="73152" marT="36576" marB="36576">
                    <a:solidFill>
                      <a:srgbClr val="FFFFFF"/>
                    </a:solidFill>
                  </a:tcPr>
                </a:tc>
                <a:tc>
                  <a:txBody>
                    <a:bodyPr/>
                    <a:lstStyle/>
                    <a:p>
                      <a:r>
                        <a:rPr sz="1200" b="0">
                          <a:solidFill>
                            <a:srgbClr val="1F2937"/>
                          </a:solidFill>
                        </a:rPr>
                        <a:t>Osteopetroz</a:t>
                      </a:r>
                    </a:p>
                  </a:txBody>
                  <a:tcPr marL="73152" marR="73152" marT="36576" marB="36576">
                    <a:solidFill>
                      <a:srgbClr val="FFFFFF"/>
                    </a:solidFill>
                  </a:tcPr>
                </a:tc>
                <a:tc>
                  <a:txBody>
                    <a:bodyPr/>
                    <a:lstStyle/>
                    <a:p>
                      <a:r>
                        <a:rPr sz="1200" b="0">
                          <a:solidFill>
                            <a:srgbClr val="1F2937"/>
                          </a:solidFill>
                        </a:rPr>
                        <a:t>Erta osteoporoz (prekursorda)</a:t>
                      </a:r>
                    </a:p>
                  </a:txBody>
                  <a:tcPr marL="73152" marR="73152" marT="36576" marB="36576">
                    <a:solidFill>
                      <a:srgbClr val="FFFFFF"/>
                    </a:solidFill>
                  </a:tcPr>
                </a:tc>
              </a:tr>
              <a:tr h="411480">
                <a:tc>
                  <a:txBody>
                    <a:bodyPr/>
                    <a:lstStyle/>
                    <a:p>
                      <a:r>
                        <a:rPr sz="1200" b="0">
                          <a:solidFill>
                            <a:srgbClr val="1F2937"/>
                          </a:solidFill>
                        </a:rPr>
                        <a:t>Mexanizm</a:t>
                      </a:r>
                    </a:p>
                  </a:txBody>
                  <a:tcPr marL="73152" marR="73152" marT="36576" marB="36576">
                    <a:solidFill>
                      <a:srgbClr val="E8EEF6"/>
                    </a:solidFill>
                  </a:tcPr>
                </a:tc>
                <a:tc>
                  <a:txBody>
                    <a:bodyPr/>
                    <a:lstStyle/>
                    <a:p>
                      <a:r>
                        <a:rPr sz="1200" b="0">
                          <a:solidFill>
                            <a:srgbClr val="1F2937"/>
                          </a:solidFill>
                        </a:rPr>
                        <a:t>NF-κB, JNK, NFATc1 yoqiladi</a:t>
                      </a:r>
                    </a:p>
                  </a:txBody>
                  <a:tcPr marL="73152" marR="73152" marT="36576" marB="36576">
                    <a:solidFill>
                      <a:srgbClr val="E8EEF6"/>
                    </a:solidFill>
                  </a:tcPr>
                </a:tc>
                <a:tc>
                  <a:txBody>
                    <a:bodyPr/>
                    <a:lstStyle/>
                    <a:p>
                      <a:r>
                        <a:rPr sz="1200" b="0">
                          <a:solidFill>
                            <a:srgbClr val="1F2937"/>
                          </a:solidFill>
                        </a:rPr>
                        <a:t>NIK parchalanadi, p100→p52 to‘xtaydi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TRAF6 va TRAF3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TRAF3 parchalanishi va NIK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Tinch holatda TRAF3/TRAF2/cIAP kompleksi NIK ni proteasomada parchalab turadi.</a:t>
            </a:r>
          </a:p>
          <a:p>
            <a:pPr>
              <a:spcAft>
                <a:spcPts val="800"/>
              </a:spcAft>
            </a:pPr>
            <a:r>
              <a:rPr sz="1800">
                <a:solidFill>
                  <a:srgbClr val="1F2937"/>
                </a:solidFill>
                <a:latin typeface="Calibri"/>
              </a:rPr>
              <a:t>▸  RANKL TRAF3 ning autofagolizosomal parchalanishini chaqiradi, natijada NIK to‘planadi.</a:t>
            </a:r>
          </a:p>
          <a:p>
            <a:pPr>
              <a:spcAft>
                <a:spcPts val="800"/>
              </a:spcAft>
            </a:pPr>
            <a:r>
              <a:rPr sz="1800">
                <a:solidFill>
                  <a:srgbClr val="1F2937"/>
                </a:solidFill>
                <a:latin typeface="Calibri"/>
              </a:rPr>
              <a:t>▸  Xloroxin lizosoma yo‘lini to‘sib, TRAF3 ni saqlaydi va osteoklast hosil bo‘lishini kamaytiradi.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RANKL RANK ga bog‘lanadi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TRAF3 lizosomada parchalanadi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NIK to‘planadi, IKKα faol</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p100 → p52, p52/RelB yadroga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Osteoklast shakllanadi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RANKL → TRAF3 → NIK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MAPK: ERK, p38 va JNK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ERK prekursor proliferatsiyasi va erta differensiyani, JNK va p38 esa yetilish va qo‘shilishni qo‘llab-quvvatlaydi.</a:t>
            </a:r>
          </a:p>
          <a:p>
            <a:pPr>
              <a:spcAft>
                <a:spcPts val="800"/>
              </a:spcAft>
            </a:pPr>
            <a:r>
              <a:rPr sz="1800">
                <a:solidFill>
                  <a:srgbClr val="1F2937"/>
                </a:solidFill>
                <a:latin typeface="Calibri"/>
              </a:rPr>
              <a:t>▸  ERK DUSP orqali JNK ni bosadi. ERK to‘silsa, p38 va JNK kompensator tarzda faollashadi.</a:t>
            </a:r>
          </a:p>
          <a:p>
            <a:pPr>
              <a:spcAft>
                <a:spcPts val="800"/>
              </a:spcAft>
            </a:pPr>
            <a:r>
              <a:rPr sz="1800">
                <a:solidFill>
                  <a:srgbClr val="1F2937"/>
                </a:solidFill>
                <a:latin typeface="Calibri"/>
              </a:rPr>
              <a:t>▸  Shu sababli U0126 yoki SB203580 kabi yakka inhibitorlar yetarli samara bermasligi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81933"/>
                <a:gridCol w="1682537"/>
                <a:gridCol w="2323504"/>
              </a:tblGrid>
              <a:tr h="411480">
                <a:tc>
                  <a:txBody>
                    <a:bodyPr/>
                    <a:lstStyle/>
                    <a:p>
                      <a:r>
                        <a:rPr sz="1300" b="1">
                          <a:solidFill>
                            <a:srgbClr val="FFFFFF"/>
                          </a:solidFill>
                        </a:rPr>
                        <a:t>Tarmoq</a:t>
                      </a:r>
                    </a:p>
                  </a:txBody>
                  <a:tcPr marL="73152" marR="73152" marT="36576" marB="36576">
                    <a:solidFill>
                      <a:srgbClr val="0B1F3A"/>
                    </a:solidFill>
                  </a:tcPr>
                </a:tc>
                <a:tc>
                  <a:txBody>
                    <a:bodyPr/>
                    <a:lstStyle/>
                    <a:p>
                      <a:r>
                        <a:rPr sz="1300" b="1">
                          <a:solidFill>
                            <a:srgbClr val="FFFFFF"/>
                          </a:solidFill>
                        </a:rPr>
                        <a:t>Qo‘zg‘atuvchi</a:t>
                      </a:r>
                    </a:p>
                  </a:txBody>
                  <a:tcPr marL="73152" marR="73152" marT="36576" marB="36576">
                    <a:solidFill>
                      <a:srgbClr val="0B1F3A"/>
                    </a:solidFill>
                  </a:tcPr>
                </a:tc>
                <a:tc>
                  <a:txBody>
                    <a:bodyPr/>
                    <a:lstStyle/>
                    <a:p>
                      <a:r>
                        <a:rPr sz="1300" b="1">
                          <a:solidFill>
                            <a:srgbClr val="FFFFFF"/>
                          </a:solidFill>
                        </a:rPr>
                        <a:t>Vazifa</a:t>
                      </a:r>
                    </a:p>
                  </a:txBody>
                  <a:tcPr marL="73152" marR="73152" marT="36576" marB="36576">
                    <a:solidFill>
                      <a:srgbClr val="0B1F3A"/>
                    </a:solidFill>
                  </a:tcPr>
                </a:tc>
              </a:tr>
              <a:tr h="411480">
                <a:tc>
                  <a:txBody>
                    <a:bodyPr/>
                    <a:lstStyle/>
                    <a:p>
                      <a:r>
                        <a:rPr sz="1200" b="0">
                          <a:solidFill>
                            <a:srgbClr val="1F2937"/>
                          </a:solidFill>
                        </a:rPr>
                        <a:t>ERK</a:t>
                      </a:r>
                    </a:p>
                  </a:txBody>
                  <a:tcPr marL="73152" marR="73152" marT="36576" marB="36576">
                    <a:solidFill>
                      <a:srgbClr val="E8EEF6"/>
                    </a:solidFill>
                  </a:tcPr>
                </a:tc>
                <a:tc>
                  <a:txBody>
                    <a:bodyPr/>
                    <a:lstStyle/>
                    <a:p>
                      <a:r>
                        <a:rPr sz="1200" b="0">
                          <a:solidFill>
                            <a:srgbClr val="1F2937"/>
                          </a:solidFill>
                        </a:rPr>
                        <a:t>M-CSF</a:t>
                      </a:r>
                    </a:p>
                  </a:txBody>
                  <a:tcPr marL="73152" marR="73152" marT="36576" marB="36576">
                    <a:solidFill>
                      <a:srgbClr val="E8EEF6"/>
                    </a:solidFill>
                  </a:tcPr>
                </a:tc>
                <a:tc>
                  <a:txBody>
                    <a:bodyPr/>
                    <a:lstStyle/>
                    <a:p>
                      <a:r>
                        <a:rPr sz="1200" b="0">
                          <a:solidFill>
                            <a:srgbClr val="1F2937"/>
                          </a:solidFill>
                        </a:rPr>
                        <a:t>c-Fos, NFATc1; proliferatsiya</a:t>
                      </a:r>
                    </a:p>
                  </a:txBody>
                  <a:tcPr marL="73152" marR="73152" marT="36576" marB="36576">
                    <a:solidFill>
                      <a:srgbClr val="E8EEF6"/>
                    </a:solidFill>
                  </a:tcPr>
                </a:tc>
              </a:tr>
              <a:tr h="411480">
                <a:tc>
                  <a:txBody>
                    <a:bodyPr/>
                    <a:lstStyle/>
                    <a:p>
                      <a:r>
                        <a:rPr sz="1200" b="0">
                          <a:solidFill>
                            <a:srgbClr val="1F2937"/>
                          </a:solidFill>
                        </a:rPr>
                        <a:t>p38</a:t>
                      </a:r>
                    </a:p>
                  </a:txBody>
                  <a:tcPr marL="73152" marR="73152" marT="36576" marB="36576">
                    <a:solidFill>
                      <a:srgbClr val="FFFFFF"/>
                    </a:solidFill>
                  </a:tcPr>
                </a:tc>
                <a:tc>
                  <a:txBody>
                    <a:bodyPr/>
                    <a:lstStyle/>
                    <a:p>
                      <a:r>
                        <a:rPr sz="1200" b="0">
                          <a:solidFill>
                            <a:srgbClr val="1F2937"/>
                          </a:solidFill>
                        </a:rPr>
                        <a:t>RANKL, sitokinlar</a:t>
                      </a:r>
                    </a:p>
                  </a:txBody>
                  <a:tcPr marL="73152" marR="73152" marT="36576" marB="36576">
                    <a:solidFill>
                      <a:srgbClr val="FFFFFF"/>
                    </a:solidFill>
                  </a:tcPr>
                </a:tc>
                <a:tc>
                  <a:txBody>
                    <a:bodyPr/>
                    <a:lstStyle/>
                    <a:p>
                      <a:r>
                        <a:rPr sz="1200" b="0">
                          <a:solidFill>
                            <a:srgbClr val="1F2937"/>
                          </a:solidFill>
                        </a:rPr>
                        <a:t>CREB orqali c-Fos, NFATc1</a:t>
                      </a:r>
                    </a:p>
                  </a:txBody>
                  <a:tcPr marL="73152" marR="73152" marT="36576" marB="36576">
                    <a:solidFill>
                      <a:srgbClr val="FFFFFF"/>
                    </a:solidFill>
                  </a:tcPr>
                </a:tc>
              </a:tr>
              <a:tr h="411480">
                <a:tc>
                  <a:txBody>
                    <a:bodyPr/>
                    <a:lstStyle/>
                    <a:p>
                      <a:r>
                        <a:rPr sz="1200" b="0">
                          <a:solidFill>
                            <a:srgbClr val="1F2937"/>
                          </a:solidFill>
                        </a:rPr>
                        <a:t>JNK</a:t>
                      </a:r>
                    </a:p>
                  </a:txBody>
                  <a:tcPr marL="73152" marR="73152" marT="36576" marB="36576">
                    <a:solidFill>
                      <a:srgbClr val="E8EEF6"/>
                    </a:solidFill>
                  </a:tcPr>
                </a:tc>
                <a:tc>
                  <a:txBody>
                    <a:bodyPr/>
                    <a:lstStyle/>
                    <a:p>
                      <a:r>
                        <a:rPr sz="1200" b="0">
                          <a:solidFill>
                            <a:srgbClr val="1F2937"/>
                          </a:solidFill>
                        </a:rPr>
                        <a:t>TNF-α, RANKL</a:t>
                      </a:r>
                    </a:p>
                  </a:txBody>
                  <a:tcPr marL="73152" marR="73152" marT="36576" marB="36576">
                    <a:solidFill>
                      <a:srgbClr val="E8EEF6"/>
                    </a:solidFill>
                  </a:tcPr>
                </a:tc>
                <a:tc>
                  <a:txBody>
                    <a:bodyPr/>
                    <a:lstStyle/>
                    <a:p>
                      <a:r>
                        <a:rPr sz="1200" b="0">
                          <a:solidFill>
                            <a:srgbClr val="1F2937"/>
                          </a:solidFill>
                        </a:rPr>
                        <a:t>AP-1; TRAP va CTSK geni</a:t>
                      </a:r>
                    </a:p>
                  </a:txBody>
                  <a:tcPr marL="73152" marR="73152" marT="36576" marB="36576">
                    <a:solidFill>
                      <a:srgbClr val="E8EEF6"/>
                    </a:solidFill>
                  </a:tcPr>
                </a:tc>
              </a:tr>
              <a:tr h="411480">
                <a:tc>
                  <a:txBody>
                    <a:bodyPr/>
                    <a:lstStyle/>
                    <a:p>
                      <a:r>
                        <a:rPr sz="1200" b="0">
                          <a:solidFill>
                            <a:srgbClr val="1F2937"/>
                          </a:solidFill>
                        </a:rPr>
                        <a:t>Kompensatsiya</a:t>
                      </a:r>
                    </a:p>
                  </a:txBody>
                  <a:tcPr marL="73152" marR="73152" marT="36576" marB="36576">
                    <a:solidFill>
                      <a:srgbClr val="FFFFFF"/>
                    </a:solidFill>
                  </a:tcPr>
                </a:tc>
                <a:tc>
                  <a:txBody>
                    <a:bodyPr/>
                    <a:lstStyle/>
                    <a:p>
                      <a:r>
                        <a:rPr sz="1200" b="0">
                          <a:solidFill>
                            <a:srgbClr val="1F2937"/>
                          </a:solidFill>
                        </a:rPr>
                        <a:t>Bitta tarmoq to‘silsa</a:t>
                      </a:r>
                    </a:p>
                  </a:txBody>
                  <a:tcPr marL="73152" marR="73152" marT="36576" marB="36576">
                    <a:solidFill>
                      <a:srgbClr val="FFFFFF"/>
                    </a:solidFill>
                  </a:tcPr>
                </a:tc>
                <a:tc>
                  <a:txBody>
                    <a:bodyPr/>
                    <a:lstStyle/>
                    <a:p>
                      <a:r>
                        <a:rPr sz="1200" b="0">
                          <a:solidFill>
                            <a:srgbClr val="1F2937"/>
                          </a:solidFill>
                        </a:rPr>
                        <a:t>Boshqalari faollashadi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MAPK tarmoqlarini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signal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RANK kinaza faolligiga ega emas. U qaysi adaptor oqsillarni jalb qiladi va qaysi biri osteoklast uchun zarur?</a:t>
            </a:r>
          </a:p>
          <a:p>
            <a:pPr>
              <a:spcAft>
                <a:spcPts val="1200"/>
              </a:spcAft>
            </a:pPr>
            <a:r>
              <a:rPr sz="2200">
                <a:solidFill>
                  <a:srgbClr val="1F2937"/>
                </a:solidFill>
                <a:latin typeface="Calibri"/>
              </a:rPr>
              <a:t>▸  Savol 2: NFATc1 signal zanjirida qayerda turadi? NF-κB va c-Fos ga nisbatan joyini ayting.</a:t>
            </a:r>
          </a:p>
          <a:p>
            <a:pPr>
              <a:spcAft>
                <a:spcPts val="1200"/>
              </a:spcAft>
            </a:pPr>
            <a:r>
              <a:rPr sz="2200">
                <a:solidFill>
                  <a:srgbClr val="1F2937"/>
                </a:solidFill>
                <a:latin typeface="Calibri"/>
              </a:rPr>
              <a:t>▸  Savol 3: TRAF3 miqdori pasaysa, NIK, p100 va osteoklast shakllanishida nima o‘zgaradi?</a:t>
            </a:r>
          </a:p>
          <a:p>
            <a:pPr>
              <a:spcAft>
                <a:spcPts val="1200"/>
              </a:spcAft>
            </a:pPr>
            <a:r>
              <a:rPr sz="2200">
                <a:solidFill>
                  <a:srgbClr val="1F2937"/>
                </a:solidFill>
                <a:latin typeface="Calibri"/>
              </a:rPr>
              <a:t>▸  Diqqat: xato qilish xavfi: TRAF6 ≠ TRAF3. TRAF6 osteoklast hosil bo‘lishi uchun zarur, TRAF3 esa uni cheklaydi.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TNF orqali rezorbsiya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TNF (o‘sma nekrozi omili) RANKLsiz ham osteoklast hosil qila oladi; bu masala bahsli.</a:t>
            </a:r>
          </a:p>
          <a:p>
            <a:pPr>
              <a:spcAft>
                <a:spcPts val="800"/>
              </a:spcAft>
            </a:pPr>
            <a:r>
              <a:rPr sz="1800">
                <a:solidFill>
                  <a:srgbClr val="1F2937"/>
                </a:solidFill>
                <a:latin typeface="Calibri"/>
              </a:rPr>
              <a:t>▸  Revmatoid artritda (RA) TNF RANKL ifodasini oshiradi; yallig‘langan bo‘g‘imda RANKL manbai asosan sinovitsitlar.</a:t>
            </a:r>
          </a:p>
          <a:p>
            <a:pPr>
              <a:spcAft>
                <a:spcPts val="800"/>
              </a:spcAft>
            </a:pPr>
            <a:r>
              <a:rPr sz="1800">
                <a:solidFill>
                  <a:srgbClr val="1F2937"/>
                </a:solidFill>
                <a:latin typeface="Calibri"/>
              </a:rPr>
              <a:t>▸  TNF ham NF-κB/c-fos/NFATc1 yo‘lini ketma-ket yoqadi va IκB-α fosforlanishini kuchaytiradi.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66807"/>
                <a:gridCol w="1762658"/>
                <a:gridCol w="195850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RANKL</a:t>
                      </a:r>
                    </a:p>
                  </a:txBody>
                  <a:tcPr marL="73152" marR="73152" marT="36576" marB="36576">
                    <a:solidFill>
                      <a:srgbClr val="0B1F3A"/>
                    </a:solidFill>
                  </a:tcPr>
                </a:tc>
                <a:tc>
                  <a:txBody>
                    <a:bodyPr/>
                    <a:lstStyle/>
                    <a:p>
                      <a:r>
                        <a:rPr sz="1300" b="1">
                          <a:solidFill>
                            <a:srgbClr val="FFFFFF"/>
                          </a:solidFill>
                        </a:rPr>
                        <a:t>TNF</a:t>
                      </a:r>
                    </a:p>
                  </a:txBody>
                  <a:tcPr marL="73152" marR="73152" marT="36576" marB="36576">
                    <a:solidFill>
                      <a:srgbClr val="0B1F3A"/>
                    </a:solidFill>
                  </a:tcPr>
                </a:tc>
              </a:tr>
              <a:tr h="411480">
                <a:tc>
                  <a:txBody>
                    <a:bodyPr/>
                    <a:lstStyle/>
                    <a:p>
                      <a:r>
                        <a:rPr sz="1200" b="0">
                          <a:solidFill>
                            <a:srgbClr val="1F2937"/>
                          </a:solidFill>
                        </a:rPr>
                        <a:t>Adapter oqsil</a:t>
                      </a:r>
                    </a:p>
                  </a:txBody>
                  <a:tcPr marL="73152" marR="73152" marT="36576" marB="36576">
                    <a:solidFill>
                      <a:srgbClr val="E8EEF6"/>
                    </a:solidFill>
                  </a:tcPr>
                </a:tc>
                <a:tc>
                  <a:txBody>
                    <a:bodyPr/>
                    <a:lstStyle/>
                    <a:p>
                      <a:r>
                        <a:rPr sz="1200" b="0">
                          <a:solidFill>
                            <a:srgbClr val="1F2937"/>
                          </a:solidFill>
                        </a:rPr>
                        <a:t>TRAF6</a:t>
                      </a:r>
                    </a:p>
                  </a:txBody>
                  <a:tcPr marL="73152" marR="73152" marT="36576" marB="36576">
                    <a:solidFill>
                      <a:srgbClr val="E8EEF6"/>
                    </a:solidFill>
                  </a:tcPr>
                </a:tc>
                <a:tc>
                  <a:txBody>
                    <a:bodyPr/>
                    <a:lstStyle/>
                    <a:p>
                      <a:r>
                        <a:rPr sz="1200" b="0">
                          <a:solidFill>
                            <a:srgbClr val="1F2937"/>
                          </a:solidFill>
                        </a:rPr>
                        <a:t>TRAF2 (TRAF6 emas)</a:t>
                      </a:r>
                    </a:p>
                  </a:txBody>
                  <a:tcPr marL="73152" marR="73152" marT="36576" marB="36576">
                    <a:solidFill>
                      <a:srgbClr val="E8EEF6"/>
                    </a:solidFill>
                  </a:tcPr>
                </a:tc>
              </a:tr>
              <a:tr h="411480">
                <a:tc>
                  <a:txBody>
                    <a:bodyPr/>
                    <a:lstStyle/>
                    <a:p>
                      <a:r>
                        <a:rPr sz="1200" b="0">
                          <a:solidFill>
                            <a:srgbClr val="1F2937"/>
                          </a:solidFill>
                        </a:rPr>
                        <a:t>TRAF3 darajasi</a:t>
                      </a:r>
                    </a:p>
                  </a:txBody>
                  <a:tcPr marL="73152" marR="73152" marT="36576" marB="36576">
                    <a:solidFill>
                      <a:srgbClr val="FFFFFF"/>
                    </a:solidFill>
                  </a:tcPr>
                </a:tc>
                <a:tc>
                  <a:txBody>
                    <a:bodyPr/>
                    <a:lstStyle/>
                    <a:p>
                      <a:r>
                        <a:rPr sz="1200" b="0">
                          <a:solidFill>
                            <a:srgbClr val="1F2937"/>
                          </a:solidFill>
                        </a:rPr>
                        <a:t>Parchalanadi</a:t>
                      </a:r>
                    </a:p>
                  </a:txBody>
                  <a:tcPr marL="73152" marR="73152" marT="36576" marB="36576">
                    <a:solidFill>
                      <a:srgbClr val="FFFFFF"/>
                    </a:solidFill>
                  </a:tcPr>
                </a:tc>
                <a:tc>
                  <a:txBody>
                    <a:bodyPr/>
                    <a:lstStyle/>
                    <a:p>
                      <a:r>
                        <a:rPr sz="1200" b="0">
                          <a:solidFill>
                            <a:srgbClr val="1F2937"/>
                          </a:solidFill>
                        </a:rPr>
                        <a:t>Oshadi</a:t>
                      </a:r>
                    </a:p>
                  </a:txBody>
                  <a:tcPr marL="73152" marR="73152" marT="36576" marB="36576">
                    <a:solidFill>
                      <a:srgbClr val="FFFFFF"/>
                    </a:solidFill>
                  </a:tcPr>
                </a:tc>
              </a:tr>
              <a:tr h="411480">
                <a:tc>
                  <a:txBody>
                    <a:bodyPr/>
                    <a:lstStyle/>
                    <a:p>
                      <a:r>
                        <a:rPr sz="1200" b="0">
                          <a:solidFill>
                            <a:srgbClr val="1F2937"/>
                          </a:solidFill>
                        </a:rPr>
                        <a:t>p100 → p52</a:t>
                      </a:r>
                    </a:p>
                  </a:txBody>
                  <a:tcPr marL="73152" marR="73152" marT="36576" marB="36576">
                    <a:solidFill>
                      <a:srgbClr val="E8EEF6"/>
                    </a:solidFill>
                  </a:tcPr>
                </a:tc>
                <a:tc>
                  <a:txBody>
                    <a:bodyPr/>
                    <a:lstStyle/>
                    <a:p>
                      <a:r>
                        <a:rPr sz="1200" b="0">
                          <a:solidFill>
                            <a:srgbClr val="1F2937"/>
                          </a:solidFill>
                        </a:rPr>
                        <a:t>Samarali ishlanadi</a:t>
                      </a:r>
                    </a:p>
                  </a:txBody>
                  <a:tcPr marL="73152" marR="73152" marT="36576" marB="36576">
                    <a:solidFill>
                      <a:srgbClr val="E8EEF6"/>
                    </a:solidFill>
                  </a:tcPr>
                </a:tc>
                <a:tc>
                  <a:txBody>
                    <a:bodyPr/>
                    <a:lstStyle/>
                    <a:p>
                      <a:r>
                        <a:rPr sz="1200" b="0">
                          <a:solidFill>
                            <a:srgbClr val="1F2937"/>
                          </a:solidFill>
                        </a:rPr>
                        <a:t>Samarali ishlanmaydi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RANKL va TNF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xloroxin va suyak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Xloroxin oddiy sichqonlarda ovariektomiya (tuxumdonlarni olib tashlash) keltirib chiqargan suyak yo‘qotilishini va osteoklast hosil bo‘lishini to‘sadi.</a:t>
            </a:r>
          </a:p>
          <a:p>
            <a:pPr>
              <a:spcAft>
                <a:spcPts val="1200"/>
              </a:spcAft>
            </a:pPr>
            <a:r>
              <a:rPr sz="2200">
                <a:solidFill>
                  <a:srgbClr val="1F2937"/>
                </a:solidFill>
                <a:latin typeface="Calibri"/>
              </a:rPr>
              <a:t>▸  TRAF3 osteoklast prekursorlarida o‘chirilgan sichqonlarda xloroxin bu yo‘qotilishni to‘sa olmadi; ular ovariektomiyadan keyin og‘irroq suyak yo‘qotdi.</a:t>
            </a:r>
          </a:p>
          <a:p>
            <a:pPr>
              <a:spcAft>
                <a:spcPts val="1200"/>
              </a:spcAft>
            </a:pPr>
            <a:r>
              <a:rPr sz="2200">
                <a:solidFill>
                  <a:srgbClr val="1F2937"/>
                </a:solidFill>
                <a:latin typeface="Calibri"/>
              </a:rPr>
              <a:t>▸  Savol: nima uchun? Xloroxin lizosoma orqali boradigan TRAF3 parchalanishini to‘sadi; TRAF3 bo‘lmasa, dori ta’sir qiladigan nishon yo‘q.</a:t>
            </a:r>
          </a:p>
          <a:p>
            <a:pPr>
              <a:spcAft>
                <a:spcPts val="1200"/>
              </a:spcAft>
            </a:pPr>
            <a:r>
              <a:rPr sz="2200">
                <a:solidFill>
                  <a:srgbClr val="1F2937"/>
                </a:solidFill>
                <a:latin typeface="Calibri"/>
              </a:rPr>
              <a:t>▸  TRAF3 NF-κB-induksiyalovchi kinazani (NIK) parchalatib, p100 ning p52 ga ishlanishini cheklaydi; RANKL esa TRAF3 ni yo‘qotadi.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Periprostetik osteoliz (PPO)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Implant–suyak chegarasidagi eskirish zarrachalari surunkali yallig‘lanishni qo‘zg‘atadi.</a:t>
            </a:r>
          </a:p>
          <a:p>
            <a:pPr>
              <a:spcAft>
                <a:spcPts val="800"/>
              </a:spcAft>
            </a:pPr>
            <a:r>
              <a:rPr sz="1800">
                <a:solidFill>
                  <a:srgbClr val="1F2937"/>
                </a:solidFill>
                <a:latin typeface="Calibri"/>
              </a:rPr>
              <a:t>▸  Makrofaglar zarrachani yutib, sitokinlar ajratadi; ular RANKL ni oshirib, OPG ni kamaytiradi.</a:t>
            </a:r>
          </a:p>
          <a:p>
            <a:pPr>
              <a:spcAft>
                <a:spcPts val="800"/>
              </a:spcAft>
            </a:pPr>
            <a:r>
              <a:rPr sz="1800">
                <a:solidFill>
                  <a:srgbClr val="1F2937"/>
                </a:solidFill>
                <a:latin typeface="Calibri"/>
              </a:rPr>
              <a:t>▸  Osteoklast ortiqcha faollashib, suyak hosil bo‘lishidan o‘zib ketadi; natijada implant bo‘shashadi.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Eskirish zarrachalari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Makrofag fagotsitozi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Sitokinlar: TNF-α, IL-1β, IL-6</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RANKL ortishi, OPG kamayishi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Osteoklast ↑, implant bo‘shashi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PPO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Eskirish zarrachalari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Zarralar implant va suyak chegarasida mexanik eskirish hamda korroziya natijasida hosil bo‘ladi. Ular polietilen, metall, keramika va suyak sementi qoldiqlaridir.</a:t>
            </a:r>
          </a:p>
          <a:p>
            <a:pPr>
              <a:spcAft>
                <a:spcPts val="1200"/>
              </a:spcAft>
            </a:pPr>
            <a:r>
              <a:rPr sz="2200">
                <a:solidFill>
                  <a:srgbClr val="1F2937"/>
                </a:solidFill>
                <a:latin typeface="Calibri"/>
              </a:rPr>
              <a:t>▸  Zarra o‘lchami (0,1–10 µm), shakli (o‘tkir qirrali yoki sharsimon) va kimyoviy tarkibi uning bioreaktivligini va yallig‘lantirish kuchini belgilaydi.</a:t>
            </a:r>
          </a:p>
          <a:p>
            <a:pPr>
              <a:spcAft>
                <a:spcPts val="1200"/>
              </a:spcAft>
            </a:pPr>
            <a:r>
              <a:rPr sz="2200">
                <a:solidFill>
                  <a:srgbClr val="1F2937"/>
                </a:solidFill>
                <a:latin typeface="Calibri"/>
              </a:rPr>
              <a:t>▸  Submikron o‘lchamli va cho‘ziq zarralar kattaroq yoki sharsimon zarralarga nisbatan kuchliroq yallig‘lantiruvchi ta’sir ko‘rsatadi.</a:t>
            </a:r>
          </a:p>
          <a:p>
            <a:pPr>
              <a:spcAft>
                <a:spcPts val="1200"/>
              </a:spcAft>
            </a:pPr>
            <a:r>
              <a:rPr sz="2200">
                <a:solidFill>
                  <a:srgbClr val="1F2937"/>
                </a:solidFill>
                <a:latin typeface="Calibri"/>
              </a:rPr>
              <a:t>▸  Diqqat: xavf faqat zarra miqdoriga bog‘liq emas. Metall qoldiqlar esa kechikkan yuqori sezuvchanlik reaksiyasini ham chaqirishi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PPO dagi asosiy sitokinlar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IL-10 MMP-9 va MMP-13 ni bosib, TIMP-1 ni oshiradi va kollagen parchalanishini kamaytiradi.</a:t>
            </a:r>
          </a:p>
          <a:p>
            <a:pPr>
              <a:spcAft>
                <a:spcPts val="800"/>
              </a:spcAft>
            </a:pPr>
            <a:r>
              <a:rPr sz="1800">
                <a:solidFill>
                  <a:srgbClr val="1F2937"/>
                </a:solidFill>
                <a:latin typeface="Calibri"/>
              </a:rPr>
              <a:t>▸  IFN-γ ikki xil ishlaydi: TRAF6 parchalanishi orqali osteoklastni bosadi, MHC II ni esa oshiradi.</a:t>
            </a:r>
          </a:p>
          <a:p>
            <a:pPr>
              <a:spcAft>
                <a:spcPts val="800"/>
              </a:spcAft>
            </a:pPr>
            <a:r>
              <a:rPr sz="1800">
                <a:solidFill>
                  <a:srgbClr val="1F2937"/>
                </a:solidFill>
                <a:latin typeface="Calibri"/>
              </a:rPr>
              <a:t>▸  PGE2 roli munozarali: ba’zi modellarda uni olib tashlash rezorbsiyani kamaytirmagan.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Sitokin</a:t>
                      </a:r>
                    </a:p>
                  </a:txBody>
                  <a:tcPr marL="73152" marR="73152" marT="36576" marB="36576">
                    <a:solidFill>
                      <a:srgbClr val="0B1F3A"/>
                    </a:solidFill>
                  </a:tcPr>
                </a:tc>
                <a:tc>
                  <a:txBody>
                    <a:bodyPr/>
                    <a:lstStyle/>
                    <a:p>
                      <a:r>
                        <a:rPr sz="1300" b="1">
                          <a:solidFill>
                            <a:srgbClr val="FFFFFF"/>
                          </a:solidFill>
                        </a:rPr>
                        <a:t>Asosiy ta’sir</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r>
              <a:tr h="411480">
                <a:tc>
                  <a:txBody>
                    <a:bodyPr/>
                    <a:lstStyle/>
                    <a:p>
                      <a:r>
                        <a:rPr sz="1200" b="0">
                          <a:solidFill>
                            <a:srgbClr val="1F2937"/>
                          </a:solidFill>
                        </a:rPr>
                        <a:t>TNF-α</a:t>
                      </a:r>
                    </a:p>
                  </a:txBody>
                  <a:tcPr marL="73152" marR="73152" marT="36576" marB="36576">
                    <a:solidFill>
                      <a:srgbClr val="E8EEF6"/>
                    </a:solidFill>
                  </a:tcPr>
                </a:tc>
                <a:tc>
                  <a:txBody>
                    <a:bodyPr/>
                    <a:lstStyle/>
                    <a:p>
                      <a:r>
                        <a:rPr sz="1200" b="0">
                          <a:solidFill>
                            <a:srgbClr val="1F2937"/>
                          </a:solidFill>
                        </a:rPr>
                        <a:t>Osteoklast hosil bo‘lishini kuchaytiradi</a:t>
                      </a:r>
                    </a:p>
                  </a:txBody>
                  <a:tcPr marL="73152" marR="73152" marT="36576" marB="36576">
                    <a:solidFill>
                      <a:srgbClr val="E8EEF6"/>
                    </a:solidFill>
                  </a:tcPr>
                </a:tc>
                <a:tc>
                  <a:txBody>
                    <a:bodyPr/>
                    <a:lstStyle/>
                    <a:p>
                      <a:r>
                        <a:rPr sz="1200" b="0">
                          <a:solidFill>
                            <a:srgbClr val="1F2937"/>
                          </a:solidFill>
                        </a:rPr>
                        <a:t>RANKLga bog‘liq va bog‘liq bo‘lmagan</a:t>
                      </a:r>
                    </a:p>
                  </a:txBody>
                  <a:tcPr marL="73152" marR="73152" marT="36576" marB="36576">
                    <a:solidFill>
                      <a:srgbClr val="E8EEF6"/>
                    </a:solidFill>
                  </a:tcPr>
                </a:tc>
              </a:tr>
              <a:tr h="411480">
                <a:tc>
                  <a:txBody>
                    <a:bodyPr/>
                    <a:lstStyle/>
                    <a:p>
                      <a:r>
                        <a:rPr sz="1200" b="0">
                          <a:solidFill>
                            <a:srgbClr val="1F2937"/>
                          </a:solidFill>
                        </a:rPr>
                        <a:t>IL-1β</a:t>
                      </a:r>
                    </a:p>
                  </a:txBody>
                  <a:tcPr marL="73152" marR="73152" marT="36576" marB="36576">
                    <a:solidFill>
                      <a:srgbClr val="FFFFFF"/>
                    </a:solidFill>
                  </a:tcPr>
                </a:tc>
                <a:tc>
                  <a:txBody>
                    <a:bodyPr/>
                    <a:lstStyle/>
                    <a:p>
                      <a:r>
                        <a:rPr sz="1200" b="0">
                          <a:solidFill>
                            <a:srgbClr val="1F2937"/>
                          </a:solidFill>
                        </a:rPr>
                        <a:t>Osteoklastni bevosita differensiyalaydi</a:t>
                      </a:r>
                    </a:p>
                  </a:txBody>
                  <a:tcPr marL="73152" marR="73152" marT="36576" marB="36576">
                    <a:solidFill>
                      <a:srgbClr val="FFFFFF"/>
                    </a:solidFill>
                  </a:tcPr>
                </a:tc>
                <a:tc>
                  <a:txBody>
                    <a:bodyPr/>
                    <a:lstStyle/>
                    <a:p>
                      <a:r>
                        <a:rPr sz="1200" b="0">
                          <a:solidFill>
                            <a:srgbClr val="1F2937"/>
                          </a:solidFill>
                        </a:rPr>
                        <a:t>MMP-2, -3, -9, -13 va PGE2 ni oshiradi</a:t>
                      </a:r>
                    </a:p>
                  </a:txBody>
                  <a:tcPr marL="73152" marR="73152" marT="36576" marB="36576">
                    <a:solidFill>
                      <a:srgbClr val="FFFFFF"/>
                    </a:solidFill>
                  </a:tcPr>
                </a:tc>
              </a:tr>
              <a:tr h="411480">
                <a:tc>
                  <a:txBody>
                    <a:bodyPr/>
                    <a:lstStyle/>
                    <a:p>
                      <a:r>
                        <a:rPr sz="1200" b="0">
                          <a:solidFill>
                            <a:srgbClr val="1F2937"/>
                          </a:solidFill>
                        </a:rPr>
                        <a:t>IL-6</a:t>
                      </a:r>
                    </a:p>
                  </a:txBody>
                  <a:tcPr marL="73152" marR="73152" marT="36576" marB="36576">
                    <a:solidFill>
                      <a:srgbClr val="E8EEF6"/>
                    </a:solidFill>
                  </a:tcPr>
                </a:tc>
                <a:tc>
                  <a:txBody>
                    <a:bodyPr/>
                    <a:lstStyle/>
                    <a:p>
                      <a:r>
                        <a:rPr sz="1200" b="0">
                          <a:solidFill>
                            <a:srgbClr val="1F2937"/>
                          </a:solidFill>
                        </a:rPr>
                        <a:t>RANKL/OPG muvozanatini buzadi</a:t>
                      </a:r>
                    </a:p>
                  </a:txBody>
                  <a:tcPr marL="73152" marR="73152" marT="36576" marB="36576">
                    <a:solidFill>
                      <a:srgbClr val="E8EEF6"/>
                    </a:solidFill>
                  </a:tcPr>
                </a:tc>
                <a:tc>
                  <a:txBody>
                    <a:bodyPr/>
                    <a:lstStyle/>
                    <a:p>
                      <a:r>
                        <a:rPr sz="1200" b="0">
                          <a:solidFill>
                            <a:srgbClr val="1F2937"/>
                          </a:solidFill>
                        </a:rPr>
                        <a:t>Prekursorning RANKLga sezgirligini oshiradi</a:t>
                      </a:r>
                    </a:p>
                  </a:txBody>
                  <a:tcPr marL="73152" marR="73152" marT="36576" marB="36576">
                    <a:solidFill>
                      <a:srgbClr val="E8EEF6"/>
                    </a:solidFill>
                  </a:tcPr>
                </a:tc>
              </a:tr>
              <a:tr h="411480">
                <a:tc>
                  <a:txBody>
                    <a:bodyPr/>
                    <a:lstStyle/>
                    <a:p>
                      <a:r>
                        <a:rPr sz="1200" b="0">
                          <a:solidFill>
                            <a:srgbClr val="1F2937"/>
                          </a:solidFill>
                        </a:rPr>
                        <a:t>IL-17</a:t>
                      </a:r>
                    </a:p>
                  </a:txBody>
                  <a:tcPr marL="73152" marR="73152" marT="36576" marB="36576">
                    <a:solidFill>
                      <a:srgbClr val="FFFFFF"/>
                    </a:solidFill>
                  </a:tcPr>
                </a:tc>
                <a:tc>
                  <a:txBody>
                    <a:bodyPr/>
                    <a:lstStyle/>
                    <a:p>
                      <a:r>
                        <a:rPr sz="1200" b="0">
                          <a:solidFill>
                            <a:srgbClr val="1F2937"/>
                          </a:solidFill>
                        </a:rPr>
                        <a:t>Suyak hosil bo‘lishini to‘xtatadi</a:t>
                      </a:r>
                    </a:p>
                  </a:txBody>
                  <a:tcPr marL="73152" marR="73152" marT="36576" marB="36576">
                    <a:solidFill>
                      <a:srgbClr val="FFFFFF"/>
                    </a:solidFill>
                  </a:tcPr>
                </a:tc>
                <a:tc>
                  <a:txBody>
                    <a:bodyPr/>
                    <a:lstStyle/>
                    <a:p>
                      <a:r>
                        <a:rPr sz="1200" b="0">
                          <a:solidFill>
                            <a:srgbClr val="1F2937"/>
                          </a:solidFill>
                        </a:rPr>
                        <a:t>SOST↑, Wnt/β-katenin↓, RANKL↑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sitokinlar va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Makrofag qutblanishi: M1 va M2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Makrofaglar muhitga qarab M1 yoki M2 fenotipiga o‘tadi; qutblanish osteoklastogenezni belgilaydi.</a:t>
            </a:r>
          </a:p>
          <a:p>
            <a:pPr>
              <a:spcAft>
                <a:spcPts val="800"/>
              </a:spcAft>
            </a:pPr>
            <a:r>
              <a:rPr sz="1800">
                <a:solidFill>
                  <a:srgbClr val="1F2937"/>
                </a:solidFill>
                <a:latin typeface="Calibri"/>
              </a:rPr>
              <a:t>▸  PMMA zarralarini fagotsitlagan makrofaglar asosan M1 ga qutblanadi va yallig‘lantiruvchi sitokin chiqaradi.</a:t>
            </a:r>
          </a:p>
          <a:p>
            <a:pPr>
              <a:spcAft>
                <a:spcPts val="800"/>
              </a:spcAft>
            </a:pPr>
            <a:r>
              <a:rPr sz="1800">
                <a:solidFill>
                  <a:srgbClr val="1F2937"/>
                </a:solidFill>
                <a:latin typeface="Calibri"/>
              </a:rPr>
              <a:t>▸  Diqqat: M2 suyak hosil bo‘lishiga faqat yo‘l ochadi; kuchli signalni BMP-2 yoki Wnt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31800"/>
                <a:gridCol w="1741162"/>
                <a:gridCol w="251501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M1</a:t>
                      </a:r>
                    </a:p>
                  </a:txBody>
                  <a:tcPr marL="73152" marR="73152" marT="36576" marB="36576">
                    <a:solidFill>
                      <a:srgbClr val="0B1F3A"/>
                    </a:solidFill>
                  </a:tcPr>
                </a:tc>
                <a:tc>
                  <a:txBody>
                    <a:bodyPr/>
                    <a:lstStyle/>
                    <a:p>
                      <a:r>
                        <a:rPr sz="1300" b="1">
                          <a:solidFill>
                            <a:srgbClr val="FFFFFF"/>
                          </a:solidFill>
                        </a:rPr>
                        <a:t>M2</a:t>
                      </a:r>
                    </a:p>
                  </a:txBody>
                  <a:tcPr marL="73152" marR="73152" marT="36576" marB="36576">
                    <a:solidFill>
                      <a:srgbClr val="0B1F3A"/>
                    </a:solidFill>
                  </a:tcPr>
                </a:tc>
              </a:tr>
              <a:tr h="411480">
                <a:tc>
                  <a:txBody>
                    <a:bodyPr/>
                    <a:lstStyle/>
                    <a:p>
                      <a:r>
                        <a:rPr sz="1200" b="0">
                          <a:solidFill>
                            <a:srgbClr val="1F2937"/>
                          </a:solidFill>
                        </a:rPr>
                        <a:t>Sharoit</a:t>
                      </a:r>
                    </a:p>
                  </a:txBody>
                  <a:tcPr marL="73152" marR="73152" marT="36576" marB="36576">
                    <a:solidFill>
                      <a:srgbClr val="E8EEF6"/>
                    </a:solidFill>
                  </a:tcPr>
                </a:tc>
                <a:tc>
                  <a:txBody>
                    <a:bodyPr/>
                    <a:lstStyle/>
                    <a:p>
                      <a:r>
                        <a:rPr sz="1200" b="0">
                          <a:solidFill>
                            <a:srgbClr val="1F2937"/>
                          </a:solidFill>
                        </a:rPr>
                        <a:t>Erta yallig‘lanish muhiti</a:t>
                      </a:r>
                    </a:p>
                  </a:txBody>
                  <a:tcPr marL="73152" marR="73152" marT="36576" marB="36576">
                    <a:solidFill>
                      <a:srgbClr val="E8EEF6"/>
                    </a:solidFill>
                  </a:tcPr>
                </a:tc>
                <a:tc>
                  <a:txBody>
                    <a:bodyPr/>
                    <a:lstStyle/>
                    <a:p>
                      <a:r>
                        <a:rPr sz="1200" b="0">
                          <a:solidFill>
                            <a:srgbClr val="1F2937"/>
                          </a:solidFill>
                        </a:rPr>
                        <a:t>Yallig‘lanishsiz sharoit</a:t>
                      </a:r>
                    </a:p>
                  </a:txBody>
                  <a:tcPr marL="73152" marR="73152" marT="36576" marB="36576">
                    <a:solidFill>
                      <a:srgbClr val="E8EEF6"/>
                    </a:solidFill>
                  </a:tcPr>
                </a:tc>
              </a:tr>
              <a:tr h="411480">
                <a:tc>
                  <a:txBody>
                    <a:bodyPr/>
                    <a:lstStyle/>
                    <a:p>
                      <a:r>
                        <a:rPr sz="1200" b="0">
                          <a:solidFill>
                            <a:srgbClr val="1F2937"/>
                          </a:solidFill>
                        </a:rPr>
                        <a:t>Mahsulot</a:t>
                      </a:r>
                    </a:p>
                  </a:txBody>
                  <a:tcPr marL="73152" marR="73152" marT="36576" marB="36576">
                    <a:solidFill>
                      <a:srgbClr val="FFFFFF"/>
                    </a:solidFill>
                  </a:tcPr>
                </a:tc>
                <a:tc>
                  <a:txBody>
                    <a:bodyPr/>
                    <a:lstStyle/>
                    <a:p>
                      <a:r>
                        <a:rPr sz="1200" b="0">
                          <a:solidFill>
                            <a:srgbClr val="1F2937"/>
                          </a:solidFill>
                        </a:rPr>
                        <a:t>TNF-α, IL-1, IL-6, PGE2, NO</a:t>
                      </a:r>
                    </a:p>
                  </a:txBody>
                  <a:tcPr marL="73152" marR="73152" marT="36576" marB="36576">
                    <a:solidFill>
                      <a:srgbClr val="FFFFFF"/>
                    </a:solidFill>
                  </a:tcPr>
                </a:tc>
                <a:tc>
                  <a:txBody>
                    <a:bodyPr/>
                    <a:lstStyle/>
                    <a:p>
                      <a:r>
                        <a:rPr sz="1200" b="0">
                          <a:solidFill>
                            <a:srgbClr val="1F2937"/>
                          </a:solidFill>
                        </a:rPr>
                        <a:t>IL-10, TGF-β</a:t>
                      </a:r>
                    </a:p>
                  </a:txBody>
                  <a:tcPr marL="73152" marR="73152" marT="36576" marB="36576">
                    <a:solidFill>
                      <a:srgbClr val="FFFFFF"/>
                    </a:solidFill>
                  </a:tcPr>
                </a:tc>
              </a:tr>
              <a:tr h="411480">
                <a:tc>
                  <a:txBody>
                    <a:bodyPr/>
                    <a:lstStyle/>
                    <a:p>
                      <a:r>
                        <a:rPr sz="1200" b="0">
                          <a:solidFill>
                            <a:srgbClr val="1F2937"/>
                          </a:solidFill>
                        </a:rPr>
                        <a:t>Ta’sir</a:t>
                      </a:r>
                    </a:p>
                  </a:txBody>
                  <a:tcPr marL="73152" marR="73152" marT="36576" marB="36576">
                    <a:solidFill>
                      <a:srgbClr val="E8EEF6"/>
                    </a:solidFill>
                  </a:tcPr>
                </a:tc>
                <a:tc>
                  <a:txBody>
                    <a:bodyPr/>
                    <a:lstStyle/>
                    <a:p>
                      <a:r>
                        <a:rPr sz="1200" b="0">
                          <a:solidFill>
                            <a:srgbClr val="1F2937"/>
                          </a:solidFill>
                        </a:rPr>
                        <a:t>Osteoklastni faollashtiradi</a:t>
                      </a:r>
                    </a:p>
                  </a:txBody>
                  <a:tcPr marL="73152" marR="73152" marT="36576" marB="36576">
                    <a:solidFill>
                      <a:srgbClr val="E8EEF6"/>
                    </a:solidFill>
                  </a:tcPr>
                </a:tc>
                <a:tc>
                  <a:txBody>
                    <a:bodyPr/>
                    <a:lstStyle/>
                    <a:p>
                      <a:r>
                        <a:rPr sz="1200" b="0">
                          <a:solidFill>
                            <a:srgbClr val="1F2937"/>
                          </a:solidFill>
                        </a:rPr>
                        <a:t>Tiklanish; osteoblastda OPG ni oshiradi</a:t>
                      </a:r>
                    </a:p>
                  </a:txBody>
                  <a:tcPr marL="73152" marR="73152" marT="36576" marB="36576">
                    <a:solidFill>
                      <a:srgbClr val="E8EEF6"/>
                    </a:solidFill>
                  </a:tcPr>
                </a:tc>
              </a:tr>
              <a:tr h="411480">
                <a:tc>
                  <a:txBody>
                    <a:bodyPr/>
                    <a:lstStyle/>
                    <a:p>
                      <a:r>
                        <a:rPr sz="1200" b="0">
                          <a:solidFill>
                            <a:srgbClr val="1F2937"/>
                          </a:solidFill>
                        </a:rPr>
                        <a:t>Xavf</a:t>
                      </a:r>
                    </a:p>
                  </a:txBody>
                  <a:tcPr marL="73152" marR="73152" marT="36576" marB="36576">
                    <a:solidFill>
                      <a:srgbClr val="FFFFFF"/>
                    </a:solidFill>
                  </a:tcPr>
                </a:tc>
                <a:tc>
                  <a:txBody>
                    <a:bodyPr/>
                    <a:lstStyle/>
                    <a:p>
                      <a:r>
                        <a:rPr sz="1200" b="0">
                          <a:solidFill>
                            <a:srgbClr val="1F2937"/>
                          </a:solidFill>
                        </a:rPr>
                        <a:t>Rezorbsiya kuchayadi</a:t>
                      </a:r>
                    </a:p>
                  </a:txBody>
                  <a:tcPr marL="73152" marR="73152" marT="36576" marB="36576">
                    <a:solidFill>
                      <a:srgbClr val="FFFFFF"/>
                    </a:solidFill>
                  </a:tcPr>
                </a:tc>
                <a:tc>
                  <a:txBody>
                    <a:bodyPr/>
                    <a:lstStyle/>
                    <a:p>
                      <a:r>
                        <a:rPr sz="1200" b="0">
                          <a:solidFill>
                            <a:srgbClr val="1F2937"/>
                          </a:solidFill>
                        </a:rPr>
                        <a:t>Erta ortiqcha M2: fibroz kapsula xavfi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M1 va M2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Osteositlar va mexanik yuklama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Osteositlar suyakdagi asosiy mexanosensor hujayralar bo‘lib, yuklamaning o‘zgarishini sezadi.</a:t>
            </a:r>
          </a:p>
          <a:p>
            <a:pPr>
              <a:spcAft>
                <a:spcPts val="1200"/>
              </a:spcAft>
            </a:pPr>
            <a:r>
              <a:rPr sz="2200">
                <a:solidFill>
                  <a:srgbClr val="1F2937"/>
                </a:solidFill>
                <a:latin typeface="Calibri"/>
              </a:rPr>
              <a:t>▸  Yuklama kamayganda (uzoq yotish, og‘riq) osteositlar sklerostinni pasaytiradi va RANKLni sezilarli oshiradi. (?)</a:t>
            </a:r>
          </a:p>
          <a:p>
            <a:pPr>
              <a:spcAft>
                <a:spcPts val="1200"/>
              </a:spcAft>
            </a:pPr>
            <a:r>
              <a:rPr sz="2200">
                <a:solidFill>
                  <a:srgbClr val="1F2937"/>
                </a:solidFill>
                <a:latin typeface="Calibri"/>
              </a:rPr>
              <a:t>▸  Artroplastikadan keyingi harakatsizlik disuse osteoporozga o‘xshash holat yaratib, periprostetik osteoliz (PPO)ni tezlashtiradi.</a:t>
            </a:r>
          </a:p>
          <a:p>
            <a:pPr>
              <a:spcAft>
                <a:spcPts val="1200"/>
              </a:spcAft>
            </a:pPr>
            <a:r>
              <a:rPr sz="2200">
                <a:solidFill>
                  <a:srgbClr val="1F2937"/>
                </a:solidFill>
                <a:latin typeface="Calibri"/>
              </a:rPr>
              <a:t>▸  Orqa oyoq yuklamadan chiqarilgan sichqonlarda 5 kun ichida osteosit apoptozi 3–4 baravar oshib, RANKL ko‘tarilgan.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 3.3.4-bo‘lim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yuqumsiz bo‘shashgan protez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bo‘g‘imi almashtirilgan bemorda implant infeksiyasiz, ya’ni aseptik tarzda bo‘shashgan.</a:t>
            </a:r>
          </a:p>
          <a:p>
            <a:pPr>
              <a:spcAft>
                <a:spcPts val="1200"/>
              </a:spcAft>
            </a:pPr>
            <a:r>
              <a:rPr sz="2200">
                <a:solidFill>
                  <a:srgbClr val="1F2937"/>
                </a:solidFill>
                <a:latin typeface="Calibri"/>
              </a:rPr>
              <a:t>▸  Implant atrofidagi to‘qimada RANKL yuqori, OPG past; rentgenda suyak yo‘qolishi ko‘rinadi.</a:t>
            </a:r>
          </a:p>
          <a:p>
            <a:pPr>
              <a:spcAft>
                <a:spcPts val="1200"/>
              </a:spcAft>
            </a:pPr>
            <a:r>
              <a:rPr sz="2200">
                <a:solidFill>
                  <a:srgbClr val="1F2937"/>
                </a:solidFill>
                <a:latin typeface="Calibri"/>
              </a:rPr>
              <a:t>▸  Savol: qaysi molekulyar zanjir ishlayapti? Javobni yeyilish zarrachalaridan boshlab bosqichma-bosqich tushuntiring.</a:t>
            </a:r>
          </a:p>
          <a:p>
            <a:pPr>
              <a:spcAft>
                <a:spcPts val="1200"/>
              </a:spcAft>
            </a:pPr>
            <a:r>
              <a:rPr sz="2200">
                <a:solidFill>
                  <a:srgbClr val="1F2937"/>
                </a:solidFill>
                <a:latin typeface="Calibri"/>
              </a:rPr>
              <a:t>▸  Diqqat: aseptik ≠ yallig‘lanishsiz. PPO steril bo‘lsa ham, surunkali yallig‘lanish bilan suyakni yemiradi.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 1-bo‘lim, PMID 40932933, 3.2-bo‘lim, PMID 40932933, 2.1-bo‘lim, PMID 40932933, 2.2-bo‘lim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Gormonal omillar: estrogen, GK, PTH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Estrogen yetishmasligi RANKLni oshirib, OPGni kamaytiradi; postmenopauzada rezorbsiya kuchayadi.</a:t>
            </a:r>
          </a:p>
          <a:p>
            <a:pPr>
              <a:spcAft>
                <a:spcPts val="800"/>
              </a:spcAft>
            </a:pPr>
            <a:r>
              <a:rPr sz="1800">
                <a:solidFill>
                  <a:srgbClr val="1F2937"/>
                </a:solidFill>
                <a:latin typeface="Calibri"/>
              </a:rPr>
              <a:t>▸  Glyukokortikoidlar (GK) OPGni kamaytirib, RANKLni oshiradi; D3 vitamini buni tiklashi mumkin.</a:t>
            </a:r>
          </a:p>
          <a:p>
            <a:pPr>
              <a:spcAft>
                <a:spcPts val="800"/>
              </a:spcAft>
            </a:pPr>
            <a:r>
              <a:rPr sz="1800">
                <a:solidFill>
                  <a:srgbClr val="1F2937"/>
                </a:solidFill>
                <a:latin typeface="Calibri"/>
              </a:rPr>
              <a:t>▸  Paratireoid gormon (PTH): doimiy ta’sir rezorbsiyani, intermittent ta’sir suyak hosil bo‘lishini kuchaytiradi.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89214"/>
                <a:gridCol w="1395437"/>
                <a:gridCol w="2203322"/>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RANKL/OPG</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Estrogen yetishmasligi</a:t>
                      </a:r>
                    </a:p>
                  </a:txBody>
                  <a:tcPr marL="73152" marR="73152" marT="36576" marB="36576">
                    <a:solidFill>
                      <a:srgbClr val="E8EEF6"/>
                    </a:solidFill>
                  </a:tcPr>
                </a:tc>
                <a:tc>
                  <a:txBody>
                    <a:bodyPr/>
                    <a:lstStyle/>
                    <a:p>
                      <a:r>
                        <a:rPr sz="1200" b="0">
                          <a:solidFill>
                            <a:srgbClr val="1F2937"/>
                          </a:solidFill>
                        </a:rPr>
                        <a:t>RANKL ↑, OPG ↓</a:t>
                      </a:r>
                    </a:p>
                  </a:txBody>
                  <a:tcPr marL="73152" marR="73152" marT="36576" marB="36576">
                    <a:solidFill>
                      <a:srgbClr val="E8EEF6"/>
                    </a:solidFill>
                  </a:tcPr>
                </a:tc>
                <a:tc>
                  <a:txBody>
                    <a:bodyPr/>
                    <a:lstStyle/>
                    <a:p>
                      <a:r>
                        <a:rPr sz="1200" b="0">
                          <a:solidFill>
                            <a:srgbClr val="1F2937"/>
                          </a:solidFill>
                        </a:rPr>
                        <a:t>Rezorbsiya ↑, osteoporoz</a:t>
                      </a:r>
                    </a:p>
                  </a:txBody>
                  <a:tcPr marL="73152" marR="73152" marT="36576" marB="36576">
                    <a:solidFill>
                      <a:srgbClr val="E8EEF6"/>
                    </a:solidFill>
                  </a:tcPr>
                </a:tc>
              </a:tr>
              <a:tr h="411480">
                <a:tc>
                  <a:txBody>
                    <a:bodyPr/>
                    <a:lstStyle/>
                    <a:p>
                      <a:r>
                        <a:rPr sz="1200" b="0">
                          <a:solidFill>
                            <a:srgbClr val="1F2937"/>
                          </a:solidFill>
                        </a:rPr>
                        <a:t>Glyukokortikoidlar (GK)</a:t>
                      </a:r>
                    </a:p>
                  </a:txBody>
                  <a:tcPr marL="73152" marR="73152" marT="36576" marB="36576">
                    <a:solidFill>
                      <a:srgbClr val="FFFFFF"/>
                    </a:solidFill>
                  </a:tcPr>
                </a:tc>
                <a:tc>
                  <a:txBody>
                    <a:bodyPr/>
                    <a:lstStyle/>
                    <a:p>
                      <a:r>
                        <a:rPr sz="1200" b="0">
                          <a:solidFill>
                            <a:srgbClr val="1F2937"/>
                          </a:solidFill>
                        </a:rPr>
                        <a:t>RANKL ↑, OPG ↓</a:t>
                      </a:r>
                    </a:p>
                  </a:txBody>
                  <a:tcPr marL="73152" marR="73152" marT="36576" marB="36576">
                    <a:solidFill>
                      <a:srgbClr val="FFFFFF"/>
                    </a:solidFill>
                  </a:tcPr>
                </a:tc>
                <a:tc>
                  <a:txBody>
                    <a:bodyPr/>
                    <a:lstStyle/>
                    <a:p>
                      <a:r>
                        <a:rPr sz="1200" b="0">
                          <a:solidFill>
                            <a:srgbClr val="1F2937"/>
                          </a:solidFill>
                        </a:rPr>
                        <a:t>Osteoklast faollashadi</a:t>
                      </a:r>
                    </a:p>
                  </a:txBody>
                  <a:tcPr marL="73152" marR="73152" marT="36576" marB="36576">
                    <a:solidFill>
                      <a:srgbClr val="FFFFFF"/>
                    </a:solidFill>
                  </a:tcPr>
                </a:tc>
              </a:tr>
              <a:tr h="411480">
                <a:tc>
                  <a:txBody>
                    <a:bodyPr/>
                    <a:lstStyle/>
                    <a:p>
                      <a:r>
                        <a:rPr sz="1200" b="0">
                          <a:solidFill>
                            <a:srgbClr val="1F2937"/>
                          </a:solidFill>
                        </a:rPr>
                        <a:t>Doimiy PTH</a:t>
                      </a:r>
                    </a:p>
                  </a:txBody>
                  <a:tcPr marL="73152" marR="73152" marT="36576" marB="36576">
                    <a:solidFill>
                      <a:srgbClr val="E8EEF6"/>
                    </a:solidFill>
                  </a:tcPr>
                </a:tc>
                <a:tc>
                  <a:txBody>
                    <a:bodyPr/>
                    <a:lstStyle/>
                    <a:p>
                      <a:r>
                        <a:rPr sz="1200" b="0">
                          <a:solidFill>
                            <a:srgbClr val="1F2937"/>
                          </a:solidFill>
                        </a:rPr>
                        <a:t>RANKL/OPG nisbati ↑</a:t>
                      </a:r>
                    </a:p>
                  </a:txBody>
                  <a:tcPr marL="73152" marR="73152" marT="36576" marB="36576">
                    <a:solidFill>
                      <a:srgbClr val="E8EEF6"/>
                    </a:solidFill>
                  </a:tcPr>
                </a:tc>
                <a:tc>
                  <a:txBody>
                    <a:bodyPr/>
                    <a:lstStyle/>
                    <a:p>
                      <a:r>
                        <a:rPr sz="1200" b="0">
                          <a:solidFill>
                            <a:srgbClr val="1F2937"/>
                          </a:solidFill>
                        </a:rPr>
                        <a:t>Osteoklastogenez ↑</a:t>
                      </a:r>
                    </a:p>
                  </a:txBody>
                  <a:tcPr marL="73152" marR="73152" marT="36576" marB="36576">
                    <a:solidFill>
                      <a:srgbClr val="E8EEF6"/>
                    </a:solidFill>
                  </a:tcPr>
                </a:tc>
              </a:tr>
              <a:tr h="411480">
                <a:tc>
                  <a:txBody>
                    <a:bodyPr/>
                    <a:lstStyle/>
                    <a:p>
                      <a:r>
                        <a:rPr sz="1200" b="0">
                          <a:solidFill>
                            <a:srgbClr val="1F2937"/>
                          </a:solidFill>
                        </a:rPr>
                        <a:t>Intermittent PTH</a:t>
                      </a:r>
                    </a:p>
                  </a:txBody>
                  <a:tcPr marL="73152" marR="73152" marT="36576" marB="36576">
                    <a:solidFill>
                      <a:srgbClr val="FFFFFF"/>
                    </a:solidFill>
                  </a:tcPr>
                </a:tc>
                <a:tc>
                  <a:txBody>
                    <a:bodyPr/>
                    <a:lstStyle/>
                    <a:p>
                      <a:r>
                        <a:rPr sz="1200" b="0">
                          <a:solidFill>
                            <a:srgbClr val="1F2937"/>
                          </a:solidFill>
                        </a:rPr>
                        <a:t>Sklerostin ↓, Wnt ↑</a:t>
                      </a:r>
                    </a:p>
                  </a:txBody>
                  <a:tcPr marL="73152" marR="73152" marT="36576" marB="36576">
                    <a:solidFill>
                      <a:srgbClr val="FFFFFF"/>
                    </a:solidFill>
                  </a:tcPr>
                </a:tc>
                <a:tc>
                  <a:txBody>
                    <a:bodyPr/>
                    <a:lstStyle/>
                    <a:p>
                      <a:r>
                        <a:rPr sz="1200" b="0">
                          <a:solidFill>
                            <a:srgbClr val="1F2937"/>
                          </a:solidFill>
                        </a:rPr>
                        <a:t>Anabolik: suyak hosil bo‘lishi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Gormonlar va RANKL/OPG</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Yin L va boshq., Critical signaling pathways in osteoclast differentiation and bone resorption: mechanisms and therapeutic implications for periprosthetic osteolysis, betlar: PMID 40932933, 3.3.1-bo‘lim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Skeletdan tashqari osteoklastlar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Osteoklastlar suyakdan tashqarida ham hosil bo‘ladi, masalan tendon qobig‘i gigant hujayrali o‘smasida.</a:t>
            </a:r>
          </a:p>
          <a:p>
            <a:pPr>
              <a:spcAft>
                <a:spcPts val="800"/>
              </a:spcAft>
            </a:pPr>
            <a:r>
              <a:rPr sz="1800">
                <a:solidFill>
                  <a:srgbClr val="1F2937"/>
                </a:solidFill>
                <a:latin typeface="Calibri"/>
              </a:rPr>
              <a:t>▸  O‘choqdagi mezenximal hujayralar RANKL va M-CSF chiqaradi, bu ehtimol qondan prekursorlarni jalb qiladi. (?)</a:t>
            </a:r>
          </a:p>
          <a:p>
            <a:pPr>
              <a:spcAft>
                <a:spcPts val="800"/>
              </a:spcAft>
            </a:pPr>
            <a:r>
              <a:rPr sz="1800">
                <a:solidFill>
                  <a:srgbClr val="1F2937"/>
                </a:solidFill>
                <a:latin typeface="Calibri"/>
              </a:rPr>
              <a:t>▸  Ba‘zi karsinomalarda (ko‘krak, o‘pka, oshqozon osti bezi, qovuq) ham osteoklast uchraydi, mexanizmi noma‘lum.</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57595"/>
                <a:gridCol w="1804132"/>
                <a:gridCol w="242624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TRAP-musbat</a:t>
                      </a:r>
                    </a:p>
                  </a:txBody>
                  <a:tcPr marL="73152" marR="73152" marT="36576" marB="36576">
                    <a:solidFill>
                      <a:srgbClr val="0B1F3A"/>
                    </a:solidFill>
                  </a:tcPr>
                </a:tc>
                <a:tc>
                  <a:txBody>
                    <a:bodyPr/>
                    <a:lstStyle/>
                    <a:p>
                      <a:r>
                        <a:rPr sz="1300" b="1">
                          <a:solidFill>
                            <a:srgbClr val="FFFFFF"/>
                          </a:solidFill>
                        </a:rPr>
                        <a:t>TRAP-manfiy</a:t>
                      </a:r>
                    </a:p>
                  </a:txBody>
                  <a:tcPr marL="73152" marR="73152" marT="36576" marB="36576">
                    <a:solidFill>
                      <a:srgbClr val="0B1F3A"/>
                    </a:solidFill>
                  </a:tcPr>
                </a:tc>
              </a:tr>
              <a:tr h="411480">
                <a:tc>
                  <a:txBody>
                    <a:bodyPr/>
                    <a:lstStyle/>
                    <a:p>
                      <a:r>
                        <a:rPr sz="1200" b="0">
                          <a:solidFill>
                            <a:srgbClr val="1F2937"/>
                          </a:solidFill>
                        </a:rPr>
                        <a:t>Hujayra turi</a:t>
                      </a:r>
                    </a:p>
                  </a:txBody>
                  <a:tcPr marL="73152" marR="73152" marT="36576" marB="36576">
                    <a:solidFill>
                      <a:srgbClr val="E8EEF6"/>
                    </a:solidFill>
                  </a:tcPr>
                </a:tc>
                <a:tc>
                  <a:txBody>
                    <a:bodyPr/>
                    <a:lstStyle/>
                    <a:p>
                      <a:r>
                        <a:rPr sz="1200" b="0">
                          <a:solidFill>
                            <a:srgbClr val="1F2937"/>
                          </a:solidFill>
                        </a:rPr>
                        <a:t>Ko‘p yadroli osteoklast</a:t>
                      </a:r>
                    </a:p>
                  </a:txBody>
                  <a:tcPr marL="73152" marR="73152" marT="36576" marB="36576">
                    <a:solidFill>
                      <a:srgbClr val="E8EEF6"/>
                    </a:solidFill>
                  </a:tcPr>
                </a:tc>
                <a:tc>
                  <a:txBody>
                    <a:bodyPr/>
                    <a:lstStyle/>
                    <a:p>
                      <a:r>
                        <a:rPr sz="1200" b="0">
                          <a:solidFill>
                            <a:srgbClr val="1F2937"/>
                          </a:solidFill>
                        </a:rPr>
                        <a:t>Ko‘p yadroli gigant hujayra</a:t>
                      </a:r>
                    </a:p>
                  </a:txBody>
                  <a:tcPr marL="73152" marR="73152" marT="36576" marB="36576">
                    <a:solidFill>
                      <a:srgbClr val="E8EEF6"/>
                    </a:solidFill>
                  </a:tcPr>
                </a:tc>
              </a:tr>
              <a:tr h="411480">
                <a:tc>
                  <a:txBody>
                    <a:bodyPr/>
                    <a:lstStyle/>
                    <a:p>
                      <a:r>
                        <a:rPr sz="1200" b="0">
                          <a:solidFill>
                            <a:srgbClr val="1F2937"/>
                          </a:solidFill>
                        </a:rPr>
                        <a:t>Suyakni eritadimi</a:t>
                      </a:r>
                    </a:p>
                  </a:txBody>
                  <a:tcPr marL="73152" marR="73152" marT="36576" marB="36576">
                    <a:solidFill>
                      <a:srgbClr val="FFFFFF"/>
                    </a:solidFill>
                  </a:tcPr>
                </a:tc>
                <a:tc>
                  <a:txBody>
                    <a:bodyPr/>
                    <a:lstStyle/>
                    <a:p>
                      <a:r>
                        <a:rPr sz="1200" b="0">
                          <a:solidFill>
                            <a:srgbClr val="1F2937"/>
                          </a:solidFill>
                        </a:rPr>
                        <a:t>Ha, suyakni rezorbsiya qiladi</a:t>
                      </a:r>
                    </a:p>
                  </a:txBody>
                  <a:tcPr marL="73152" marR="73152" marT="36576" marB="36576">
                    <a:solidFill>
                      <a:srgbClr val="FFFFFF"/>
                    </a:solidFill>
                  </a:tcPr>
                </a:tc>
                <a:tc>
                  <a:txBody>
                    <a:bodyPr/>
                    <a:lstStyle/>
                    <a:p>
                      <a:r>
                        <a:rPr sz="1200" b="0">
                          <a:solidFill>
                            <a:srgbClr val="1F2937"/>
                          </a:solidFill>
                        </a:rPr>
                        <a:t>Yo‘q, suyakni eritmaydi</a:t>
                      </a:r>
                    </a:p>
                  </a:txBody>
                  <a:tcPr marL="73152" marR="73152" marT="36576" marB="36576">
                    <a:solidFill>
                      <a:srgbClr val="FFFFFF"/>
                    </a:solidFill>
                  </a:tcPr>
                </a:tc>
              </a:tr>
              <a:tr h="411480">
                <a:tc>
                  <a:txBody>
                    <a:bodyPr/>
                    <a:lstStyle/>
                    <a:p>
                      <a:r>
                        <a:rPr sz="1200" b="0">
                          <a:solidFill>
                            <a:srgbClr val="1F2937"/>
                          </a:solidFill>
                        </a:rPr>
                        <a:t>Vazifasi</a:t>
                      </a:r>
                    </a:p>
                  </a:txBody>
                  <a:tcPr marL="73152" marR="73152" marT="36576" marB="36576">
                    <a:solidFill>
                      <a:srgbClr val="E8EEF6"/>
                    </a:solidFill>
                  </a:tcPr>
                </a:tc>
                <a:tc>
                  <a:txBody>
                    <a:bodyPr/>
                    <a:lstStyle/>
                    <a:p>
                      <a:r>
                        <a:rPr sz="1200" b="0">
                          <a:solidFill>
                            <a:srgbClr val="1F2937"/>
                          </a:solidFill>
                        </a:rPr>
                        <a:t>Suyak matriksini parchalash</a:t>
                      </a:r>
                    </a:p>
                  </a:txBody>
                  <a:tcPr marL="73152" marR="73152" marT="36576" marB="36576">
                    <a:solidFill>
                      <a:srgbClr val="E8EEF6"/>
                    </a:solidFill>
                  </a:tcPr>
                </a:tc>
                <a:tc>
                  <a:txBody>
                    <a:bodyPr/>
                    <a:lstStyle/>
                    <a:p>
                      <a:r>
                        <a:rPr sz="1200" b="0">
                          <a:solidFill>
                            <a:srgbClr val="1F2937"/>
                          </a:solidFill>
                        </a:rPr>
                        <a:t>Begona agent va xolesterinni parchalash</a:t>
                      </a:r>
                    </a:p>
                  </a:txBody>
                  <a:tcPr marL="73152" marR="73152" marT="36576" marB="36576">
                    <a:solidFill>
                      <a:srgbClr val="E8EEF6"/>
                    </a:solidFill>
                  </a:tcPr>
                </a:tc>
              </a:tr>
              <a:tr h="411480">
                <a:tc>
                  <a:txBody>
                    <a:bodyPr/>
                    <a:lstStyle/>
                    <a:p>
                      <a:r>
                        <a:rPr sz="1200" b="0">
                          <a:solidFill>
                            <a:srgbClr val="1F2937"/>
                          </a:solidFill>
                        </a:rPr>
                        <a:t>Qayerda ko‘rinadi</a:t>
                      </a:r>
                    </a:p>
                  </a:txBody>
                  <a:tcPr marL="73152" marR="73152" marT="36576" marB="36576">
                    <a:solidFill>
                      <a:srgbClr val="FFFFFF"/>
                    </a:solidFill>
                  </a:tcPr>
                </a:tc>
                <a:tc>
                  <a:txBody>
                    <a:bodyPr/>
                    <a:lstStyle/>
                    <a:p>
                      <a:r>
                        <a:rPr sz="1200" b="0">
                          <a:solidFill>
                            <a:srgbClr val="1F2937"/>
                          </a:solidFill>
                        </a:rPr>
                        <a:t>Suyak va ba‘zi o‘smalarda</a:t>
                      </a:r>
                    </a:p>
                  </a:txBody>
                  <a:tcPr marL="73152" marR="73152" marT="36576" marB="36576">
                    <a:solidFill>
                      <a:srgbClr val="FFFFFF"/>
                    </a:solidFill>
                  </a:tcPr>
                </a:tc>
                <a:tc>
                  <a:txBody>
                    <a:bodyPr/>
                    <a:lstStyle/>
                    <a:p>
                      <a:r>
                        <a:rPr sz="1200" b="0">
                          <a:solidFill>
                            <a:srgbClr val="1F2937"/>
                          </a:solidFill>
                        </a:rPr>
                        <a:t>Xolesterin yoriqlari yonida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TRAP-musbat va TRAP-manfiy hujayralar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Osteoklast qo‘shilishi (fuziya)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RANKL ta‘sirida NFATc1 DC-STAMP va Atp6v0d2 ifodasini oshiradi; ular qo‘shilish uchun zarur.</a:t>
            </a:r>
          </a:p>
          <a:p>
            <a:pPr>
              <a:spcAft>
                <a:spcPts val="800"/>
              </a:spcAft>
            </a:pPr>
            <a:r>
              <a:rPr sz="1800">
                <a:solidFill>
                  <a:srgbClr val="1F2937"/>
                </a:solidFill>
                <a:latin typeface="Calibri"/>
              </a:rPr>
              <a:t>▸  Siglec-15 sialillangan TLR2 ni taniydi; fosfatidilserin (PS) ochilishi “meni qo‘sh” signalidir.</a:t>
            </a:r>
          </a:p>
          <a:p>
            <a:pPr>
              <a:spcAft>
                <a:spcPts val="800"/>
              </a:spcAft>
            </a:pPr>
            <a:r>
              <a:rPr sz="1800">
                <a:solidFill>
                  <a:srgbClr val="1F2937"/>
                </a:solidFill>
                <a:latin typeface="Calibri"/>
              </a:rPr>
              <a:t>▸  DC-STAMP yo‘q sichqonlarda ko‘p yadroli hujayralar hosil bo‘lmaydi, osteopetroz rivojlanadi.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Migratsiya (jalb bo‘lish)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Tanish: Siglec-15 + TLR2</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Yopishish (adgeziya)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Fuziogenlar: DC-STAMP, OC-STAMP</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Membrana qo‘shilishi (PS)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Fuziya bosqichlari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Osteoklast qutblanishi (polyarizatsiya)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Qutblangan osteoklastda podosomalar halqa va sealing zone hosil qiladi; u rezorbsiya lakunasini yopadi.</a:t>
            </a:r>
          </a:p>
          <a:p>
            <a:pPr>
              <a:spcAft>
                <a:spcPts val="800"/>
              </a:spcAft>
            </a:pPr>
            <a:r>
              <a:rPr sz="1800">
                <a:solidFill>
                  <a:srgbClr val="1F2937"/>
                </a:solidFill>
                <a:latin typeface="Calibri"/>
              </a:rPr>
              <a:t>▸  Ruffled borderda V-ATPaza va ClC-7 mineralni eritadi, MMP9 va katepsin K organik matriksni parchalaydi.</a:t>
            </a:r>
          </a:p>
          <a:p>
            <a:pPr>
              <a:spcAft>
                <a:spcPts val="800"/>
              </a:spcAft>
            </a:pPr>
            <a:r>
              <a:rPr sz="1800">
                <a:solidFill>
                  <a:srgbClr val="1F2937"/>
                </a:solidFill>
                <a:latin typeface="Calibri"/>
              </a:rPr>
              <a:t>▸  LRRK1 c-Src va Rac1/Cdc42 yo‘llarini bog‘laydi; yetishmasa sealing zone va ruffled border hosil bo‘lmaydi.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αvβ3 integrin bilan yopishish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c-Src–Pyk2 kompleksi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RhoA, Rac, Cdc42 GTPazalari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Aktin halqa: sealing zone</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Ruffled border hosil bo‘lishi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Qutblanish signal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fuziya va qutblanish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DC-STAMP (dendritik hujayraga xos transmembran oqsil) vazifasi nima? Javob: u preosteoklastlarning o‘zaro qo‘shilishi, ya’ni fuziyasi uchun zarur.</a:t>
            </a:r>
          </a:p>
          <a:p>
            <a:pPr>
              <a:spcAft>
                <a:spcPts val="1200"/>
              </a:spcAft>
            </a:pPr>
            <a:r>
              <a:rPr sz="2000">
                <a:solidFill>
                  <a:srgbClr val="1F2937"/>
                </a:solidFill>
                <a:latin typeface="Calibri"/>
              </a:rPr>
              <a:t>▸  2-savol: Src o‘chirilsa nima bo‘ladi? Javob: burmali chegara va zichlovchi zona hosil bo‘lmaydi, og‘ir osteopetroz rivojlanadi.</a:t>
            </a:r>
          </a:p>
          <a:p>
            <a:pPr>
              <a:spcAft>
                <a:spcPts val="1200"/>
              </a:spcAft>
            </a:pPr>
            <a:r>
              <a:rPr sz="2000">
                <a:solidFill>
                  <a:srgbClr val="1F2937"/>
                </a:solidFill>
                <a:latin typeface="Calibri"/>
              </a:rPr>
              <a:t>▸  3-savol: LRRK1 (leysinga boy takroriy kinaza 1) roli? Javob: c-Src va Rho-oilasi GTPazalarini birlashtiradi; usiz osteoklast farqlanadi, lekin zichlovchi zona hosil qilmaydi.</a:t>
            </a:r>
          </a:p>
          <a:p>
            <a:pPr>
              <a:spcAft>
                <a:spcPts val="1200"/>
              </a:spcAft>
            </a:pPr>
            <a:r>
              <a:rPr sz="2000">
                <a:solidFill>
                  <a:srgbClr val="1F2937"/>
                </a:solidFill>
                <a:latin typeface="Calibri"/>
              </a:rPr>
              <a:t>▸  Diqqat: fuziya ≠ qutblanish. Fuziya — ko‘p yadroli hujayra hosil bo‘lishi; qutblanish — yetuk hujayrada sitoskelet qayta tashkillanishi va burmali chegara paydo bo‘lishi.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Mavjud antirezorbtiv dorilar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Azotsiz bisfosfonatlar (etidronat) ATP analogiga aylanib, osteoklast apoptoziga olib keladi.</a:t>
            </a:r>
          </a:p>
          <a:p>
            <a:pPr>
              <a:spcAft>
                <a:spcPts val="800"/>
              </a:spcAft>
            </a:pPr>
            <a:r>
              <a:rPr sz="1800">
                <a:solidFill>
                  <a:srgbClr val="1F2937"/>
                </a:solidFill>
                <a:latin typeface="Calibri"/>
              </a:rPr>
              <a:t>▸  Azotli turlari (alendronat) mevalonat yo‘lidagi farnezil pirofosfat sintazani bosadi.</a:t>
            </a:r>
          </a:p>
          <a:p>
            <a:pPr>
              <a:spcAft>
                <a:spcPts val="800"/>
              </a:spcAft>
            </a:pPr>
            <a:r>
              <a:rPr sz="1800">
                <a:solidFill>
                  <a:srgbClr val="1F2937"/>
                </a:solidFill>
                <a:latin typeface="Calibri"/>
              </a:rPr>
              <a:t>▸  Denosumabni birdan to‘xtatish suyak almashinuvi rebound sakrashi va ko‘p umurtqa sinishi xavfini beradi.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Bisfosfonatlar</a:t>
                      </a:r>
                    </a:p>
                  </a:txBody>
                  <a:tcPr marL="73152" marR="73152" marT="36576" marB="36576">
                    <a:solidFill>
                      <a:srgbClr val="0B1F3A"/>
                    </a:solidFill>
                  </a:tcPr>
                </a:tc>
                <a:tc>
                  <a:txBody>
                    <a:bodyPr/>
                    <a:lstStyle/>
                    <a:p>
                      <a:r>
                        <a:rPr sz="1300" b="1">
                          <a:solidFill>
                            <a:srgbClr val="FFFFFF"/>
                          </a:solidFill>
                        </a:rPr>
                        <a:t>Denosumab</a:t>
                      </a:r>
                    </a:p>
                  </a:txBody>
                  <a:tcPr marL="73152" marR="73152" marT="36576" marB="36576">
                    <a:solidFill>
                      <a:srgbClr val="0B1F3A"/>
                    </a:solidFill>
                  </a:tcPr>
                </a:tc>
              </a:tr>
              <a:tr h="411480">
                <a:tc>
                  <a:txBody>
                    <a:bodyPr/>
                    <a:lstStyle/>
                    <a:p>
                      <a:r>
                        <a:rPr sz="1200" b="0">
                          <a:solidFill>
                            <a:srgbClr val="1F2937"/>
                          </a:solidFill>
                        </a:rPr>
                        <a:t>Nishon</a:t>
                      </a:r>
                    </a:p>
                  </a:txBody>
                  <a:tcPr marL="73152" marR="73152" marT="36576" marB="36576">
                    <a:solidFill>
                      <a:srgbClr val="E8EEF6"/>
                    </a:solidFill>
                  </a:tcPr>
                </a:tc>
                <a:tc>
                  <a:txBody>
                    <a:bodyPr/>
                    <a:lstStyle/>
                    <a:p>
                      <a:r>
                        <a:rPr sz="1200" b="0">
                          <a:solidFill>
                            <a:srgbClr val="1F2937"/>
                          </a:solidFill>
                        </a:rPr>
                        <a:t>Osteoklast ichida mevalonat yo‘li</a:t>
                      </a:r>
                    </a:p>
                  </a:txBody>
                  <a:tcPr marL="73152" marR="73152" marT="36576" marB="36576">
                    <a:solidFill>
                      <a:srgbClr val="E8EEF6"/>
                    </a:solidFill>
                  </a:tcPr>
                </a:tc>
                <a:tc>
                  <a:txBody>
                    <a:bodyPr/>
                    <a:lstStyle/>
                    <a:p>
                      <a:r>
                        <a:rPr sz="1200" b="0">
                          <a:solidFill>
                            <a:srgbClr val="1F2937"/>
                          </a:solidFill>
                        </a:rPr>
                        <a:t>Hujayradan tashqarida RANKL</a:t>
                      </a:r>
                    </a:p>
                  </a:txBody>
                  <a:tcPr marL="73152" marR="73152" marT="36576" marB="36576">
                    <a:solidFill>
                      <a:srgbClr val="E8EEF6"/>
                    </a:solidFill>
                  </a:tcPr>
                </a:tc>
              </a:tr>
              <a:tr h="411480">
                <a:tc>
                  <a:txBody>
                    <a:bodyPr/>
                    <a:lstStyle/>
                    <a:p>
                      <a:r>
                        <a:rPr sz="1200" b="0">
                          <a:solidFill>
                            <a:srgbClr val="1F2937"/>
                          </a:solidFill>
                        </a:rPr>
                        <a:t>Mexanizm</a:t>
                      </a:r>
                    </a:p>
                  </a:txBody>
                  <a:tcPr marL="73152" marR="73152" marT="36576" marB="36576">
                    <a:solidFill>
                      <a:srgbClr val="FFFFFF"/>
                    </a:solidFill>
                  </a:tcPr>
                </a:tc>
                <a:tc>
                  <a:txBody>
                    <a:bodyPr/>
                    <a:lstStyle/>
                    <a:p>
                      <a:r>
                        <a:rPr sz="1200" b="0">
                          <a:solidFill>
                            <a:srgbClr val="1F2937"/>
                          </a:solidFill>
                        </a:rPr>
                        <a:t>Azotli — prenillanish to‘xtaydi</a:t>
                      </a:r>
                    </a:p>
                  </a:txBody>
                  <a:tcPr marL="73152" marR="73152" marT="36576" marB="36576">
                    <a:solidFill>
                      <a:srgbClr val="FFFFFF"/>
                    </a:solidFill>
                  </a:tcPr>
                </a:tc>
                <a:tc>
                  <a:txBody>
                    <a:bodyPr/>
                    <a:lstStyle/>
                    <a:p>
                      <a:r>
                        <a:rPr sz="1200" b="0">
                          <a:solidFill>
                            <a:srgbClr val="1F2937"/>
                          </a:solidFill>
                        </a:rPr>
                        <a:t>RANKL ni bog‘lab, osteoklastogenezni bosadi</a:t>
                      </a:r>
                    </a:p>
                  </a:txBody>
                  <a:tcPr marL="73152" marR="73152" marT="36576" marB="36576">
                    <a:solidFill>
                      <a:srgbClr val="FFFFFF"/>
                    </a:solidFill>
                  </a:tcPr>
                </a:tc>
              </a:tr>
              <a:tr h="411480">
                <a:tc>
                  <a:txBody>
                    <a:bodyPr/>
                    <a:lstStyle/>
                    <a:p>
                      <a:r>
                        <a:rPr sz="1200" b="0">
                          <a:solidFill>
                            <a:srgbClr val="1F2937"/>
                          </a:solidFill>
                        </a:rPr>
                        <a:t>Yon ta’sir</a:t>
                      </a:r>
                    </a:p>
                  </a:txBody>
                  <a:tcPr marL="73152" marR="73152" marT="36576" marB="36576">
                    <a:solidFill>
                      <a:srgbClr val="E8EEF6"/>
                    </a:solidFill>
                  </a:tcPr>
                </a:tc>
                <a:tc>
                  <a:txBody>
                    <a:bodyPr/>
                    <a:lstStyle/>
                    <a:p>
                      <a:r>
                        <a:rPr sz="1200" b="0">
                          <a:solidFill>
                            <a:srgbClr val="1F2937"/>
                          </a:solidFill>
                        </a:rPr>
                        <a:t>Atipik sinish, jag nekrozi, gipokalsemiya</a:t>
                      </a:r>
                    </a:p>
                  </a:txBody>
                  <a:tcPr marL="73152" marR="73152" marT="36576" marB="36576">
                    <a:solidFill>
                      <a:srgbClr val="E8EEF6"/>
                    </a:solidFill>
                  </a:tcPr>
                </a:tc>
                <a:tc>
                  <a:txBody>
                    <a:bodyPr/>
                    <a:lstStyle/>
                    <a:p>
                      <a:r>
                        <a:rPr sz="1200" b="0">
                          <a:solidFill>
                            <a:srgbClr val="1F2937"/>
                          </a:solidFill>
                        </a:rPr>
                        <a:t>Gipokalsemiya, jag nekrozi, rebound</a:t>
                      </a:r>
                    </a:p>
                  </a:txBody>
                  <a:tcPr marL="73152" marR="73152" marT="36576" marB="36576">
                    <a:solidFill>
                      <a:srgbClr val="E8EEF6"/>
                    </a:solidFill>
                  </a:tcPr>
                </a:tc>
              </a:tr>
              <a:tr h="411480">
                <a:tc>
                  <a:txBody>
                    <a:bodyPr/>
                    <a:lstStyle/>
                    <a:p>
                      <a:r>
                        <a:rPr sz="1200" b="0">
                          <a:solidFill>
                            <a:srgbClr val="1F2937"/>
                          </a:solidFill>
                        </a:rPr>
                        <a:t>Suyakda qolishi</a:t>
                      </a:r>
                    </a:p>
                  </a:txBody>
                  <a:tcPr marL="73152" marR="73152" marT="36576" marB="36576">
                    <a:solidFill>
                      <a:srgbClr val="FFFFFF"/>
                    </a:solidFill>
                  </a:tcPr>
                </a:tc>
                <a:tc>
                  <a:txBody>
                    <a:bodyPr/>
                    <a:lstStyle/>
                    <a:p>
                      <a:r>
                        <a:rPr sz="1200" b="0">
                          <a:solidFill>
                            <a:srgbClr val="1F2937"/>
                          </a:solidFill>
                        </a:rPr>
                        <a:t>Suyak mineraliga yuqori moyillik</a:t>
                      </a:r>
                    </a:p>
                  </a:txBody>
                  <a:tcPr marL="73152" marR="73152" marT="36576" marB="36576">
                    <a:solidFill>
                      <a:srgbClr val="FFFFFF"/>
                    </a:solidFill>
                  </a:tcPr>
                </a:tc>
                <a:tc>
                  <a:txBody>
                    <a:bodyPr/>
                    <a:lstStyle/>
                    <a:p>
                      <a:r>
                        <a:rPr sz="1200" b="0">
                          <a:solidFill>
                            <a:srgbClr val="1F2937"/>
                          </a:solidFill>
                        </a:rPr>
                        <a:t>Qaytar; suyakda to‘planmaydi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Bisfosfonat va denosumab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nishonlar va dorilar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PKN3 (protein kinaza N3) nishoni: SB202190 aktin halqa va rezorbsiyani kamaytirdi, suyak yo‘qolishini oldi.</a:t>
            </a:r>
          </a:p>
          <a:p>
            <a:pPr>
              <a:spcAft>
                <a:spcPts val="800"/>
              </a:spcAft>
            </a:pPr>
            <a:r>
              <a:rPr sz="1800">
                <a:solidFill>
                  <a:srgbClr val="1F2937"/>
                </a:solidFill>
                <a:latin typeface="Calibri"/>
              </a:rPr>
              <a:t>▸  Bu vositalar suyak hosil bo‘lishiga ta’sir qilmasdan rezorbsiyani bosish maqsadida o‘rganilmoqda.</a:t>
            </a:r>
          </a:p>
          <a:p>
            <a:pPr>
              <a:spcAft>
                <a:spcPts val="800"/>
              </a:spcAft>
            </a:pPr>
            <a:r>
              <a:rPr sz="1800">
                <a:solidFill>
                  <a:srgbClr val="1F2937"/>
                </a:solidFill>
                <a:latin typeface="Calibri"/>
              </a:rPr>
              <a:t>▸  Hammasi tajriba bosqichida; odamda samaradorlik va xavfsizlik hali isbotlanmagan.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79471"/>
                <a:gridCol w="1762658"/>
                <a:gridCol w="2145844"/>
              </a:tblGrid>
              <a:tr h="411480">
                <a:tc>
                  <a:txBody>
                    <a:bodyPr/>
                    <a:lstStyle/>
                    <a:p>
                      <a:r>
                        <a:rPr sz="1300" b="1">
                          <a:solidFill>
                            <a:srgbClr val="FFFFFF"/>
                          </a:solidFill>
                        </a:rPr>
                        <a:t>Nishon</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Bosqich</a:t>
                      </a:r>
                    </a:p>
                  </a:txBody>
                  <a:tcPr marL="73152" marR="73152" marT="36576" marB="36576">
                    <a:solidFill>
                      <a:srgbClr val="0B1F3A"/>
                    </a:solidFill>
                  </a:tcPr>
                </a:tc>
              </a:tr>
              <a:tr h="411480">
                <a:tc>
                  <a:txBody>
                    <a:bodyPr/>
                    <a:lstStyle/>
                    <a:p>
                      <a:r>
                        <a:rPr sz="1200" b="0">
                          <a:solidFill>
                            <a:srgbClr val="1F2937"/>
                          </a:solidFill>
                        </a:rPr>
                        <a:t>DC-STAMP (fuziya)</a:t>
                      </a:r>
                    </a:p>
                  </a:txBody>
                  <a:tcPr marL="73152" marR="73152" marT="36576" marB="36576">
                    <a:solidFill>
                      <a:srgbClr val="E8EEF6"/>
                    </a:solidFill>
                  </a:tcPr>
                </a:tc>
                <a:tc>
                  <a:txBody>
                    <a:bodyPr/>
                    <a:lstStyle/>
                    <a:p>
                      <a:r>
                        <a:rPr sz="1200" b="0">
                          <a:solidFill>
                            <a:srgbClr val="1F2937"/>
                          </a:solidFill>
                        </a:rPr>
                        <a:t>E8431</a:t>
                      </a:r>
                    </a:p>
                  </a:txBody>
                  <a:tcPr marL="73152" marR="73152" marT="36576" marB="36576">
                    <a:solidFill>
                      <a:srgbClr val="E8EEF6"/>
                    </a:solidFill>
                  </a:tcPr>
                </a:tc>
                <a:tc>
                  <a:txBody>
                    <a:bodyPr/>
                    <a:lstStyle/>
                    <a:p>
                      <a:r>
                        <a:rPr sz="1200" b="0">
                          <a:solidFill>
                            <a:srgbClr val="1F2937"/>
                          </a:solidFill>
                        </a:rPr>
                        <a:t>Tuxumdoni olingan sichqonlar</a:t>
                      </a:r>
                    </a:p>
                  </a:txBody>
                  <a:tcPr marL="73152" marR="73152" marT="36576" marB="36576">
                    <a:solidFill>
                      <a:srgbClr val="E8EEF6"/>
                    </a:solidFill>
                  </a:tcPr>
                </a:tc>
              </a:tr>
              <a:tr h="411480">
                <a:tc>
                  <a:txBody>
                    <a:bodyPr/>
                    <a:lstStyle/>
                    <a:p>
                      <a:r>
                        <a:rPr sz="1200" b="0">
                          <a:solidFill>
                            <a:srgbClr val="1F2937"/>
                          </a:solidFill>
                        </a:rPr>
                        <a:t>Siglec-15 (fuziya)</a:t>
                      </a:r>
                    </a:p>
                  </a:txBody>
                  <a:tcPr marL="73152" marR="73152" marT="36576" marB="36576">
                    <a:solidFill>
                      <a:srgbClr val="FFFFFF"/>
                    </a:solidFill>
                  </a:tcPr>
                </a:tc>
                <a:tc>
                  <a:txBody>
                    <a:bodyPr/>
                    <a:lstStyle/>
                    <a:p>
                      <a:r>
                        <a:rPr sz="1200" b="0">
                          <a:solidFill>
                            <a:srgbClr val="1F2937"/>
                          </a:solidFill>
                        </a:rPr>
                        <a:t>Antitana 32A1; DS-1501a</a:t>
                      </a:r>
                    </a:p>
                  </a:txBody>
                  <a:tcPr marL="73152" marR="73152" marT="36576" marB="36576">
                    <a:solidFill>
                      <a:srgbClr val="FFFFFF"/>
                    </a:solidFill>
                  </a:tcPr>
                </a:tc>
                <a:tc>
                  <a:txBody>
                    <a:bodyPr/>
                    <a:lstStyle/>
                    <a:p>
                      <a:r>
                        <a:rPr sz="1200" b="0">
                          <a:solidFill>
                            <a:srgbClr val="1F2937"/>
                          </a:solidFill>
                        </a:rPr>
                        <a:t>Hujayra va kalamush modeli</a:t>
                      </a:r>
                    </a:p>
                  </a:txBody>
                  <a:tcPr marL="73152" marR="73152" marT="36576" marB="36576">
                    <a:solidFill>
                      <a:srgbClr val="FFFFFF"/>
                    </a:solidFill>
                  </a:tcPr>
                </a:tc>
              </a:tr>
              <a:tr h="411480">
                <a:tc>
                  <a:txBody>
                    <a:bodyPr/>
                    <a:lstStyle/>
                    <a:p>
                      <a:r>
                        <a:rPr sz="1200" b="0">
                          <a:solidFill>
                            <a:srgbClr val="1F2937"/>
                          </a:solidFill>
                        </a:rPr>
                        <a:t>Dock5 (qutblanish)</a:t>
                      </a:r>
                    </a:p>
                  </a:txBody>
                  <a:tcPr marL="73152" marR="73152" marT="36576" marB="36576">
                    <a:solidFill>
                      <a:srgbClr val="E8EEF6"/>
                    </a:solidFill>
                  </a:tcPr>
                </a:tc>
                <a:tc>
                  <a:txBody>
                    <a:bodyPr/>
                    <a:lstStyle/>
                    <a:p>
                      <a:r>
                        <a:rPr sz="1200" b="0">
                          <a:solidFill>
                            <a:srgbClr val="1F2937"/>
                          </a:solidFill>
                        </a:rPr>
                        <a:t>C21</a:t>
                      </a:r>
                    </a:p>
                  </a:txBody>
                  <a:tcPr marL="73152" marR="73152" marT="36576" marB="36576">
                    <a:solidFill>
                      <a:srgbClr val="E8EEF6"/>
                    </a:solidFill>
                  </a:tcPr>
                </a:tc>
                <a:tc>
                  <a:txBody>
                    <a:bodyPr/>
                    <a:lstStyle/>
                    <a:p>
                      <a:r>
                        <a:rPr sz="1200" b="0">
                          <a:solidFill>
                            <a:srgbClr val="1F2937"/>
                          </a:solidFill>
                        </a:rPr>
                        <a:t>Sichqon modellari</a:t>
                      </a:r>
                    </a:p>
                  </a:txBody>
                  <a:tcPr marL="73152" marR="73152" marT="36576" marB="36576">
                    <a:solidFill>
                      <a:srgbClr val="E8EEF6"/>
                    </a:solidFill>
                  </a:tcPr>
                </a:tc>
              </a:tr>
              <a:tr h="411480">
                <a:tc>
                  <a:txBody>
                    <a:bodyPr/>
                    <a:lstStyle/>
                    <a:p>
                      <a:r>
                        <a:rPr sz="1200" b="0">
                          <a:solidFill>
                            <a:srgbClr val="1F2937"/>
                          </a:solidFill>
                        </a:rPr>
                        <a:t>LRRK1 (qutblanish)</a:t>
                      </a:r>
                    </a:p>
                  </a:txBody>
                  <a:tcPr marL="73152" marR="73152" marT="36576" marB="36576">
                    <a:solidFill>
                      <a:srgbClr val="FFFFFF"/>
                    </a:solidFill>
                  </a:tcPr>
                </a:tc>
                <a:tc>
                  <a:txBody>
                    <a:bodyPr/>
                    <a:lstStyle/>
                    <a:p>
                      <a:r>
                        <a:rPr sz="1200" b="0">
                          <a:solidFill>
                            <a:srgbClr val="1F2937"/>
                          </a:solidFill>
                        </a:rPr>
                        <a:t>IN04</a:t>
                      </a:r>
                    </a:p>
                  </a:txBody>
                  <a:tcPr marL="73152" marR="73152" marT="36576" marB="36576">
                    <a:solidFill>
                      <a:srgbClr val="FFFFFF"/>
                    </a:solidFill>
                  </a:tcPr>
                </a:tc>
                <a:tc>
                  <a:txBody>
                    <a:bodyPr/>
                    <a:lstStyle/>
                    <a:p>
                      <a:r>
                        <a:rPr sz="1200" b="0">
                          <a:solidFill>
                            <a:srgbClr val="1F2937"/>
                          </a:solidFill>
                        </a:rPr>
                        <a:t>Faqat hujayra darajasida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nishonlar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Kupling omillar va PDGF-BB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Osteoklast faqat suyakni yemirmaydi: u S1P, Wnt10b, BMP6 va CTHRC1 kabi kupling omillarni ajratib, osteoblastlarni jalb qiladi va mineralizatsiyani qo‘llab-quvvatlaydi.</a:t>
            </a:r>
          </a:p>
          <a:p>
            <a:pPr>
              <a:spcAft>
                <a:spcPts val="1200"/>
              </a:spcAft>
            </a:pPr>
            <a:r>
              <a:rPr sz="2000">
                <a:solidFill>
                  <a:srgbClr val="1F2937"/>
                </a:solidFill>
                <a:latin typeface="Calibri"/>
              </a:rPr>
              <a:t>▸  Bir yadroli pre-osteoklastlar PDGF-BB (trombotsitdan olingan o‘sish omili-BB) ajratadi; u H turdagi qon tomirlar va suyak hosil bo‘lishini rag‘batlantiradi.</a:t>
            </a:r>
          </a:p>
          <a:p>
            <a:pPr>
              <a:spcAft>
                <a:spcPts val="1200"/>
              </a:spcAft>
            </a:pPr>
            <a:r>
              <a:rPr sz="2000">
                <a:solidFill>
                  <a:srgbClr val="1F2937"/>
                </a:solidFill>
                <a:latin typeface="Calibri"/>
              </a:rPr>
              <a:t>▸  Diqqat: PDGF-BB ortiqcha bo‘lsa, tomir kalsifikatsiyasi, ateroskleroz yoki miya tomirlari buzilishi mumkin; osteoartrozda og‘riq ham kuchayadi.</a:t>
            </a:r>
          </a:p>
          <a:p>
            <a:pPr>
              <a:spcAft>
                <a:spcPts val="1200"/>
              </a:spcAft>
            </a:pPr>
            <a:r>
              <a:rPr sz="2000">
                <a:solidFill>
                  <a:srgbClr val="1F2937"/>
                </a:solidFill>
                <a:latin typeface="Calibri"/>
              </a:rPr>
              <a:t>▸  Shu sabab pre-osteoklastlarni ko‘paytirish strategiyasi ayrim bemorlarda qarshi ko‘rsatma bo‘lishi mumkin; muqobil — qo‘shilishni emas, osteoklast qutblanishini bostirish.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denosumabni to‘xtatish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Denosumab (RANKLga qarshi antitana) to‘satdan to‘xtatilsa, suyak aylanishi markerlari (kollagen o‘zaro bog‘i CTX, prokollagen propeptidi P1NP) keskin oshadi — “rebound”.</a:t>
            </a:r>
          </a:p>
          <a:p>
            <a:pPr>
              <a:spcAft>
                <a:spcPts val="1200"/>
              </a:spcAft>
            </a:pPr>
            <a:r>
              <a:rPr sz="2200">
                <a:solidFill>
                  <a:srgbClr val="1F2937"/>
                </a:solidFill>
                <a:latin typeface="Calibri"/>
              </a:rPr>
              <a:t>▸  To‘xtatgandan 6 oy o‘tgach bemorlar zardobida RANKL oshgan, so‘ng osteoklast faolligi markeri TRAcP5b (tartratga chidamli kislotali fosfataza 5b) ko‘tarilgan.</a:t>
            </a:r>
          </a:p>
          <a:p>
            <a:pPr>
              <a:spcAft>
                <a:spcPts val="1200"/>
              </a:spcAft>
            </a:pPr>
            <a:r>
              <a:rPr sz="2200">
                <a:solidFill>
                  <a:srgbClr val="1F2937"/>
                </a:solidFill>
                <a:latin typeface="Calibri"/>
              </a:rPr>
              <a:t>▸  Suyak mineral zichligi (BMD) tez yo‘qoladi; boshqa antirezorbtivga ketma-ket o‘tilmasa, ko‘p umurtqa sinishi xavfi oshadi.</a:t>
            </a:r>
          </a:p>
          <a:p>
            <a:pPr>
              <a:spcAft>
                <a:spcPts val="1200"/>
              </a:spcAft>
            </a:pPr>
            <a:r>
              <a:rPr sz="2200">
                <a:solidFill>
                  <a:srgbClr val="1F2937"/>
                </a:solidFill>
                <a:latin typeface="Calibri"/>
              </a:rPr>
              <a:t>▸  Savol: bunday bemorda to‘xtatishdan keyin qanday chiqish strategiyasini tanlaysiz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Shunsuke Uehara va boshq., Beyond resorption: targeting osteoclast fusion and polarization to restore balanced bone remodeling, betlar: PMID 42328629; Yin L va boshq., Critical signaling pathways in osteoclast differentiation and bone resorption: mechanisms and therapeutic implications for periprosthetic osteolysis, betlar: PMID 40932933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rezorbsiya shakllari va yo‘nalishlar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Fiziologik rezorbsiya: remodellanishda osteoklastlar eskirgan yoki shikastlangan suyak sohalarini yemiradi, so‘ng osteoblastlar o‘rniga yangisini qo‘yadi.</a:t>
            </a:r>
          </a:p>
          <a:p>
            <a:pPr>
              <a:spcAft>
                <a:spcPts val="1200"/>
              </a:spcAft>
            </a:pPr>
            <a:r>
              <a:rPr sz="2000">
                <a:solidFill>
                  <a:srgbClr val="1F2937"/>
                </a:solidFill>
                <a:latin typeface="Calibri"/>
              </a:rPr>
              <a:t>▸  Yallig‘lanishli rezorbsiya (periprostetik osteoliz, artrit): TNF-α va IL-1β RANKLni oshirib, OPGni kamaytiradi; estrogen yetishmasligi ham shunday ta’sir qiladi.</a:t>
            </a:r>
          </a:p>
          <a:p>
            <a:pPr>
              <a:spcAft>
                <a:spcPts val="1200"/>
              </a:spcAft>
            </a:pPr>
            <a:r>
              <a:rPr sz="2000">
                <a:solidFill>
                  <a:srgbClr val="1F2937"/>
                </a:solidFill>
                <a:latin typeface="Calibri"/>
              </a:rPr>
              <a:t>▸  Infeksiya, endokrin buzilish va suyakka tarqalgan o‘smalar rezorbsiyani kuchaytirib, suyak hosil bo‘lishini susaytiradi; natijada osteoporoz yoki litik o‘choqlar paydo bo‘ladi.</a:t>
            </a:r>
          </a:p>
          <a:p>
            <a:pPr>
              <a:spcAft>
                <a:spcPts val="1200"/>
              </a:spcAft>
            </a:pPr>
            <a:r>
              <a:rPr sz="2000">
                <a:solidFill>
                  <a:srgbClr val="1F2937"/>
                </a:solidFill>
                <a:latin typeface="Calibri"/>
              </a:rPr>
              <a:t>▸  Kelajak: bisfosfonat/denosumab bilan soni kamaytirish, qo‘shilishni va qutblanishni tanlab to‘sish — hosil bo‘lishni saqlagan holda rezorbsiyani jilovlash.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Boyce BF va boshq., Bone Remodeling and the Role of TRAF3 in Osteoclastic Bone Resorption, betlar: PMID 30323820; Yin L va boshq., Critical signaling pathways in osteoclast differentiation and bone resorption: mechanisms and therapeutic implications for periprosthetic osteolysis, betlar: PMID 40932933; Shunsuke Uehara va boshq., Beyond resorption: targeting osteoclast fusion and polarization to restore balanced bone remodeling, betlar: PMID 42328629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RANKL – osteoklast uchun «gaz pedali», OPG – «tormoz». OPG yolg‘onchi (tuzoq) retseptor bo‘lib, RANKLni RANKdan oldin tutib oladi. Gaz va tormoz muvozanati suyak rezorbsiyasi darajasini belgilaydi.</a:t>
            </a:r>
          </a:p>
          <a:p>
            <a:pPr>
              <a:spcAft>
                <a:spcPts val="1200"/>
              </a:spcAft>
            </a:pPr>
            <a:r>
              <a:rPr sz="1800">
                <a:solidFill>
                  <a:srgbClr val="1F2937"/>
                </a:solidFill>
                <a:latin typeface="Calibri"/>
              </a:rPr>
              <a:t>▸  Qiziqarli hodisa: osteoklastlar suyakdan tashqarida ham paydo bo‘ladi, masalan tendon qobig‘ining gigant hujayrali o‘smasida. U yerda ko‘p yadroli hujayralarning hammasi ham suyakni yemaydi. TRAP-manfiy gigant hujayralar suyakni rezorbsiya qilmaydi, TRAP-musbatlari esa qiladi.</a:t>
            </a:r>
          </a:p>
          <a:p>
            <a:pPr>
              <a:spcAft>
                <a:spcPts val="1200"/>
              </a:spcAft>
            </a:pPr>
            <a:r>
              <a:rPr sz="1800">
                <a:solidFill>
                  <a:srgbClr val="1F2937"/>
                </a:solidFill>
                <a:latin typeface="Calibri"/>
              </a:rPr>
              <a:t>▸  Hodisa tahlili: denosumab (RANKLga qarshi antitana) to‘xtatilgach, taxminan 6 oydan keyin zardobda RANKL ko‘payadi. Keyin osteoklast faolligi markeri TRAcP5b (tartratga chidamli kislotali fosfataza 5b) ham ortadi. Natijada suyak rezorbsiyasi «qaytma» tarzida kuchayadi. Xulosa: davolashni to‘satdan to‘xtatish xavfli.</a:t>
            </a:r>
          </a:p>
          <a:p>
            <a:pPr>
              <a:spcAft>
                <a:spcPts val="1200"/>
              </a:spcAft>
            </a:pPr>
            <a:r>
              <a:rPr sz="1800">
                <a:solidFill>
                  <a:srgbClr val="1F2937"/>
                </a:solidFill>
                <a:latin typeface="Calibri"/>
              </a:rPr>
              <a:t>▸  Eslab qoling: TRAF3 – osteoklast hosil bo‘lishining «qo‘riqchisi». RANKL signali qo‘riqchini lizosomada parchalaydi, shunda NIK to‘planadi va osteoklast hosil bo‘lishi tezlashadi. Xloroxin qo‘riqchining parchalanishini to‘sib, osteoklast hosil bo‘lishini kamaytiradi.</a:t>
            </a:r>
          </a:p>
          <a:p>
            <a:pPr>
              <a:spcAft>
                <a:spcPts val="1200"/>
              </a:spcAft>
            </a:pPr>
            <a:r>
              <a:rPr sz="1800">
                <a:solidFill>
                  <a:srgbClr val="1F2937"/>
                </a:solidFill>
                <a:latin typeface="Calibri"/>
              </a:rPr>
              <a:t>▸  Fikrni kengaytiring: osteoklast faqat «buzuvchi» emas. U S1P, Wnt10b, BMP6, CTHRC1 kabi bog‘lovchi omillarni ajratadi. Bir yadroli pre-osteoklastlar PDGF-BB orqali H-tipli qon tomirlarini hosil qiladi. Shu sababli dori suyak hosil bo‘lishini ham so‘ndirmasligi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Suyak kesmasida reversiya chiziqlari tartibsiz bo‘lib, to‘qima mozaika tusini olgan. Bu naqsh klassik tarzda qaysi holatda uchraydi?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Osteopetrozda, osteoklastlar umuman bo‘lmaganda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Suyakning Paget kasalligida, rezorbsiya tezlashganda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Sog‘lom kattalar suyagida, odatdagi qayta qurilishda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Revmatoid artritda, bo‘g‘im yallig‘lanishi tufayli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osteoklastning proton nasoslari va xlor kanallarini bloklab qo‘ydi. Rezorbsiyaning qaysi bosqichi birinchi bo‘lib buziladi?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Kollagen matriksning metalloproteazalar bilan parchalanishi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Rezorbsiya chuqurchasiga osteoblastlarning jalb etilishi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Osteoklastning apoptoz orqali o‘lishi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Suyak mineralining kislota bilan eritilishi bosqichi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Osteoklastlar qaysi hujayralarning o‘zaro qo‘shilishidan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Suyak iligidagi gemopoetik miyeloid prekursorlar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Mezenximadan chiqqan osteoblast prekursorlari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Suyak ichiga ko‘milgan yetuk osteotsitlar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Xaftaga xos gipertrofik xondrotsitlar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Protez atrofidagi bo‘shashgan implantli bemor to‘qimasida RANKL yuqori, OPG past topildi. Bundan qanday natija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Osteoklast hosil bo‘lishi pasayib, suyak zichlashadi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Osteoklast faolligi o‘zgarmay, muvozanat saqlanadi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Osteoklast faolligi oshib, osteoliz tezlashadi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Osteoblast prekursorlari rezorbsiyani to‘xtatadi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Kortikal suyakda yumaloq tunnel hosil bo‘lib, uni yangi suyak deyarli to‘ldirgan; markazda mayda arteriya va vena qolgan. Bu qanday tuzilma?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Rezorbsiya chuqurchasini yopuvchi yupqa kanopi pardasi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Yangi suyak bilan to‘lgan tunnel, ya’ni osteon tuzilmasi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Trabekula yuzasidagi reversiya chizig‘li tarnov tuzilmasi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Osteoklast pastki yuzasidagi gofrirlangan chekka tuzilmasi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Voyaga yetgan sichqonda RANKL geni faqat osteotsitlarda o‘chirildi. Qanday natija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Osteoklastlar ko‘payib, osteoporoz rivojlanadi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Osteoklastlar hosil bo‘lmay, osteopetroz rivojlanadi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Osteoblastlar yo‘qolib, suyak hosil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Embrional skelet rivojlanishi butunlay to‘xtaydi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Endoprotezdan keyin implanti bo‘shashgan bemorning periprotez to‘qimasida RANKL/OPG nisbati qanday o‘zgargan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RANKL ham, OPG ham bir xil darajada kamaygan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RANKL kamaygan, OPG esa sezilarli darajada oshgan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RANKL darajasi oshgan, OPG darajasi esa kamaygan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RANKL ham, OPG ham deyarli o‘zgarmagan bo‘ladi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LGR4 retseptori osteoklast hosil bo‘lishini qaysi mexanizm orqali cheklaydi?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RANKL ni parchalab, uning miqdorini kamaytirish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M-CSF retseptorini bloklab, prekursorlarni kamaytirish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TRAF6 ni faollashtirib, NF-κB signalini kuchaytirish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RANKL uchun RANK bilan raqobatlashib, NFATc1 ni bostirish orqali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RANKL‘siz sichqonning katta suyagi kesmasi TRAP bilan bo‘yaldi. Qanday ko‘rinish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TRAP-musbat osteoklastlar yo‘q, ilik bo‘shlig‘i qayta shakllanmagan suyak bilan to‘lgan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TRAP-musbat osteoklastlar ko‘p, ilik bo‘shlig‘i kengaygan va suyak yupqalashgan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TRAP-musbat osteoklastlar normal miqdorda, ilik bo‘shlig‘i ham odatdagidek ochiq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TRAP-musbat osteoklastlar yo‘q, ilik bo‘shlig‘i esa mutlaqo bo‘sh qolgan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RANKL bilan qo‘zg‘atilgan osteoklast prekursorlariga xloroxin qo‘shildi. Qanday natija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TRAF3 parchalanishi kuchayib, NIK to‘planadi va osteoklastlar ko‘payadi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TRAF3 parchalanishi kuchayib, p100 to‘liq p52 ga aylanadi va osteoklastlar ko‘payadi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TRAF3 parchalanmay saqlanadi, NIK parchalanadi va osteoklast hosil bo‘lishi kamayadi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TRAF3 parchalanmay saqlanadi, NIK to‘planadi va osteoklast hosil bo‘lishi kuchayadi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Revizion jarrohlikda periprotez to‘qimasida turli eskirish zarrachalari topildi. Qaysi zarracha eng kuchli yallig‘lantiruvchi ta’sir ko‘rsatishi ehtimol?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Yirik sharsimon polietilen zarrasi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Submikron o‘lchamli cho‘zinchoq zarra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Yirik silliq sharsimon seramika zarrasi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Kattaroq o‘lchamli sharsimon metall zarra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TRAF3 osteoklast prekursorlarida o‘chirilgan sichqonlarda tuxumdonlar olib tashlangach, xloroxin berildi. Xloroxin ta’siri qanday bo‘ldi?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Suyak yo‘qotilishi to‘liq oldi olindi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Osteoklastlar soni normadan ham kamaydi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Osteoblastlar soni keskin ko‘paydi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Suyak yo‘qotilishi oldi olinmadi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uzoq muddat glyukokortikoid (deksametazon) qabul qilmoqda. Osteoblastlarda qaysi o‘zgarish suyak rezorbsiyasini kuchaytiradi?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OPG kamayadi, RANKL ortadi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OPG ortadi, RANKL kamayadi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OPG ham, RANKL ham bir xil kamayadi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OPG ham, RANKL ham o‘zgarishsiz qoladi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Osteoklast prekursorlarida TRAF3 miqdoriga RANKL va TNF qanday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Ikkalasi ham TRAF3 ni parchalaydi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RANKL TRAF3 ni oshiradi, TNF kamaytiradi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RANKL TRAF3 ni parchalaydi, TNF oshiradi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Ikkalasi ham TRAF3 ni oshiradi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Artroplastikadan keyin og‘riq tufayli bemor oyog‘iga yuklamani keskin kamaytirdi. Osteositlarda qaysi o‘zgarish periprostetik osteolizni tezlashtiradi?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RANKL ifodasining ortishi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OPG ifodasining ortishi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Osteositlar apoptozining kamayishi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Makrofaglarning M2 turga o‘tishi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Tendon qobig‘ining gigant hujayrali o‘smasi biopsiyasida TRAP-musbat (tartratga chidamli kislotali fosfataza) va TRAP-manfiy ko‘p yadroli hujayralar topildi. Qaysi hujayralar suyakni rezorbsiya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TRAP-manfiy, xolesterin yoriqlari yonidagi yot jism gigant hujayralari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TRAP-musbat hujayralar, ya’ni o‘smadagi haqiqiy osteoklastlar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turdagi ko‘p yadroli hujayralar suyakni bir xil darajada rezorbsiya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O‘sma stromasidagi bir yadroli mononuklear hujayralar suyakni rezorbsiya qiladi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Sichqonda DC-STAMP (dendritik hujayraga xos transmembran oqsil) geni o‘chirildi. Osteoklast markerlari ifodasi normal. Tadqiqotchilar qanday natijani kutadi?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Osteoklast markerlari yo‘qoladi va osteoklastlar umuman hosil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Osteoklastlar o‘ta yirik bo‘lib, suyak rezorbsiyasi keskin kuchayadi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qutblanish buziladi, ko‘p yadroli osteoklastlar odatdagidek hosil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Ko‘p yadroli hujayralar hosil bo‘lmaydi, rezorbsiya susayib osteopetroz rivojlanadi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Sichqonda LRRK1 (leysinga boy takroriy kinaza 1) geni o‘chirilgan. Osteoklastlar M-CSF va RANKL ta’sirida normal differensiatsiyalanadi. Qaysi funksiya buziladi?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Muhrlovchi zona va burmali chegara hosil bo‘lishi, F-aktin tartibi buziladi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 yadroli preosteoklastlarning o‘zaro qo‘shilishi (fuziya) to‘liq to‘xtaydi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RANK retseptorining prekursor hujayra yuzasida ifodalanishi butunlay yo‘qoladi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Prekursorlarning M-CSF ta’sirida osteoklastga differensiatsiyalanishi to‘xtaydi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Osteoporozli bemor denosumabni birdaniga to‘xtatdi va boshqa antirezorbtiv dori boshlanmadi. Qaysi xavf ko‘proq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Osteoklastlar apoptozi kuchayadi va suyak zichligi uzoq muddat saqlanib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Suyak almashinuvi haddan tashqari bostirilgani uchun atipik son suyagi sinishi ortadi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Suyak almashinuv belgilari (CTX, P1NP) keskin oshadi va ko‘p umurtqa sinishi xavfi ortadi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Suyak yangilanishi to‘liq to‘xtaydi va jag‘ osteonekrozi xavfi butunlay yo‘qoladi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Fuziyani ingibitsiyalab PDGF-BB ishlab chiqaruvchi preosteoklastlar sonini oshirish strategiyasida qaysi xavf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Gipokalsemiyaning keskin rivojlanishi va qalqonsimon bez funksiyasining buzilishi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PDGF-BB ortiqcha bo‘lsa qon tomir kalsifikatsiyasi, ateroskleroz va miya qon tomirlari buzilishi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Jag‘ osteonekrozi xavfining onkologik dozalardagi darajaga yetishi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 tip qon tomirlar kamayishi va suyak hosil bo‘lishining to‘xtashi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Suyakning Paget kasalligida, rezorbsiya tezlashganda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Normal qayta qurilishda osteoklastlar silliq tubli tarnov hosil qiladi. Rezorbsiya tezlashgan patologik jarayonlarda tartibsiz reversiya chiziqlari paydo bo‘lib, suyakka mozaika tusini beradi. Bu eng klassik tarzda Paget kasalligida ko‘rinadi.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Suyak mineralining kislota bilan eritilishi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Osteoklast avval H+ ionlari va Cl− ionlari orqali xlorid kislota hosil qilib suyak mineralini eritadi, shundan keyingina metalloproteazalar kollagen matriksni parchalaydi. Demineralizatsiyada ishtirok etuvchi genlardagi mutatsiyalar odamdagi osteopetroz holatlarining ko‘pchiligiga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Suyak iligidagi gemopoetik miyeloid prekursorlar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Osteoklastlar ko‘p yadroli hujayralar bo‘lib, odatda suyak yuzasi yaqinidagi suyak iligida gemopoetik miyeloid prekursorlarning qo‘shilishidan hosil bo‘ladi. Osteoblastlar esa mezenximadan kelib chiqadi.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Osteoklast faolligi oshib, osteoliz tezlashadi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OPG RANKLni bog‘lab, uning RANK bilan o‘zaro ta’sirini to‘sadigan ‘‘o‘lja’’ retseptor. RANKL ko‘payib OPG kamayganda osteoklastlar ortiqcha faollashadi, rezorbsiya va osteoliz tezlashadi. Implant bo‘shashgan bemorlarning to‘qimasida aynan shu holat kuzatilgan.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Yangi suyak bilan to‘lgan tunnel, ya’ni osteon tuzilmasi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Osteoklastlar zich kortikal suyakni yumaloq tunnellar hosil qilib yemiradi. Bu tunnellar yangi suyak bilan deyarli to‘lib osteonlarni hosil qiladi; osteonda kichik markaziy oziqlantiruvchi arteriya va vena bo‘ladi. G‘ovak suyakda esa tarnov shaklidagi qayta qurilish birliklari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Osteoklastlar hosil bo‘lmay, osteopetroz rivojlanadi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Osteotsitlar RANKL ning muhim manbai hisoblanadi. Osteotsitda RANKL o‘chirilganda osteoklast hosil bo‘lishi buziladi va og‘ir osteopetroz rivojlanadi. Osteotsit RANKL‘i embrional davrdagi osteoklastlar uchun shart emas, lekin o‘smir va voyaga yetgan skeletdagi normal remodeling uchun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RANKL darajasi oshgan, OPG darajasi esa kamaygan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Yeyilish zarralari TNF-α va IL-1β ni ko‘paytiradi. Bu sitokinlar RANKL ni oshiradi va OPG ni kamaytiradi. Implanti bo‘shashgan bemorlarning periprotez to‘qimalarida RANKL yuqori, OPG past topilgan. Bu osteolizning tezlashishi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RANKL uchun RANK bilan raqobatlashib, NFATc1 ni bostirish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LGR4 RANKL ning qo‘shimcha retseptori bo‘lib, RANK bilan raqobatlashadi. U Gαq va GSK3-β signalini faollashtiradi. Bu signal osteoklast shakllanishi uchun zarur transkripsiya omili NFATc1 ning ifodasini va faolligini bostiradi.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TRAP-musbat osteoklastlar yo‘q, ilik bo‘shlig‘i qayta shakllanmagan suyak bilan to‘lgan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RANKL yoki RANK yetishmasa, osteoklastlar hosil bo‘lmaydi va osteopetroz rivojlanadi. Suyak qayta shakllanmaydi va ilik bo‘shlig‘i zich suyak bilan to‘ladi. RANK−/− sichqon suyagida TRAP-musbat hujayralar ko‘rinmaydi.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TRAF3 parchalanmay saqlanadi, NIK parchalanadi va osteoklast hosil bo‘lishi kamayadi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RANKL TRAF3 ning lizosoma yo‘li bilan parchalanishiga olib keladi. Shunda NIK to‘planadi va p100 p52 ga aylanadi. Xloroxin lizosomal parchalanishni to‘sadi va TRAF3 saqlanib qoladi. TRAF3 NIK ning proteasomal parchalanishini ta’minlaydi, natijada osteoklast hosil bo‘lishi kamayadi.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Submikron o‘lchamli cho‘zinchoq zarra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Submikron o‘lchamli va cho‘zinchoq zarralar kattaroq yoki sharsimon zarralarga nisbatan kuchliroq yallig‘lantiruvchi ta’sir ko‘rsatadi. Zarraning o‘lchami, shakli va kimyoviy tarkibi uning bioreaktivligini belgilaydi.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Suyak yo‘qotilishi oldi olinmadi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Xloroxin TRAF3 parchalanishini to‘xtatish orqali ishlaydi. TRAF3 butunlay o‘chirilgan sichqonlarda xloroxinning nishoni yo‘q, shuning uchun u ovariektomiyadan keyingi suyak yo‘qotilishini to‘xtata olmadi.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OPG kamayadi, RANKL ortadi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Glyukokortikoidlar osteoblastlarda OPG ifodasini pasaytiradi va RANKL ifodasini oshiradi. Natijada osteoklastlar faollashadi, rezorbsiya kuchayadi va osteoporoz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RANKL TRAF3 ni parchalaydi, TNF oshiradi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RANKL TRAF3 degradatsiyasini chaqirib, p100 ning p52 ga o‘tishini va osteoklast hosil bo‘lishini kuchaytiradi. TNF esa TRAF3 va p100 miqdorini oshiradi, bu esa osteoklast hosil bo‘lishini cheklaydi.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RANKL ifodasining ortishi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Mexanik yuklama kamayganda osteositlarda RANKL ifodasi sezilarli ortadi, bu osteoklastlar differensiatsiyasini bevosita faollashtiradi. Shu tariqa protezdan keyingi harakatsizlik osteolizni tezlashtiradi.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Yin L va boshq., Critical signaling pathways in osteoclast differentiation and bone resorption: mechanisms and therapeutic implications for periprosthetic osteolysis, PMID 40932933-bet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TRAP-musbat hujayralar, ya’ni o‘smadagi haqiqiy osteoklastlar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Skeletdan tashqari lezyonlarda TRAP-musbat osteoklastlar ham, TRAP-manfiy ko‘p yadroli hujayralar ham bo‘lishi mumkin. TRAP-manfiy polikarionlar suyakni rezorbsiya qilmaydi. Ular xolesterin va yot agentlarni parchalaydi.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Boyce BF va boshq., Bone Remodeling and the Role of TRAF3 in Osteoclastic Bone Resorption, PMID 30323820-bet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Ko‘p yadroli hujayralar hosil bo‘lmaydi, rezorbsiya susayib osteopetroz rivojlanadi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DC-STAMP osteoklast fuziyasi uchun zarur. Gomozigotalarda markerlar normal bo‘lsa ham ko‘p yadroli hujayra hosil bo‘lishi to‘liq to‘xtaydi. Natijada rezorbsiya pasayadi va osteopetroz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Shunsuke Uehara va boshq., Beyond resorption: targeting osteoclast fusion and polarization to restore balanced bone remodeling, PMID 42328629-bet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Muhrlovchi zona va burmali chegara hosil bo‘lishi, F-aktin tartibi buziladi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LRRK1 yetishmasa osteoklastlar normal differensiatsiyalanadi. Lekin ular muhrlovchi zona va burmali chegara hosil qila olmaydi, F-aktin tartibsiz bo‘ladi va kislota hamda proteazalar sekretsiyasi buziladi. Natijada og‘ir osteopetroz rivojlanadi.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Shunsuke Uehara va boshq., Beyond resorption: targeting osteoclast fusion and polarization to restore balanced bone remodeling, PMID 42328629-bet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Suyak almashinuv belgilari (CTX, P1NP) keskin oshadi va ko‘p umurtqa sinishi xavfi ortadi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Denosumab RANKL ni neytrallaydi, ta’siri qaytar. Uni birdaniga to‘xtatish suyak almashinuv belgilari (CTX, P1NP) keskin oshishiga, mineral zichlikning tez yo‘qolishiga va ko‘p umurtqa sinishi xavfiga olib kelishi mumkin. Shuning uchun antirezorbtiv ketma-ketlik (“exit strategy”) kerak. Atipik son sinishi uzoq muddatli bisfosfonat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Shunsuke Uehara va boshq., Beyond resorption: targeting osteoclast fusion and polarization to restore balanced bone remodeling, PMID 42328629-bet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PDGF-BB ortiqcha bo‘lsa qon tomir kalsifikatsiyasi, ateroskleroz va miya qon tomirlari buzilishi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PDGF-BB haddan tashqari ko‘p ishlab chiqarilsa tomir devori hujayralarining osteogen differensiatsiyasi mumkin. Bu ateroskleroz va miya qon tomirlari kalsifikatsiyasiga olib keladi. Shuning uchun PDGF-BB darajasini nazorat qilish zarur. Ba’zi bemorlarda bu strategiya kontrendikatsiya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Shunsuke Uehara va boshq., Beyond resorption: targeting osteoclast fusion and polarization to restore balanced bone remodeling, PMID 42328629-bet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Suyak rezorbsiyasi shakllari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Yin L va boshq. Critical signaling pathways in osteoclast differentiation and bone resorption: mechanisms and therapeutic implications for periprosthetic osteolysis, Frontiers in Cell and Developmental Biology. 2025. PMID 40932933; DOI 10.3389/fcell.2025.1639430</a:t>
            </a:r>
          </a:p>
          <a:p>
            <a:pPr>
              <a:spcAft>
                <a:spcPts val="1200"/>
              </a:spcAft>
            </a:pPr>
            <a:r>
              <a:rPr sz="2000">
                <a:solidFill>
                  <a:srgbClr val="1F2937"/>
                </a:solidFill>
                <a:latin typeface="Calibri"/>
              </a:rPr>
              <a:t>▸  Boyce BF va boshq. Bone Remodeling and the Role of TRAF3 in Osteoclastic Bone Resorption, Frontiers in Immunology. 2018. PMID 30323820; DOI 10.3389/fimmu.2018.02263</a:t>
            </a:r>
          </a:p>
          <a:p>
            <a:pPr>
              <a:spcAft>
                <a:spcPts val="1200"/>
              </a:spcAft>
            </a:pPr>
            <a:r>
              <a:rPr sz="2000">
                <a:solidFill>
                  <a:srgbClr val="1F2937"/>
                </a:solidFill>
                <a:latin typeface="Calibri"/>
              </a:rPr>
              <a:t>▸  Shunsuke Uehara va boshq. Beyond resorption: targeting osteoclast fusion and polarization to restore balanced bone remodeling, Frontiers in Pharmacology. 2026. PMID 42328629; DOI 10.3389/fphar.2026.1821755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