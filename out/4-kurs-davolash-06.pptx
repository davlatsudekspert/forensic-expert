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Muhokama: 1) Nega onasi noma’lum go‘dak murdasi topilganda ekspertiza majburiy deb o‘ylaysiz? 2) Davolash muassasasidan tashqaridagi tug‘ruqda nima xavf bor? Doskaga: ekspertiza tayinlanadigan uch holatni uchta ustun qilib yozdiring. Tipik xato: talabalar uch holatni faqat jinoyat shubhasi bilan cheklab qo‘yadi, tibbiy yordamga shikoyatni unutadi.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Oltita savolning qaysi biri jinoyatga huquqiy baho berishda muhimroq? 2) Gestatsion yosh nimani bildiradi? Doskaga: oltita savolni ketma-ketlikda yozdirib, har biriga bittadan misol keltirtiring. Tipik xato: «tirik tug‘ilgan» va «hayotga layoqatli» savollarini bir xil deb o‘ylash.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sud tibbiyotida davr aynan 24 soat bilan cheklangan? 2) Tug‘ruq og‘rig‘i va psixo-emotsional holat ona xatti-harakatiga qanday ta’sir qilishi mumkin? Doskaga: uch fan va ularning davrini vaqt chizig‘ida chizdiring. Tipik xato: pediatriyadagi 4 hafta yoki akusherlikdagi 7 kunni sud tibbiyotiga ko‘chirish.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Nega qonun onaning tug‘ish paytidagi harakatini yengilroq jazolaydi? 2) Tibbiy asos nima? Doskada chizish: ikki ustunli sxema — «ona: 99-modda» va «boshqa shaxs: 97-modda». Tipik xato: talabalar 99-modda va 97-moddani almashtirib yuboradi yoki sud tibbiyotidagi 24 soatni pediatriyadagi 4 hafta bilan adashtiradi.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Ajratilmagan kindik nima uchun «mutloq» belgi? 2) Nisbiy belgilar nega yolg‘iz yetarli emas? Doskada chizish: uch muassasa (pediatriya, akusherlik, sud tibbiyoti) va ularning davri. Tipik xato: sud-tibbiy ta’rifni pediatriyadagi neonatal davr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Nega yuvilgan go‘dakda qon izlari bo‘lmasligi mumkin? 2) Mo‘msimon qoplama nima uchun terining burmalarida uzoqroq qoladi? Doskada chizish: mo‘msimon qoplama tarkibi (4 komponent) ro‘yxati. Tipik xato: qon izlarini tashqi jarohat natijasi deb olish; tashqi jarohat bo‘lmasligi sharti unutiladi.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tug‘ruq shishi tor tosda ko‘p uchraydi? 2) Choklar bilan munosabat tashxisda qanday yordam beradi? Doskada: bosh suyaklari va choklarni chizib, shish va gematoma chegarasini turli rangda belgilang. Tipik xato: ikkala holatni faqat joylashuvi bo‘yicha aralashtirish va so‘rilish muddatini unutish.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Muhokama: 1) Mekoniyning tarkibi nima uchun homila yoshini aniqlashda foydali? 2) Norasolarda chiqish muddati nega uzoqroq bo‘lishi mumkin? Doskada: mekoniy topiladigan sohalarni tana sxemasida belgilang. Tipik xato: mekoniy topilishini yangi tug‘ilganlikning absolyut belgisi deb hisoblash (u nisbiy belgi).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Demarkatsion halqa tirik tug‘ilganlikni nima uchun ko‘rsatadi? 2) Ajratilmagan kindik qanday xulosaga olib keladi? Doskada: kindik o‘zgarishlari vaqt chizig‘ini soatlardan 5-7 kungacha chizing. Tipik xato: kindik quruq bo‘lsa ham halqa bor deb o‘ylash yoki ajralish muddatini (5-7 kun) halqa paydo bo‘lish muddati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faqat uchta belgi mutloq hisoblanadi? 2) Mo‘msimon qoplama nega yagona dalil bo‘la olmaydi? Doskada jadvalni chizdiring: chap ustunda mutloq, o‘ng ustunda nisbiy belgilar. Tipik xato: mekoniy yoki mo‘msimon qoplamani mutloq belgi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Savollarni talabalarga navbat bilan bering. Muhokama: 1) Kindik demarkatsion halqasi qachon paydo bo‘ladi? 2) Kefalogematoma tug‘ruq shishidan nimasi bilan farq qiladi? Doskada “O‘-D-K” qisqartmasini yozing. Tipik xato: muddatlarni (2-3 kun va 2 hafta) aralashtirish. “O‘-D-K” kitobda yo‘q, o‘qituvchi tuzgan eslatma.</a:t>
            </a:r>
          </a:p>
          <a:p/>
          <a:p>
            <a:r>
              <a:t>Tekshirish kerak (manbada noaniq):</a:t>
            </a:r>
          </a:p>
          <a:p>
            <a:r>
              <a:t>- Eslab qoling: “O‘-D-K” — O‘pka atelektazi, Demarkatsion halqa, Kindik. Bu o‘quv uchun tuzilgan qisqa eslatma.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Agar kindik ajratilgan bo‘lsa, xulosa qanday o‘zgaradi? 2) Qo‘shimcha qaysi belgilarni tekshirish kerak? Doskada vaziyatdagi belgilarni “mutloq” va “nisbiy” ustunlariga taqsimlang. Tipik xato: mekoniy topilganini mutloq belgi deb xulosa qilish.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JSST mezonlaridan nega faqat nafas olish ekspertizada asosiy mezon bo‘lib qolgan? 2) Nafas olishni murdada qanday belgilar ko‘rsatadi? Doskada: to‘rt mezonni yozing, nafas olishni aylana ichiga oling. Tipik xato: talabalar to‘rt mezonni ham ekspertizada tekshiriladi deb o‘ylaydi.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Nega sinama bosqichma-bosqich, kompleksdan bo‘lakchalargacha o‘tkaziladi? 2) Solishtirma og‘irlik 1,0 chegarasi nimani bildiradi? Doskada: zanjirni chizib, har bosqichda natijani (cho‘kdi/suzdi) belgilang. Tipik xato: ligaturalarni qo‘ymasdan a’zolarni suvga solish.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Chirigan murdada musbat natijani qanday tekshirasiz? 2) Ikkilamchi atelektazda nega sinama manfiy chiqadi? Doskada: jadvalni to‘ldirib, soxta musbat va soxta manfiyni ikki rangda ajrating. Tipik xato: soxta musbat va soxta manfiyni chalkashtirish.</a:t>
            </a:r>
          </a:p>
          <a:p/>
          <a:p>
            <a:r>
              <a:t>Tekshirish kerak (manbada noaniq):</a:t>
            </a:r>
          </a:p>
          <a:p>
            <a:r>
              <a:t>- Diqqat: o‘pkaning suzishi har doim nafas olganini bildirmaydi; soxta natijalarni istisno qiling.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oddiy sinama ikkilamchi atelektazda soxta manfiy beradi? 2) Past bosimda bo‘lakcha nega qalqib chiqadi? Doskada chizish: ikkita kolba sxemasi (odatdagi bosim, past bosim) va bo‘lakchaning holati. Tipik xato: soxta manfiy (ikkilamchi atelektaz) bilan soxta musbat (chirish gazlari, sun’iy nafas) 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Chirigan murdada oshqozon-ichak sinamasi nega ishonchsiz? 2) Rentgen sinamasi qanday cheklovlarga ega? Doskada chizish: oshqozon va ichaklar bo‘ylab havoning tarqalish sxemasi. Tipik xato: Breslau sinamasini o‘pka (Galen-Shreer) sinamasi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Diafragma sathi nima uchun farq qiladi? 2) Marmarsimon rang qaysi holatda uchraydi? Doskada chizish: ikki xil ko‘krak qafasi (bochkasimon va yassi) va diafragma sathlari. Tipik xato: o‘pka vazni raqamlarini (55-60 g va 85-90 g) o‘rnini almashtirib yuborish.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alveolalar yoyilishi nafas olganlikni ko‘rsatadi? 2) Gialin membranalar qaysi go‘daklarda uchraydi (asosan tirik tug‘ilgan norasolarda, bir necha soat yashaganlarda)? Doskada chizish: ikki alveola – yoyilmagan (kubsimon epiteliy) va yoyilgan (yassi epiteliy). Tipik xato: gialin membranani nafas olmagan o‘pkaga xos deb o‘ylash. Diqqat: gialin membrana ≠ arteriyadagi bo‘rtiq; birinchisi tirik tug‘ilganlik, ikkinchisi o‘lik tug‘ilganlik belgisi.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Talabalarga savollarni o‘qing, javobni yopiq holda so‘rang. Muhokama: nima uchun rentgenologik sinama (Dillon, 1939) hozir qo‘llanmaydi? Doskada chizish: sinamalar, mualliflar va yillar ro‘yxati. Tipik xato: Breslau va Shreer sinamalarini chalkashtirish. Diqqat: soxta musbat ≠ soxta manfiy.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Suzish nima uchun chirigan murdada ishonchsiz? 2) Qaysi mikroskopik belgilar nafas olganlikni tasdiqlaydi? Doskada chizish: ekspert qarorining bosqichlari (suzish, siqish, mikroskopiya). Tipik xato: o‘pka suzdi, demak go‘dak tirik tug‘ilgan deb xulosa qilish. Diqqat: chirishda oshqozon-ichak sinamasini asos qilmang; mikroskopiyaning chirigan o‘pkaga qo‘llanishi bandi muallif tomonidan aniq yozilmagan, o‘qituvchi tekshirsin.</a:t>
            </a:r>
          </a:p>
          <a:p/>
          <a:p>
            <a:r>
              <a:t>Tekshirish kerak (manbada noaniq):</a:t>
            </a:r>
          </a:p>
          <a:p>
            <a:r>
              <a:t>- Qo‘shimcha: mikroskopiyada alveolalar yoyilganligi, epiteliy yassiligi baholanadi. Suzishning o‘zi xulosa uchun yetarli emas.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rasolik muddat bilan, yetuklik o‘lcham bilan belgilanadi? 2) Tergov idoralari uchun bu tushunchalar qanday ahamiyatga ega? Doskada chizish: ikki ustunli solishtirish – «Raso» va «Yetuk» (mezonlari bilan). Tipik xato: talabalar rasolik va yetuklikni bir xil tushuncha deb o‘ylaydi; 45 sm va 50–54 sm raqamlarini aralashtiradi.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Tezkor savol: tana uzunligi 40 sm bo‘lsa, Gaaze va Baltazar-Derve bo‘yicha natija qanday (8 oy va 224 kun)? Muhokama: nega bir nechta usul bilan tekshirish kerak? Doskada chizish: 16 sm va 40 sm uchun Gaaze hisobini qadamma-qadam yozing. Tipik xato: Gaaze formulasida yarimlarni almashtirish (ildiz chiqarish va 5 ga bo‘lish); Baltazar-Derve natijasini oy emas, kun deb yozmaslik.</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Jadvaldagi qaysi qiymat oyma-oy eng ko‘p o‘zgaradi? 2) Antenatal o‘limda yo‘ldosh va kindikni tekshirish nega muhim? Doskada chizish: jadvalni daftarga ko‘chirib, IX oy qatorini (47 sm, 470 g) o‘zlari qo‘shsin. Tipik xato: kindik uzunligi (sm) va yo‘ldosh massasi (g) birliklarini aralashtirish; X oy qiymatlarini (50 sm, 500 g) VIII oy bilan almashtirish.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o‘zaklar kechikishi mumkin? 2) Mekoniyda tuk sochi nima uchun paydo bo‘ladi (tuk sochli qog‘onoq suvlari yutiladi)? Doskada: jadvalni oylar bo‘yicha o‘sish tartibida (V–VII–IX) chizdiring. Diqqat: Beklyar yadrosi IX oyda, tovon suyagida V oyda paydo bo‘ladi. Tipik xato: oylarni aralashtirish. Eslab qoling: 5–7–9 (tovon–g‘altak–son).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Ikki formula natijasi nega mos tushdi? 2) Yetuk bo‘lmagan homila hayotga layoqatsiz bo‘ladimi? Javob: 40 sm &lt; 45 sm, yetuk emas. Doskada: Gaaze va Baltazar-Derve hisobini ketma-ket yozdiring. Qo‘shimcha: Yakupov bo‘yicha bosh aylanasi 34 sm : 3,4 = 10 oy. Tipik xato: birinchi yarmida ham 5 ga bo‘lish (u yerda kvadrat ildiz olinadi).</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tashqi nuqsonda ichki a’zolar ham ochib ko‘riladi? 2) Tug‘ruq travmasi qanday holatda layoqatsizlikka olib keladi? Doskada: ikki ustunli ro‘yxat chizdiring: layoqatsizlik sabablari (norasolik, nuqson, travma). Diqqat: tirik tug‘ilgan ≠ hayotga layoqatli. Tipik xato: 25 sm va 500 g mezonini ‘yetuklik’ mezoni (45 sm, 2500 g) bilan almashtirish.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muddatlar faqat taxminiy hisoblanadi? 2) Havo qaysi bo‘limda bo‘lsa, go‘dak qancha yashagan? Doskada: soat o‘qi (0-3-6 soat, 1-sutka) chizib, belgilarni joylashtirtiring. Qo‘shimcha: tug‘ruq shishi 2-3-kunlarda so‘riladi. Tipik xato: gialin membrana bilan ikkilamchi atelektaz muddatini aralashtirish. Chirish va sun’iy nafas oldirishda oshqozon-ichak sinamasi tavsiya etilmaydi, buni eslating.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Qarov belgilarining qaysi biri tashqi, qaysi biri ichki tekshiruvda aniqlanadi? 2) Nega bu masala huquqiy baho uchun muhim? Doskada: ikki ustunli ro‘yxat (tashqi va ichki belgilar) tuzdiring. Tezkor savol javobi: 1-2 soat; qarov belgilari: yo‘rgak, kiyim, kindik boylanishi, tozalanganlik, oshqozondagi sut. Tipik xato: faqat bitta belgiga tayanib xulosa chiqarish.</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Berilgan ma’lumotlar bo‘yicha yashash muddatini qanday baholaysiz? 2) Qarov haqida xulosa uchun yana qaysi ma’lumotlar kerak? Doskada: belgi - muddat - xulosa jadvalini to‘ldirtiring. Tipik xato: qarov haqida ma’lumot bo‘lmasa ham xulosa chiqarish. Eslatma: halqa belgisi va oshqozondagi havo muddatlarining mosligi talabalar bilan birga muhokama qilinsin.</a:t>
            </a:r>
          </a:p>
          <a:p/>
          <a:p>
            <a:r>
              <a:t>Tekshirish kerak (manbada noaniq):</a:t>
            </a:r>
          </a:p>
          <a:p>
            <a:r>
              <a:t>- Kindikdagi halqa belgilari tirik tug‘ilganlikka mos. Muddatlar taxminiy, shuning uchun xulosa bitta belgiga asoslanmaydi.</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homila murdasi bilan birga yo‘ldosh va kindik ham tekshiriladi? 2) Mekoniy topilishi va yo‘g‘on ichak torayishi nimani ko‘rsatadi? Doskada: davrlar (antenatal, intranatal, postnatal) chizig‘ini chizib, har biriga sabablarni joylang. Tipik xato: antenatal va intranatal davrni aralashtirish; tug‘ruqdan oldin (antenatal) va tug‘ruq paytida (intranatal).</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Tug‘ruq travmasini boshqa shikastlardan farqlovchi asosiy belgi nima? 2) Ayol o‘ziga yordam bersa, qanday izlar qoladi? Doskada: bosh suyaklari, miyacha chodiri va o‘roqsimon o‘simtani sxematik chizing. Tipik xato: tug‘ruq travmasida ham tashqi yara bo‘ladi deb o‘ylash. Eslatma: tepa va peshona suyaklaridagi siniq turlari manbada aniq o‘qilmaydi, ehtiyotkorlik bilan bering.</a:t>
            </a:r>
          </a:p>
          <a:p/>
          <a:p>
            <a:r>
              <a:t>Tekshirish kerak (manbada noaniq):</a:t>
            </a:r>
          </a:p>
          <a:p>
            <a:r>
              <a:t>- Ko‘pincha tepa va peshona suyaklari shikastlanadi; radial va botiq siniqlar aniqlanadi.</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sud-tibbiy ekspert uchun o‘limning aniq sababi aktiv/passiv farqidan muhimroq? 2) Kindik bog‘lanmagan go‘dakda o‘lim sababi nima bo‘lishi mumkin? Doskada: aktiv va passiv ustunli jadvalni o‘quvchilar bilan to‘ldiring. Tipik xato: ekspert aktiv yoki passiv ekanini hal qiladi deb o‘ylash; bu huquqiy baho, ekspert esa o‘lim sababini ko‘rsatadi.</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Tashqi jarohat bo‘lmasa, nega tug‘ruq travmasi o‘ylanadi? 2) Ona qo‘li bilan yetkazilgan shikast qaysi sohalarda ko‘rinadi? Doskada: ikki ustunli taqqoslash — tug‘ruq travmasi va ona qo‘li bilan shikast belgilari. Tipik xato: tashqi jarohat yo‘qligini kalla ichi qon quyilishini istisno qiladi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kesma kindikka yetmay yonga buriladi va kalla suyagi qaychi bilan darcha shaklida ochiladi? 2) Laboratoriyaga qaysi materiallar olinadi (gistologik, sud-biologik)? Doskada: tekshiruv bosqichlari zanjirini chizing. Tipik xato: yo‘ldosh va kindikni tekshirmasdan faqat murda bilan cheklanish, kesmani iyakdan boshlash.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3 daqiqa. Doskada: tashqi tekshiruv ro‘yxatini nazorat varaqasi sifatida yozing. Tipik xato: antropometriyani o‘tkazmasdan gestatsion yoshni baholash.</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3 daqiqa. Muhokama: nega kesma pastki labdan boshlanadi? (tanglayni o‘rganish). Tipik xato: kalla suyagini arra bilan ochish — manbada qaychi bilan darcha ochish aytilgan.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daqiqa. Muhokama: tug‘ruq travmasini boshqa shikastdan nima ajratadi? (tashqi jarohat yo‘qligi). Tipik xato: ona yordamidagi shilinmani zo‘raki o‘lim belgisi deb baholash.</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3 daqiqa. Doskada: ikki holat ichak ko‘rinishini chizing. Tipik xato: mekoniyni topish bilan asfiksiya bor deb xulosa qilish.</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Yangi tug‘ilganlik pediatriya, akusherlik va sud tibbiyotida qanday farqlanadi? 2) Absolyut belgilar qaysilar? Doskada: besh asosiy savol (yangi tug‘ilganmi, tirikmi, yoshi, layoqat, o‘lim sababi) ro‘yxatini yozing. Tipik xato: nisbiy belgilarni absolyut deb hisoblash.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№3. Ma’ruza: Yangi tug‘ilgan chaqaloqlar murdasini va homilani sud-tibbiy tekshirish.</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ekspertiza qachon tayinlanadi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tekshirish.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Bob 10 homila va yangi tug‘ilgan go‘daklar murdasining sud-tibbiy ekspertizasiga bag‘ishlangan.</a:t>
            </a:r>
          </a:p>
          <a:p>
            <a:pPr>
              <a:spcAft>
                <a:spcPts val="1200"/>
              </a:spcAft>
            </a:pPr>
            <a:r>
              <a:rPr sz="2200">
                <a:solidFill>
                  <a:srgbClr val="1F2937"/>
                </a:solidFill>
                <a:latin typeface="Calibri"/>
              </a:rPr>
              <a:t>▸  Ekspertiza zo‘raki o‘lim alomatlari yoki unga shubha bo‘lganda o‘tkaziladi. Birinchi holat: onasi noma’lum go‘dak murdasi topilganda.</a:t>
            </a:r>
          </a:p>
          <a:p>
            <a:pPr>
              <a:spcAft>
                <a:spcPts val="1200"/>
              </a:spcAft>
            </a:pPr>
            <a:r>
              <a:rPr sz="2200">
                <a:solidFill>
                  <a:srgbClr val="1F2937"/>
                </a:solidFill>
                <a:latin typeface="Calibri"/>
              </a:rPr>
              <a:t>▸  Ikkinchi holat: davolash muassasasidan tashqarida tug‘ruqda o‘lik bola tug‘ilganda.</a:t>
            </a:r>
          </a:p>
          <a:p>
            <a:pPr>
              <a:spcAft>
                <a:spcPts val="1200"/>
              </a:spcAft>
            </a:pPr>
            <a:r>
              <a:rPr sz="2200">
                <a:solidFill>
                  <a:srgbClr val="1F2937"/>
                </a:solidFill>
                <a:latin typeface="Calibri"/>
              </a:rPr>
              <a:t>▸  Uchinchi holat: homilador ayolga ko‘rsatilgan tibbiy yordamga nisbatan shikoyat bo‘lganda.</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Ekspertiza oldiga qo‘yiladigan savollar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tekshirish.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Ekspertiza oldiga oltita maxsus savol qo‘yiladi.</a:t>
            </a:r>
          </a:p>
          <a:p>
            <a:pPr>
              <a:spcAft>
                <a:spcPts val="800"/>
              </a:spcAft>
            </a:pPr>
            <a:r>
              <a:rPr sz="1800">
                <a:solidFill>
                  <a:srgbClr val="1F2937"/>
                </a:solidFill>
                <a:latin typeface="Calibri"/>
              </a:rPr>
              <a:t>▸  Bu savollar boshqa murda ekspertizalaridan farqli, maxsus tusga ega.</a:t>
            </a:r>
          </a:p>
          <a:p>
            <a:pPr>
              <a:spcAft>
                <a:spcPts val="800"/>
              </a:spcAft>
            </a:pPr>
            <a:r>
              <a:rPr sz="1800">
                <a:solidFill>
                  <a:srgbClr val="1F2937"/>
                </a:solidFill>
                <a:latin typeface="Calibri"/>
              </a:rPr>
              <a:t>▸  Umumiy savollar ham beriladi: o‘lim sababi, muddati, jarohatlar va ularning yetkazilish mexanizmi.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Ekspertiza savollari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Davr va hayot</a:t>
            </a:r>
          </a:p>
          <a:p>
            <a:pPr algn="l">
              <a:spcAft>
                <a:spcPts val="0"/>
              </a:spcAft>
            </a:pPr>
            <a:r>
              <a:rPr sz="1200" b="0">
                <a:solidFill>
                  <a:srgbClr val="1F2937"/>
                </a:solidFill>
                <a:latin typeface="Calibri"/>
              </a:rPr>
              <a:t>Yangi tug‘ilganmi?  ·  Tirik tug‘ilganmi?</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Rivojlanish</a:t>
            </a:r>
          </a:p>
          <a:p>
            <a:pPr algn="l">
              <a:spcAft>
                <a:spcPts val="0"/>
              </a:spcAft>
            </a:pPr>
            <a:r>
              <a:rPr sz="1200" b="0">
                <a:solidFill>
                  <a:srgbClr val="1F2937"/>
                </a:solidFill>
                <a:latin typeface="Calibri"/>
              </a:rPr>
              <a:t>Gestatsion yoshi?  ·  Hayotga layoqatlimi?</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Muddat va qarov</a:t>
            </a:r>
          </a:p>
          <a:p>
            <a:pPr algn="l">
              <a:spcAft>
                <a:spcPts val="0"/>
              </a:spcAft>
            </a:pPr>
            <a:r>
              <a:rPr sz="1200" b="0">
                <a:solidFill>
                  <a:srgbClr val="1F2937"/>
                </a:solidFill>
                <a:latin typeface="Calibri"/>
              </a:rPr>
              <a:t>Qancha yashagan?  ·  Qarov bo‘lganmi?</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Umumiy savollar</a:t>
            </a:r>
          </a:p>
          <a:p>
            <a:pPr algn="l">
              <a:spcAft>
                <a:spcPts val="0"/>
              </a:spcAft>
            </a:pPr>
            <a:r>
              <a:rPr sz="1200" b="0">
                <a:solidFill>
                  <a:srgbClr val="1F2937"/>
                </a:solidFill>
                <a:latin typeface="Calibri"/>
              </a:rPr>
              <a:t>O‘lim sababi, muddati  ·  Jarohat va mexanizmi</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Ekspertiza savollari guruhi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Yangi tug‘ilganlik: uch fan taqqoslanadi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tekshirish.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Sud tibbiyotida bu tushuncha pediatriya va akusherlikdagidan farq qiladi.</a:t>
            </a:r>
          </a:p>
          <a:p>
            <a:pPr>
              <a:spcAft>
                <a:spcPts val="800"/>
              </a:spcAft>
            </a:pPr>
            <a:r>
              <a:rPr sz="1800">
                <a:solidFill>
                  <a:srgbClr val="1F2937"/>
                </a:solidFill>
                <a:latin typeface="Calibri"/>
              </a:rPr>
              <a:t>▸  Jinoyat kodeksi 99-moddasi: ona go‘dagini tug‘ish vaqtida o‘ldirsa, jazo yengilroq.</a:t>
            </a:r>
          </a:p>
          <a:p>
            <a:pPr>
              <a:spcAft>
                <a:spcPts val="800"/>
              </a:spcAft>
            </a:pPr>
            <a:r>
              <a:rPr sz="1800">
                <a:solidFill>
                  <a:srgbClr val="1F2937"/>
                </a:solidFill>
                <a:latin typeface="Calibri"/>
              </a:rPr>
              <a:t>▸  Diqqat: 97-modda (boshqa shaxs o‘ldirsa) ≠ 99-modda (ona o‘ldirsa); jazo har xil.</a:t>
            </a:r>
          </a:p>
        </p:txBody>
      </p:sp>
      <p:sp>
        <p:nvSpPr>
          <p:cNvPr id="9" name="Rounded Rectangle 8"/>
          <p:cNvSpPr/>
          <p:nvPr/>
        </p:nvSpPr>
        <p:spPr>
          <a:xfrm>
            <a:off x="5440680"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Pediatriya</a:t>
            </a:r>
          </a:p>
          <a:p>
            <a:pPr algn="l">
              <a:spcAft>
                <a:spcPts val="100"/>
              </a:spcAft>
            </a:pPr>
            <a:r>
              <a:rPr sz="3000" b="1">
                <a:solidFill>
                  <a:srgbClr val="0B1F3A"/>
                </a:solidFill>
                <a:latin typeface="Calibri"/>
              </a:rPr>
              <a:t>4</a:t>
            </a:r>
            <a:r>
              <a:rPr sz="1500" b="0">
                <a:solidFill>
                  <a:srgbClr val="6B7280"/>
                </a:solidFill>
                <a:latin typeface="Calibri"/>
              </a:rPr>
              <a:t>  hafta</a:t>
            </a:r>
          </a:p>
        </p:txBody>
      </p:sp>
      <p:sp>
        <p:nvSpPr>
          <p:cNvPr id="12" name="Rounded Rectangle 11"/>
          <p:cNvSpPr/>
          <p:nvPr/>
        </p:nvSpPr>
        <p:spPr>
          <a:xfrm>
            <a:off x="7532522"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32522"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42250"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Akusherlik-ginekologiya</a:t>
            </a:r>
          </a:p>
          <a:p>
            <a:pPr algn="l">
              <a:spcAft>
                <a:spcPts val="100"/>
              </a:spcAft>
            </a:pPr>
            <a:r>
              <a:rPr sz="3000" b="1">
                <a:solidFill>
                  <a:srgbClr val="0B1F3A"/>
                </a:solidFill>
                <a:latin typeface="Calibri"/>
              </a:rPr>
              <a:t>7</a:t>
            </a:r>
            <a:r>
              <a:rPr sz="1500" b="0">
                <a:solidFill>
                  <a:srgbClr val="6B7280"/>
                </a:solidFill>
                <a:latin typeface="Calibri"/>
              </a:rPr>
              <a:t>  kun</a:t>
            </a:r>
          </a:p>
        </p:txBody>
      </p:sp>
      <p:sp>
        <p:nvSpPr>
          <p:cNvPr id="15" name="Rounded Rectangle 14"/>
          <p:cNvSpPr/>
          <p:nvPr/>
        </p:nvSpPr>
        <p:spPr>
          <a:xfrm>
            <a:off x="9624364"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624364"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34092"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Sud tibbiyoti</a:t>
            </a:r>
          </a:p>
          <a:p>
            <a:pPr algn="l">
              <a:spcAft>
                <a:spcPts val="100"/>
              </a:spcAft>
            </a:pPr>
            <a:r>
              <a:rPr sz="3000" b="1">
                <a:solidFill>
                  <a:srgbClr val="0B1F3A"/>
                </a:solidFill>
                <a:latin typeface="Calibri"/>
              </a:rPr>
              <a:t>24</a:t>
            </a:r>
            <a:r>
              <a:rPr sz="1500" b="0">
                <a:solidFill>
                  <a:srgbClr val="6B7280"/>
                </a:solidFill>
                <a:latin typeface="Calibri"/>
              </a:rPr>
              <a:t>  soat</a:t>
            </a:r>
          </a:p>
        </p:txBody>
      </p:sp>
      <p:sp>
        <p:nvSpPr>
          <p:cNvPr id="18" name="TextBox 17"/>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Yangi tug‘ilganlik davri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Yangi tug‘ilganlik va jinoyat huquqi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tekshirish.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Sud tibbiyotida yangi tug‘ilganlik davri tug‘ruqdan keyingi dastlabki 24 soatdir. Bu muddat qonunchilik talablari bilan uzviy bog‘liq.</a:t>
            </a:r>
          </a:p>
          <a:p>
            <a:pPr>
              <a:spcAft>
                <a:spcPts val="1200"/>
              </a:spcAft>
            </a:pPr>
            <a:r>
              <a:rPr sz="2200">
                <a:solidFill>
                  <a:srgbClr val="1F2937"/>
                </a:solidFill>
                <a:latin typeface="Calibri"/>
              </a:rPr>
              <a:t>▸  JK 99-moddasi onaning go‘dagini tug‘ish vaqtida yoki tug‘ilishi hamon qasddan o‘ldirishini alohida ajratadi. Jazo qasddan odam o‘ldirishdan ancha yengil.</a:t>
            </a:r>
          </a:p>
          <a:p>
            <a:pPr>
              <a:spcAft>
                <a:spcPts val="1200"/>
              </a:spcAft>
            </a:pPr>
            <a:r>
              <a:rPr sz="2200">
                <a:solidFill>
                  <a:srgbClr val="1F2937"/>
                </a:solidFill>
                <a:latin typeface="Calibri"/>
              </a:rPr>
              <a:t>▸  Tug‘ruq taxminan bir sutkaga yaqin davom etadi. Og‘riq va psixo-emotsional holat tufayli ona o‘zi to‘liq anglamagan holda bolasiga shikast yetkazishi mumkin.</a:t>
            </a:r>
          </a:p>
          <a:p>
            <a:pPr>
              <a:spcAft>
                <a:spcPts val="1200"/>
              </a:spcAft>
            </a:pPr>
            <a:r>
              <a:rPr sz="2200">
                <a:solidFill>
                  <a:srgbClr val="1F2937"/>
                </a:solidFill>
                <a:latin typeface="Calibri"/>
              </a:rPr>
              <a:t>▸  Diqqat: xato qilish xavfi. Bunday harakatni boshqa shaxs sodir etsa, u JK 97-modda (qasddan odam o‘ldirish) bilan baholanadi. 99-modda ≠ 97-modda.</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yangi tug‘ilganlik tushunchasi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tekshirish.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onasi noma’lum go‘dak murdasi topildi. Kindigi tana va yo‘ldoshdan ajratilmagan. Bunday holda sud-tibbiy ekspertiza tayinlanadi.</a:t>
            </a:r>
          </a:p>
          <a:p>
            <a:pPr>
              <a:spcAft>
                <a:spcPts val="1200"/>
              </a:spcAft>
            </a:pPr>
            <a:r>
              <a:rPr sz="2200">
                <a:solidFill>
                  <a:srgbClr val="1F2937"/>
                </a:solidFill>
                <a:latin typeface="Calibri"/>
              </a:rPr>
              <a:t>▸  Savol: go‘dak yangi tug‘ilganmi? Pediatriyada bu davr 4 hafta (neonatal), akusherlikda 7 kun, sud tibbiyotida esa dastlabki 24 soat.</a:t>
            </a:r>
          </a:p>
          <a:p>
            <a:pPr>
              <a:spcAft>
                <a:spcPts val="1200"/>
              </a:spcAft>
            </a:pPr>
            <a:r>
              <a:rPr sz="2200">
                <a:solidFill>
                  <a:srgbClr val="1F2937"/>
                </a:solidFill>
                <a:latin typeface="Calibri"/>
              </a:rPr>
              <a:t>▸  Tana va yo‘ldoshdan ajratilmagan kindik absolyut, ya’ni mutloq ishonchli yangi tug‘ilganlik belgisi hisoblanadi.</a:t>
            </a:r>
          </a:p>
          <a:p>
            <a:pPr>
              <a:spcAft>
                <a:spcPts val="1200"/>
              </a:spcAft>
            </a:pPr>
            <a:r>
              <a:rPr sz="2200">
                <a:solidFill>
                  <a:srgbClr val="1F2937"/>
                </a:solidFill>
                <a:latin typeface="Calibri"/>
              </a:rPr>
              <a:t>▸  Qolgan belgilar nisbiy: ular hayotning ikkinchi va keyingi kunlarida ham aniqlanishi mumkin. Shuning uchun ekspert belgilarni majmuada baholaydi.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255, 258, 255, 256, 258–259, 259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Qon izlari va mo‘msimon qoplama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tekshirish.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Tashqi jarohat bo‘lmasa, tanadagi qon izlari yangi tug‘ilganlik belgisidir. Ular tug‘ruq yo‘llari yumshoq to‘qimalarining yorilishidan hosil bo‘ladi.</a:t>
            </a:r>
          </a:p>
          <a:p>
            <a:pPr>
              <a:spcAft>
                <a:spcPts val="1200"/>
              </a:spcAft>
            </a:pPr>
            <a:r>
              <a:rPr sz="2200">
                <a:solidFill>
                  <a:srgbClr val="1F2937"/>
                </a:solidFill>
                <a:latin typeface="Calibri"/>
              </a:rPr>
              <a:t>▸  Go‘dak tanasi yuvilgach qon izlari yo‘qoladi. Shu sababli yuvilgan murdada bu belgi topilmasligi yangi tug‘ilganlikni inkor etmaydi.</a:t>
            </a:r>
          </a:p>
          <a:p>
            <a:pPr>
              <a:spcAft>
                <a:spcPts val="1200"/>
              </a:spcAft>
            </a:pPr>
            <a:r>
              <a:rPr sz="2200">
                <a:solidFill>
                  <a:srgbClr val="1F2937"/>
                </a:solidFill>
                <a:latin typeface="Calibri"/>
              </a:rPr>
              <a:t>▸  Mo‘msimon qoplama — oqimtir-kulrang yarim quyuq massa. U yog‘ bezlari sekreti, ko‘chgan epidermis hujayralari, tuk va qog‘onoq suvlari aralashmasidan iborat.</a:t>
            </a:r>
          </a:p>
          <a:p>
            <a:pPr>
              <a:spcAft>
                <a:spcPts val="1200"/>
              </a:spcAft>
            </a:pPr>
            <a:r>
              <a:rPr sz="2200">
                <a:solidFill>
                  <a:srgbClr val="1F2937"/>
                </a:solidFill>
                <a:latin typeface="Calibri"/>
              </a:rPr>
              <a:t>▸  U bachadonda terini qog‘onoq suvlaridan matseratsiyadan himoya qiladi. Burmalarda, qo‘ltiq ostida, oraliqda ko‘proq bo‘ladi; yuvilmasa bir haftagacha saqlanadi.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Tug‘ruq shishi va kefalogematoma farqi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tekshirish.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Tug‘ruq shishi: tosda qisilish tufayli yumshoq to‘qimalar shishadi; 2-3 kunda so‘riladi.</a:t>
            </a:r>
          </a:p>
          <a:p>
            <a:pPr>
              <a:spcAft>
                <a:spcPts val="800"/>
              </a:spcAft>
            </a:pPr>
            <a:r>
              <a:rPr sz="1800">
                <a:solidFill>
                  <a:srgbClr val="1F2937"/>
                </a:solidFill>
                <a:latin typeface="Calibri"/>
              </a:rPr>
              <a:t>▸  Kefalogematoma: suyak usti pardasi ostiga qon quyiladi; 2 hafta va undan ortiq so‘riladi.</a:t>
            </a:r>
          </a:p>
          <a:p>
            <a:pPr>
              <a:spcAft>
                <a:spcPts val="800"/>
              </a:spcAft>
            </a:pPr>
            <a:r>
              <a:rPr sz="1800">
                <a:solidFill>
                  <a:srgbClr val="1F2937"/>
                </a:solidFill>
                <a:latin typeface="Calibri"/>
              </a:rPr>
              <a:t>▸  Diqqat: xato qilish xavfi — shish choklar proeksiyasida ham bor; kefalogematoma choklar bilan chegaralangan.</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Tug‘ruq shishi</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Sababi: tos halqasida qisilish</a:t>
            </a:r>
          </a:p>
          <a:p>
            <a:pPr algn="l">
              <a:spcAft>
                <a:spcPts val="700"/>
              </a:spcAft>
            </a:pPr>
            <a:r>
              <a:rPr sz="1500" b="1">
                <a:solidFill>
                  <a:srgbClr val="C9A227"/>
                </a:solidFill>
                <a:latin typeface="Calibri"/>
              </a:rPr>
              <a:t>●  </a:t>
            </a:r>
            <a:r>
              <a:rPr sz="1500" b="0">
                <a:solidFill>
                  <a:srgbClr val="1F2937"/>
                </a:solidFill>
                <a:latin typeface="Calibri"/>
              </a:rPr>
              <a:t>Choklar proeksiyasida ham</a:t>
            </a:r>
          </a:p>
          <a:p>
            <a:pPr algn="l">
              <a:spcAft>
                <a:spcPts val="700"/>
              </a:spcAft>
            </a:pPr>
            <a:r>
              <a:rPr sz="1500" b="1">
                <a:solidFill>
                  <a:srgbClr val="C9A227"/>
                </a:solidFill>
                <a:latin typeface="Calibri"/>
              </a:rPr>
              <a:t>●  </a:t>
            </a:r>
            <a:r>
              <a:rPr sz="1500" b="0">
                <a:solidFill>
                  <a:srgbClr val="1F2937"/>
                </a:solidFill>
                <a:latin typeface="Calibri"/>
              </a:rPr>
              <a:t>Qonli seroz suyuqlik</a:t>
            </a:r>
          </a:p>
          <a:p>
            <a:pPr algn="l">
              <a:spcAft>
                <a:spcPts val="700"/>
              </a:spcAft>
            </a:pPr>
            <a:r>
              <a:rPr sz="1500" b="1">
                <a:solidFill>
                  <a:srgbClr val="C9A227"/>
                </a:solidFill>
                <a:latin typeface="Calibri"/>
              </a:rPr>
              <a:t>●  </a:t>
            </a:r>
            <a:r>
              <a:rPr sz="1500" b="0">
                <a:solidFill>
                  <a:srgbClr val="1F2937"/>
                </a:solidFill>
                <a:latin typeface="Calibri"/>
              </a:rPr>
              <a:t>2-3 kunda so‘riladi</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Kefalogematoma</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Sababi: tug‘ruq travmasi</a:t>
            </a:r>
          </a:p>
          <a:p>
            <a:pPr algn="l">
              <a:spcAft>
                <a:spcPts val="700"/>
              </a:spcAft>
            </a:pPr>
            <a:r>
              <a:rPr sz="1500" b="1">
                <a:solidFill>
                  <a:srgbClr val="C9A227"/>
                </a:solidFill>
                <a:latin typeface="Calibri"/>
              </a:rPr>
              <a:t>●  </a:t>
            </a:r>
            <a:r>
              <a:rPr sz="1500" b="0">
                <a:solidFill>
                  <a:srgbClr val="1F2937"/>
                </a:solidFill>
                <a:latin typeface="Calibri"/>
              </a:rPr>
              <a:t>Suyak ustida, choklargacha</a:t>
            </a:r>
          </a:p>
          <a:p>
            <a:pPr algn="l">
              <a:spcAft>
                <a:spcPts val="700"/>
              </a:spcAft>
            </a:pPr>
            <a:r>
              <a:rPr sz="1500" b="1">
                <a:solidFill>
                  <a:srgbClr val="C9A227"/>
                </a:solidFill>
                <a:latin typeface="Calibri"/>
              </a:rPr>
              <a:t>●  </a:t>
            </a:r>
            <a:r>
              <a:rPr sz="1500" b="0">
                <a:solidFill>
                  <a:srgbClr val="1F2937"/>
                </a:solidFill>
                <a:latin typeface="Calibri"/>
              </a:rPr>
              <a:t>Suyak usti pardasi ostida qon</a:t>
            </a:r>
          </a:p>
          <a:p>
            <a:pPr algn="l">
              <a:spcAft>
                <a:spcPts val="700"/>
              </a:spcAft>
            </a:pPr>
            <a:r>
              <a:rPr sz="1500" b="1">
                <a:solidFill>
                  <a:srgbClr val="C9A227"/>
                </a:solidFill>
                <a:latin typeface="Calibri"/>
              </a:rPr>
              <a:t>●  </a:t>
            </a:r>
            <a:r>
              <a:rPr sz="1500" b="0">
                <a:solidFill>
                  <a:srgbClr val="1F2937"/>
                </a:solidFill>
                <a:latin typeface="Calibri"/>
              </a:rPr>
              <a:t>2 hafta va ortiq so‘riladi</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Tug‘ruq shishi va kefalogematoma</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Mekoniy – birlamchi najas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tekshirish.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Mekoniy — to‘q-yashil yoki qo‘ng‘ir-yashil rangli, yarim suyuq, bir xil massa; birlamchi najas deyiladi.</a:t>
            </a:r>
          </a:p>
          <a:p>
            <a:pPr>
              <a:spcAft>
                <a:spcPts val="1200"/>
              </a:spcAft>
            </a:pPr>
            <a:r>
              <a:rPr sz="2200">
                <a:solidFill>
                  <a:srgbClr val="1F2937"/>
                </a:solidFill>
                <a:latin typeface="Calibri"/>
              </a:rPr>
              <a:t>▸  U yo‘g‘on ichakda, orqa chiqaruv teshigi atrofida, dumba va son sohalarida aniqlanadi.</a:t>
            </a:r>
          </a:p>
          <a:p>
            <a:pPr>
              <a:spcAft>
                <a:spcPts val="1200"/>
              </a:spcAft>
            </a:pPr>
            <a:r>
              <a:rPr sz="2200">
                <a:solidFill>
                  <a:srgbClr val="1F2937"/>
                </a:solidFill>
                <a:latin typeface="Calibri"/>
              </a:rPr>
              <a:t>▸  Tarkibida shilliq, o‘t pigmentlari, ko‘chgan ichak epiteliysi, qog‘onoq suvlari va tuk sochlar bor. Tarkibi homiladorlik muddatiga qarab o‘zgaradi.</a:t>
            </a:r>
          </a:p>
          <a:p>
            <a:pPr>
              <a:spcAft>
                <a:spcPts val="1200"/>
              </a:spcAft>
            </a:pPr>
            <a:r>
              <a:rPr sz="2200">
                <a:solidFill>
                  <a:srgbClr val="1F2937"/>
                </a:solidFill>
                <a:latin typeface="Calibri"/>
              </a:rPr>
              <a:t>▸  Odatda tug‘ruqdan keyin 1-2 kunda ichakdan to‘liq chiqadi; norasolarda bu muddat 3-4 kungacha cho‘ziladi.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Kindik o‘zgarishlari: vaqt chizig‘i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tekshirish.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Kindik avval nam, yaltiroq, oqimtir-qizg‘ish; quriganda bujmayib, qo‘ng‘ir-sariqdan qora tusga o‘tadi.</a:t>
            </a:r>
          </a:p>
          <a:p>
            <a:pPr>
              <a:spcAft>
                <a:spcPts val="800"/>
              </a:spcAft>
            </a:pPr>
            <a:r>
              <a:rPr sz="1800">
                <a:solidFill>
                  <a:srgbClr val="1F2937"/>
                </a:solidFill>
                <a:latin typeface="Calibri"/>
              </a:rPr>
              <a:t>▸  Tirik tug‘ilganda asosida qizg‘ish demarkatsion halqa (reaktiv yallig‘lanish) paydo bo‘ladi.</a:t>
            </a:r>
          </a:p>
          <a:p>
            <a:pPr>
              <a:spcAft>
                <a:spcPts val="800"/>
              </a:spcAft>
            </a:pPr>
            <a:r>
              <a:rPr sz="1800">
                <a:solidFill>
                  <a:srgbClr val="1F2937"/>
                </a:solidFill>
                <a:latin typeface="Calibri"/>
              </a:rPr>
              <a:t>▸  Halqaning yo‘qligi yoki dastlabki belgisi, ajratilmagan kindik — absolyut (mutloq ishonchli) belgi.</a:t>
            </a:r>
          </a:p>
        </p:txBody>
      </p:sp>
      <p:sp>
        <p:nvSpPr>
          <p:cNvPr id="9" name="Rounded Rectangle 8"/>
          <p:cNvSpPr/>
          <p:nvPr/>
        </p:nvSpPr>
        <p:spPr>
          <a:xfrm>
            <a:off x="5440680"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Yangi</a:t>
            </a:r>
          </a:p>
          <a:p>
            <a:pPr algn="l">
              <a:spcAft>
                <a:spcPts val="200"/>
              </a:spcAft>
            </a:pPr>
            <a:r>
              <a:rPr sz="1400" b="0">
                <a:solidFill>
                  <a:srgbClr val="1F2937"/>
                </a:solidFill>
                <a:latin typeface="Calibri"/>
              </a:rPr>
              <a:t>Nam, yaltiroq, oqimtir-qizg‘ish</a:t>
            </a:r>
          </a:p>
        </p:txBody>
      </p:sp>
      <p:sp>
        <p:nvSpPr>
          <p:cNvPr id="12" name="Rounded Rectangle 11"/>
          <p:cNvSpPr/>
          <p:nvPr/>
        </p:nvSpPr>
        <p:spPr>
          <a:xfrm>
            <a:off x="8578443"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Quriganda</a:t>
            </a:r>
          </a:p>
          <a:p>
            <a:pPr algn="l">
              <a:spcAft>
                <a:spcPts val="200"/>
              </a:spcAft>
            </a:pPr>
            <a:r>
              <a:rPr sz="1400" b="0">
                <a:solidFill>
                  <a:srgbClr val="1F2937"/>
                </a:solidFill>
                <a:latin typeface="Calibri"/>
              </a:rPr>
              <a:t>Bujmayadi, qo‘ng‘ir-sariq</a:t>
            </a:r>
          </a:p>
        </p:txBody>
      </p:sp>
      <p:sp>
        <p:nvSpPr>
          <p:cNvPr id="15" name="Rounded Rectangle 14"/>
          <p:cNvSpPr/>
          <p:nvPr/>
        </p:nvSpPr>
        <p:spPr>
          <a:xfrm>
            <a:off x="5440680"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Bir necha soat</a:t>
            </a:r>
          </a:p>
          <a:p>
            <a:pPr algn="l">
              <a:spcAft>
                <a:spcPts val="200"/>
              </a:spcAft>
            </a:pPr>
            <a:r>
              <a:rPr sz="1400" b="0">
                <a:solidFill>
                  <a:srgbClr val="1F2937"/>
                </a:solidFill>
                <a:latin typeface="Calibri"/>
              </a:rPr>
              <a:t>Qizg‘ish demarkatsion halqa</a:t>
            </a:r>
          </a:p>
        </p:txBody>
      </p:sp>
      <p:sp>
        <p:nvSpPr>
          <p:cNvPr id="18" name="Rounded Rectangle 17"/>
          <p:cNvSpPr/>
          <p:nvPr/>
        </p:nvSpPr>
        <p:spPr>
          <a:xfrm>
            <a:off x="8578443"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Keyin</a:t>
            </a:r>
          </a:p>
          <a:p>
            <a:pPr algn="l">
              <a:spcAft>
                <a:spcPts val="200"/>
              </a:spcAft>
            </a:pPr>
            <a:r>
              <a:rPr sz="1400" b="0">
                <a:solidFill>
                  <a:srgbClr val="1F2937"/>
                </a:solidFill>
                <a:latin typeface="Calibri"/>
              </a:rPr>
              <a:t>Qo‘ng‘ir-qora tus</a:t>
            </a:r>
          </a:p>
        </p:txBody>
      </p:sp>
      <p:sp>
        <p:nvSpPr>
          <p:cNvPr id="21" name="Rounded Rectangle 20"/>
          <p:cNvSpPr/>
          <p:nvPr/>
        </p:nvSpPr>
        <p:spPr>
          <a:xfrm>
            <a:off x="5440680" y="4184904"/>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5</a:t>
            </a:r>
          </a:p>
        </p:txBody>
      </p:sp>
      <p:sp>
        <p:nvSpPr>
          <p:cNvPr id="23" name="TextBox 22"/>
          <p:cNvSpPr txBox="1"/>
          <p:nvPr/>
        </p:nvSpPr>
        <p:spPr>
          <a:xfrm>
            <a:off x="6080760" y="4184904"/>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5-7 kun</a:t>
            </a:r>
          </a:p>
          <a:p>
            <a:pPr algn="l">
              <a:spcAft>
                <a:spcPts val="200"/>
              </a:spcAft>
            </a:pPr>
            <a:r>
              <a:rPr sz="1400" b="0">
                <a:solidFill>
                  <a:srgbClr val="1F2937"/>
                </a:solidFill>
                <a:latin typeface="Calibri"/>
              </a:rPr>
              <a:t>Halqa bo‘ylab ajraladi</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Kindik: vaqt chizig‘i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258, 258-259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Absolyut va nisbiy belgilar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tekshirish.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Uch belgi mutloq, ya’ni to‘liq ishonchli hisoblanadi. Qolgan belgilar nisbiy.</a:t>
            </a:r>
          </a:p>
          <a:p>
            <a:pPr>
              <a:spcAft>
                <a:spcPts val="800"/>
              </a:spcAft>
            </a:pPr>
            <a:r>
              <a:rPr sz="1800">
                <a:solidFill>
                  <a:srgbClr val="1F2937"/>
                </a:solidFill>
                <a:latin typeface="Calibri"/>
              </a:rPr>
              <a:t>▸  Nisbiy belgilar go‘dak hayotining ikkinchi va keyingi kunlarida ham aniqlanishi mumkin.</a:t>
            </a:r>
          </a:p>
          <a:p>
            <a:pPr>
              <a:spcAft>
                <a:spcPts val="800"/>
              </a:spcAft>
            </a:pPr>
            <a:r>
              <a:rPr sz="1800">
                <a:solidFill>
                  <a:srgbClr val="1F2937"/>
                </a:solidFill>
                <a:latin typeface="Calibri"/>
              </a:rPr>
              <a:t>▸  Diqqat: mo‘msimon qoplama mutloq belgi emas, yuvilmasa bir haftagacha saqlanadi.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Mutloq belgilar</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O‘pkaning birlamchi atelektazi</a:t>
            </a:r>
          </a:p>
          <a:p>
            <a:pPr algn="l">
              <a:spcAft>
                <a:spcPts val="700"/>
              </a:spcAft>
            </a:pPr>
            <a:r>
              <a:rPr sz="1500" b="1">
                <a:solidFill>
                  <a:srgbClr val="C9A227"/>
                </a:solidFill>
                <a:latin typeface="Calibri"/>
              </a:rPr>
              <a:t>●  </a:t>
            </a:r>
            <a:r>
              <a:rPr sz="1500" b="0">
                <a:solidFill>
                  <a:srgbClr val="1F2937"/>
                </a:solidFill>
                <a:latin typeface="Calibri"/>
              </a:rPr>
              <a:t>Demarkatsion halqa yo‘q yoki boshlang‘ich</a:t>
            </a:r>
          </a:p>
          <a:p>
            <a:pPr algn="l">
              <a:spcAft>
                <a:spcPts val="700"/>
              </a:spcAft>
            </a:pPr>
            <a:r>
              <a:rPr sz="1500" b="1">
                <a:solidFill>
                  <a:srgbClr val="C9A227"/>
                </a:solidFill>
                <a:latin typeface="Calibri"/>
              </a:rPr>
              <a:t>●  </a:t>
            </a:r>
            <a:r>
              <a:rPr sz="1500" b="0">
                <a:solidFill>
                  <a:srgbClr val="1F2937"/>
                </a:solidFill>
                <a:latin typeface="Calibri"/>
              </a:rPr>
              <a:t>Ajratilmagan kindik</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Nisbiy belgilar</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Qon izi, mo‘msimon qoplama</a:t>
            </a:r>
          </a:p>
          <a:p>
            <a:pPr algn="l">
              <a:spcAft>
                <a:spcPts val="700"/>
              </a:spcAft>
            </a:pPr>
            <a:r>
              <a:rPr sz="1500" b="1">
                <a:solidFill>
                  <a:srgbClr val="C9A227"/>
                </a:solidFill>
                <a:latin typeface="Calibri"/>
              </a:rPr>
              <a:t>●  </a:t>
            </a:r>
            <a:r>
              <a:rPr sz="1500" b="0">
                <a:solidFill>
                  <a:srgbClr val="1F2937"/>
                </a:solidFill>
                <a:latin typeface="Calibri"/>
              </a:rPr>
              <a:t>Tug‘ruq shishi, mekoniy</a:t>
            </a:r>
          </a:p>
          <a:p>
            <a:pPr algn="l">
              <a:spcAft>
                <a:spcPts val="700"/>
              </a:spcAft>
            </a:pPr>
            <a:r>
              <a:rPr sz="1500" b="1">
                <a:solidFill>
                  <a:srgbClr val="C9A227"/>
                </a:solidFill>
                <a:latin typeface="Calibri"/>
              </a:rPr>
              <a:t>●  </a:t>
            </a:r>
            <a:r>
              <a:rPr sz="1500" b="0">
                <a:solidFill>
                  <a:srgbClr val="1F2937"/>
                </a:solidFill>
                <a:latin typeface="Calibri"/>
              </a:rPr>
              <a:t>2-kunda ham topilishi mumkin</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Mutloq va nisbiy belgilar</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258-259, 259, 257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yangi tug‘ilganlik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tekshirish.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Tezkor savol: qaysi uch belgi mutloq? Javob: birlamchi atelektaz, demarkatsion halqaning yo‘qligi yoki dastlabki belgisi, ajratilmagan kindik.</a:t>
            </a:r>
          </a:p>
          <a:p>
            <a:pPr>
              <a:spcAft>
                <a:spcPts val="1200"/>
              </a:spcAft>
            </a:pPr>
            <a:r>
              <a:rPr sz="2200">
                <a:solidFill>
                  <a:srgbClr val="1F2937"/>
                </a:solidFill>
                <a:latin typeface="Calibri"/>
              </a:rPr>
              <a:t>▸  Tezkor savol: mekoniy qachon to‘liq chiqadi? Javob: odatda 1-2 kunda, norasolarda 3-4 kungacha cho‘ziladi.</a:t>
            </a:r>
          </a:p>
          <a:p>
            <a:pPr>
              <a:spcAft>
                <a:spcPts val="1200"/>
              </a:spcAft>
            </a:pPr>
            <a:r>
              <a:rPr sz="2200">
                <a:solidFill>
                  <a:srgbClr val="1F2937"/>
                </a:solidFill>
                <a:latin typeface="Calibri"/>
              </a:rPr>
              <a:t>▸  Tezkor savol: tug‘ruq shishi va kefalogematoma qachon so‘riladi? Javob: shish 2-3 kunda, kefalogematoma 2 hafta va undan ortiq muddatda.</a:t>
            </a:r>
          </a:p>
          <a:p>
            <a:pPr>
              <a:spcAft>
                <a:spcPts val="1200"/>
              </a:spcAft>
            </a:pPr>
            <a:r>
              <a:rPr sz="2200">
                <a:solidFill>
                  <a:srgbClr val="1F2937"/>
                </a:solidFill>
                <a:latin typeface="Calibri"/>
              </a:rPr>
              <a:t>▸  Eslab qoling: “O‘-D-K” — O‘pka atelektazi, Demarkatsion halqa, Kindik. Bu o‘quv uchun tuzilgan qisqa eslatma.</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258-259, 257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yangi tug‘ilganlik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tekshirish.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topilgan go‘dak tanasida oqimtir-kulrang mo‘msimon qoplama, orqa chiqaruv teshigi atrofida mekoniy bor.</a:t>
            </a:r>
          </a:p>
          <a:p>
            <a:pPr>
              <a:spcAft>
                <a:spcPts val="1200"/>
              </a:spcAft>
            </a:pPr>
            <a:r>
              <a:rPr sz="2200">
                <a:solidFill>
                  <a:srgbClr val="1F2937"/>
                </a:solidFill>
                <a:latin typeface="Calibri"/>
              </a:rPr>
              <a:t>▸  Kindik tana va yo‘ldoshdan ajratilmagan, kesilmagan holatda.</a:t>
            </a:r>
          </a:p>
          <a:p>
            <a:pPr>
              <a:spcAft>
                <a:spcPts val="1200"/>
              </a:spcAft>
            </a:pPr>
            <a:r>
              <a:rPr sz="2200">
                <a:solidFill>
                  <a:srgbClr val="1F2937"/>
                </a:solidFill>
                <a:latin typeface="Calibri"/>
              </a:rPr>
              <a:t>▸  Savol: qaysi belgi mutloq ishonchli? Javob: ajratilmagan kindik. Qoplama va mekoniy nisbiy belgilardir.</a:t>
            </a:r>
          </a:p>
          <a:p>
            <a:pPr>
              <a:spcAft>
                <a:spcPts val="1200"/>
              </a:spcAft>
            </a:pPr>
            <a:r>
              <a:rPr sz="2200">
                <a:solidFill>
                  <a:srgbClr val="1F2937"/>
                </a:solidFill>
                <a:latin typeface="Calibri"/>
              </a:rPr>
              <a:t>▸  Qoplama yuvilmagan tanada bir haftagacha turadi, shuning uchun yangi tug‘ilganlikni faqat u bilan isbotlab bo‘lmaydi.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257, 258-259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Tirik tug‘ilganlik mezonlari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tekshirish.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JSST mezonlari: go‘dakda ona organizmidan tashqarida nafas olish, yurak urishi, kindik pulsatsiyasi yoki ixtiyoriy harakat bo‘lishi.</a:t>
            </a:r>
          </a:p>
          <a:p>
            <a:pPr>
              <a:spcAft>
                <a:spcPts val="1200"/>
              </a:spcAft>
            </a:pPr>
            <a:r>
              <a:rPr sz="2200">
                <a:solidFill>
                  <a:srgbClr val="1F2937"/>
                </a:solidFill>
                <a:latin typeface="Calibri"/>
              </a:rPr>
              <a:t>▸  Sud tibbiyotida yurak urishi, kindik pulsatsiyasi va ixtiyoriy harakatni o‘limdan keyin aniqlash usullari hozircha ishlab chiqilmagan.</a:t>
            </a:r>
          </a:p>
          <a:p>
            <a:pPr>
              <a:spcAft>
                <a:spcPts val="1200"/>
              </a:spcAft>
            </a:pPr>
            <a:r>
              <a:rPr sz="2200">
                <a:solidFill>
                  <a:srgbClr val="1F2937"/>
                </a:solidFill>
                <a:latin typeface="Calibri"/>
              </a:rPr>
              <a:t>▸  Shu sababli tirik tug‘ilganlik masalasi asosan go‘dak nafas olgan yoki olmaganini aniqlash orqali hal etiladi.</a:t>
            </a:r>
          </a:p>
          <a:p>
            <a:pPr>
              <a:spcAft>
                <a:spcPts val="1200"/>
              </a:spcAft>
            </a:pPr>
            <a:r>
              <a:rPr sz="2200">
                <a:solidFill>
                  <a:srgbClr val="1F2937"/>
                </a:solidFill>
                <a:latin typeface="Calibri"/>
              </a:rPr>
              <a:t>▸  Tirik tug‘ilganlik turli sinamalar, makroskopik, mikroskopik va laboratoriya tekshiruvlari natijalariga qarab aniqlanadi.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O‘pka sinamasi: bosqichlar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tekshirish.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Sinamani 1681-yilda I. Shreer ilk bor qo‘llagan. Nafas olmagan o‘pka suvdan og‘ir: solishtirma og‘irligi 1,05–1,06.</a:t>
            </a:r>
          </a:p>
          <a:p>
            <a:pPr>
              <a:spcAft>
                <a:spcPts val="800"/>
              </a:spcAft>
            </a:pPr>
            <a:r>
              <a:rPr sz="1800">
                <a:solidFill>
                  <a:srgbClr val="1F2937"/>
                </a:solidFill>
                <a:latin typeface="Calibri"/>
              </a:rPr>
              <a:t>▸  Nafas olgan o‘pkada havo hisobiga solishtirma og‘irlik kamayib, 1,0 dan past bo‘ladi.</a:t>
            </a:r>
          </a:p>
          <a:p>
            <a:pPr>
              <a:spcAft>
                <a:spcPts val="800"/>
              </a:spcAft>
            </a:pPr>
            <a:r>
              <a:rPr sz="1800">
                <a:solidFill>
                  <a:srgbClr val="1F2937"/>
                </a:solidFill>
                <a:latin typeface="Calibri"/>
              </a:rPr>
              <a:t>▸  Avval traxeya va qizilo‘ngachga ligaturalar qo‘yiladi; musbat natija olingan bosqichda sinama to‘xtatiladi.</a:t>
            </a:r>
          </a:p>
        </p:txBody>
      </p:sp>
      <p:sp>
        <p:nvSpPr>
          <p:cNvPr id="9" name="Rounded Rectangle 8"/>
          <p:cNvSpPr/>
          <p:nvPr/>
        </p:nvSpPr>
        <p:spPr>
          <a:xfrm>
            <a:off x="5440680"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Ligatura</a:t>
            </a:r>
          </a:p>
          <a:p>
            <a:pPr algn="l">
              <a:spcAft>
                <a:spcPts val="200"/>
              </a:spcAft>
            </a:pPr>
            <a:r>
              <a:rPr sz="1400" b="0">
                <a:solidFill>
                  <a:srgbClr val="1F2937"/>
                </a:solidFill>
                <a:latin typeface="Calibri"/>
              </a:rPr>
              <a:t>Traxeya va qizilo‘ngachga</a:t>
            </a:r>
          </a:p>
        </p:txBody>
      </p:sp>
      <p:sp>
        <p:nvSpPr>
          <p:cNvPr id="12" name="Rounded Rectangle 11"/>
          <p:cNvSpPr/>
          <p:nvPr/>
        </p:nvSpPr>
        <p:spPr>
          <a:xfrm>
            <a:off x="8578443"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Kompleks</a:t>
            </a:r>
          </a:p>
          <a:p>
            <a:pPr algn="l">
              <a:spcAft>
                <a:spcPts val="200"/>
              </a:spcAft>
            </a:pPr>
            <a:r>
              <a:rPr sz="1400" b="0">
                <a:solidFill>
                  <a:srgbClr val="1F2937"/>
                </a:solidFill>
                <a:latin typeface="Calibri"/>
              </a:rPr>
              <a:t>Suvli idishga solinadi</a:t>
            </a:r>
          </a:p>
        </p:txBody>
      </p:sp>
      <p:sp>
        <p:nvSpPr>
          <p:cNvPr id="15" name="Rounded Rectangle 14"/>
          <p:cNvSpPr/>
          <p:nvPr/>
        </p:nvSpPr>
        <p:spPr>
          <a:xfrm>
            <a:off x="5440680"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Alohida o‘pkalar</a:t>
            </a:r>
          </a:p>
          <a:p>
            <a:pPr algn="l">
              <a:spcAft>
                <a:spcPts val="200"/>
              </a:spcAft>
            </a:pPr>
            <a:r>
              <a:rPr sz="1400" b="0">
                <a:solidFill>
                  <a:srgbClr val="1F2937"/>
                </a:solidFill>
                <a:latin typeface="Calibri"/>
              </a:rPr>
              <a:t>Suvda cho‘ksa — manfiy</a:t>
            </a:r>
          </a:p>
        </p:txBody>
      </p:sp>
      <p:sp>
        <p:nvSpPr>
          <p:cNvPr id="18" name="Rounded Rectangle 17"/>
          <p:cNvSpPr/>
          <p:nvPr/>
        </p:nvSpPr>
        <p:spPr>
          <a:xfrm>
            <a:off x="8578443"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Bo‘laklar</a:t>
            </a:r>
          </a:p>
          <a:p>
            <a:pPr algn="l">
              <a:spcAft>
                <a:spcPts val="200"/>
              </a:spcAft>
            </a:pPr>
            <a:r>
              <a:rPr sz="1400" b="0">
                <a:solidFill>
                  <a:srgbClr val="1F2937"/>
                </a:solidFill>
                <a:latin typeface="Calibri"/>
              </a:rPr>
              <a:t>Bo‘lak va bo‘lakchalar sinaladi</a:t>
            </a:r>
          </a:p>
        </p:txBody>
      </p:sp>
      <p:sp>
        <p:nvSpPr>
          <p:cNvPr id="21" name="Rounded Rectangle 20"/>
          <p:cNvSpPr/>
          <p:nvPr/>
        </p:nvSpPr>
        <p:spPr>
          <a:xfrm>
            <a:off x="5440680" y="4184904"/>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5</a:t>
            </a:r>
          </a:p>
        </p:txBody>
      </p:sp>
      <p:sp>
        <p:nvSpPr>
          <p:cNvPr id="23" name="TextBox 22"/>
          <p:cNvSpPr txBox="1"/>
          <p:nvPr/>
        </p:nvSpPr>
        <p:spPr>
          <a:xfrm>
            <a:off x="6080760" y="4184904"/>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Musbat</a:t>
            </a:r>
          </a:p>
          <a:p>
            <a:pPr algn="l">
              <a:spcAft>
                <a:spcPts val="200"/>
              </a:spcAft>
            </a:pPr>
            <a:r>
              <a:rPr sz="1400" b="0">
                <a:solidFill>
                  <a:srgbClr val="1F2937"/>
                </a:solidFill>
                <a:latin typeface="Calibri"/>
              </a:rPr>
              <a:t>Suzsa — sinama tugaydi</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Galen–Rauger–Shreer sinamasi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O‘pka sinamasidagi soxta natijalar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tekshirish.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43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Chirish gazidan qalqigan bo‘lakchalar suv ostida qo‘lda siqilsa, qayta suzib chiqmaydi.</a:t>
            </a:r>
          </a:p>
          <a:p>
            <a:pPr>
              <a:spcAft>
                <a:spcPts val="800"/>
              </a:spcAft>
            </a:pPr>
            <a:r>
              <a:rPr sz="1800">
                <a:solidFill>
                  <a:srgbClr val="1F2937"/>
                </a:solidFill>
                <a:latin typeface="Calibri"/>
              </a:rPr>
              <a:t>▸  Soxta manfiyda Taranuxin (1907) usuli yoki Traxtenberg (1958) modifikatsiyasi qo‘llanadi.</a:t>
            </a:r>
          </a:p>
          <a:p>
            <a:pPr>
              <a:spcAft>
                <a:spcPts val="800"/>
              </a:spcAft>
            </a:pPr>
            <a:r>
              <a:rPr sz="1800">
                <a:solidFill>
                  <a:srgbClr val="1F2937"/>
                </a:solidFill>
                <a:latin typeface="Calibri"/>
              </a:rPr>
              <a:t>▸  Diqqat: o‘pkaning suzishi har doim nafas olganini bildirmaydi; soxta natijalarni istisno qiling.</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510850"/>
                <a:gridCol w="1208680"/>
                <a:gridCol w="2568445"/>
              </a:tblGrid>
              <a:tr h="614476">
                <a:tc>
                  <a:txBody>
                    <a:bodyPr/>
                    <a:lstStyle/>
                    <a:p>
                      <a:r>
                        <a:rPr sz="1600" b="1">
                          <a:solidFill>
                            <a:srgbClr val="FFFFFF"/>
                          </a:solidFill>
                        </a:rPr>
                        <a:t>Holat</a:t>
                      </a:r>
                    </a:p>
                  </a:txBody>
                  <a:tcPr marL="73152" marR="73152" marT="36576" marB="36576">
                    <a:solidFill>
                      <a:srgbClr val="0B1F3A"/>
                    </a:solidFill>
                  </a:tcPr>
                </a:tc>
                <a:tc>
                  <a:txBody>
                    <a:bodyPr/>
                    <a:lstStyle/>
                    <a:p>
                      <a:r>
                        <a:rPr sz="1600" b="1">
                          <a:solidFill>
                            <a:srgbClr val="FFFFFF"/>
                          </a:solidFill>
                        </a:rPr>
                        <a:t>Natija</a:t>
                      </a:r>
                    </a:p>
                  </a:txBody>
                  <a:tcPr marL="73152" marR="73152" marT="36576" marB="36576">
                    <a:solidFill>
                      <a:srgbClr val="0B1F3A"/>
                    </a:solidFill>
                  </a:tcPr>
                </a:tc>
                <a:tc>
                  <a:txBody>
                    <a:bodyPr/>
                    <a:lstStyle/>
                    <a:p>
                      <a:r>
                        <a:rPr sz="1600" b="1">
                          <a:solidFill>
                            <a:srgbClr val="FFFFFF"/>
                          </a:solidFill>
                        </a:rPr>
                        <a:t>Izoh</a:t>
                      </a:r>
                    </a:p>
                  </a:txBody>
                  <a:tcPr marL="73152" marR="73152" marT="36576" marB="36576">
                    <a:solidFill>
                      <a:srgbClr val="0B1F3A"/>
                    </a:solidFill>
                  </a:tcPr>
                </a:tc>
              </a:tr>
              <a:tr h="614476">
                <a:tc>
                  <a:txBody>
                    <a:bodyPr/>
                    <a:lstStyle/>
                    <a:p>
                      <a:r>
                        <a:rPr sz="1500" b="0">
                          <a:solidFill>
                            <a:srgbClr val="1F2937"/>
                          </a:solidFill>
                        </a:rPr>
                        <a:t>Chirish</a:t>
                      </a:r>
                    </a:p>
                  </a:txBody>
                  <a:tcPr marL="73152" marR="73152" marT="36576" marB="36576">
                    <a:solidFill>
                      <a:srgbClr val="E8EEF6"/>
                    </a:solidFill>
                  </a:tcPr>
                </a:tc>
                <a:tc>
                  <a:txBody>
                    <a:bodyPr/>
                    <a:lstStyle/>
                    <a:p>
                      <a:r>
                        <a:rPr sz="1500" b="0">
                          <a:solidFill>
                            <a:srgbClr val="1F2937"/>
                          </a:solidFill>
                        </a:rPr>
                        <a:t>Soxta musbat</a:t>
                      </a:r>
                    </a:p>
                  </a:txBody>
                  <a:tcPr marL="73152" marR="73152" marT="36576" marB="36576">
                    <a:solidFill>
                      <a:srgbClr val="E8EEF6"/>
                    </a:solidFill>
                  </a:tcPr>
                </a:tc>
                <a:tc>
                  <a:txBody>
                    <a:bodyPr/>
                    <a:lstStyle/>
                    <a:p>
                      <a:r>
                        <a:rPr sz="1500" b="0">
                          <a:solidFill>
                            <a:srgbClr val="1F2937"/>
                          </a:solidFill>
                        </a:rPr>
                        <a:t>Chirish gazlari o‘pkani qalqitadi</a:t>
                      </a:r>
                    </a:p>
                  </a:txBody>
                  <a:tcPr marL="73152" marR="73152" marT="36576" marB="36576">
                    <a:solidFill>
                      <a:srgbClr val="E8EEF6"/>
                    </a:solidFill>
                  </a:tcPr>
                </a:tc>
              </a:tr>
              <a:tr h="614476">
                <a:tc>
                  <a:txBody>
                    <a:bodyPr/>
                    <a:lstStyle/>
                    <a:p>
                      <a:r>
                        <a:rPr sz="1500" b="0">
                          <a:solidFill>
                            <a:srgbClr val="1F2937"/>
                          </a:solidFill>
                        </a:rPr>
                        <a:t>Sun’iy nafas</a:t>
                      </a:r>
                    </a:p>
                  </a:txBody>
                  <a:tcPr marL="73152" marR="73152" marT="36576" marB="36576">
                    <a:solidFill>
                      <a:srgbClr val="FFFFFF"/>
                    </a:solidFill>
                  </a:tcPr>
                </a:tc>
                <a:tc>
                  <a:txBody>
                    <a:bodyPr/>
                    <a:lstStyle/>
                    <a:p>
                      <a:r>
                        <a:rPr sz="1500" b="0">
                          <a:solidFill>
                            <a:srgbClr val="1F2937"/>
                          </a:solidFill>
                        </a:rPr>
                        <a:t>Soxta musbat</a:t>
                      </a:r>
                    </a:p>
                  </a:txBody>
                  <a:tcPr marL="73152" marR="73152" marT="36576" marB="36576">
                    <a:solidFill>
                      <a:srgbClr val="FFFFFF"/>
                    </a:solidFill>
                  </a:tcPr>
                </a:tc>
                <a:tc>
                  <a:txBody>
                    <a:bodyPr/>
                    <a:lstStyle/>
                    <a:p>
                      <a:r>
                        <a:rPr sz="1500" b="0">
                          <a:solidFill>
                            <a:srgbClr val="1F2937"/>
                          </a:solidFill>
                        </a:rPr>
                        <a:t>Bo‘lakchalar suvda bir xil emas</a:t>
                      </a:r>
                    </a:p>
                  </a:txBody>
                  <a:tcPr marL="73152" marR="73152" marT="36576" marB="36576">
                    <a:solidFill>
                      <a:srgbClr val="FFFFFF"/>
                    </a:solidFill>
                  </a:tcPr>
                </a:tc>
              </a:tr>
              <a:tr h="614476">
                <a:tc>
                  <a:txBody>
                    <a:bodyPr/>
                    <a:lstStyle/>
                    <a:p>
                      <a:r>
                        <a:rPr sz="1500" b="0">
                          <a:solidFill>
                            <a:srgbClr val="1F2937"/>
                          </a:solidFill>
                        </a:rPr>
                        <a:t>Muzlash</a:t>
                      </a:r>
                    </a:p>
                  </a:txBody>
                  <a:tcPr marL="73152" marR="73152" marT="36576" marB="36576">
                    <a:solidFill>
                      <a:srgbClr val="E8EEF6"/>
                    </a:solidFill>
                  </a:tcPr>
                </a:tc>
                <a:tc>
                  <a:txBody>
                    <a:bodyPr/>
                    <a:lstStyle/>
                    <a:p>
                      <a:r>
                        <a:rPr sz="1500" b="0">
                          <a:solidFill>
                            <a:srgbClr val="1F2937"/>
                          </a:solidFill>
                        </a:rPr>
                        <a:t>Soxta musbat</a:t>
                      </a:r>
                    </a:p>
                  </a:txBody>
                  <a:tcPr marL="73152" marR="73152" marT="36576" marB="36576">
                    <a:solidFill>
                      <a:srgbClr val="E8EEF6"/>
                    </a:solidFill>
                  </a:tcPr>
                </a:tc>
                <a:tc>
                  <a:txBody>
                    <a:bodyPr/>
                    <a:lstStyle/>
                    <a:p>
                      <a:r>
                        <a:rPr sz="1500" b="0">
                          <a:solidFill>
                            <a:srgbClr val="1F2937"/>
                          </a:solidFill>
                        </a:rPr>
                        <a:t>Erimagan o‘pkada; erisa cho‘kadi</a:t>
                      </a:r>
                    </a:p>
                  </a:txBody>
                  <a:tcPr marL="73152" marR="73152" marT="36576" marB="36576">
                    <a:solidFill>
                      <a:srgbClr val="E8EEF6"/>
                    </a:solidFill>
                  </a:tcPr>
                </a:tc>
              </a:tr>
              <a:tr h="614476">
                <a:tc>
                  <a:txBody>
                    <a:bodyPr/>
                    <a:lstStyle/>
                    <a:p>
                      <a:r>
                        <a:rPr sz="1500" b="0">
                          <a:solidFill>
                            <a:srgbClr val="1F2937"/>
                          </a:solidFill>
                        </a:rPr>
                        <a:t>Ikkilamchi atelektaz</a:t>
                      </a:r>
                    </a:p>
                  </a:txBody>
                  <a:tcPr marL="73152" marR="73152" marT="36576" marB="36576">
                    <a:solidFill>
                      <a:srgbClr val="FFFFFF"/>
                    </a:solidFill>
                  </a:tcPr>
                </a:tc>
                <a:tc>
                  <a:txBody>
                    <a:bodyPr/>
                    <a:lstStyle/>
                    <a:p>
                      <a:r>
                        <a:rPr sz="1500" b="0">
                          <a:solidFill>
                            <a:srgbClr val="1F2937"/>
                          </a:solidFill>
                        </a:rPr>
                        <a:t>Soxta manfiy</a:t>
                      </a:r>
                    </a:p>
                  </a:txBody>
                  <a:tcPr marL="73152" marR="73152" marT="36576" marB="36576">
                    <a:solidFill>
                      <a:srgbClr val="FFFFFF"/>
                    </a:solidFill>
                  </a:tcPr>
                </a:tc>
                <a:tc>
                  <a:txBody>
                    <a:bodyPr/>
                    <a:lstStyle/>
                    <a:p>
                      <a:r>
                        <a:rPr sz="1500" b="0">
                          <a:solidFill>
                            <a:srgbClr val="1F2937"/>
                          </a:solidFill>
                        </a:rPr>
                        <a:t>Avval nafas olgan, keyin atelektaz</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Soxta musbat va soxta manfiy</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Ikkilamchi atelektaz: Taranuxin usuli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tekshirish.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Ikkilamchi atelektazda nafas olgan o‘pka yallig‘lanish yoki yo‘llar yopilishi tufayli atelektazga uchraydi. Oddiy o‘pka sinamasi soxta manfiy bo‘lishi mumkin.</a:t>
            </a:r>
          </a:p>
          <a:p>
            <a:pPr>
              <a:spcAft>
                <a:spcPts val="1200"/>
              </a:spcAft>
            </a:pPr>
            <a:r>
              <a:rPr sz="2200">
                <a:solidFill>
                  <a:srgbClr val="1F2937"/>
                </a:solidFill>
                <a:latin typeface="Calibri"/>
              </a:rPr>
              <a:t>▸  Bunday holatda Taranuxin usuli (1907) yoki uning Traxtenberg modifikatsiyasi (1958) tavsiya etiladi.</a:t>
            </a:r>
          </a:p>
          <a:p>
            <a:pPr>
              <a:spcAft>
                <a:spcPts val="1200"/>
              </a:spcAft>
            </a:pPr>
            <a:r>
              <a:rPr sz="2200">
                <a:solidFill>
                  <a:srgbClr val="1F2937"/>
                </a:solidFill>
                <a:latin typeface="Calibri"/>
              </a:rPr>
              <a:t>▸  O‘pka bo‘lakchasi suvli kolbaga solinadi, so‘ng havo tortib olinib, kolbada past bosim yaratiladi.</a:t>
            </a:r>
          </a:p>
          <a:p>
            <a:pPr>
              <a:spcAft>
                <a:spcPts val="1200"/>
              </a:spcAft>
            </a:pPr>
            <a:r>
              <a:rPr sz="2200">
                <a:solidFill>
                  <a:srgbClr val="1F2937"/>
                </a:solidFill>
                <a:latin typeface="Calibri"/>
              </a:rPr>
              <a:t>▸  Odatdagi bosimda cho‘kkan bo‘lakcha past bosimda suv yuziga qalqib chiqsa, unda qolgan havo bor. Bu ikkilamchi atelektazni bildiradi.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Oshqozon-ichak va rentgenologik sinamalar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tekshirish.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Breslau sinamasi (1865) nafas olganda havoning bir qismi qizilo‘ngach orqali oshqozon va ichaklarga o‘tishiga asoslangan.</a:t>
            </a:r>
          </a:p>
          <a:p>
            <a:pPr>
              <a:spcAft>
                <a:spcPts val="1200"/>
              </a:spcAft>
            </a:pPr>
            <a:r>
              <a:rPr sz="2200">
                <a:solidFill>
                  <a:srgbClr val="1F2937"/>
                </a:solidFill>
                <a:latin typeface="Calibri"/>
              </a:rPr>
              <a:t>▸  Oshqozon va ichaklarga ligatura qo‘yilib, suvli idishga solinadi. Havoli joylar suzib chiqadi, teshilganda havo pufakchalari ko‘rinadi.</a:t>
            </a:r>
          </a:p>
          <a:p>
            <a:pPr>
              <a:spcAft>
                <a:spcPts val="1200"/>
              </a:spcAft>
            </a:pPr>
            <a:r>
              <a:rPr sz="2200">
                <a:solidFill>
                  <a:srgbClr val="1F2937"/>
                </a:solidFill>
                <a:latin typeface="Calibri"/>
              </a:rPr>
              <a:t>▸  Chirigan murdada (chirish gazlari) va o‘pka sun’iy ventilyatsiya qilinganda sinama soxta musbat beradi, shuning uchun tavsiya etilmaydi.</a:t>
            </a:r>
          </a:p>
          <a:p>
            <a:pPr>
              <a:spcAft>
                <a:spcPts val="1200"/>
              </a:spcAft>
            </a:pPr>
            <a:r>
              <a:rPr sz="2200">
                <a:solidFill>
                  <a:srgbClr val="1F2937"/>
                </a:solidFill>
                <a:latin typeface="Calibri"/>
              </a:rPr>
              <a:t>▸  Rentgen sinamasi (Dillon, 1939) nafas olgan o‘pkani sun’iy ventilyatsiya va chirish gazlaridan ajrata olmaydi. Maxsus jihoz kerak, hozir qo‘llanilmaydi.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Makroskopik belgilar: tirik va o‘lik tug‘ilgan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tekshirish.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Nafas olgan o‘pka ko‘krak qafasini deyarli to‘ldiradi, elastik, yuzasi notekis bo‘ladi.</a:t>
            </a:r>
          </a:p>
          <a:p>
            <a:pPr>
              <a:spcAft>
                <a:spcPts val="800"/>
              </a:spcAft>
            </a:pPr>
            <a:r>
              <a:rPr sz="1800">
                <a:solidFill>
                  <a:srgbClr val="1F2937"/>
                </a:solidFill>
                <a:latin typeface="Calibri"/>
              </a:rPr>
              <a:t>▸  Nafas olmagan o‘pka kichik hajmli, zichroq, umurtqa pog‘onasiga yaqin, yuzasi nisbatan tekis.</a:t>
            </a:r>
          </a:p>
          <a:p>
            <a:pPr>
              <a:spcAft>
                <a:spcPts val="800"/>
              </a:spcAft>
            </a:pPr>
            <a:r>
              <a:rPr sz="1800">
                <a:solidFill>
                  <a:srgbClr val="1F2937"/>
                </a:solidFill>
                <a:latin typeface="Calibri"/>
              </a:rPr>
              <a:t>▸  Siqilganda nafas olgan o‘pkadan ko‘pikli qon, nafas olmaganidan esa ozroq qon ajraladi.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Tirik tug‘ilgan</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Ko‘krak qafasi bochkasimon</a:t>
            </a:r>
          </a:p>
          <a:p>
            <a:pPr algn="l">
              <a:spcAft>
                <a:spcPts val="700"/>
              </a:spcAft>
            </a:pPr>
            <a:r>
              <a:rPr sz="1500" b="1">
                <a:solidFill>
                  <a:srgbClr val="C9A227"/>
                </a:solidFill>
                <a:latin typeface="Calibri"/>
              </a:rPr>
              <a:t>●  </a:t>
            </a:r>
            <a:r>
              <a:rPr sz="1500" b="0">
                <a:solidFill>
                  <a:srgbClr val="1F2937"/>
                </a:solidFill>
                <a:latin typeface="Calibri"/>
              </a:rPr>
              <a:t>Diafragma VI-VII qobirg‘a sathida</a:t>
            </a:r>
          </a:p>
          <a:p>
            <a:pPr algn="l">
              <a:spcAft>
                <a:spcPts val="700"/>
              </a:spcAft>
            </a:pPr>
            <a:r>
              <a:rPr sz="1500" b="1">
                <a:solidFill>
                  <a:srgbClr val="C9A227"/>
                </a:solidFill>
                <a:latin typeface="Calibri"/>
              </a:rPr>
              <a:t>●  </a:t>
            </a:r>
            <a:r>
              <a:rPr sz="1500" b="0">
                <a:solidFill>
                  <a:srgbClr val="1F2937"/>
                </a:solidFill>
                <a:latin typeface="Calibri"/>
              </a:rPr>
              <a:t>Marmarsimon o‘pka</a:t>
            </a:r>
          </a:p>
          <a:p>
            <a:pPr algn="l">
              <a:spcAft>
                <a:spcPts val="700"/>
              </a:spcAft>
            </a:pPr>
            <a:r>
              <a:rPr sz="1500" b="1">
                <a:solidFill>
                  <a:srgbClr val="C9A227"/>
                </a:solidFill>
                <a:latin typeface="Calibri"/>
              </a:rPr>
              <a:t>●  </a:t>
            </a:r>
            <a:r>
              <a:rPr sz="1500" b="0">
                <a:solidFill>
                  <a:srgbClr val="1F2937"/>
                </a:solidFill>
                <a:latin typeface="Calibri"/>
              </a:rPr>
              <a:t>O‘pka vazni 85-90 g</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O‘lik tug‘ilgan</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Ko‘krak qafasi yassi</a:t>
            </a:r>
          </a:p>
          <a:p>
            <a:pPr algn="l">
              <a:spcAft>
                <a:spcPts val="700"/>
              </a:spcAft>
            </a:pPr>
            <a:r>
              <a:rPr sz="1500" b="1">
                <a:solidFill>
                  <a:srgbClr val="C9A227"/>
                </a:solidFill>
                <a:latin typeface="Calibri"/>
              </a:rPr>
              <a:t>●  </a:t>
            </a:r>
            <a:r>
              <a:rPr sz="1500" b="0">
                <a:solidFill>
                  <a:srgbClr val="1F2937"/>
                </a:solidFill>
                <a:latin typeface="Calibri"/>
              </a:rPr>
              <a:t>Diafragma IV-V qobirg‘a sathida</a:t>
            </a:r>
          </a:p>
          <a:p>
            <a:pPr algn="l">
              <a:spcAft>
                <a:spcPts val="700"/>
              </a:spcAft>
            </a:pPr>
            <a:r>
              <a:rPr sz="1500" b="1">
                <a:solidFill>
                  <a:srgbClr val="C9A227"/>
                </a:solidFill>
                <a:latin typeface="Calibri"/>
              </a:rPr>
              <a:t>●  </a:t>
            </a:r>
            <a:r>
              <a:rPr sz="1500" b="0">
                <a:solidFill>
                  <a:srgbClr val="1F2937"/>
                </a:solidFill>
                <a:latin typeface="Calibri"/>
              </a:rPr>
              <a:t>Bir xil ko‘kimtir-to‘q qizil</a:t>
            </a:r>
          </a:p>
          <a:p>
            <a:pPr algn="l">
              <a:spcAft>
                <a:spcPts val="700"/>
              </a:spcAft>
            </a:pPr>
            <a:r>
              <a:rPr sz="1500" b="1">
                <a:solidFill>
                  <a:srgbClr val="C9A227"/>
                </a:solidFill>
                <a:latin typeface="Calibri"/>
              </a:rPr>
              <a:t>●  </a:t>
            </a:r>
            <a:r>
              <a:rPr sz="1500" b="0">
                <a:solidFill>
                  <a:srgbClr val="1F2937"/>
                </a:solidFill>
                <a:latin typeface="Calibri"/>
              </a:rPr>
              <a:t>O‘pka vazni 55-60 g</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Tirik va o‘lik tug‘ilgan</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Mikroskopik belgilar va gialin membranalar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tekshirish.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Elastik tolalar nafas olmagan o‘pkada tutamsimon, nafas olgan o‘pkada muntazam tartibda joylashadi.</a:t>
            </a:r>
          </a:p>
          <a:p>
            <a:pPr>
              <a:spcAft>
                <a:spcPts val="800"/>
              </a:spcAft>
            </a:pPr>
            <a:r>
              <a:rPr sz="1800">
                <a:solidFill>
                  <a:srgbClr val="1F2937"/>
                </a:solidFill>
                <a:latin typeface="Calibri"/>
              </a:rPr>
              <a:t>▸  Gialin membranalar qondagi oqsillardan (albumin, globulin, fibrin) iborat. Nafas olmagan o‘pkada bo‘lmaydi.</a:t>
            </a:r>
          </a:p>
          <a:p>
            <a:pPr>
              <a:spcAft>
                <a:spcPts val="800"/>
              </a:spcAft>
            </a:pPr>
            <a:r>
              <a:rPr sz="1800">
                <a:solidFill>
                  <a:srgbClr val="1F2937"/>
                </a:solidFill>
                <a:latin typeface="Calibri"/>
              </a:rPr>
              <a:t>▸  O‘lik tug‘ilganlarda o‘pka arteriyalari ichida “kurtaksimon”, “yostiqsimon” bo‘rtiqlar bo‘ladi.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Nafas olmagan o‘pka</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Alveolalar yoyilmagan</a:t>
            </a:r>
          </a:p>
          <a:p>
            <a:pPr algn="l">
              <a:spcAft>
                <a:spcPts val="700"/>
              </a:spcAft>
            </a:pPr>
            <a:r>
              <a:rPr sz="1500" b="1">
                <a:solidFill>
                  <a:srgbClr val="C9A227"/>
                </a:solidFill>
                <a:latin typeface="Calibri"/>
              </a:rPr>
              <a:t>●  </a:t>
            </a:r>
            <a:r>
              <a:rPr sz="1500" b="0">
                <a:solidFill>
                  <a:srgbClr val="1F2937"/>
                </a:solidFill>
                <a:latin typeface="Calibri"/>
              </a:rPr>
              <a:t>Epiteliy kubsimon</a:t>
            </a:r>
          </a:p>
          <a:p>
            <a:pPr algn="l">
              <a:spcAft>
                <a:spcPts val="700"/>
              </a:spcAft>
            </a:pPr>
            <a:r>
              <a:rPr sz="1500" b="1">
                <a:solidFill>
                  <a:srgbClr val="C9A227"/>
                </a:solidFill>
                <a:latin typeface="Calibri"/>
              </a:rPr>
              <a:t>●  </a:t>
            </a:r>
            <a:r>
              <a:rPr sz="1500" b="0">
                <a:solidFill>
                  <a:srgbClr val="1F2937"/>
                </a:solidFill>
                <a:latin typeface="Calibri"/>
              </a:rPr>
              <a:t>To‘siq qalin</a:t>
            </a:r>
          </a:p>
          <a:p>
            <a:pPr algn="l">
              <a:spcAft>
                <a:spcPts val="700"/>
              </a:spcAft>
            </a:pPr>
            <a:r>
              <a:rPr sz="1500" b="1">
                <a:solidFill>
                  <a:srgbClr val="C9A227"/>
                </a:solidFill>
                <a:latin typeface="Calibri"/>
              </a:rPr>
              <a:t>●  </a:t>
            </a:r>
            <a:r>
              <a:rPr sz="1500" b="0">
                <a:solidFill>
                  <a:srgbClr val="1F2937"/>
                </a:solidFill>
                <a:latin typeface="Calibri"/>
              </a:rPr>
              <a:t>Kapillyarlarda qon yo‘q</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Nafas olgan o‘pka</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Alveolalar yoyilgan</a:t>
            </a:r>
          </a:p>
          <a:p>
            <a:pPr algn="l">
              <a:spcAft>
                <a:spcPts val="700"/>
              </a:spcAft>
            </a:pPr>
            <a:r>
              <a:rPr sz="1500" b="1">
                <a:solidFill>
                  <a:srgbClr val="C9A227"/>
                </a:solidFill>
                <a:latin typeface="Calibri"/>
              </a:rPr>
              <a:t>●  </a:t>
            </a:r>
            <a:r>
              <a:rPr sz="1500" b="0">
                <a:solidFill>
                  <a:srgbClr val="1F2937"/>
                </a:solidFill>
                <a:latin typeface="Calibri"/>
              </a:rPr>
              <a:t>Epiteliy yassi</a:t>
            </a:r>
          </a:p>
          <a:p>
            <a:pPr algn="l">
              <a:spcAft>
                <a:spcPts val="700"/>
              </a:spcAft>
            </a:pPr>
            <a:r>
              <a:rPr sz="1500" b="1">
                <a:solidFill>
                  <a:srgbClr val="C9A227"/>
                </a:solidFill>
                <a:latin typeface="Calibri"/>
              </a:rPr>
              <a:t>●  </a:t>
            </a:r>
            <a:r>
              <a:rPr sz="1500" b="0">
                <a:solidFill>
                  <a:srgbClr val="1F2937"/>
                </a:solidFill>
                <a:latin typeface="Calibri"/>
              </a:rPr>
              <a:t>To‘siq ingichkalashgan</a:t>
            </a:r>
          </a:p>
          <a:p>
            <a:pPr algn="l">
              <a:spcAft>
                <a:spcPts val="700"/>
              </a:spcAft>
            </a:pPr>
            <a:r>
              <a:rPr sz="1500" b="1">
                <a:solidFill>
                  <a:srgbClr val="C9A227"/>
                </a:solidFill>
                <a:latin typeface="Calibri"/>
              </a:rPr>
              <a:t>●  </a:t>
            </a:r>
            <a:r>
              <a:rPr sz="1500" b="0">
                <a:solidFill>
                  <a:srgbClr val="1F2937"/>
                </a:solidFill>
                <a:latin typeface="Calibri"/>
              </a:rPr>
              <a:t>Kapillyarlar to‘laqon</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O‘pka mikroskopiyasi</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tirik tug‘ilganlik sinamalari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tekshirish.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o‘pka sinamasini sud tibbiyotida kim va qachon birinchi qo‘llagan? Javob: I. Shreer, 1681 yilda.</a:t>
            </a:r>
          </a:p>
          <a:p>
            <a:pPr>
              <a:spcAft>
                <a:spcPts val="1200"/>
              </a:spcAft>
            </a:pPr>
            <a:r>
              <a:rPr sz="2200">
                <a:solidFill>
                  <a:srgbClr val="1F2937"/>
                </a:solidFill>
                <a:latin typeface="Calibri"/>
              </a:rPr>
              <a:t>▸  Savol: oshqozon-ichak sinamasi kimning nomi bilan bog‘liq? Javob: V. Breslau, 1865 yil.</a:t>
            </a:r>
          </a:p>
          <a:p>
            <a:pPr>
              <a:spcAft>
                <a:spcPts val="1200"/>
              </a:spcAft>
            </a:pPr>
            <a:r>
              <a:rPr sz="2200">
                <a:solidFill>
                  <a:srgbClr val="1F2937"/>
                </a:solidFill>
                <a:latin typeface="Calibri"/>
              </a:rPr>
              <a:t>▸  Savol: o‘pka sinamasi qachon soxta musbat beradi? Javob: chirishda, sun’iy nafas oldirilganda, yomon erigan muzlagan o‘pkada.</a:t>
            </a:r>
          </a:p>
          <a:p>
            <a:pPr>
              <a:spcAft>
                <a:spcPts val="1200"/>
              </a:spcAft>
            </a:pPr>
            <a:r>
              <a:rPr sz="2200">
                <a:solidFill>
                  <a:srgbClr val="1F2937"/>
                </a:solidFill>
                <a:latin typeface="Calibri"/>
              </a:rPr>
              <a:t>▸  Savol: soxta manfiy natija qachon? Javob: ikkilamchi atelektazda; Taranuxin usuli (1907) qo‘llanadi.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259, 260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tirik tug‘ilganlikni aniqlash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tekshirish.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go‘dak murdasi chirigan, o‘pka-kompleks suv yuzasiga suzib chiqdi. Tirik tug‘ilgan deb xulosa qilish mumkinmi?</a:t>
            </a:r>
          </a:p>
          <a:p>
            <a:pPr>
              <a:spcAft>
                <a:spcPts val="1200"/>
              </a:spcAft>
            </a:pPr>
            <a:r>
              <a:rPr sz="2200">
                <a:solidFill>
                  <a:srgbClr val="1F2937"/>
                </a:solidFill>
                <a:latin typeface="Calibri"/>
              </a:rPr>
              <a:t>▸  Chirish gazlari soxta musbat beradi. Bo‘laklar suv ostida qo‘lda siqilganda qayta suzib chiqmasa, sabab chirish gazidir.</a:t>
            </a:r>
          </a:p>
          <a:p>
            <a:pPr>
              <a:spcAft>
                <a:spcPts val="1200"/>
              </a:spcAft>
            </a:pPr>
            <a:r>
              <a:rPr sz="2200">
                <a:solidFill>
                  <a:srgbClr val="1F2937"/>
                </a:solidFill>
                <a:latin typeface="Calibri"/>
              </a:rPr>
              <a:t>▸  Chirishda oshqozon-ichak sinamasi ham soxta musbat beradi, shuning uchun tavsiya etilmaydi.</a:t>
            </a:r>
          </a:p>
          <a:p>
            <a:pPr>
              <a:spcAft>
                <a:spcPts val="1200"/>
              </a:spcAft>
            </a:pPr>
            <a:r>
              <a:rPr sz="2200">
                <a:solidFill>
                  <a:srgbClr val="1F2937"/>
                </a:solidFill>
                <a:latin typeface="Calibri"/>
              </a:rPr>
              <a:t>▸  Qo‘shimcha: mikroskopiyada alveolalar yoyilganligi, epiteliy yassiligi baholanadi. Suzishning o‘zi xulosa uchun yetarli emas.</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259, 260, 261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Rasolik va yetuklik tushunchalari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tekshirish.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Rasolik – homiladorlik o‘rtacha 10 homila oyi yoki 280 kun davom etganini ko‘rsatuvchi belgilar majmui.</a:t>
            </a:r>
          </a:p>
          <a:p>
            <a:pPr>
              <a:spcAft>
                <a:spcPts val="800"/>
              </a:spcAft>
            </a:pPr>
            <a:r>
              <a:rPr sz="1600">
                <a:solidFill>
                  <a:srgbClr val="1F2937"/>
                </a:solidFill>
                <a:latin typeface="Calibri"/>
              </a:rPr>
              <a:t>▸  Jahon sog‘liqni saqlash tashkiloti (JSST) bo‘yicha 37–42 haftada tug‘ish o‘z muddatida hisoblanadi. Shu muddatda tug‘ilgan go‘dak raso deyiladi.</a:t>
            </a:r>
          </a:p>
          <a:p>
            <a:pPr>
              <a:spcAft>
                <a:spcPts val="800"/>
              </a:spcAft>
            </a:pPr>
            <a:r>
              <a:rPr sz="1600">
                <a:solidFill>
                  <a:srgbClr val="1F2937"/>
                </a:solidFill>
                <a:latin typeface="Calibri"/>
              </a:rPr>
              <a:t>▸  Raso go‘dakning tana uzunligi o‘rtacha 50–54 sm, vazni 3000–3500 g bo‘ladi.</a:t>
            </a:r>
          </a:p>
          <a:p>
            <a:pPr>
              <a:spcAft>
                <a:spcPts val="800"/>
              </a:spcAft>
            </a:pPr>
            <a:r>
              <a:rPr sz="1600">
                <a:solidFill>
                  <a:srgbClr val="1F2937"/>
                </a:solidFill>
                <a:latin typeface="Calibri"/>
              </a:rPr>
              <a:t>▸  Diqqat: rasolik ≠ yetuklik. Yetuklik – ona tanasidan tashqarida yashashga yetarli rivojlanish: uzunligi 45 sm dan kam emas, vazni 2500 g dan kam emas.</a:t>
            </a:r>
          </a:p>
        </p:txBody>
      </p:sp>
      <p:sp>
        <p:nvSpPr>
          <p:cNvPr id="9" name="Rounded Rectangle 8"/>
          <p:cNvSpPr/>
          <p:nvPr/>
        </p:nvSpPr>
        <p:spPr>
          <a:xfrm>
            <a:off x="5440680"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Homiladorlik</a:t>
            </a:r>
          </a:p>
          <a:p>
            <a:pPr algn="l">
              <a:spcAft>
                <a:spcPts val="100"/>
              </a:spcAft>
            </a:pPr>
            <a:r>
              <a:rPr sz="3000" b="1">
                <a:solidFill>
                  <a:srgbClr val="0B1F3A"/>
                </a:solidFill>
                <a:latin typeface="Calibri"/>
              </a:rPr>
              <a:t>280</a:t>
            </a:r>
            <a:r>
              <a:rPr sz="1500" b="0">
                <a:solidFill>
                  <a:srgbClr val="6B7280"/>
                </a:solidFill>
                <a:latin typeface="Calibri"/>
              </a:rPr>
              <a:t>  kun</a:t>
            </a:r>
          </a:p>
        </p:txBody>
      </p:sp>
      <p:sp>
        <p:nvSpPr>
          <p:cNvPr id="12" name="Rounded Rectangle 11"/>
          <p:cNvSpPr/>
          <p:nvPr/>
        </p:nvSpPr>
        <p:spPr>
          <a:xfrm>
            <a:off x="8578443"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O‘z muddatida tug‘ish</a:t>
            </a:r>
          </a:p>
          <a:p>
            <a:pPr algn="l">
              <a:spcAft>
                <a:spcPts val="100"/>
              </a:spcAft>
            </a:pPr>
            <a:r>
              <a:rPr sz="3000" b="1">
                <a:solidFill>
                  <a:srgbClr val="0B1F3A"/>
                </a:solidFill>
                <a:latin typeface="Calibri"/>
              </a:rPr>
              <a:t>37-42</a:t>
            </a:r>
            <a:r>
              <a:rPr sz="1500" b="0">
                <a:solidFill>
                  <a:srgbClr val="6B7280"/>
                </a:solidFill>
                <a:latin typeface="Calibri"/>
              </a:rPr>
              <a:t>  hafta</a:t>
            </a:r>
          </a:p>
        </p:txBody>
      </p:sp>
      <p:sp>
        <p:nvSpPr>
          <p:cNvPr id="15" name="Rounded Rectangle 14"/>
          <p:cNvSpPr/>
          <p:nvPr/>
        </p:nvSpPr>
        <p:spPr>
          <a:xfrm>
            <a:off x="5440680"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Raso: tana uzunligi</a:t>
            </a:r>
          </a:p>
          <a:p>
            <a:pPr algn="l">
              <a:spcAft>
                <a:spcPts val="100"/>
              </a:spcAft>
            </a:pPr>
            <a:r>
              <a:rPr sz="3000" b="1">
                <a:solidFill>
                  <a:srgbClr val="0B1F3A"/>
                </a:solidFill>
                <a:latin typeface="Calibri"/>
              </a:rPr>
              <a:t>50-54</a:t>
            </a:r>
            <a:r>
              <a:rPr sz="1500" b="0">
                <a:solidFill>
                  <a:srgbClr val="6B7280"/>
                </a:solidFill>
                <a:latin typeface="Calibri"/>
              </a:rPr>
              <a:t>  sm</a:t>
            </a:r>
          </a:p>
        </p:txBody>
      </p:sp>
      <p:sp>
        <p:nvSpPr>
          <p:cNvPr id="18" name="Rounded Rectangle 17"/>
          <p:cNvSpPr/>
          <p:nvPr/>
        </p:nvSpPr>
        <p:spPr>
          <a:xfrm>
            <a:off x="8578443"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Raso: vazni</a:t>
            </a:r>
          </a:p>
          <a:p>
            <a:pPr algn="l">
              <a:spcAft>
                <a:spcPts val="100"/>
              </a:spcAft>
            </a:pPr>
            <a:r>
              <a:rPr sz="3000" b="1">
                <a:solidFill>
                  <a:srgbClr val="0B1F3A"/>
                </a:solidFill>
                <a:latin typeface="Calibri"/>
              </a:rPr>
              <a:t>3000-3500</a:t>
            </a:r>
            <a:r>
              <a:rPr sz="1500" b="0">
                <a:solidFill>
                  <a:srgbClr val="6B7280"/>
                </a:solidFill>
                <a:latin typeface="Calibri"/>
              </a:rPr>
              <a:t>  g</a:t>
            </a:r>
          </a:p>
        </p:txBody>
      </p:sp>
      <p:sp>
        <p:nvSpPr>
          <p:cNvPr id="21" name="Rounded Rectangle 20"/>
          <p:cNvSpPr/>
          <p:nvPr/>
        </p:nvSpPr>
        <p:spPr>
          <a:xfrm>
            <a:off x="5440680" y="4197096"/>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40680" y="4288536"/>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50408" y="4197096"/>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Yetuk: uzunlik</a:t>
            </a:r>
          </a:p>
          <a:p>
            <a:pPr algn="l">
              <a:spcAft>
                <a:spcPts val="100"/>
              </a:spcAft>
            </a:pPr>
            <a:r>
              <a:rPr sz="3000" b="1">
                <a:solidFill>
                  <a:srgbClr val="0B1F3A"/>
                </a:solidFill>
                <a:latin typeface="Calibri"/>
              </a:rPr>
              <a:t>45+</a:t>
            </a:r>
            <a:r>
              <a:rPr sz="1500" b="0">
                <a:solidFill>
                  <a:srgbClr val="6B7280"/>
                </a:solidFill>
                <a:latin typeface="Calibri"/>
              </a:rPr>
              <a:t>  sm</a:t>
            </a:r>
          </a:p>
        </p:txBody>
      </p:sp>
      <p:sp>
        <p:nvSpPr>
          <p:cNvPr id="24" name="Rounded Rectangle 23"/>
          <p:cNvSpPr/>
          <p:nvPr/>
        </p:nvSpPr>
        <p:spPr>
          <a:xfrm>
            <a:off x="8578443" y="4197096"/>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578443" y="4288536"/>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8171" y="4197096"/>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Yetuk: vazn</a:t>
            </a:r>
          </a:p>
          <a:p>
            <a:pPr algn="l">
              <a:spcAft>
                <a:spcPts val="100"/>
              </a:spcAft>
            </a:pPr>
            <a:r>
              <a:rPr sz="3000" b="1">
                <a:solidFill>
                  <a:srgbClr val="0B1F3A"/>
                </a:solidFill>
                <a:latin typeface="Calibri"/>
              </a:rPr>
              <a:t>2500+</a:t>
            </a:r>
            <a:r>
              <a:rPr sz="1500" b="0">
                <a:solidFill>
                  <a:srgbClr val="6B7280"/>
                </a:solidFill>
                <a:latin typeface="Calibri"/>
              </a:rPr>
              <a:t>  g</a:t>
            </a:r>
          </a:p>
        </p:txBody>
      </p:sp>
      <p:sp>
        <p:nvSpPr>
          <p:cNvPr id="27" name="TextBox 26"/>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Rasolik va yetuklik</a:t>
            </a:r>
          </a:p>
        </p:txBody>
      </p:sp>
      <p:sp>
        <p:nvSpPr>
          <p:cNvPr id="28" name="TextBox 27"/>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261, 261–262, 262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Gestatsion yoshni formulalar bilan hisoblash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tekshirish.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43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Gaaze formulasi gestatsion yoshni homila oylarida beradi. Birinchi va ikkinchi yarimda hisob usuli har xil.</a:t>
            </a:r>
          </a:p>
          <a:p>
            <a:pPr>
              <a:spcAft>
                <a:spcPts val="800"/>
              </a:spcAft>
            </a:pPr>
            <a:r>
              <a:rPr sz="1800">
                <a:solidFill>
                  <a:srgbClr val="1F2937"/>
                </a:solidFill>
                <a:latin typeface="Calibri"/>
              </a:rPr>
              <a:t>▸  Baltazar-Derve indeksi 5,6 ga teng. Uni tana uzunligiga ko‘paytirsak, yosh kunlarda chiqadi.</a:t>
            </a:r>
          </a:p>
          <a:p>
            <a:pPr>
              <a:spcAft>
                <a:spcPts val="800"/>
              </a:spcAft>
            </a:pPr>
            <a:r>
              <a:rPr sz="1800">
                <a:solidFill>
                  <a:srgbClr val="1F2937"/>
                </a:solidFill>
                <a:latin typeface="Calibri"/>
              </a:rPr>
              <a:t>▸  I. Yakupov (1981) usulida homila boshining aylana uzunligi 3,4 ga bo‘linadi.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927859"/>
                <a:gridCol w="1979372"/>
                <a:gridCol w="1380743"/>
              </a:tblGrid>
              <a:tr h="614476">
                <a:tc>
                  <a:txBody>
                    <a:bodyPr/>
                    <a:lstStyle/>
                    <a:p>
                      <a:r>
                        <a:rPr sz="1600" b="1">
                          <a:solidFill>
                            <a:srgbClr val="FFFFFF"/>
                          </a:solidFill>
                        </a:rPr>
                        <a:t>Usul</a:t>
                      </a:r>
                    </a:p>
                  </a:txBody>
                  <a:tcPr marL="73152" marR="73152" marT="36576" marB="36576">
                    <a:solidFill>
                      <a:srgbClr val="0B1F3A"/>
                    </a:solidFill>
                  </a:tcPr>
                </a:tc>
                <a:tc>
                  <a:txBody>
                    <a:bodyPr/>
                    <a:lstStyle/>
                    <a:p>
                      <a:r>
                        <a:rPr sz="1600" b="1">
                          <a:solidFill>
                            <a:srgbClr val="FFFFFF"/>
                          </a:solidFill>
                        </a:rPr>
                        <a:t>Hisob</a:t>
                      </a:r>
                    </a:p>
                  </a:txBody>
                  <a:tcPr marL="73152" marR="73152" marT="36576" marB="36576">
                    <a:solidFill>
                      <a:srgbClr val="0B1F3A"/>
                    </a:solidFill>
                  </a:tcPr>
                </a:tc>
                <a:tc>
                  <a:txBody>
                    <a:bodyPr/>
                    <a:lstStyle/>
                    <a:p>
                      <a:r>
                        <a:rPr sz="1600" b="1">
                          <a:solidFill>
                            <a:srgbClr val="FFFFFF"/>
                          </a:solidFill>
                        </a:rPr>
                        <a:t>Misol</a:t>
                      </a:r>
                    </a:p>
                  </a:txBody>
                  <a:tcPr marL="73152" marR="73152" marT="36576" marB="36576">
                    <a:solidFill>
                      <a:srgbClr val="0B1F3A"/>
                    </a:solidFill>
                  </a:tcPr>
                </a:tc>
              </a:tr>
              <a:tr h="614476">
                <a:tc>
                  <a:txBody>
                    <a:bodyPr/>
                    <a:lstStyle/>
                    <a:p>
                      <a:r>
                        <a:rPr sz="1500" b="0">
                          <a:solidFill>
                            <a:srgbClr val="1F2937"/>
                          </a:solidFill>
                        </a:rPr>
                        <a:t>Gaaze (1-yarim)</a:t>
                      </a:r>
                    </a:p>
                  </a:txBody>
                  <a:tcPr marL="73152" marR="73152" marT="36576" marB="36576">
                    <a:solidFill>
                      <a:srgbClr val="E8EEF6"/>
                    </a:solidFill>
                  </a:tcPr>
                </a:tc>
                <a:tc>
                  <a:txBody>
                    <a:bodyPr/>
                    <a:lstStyle/>
                    <a:p>
                      <a:r>
                        <a:rPr sz="1500" b="0">
                          <a:solidFill>
                            <a:srgbClr val="1F2937"/>
                          </a:solidFill>
                        </a:rPr>
                        <a:t>tana uzunligidan kvadrat ildiz</a:t>
                      </a:r>
                    </a:p>
                  </a:txBody>
                  <a:tcPr marL="73152" marR="73152" marT="36576" marB="36576">
                    <a:solidFill>
                      <a:srgbClr val="E8EEF6"/>
                    </a:solidFill>
                  </a:tcPr>
                </a:tc>
                <a:tc>
                  <a:txBody>
                    <a:bodyPr/>
                    <a:lstStyle/>
                    <a:p>
                      <a:r>
                        <a:rPr sz="1500" b="0">
                          <a:solidFill>
                            <a:srgbClr val="1F2937"/>
                          </a:solidFill>
                        </a:rPr>
                        <a:t>16 sm → 4 homila oyi</a:t>
                      </a:r>
                    </a:p>
                  </a:txBody>
                  <a:tcPr marL="73152" marR="73152" marT="36576" marB="36576">
                    <a:solidFill>
                      <a:srgbClr val="E8EEF6"/>
                    </a:solidFill>
                  </a:tcPr>
                </a:tc>
              </a:tr>
              <a:tr h="614476">
                <a:tc>
                  <a:txBody>
                    <a:bodyPr/>
                    <a:lstStyle/>
                    <a:p>
                      <a:r>
                        <a:rPr sz="1500" b="0">
                          <a:solidFill>
                            <a:srgbClr val="1F2937"/>
                          </a:solidFill>
                        </a:rPr>
                        <a:t>Gaaze (2-yarim)</a:t>
                      </a:r>
                    </a:p>
                  </a:txBody>
                  <a:tcPr marL="73152" marR="73152" marT="36576" marB="36576">
                    <a:solidFill>
                      <a:srgbClr val="FFFFFF"/>
                    </a:solidFill>
                  </a:tcPr>
                </a:tc>
                <a:tc>
                  <a:txBody>
                    <a:bodyPr/>
                    <a:lstStyle/>
                    <a:p>
                      <a:r>
                        <a:rPr sz="1500" b="0">
                          <a:solidFill>
                            <a:srgbClr val="1F2937"/>
                          </a:solidFill>
                        </a:rPr>
                        <a:t>tana uzunligi ÷ 5</a:t>
                      </a:r>
                    </a:p>
                  </a:txBody>
                  <a:tcPr marL="73152" marR="73152" marT="36576" marB="36576">
                    <a:solidFill>
                      <a:srgbClr val="FFFFFF"/>
                    </a:solidFill>
                  </a:tcPr>
                </a:tc>
                <a:tc>
                  <a:txBody>
                    <a:bodyPr/>
                    <a:lstStyle/>
                    <a:p>
                      <a:r>
                        <a:rPr sz="1500" b="0">
                          <a:solidFill>
                            <a:srgbClr val="1F2937"/>
                          </a:solidFill>
                        </a:rPr>
                        <a:t>40 sm → 8 homila oyi</a:t>
                      </a:r>
                    </a:p>
                  </a:txBody>
                  <a:tcPr marL="73152" marR="73152" marT="36576" marB="36576">
                    <a:solidFill>
                      <a:srgbClr val="FFFFFF"/>
                    </a:solidFill>
                  </a:tcPr>
                </a:tc>
              </a:tr>
              <a:tr h="614476">
                <a:tc>
                  <a:txBody>
                    <a:bodyPr/>
                    <a:lstStyle/>
                    <a:p>
                      <a:r>
                        <a:rPr sz="1500" b="0">
                          <a:solidFill>
                            <a:srgbClr val="1F2937"/>
                          </a:solidFill>
                        </a:rPr>
                        <a:t>Baltazar-Derve</a:t>
                      </a:r>
                    </a:p>
                  </a:txBody>
                  <a:tcPr marL="73152" marR="73152" marT="36576" marB="36576">
                    <a:solidFill>
                      <a:srgbClr val="E8EEF6"/>
                    </a:solidFill>
                  </a:tcPr>
                </a:tc>
                <a:tc>
                  <a:txBody>
                    <a:bodyPr/>
                    <a:lstStyle/>
                    <a:p>
                      <a:r>
                        <a:rPr sz="1500" b="0">
                          <a:solidFill>
                            <a:srgbClr val="1F2937"/>
                          </a:solidFill>
                        </a:rPr>
                        <a:t>tana uzunligi × 5,6 (kun)</a:t>
                      </a:r>
                    </a:p>
                  </a:txBody>
                  <a:tcPr marL="73152" marR="73152" marT="36576" marB="36576">
                    <a:solidFill>
                      <a:srgbClr val="E8EEF6"/>
                    </a:solidFill>
                  </a:tcPr>
                </a:tc>
                <a:tc>
                  <a:txBody>
                    <a:bodyPr/>
                    <a:lstStyle/>
                    <a:p>
                      <a:r>
                        <a:rPr sz="1500" b="0">
                          <a:solidFill>
                            <a:srgbClr val="1F2937"/>
                          </a:solidFill>
                        </a:rPr>
                        <a:t>40 sm → 224 kun (8 oy)</a:t>
                      </a:r>
                    </a:p>
                  </a:txBody>
                  <a:tcPr marL="73152" marR="73152" marT="36576" marB="36576">
                    <a:solidFill>
                      <a:srgbClr val="E8EEF6"/>
                    </a:solidFill>
                  </a:tcPr>
                </a:tc>
              </a:tr>
              <a:tr h="614476">
                <a:tc>
                  <a:txBody>
                    <a:bodyPr/>
                    <a:lstStyle/>
                    <a:p>
                      <a:r>
                        <a:rPr sz="1500" b="0">
                          <a:solidFill>
                            <a:srgbClr val="1F2937"/>
                          </a:solidFill>
                        </a:rPr>
                        <a:t>Yakupov</a:t>
                      </a:r>
                    </a:p>
                  </a:txBody>
                  <a:tcPr marL="73152" marR="73152" marT="36576" marB="36576">
                    <a:solidFill>
                      <a:srgbClr val="FFFFFF"/>
                    </a:solidFill>
                  </a:tcPr>
                </a:tc>
                <a:tc>
                  <a:txBody>
                    <a:bodyPr/>
                    <a:lstStyle/>
                    <a:p>
                      <a:r>
                        <a:rPr sz="1500" b="0">
                          <a:solidFill>
                            <a:srgbClr val="1F2937"/>
                          </a:solidFill>
                        </a:rPr>
                        <a:t>bosh aylanasi ÷ 3,4</a:t>
                      </a:r>
                    </a:p>
                  </a:txBody>
                  <a:tcPr marL="73152" marR="73152" marT="36576" marB="36576">
                    <a:solidFill>
                      <a:srgbClr val="FFFFFF"/>
                    </a:solidFill>
                  </a:tcPr>
                </a:tc>
                <a:tc>
                  <a:txBody>
                    <a:bodyPr/>
                    <a:lstStyle/>
                    <a:p>
                      <a:r>
                        <a:rPr sz="1500" b="0">
                          <a:solidFill>
                            <a:srgbClr val="1F2937"/>
                          </a:solidFill>
                        </a:rPr>
                        <a:t>34 sm → 10 homila oyi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Hisoblash misollari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Kindik va yo‘ldosh bo‘yicha gestatsion yosh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tekshirish.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43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Gestatsion yoshni kindik uzunligi va yo‘ldosh massasi bo‘yicha ham aniqlash mumkin (jadval 10.1).</a:t>
            </a:r>
          </a:p>
          <a:p>
            <a:pPr>
              <a:spcAft>
                <a:spcPts val="800"/>
              </a:spcAft>
            </a:pPr>
            <a:r>
              <a:rPr sz="1800">
                <a:solidFill>
                  <a:srgbClr val="1F2937"/>
                </a:solidFill>
                <a:latin typeface="Calibri"/>
              </a:rPr>
              <a:t>▸  Jadvalda ko‘rsatilmagan IX oy: kindik 47 sm, yo‘ldosh massasi 470 g.</a:t>
            </a:r>
          </a:p>
          <a:p>
            <a:pPr>
              <a:spcAft>
                <a:spcPts val="800"/>
              </a:spcAft>
            </a:pPr>
            <a:r>
              <a:rPr sz="1800">
                <a:solidFill>
                  <a:srgbClr val="1F2937"/>
                </a:solidFill>
                <a:latin typeface="Calibri"/>
              </a:rPr>
              <a:t>▸  Shu sababli ekspertizada murda bilan birga taqdim etilgan yo‘ldosh va kindik ham sinchiklab tekshiriladi.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658972"/>
                <a:gridCol w="1762658"/>
                <a:gridCol w="1866344"/>
              </a:tblGrid>
              <a:tr h="614476">
                <a:tc>
                  <a:txBody>
                    <a:bodyPr/>
                    <a:lstStyle/>
                    <a:p>
                      <a:r>
                        <a:rPr sz="1600" b="1">
                          <a:solidFill>
                            <a:srgbClr val="FFFFFF"/>
                          </a:solidFill>
                        </a:rPr>
                        <a:t>Homila oyi</a:t>
                      </a:r>
                    </a:p>
                  </a:txBody>
                  <a:tcPr marL="73152" marR="73152" marT="36576" marB="36576">
                    <a:solidFill>
                      <a:srgbClr val="0B1F3A"/>
                    </a:solidFill>
                  </a:tcPr>
                </a:tc>
                <a:tc>
                  <a:txBody>
                    <a:bodyPr/>
                    <a:lstStyle/>
                    <a:p>
                      <a:r>
                        <a:rPr sz="1600" b="1">
                          <a:solidFill>
                            <a:srgbClr val="FFFFFF"/>
                          </a:solidFill>
                        </a:rPr>
                        <a:t>Kindik (sm)</a:t>
                      </a:r>
                    </a:p>
                  </a:txBody>
                  <a:tcPr marL="73152" marR="73152" marT="36576" marB="36576">
                    <a:solidFill>
                      <a:srgbClr val="0B1F3A"/>
                    </a:solidFill>
                  </a:tcPr>
                </a:tc>
                <a:tc>
                  <a:txBody>
                    <a:bodyPr/>
                    <a:lstStyle/>
                    <a:p>
                      <a:r>
                        <a:rPr sz="1600" b="1">
                          <a:solidFill>
                            <a:srgbClr val="FFFFFF"/>
                          </a:solidFill>
                        </a:rPr>
                        <a:t>Yo‘ldosh (g)</a:t>
                      </a:r>
                    </a:p>
                  </a:txBody>
                  <a:tcPr marL="73152" marR="73152" marT="36576" marB="36576">
                    <a:solidFill>
                      <a:srgbClr val="0B1F3A"/>
                    </a:solidFill>
                  </a:tcPr>
                </a:tc>
              </a:tr>
              <a:tr h="614476">
                <a:tc>
                  <a:txBody>
                    <a:bodyPr/>
                    <a:lstStyle/>
                    <a:p>
                      <a:r>
                        <a:rPr sz="1500" b="0">
                          <a:solidFill>
                            <a:srgbClr val="1F2937"/>
                          </a:solidFill>
                        </a:rPr>
                        <a:t>VI</a:t>
                      </a:r>
                    </a:p>
                  </a:txBody>
                  <a:tcPr marL="73152" marR="73152" marT="36576" marB="36576">
                    <a:solidFill>
                      <a:srgbClr val="E8EEF6"/>
                    </a:solidFill>
                  </a:tcPr>
                </a:tc>
                <a:tc>
                  <a:txBody>
                    <a:bodyPr/>
                    <a:lstStyle/>
                    <a:p>
                      <a:r>
                        <a:rPr sz="1500" b="0">
                          <a:solidFill>
                            <a:srgbClr val="1F2937"/>
                          </a:solidFill>
                        </a:rPr>
                        <a:t>38</a:t>
                      </a:r>
                    </a:p>
                  </a:txBody>
                  <a:tcPr marL="73152" marR="73152" marT="36576" marB="36576">
                    <a:solidFill>
                      <a:srgbClr val="E8EEF6"/>
                    </a:solidFill>
                  </a:tcPr>
                </a:tc>
                <a:tc>
                  <a:txBody>
                    <a:bodyPr/>
                    <a:lstStyle/>
                    <a:p>
                      <a:r>
                        <a:rPr sz="1500" b="0">
                          <a:solidFill>
                            <a:srgbClr val="1F2937"/>
                          </a:solidFill>
                        </a:rPr>
                        <a:t>250</a:t>
                      </a:r>
                    </a:p>
                  </a:txBody>
                  <a:tcPr marL="73152" marR="73152" marT="36576" marB="36576">
                    <a:solidFill>
                      <a:srgbClr val="E8EEF6"/>
                    </a:solidFill>
                  </a:tcPr>
                </a:tc>
              </a:tr>
              <a:tr h="614476">
                <a:tc>
                  <a:txBody>
                    <a:bodyPr/>
                    <a:lstStyle/>
                    <a:p>
                      <a:r>
                        <a:rPr sz="1500" b="0">
                          <a:solidFill>
                            <a:srgbClr val="1F2937"/>
                          </a:solidFill>
                        </a:rPr>
                        <a:t>VII</a:t>
                      </a:r>
                    </a:p>
                  </a:txBody>
                  <a:tcPr marL="73152" marR="73152" marT="36576" marB="36576">
                    <a:solidFill>
                      <a:srgbClr val="FFFFFF"/>
                    </a:solidFill>
                  </a:tcPr>
                </a:tc>
                <a:tc>
                  <a:txBody>
                    <a:bodyPr/>
                    <a:lstStyle/>
                    <a:p>
                      <a:r>
                        <a:rPr sz="1500" b="0">
                          <a:solidFill>
                            <a:srgbClr val="1F2937"/>
                          </a:solidFill>
                        </a:rPr>
                        <a:t>42</a:t>
                      </a:r>
                    </a:p>
                  </a:txBody>
                  <a:tcPr marL="73152" marR="73152" marT="36576" marB="36576">
                    <a:solidFill>
                      <a:srgbClr val="FFFFFF"/>
                    </a:solidFill>
                  </a:tcPr>
                </a:tc>
                <a:tc>
                  <a:txBody>
                    <a:bodyPr/>
                    <a:lstStyle/>
                    <a:p>
                      <a:r>
                        <a:rPr sz="1500" b="0">
                          <a:solidFill>
                            <a:srgbClr val="1F2937"/>
                          </a:solidFill>
                        </a:rPr>
                        <a:t>340</a:t>
                      </a:r>
                    </a:p>
                  </a:txBody>
                  <a:tcPr marL="73152" marR="73152" marT="36576" marB="36576">
                    <a:solidFill>
                      <a:srgbClr val="FFFFFF"/>
                    </a:solidFill>
                  </a:tcPr>
                </a:tc>
              </a:tr>
              <a:tr h="614476">
                <a:tc>
                  <a:txBody>
                    <a:bodyPr/>
                    <a:lstStyle/>
                    <a:p>
                      <a:r>
                        <a:rPr sz="1500" b="0">
                          <a:solidFill>
                            <a:srgbClr val="1F2937"/>
                          </a:solidFill>
                        </a:rPr>
                        <a:t>VIII</a:t>
                      </a:r>
                    </a:p>
                  </a:txBody>
                  <a:tcPr marL="73152" marR="73152" marT="36576" marB="36576">
                    <a:solidFill>
                      <a:srgbClr val="E8EEF6"/>
                    </a:solidFill>
                  </a:tcPr>
                </a:tc>
                <a:tc>
                  <a:txBody>
                    <a:bodyPr/>
                    <a:lstStyle/>
                    <a:p>
                      <a:r>
                        <a:rPr sz="1500" b="0">
                          <a:solidFill>
                            <a:srgbClr val="1F2937"/>
                          </a:solidFill>
                        </a:rPr>
                        <a:t>46</a:t>
                      </a:r>
                    </a:p>
                  </a:txBody>
                  <a:tcPr marL="73152" marR="73152" marT="36576" marB="36576">
                    <a:solidFill>
                      <a:srgbClr val="E8EEF6"/>
                    </a:solidFill>
                  </a:tcPr>
                </a:tc>
                <a:tc>
                  <a:txBody>
                    <a:bodyPr/>
                    <a:lstStyle/>
                    <a:p>
                      <a:r>
                        <a:rPr sz="1500" b="0">
                          <a:solidFill>
                            <a:srgbClr val="1F2937"/>
                          </a:solidFill>
                        </a:rPr>
                        <a:t>410</a:t>
                      </a:r>
                    </a:p>
                  </a:txBody>
                  <a:tcPr marL="73152" marR="73152" marT="36576" marB="36576">
                    <a:solidFill>
                      <a:srgbClr val="E8EEF6"/>
                    </a:solidFill>
                  </a:tcPr>
                </a:tc>
              </a:tr>
              <a:tr h="614476">
                <a:tc>
                  <a:txBody>
                    <a:bodyPr/>
                    <a:lstStyle/>
                    <a:p>
                      <a:r>
                        <a:rPr sz="1500" b="0">
                          <a:solidFill>
                            <a:srgbClr val="1F2937"/>
                          </a:solidFill>
                        </a:rPr>
                        <a:t>X</a:t>
                      </a:r>
                    </a:p>
                  </a:txBody>
                  <a:tcPr marL="73152" marR="73152" marT="36576" marB="36576">
                    <a:solidFill>
                      <a:srgbClr val="FFFFFF"/>
                    </a:solidFill>
                  </a:tcPr>
                </a:tc>
                <a:tc>
                  <a:txBody>
                    <a:bodyPr/>
                    <a:lstStyle/>
                    <a:p>
                      <a:r>
                        <a:rPr sz="1500" b="0">
                          <a:solidFill>
                            <a:srgbClr val="1F2937"/>
                          </a:solidFill>
                        </a:rPr>
                        <a:t>50</a:t>
                      </a:r>
                    </a:p>
                  </a:txBody>
                  <a:tcPr marL="73152" marR="73152" marT="36576" marB="36576">
                    <a:solidFill>
                      <a:srgbClr val="FFFFFF"/>
                    </a:solidFill>
                  </a:tcPr>
                </a:tc>
                <a:tc>
                  <a:txBody>
                    <a:bodyPr/>
                    <a:lstStyle/>
                    <a:p>
                      <a:r>
                        <a:rPr sz="1500" b="0">
                          <a:solidFill>
                            <a:srgbClr val="1F2937"/>
                          </a:solidFill>
                        </a:rPr>
                        <a:t>500</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Jadval 10.1 (qisqartirilgan)</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262, 266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Suyaklanish o‘zaklari va yutish refleksi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tekshirish.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Gestatsion yoshni aniqlashda suyaklardagi suyaklanish o‘zaklari tekshiriladi: son, tovon va g‘altaksimon suyak.</a:t>
            </a:r>
          </a:p>
          <a:p>
            <a:pPr>
              <a:spcAft>
                <a:spcPts val="800"/>
              </a:spcAft>
            </a:pPr>
            <a:r>
              <a:rPr sz="1800">
                <a:solidFill>
                  <a:srgbClr val="1F2937"/>
                </a:solidFill>
                <a:latin typeface="Calibri"/>
              </a:rPr>
              <a:t>▸  Homiladorlikdagi kasalliklar, chekish, alkogol va narkotik o‘zaklarni kechiktiradi, ba’zan umuman paydo qilmaydi.</a:t>
            </a:r>
          </a:p>
          <a:p>
            <a:pPr>
              <a:spcAft>
                <a:spcPts val="800"/>
              </a:spcAft>
            </a:pPr>
            <a:r>
              <a:rPr sz="1800">
                <a:solidFill>
                  <a:srgbClr val="1F2937"/>
                </a:solidFill>
                <a:latin typeface="Calibri"/>
              </a:rPr>
              <a:t>▸  Yutish refleksi VIII oyda paydo bo‘ladi; mekoniydagi tuk sochlari — Shibkov–Markovin belgisi.</a:t>
            </a:r>
          </a:p>
        </p:txBody>
      </p:sp>
      <p:sp>
        <p:nvSpPr>
          <p:cNvPr id="9" name="Rounded Rectangle 8"/>
          <p:cNvSpPr/>
          <p:nvPr/>
        </p:nvSpPr>
        <p:spPr>
          <a:xfrm>
            <a:off x="5440680"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Tovon suyagi</a:t>
            </a:r>
          </a:p>
          <a:p>
            <a:pPr algn="l">
              <a:spcAft>
                <a:spcPts val="100"/>
              </a:spcAft>
            </a:pPr>
            <a:r>
              <a:rPr sz="2500" b="1">
                <a:solidFill>
                  <a:srgbClr val="0B1F3A"/>
                </a:solidFill>
                <a:latin typeface="Calibri"/>
              </a:rPr>
              <a:t>V oy</a:t>
            </a:r>
            <a:r>
              <a:rPr sz="1200" b="0">
                <a:solidFill>
                  <a:srgbClr val="6B7280"/>
                </a:solidFill>
                <a:latin typeface="Calibri"/>
              </a:rPr>
              <a:t>  0,8–1,1 sm</a:t>
            </a:r>
          </a:p>
        </p:txBody>
      </p:sp>
      <p:sp>
        <p:nvSpPr>
          <p:cNvPr id="12" name="Rounded Rectangle 11"/>
          <p:cNvSpPr/>
          <p:nvPr/>
        </p:nvSpPr>
        <p:spPr>
          <a:xfrm>
            <a:off x="8578443"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G‘altaksimon suyak</a:t>
            </a:r>
          </a:p>
          <a:p>
            <a:pPr algn="l">
              <a:spcAft>
                <a:spcPts val="100"/>
              </a:spcAft>
            </a:pPr>
            <a:r>
              <a:rPr sz="2300" b="1">
                <a:solidFill>
                  <a:srgbClr val="0B1F3A"/>
                </a:solidFill>
                <a:latin typeface="Calibri"/>
              </a:rPr>
              <a:t>VII oy</a:t>
            </a:r>
            <a:r>
              <a:rPr sz="1100" b="0">
                <a:solidFill>
                  <a:srgbClr val="6B7280"/>
                </a:solidFill>
                <a:latin typeface="Calibri"/>
              </a:rPr>
              <a:t>  0,7–1,0 sm</a:t>
            </a:r>
          </a:p>
        </p:txBody>
      </p:sp>
      <p:sp>
        <p:nvSpPr>
          <p:cNvPr id="15" name="Rounded Rectangle 14"/>
          <p:cNvSpPr/>
          <p:nvPr/>
        </p:nvSpPr>
        <p:spPr>
          <a:xfrm>
            <a:off x="5440680"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Son epifizi (Beklyar)</a:t>
            </a:r>
          </a:p>
          <a:p>
            <a:pPr algn="l">
              <a:spcAft>
                <a:spcPts val="100"/>
              </a:spcAft>
            </a:pPr>
            <a:r>
              <a:rPr sz="2300" b="1">
                <a:solidFill>
                  <a:srgbClr val="0B1F3A"/>
                </a:solidFill>
                <a:latin typeface="Calibri"/>
              </a:rPr>
              <a:t>IX oy</a:t>
            </a:r>
            <a:r>
              <a:rPr sz="1100" b="0">
                <a:solidFill>
                  <a:srgbClr val="6B7280"/>
                </a:solidFill>
                <a:latin typeface="Calibri"/>
              </a:rPr>
              <a:t>  0,5–0,7 sm</a:t>
            </a:r>
          </a:p>
        </p:txBody>
      </p:sp>
      <p:sp>
        <p:nvSpPr>
          <p:cNvPr id="18" name="Rounded Rectangle 17"/>
          <p:cNvSpPr/>
          <p:nvPr/>
        </p:nvSpPr>
        <p:spPr>
          <a:xfrm>
            <a:off x="8578443"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Yutish refleksi</a:t>
            </a:r>
          </a:p>
          <a:p>
            <a:pPr algn="l">
              <a:spcAft>
                <a:spcPts val="100"/>
              </a:spcAft>
            </a:pPr>
            <a:r>
              <a:rPr sz="3000" b="1">
                <a:solidFill>
                  <a:srgbClr val="0B1F3A"/>
                </a:solidFill>
                <a:latin typeface="Calibri"/>
              </a:rPr>
              <a:t>VIII oy</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Suyaklanish o‘zaklari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gestatsion yoshni aniqlash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tekshirish.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homila murdasi topildi, tana uzunligi 40 sm. Gestatsion yoshni Gaaze formulasi bilan hisoblang.</a:t>
            </a:r>
          </a:p>
          <a:p>
            <a:pPr>
              <a:spcAft>
                <a:spcPts val="1200"/>
              </a:spcAft>
            </a:pPr>
            <a:r>
              <a:rPr sz="2200">
                <a:solidFill>
                  <a:srgbClr val="1F2937"/>
                </a:solidFill>
                <a:latin typeface="Calibri"/>
              </a:rPr>
              <a:t>▸  Gaaze: ikkinchi yarmida tana uzunligi 5 ga bo‘linadi: 40 : 5 = 8 homila oyi. Birinchi yarmida kvadrat ildiz olinadi (16 sm — 4 oy).</a:t>
            </a:r>
          </a:p>
          <a:p>
            <a:pPr>
              <a:spcAft>
                <a:spcPts val="1200"/>
              </a:spcAft>
            </a:pPr>
            <a:r>
              <a:rPr sz="2200">
                <a:solidFill>
                  <a:srgbClr val="1F2937"/>
                </a:solidFill>
                <a:latin typeface="Calibri"/>
              </a:rPr>
              <a:t>▸  Tekshirish: Baltazar-Derve indeksi 5,6 ni tana uzunligiga ko‘paytiring: 40 × 5,6 = 224 kun, ya’ni 8 homila oyi.</a:t>
            </a:r>
          </a:p>
          <a:p>
            <a:pPr>
              <a:spcAft>
                <a:spcPts val="1200"/>
              </a:spcAft>
            </a:pPr>
            <a:r>
              <a:rPr sz="2200">
                <a:solidFill>
                  <a:srgbClr val="1F2937"/>
                </a:solidFill>
                <a:latin typeface="Calibri"/>
              </a:rPr>
              <a:t>▸  Savol: tana uzunligi 40 sm bo‘lgan homila yetuk hisoblanadimi? Yetuklik mezoni: uzunlik 45 sm va undan ortiq, vazn kamida 2500 g.</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Hayotga layoqatlilik va uning cheklari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tekshirish.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Hayotga layoqatlilik — go‘dakning ona organizmidan tashqarida yashash qobiliyati. Tirik tug‘ilgan go‘dak ham layoqatsiz bo‘lishi mumkin.</a:t>
            </a:r>
          </a:p>
          <a:p>
            <a:pPr>
              <a:spcAft>
                <a:spcPts val="800"/>
              </a:spcAft>
            </a:pPr>
            <a:r>
              <a:rPr sz="1600">
                <a:solidFill>
                  <a:srgbClr val="1F2937"/>
                </a:solidFill>
                <a:latin typeface="Calibri"/>
              </a:rPr>
              <a:t>▸  JSST mezoni: uzunligi 25 sm dan, vazni 500 g dan kam go‘dak o‘ta norasoligi sababli layoqatsiz. Murda ochilmaydi, faqat tashqi ko‘rik, vazn, uzunlik o‘lchanadi.</a:t>
            </a:r>
          </a:p>
          <a:p>
            <a:pPr>
              <a:spcAft>
                <a:spcPts val="800"/>
              </a:spcAft>
            </a:pPr>
            <a:r>
              <a:rPr sz="1600">
                <a:solidFill>
                  <a:srgbClr val="1F2937"/>
                </a:solidFill>
                <a:latin typeface="Calibri"/>
              </a:rPr>
              <a:t>▸  Anensefaliya, ikki kamerali yurak kabi nuqsonlar hayotga monelik qiladi. Tug‘ruq travmasi (bosh miya majaqlanishi, bo‘yin umurtqalari sinishi) ham shunday.</a:t>
            </a:r>
          </a:p>
          <a:p>
            <a:pPr>
              <a:spcAft>
                <a:spcPts val="800"/>
              </a:spcAft>
            </a:pPr>
            <a:r>
              <a:rPr sz="1600">
                <a:solidFill>
                  <a:srgbClr val="1F2937"/>
                </a:solidFill>
                <a:latin typeface="Calibri"/>
              </a:rPr>
              <a:t>▸  Tashqi nuqson (oltinchi barmoq, quyon lab) topilsa, ichki nuqsonni istisno qilish uchun bosh miya va ichki a’zolar sinchiklab tekshiriladi.</a:t>
            </a:r>
          </a:p>
        </p:txBody>
      </p:sp>
      <p:sp>
        <p:nvSpPr>
          <p:cNvPr id="9" name="Rounded Rectangle 8"/>
          <p:cNvSpPr/>
          <p:nvPr/>
        </p:nvSpPr>
        <p:spPr>
          <a:xfrm>
            <a:off x="5440680"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Uzunligi</a:t>
            </a:r>
          </a:p>
          <a:p>
            <a:pPr algn="l">
              <a:spcAft>
                <a:spcPts val="100"/>
              </a:spcAft>
            </a:pPr>
            <a:r>
              <a:rPr sz="2900" b="1">
                <a:solidFill>
                  <a:srgbClr val="0B1F3A"/>
                </a:solidFill>
                <a:latin typeface="Calibri"/>
              </a:rPr>
              <a:t>25 dan kam</a:t>
            </a:r>
            <a:r>
              <a:rPr sz="1400" b="0">
                <a:solidFill>
                  <a:srgbClr val="6B7280"/>
                </a:solidFill>
                <a:latin typeface="Calibri"/>
              </a:rPr>
              <a:t>  sm</a:t>
            </a:r>
          </a:p>
        </p:txBody>
      </p:sp>
      <p:sp>
        <p:nvSpPr>
          <p:cNvPr id="12" name="Rounded Rectangle 11"/>
          <p:cNvSpPr/>
          <p:nvPr/>
        </p:nvSpPr>
        <p:spPr>
          <a:xfrm>
            <a:off x="8578443"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Vazni</a:t>
            </a:r>
          </a:p>
          <a:p>
            <a:pPr algn="l">
              <a:spcAft>
                <a:spcPts val="100"/>
              </a:spcAft>
            </a:pPr>
            <a:r>
              <a:rPr sz="2900" b="1">
                <a:solidFill>
                  <a:srgbClr val="0B1F3A"/>
                </a:solidFill>
                <a:latin typeface="Calibri"/>
              </a:rPr>
              <a:t>500 dan kam</a:t>
            </a:r>
            <a:r>
              <a:rPr sz="1400" b="0">
                <a:solidFill>
                  <a:srgbClr val="6B7280"/>
                </a:solidFill>
                <a:latin typeface="Calibri"/>
              </a:rPr>
              <a:t>  g</a:t>
            </a:r>
          </a:p>
        </p:txBody>
      </p:sp>
      <p:sp>
        <p:nvSpPr>
          <p:cNvPr id="15" name="TextBox 14"/>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Hayotga layoqatsizlik chegarasi</a:t>
            </a:r>
          </a:p>
        </p:txBody>
      </p:sp>
      <p:sp>
        <p:nvSpPr>
          <p:cNvPr id="16" name="TextBox 15"/>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Go‘dak hayotining davomiyligi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tekshirish.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43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Hayot davomiyligi morfologik o‘zgarishlar dinamikasi bilan aniqlanadi. Muddatlar taxminiy, shuning uchun imkon qadar ko‘p belgi hisobga olinadi.</a:t>
            </a:r>
          </a:p>
          <a:p>
            <a:pPr>
              <a:spcAft>
                <a:spcPts val="800"/>
              </a:spcAft>
            </a:pPr>
            <a:r>
              <a:rPr sz="1800">
                <a:solidFill>
                  <a:srgbClr val="1F2937"/>
                </a:solidFill>
                <a:latin typeface="Calibri"/>
              </a:rPr>
              <a:t>▸  Havo faqat oshqozonda bo‘lsa, go‘dak 3 soatdan kam yashagan. 5-6 soatda havo ingichka ichakni to‘ldiradi.</a:t>
            </a:r>
          </a:p>
          <a:p>
            <a:pPr>
              <a:spcAft>
                <a:spcPts val="800"/>
              </a:spcAft>
            </a:pPr>
            <a:r>
              <a:rPr sz="1800">
                <a:solidFill>
                  <a:srgbClr val="1F2937"/>
                </a:solidFill>
                <a:latin typeface="Calibri"/>
              </a:rPr>
              <a:t>▸  Diqqat: gialin membranalar (1-2 soat) va ikkilamchi atelektaz (5-6 soat) turli muddatlarda hosil bo‘ladi.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922900"/>
                <a:gridCol w="3365075"/>
              </a:tblGrid>
              <a:tr h="614476">
                <a:tc>
                  <a:txBody>
                    <a:bodyPr/>
                    <a:lstStyle/>
                    <a:p>
                      <a:r>
                        <a:rPr sz="1800" b="1">
                          <a:solidFill>
                            <a:srgbClr val="FFFFFF"/>
                          </a:solidFill>
                        </a:rPr>
                        <a:t>Belgi</a:t>
                      </a:r>
                    </a:p>
                  </a:txBody>
                  <a:tcPr marL="73152" marR="73152" marT="36576" marB="36576">
                    <a:solidFill>
                      <a:srgbClr val="0B1F3A"/>
                    </a:solidFill>
                  </a:tcPr>
                </a:tc>
                <a:tc>
                  <a:txBody>
                    <a:bodyPr/>
                    <a:lstStyle/>
                    <a:p>
                      <a:r>
                        <a:rPr sz="1800" b="1">
                          <a:solidFill>
                            <a:srgbClr val="FFFFFF"/>
                          </a:solidFill>
                        </a:rPr>
                        <a:t>Muddat</a:t>
                      </a:r>
                    </a:p>
                  </a:txBody>
                  <a:tcPr marL="73152" marR="73152" marT="36576" marB="36576">
                    <a:solidFill>
                      <a:srgbClr val="0B1F3A"/>
                    </a:solidFill>
                  </a:tcPr>
                </a:tc>
              </a:tr>
              <a:tr h="614476">
                <a:tc>
                  <a:txBody>
                    <a:bodyPr/>
                    <a:lstStyle/>
                    <a:p>
                      <a:r>
                        <a:rPr sz="1700" b="0">
                          <a:solidFill>
                            <a:srgbClr val="1F2937"/>
                          </a:solidFill>
                        </a:rPr>
                        <a:t>Demarkatsion halqa</a:t>
                      </a:r>
                    </a:p>
                  </a:txBody>
                  <a:tcPr marL="73152" marR="73152" marT="36576" marB="36576">
                    <a:solidFill>
                      <a:srgbClr val="E8EEF6"/>
                    </a:solidFill>
                  </a:tcPr>
                </a:tc>
                <a:tc>
                  <a:txBody>
                    <a:bodyPr/>
                    <a:lstStyle/>
                    <a:p>
                      <a:r>
                        <a:rPr sz="1700" b="0">
                          <a:solidFill>
                            <a:srgbClr val="1F2937"/>
                          </a:solidFill>
                        </a:rPr>
                        <a:t>1-sutka oxiriga kelib shakllanadi</a:t>
                      </a:r>
                    </a:p>
                  </a:txBody>
                  <a:tcPr marL="73152" marR="73152" marT="36576" marB="36576">
                    <a:solidFill>
                      <a:srgbClr val="E8EEF6"/>
                    </a:solidFill>
                  </a:tcPr>
                </a:tc>
              </a:tr>
              <a:tr h="614476">
                <a:tc>
                  <a:txBody>
                    <a:bodyPr/>
                    <a:lstStyle/>
                    <a:p>
                      <a:r>
                        <a:rPr sz="1700" b="0">
                          <a:solidFill>
                            <a:srgbClr val="1F2937"/>
                          </a:solidFill>
                        </a:rPr>
                        <a:t>Mekoniy</a:t>
                      </a:r>
                    </a:p>
                  </a:txBody>
                  <a:tcPr marL="73152" marR="73152" marT="36576" marB="36576">
                    <a:solidFill>
                      <a:srgbClr val="FFFFFF"/>
                    </a:solidFill>
                  </a:tcPr>
                </a:tc>
                <a:tc>
                  <a:txBody>
                    <a:bodyPr/>
                    <a:lstStyle/>
                    <a:p>
                      <a:r>
                        <a:rPr sz="1700" b="0">
                          <a:solidFill>
                            <a:srgbClr val="1F2937"/>
                          </a:solidFill>
                        </a:rPr>
                        <a:t>1-sutka oxiriga kelib chiqib ketadi</a:t>
                      </a:r>
                    </a:p>
                  </a:txBody>
                  <a:tcPr marL="73152" marR="73152" marT="36576" marB="36576">
                    <a:solidFill>
                      <a:srgbClr val="FFFFFF"/>
                    </a:solidFill>
                  </a:tcPr>
                </a:tc>
              </a:tr>
              <a:tr h="614476">
                <a:tc>
                  <a:txBody>
                    <a:bodyPr/>
                    <a:lstStyle/>
                    <a:p>
                      <a:r>
                        <a:rPr sz="1700" b="0">
                          <a:solidFill>
                            <a:srgbClr val="1F2937"/>
                          </a:solidFill>
                        </a:rPr>
                        <a:t>Gialin membranalar</a:t>
                      </a:r>
                    </a:p>
                  </a:txBody>
                  <a:tcPr marL="73152" marR="73152" marT="36576" marB="36576">
                    <a:solidFill>
                      <a:srgbClr val="E8EEF6"/>
                    </a:solidFill>
                  </a:tcPr>
                </a:tc>
                <a:tc>
                  <a:txBody>
                    <a:bodyPr/>
                    <a:lstStyle/>
                    <a:p>
                      <a:r>
                        <a:rPr sz="1700" b="0">
                          <a:solidFill>
                            <a:srgbClr val="1F2937"/>
                          </a:solidFill>
                        </a:rPr>
                        <a:t>go‘dak kamida 1-2 soat yashagan</a:t>
                      </a:r>
                    </a:p>
                  </a:txBody>
                  <a:tcPr marL="73152" marR="73152" marT="36576" marB="36576">
                    <a:solidFill>
                      <a:srgbClr val="E8EEF6"/>
                    </a:solidFill>
                  </a:tcPr>
                </a:tc>
              </a:tr>
              <a:tr h="614476">
                <a:tc>
                  <a:txBody>
                    <a:bodyPr/>
                    <a:lstStyle/>
                    <a:p>
                      <a:r>
                        <a:rPr sz="1700" b="0">
                          <a:solidFill>
                            <a:srgbClr val="1F2937"/>
                          </a:solidFill>
                        </a:rPr>
                        <a:t>Ikkilamchi atelektaz</a:t>
                      </a:r>
                    </a:p>
                  </a:txBody>
                  <a:tcPr marL="73152" marR="73152" marT="36576" marB="36576">
                    <a:solidFill>
                      <a:srgbClr val="FFFFFF"/>
                    </a:solidFill>
                  </a:tcPr>
                </a:tc>
                <a:tc>
                  <a:txBody>
                    <a:bodyPr/>
                    <a:lstStyle/>
                    <a:p>
                      <a:r>
                        <a:rPr sz="1700" b="0">
                          <a:solidFill>
                            <a:srgbClr val="1F2937"/>
                          </a:solidFill>
                        </a:rPr>
                        <a:t>kamida 5-6 soatdan so‘ng</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Hayot davomiyligi belgilari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263-264, 264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Go‘dakka qarov bo‘lganligi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tekshirish.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Qarov bo‘lgan yoki bo‘lmaganligi surishtiruv va tergov uchun holatga huquqiy baho berishda muhim ahamiyatga ega.</a:t>
            </a:r>
          </a:p>
          <a:p>
            <a:pPr>
              <a:spcAft>
                <a:spcPts val="1200"/>
              </a:spcAft>
            </a:pPr>
            <a:r>
              <a:rPr sz="2200">
                <a:solidFill>
                  <a:srgbClr val="1F2937"/>
                </a:solidFill>
                <a:latin typeface="Calibri"/>
              </a:rPr>
              <a:t>▸  Tashqi belgilar: go‘dak yo‘rgaklangan, ustida kiyim-bosh bor, kindigi kesilib boylangan.</a:t>
            </a:r>
          </a:p>
          <a:p>
            <a:pPr>
              <a:spcAft>
                <a:spcPts val="1200"/>
              </a:spcAft>
            </a:pPr>
            <a:r>
              <a:rPr sz="2200">
                <a:solidFill>
                  <a:srgbClr val="1F2937"/>
                </a:solidFill>
                <a:latin typeface="Calibri"/>
              </a:rPr>
              <a:t>▸  Tana qon izlari va mo‘msimon qoplamadan tozalangan. Ichki tekshiruvda oshqozonda sut yoki unga o‘xshash massa topiladi.</a:t>
            </a:r>
          </a:p>
          <a:p>
            <a:pPr>
              <a:spcAft>
                <a:spcPts val="1200"/>
              </a:spcAft>
            </a:pPr>
            <a:r>
              <a:rPr sz="2200">
                <a:solidFill>
                  <a:srgbClr val="1F2937"/>
                </a:solidFill>
                <a:latin typeface="Calibri"/>
              </a:rPr>
              <a:t>▸  Tezkor savol: gialin membranalar hosil bo‘lishi uchun kamida necha soat kerak? Qarovning besh belgisini sanab bering.</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264, 263-264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layoqat, davomiylik, qarov</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tekshirish.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yangi tug‘ilgan go‘dak murdasida havo faqat oshqozonda, yo‘g‘on ichakda yo‘q. Kindikda halqaning dastlabki belgilari bor.</a:t>
            </a:r>
          </a:p>
          <a:p>
            <a:pPr>
              <a:spcAft>
                <a:spcPts val="1200"/>
              </a:spcAft>
            </a:pPr>
            <a:r>
              <a:rPr sz="2200">
                <a:solidFill>
                  <a:srgbClr val="1F2937"/>
                </a:solidFill>
                <a:latin typeface="Calibri"/>
              </a:rPr>
              <a:t>▸  Tahlil: havo faqat oshqozonda bo‘lsa, go‘dak 3 soatdan kam yashagan. Ichakka o‘tgan havo uzoqroq yashashni bildiradi.</a:t>
            </a:r>
          </a:p>
          <a:p>
            <a:pPr>
              <a:spcAft>
                <a:spcPts val="1200"/>
              </a:spcAft>
            </a:pPr>
            <a:r>
              <a:rPr sz="2200">
                <a:solidFill>
                  <a:srgbClr val="1F2937"/>
                </a:solidFill>
                <a:latin typeface="Calibri"/>
              </a:rPr>
              <a:t>▸  Kindikdagi halqa belgilari tirik tug‘ilganlikka mos. Muddatlar taxminiy, shuning uchun xulosa bitta belgiga asoslanmaydi.</a:t>
            </a:r>
          </a:p>
          <a:p>
            <a:pPr>
              <a:spcAft>
                <a:spcPts val="1200"/>
              </a:spcAft>
            </a:pPr>
            <a:r>
              <a:rPr sz="2200">
                <a:solidFill>
                  <a:srgbClr val="1F2937"/>
                </a:solidFill>
                <a:latin typeface="Calibri"/>
              </a:rPr>
              <a:t>▸  Savol: go‘dak qancha yashagan va qarov bo‘lganmi? Qarov uchun yo‘rgak, kiyim, kindik, tozalanganlik, oshqozondagi sutni tekshiring.</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258-259, 264, 264</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O‘lim sabablari: antenatal va intranatal davr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tekshirish.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Antenatal o‘limda asosiy sabab — homila ichi asfiksiya; yo‘ldosh va kindik ham tekshiriladi.</a:t>
            </a:r>
          </a:p>
          <a:p>
            <a:pPr>
              <a:spcAft>
                <a:spcPts val="800"/>
              </a:spcAft>
            </a:pPr>
            <a:r>
              <a:rPr sz="1800">
                <a:solidFill>
                  <a:srgbClr val="1F2937"/>
                </a:solidFill>
                <a:latin typeface="Calibri"/>
              </a:rPr>
              <a:t>▸  Belgilar: tez o‘lim alomatlari, suv aspiratsiyasi, ko‘p mekoniy; yo‘g‘on ichak bo‘shlig‘i torayadi.</a:t>
            </a:r>
          </a:p>
          <a:p>
            <a:pPr>
              <a:spcAft>
                <a:spcPts val="800"/>
              </a:spcAft>
            </a:pPr>
            <a:r>
              <a:rPr sz="1800">
                <a:solidFill>
                  <a:srgbClr val="1F2937"/>
                </a:solidFill>
                <a:latin typeface="Calibri"/>
              </a:rPr>
              <a:t>▸  Miya pardalari va qorinchalariga qon quyilishi mumkin, ko‘pincha simmetrik.</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Antenatal va intranatal</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Yo‘ldosh, kindik</a:t>
            </a:r>
          </a:p>
          <a:p>
            <a:pPr algn="l">
              <a:spcAft>
                <a:spcPts val="0"/>
              </a:spcAft>
            </a:pPr>
            <a:r>
              <a:rPr sz="1200" b="0">
                <a:solidFill>
                  <a:srgbClr val="1F2937"/>
                </a:solidFill>
                <a:latin typeface="Calibri"/>
              </a:rPr>
              <a:t>Oldin joylashish, infarkt  ·  Kindik tuguni</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Ona kasalligi</a:t>
            </a:r>
          </a:p>
          <a:p>
            <a:pPr algn="l">
              <a:spcAft>
                <a:spcPts val="0"/>
              </a:spcAft>
            </a:pPr>
            <a:r>
              <a:rPr sz="1200" b="0">
                <a:solidFill>
                  <a:srgbClr val="1F2937"/>
                </a:solidFill>
                <a:latin typeface="Calibri"/>
              </a:rPr>
              <a:t>Zaxm, virusli infeksiya  ·  Yurak nuqsoni, toksikoz</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Tug‘ruq travmasi</a:t>
            </a:r>
          </a:p>
          <a:p>
            <a:pPr algn="l">
              <a:spcAft>
                <a:spcPts val="0"/>
              </a:spcAft>
            </a:pPr>
            <a:r>
              <a:rPr sz="1200" b="0">
                <a:solidFill>
                  <a:srgbClr val="1F2937"/>
                </a:solidFill>
                <a:latin typeface="Calibri"/>
              </a:rPr>
              <a:t>Kalla suyaklari sinishi  ·  Kalla ichi qon quyilishi</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Tor tos, yirik homila</a:t>
            </a:r>
          </a:p>
          <a:p>
            <a:pPr algn="l">
              <a:spcAft>
                <a:spcPts val="0"/>
              </a:spcAft>
            </a:pPr>
            <a:r>
              <a:rPr sz="1200" b="0">
                <a:solidFill>
                  <a:srgbClr val="1F2937"/>
                </a:solidFill>
                <a:latin typeface="Calibri"/>
              </a:rPr>
              <a:t>Bosh uzoq qisilib qoladi</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Nozo‘raki o‘lim sabablari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264, 264-265</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Tug‘ruq travmasi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tekshirish.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Tor tos, yirik homila yoki tug‘ruq sustligida bosh uzoq qisilib, kalla gumbazi suyaklari sinadi va kalla ichiga qon quyiladi.</a:t>
            </a:r>
          </a:p>
          <a:p>
            <a:pPr>
              <a:spcAft>
                <a:spcPts val="1200"/>
              </a:spcAft>
            </a:pPr>
            <a:r>
              <a:rPr sz="2200">
                <a:solidFill>
                  <a:srgbClr val="1F2937"/>
                </a:solidFill>
                <a:latin typeface="Calibri"/>
              </a:rPr>
              <a:t>▸  Ko‘pincha tepa va peshona suyaklari shikastlanadi; radial va botiq siniqlar aniqlanadi.</a:t>
            </a:r>
          </a:p>
          <a:p>
            <a:pPr>
              <a:spcAft>
                <a:spcPts val="1200"/>
              </a:spcAft>
            </a:pPr>
            <a:r>
              <a:rPr sz="2200">
                <a:solidFill>
                  <a:srgbClr val="1F2937"/>
                </a:solidFill>
                <a:latin typeface="Calibri"/>
              </a:rPr>
              <a:t>▸  Miya parda va to‘qimasiga qon quyiladi; miyacha chodiri yoki o‘roqsimon o‘simta yorilsa, ayniqsa kuchli bo‘ladi.</a:t>
            </a:r>
          </a:p>
          <a:p>
            <a:pPr>
              <a:spcAft>
                <a:spcPts val="1200"/>
              </a:spcAft>
            </a:pPr>
            <a:r>
              <a:rPr sz="2200">
                <a:solidFill>
                  <a:srgbClr val="1F2937"/>
                </a:solidFill>
                <a:latin typeface="Calibri"/>
              </a:rPr>
              <a:t>▸  Diqqat: tug‘ruq travmasida tashqi jarohat, yara bo‘lmaydi. Ayol qo‘li bilan yordam bersa, yuz va bo‘yinda shilinma, qontalash, og‘iz burchagi yorilishi bo‘ladi.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Zo‘raki o‘lim: aktiv va passiv go‘dak o‘ldirish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tekshirish.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43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Zo‘raki o‘lim asosan postnatal davrda uchraydi; antenatal va intranatal davrda juda kam.</a:t>
            </a:r>
          </a:p>
          <a:p>
            <a:pPr>
              <a:spcAft>
                <a:spcPts val="800"/>
              </a:spcAft>
            </a:pPr>
            <a:r>
              <a:rPr sz="1800">
                <a:solidFill>
                  <a:srgbClr val="1F2937"/>
                </a:solidFill>
                <a:latin typeface="Calibri"/>
              </a:rPr>
              <a:t>▸  Huquq idoralari uchun aktiv yoki passiv ekanini emas, o‘limning aniq sababini ko‘rsatish muhim.</a:t>
            </a:r>
          </a:p>
          <a:p>
            <a:pPr>
              <a:spcAft>
                <a:spcPts val="800"/>
              </a:spcAft>
            </a:pPr>
            <a:r>
              <a:rPr sz="1800">
                <a:solidFill>
                  <a:srgbClr val="1F2937"/>
                </a:solidFill>
                <a:latin typeface="Calibri"/>
              </a:rPr>
              <a:t>▸  Antenatal zo‘raki o‘lim homilador ayolga mexanik jarohat yetkazish yoki uni zaharlash bilan bog‘liq.</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982980"/>
                <a:gridCol w="2001470"/>
                <a:gridCol w="2303524"/>
              </a:tblGrid>
              <a:tr h="614476">
                <a:tc>
                  <a:txBody>
                    <a:bodyPr/>
                    <a:lstStyle/>
                    <a:p>
                      <a:r>
                        <a:rPr sz="1600" b="1">
                          <a:solidFill>
                            <a:srgbClr val="FFFFFF"/>
                          </a:solidFill>
                        </a:rPr>
                        <a:t>Tur</a:t>
                      </a:r>
                    </a:p>
                  </a:txBody>
                  <a:tcPr marL="73152" marR="73152" marT="36576" marB="36576">
                    <a:solidFill>
                      <a:srgbClr val="0B1F3A"/>
                    </a:solidFill>
                  </a:tcPr>
                </a:tc>
                <a:tc>
                  <a:txBody>
                    <a:bodyPr/>
                    <a:lstStyle/>
                    <a:p>
                      <a:r>
                        <a:rPr sz="1600" b="1">
                          <a:solidFill>
                            <a:srgbClr val="FFFFFF"/>
                          </a:solidFill>
                        </a:rPr>
                        <a:t>Mohiyati</a:t>
                      </a:r>
                    </a:p>
                  </a:txBody>
                  <a:tcPr marL="73152" marR="73152" marT="36576" marB="36576">
                    <a:solidFill>
                      <a:srgbClr val="0B1F3A"/>
                    </a:solidFill>
                  </a:tcPr>
                </a:tc>
                <a:tc>
                  <a:txBody>
                    <a:bodyPr/>
                    <a:lstStyle/>
                    <a:p>
                      <a:r>
                        <a:rPr sz="1600" b="1">
                          <a:solidFill>
                            <a:srgbClr val="FFFFFF"/>
                          </a:solidFill>
                        </a:rPr>
                        <a:t>Misollar</a:t>
                      </a:r>
                    </a:p>
                  </a:txBody>
                  <a:tcPr marL="73152" marR="73152" marT="36576" marB="36576">
                    <a:solidFill>
                      <a:srgbClr val="0B1F3A"/>
                    </a:solidFill>
                  </a:tcPr>
                </a:tc>
              </a:tr>
              <a:tr h="614476">
                <a:tc>
                  <a:txBody>
                    <a:bodyPr/>
                    <a:lstStyle/>
                    <a:p>
                      <a:r>
                        <a:rPr sz="1500" b="0">
                          <a:solidFill>
                            <a:srgbClr val="1F2937"/>
                          </a:solidFill>
                        </a:rPr>
                        <a:t>Aktiv</a:t>
                      </a:r>
                    </a:p>
                  </a:txBody>
                  <a:tcPr marL="73152" marR="73152" marT="36576" marB="36576">
                    <a:solidFill>
                      <a:srgbClr val="E8EEF6"/>
                    </a:solidFill>
                  </a:tcPr>
                </a:tc>
                <a:tc>
                  <a:txBody>
                    <a:bodyPr/>
                    <a:lstStyle/>
                    <a:p>
                      <a:r>
                        <a:rPr sz="1500" b="0">
                          <a:solidFill>
                            <a:srgbClr val="1F2937"/>
                          </a:solidFill>
                        </a:rPr>
                        <a:t>Go‘dakka muayyan harakat qilinadi</a:t>
                      </a:r>
                    </a:p>
                  </a:txBody>
                  <a:tcPr marL="73152" marR="73152" marT="36576" marB="36576">
                    <a:solidFill>
                      <a:srgbClr val="E8EEF6"/>
                    </a:solidFill>
                  </a:tcPr>
                </a:tc>
                <a:tc>
                  <a:txBody>
                    <a:bodyPr/>
                    <a:lstStyle/>
                    <a:p>
                      <a:r>
                        <a:rPr sz="1500" b="0">
                          <a:solidFill>
                            <a:srgbClr val="1F2937"/>
                          </a:solidFill>
                        </a:rPr>
                        <a:t>Bo‘g‘ish, nafas teshigini yopish</a:t>
                      </a:r>
                    </a:p>
                  </a:txBody>
                  <a:tcPr marL="73152" marR="73152" marT="36576" marB="36576">
                    <a:solidFill>
                      <a:srgbClr val="E8EEF6"/>
                    </a:solidFill>
                  </a:tcPr>
                </a:tc>
              </a:tr>
              <a:tr h="614476">
                <a:tc>
                  <a:txBody>
                    <a:bodyPr/>
                    <a:lstStyle/>
                    <a:p>
                      <a:r>
                        <a:rPr sz="1500" b="0">
                          <a:solidFill>
                            <a:srgbClr val="1F2937"/>
                          </a:solidFill>
                        </a:rPr>
                        <a:t>Aktiv</a:t>
                      </a:r>
                    </a:p>
                  </a:txBody>
                  <a:tcPr marL="73152" marR="73152" marT="36576" marB="36576">
                    <a:solidFill>
                      <a:srgbClr val="FFFFFF"/>
                    </a:solidFill>
                  </a:tcPr>
                </a:tc>
                <a:tc>
                  <a:txBody>
                    <a:bodyPr/>
                    <a:lstStyle/>
                    <a:p>
                      <a:r>
                        <a:rPr sz="1500" b="0">
                          <a:solidFill>
                            <a:srgbClr val="1F2937"/>
                          </a:solidFill>
                        </a:rPr>
                        <a:t>Boshqa usullar</a:t>
                      </a:r>
                    </a:p>
                  </a:txBody>
                  <a:tcPr marL="73152" marR="73152" marT="36576" marB="36576">
                    <a:solidFill>
                      <a:srgbClr val="FFFFFF"/>
                    </a:solidFill>
                  </a:tcPr>
                </a:tc>
                <a:tc>
                  <a:txBody>
                    <a:bodyPr/>
                    <a:lstStyle/>
                    <a:p>
                      <a:r>
                        <a:rPr sz="1500" b="0">
                          <a:solidFill>
                            <a:srgbClr val="1F2937"/>
                          </a:solidFill>
                        </a:rPr>
                        <a:t>Cho‘ktirish, siqish, olovga tashlash</a:t>
                      </a:r>
                    </a:p>
                  </a:txBody>
                  <a:tcPr marL="73152" marR="73152" marT="36576" marB="36576">
                    <a:solidFill>
                      <a:srgbClr val="FFFFFF"/>
                    </a:solidFill>
                  </a:tcPr>
                </a:tc>
              </a:tr>
              <a:tr h="614476">
                <a:tc>
                  <a:txBody>
                    <a:bodyPr/>
                    <a:lstStyle/>
                    <a:p>
                      <a:r>
                        <a:rPr sz="1500" b="0">
                          <a:solidFill>
                            <a:srgbClr val="1F2937"/>
                          </a:solidFill>
                        </a:rPr>
                        <a:t>Passiv</a:t>
                      </a:r>
                    </a:p>
                  </a:txBody>
                  <a:tcPr marL="73152" marR="73152" marT="36576" marB="36576">
                    <a:solidFill>
                      <a:srgbClr val="E8EEF6"/>
                    </a:solidFill>
                  </a:tcPr>
                </a:tc>
                <a:tc>
                  <a:txBody>
                    <a:bodyPr/>
                    <a:lstStyle/>
                    <a:p>
                      <a:r>
                        <a:rPr sz="1500" b="0">
                          <a:solidFill>
                            <a:srgbClr val="1F2937"/>
                          </a:solidFill>
                        </a:rPr>
                        <a:t>Go‘dak qarovsiz qoldiriladi</a:t>
                      </a:r>
                    </a:p>
                  </a:txBody>
                  <a:tcPr marL="73152" marR="73152" marT="36576" marB="36576">
                    <a:solidFill>
                      <a:srgbClr val="E8EEF6"/>
                    </a:solidFill>
                  </a:tcPr>
                </a:tc>
                <a:tc>
                  <a:txBody>
                    <a:bodyPr/>
                    <a:lstStyle/>
                    <a:p>
                      <a:r>
                        <a:rPr sz="1500" b="0">
                          <a:solidFill>
                            <a:srgbClr val="1F2937"/>
                          </a:solidFill>
                        </a:rPr>
                        <a:t>Kindik bog‘lanmasa — tashqi qon ketish</a:t>
                      </a:r>
                    </a:p>
                  </a:txBody>
                  <a:tcPr marL="73152" marR="73152" marT="36576" marB="36576">
                    <a:solidFill>
                      <a:srgbClr val="E8EEF6"/>
                    </a:solidFill>
                  </a:tcPr>
                </a:tc>
              </a:tr>
              <a:tr h="614476">
                <a:tc>
                  <a:txBody>
                    <a:bodyPr/>
                    <a:lstStyle/>
                    <a:p>
                      <a:r>
                        <a:rPr sz="1500" b="0">
                          <a:solidFill>
                            <a:srgbClr val="1F2937"/>
                          </a:solidFill>
                        </a:rPr>
                        <a:t>Passiv</a:t>
                      </a:r>
                    </a:p>
                  </a:txBody>
                  <a:tcPr marL="73152" marR="73152" marT="36576" marB="36576">
                    <a:solidFill>
                      <a:srgbClr val="FFFFFF"/>
                    </a:solidFill>
                  </a:tcPr>
                </a:tc>
                <a:tc>
                  <a:txBody>
                    <a:bodyPr/>
                    <a:lstStyle/>
                    <a:p>
                      <a:r>
                        <a:rPr sz="1500" b="0">
                          <a:solidFill>
                            <a:srgbClr val="1F2937"/>
                          </a:solidFill>
                        </a:rPr>
                        <a:t>Boshqa hollarda</a:t>
                      </a:r>
                    </a:p>
                  </a:txBody>
                  <a:tcPr marL="73152" marR="73152" marT="36576" marB="36576">
                    <a:solidFill>
                      <a:srgbClr val="FFFFFF"/>
                    </a:solidFill>
                  </a:tcPr>
                </a:tc>
                <a:tc>
                  <a:txBody>
                    <a:bodyPr/>
                    <a:lstStyle/>
                    <a:p>
                      <a:r>
                        <a:rPr sz="1500" b="0">
                          <a:solidFill>
                            <a:srgbClr val="1F2937"/>
                          </a:solidFill>
                        </a:rPr>
                        <a:t>Sovuq qotish, ochlik</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Aktiv va passiv o‘ldirish</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264-265, 266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o‘lim sabablari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tekshirish.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yangi tug‘ilgan chaqaloq murdasida tashqi jarohat yo‘q, ammo kalla ichida qon quyilish aniqlangan.</a:t>
            </a:r>
          </a:p>
          <a:p>
            <a:pPr>
              <a:spcAft>
                <a:spcPts val="1200"/>
              </a:spcAft>
            </a:pPr>
            <a:r>
              <a:rPr sz="2200">
                <a:solidFill>
                  <a:srgbClr val="1F2937"/>
                </a:solidFill>
                <a:latin typeface="Calibri"/>
              </a:rPr>
              <a:t>▸  Tug‘ruq travmasida bosh miya parda va to‘qimasiga qon quyiladi, lekin tashqi jarohat, shu jumladan yara, hosil bo‘lmaydi.</a:t>
            </a:r>
          </a:p>
          <a:p>
            <a:pPr>
              <a:spcAft>
                <a:spcPts val="1200"/>
              </a:spcAft>
            </a:pPr>
            <a:r>
              <a:rPr sz="2200">
                <a:solidFill>
                  <a:srgbClr val="1F2937"/>
                </a:solidFill>
                <a:latin typeface="Calibri"/>
              </a:rPr>
              <a:t>▸  Diqqat: ona o‘ziga yordam berib qo‘li bilan shikast yetkazsa, yuz va bo‘yinda shilinma, qontalash, og‘iz burchagi yorilishi bo‘ladi.</a:t>
            </a:r>
          </a:p>
          <a:p>
            <a:pPr>
              <a:spcAft>
                <a:spcPts val="1200"/>
              </a:spcAft>
            </a:pPr>
            <a:r>
              <a:rPr sz="2200">
                <a:solidFill>
                  <a:srgbClr val="1F2937"/>
                </a:solidFill>
                <a:latin typeface="Calibri"/>
              </a:rPr>
              <a:t>▸  Savol: tor tos, yirik homila va tug‘ruq sustligida bosh uzoq qisilsa, kalla suyaklari va ichida qanday o‘zgarish chiqadi?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Ekspertiza xususiyatlari: tekshiruv bosqichlari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tekshirish.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Tashqi: uzunlik, vazn, bosh va ko‘krak o‘lchamlari, qon izi, mo‘msimon qoplama, mekoniy, nuqsonlar o‘rganiladi.</a:t>
            </a:r>
          </a:p>
          <a:p>
            <a:pPr>
              <a:spcAft>
                <a:spcPts val="800"/>
              </a:spcAft>
            </a:pPr>
            <a:r>
              <a:rPr sz="1800">
                <a:solidFill>
                  <a:srgbClr val="1F2937"/>
                </a:solidFill>
                <a:latin typeface="Calibri"/>
              </a:rPr>
              <a:t>▸  Yo‘ldosh (vazn, shakl) va kindik (uzunlik, namlik, tugun) ham sinchiklab tekshiriladi.</a:t>
            </a:r>
          </a:p>
          <a:p>
            <a:pPr>
              <a:spcAft>
                <a:spcPts val="800"/>
              </a:spcAft>
            </a:pPr>
            <a:r>
              <a:rPr sz="1800">
                <a:solidFill>
                  <a:srgbClr val="1F2937"/>
                </a:solidFill>
                <a:latin typeface="Calibri"/>
              </a:rPr>
              <a:t>▸  Kesma pastki labdan boshlanadi, kindikka yetmay yonga buriladi; kalla suyagida darchalar ochiladi.</a:t>
            </a:r>
          </a:p>
        </p:txBody>
      </p:sp>
      <p:sp>
        <p:nvSpPr>
          <p:cNvPr id="9" name="Rounded Rectangle 8"/>
          <p:cNvSpPr/>
          <p:nvPr/>
        </p:nvSpPr>
        <p:spPr>
          <a:xfrm>
            <a:off x="5440680"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Tashqi</a:t>
            </a:r>
          </a:p>
          <a:p>
            <a:pPr algn="l">
              <a:spcAft>
                <a:spcPts val="200"/>
              </a:spcAft>
            </a:pPr>
            <a:r>
              <a:rPr sz="1400" b="0">
                <a:solidFill>
                  <a:srgbClr val="1F2937"/>
                </a:solidFill>
                <a:latin typeface="Calibri"/>
              </a:rPr>
              <a:t>Antropometriya, belgilar</a:t>
            </a:r>
          </a:p>
        </p:txBody>
      </p:sp>
      <p:sp>
        <p:nvSpPr>
          <p:cNvPr id="12" name="Rounded Rectangle 11"/>
          <p:cNvSpPr/>
          <p:nvPr/>
        </p:nvSpPr>
        <p:spPr>
          <a:xfrm>
            <a:off x="8578443"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Yo‘ldosh, kindik</a:t>
            </a:r>
          </a:p>
          <a:p>
            <a:pPr algn="l">
              <a:spcAft>
                <a:spcPts val="200"/>
              </a:spcAft>
            </a:pPr>
            <a:r>
              <a:rPr sz="1400" b="0">
                <a:solidFill>
                  <a:srgbClr val="1F2937"/>
                </a:solidFill>
                <a:latin typeface="Calibri"/>
              </a:rPr>
              <a:t>Vazn, shakl, uzunlik, tugun</a:t>
            </a:r>
          </a:p>
        </p:txBody>
      </p:sp>
      <p:sp>
        <p:nvSpPr>
          <p:cNvPr id="15" name="Rounded Rectangle 14"/>
          <p:cNvSpPr/>
          <p:nvPr/>
        </p:nvSpPr>
        <p:spPr>
          <a:xfrm>
            <a:off x="5440680"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Ichki</a:t>
            </a:r>
          </a:p>
          <a:p>
            <a:pPr algn="l">
              <a:spcAft>
                <a:spcPts val="200"/>
              </a:spcAft>
            </a:pPr>
            <a:r>
              <a:rPr sz="1400" b="0">
                <a:solidFill>
                  <a:srgbClr val="1F2937"/>
                </a:solidFill>
                <a:latin typeface="Calibri"/>
              </a:rPr>
              <a:t>Ko‘krak va qorin bo‘shlig‘i</a:t>
            </a:r>
          </a:p>
        </p:txBody>
      </p:sp>
      <p:sp>
        <p:nvSpPr>
          <p:cNvPr id="18" name="Rounded Rectangle 17"/>
          <p:cNvSpPr/>
          <p:nvPr/>
        </p:nvSpPr>
        <p:spPr>
          <a:xfrm>
            <a:off x="8578443"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Kalla</a:t>
            </a:r>
          </a:p>
          <a:p>
            <a:pPr algn="l">
              <a:spcAft>
                <a:spcPts val="200"/>
              </a:spcAft>
            </a:pPr>
            <a:r>
              <a:rPr sz="1400" b="0">
                <a:solidFill>
                  <a:srgbClr val="1F2937"/>
                </a:solidFill>
                <a:latin typeface="Calibri"/>
              </a:rPr>
              <a:t>Suyaklarda darchalar ochiladi</a:t>
            </a:r>
          </a:p>
        </p:txBody>
      </p:sp>
      <p:sp>
        <p:nvSpPr>
          <p:cNvPr id="21" name="Rounded Rectangle 20"/>
          <p:cNvSpPr/>
          <p:nvPr/>
        </p:nvSpPr>
        <p:spPr>
          <a:xfrm>
            <a:off x="5440680" y="4184904"/>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5</a:t>
            </a:r>
          </a:p>
        </p:txBody>
      </p:sp>
      <p:sp>
        <p:nvSpPr>
          <p:cNvPr id="23" name="TextBox 22"/>
          <p:cNvSpPr txBox="1"/>
          <p:nvPr/>
        </p:nvSpPr>
        <p:spPr>
          <a:xfrm>
            <a:off x="6080760" y="4184904"/>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Laboratoriya</a:t>
            </a:r>
          </a:p>
          <a:p>
            <a:pPr algn="l">
              <a:spcAft>
                <a:spcPts val="200"/>
              </a:spcAft>
            </a:pPr>
            <a:r>
              <a:rPr sz="1400" b="0">
                <a:solidFill>
                  <a:srgbClr val="1F2937"/>
                </a:solidFill>
                <a:latin typeface="Calibri"/>
              </a:rPr>
              <a:t>Gistologik, sud-biologik</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Ekspertiza tekshiruv tartibi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Tashqi tekshiruvda nimalar o‘rganiladi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tekshirish.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Tashqi tekshiruvda murda bilan taqdim etilgan ashyolar, yo‘rgak, kiyim-bosh o‘rganiladi; antropometrik o‘lchovlar o‘tkaziladi.</a:t>
            </a:r>
          </a:p>
          <a:p>
            <a:pPr>
              <a:spcAft>
                <a:spcPts val="800"/>
              </a:spcAft>
            </a:pPr>
            <a:r>
              <a:rPr sz="1600">
                <a:solidFill>
                  <a:srgbClr val="1F2937"/>
                </a:solidFill>
                <a:latin typeface="Calibri"/>
              </a:rPr>
              <a:t>▸  O‘lchanadi: tana uzunligi, vazni, boshning o‘lchamlari (aylana, katta, kichik, egri, to‘g‘ri, tepalararo), ko‘krak qafasi va yelka aylanasi.</a:t>
            </a:r>
          </a:p>
          <a:p>
            <a:pPr>
              <a:spcAft>
                <a:spcPts val="800"/>
              </a:spcAft>
            </a:pPr>
            <a:r>
              <a:rPr sz="1600">
                <a:solidFill>
                  <a:srgbClr val="1F2937"/>
                </a:solidFill>
                <a:latin typeface="Calibri"/>
              </a:rPr>
              <a:t>▸  Qon izlari, mo‘msimon qoplama, tug‘ruq shishi, liqildoqlar, teri rangi, quloq va burun tog‘aylari qattiqligi, jinsiy a’zolar holatiga e’tibor beriladi.</a:t>
            </a:r>
          </a:p>
          <a:p>
            <a:pPr>
              <a:spcAft>
                <a:spcPts val="800"/>
              </a:spcAft>
            </a:pPr>
            <a:r>
              <a:rPr sz="1600">
                <a:solidFill>
                  <a:srgbClr val="1F2937"/>
                </a:solidFill>
                <a:latin typeface="Calibri"/>
              </a:rPr>
              <a:t>▸  Tirnoq uzunligi, mekoniy bilan ifloslanish, tashqi nuqsonlar va suyaklanish o‘zaklari (son, tovon, g‘altaksimon suyak) tekshiriladi.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Tashqi tekshiruv</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Ashyolar</a:t>
            </a:r>
          </a:p>
          <a:p>
            <a:pPr algn="l">
              <a:spcAft>
                <a:spcPts val="0"/>
              </a:spcAft>
            </a:pPr>
            <a:r>
              <a:rPr sz="1200" b="0">
                <a:solidFill>
                  <a:srgbClr val="1F2937"/>
                </a:solidFill>
                <a:latin typeface="Calibri"/>
              </a:rPr>
              <a:t>Yo‘rgak, kiyim-bosh</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Antropometriya</a:t>
            </a:r>
          </a:p>
          <a:p>
            <a:pPr algn="l">
              <a:spcAft>
                <a:spcPts val="0"/>
              </a:spcAft>
            </a:pPr>
            <a:r>
              <a:rPr sz="1200" b="0">
                <a:solidFill>
                  <a:srgbClr val="1F2937"/>
                </a:solidFill>
                <a:latin typeface="Calibri"/>
              </a:rPr>
              <a:t>Uzunlik, vazn  ·  Bosh, ko‘krak, yelka aylanasi</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Belgilar</a:t>
            </a:r>
          </a:p>
          <a:p>
            <a:pPr algn="l">
              <a:spcAft>
                <a:spcPts val="0"/>
              </a:spcAft>
            </a:pPr>
            <a:r>
              <a:rPr sz="1200" b="0">
                <a:solidFill>
                  <a:srgbClr val="1F2937"/>
                </a:solidFill>
                <a:latin typeface="Calibri"/>
              </a:rPr>
              <a:t>Qon izi, qoplama, shish  ·  Liqildoq, teri rangi, tog‘aylar</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Rivojlanish</a:t>
            </a:r>
          </a:p>
          <a:p>
            <a:pPr algn="l">
              <a:spcAft>
                <a:spcPts val="0"/>
              </a:spcAft>
            </a:pPr>
            <a:r>
              <a:rPr sz="1200" b="0">
                <a:solidFill>
                  <a:srgbClr val="1F2937"/>
                </a:solidFill>
                <a:latin typeface="Calibri"/>
              </a:rPr>
              <a:t>Tirnoq, mekoniy, nuqsonlar  ·  Suyaklanish o‘zaklari</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Tashqi tekshiruv</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Ichki tekshiruv va laboratoriya materiallari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tekshirish.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Ichki tekshiruv ko‘krak va qorin bo‘shliqlaridan boshlanadi; asosiy kesma iyakdan emas, pastki labdan o‘tkaziladi.</a:t>
            </a:r>
          </a:p>
          <a:p>
            <a:pPr>
              <a:spcAft>
                <a:spcPts val="800"/>
              </a:spcAft>
            </a:pPr>
            <a:r>
              <a:rPr sz="1600">
                <a:solidFill>
                  <a:srgbClr val="1F2937"/>
                </a:solidFill>
                <a:latin typeface="Calibri"/>
              </a:rPr>
              <a:t>▸  Kindik qon tomirlari butunligi buzilmasligi uchun kesma kindikka yetmasdan, qov boylamlari tomonga davom ettiriladi.</a:t>
            </a:r>
          </a:p>
          <a:p>
            <a:pPr>
              <a:spcAft>
                <a:spcPts val="800"/>
              </a:spcAft>
            </a:pPr>
            <a:r>
              <a:rPr sz="1600">
                <a:solidFill>
                  <a:srgbClr val="1F2937"/>
                </a:solidFill>
                <a:latin typeface="Calibri"/>
              </a:rPr>
              <a:t>▸  Kalla bo‘shlig‘ida o‘roqsimon o‘simta va miyacha chodiri butunligi saqlanishi uchun suyaklar qaychi bilan kesilib, darchalar ochiladi.</a:t>
            </a:r>
          </a:p>
          <a:p>
            <a:pPr>
              <a:spcAft>
                <a:spcPts val="800"/>
              </a:spcAft>
            </a:pPr>
            <a:r>
              <a:rPr sz="1600">
                <a:solidFill>
                  <a:srgbClr val="1F2937"/>
                </a:solidFill>
                <a:latin typeface="Calibri"/>
              </a:rPr>
              <a:t>▸  Laboratoriya: gistologik tekshiruv (ichki a’zolar, yo‘ldosh, kindik bo‘lakchalari) va qon guruhini aniqlash uchun sud-biologik tekshiruv.</a:t>
            </a:r>
          </a:p>
        </p:txBody>
      </p:sp>
      <p:sp>
        <p:nvSpPr>
          <p:cNvPr id="9" name="Rounded Rectangle 8"/>
          <p:cNvSpPr/>
          <p:nvPr/>
        </p:nvSpPr>
        <p:spPr>
          <a:xfrm>
            <a:off x="5440680"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Kesma</a:t>
            </a:r>
          </a:p>
          <a:p>
            <a:pPr algn="l">
              <a:spcAft>
                <a:spcPts val="200"/>
              </a:spcAft>
            </a:pPr>
            <a:r>
              <a:rPr sz="1400" b="0">
                <a:solidFill>
                  <a:srgbClr val="1F2937"/>
                </a:solidFill>
                <a:latin typeface="Calibri"/>
              </a:rPr>
              <a:t>Pastki labdan boshlanadi</a:t>
            </a:r>
          </a:p>
        </p:txBody>
      </p:sp>
      <p:sp>
        <p:nvSpPr>
          <p:cNvPr id="12" name="Rounded Rectangle 11"/>
          <p:cNvSpPr/>
          <p:nvPr/>
        </p:nvSpPr>
        <p:spPr>
          <a:xfrm>
            <a:off x="8578443"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Bo‘shliqlar</a:t>
            </a:r>
          </a:p>
          <a:p>
            <a:pPr algn="l">
              <a:spcAft>
                <a:spcPts val="200"/>
              </a:spcAft>
            </a:pPr>
            <a:r>
              <a:rPr sz="1400" b="0">
                <a:solidFill>
                  <a:srgbClr val="1F2937"/>
                </a:solidFill>
                <a:latin typeface="Calibri"/>
              </a:rPr>
              <a:t>Ko‘krak va qorin</a:t>
            </a:r>
          </a:p>
        </p:txBody>
      </p:sp>
      <p:sp>
        <p:nvSpPr>
          <p:cNvPr id="15" name="Rounded Rectangle 14"/>
          <p:cNvSpPr/>
          <p:nvPr/>
        </p:nvSpPr>
        <p:spPr>
          <a:xfrm>
            <a:off x="5440680"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Kindik</a:t>
            </a:r>
          </a:p>
          <a:p>
            <a:pPr algn="l">
              <a:spcAft>
                <a:spcPts val="200"/>
              </a:spcAft>
            </a:pPr>
            <a:r>
              <a:rPr sz="1400" b="0">
                <a:solidFill>
                  <a:srgbClr val="1F2937"/>
                </a:solidFill>
                <a:latin typeface="Calibri"/>
              </a:rPr>
              <a:t>Kesma kindikka yetmay yonga buriladi</a:t>
            </a:r>
          </a:p>
        </p:txBody>
      </p:sp>
      <p:sp>
        <p:nvSpPr>
          <p:cNvPr id="18" name="Rounded Rectangle 17"/>
          <p:cNvSpPr/>
          <p:nvPr/>
        </p:nvSpPr>
        <p:spPr>
          <a:xfrm>
            <a:off x="8578443"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Kalla</a:t>
            </a:r>
          </a:p>
          <a:p>
            <a:pPr algn="l">
              <a:spcAft>
                <a:spcPts val="200"/>
              </a:spcAft>
            </a:pPr>
            <a:r>
              <a:rPr sz="1400" b="0">
                <a:solidFill>
                  <a:srgbClr val="1F2937"/>
                </a:solidFill>
                <a:latin typeface="Calibri"/>
              </a:rPr>
              <a:t>Peshona, tepa, chekka suyak darchalari</a:t>
            </a:r>
          </a:p>
        </p:txBody>
      </p:sp>
      <p:sp>
        <p:nvSpPr>
          <p:cNvPr id="21" name="Rounded Rectangle 20"/>
          <p:cNvSpPr/>
          <p:nvPr/>
        </p:nvSpPr>
        <p:spPr>
          <a:xfrm>
            <a:off x="5440680" y="4184904"/>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5</a:t>
            </a:r>
          </a:p>
        </p:txBody>
      </p:sp>
      <p:sp>
        <p:nvSpPr>
          <p:cNvPr id="23" name="TextBox 22"/>
          <p:cNvSpPr txBox="1"/>
          <p:nvPr/>
        </p:nvSpPr>
        <p:spPr>
          <a:xfrm>
            <a:off x="6080760" y="4184904"/>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Materiallar</a:t>
            </a:r>
          </a:p>
          <a:p>
            <a:pPr algn="l">
              <a:spcAft>
                <a:spcPts val="200"/>
              </a:spcAft>
            </a:pPr>
            <a:r>
              <a:rPr sz="1400" b="0">
                <a:solidFill>
                  <a:srgbClr val="1F2937"/>
                </a:solidFill>
                <a:latin typeface="Calibri"/>
              </a:rPr>
              <a:t>Gistologik va sud-biologik</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Ichki tekshiruv qadamlari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266, 267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Nozo‘raki o‘lim: davrlar bo‘yicha sabablar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tekshirish.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Antenatal: homilador kasalliklari (respirator virus infeksiyasi, zaxm, yurak nuqsoni), homiladorlik toksikozi, homiladagi rivojlanish nuqsonlari.</a:t>
            </a:r>
          </a:p>
          <a:p>
            <a:pPr>
              <a:spcAft>
                <a:spcPts val="800"/>
              </a:spcAft>
            </a:pPr>
            <a:r>
              <a:rPr sz="1600">
                <a:solidFill>
                  <a:srgbClr val="1F2937"/>
                </a:solidFill>
                <a:latin typeface="Calibri"/>
              </a:rPr>
              <a:t>▸  Intranatal: asosiy sabab tug‘ruq travmasi — tor tos, yirik homila yoki tug‘ruq sustligida bosh uzoq qisilib, kalla suyaklari sinadi.</a:t>
            </a:r>
          </a:p>
          <a:p>
            <a:pPr>
              <a:spcAft>
                <a:spcPts val="800"/>
              </a:spcAft>
            </a:pPr>
            <a:r>
              <a:rPr sz="1600">
                <a:solidFill>
                  <a:srgbClr val="1F2937"/>
                </a:solidFill>
                <a:latin typeface="Calibri"/>
              </a:rPr>
              <a:t>▸  Tug‘ruq paytida ona qo‘li bilan yordam bersa, homilaning yuz, bo‘yin sohasida shilinma, qontalash, og‘iz burchaklari yorilishi mumkin.</a:t>
            </a:r>
          </a:p>
          <a:p>
            <a:pPr>
              <a:spcAft>
                <a:spcPts val="800"/>
              </a:spcAft>
            </a:pPr>
            <a:r>
              <a:rPr sz="1600">
                <a:solidFill>
                  <a:srgbClr val="1F2937"/>
                </a:solidFill>
                <a:latin typeface="Calibri"/>
              </a:rPr>
              <a:t>▸  Postnatal: o‘ta norasolik, nomutanosib rivojlanish nuqsonlari, gemolitik kasallik, tug‘ma toksoplazmoz, pnevmopatiyalar.</a:t>
            </a:r>
          </a:p>
        </p:txBody>
      </p:sp>
      <p:sp>
        <p:nvSpPr>
          <p:cNvPr id="9" name="Rounded Rectangle 8"/>
          <p:cNvSpPr/>
          <p:nvPr/>
        </p:nvSpPr>
        <p:spPr>
          <a:xfrm>
            <a:off x="5440680" y="1417320"/>
            <a:ext cx="1945538"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Antenatal</a:t>
            </a:r>
          </a:p>
        </p:txBody>
      </p:sp>
      <p:sp>
        <p:nvSpPr>
          <p:cNvPr id="10" name="Rectangle 9"/>
          <p:cNvSpPr/>
          <p:nvPr/>
        </p:nvSpPr>
        <p:spPr>
          <a:xfrm>
            <a:off x="5440680"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Homilador ayol kasalliklari</a:t>
            </a:r>
          </a:p>
          <a:p>
            <a:pPr algn="l">
              <a:spcAft>
                <a:spcPts val="700"/>
              </a:spcAft>
            </a:pPr>
            <a:r>
              <a:rPr sz="1500" b="1">
                <a:solidFill>
                  <a:srgbClr val="C9A227"/>
                </a:solidFill>
                <a:latin typeface="Calibri"/>
              </a:rPr>
              <a:t>●  </a:t>
            </a:r>
            <a:r>
              <a:rPr sz="1500" b="0">
                <a:solidFill>
                  <a:srgbClr val="1F2937"/>
                </a:solidFill>
                <a:latin typeface="Calibri"/>
              </a:rPr>
              <a:t>Toksikoz, rivojlanish nuqsoni</a:t>
            </a:r>
          </a:p>
          <a:p>
            <a:pPr algn="l">
              <a:spcAft>
                <a:spcPts val="700"/>
              </a:spcAft>
            </a:pPr>
            <a:r>
              <a:rPr sz="1500" b="1">
                <a:solidFill>
                  <a:srgbClr val="C9A227"/>
                </a:solidFill>
                <a:latin typeface="Calibri"/>
              </a:rPr>
              <a:t>●  </a:t>
            </a:r>
            <a:r>
              <a:rPr sz="1500" b="0">
                <a:solidFill>
                  <a:srgbClr val="1F2937"/>
                </a:solidFill>
                <a:latin typeface="Calibri"/>
              </a:rPr>
              <a:t>Homila ichi asfiksiya</a:t>
            </a:r>
          </a:p>
        </p:txBody>
      </p:sp>
      <p:sp>
        <p:nvSpPr>
          <p:cNvPr id="11" name="Rounded Rectangle 10"/>
          <p:cNvSpPr/>
          <p:nvPr/>
        </p:nvSpPr>
        <p:spPr>
          <a:xfrm>
            <a:off x="7523378" y="1417320"/>
            <a:ext cx="1945538"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Intranatal</a:t>
            </a:r>
          </a:p>
        </p:txBody>
      </p:sp>
      <p:sp>
        <p:nvSpPr>
          <p:cNvPr id="12" name="Rectangle 11"/>
          <p:cNvSpPr/>
          <p:nvPr/>
        </p:nvSpPr>
        <p:spPr>
          <a:xfrm>
            <a:off x="7523378"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Tug‘ruq travmasi</a:t>
            </a:r>
          </a:p>
          <a:p>
            <a:pPr algn="l">
              <a:spcAft>
                <a:spcPts val="700"/>
              </a:spcAft>
            </a:pPr>
            <a:r>
              <a:rPr sz="1500" b="1">
                <a:solidFill>
                  <a:srgbClr val="C9A227"/>
                </a:solidFill>
                <a:latin typeface="Calibri"/>
              </a:rPr>
              <a:t>●  </a:t>
            </a:r>
            <a:r>
              <a:rPr sz="1500" b="0">
                <a:solidFill>
                  <a:srgbClr val="1F2937"/>
                </a:solidFill>
                <a:latin typeface="Calibri"/>
              </a:rPr>
              <a:t>Kalla suyaklari sinishi</a:t>
            </a:r>
          </a:p>
          <a:p>
            <a:pPr algn="l">
              <a:spcAft>
                <a:spcPts val="700"/>
              </a:spcAft>
            </a:pPr>
            <a:r>
              <a:rPr sz="1500" b="1">
                <a:solidFill>
                  <a:srgbClr val="C9A227"/>
                </a:solidFill>
                <a:latin typeface="Calibri"/>
              </a:rPr>
              <a:t>●  </a:t>
            </a:r>
            <a:r>
              <a:rPr sz="1500" b="0">
                <a:solidFill>
                  <a:srgbClr val="1F2937"/>
                </a:solidFill>
                <a:latin typeface="Calibri"/>
              </a:rPr>
              <a:t>Ona yordamidan yuz, bo‘yin shilinmasi</a:t>
            </a:r>
          </a:p>
        </p:txBody>
      </p:sp>
      <p:sp>
        <p:nvSpPr>
          <p:cNvPr id="13" name="Rounded Rectangle 12"/>
          <p:cNvSpPr/>
          <p:nvPr/>
        </p:nvSpPr>
        <p:spPr>
          <a:xfrm>
            <a:off x="9606076" y="1417320"/>
            <a:ext cx="1945538"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Postnatal</a:t>
            </a:r>
          </a:p>
        </p:txBody>
      </p:sp>
      <p:sp>
        <p:nvSpPr>
          <p:cNvPr id="14" name="Rectangle 13"/>
          <p:cNvSpPr/>
          <p:nvPr/>
        </p:nvSpPr>
        <p:spPr>
          <a:xfrm>
            <a:off x="9606076"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O‘ta norasolik</a:t>
            </a:r>
          </a:p>
          <a:p>
            <a:pPr algn="l">
              <a:spcAft>
                <a:spcPts val="700"/>
              </a:spcAft>
            </a:pPr>
            <a:r>
              <a:rPr sz="1500" b="1">
                <a:solidFill>
                  <a:srgbClr val="C9A227"/>
                </a:solidFill>
                <a:latin typeface="Calibri"/>
              </a:rPr>
              <a:t>●  </a:t>
            </a:r>
            <a:r>
              <a:rPr sz="1500" b="0">
                <a:solidFill>
                  <a:srgbClr val="1F2937"/>
                </a:solidFill>
                <a:latin typeface="Calibri"/>
              </a:rPr>
              <a:t>Gemolitik kasallik</a:t>
            </a:r>
          </a:p>
          <a:p>
            <a:pPr algn="l">
              <a:spcAft>
                <a:spcPts val="700"/>
              </a:spcAft>
            </a:pPr>
            <a:r>
              <a:rPr sz="1500" b="1">
                <a:solidFill>
                  <a:srgbClr val="C9A227"/>
                </a:solidFill>
                <a:latin typeface="Calibri"/>
              </a:rPr>
              <a:t>●  </a:t>
            </a:r>
            <a:r>
              <a:rPr sz="1500" b="0">
                <a:solidFill>
                  <a:srgbClr val="1F2937"/>
                </a:solidFill>
                <a:latin typeface="Calibri"/>
              </a:rPr>
              <a:t>Tug‘ma toksoplazmoz, pnevmopatiya</a:t>
            </a:r>
          </a:p>
        </p:txBody>
      </p:sp>
      <p:sp>
        <p:nvSpPr>
          <p:cNvPr id="15" name="TextBox 14"/>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Davrlar bo‘yicha sabablar</a:t>
            </a:r>
          </a:p>
        </p:txBody>
      </p:sp>
      <p:sp>
        <p:nvSpPr>
          <p:cNvPr id="16" name="TextBox 15"/>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265</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Homila ichi asfiksiya va miya qon quyilishi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tekshirish.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Yetuk homilaning yo‘g‘on ichak bo‘shlig‘i odatda keng (bir necha sm gacha) va mekoniyga to‘la bo‘ladi.</a:t>
            </a:r>
          </a:p>
          <a:p>
            <a:pPr>
              <a:spcAft>
                <a:spcPts val="800"/>
              </a:spcAft>
            </a:pPr>
            <a:r>
              <a:rPr sz="1800">
                <a:solidFill>
                  <a:srgbClr val="1F2937"/>
                </a:solidFill>
                <a:latin typeface="Calibri"/>
              </a:rPr>
              <a:t>▸  Homila ichi asfiksiyasida mekoniy ichakdan to‘liq yoki qisman chiqib ketadi va yo‘g‘on ichak bo‘shlig‘i ancha torayadi.</a:t>
            </a:r>
          </a:p>
          <a:p>
            <a:pPr>
              <a:spcAft>
                <a:spcPts val="800"/>
              </a:spcAft>
            </a:pPr>
            <a:r>
              <a:rPr sz="1800">
                <a:solidFill>
                  <a:srgbClr val="1F2937"/>
                </a:solidFill>
                <a:latin typeface="Calibri"/>
              </a:rPr>
              <a:t>▸  Miya pardalari va qorinchalariga qon quyilishlar kuzatilishi mumkin; ular ko‘pincha simmetrik bo‘ladi.</a:t>
            </a:r>
          </a:p>
          <a:p>
            <a:pPr>
              <a:spcAft>
                <a:spcPts val="800"/>
              </a:spcAft>
            </a:pPr>
            <a:r>
              <a:rPr sz="1800">
                <a:solidFill>
                  <a:srgbClr val="1F2937"/>
                </a:solidFill>
                <a:latin typeface="Calibri"/>
              </a:rPr>
              <a:t>▸  Antenatal zo‘raki o‘lim ancha kam: asosan homilador ayolga mexanik jarohat yetkazish yoki uni zaharlash bilan bog‘liq.</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Normada</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Yo‘g‘on ichak bo‘shlig‘i keng</a:t>
            </a:r>
          </a:p>
          <a:p>
            <a:pPr algn="l">
              <a:spcAft>
                <a:spcPts val="700"/>
              </a:spcAft>
            </a:pPr>
            <a:r>
              <a:rPr sz="1500" b="1">
                <a:solidFill>
                  <a:srgbClr val="C9A227"/>
                </a:solidFill>
                <a:latin typeface="Calibri"/>
              </a:rPr>
              <a:t>●  </a:t>
            </a:r>
            <a:r>
              <a:rPr sz="1500" b="0">
                <a:solidFill>
                  <a:srgbClr val="1F2937"/>
                </a:solidFill>
                <a:latin typeface="Calibri"/>
              </a:rPr>
              <a:t>Mekoniyga to‘la</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Asfiksiyada</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Mekoniy chiqib ketadi</a:t>
            </a:r>
          </a:p>
          <a:p>
            <a:pPr algn="l">
              <a:spcAft>
                <a:spcPts val="700"/>
              </a:spcAft>
            </a:pPr>
            <a:r>
              <a:rPr sz="1500" b="1">
                <a:solidFill>
                  <a:srgbClr val="C9A227"/>
                </a:solidFill>
                <a:latin typeface="Calibri"/>
              </a:rPr>
              <a:t>●  </a:t>
            </a:r>
            <a:r>
              <a:rPr sz="1500" b="0">
                <a:solidFill>
                  <a:srgbClr val="1F2937"/>
                </a:solidFill>
                <a:latin typeface="Calibri"/>
              </a:rPr>
              <a:t>Yo‘g‘on ichak bo‘shlig‘i torayadi</a:t>
            </a:r>
          </a:p>
          <a:p>
            <a:pPr algn="l">
              <a:spcAft>
                <a:spcPts val="700"/>
              </a:spcAft>
            </a:pPr>
            <a:r>
              <a:rPr sz="1500" b="1">
                <a:solidFill>
                  <a:srgbClr val="C9A227"/>
                </a:solidFill>
                <a:latin typeface="Calibri"/>
              </a:rPr>
              <a:t>●  </a:t>
            </a:r>
            <a:r>
              <a:rPr sz="1500" b="0">
                <a:solidFill>
                  <a:srgbClr val="1F2937"/>
                </a:solidFill>
                <a:latin typeface="Calibri"/>
              </a:rPr>
              <a:t>Miya qon quyilishi — simmetrik</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Homila ichi asfiksiya belgilari</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265, 266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va nazorat savollari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tekshirish.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Sud tibbiyotida yangi tug‘ilganlik — dastlabki 24 soat. Tirik tug‘ilganlik asosan go‘dak nafas olgan-olmaganligi bilan hal etiladi.</a:t>
            </a:r>
          </a:p>
          <a:p>
            <a:pPr>
              <a:spcAft>
                <a:spcPts val="1200"/>
              </a:spcAft>
            </a:pPr>
            <a:r>
              <a:rPr sz="2200">
                <a:solidFill>
                  <a:srgbClr val="1F2937"/>
                </a:solidFill>
                <a:latin typeface="Calibri"/>
              </a:rPr>
              <a:t>▸  Gestatsion yoshni antropometriya va belgilar aniqlaydi. Uzunligi 25 sm dan, vazni 500 g dan kam go‘dak hayotga layoqatsiz hisoblanadi.</a:t>
            </a:r>
          </a:p>
          <a:p>
            <a:pPr>
              <a:spcAft>
                <a:spcPts val="1200"/>
              </a:spcAft>
            </a:pPr>
            <a:r>
              <a:rPr sz="2200">
                <a:solidFill>
                  <a:srgbClr val="1F2937"/>
                </a:solidFill>
                <a:latin typeface="Calibri"/>
              </a:rPr>
              <a:t>▸  O‘lim nozo‘raki (ante-, intra-, postnatal) yoki zo‘raki (asosan postnatal) bo‘ladi. Muhimi — o‘limning aniq sababini ko‘rsatish.</a:t>
            </a:r>
          </a:p>
          <a:p>
            <a:pPr>
              <a:spcAft>
                <a:spcPts val="1200"/>
              </a:spcAft>
            </a:pPr>
            <a:r>
              <a:rPr sz="2200">
                <a:solidFill>
                  <a:srgbClr val="1F2937"/>
                </a:solidFill>
                <a:latin typeface="Calibri"/>
              </a:rPr>
              <a:t>▸  Nazorat: ekspertiza savollari, yangi tug‘ilganlik farqi va belgilari, absolyut belgilar, o‘pka sinamasi va ikkilamchi atelektaz.</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256, 259, 262, 263, 264, 266, 267</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tekshirish.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43</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Yangi tug‘ilganlik tushunchasi uch fanda har xil. Pediatriyada u 4 hafta, akusherlikda 7 kun, sud tibbiyotida esa dastlabki 24 soat. Bu farq qonun bilan bog‘liq: JK 99-modda (ona o‘z chaqalog‘ini o‘ldirsa) jazosi 97-moddaga (qasddan odam o‘ldirish) qaraganda ancha yengil.</a:t>
            </a:r>
          </a:p>
          <a:p>
            <a:pPr>
              <a:spcAft>
                <a:spcPts val="1200"/>
              </a:spcAft>
            </a:pPr>
            <a:r>
              <a:rPr sz="1800">
                <a:solidFill>
                  <a:srgbClr val="1F2937"/>
                </a:solidFill>
                <a:latin typeface="Calibri"/>
              </a:rPr>
              <a:t>▸  Eslab qolish usuli: yangi tug‘ilganlikning mutloq ishonchli belgilari faqat uchta. Ular o‘pkaning birlamchi atelektazi, kindikda demarkatsion halqaning yo‘qligi yoki dastlabki belgilari va tana hamda yo‘ldoshdan ajratilmagan kindik. Qon izlari, mo‘msimon qoplama, tug‘ruq shishi va mekoniy nisbiy belgilar bo‘lib, ikkinchi va keyingi kunlarda ham topilishi mumkin.</a:t>
            </a:r>
          </a:p>
          <a:p>
            <a:pPr>
              <a:spcAft>
                <a:spcPts val="1200"/>
              </a:spcAft>
            </a:pPr>
            <a:r>
              <a:rPr sz="1800">
                <a:solidFill>
                  <a:srgbClr val="1F2937"/>
                </a:solidFill>
                <a:latin typeface="Calibri"/>
              </a:rPr>
              <a:t>▸  Hisoblash misoli: Gaaze formulasi bo‘yicha birinchi yarmida tana uzunligidan kvadrat ildiz olinadi (16 sm – 4 homila oyi). Ikkinchi yarmida uzunlik 5 ga bo‘linadi (40 sm – 8 oy). Baltazar-Derve indeksi 5,6 ni 40 sm ga ko‘paytirsak, 224 kun, ya’ni 8 homila oyi chiqadi.</a:t>
            </a:r>
          </a:p>
          <a:p>
            <a:pPr>
              <a:spcAft>
                <a:spcPts val="1200"/>
              </a:spcAft>
            </a:pPr>
            <a:r>
              <a:rPr sz="1800">
                <a:solidFill>
                  <a:srgbClr val="1F2937"/>
                </a:solidFill>
                <a:latin typeface="Calibri"/>
              </a:rPr>
              <a:t>▸  Hodisa tahlili: chirigan murdada o‘pka bo‘lakchasi chirish gazlari tufayli suzib chiqishi mumkin (soxta musbat natija). Uni suv ostida qo‘l bilan siqib ajratish mumkin. Chirish gazi chiqib ketadi va bo‘lakcha qayta suzib chiqmaydi, haqiqiy nafas olgan o‘pkada esa havo saqlanadi. Soxta manfiy natijada (ikkilamchi atelektaz) Taranuxin usuli qo‘llanadi.</a:t>
            </a:r>
          </a:p>
          <a:p>
            <a:pPr>
              <a:spcAft>
                <a:spcPts val="1200"/>
              </a:spcAft>
            </a:pPr>
            <a:r>
              <a:rPr sz="1800">
                <a:solidFill>
                  <a:srgbClr val="1F2937"/>
                </a:solidFill>
                <a:latin typeface="Calibri"/>
              </a:rPr>
              <a:t>▸  Go‘dak necha soat yashaganini havo joylashuvi ko‘rsatadi. Havo faqat oshqozonda bo‘lsa, 3 soatdan kam yashagan. 5-6 soatda havo ingichka ichakni to‘ldiradi, 6 soatdan keyin yo‘g‘on ichakka o‘tadi. Gialin membranalari uchun kamida 1-2 soat kerak, ikkilamchi atelektaz esa kamida 5-6 soatdan keyin rivojlanadi. Bu muddatlar taxminiy.</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tekshirish.</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43</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800"/>
              </a:spcAft>
            </a:pPr>
            <a:r>
              <a:rPr sz="2000">
                <a:solidFill>
                  <a:srgbClr val="1F2937"/>
                </a:solidFill>
                <a:latin typeface="Calibri"/>
              </a:rPr>
              <a:t>▸  G‘iyosov Z.A. Sud tibbiyoti: darslik, Toshkent: Global Books nashriyoti. 2018. Bob 10. Homila va yangi tug'ilgan go'daklar murdasi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