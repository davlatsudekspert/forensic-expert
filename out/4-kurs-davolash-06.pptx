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onasi noma’lum go‘dak murdasi topilganda ekspertiza majburiy deb o‘ylaysiz? 2) Davolash muassasasidan tashqaridagi tug‘ruqda nima xavf bor? Doskaga: ekspertiza tayinlanadigan uch holatni uchta ustun qilib yozdiring. Tipik xato: talabalar uch holatni faqat jinoyat shubhasi bilan cheklab qo‘yadi, tibbiy yordamga shikoyatni unutadi.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Oltita savolning qaysi biri jinoyatga huquqiy baho berishda muhimroq? 2) Gestatsion yosh nimani bildiradi? Doskaga: oltita savolni ketma-ketlikda yozdirib, har biriga bittadan misol keltirtiring. Tipik xato: «tirik tug‘ilgan» va «hayotga layoqatli» savollarini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 tibbiyotida davr aynan 24 soat bilan cheklangan? 2) Tug‘ruq og‘rig‘i va psixo-emotsional holat ona xatti-harakatiga qanday ta’sir qilishi mumkin? Doskaga: uch fan va ularning davrini vaqt chizig‘ida chizdiring. Tipik xato: pediatriyadagi 4 hafta yoki akusherlikdagi 7 kunni sud tibbiyotiga ko‘chirish.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qonun onaning tug‘ish paytidagi harakatini yengilroq jazolaydi? 2) Tibbiy asos nima? Doskada chizish: ikki ustunli sxema — «ona: 99-modda» va «boshqa shaxs: 97-modda». Tipik xato: talabalar 99-modda va 97-moddani almashtirib yuboradi yoki sud tibbiyotidagi 24 soatni pediatriyadagi 4 hafta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Ajratilmagan kindik nima uchun «mutloq» belgi? 2) Nisbiy belgilar nega yolg‘iz yetarli emas? Doskada chizish: uch muassasa (pediatriya, akusherlik, sud tibbiyoti) va ularning davri. Tipik xato: sud-tibbiy ta’rifni pediatriyadagi neonatal davr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yuvilgan go‘dakda qon izlari bo‘lmasligi mumkin? 2) Mo‘msimon qoplama nima uchun terining burmalarida uzoqroq qoladi? Doskada chizish: mo‘msimon qoplama tarkibi (4 komponent) ro‘yxati. Tipik xato: qon izlarini tashqi jarohat natijasi deb olish; tashqi jarohat bo‘lmasligi sharti unutiladi.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tug‘ruq shishi tor tosda ko‘p uchraydi? 2) Choklar bilan munosabat tashxisda qanday yordam beradi? Doskada: bosh suyaklari va choklarni chizib, shish va gematoma chegarasini turli rangda belgilang. Tipik xato: ikkala holatni faqat joylashuvi bo‘yicha aralashtirish va so‘rilish muddatini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Mekoniyning tarkibi nima uchun homila yoshini aniqlashda foydali? 2) Norasolarda chiqish muddati nega uzoqroq bo‘lishi mumkin? Doskada: mekoniy topiladigan sohalarni tana sxemasida belgilang. Tipik xato: mekoniy topilishini yangi tug‘ilganlikning absolyut belgisi deb hisoblash (u nisbiy belgi).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tirik tug‘ilganlikni nima uchun ko‘rsatadi? 2) Ajratilmagan kindik qanday xulosaga olib keladi? Doskada: kindik o‘zgarishlari vaqt chizig‘ini soatlardan 5-7 kungacha chizing. Tipik xato: kindik quruq bo‘lsa ham halqa bor deb o‘ylash yoki ajralish muddatini (5-7 kun) halqa paydo bo‘lish muddati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faqat uchta belgi mutloq hisoblanadi? 2) Mo‘msimon qoplama nega yagona dalil bo‘la olmaydi? Doskada jadvalni chizdiring: chap ustunda mutloq, o‘ng ustunda nisbiy belgilar. Tipik xato: mekoniy yoki mo‘msimon qoplamani mutloq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navbat bilan bering. Muhokama: 1) Kindik demarkatsion halqasi qachon paydo bo‘ladi? 2) Kefalogematoma tug‘ruq shishidan nimasi bilan farq qiladi? Doskada “O‘-D-K” qisqartmasini yozing. Tipik xato: muddatlarni (2-3 kun va 2 hafta) aralashtirish. “O‘-D-K” kitobda yo‘q, o‘qituvchi tuzgan eslatma.</a:t>
            </a:r>
          </a:p>
          <a:p/>
          <a:p>
            <a:r>
              <a:t>Tekshirish kerak (manbada noaniq):</a:t>
            </a:r>
          </a:p>
          <a:p>
            <a:r>
              <a:t>- Eslab qoling: “O‘-D-K” — O‘pka atelektazi, Demarkatsion halqa, Kindik. Bu o‘quv uchun tuzilgan qisqa eslatma.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Agar kindik ajratilgan bo‘lsa, xulosa qanday o‘zgaradi? 2) Qo‘shimcha qaysi belgilarni tekshirish kerak? Doskada vaziyatdagi belgilarni “mutloq” va “nisbiy” ustunlariga taqsimlang. Tipik xato: mekoniy topilganini mutloq belgi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JSST mezonlaridan nega faqat nafas olish ekspertizada asosiy mezon bo‘lib qolgan? 2) Nafas olishni murdada qanday belgilar ko‘rsatadi? Doskada: to‘rt mezonni yozing, nafas olishni aylana ichiga oling. Tipik xato: talabalar to‘rt mezonni ham ekspertizada tekshiriladi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sinama bosqichma-bosqich, kompleksdan bo‘lakchalargacha o‘tkaziladi? 2) Solishtirma og‘irlik 1,0 chegarasi nimani bildiradi? Doskada: zanjirni chizib, har bosqichda natijani (cho‘kdi/suzdi) belgilang. Tipik xato: ligaturalarni qo‘ymasdan a’zolarni suvga solish.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Chirigan murdada musbat natijani qanday tekshirasiz? 2) Ikkilamchi atelektazda nega sinama manfiy chiqadi? Doskada: jadvalni to‘ldirib, soxta musbat va soxta manfiyni ikki rangda ajrating. Tipik xato: soxta musbat va soxta manfiyni chalkashtirish.</a:t>
            </a:r>
          </a:p>
          <a:p/>
          <a:p>
            <a:r>
              <a:t>Tekshirish kerak (manbada noaniq):</a:t>
            </a:r>
          </a:p>
          <a:p>
            <a:r>
              <a:t>- Diqqat: o‘pkaning suzishi har doim nafas olganini bildirmaydi; soxta natijalarni istisno qiling.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oddiy sinama ikkilamchi atelektazda soxta manfiy beradi? 2) Past bosimda bo‘lakcha nega qalqib chiqadi? Doskada chizish: ikkita kolba sxemasi (odatdagi bosim, past bosim) va bo‘lakchaning holati. Tipik xato: soxta manfiy (ikkilamchi atelektaz) bilan soxta musbat (chirish gazlari, sun’iy nafas)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Chirigan murdada oshqozon-ichak sinamasi nega ishonchsiz? 2) Rentgen sinamasi qanday cheklovlarga ega? Doskada chizish: oshqozon va ichaklar bo‘ylab havoning tarqalish sxemasi. Tipik xato: Breslau sinamasini o‘pka (Galen-Shreer) sinamasi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Diafragma sathi nima uchun farq qiladi? 2) Marmarsimon rang qaysi holatda uchraydi? Doskada chizish: ikki xil ko‘krak qafasi (bochkasimon va yassi) va diafragma sathlari. Tipik xato: o‘pka vazni raqamlarini (55-60 g va 85-90 g) o‘rnini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alveolalar yoyilishi nafas olganlikni ko‘rsatadi? 2) Gialin membranalar qaysi go‘daklarda uchraydi (asosan tirik tug‘ilgan norasolarda, bir necha soat yashaganlarda)? Doskada chizish: ikki alveola – yoyilmagan (kubsimon epiteliy) va yoyilgan (yassi epiteliy). Tipik xato: gialin membranani nafas olmagan o‘pkaga xos deb o‘ylash. Diqqat: gialin membrana ≠ arteriyadagi bo‘rtiq; birinchisi tirik tug‘ilganlik, ikkinchisi o‘lik tug‘ilganlik belgisi.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o‘qing, javobni yopiq holda so‘rang. Muhokama: nima uchun rentgenologik sinama (Dillon, 1939) hozir qo‘llanmaydi? Doskada chizish: sinamalar, mualliflar va yillar ro‘yxati. Tipik xato: Breslau va Shreer sinamalarini chalkashtirish. Diqqat: soxta musbat ≠ soxta manfiy.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Suzish nima uchun chirigan murdada ishonchsiz? 2) Qaysi mikroskopik belgilar nafas olganlikni tasdiqlaydi? Doskada chizish: ekspert qarorining bosqichlari (suzish, siqish, mikroskopiya). Tipik xato: o‘pka suzdi, demak go‘dak tirik tug‘ilgan deb xulosa qilish. Diqqat: chirishda oshqozon-ichak sinamasini asos qilmang; mikroskopiyaning chirigan o‘pkaga qo‘llanishi bandi muallif tomonidan aniq yozilmagan, o‘qituvchi tekshirsin.</a:t>
            </a:r>
          </a:p>
          <a:p/>
          <a:p>
            <a:r>
              <a:t>Tekshirish kerak (manbada noaniq):</a:t>
            </a:r>
          </a:p>
          <a:p>
            <a:r>
              <a:t>- Qo‘shimcha: mikroskopiyada alveolalar yoyilganligi, epiteliy yassiligi baholanadi. Suzishning o‘zi xulosa uchun yetarli emas.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rasolik muddat bilan, yetuklik o‘lcham bilan belgilanadi? 2) Tergov idoralari uchun bu tushunchalar qanday ahamiyatga ega? Doskada chizish: ikki ustunli solishtirish – «Raso» va «Yetuk» (mezonlari bilan). Tipik xato: talabalar rasolik va yetuklikni bir xil tushuncha deb o‘ylaydi; 45 sm va 50–54 sm raqamlarini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Tezkor savol: tana uzunligi 40 sm bo‘lsa, Gaaze va Baltazar-Derve bo‘yicha natija qanday (8 oy va 224 kun)? Muhokama: nega bir nechta usul bilan tekshirish kerak? Doskada chizish: 16 sm va 40 sm uchun Gaaze hisobini qadamma-qadam yozing. Tipik xato: Gaaze formulasida yarimlarni almashtirish (ildiz chiqarish va 5 ga bo‘lish); Baltazar-Derve natijasini oy emas, kun deb yozmaslik.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Jadvaldagi qaysi qiymat oyma-oy eng ko‘p o‘zgaradi? 2) Antenatal o‘limda yo‘ldosh va kindikni tekshirish nega muhim? Doskada chizish: jadvalni daftarga ko‘chirib, IX oy qatorini (47 sm, 470 g) o‘zlari qo‘shsin. Tipik xato: kindik uzunligi (sm) va yo‘ldosh massasi (g) birliklarini aralashtirish; X oy qiymatlarini (50 sm, 500 g) VIII oy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o‘zaklar kechikishi mumkin? 2) Mekoniyda tuk sochi nima uchun paydo bo‘ladi (tuk sochli qog‘onoq suvlari yutiladi)? Doskada: jadvalni oylar bo‘yicha o‘sish tartibida (V–VII–IX) chizdiring. Diqqat: Beklyar yadrosi IX oyda, tovon suyagida V oyda paydo bo‘ladi. Tipik xato: oylarni aralashtirish. Eslab qoling: 5–7–9 (tovon–g‘altak–son).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Ikki formula natijasi nega mos tushdi? 2) Yetuk bo‘lmagan homila hayotga layoqatsiz bo‘ladimi? Javob: 40 sm &lt; 45 sm, yetuk emas. Doskada: Gaaze va Baltazar-Derve hisobini ketma-ket yozdiring. Qo‘shimcha: Yakupov bo‘yicha bosh aylanasi 34 sm : 3,4 = 10 oy. Tipik xato: birinchi yarmida ham 5 ga bo‘lish (u yerda kvadrat ildiz olinadi).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tashqi nuqsonda ichki a’zolar ham ochib ko‘riladi? 2) Tug‘ruq travmasi qanday holatda layoqatsizlikka olib keladi? Doskada: ikki ustunli ro‘yxat chizdiring: layoqatsizlik sabablari (norasolik, nuqson, travma). Diqqat: tirik tug‘ilgan ≠ hayotga layoqatli. Tipik xato: 25 sm va 500 g mezonini ‘yetuklik’ mezoni (45 sm, 2500 g)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muddatlar faqat taxminiy hisoblanadi? 2) Havo qaysi bo‘limda bo‘lsa, go‘dak qancha yashagan? Doskada: soat o‘qi (0-3-6 soat, 1-sutka) chizib, belgilarni joylashtirtiring. Qo‘shimcha: tug‘ruq shishi 2-3-kunlarda so‘riladi. Tipik xato: gialin membrana bilan ikkilamchi atelektaz muddatini aralashtirish. Chirish va sun’iy nafas oldirishda oshqozon-ichak sinamasi tavsiya etilmaydi, buni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Qarov belgilarining qaysi biri tashqi, qaysi biri ichki tekshiruvda aniqlanadi? 2) Nega bu masala huquqiy baho uchun muhim? Doskada: ikki ustunli ro‘yxat (tashqi va ichki belgilar) tuzdiring. Tezkor savol javobi: 1-2 soat; qarov belgilari: yo‘rgak, kiyim, kindik boylanishi, tozalanganlik, oshqozondagi sut. Tipik xato: faqat bitta belgiga tayanib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Berilgan ma’lumotlar bo‘yicha yashash muddatini qanday baholaysiz? 2) Qarov haqida xulosa uchun yana qaysi ma’lumotlar kerak? Doskada: belgi - muddat - xulosa jadvalini to‘ldirtiring. Tipik xato: qarov haqida ma’lumot bo‘lmasa ham xulosa chiqarish. Eslatma: halqa belgisi va oshqozondagi havo muddatlarining mosligi talabalar bilan birga muhokama qilinsin.</a:t>
            </a:r>
          </a:p>
          <a:p/>
          <a:p>
            <a:r>
              <a:t>Tekshirish kerak (manbada noaniq):</a:t>
            </a:r>
          </a:p>
          <a:p>
            <a:r>
              <a:t>- Kindikdagi halqa belgilari tirik tug‘ilganlikka mos. Muddatlar taxminiy, shuning uchun xulosa bitta belgiga asoslanmaydi.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homila murdasi bilan birga yo‘ldosh va kindik ham tekshiriladi? 2) Mekoniy topilishi va yo‘g‘on ichak torayishi nimani ko‘rsatadi? Doskada: davrlar (antenatal, intranatal, postnatal) chizig‘ini chizib, har biriga sabablarni joylang. Tipik xato: antenatal va intranatal davrni aralashtirish; tug‘ruqdan oldin (antenatal) va tug‘ruq paytida (intranatal).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Tug‘ruq travmasini boshqa shikastlardan farqlovchi asosiy belgi nima? 2) Ayol o‘ziga yordam bersa, qanday izlar qoladi? Doskada: bosh suyaklari, miyacha chodiri va o‘roqsimon o‘simtani sxematik chizing. Tipik xato: tug‘ruq travmasida ham tashqi yara bo‘ladi deb o‘ylash. Eslatma: tepa va peshona suyaklaridagi siniq turlari manbada aniq o‘qilmaydi, ehtiyotkorlik bilan bering.</a:t>
            </a:r>
          </a:p>
          <a:p/>
          <a:p>
            <a:r>
              <a:t>Tekshirish kerak (manbada noaniq):</a:t>
            </a:r>
          </a:p>
          <a:p>
            <a:r>
              <a:t>- Ko‘pincha tepa va peshona suyaklari shikastlanadi; radial va botiq siniqlar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sud-tibbiy ekspert uchun o‘limning aniq sababi aktiv/passiv farqidan muhimroq? 2) Kindik bog‘lanmagan go‘dakda o‘lim sababi nima bo‘lishi mumkin? Doskada: aktiv va passiv ustunli jadvalni o‘quvchilar bilan to‘ldiring. Tipik xato: ekspert aktiv yoki passiv ekanini hal qiladi deb o‘ylash; bu huquqiy baho, ekspert esa o‘lim sababini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Tashqi jarohat bo‘lmasa, nega tug‘ruq travmasi o‘ylanadi? 2) Ona qo‘li bilan yetkazilgan shikast qaysi sohalarda ko‘rinadi? Doskada: ikki ustunli taqqoslash — tug‘ruq travmasi va ona qo‘li bilan shikast belgilari. Tipik xato: tashqi jarohat yo‘qligini kalla ichi qon quyilishini istisno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kesma kindikka yetmay yonga buriladi va kalla suyagi qaychi bilan darcha shaklida ochiladi? 2) Laboratoriyaga qaysi materiallar olinadi (gistologik, sud-biologik)? Doskada: tekshiruv bosqichlari zanjirini chizing. Tipik xato: yo‘ldosh va kindikni tekshirmasdan faqat murda bilan cheklanish, kesmani iyakdan boshlash.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Yangi tug‘ilganlik pediatriya, akusherlik va sud tibbiyotida qanday farqlanadi? 2) Absolyut belgilar qaysilar? Doskada: besh asosiy savol (yangi tug‘ilganmi, tirikmi, yoshi, layoqat, o‘lim sababi) ro‘yxatini yozing. Tipik xato: nisbiy belgilarni absolyut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№3. Ma’ruza: Yangi tug‘ilgan chaqaloqlar murdasini va homilani sud-tibbiy tekshirish.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ekspertiza qachon tayinlanadi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Bob 10 homila va yangi tug‘ilgan go‘daklar murdasining sud-tibbiy ekspertizasiga bag‘ishlangan.</a:t>
            </a:r>
          </a:p>
          <a:p>
            <a:pPr>
              <a:spcAft>
                <a:spcPts val="1200"/>
              </a:spcAft>
            </a:pPr>
            <a:r>
              <a:rPr sz="2200">
                <a:solidFill>
                  <a:srgbClr val="1F2937"/>
                </a:solidFill>
                <a:latin typeface="Calibri"/>
              </a:rPr>
              <a:t>▸  Ekspertiza zo‘raki o‘lim alomatlari yoki unga shubha bo‘lganda o‘tkaziladi. Birinchi holat: onasi noma’lum go‘dak murdasi topilganda.</a:t>
            </a:r>
          </a:p>
          <a:p>
            <a:pPr>
              <a:spcAft>
                <a:spcPts val="1200"/>
              </a:spcAft>
            </a:pPr>
            <a:r>
              <a:rPr sz="2200">
                <a:solidFill>
                  <a:srgbClr val="1F2937"/>
                </a:solidFill>
                <a:latin typeface="Calibri"/>
              </a:rPr>
              <a:t>▸  Ikkinchi holat: davolash muassasasidan tashqarida tug‘ruqda o‘lik bola tug‘ilganda.</a:t>
            </a:r>
          </a:p>
          <a:p>
            <a:pPr>
              <a:spcAft>
                <a:spcPts val="1200"/>
              </a:spcAft>
            </a:pPr>
            <a:r>
              <a:rPr sz="2200">
                <a:solidFill>
                  <a:srgbClr val="1F2937"/>
                </a:solidFill>
                <a:latin typeface="Calibri"/>
              </a:rPr>
              <a:t>▸  Uchinchi holat: homilador ayolga ko‘rsatilgan tibbiy yordamga nisbatan shikoyat bo‘lganda.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oldiga oltita maxsus savol qo‘yiladi.</a:t>
            </a:r>
          </a:p>
          <a:p>
            <a:pPr>
              <a:spcAft>
                <a:spcPts val="800"/>
              </a:spcAft>
            </a:pPr>
            <a:r>
              <a:rPr sz="1800">
                <a:solidFill>
                  <a:srgbClr val="1F2937"/>
                </a:solidFill>
                <a:latin typeface="Calibri"/>
              </a:rPr>
              <a:t>▸  Bu savollar boshqa murda ekspertizalaridan farqli, maxsus tusga ega.</a:t>
            </a:r>
          </a:p>
          <a:p>
            <a:pPr>
              <a:spcAft>
                <a:spcPts val="800"/>
              </a:spcAft>
            </a:pPr>
            <a:r>
              <a:rPr sz="1800">
                <a:solidFill>
                  <a:srgbClr val="1F2937"/>
                </a:solidFill>
                <a:latin typeface="Calibri"/>
              </a:rPr>
              <a:t>▸  Umumiy savollar ham beriladi: o‘lim sababi, muddati, jarohatlar va ularning yetkazilish mexanizmi.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Savol</a:t>
                      </a:r>
                    </a:p>
                  </a:txBody>
                  <a:tcPr marL="73152" marR="73152" marT="36576" marB="36576">
                    <a:solidFill>
                      <a:srgbClr val="0B1F3A"/>
                    </a:solidFill>
                  </a:tcPr>
                </a:tc>
              </a:tr>
              <a:tr h="614476">
                <a:tc>
                  <a:txBody>
                    <a:bodyPr/>
                    <a:lstStyle/>
                    <a:p>
                      <a:r>
                        <a:rPr sz="1700" b="0">
                          <a:solidFill>
                            <a:srgbClr val="1F2937"/>
                          </a:solidFill>
                        </a:rPr>
                        <a:t>Davr va hayot</a:t>
                      </a:r>
                    </a:p>
                  </a:txBody>
                  <a:tcPr marL="73152" marR="73152" marT="36576" marB="36576">
                    <a:solidFill>
                      <a:srgbClr val="E8EEF6"/>
                    </a:solidFill>
                  </a:tcPr>
                </a:tc>
                <a:tc>
                  <a:txBody>
                    <a:bodyPr/>
                    <a:lstStyle/>
                    <a:p>
                      <a:r>
                        <a:rPr sz="1700" b="0">
                          <a:solidFill>
                            <a:srgbClr val="1F2937"/>
                          </a:solidFill>
                        </a:rPr>
                        <a:t>Yangi tug‘ilganmi? Tirik tug‘ilganmi?</a:t>
                      </a:r>
                    </a:p>
                  </a:txBody>
                  <a:tcPr marL="73152" marR="73152" marT="36576" marB="36576">
                    <a:solidFill>
                      <a:srgbClr val="E8EEF6"/>
                    </a:solidFill>
                  </a:tcPr>
                </a:tc>
              </a:tr>
              <a:tr h="614476">
                <a:tc>
                  <a:txBody>
                    <a:bodyPr/>
                    <a:lstStyle/>
                    <a:p>
                      <a:r>
                        <a:rPr sz="1700" b="0">
                          <a:solidFill>
                            <a:srgbClr val="1F2937"/>
                          </a:solidFill>
                        </a:rPr>
                        <a:t>Rivojlanish</a:t>
                      </a:r>
                    </a:p>
                  </a:txBody>
                  <a:tcPr marL="73152" marR="73152" marT="36576" marB="36576">
                    <a:solidFill>
                      <a:srgbClr val="FFFFFF"/>
                    </a:solidFill>
                  </a:tcPr>
                </a:tc>
                <a:tc>
                  <a:txBody>
                    <a:bodyPr/>
                    <a:lstStyle/>
                    <a:p>
                      <a:r>
                        <a:rPr sz="1700" b="0">
                          <a:solidFill>
                            <a:srgbClr val="1F2937"/>
                          </a:solidFill>
                        </a:rPr>
                        <a:t>Gestatsion yoshi? Hayotga layoqatlimi?</a:t>
                      </a:r>
                    </a:p>
                  </a:txBody>
                  <a:tcPr marL="73152" marR="73152" marT="36576" marB="36576">
                    <a:solidFill>
                      <a:srgbClr val="FFFFFF"/>
                    </a:solidFill>
                  </a:tcPr>
                </a:tc>
              </a:tr>
              <a:tr h="614476">
                <a:tc>
                  <a:txBody>
                    <a:bodyPr/>
                    <a:lstStyle/>
                    <a:p>
                      <a:r>
                        <a:rPr sz="1700" b="0">
                          <a:solidFill>
                            <a:srgbClr val="1F2937"/>
                          </a:solidFill>
                        </a:rPr>
                        <a:t>Muddat va qarov</a:t>
                      </a:r>
                    </a:p>
                  </a:txBody>
                  <a:tcPr marL="73152" marR="73152" marT="36576" marB="36576">
                    <a:solidFill>
                      <a:srgbClr val="E8EEF6"/>
                    </a:solidFill>
                  </a:tcPr>
                </a:tc>
                <a:tc>
                  <a:txBody>
                    <a:bodyPr/>
                    <a:lstStyle/>
                    <a:p>
                      <a:r>
                        <a:rPr sz="1700" b="0">
                          <a:solidFill>
                            <a:srgbClr val="1F2937"/>
                          </a:solidFill>
                        </a:rPr>
                        <a:t>Qancha yashagan? Qarov bo‘lganmi?</a:t>
                      </a:r>
                    </a:p>
                  </a:txBody>
                  <a:tcPr marL="73152" marR="73152" marT="36576" marB="36576">
                    <a:solidFill>
                      <a:srgbClr val="E8EEF6"/>
                    </a:solidFill>
                  </a:tcPr>
                </a:tc>
              </a:tr>
              <a:tr h="614476">
                <a:tc>
                  <a:txBody>
                    <a:bodyPr/>
                    <a:lstStyle/>
                    <a:p>
                      <a:r>
                        <a:rPr sz="1700" b="0">
                          <a:solidFill>
                            <a:srgbClr val="1F2937"/>
                          </a:solidFill>
                        </a:rPr>
                        <a:t>Umumiy savollar</a:t>
                      </a:r>
                    </a:p>
                  </a:txBody>
                  <a:tcPr marL="73152" marR="73152" marT="36576" marB="36576">
                    <a:solidFill>
                      <a:srgbClr val="FFFFFF"/>
                    </a:solidFill>
                  </a:tcPr>
                </a:tc>
                <a:tc>
                  <a:txBody>
                    <a:bodyPr/>
                    <a:lstStyle/>
                    <a:p>
                      <a:r>
                        <a:rPr sz="1700" b="0">
                          <a:solidFill>
                            <a:srgbClr val="1F2937"/>
                          </a:solidFill>
                        </a:rPr>
                        <a:t>O‘lim sababi, muddati, jarohat, mexanizm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Savollar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uch fan taqqoslanadi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bu tushuncha pediatriya va akusherlikdagidan farq qiladi.</a:t>
            </a:r>
          </a:p>
          <a:p>
            <a:pPr>
              <a:spcAft>
                <a:spcPts val="800"/>
              </a:spcAft>
            </a:pPr>
            <a:r>
              <a:rPr sz="1800">
                <a:solidFill>
                  <a:srgbClr val="1F2937"/>
                </a:solidFill>
                <a:latin typeface="Calibri"/>
              </a:rPr>
              <a:t>▸  Jinoyat kodeksi 99-moddasi: ona go‘dagini tug‘ish vaqtida o‘ldirsa, jazo yengilroq.</a:t>
            </a:r>
          </a:p>
          <a:p>
            <a:pPr>
              <a:spcAft>
                <a:spcPts val="800"/>
              </a:spcAft>
            </a:pPr>
            <a:r>
              <a:rPr sz="1800">
                <a:solidFill>
                  <a:srgbClr val="1F2937"/>
                </a:solidFill>
                <a:latin typeface="Calibri"/>
              </a:rPr>
              <a:t>▸  Diqqat: 97-modda (boshqa shaxs o‘ldirsa) ≠ 99-modda (ona o‘ldirsa); jazo har xil.</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53053"/>
                <a:gridCol w="1934922"/>
              </a:tblGrid>
              <a:tr h="768096">
                <a:tc>
                  <a:txBody>
                    <a:bodyPr/>
                    <a:lstStyle/>
                    <a:p>
                      <a:r>
                        <a:rPr sz="1800" b="1">
                          <a:solidFill>
                            <a:srgbClr val="FFFFFF"/>
                          </a:solidFill>
                        </a:rPr>
                        <a:t>Fan</a:t>
                      </a:r>
                    </a:p>
                  </a:txBody>
                  <a:tcPr marL="73152" marR="73152" marT="36576" marB="36576">
                    <a:solidFill>
                      <a:srgbClr val="0B1F3A"/>
                    </a:solidFill>
                  </a:tcPr>
                </a:tc>
                <a:tc>
                  <a:txBody>
                    <a:bodyPr/>
                    <a:lstStyle/>
                    <a:p>
                      <a:r>
                        <a:rPr sz="1800" b="1">
                          <a:solidFill>
                            <a:srgbClr val="FFFFFF"/>
                          </a:solidFill>
                        </a:rPr>
                        <a:t>Davr</a:t>
                      </a:r>
                    </a:p>
                  </a:txBody>
                  <a:tcPr marL="73152" marR="73152" marT="36576" marB="36576">
                    <a:solidFill>
                      <a:srgbClr val="0B1F3A"/>
                    </a:solidFill>
                  </a:tcPr>
                </a:tc>
              </a:tr>
              <a:tr h="768096">
                <a:tc>
                  <a:txBody>
                    <a:bodyPr/>
                    <a:lstStyle/>
                    <a:p>
                      <a:r>
                        <a:rPr sz="1700" b="0">
                          <a:solidFill>
                            <a:srgbClr val="1F2937"/>
                          </a:solidFill>
                        </a:rPr>
                        <a:t>Pediatriya</a:t>
                      </a:r>
                    </a:p>
                  </a:txBody>
                  <a:tcPr marL="73152" marR="73152" marT="36576" marB="36576">
                    <a:solidFill>
                      <a:srgbClr val="E8EEF6"/>
                    </a:solidFill>
                  </a:tcPr>
                </a:tc>
                <a:tc>
                  <a:txBody>
                    <a:bodyPr/>
                    <a:lstStyle/>
                    <a:p>
                      <a:r>
                        <a:rPr sz="1700" b="0">
                          <a:solidFill>
                            <a:srgbClr val="1F2937"/>
                          </a:solidFill>
                        </a:rPr>
                        <a:t>Tug‘ruqdan keyingi 4 hafta (neonatal)</a:t>
                      </a:r>
                    </a:p>
                  </a:txBody>
                  <a:tcPr marL="73152" marR="73152" marT="36576" marB="36576">
                    <a:solidFill>
                      <a:srgbClr val="E8EEF6"/>
                    </a:solidFill>
                  </a:tcPr>
                </a:tc>
              </a:tr>
              <a:tr h="768096">
                <a:tc>
                  <a:txBody>
                    <a:bodyPr/>
                    <a:lstStyle/>
                    <a:p>
                      <a:r>
                        <a:rPr sz="1700" b="0">
                          <a:solidFill>
                            <a:srgbClr val="1F2937"/>
                          </a:solidFill>
                        </a:rPr>
                        <a:t>Akusherlik-ginekologiya</a:t>
                      </a:r>
                    </a:p>
                  </a:txBody>
                  <a:tcPr marL="73152" marR="73152" marT="36576" marB="36576">
                    <a:solidFill>
                      <a:srgbClr val="FFFFFF"/>
                    </a:solidFill>
                  </a:tcPr>
                </a:tc>
                <a:tc>
                  <a:txBody>
                    <a:bodyPr/>
                    <a:lstStyle/>
                    <a:p>
                      <a:r>
                        <a:rPr sz="1700" b="0">
                          <a:solidFill>
                            <a:srgbClr val="1F2937"/>
                          </a:solidFill>
                        </a:rPr>
                        <a:t>7 kun</a:t>
                      </a:r>
                    </a:p>
                  </a:txBody>
                  <a:tcPr marL="73152" marR="73152" marT="36576" marB="36576">
                    <a:solidFill>
                      <a:srgbClr val="FFFFFF"/>
                    </a:solidFill>
                  </a:tcPr>
                </a:tc>
              </a:tr>
              <a:tr h="768096">
                <a:tc>
                  <a:txBody>
                    <a:bodyPr/>
                    <a:lstStyle/>
                    <a:p>
                      <a:r>
                        <a:rPr sz="1700" b="0">
                          <a:solidFill>
                            <a:srgbClr val="1F2937"/>
                          </a:solidFill>
                        </a:rPr>
                        <a:t>Sud tibbiyoti</a:t>
                      </a:r>
                    </a:p>
                  </a:txBody>
                  <a:tcPr marL="73152" marR="73152" marT="36576" marB="36576">
                    <a:solidFill>
                      <a:srgbClr val="E8EEF6"/>
                    </a:solidFill>
                  </a:tcPr>
                </a:tc>
                <a:tc>
                  <a:txBody>
                    <a:bodyPr/>
                    <a:lstStyle/>
                    <a:p>
                      <a:r>
                        <a:rPr sz="17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va jinoyat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davri tug‘ruqdan keyingi dastlabki 24 soatdir. Bu muddat qonunchilik talablari bilan uzviy bog‘liq.</a:t>
            </a:r>
          </a:p>
          <a:p>
            <a:pPr>
              <a:spcAft>
                <a:spcPts val="1200"/>
              </a:spcAft>
            </a:pPr>
            <a:r>
              <a:rPr sz="2000">
                <a:solidFill>
                  <a:srgbClr val="1F2937"/>
                </a:solidFill>
                <a:latin typeface="Calibri"/>
              </a:rPr>
              <a:t>▸  O‘zbekiston Respublikasi Jinoyat kodeksining (JK) 99-moddasi onaning go‘dagini tug‘ish vaqtida yoki tug‘ilishi hamon qasddan o‘ldirishini alohida ajratadi. Jazo qasddan odam o‘ldirishdan ancha yengil.</a:t>
            </a:r>
          </a:p>
          <a:p>
            <a:pPr>
              <a:spcAft>
                <a:spcPts val="1200"/>
              </a:spcAft>
            </a:pPr>
            <a:r>
              <a:rPr sz="2000">
                <a:solidFill>
                  <a:srgbClr val="1F2937"/>
                </a:solidFill>
                <a:latin typeface="Calibri"/>
              </a:rPr>
              <a:t>▸  Tug‘ruq taxminan bir sutkaga yaqin davom etadi. Og‘riq va psixo-emotsional holat tufayli ona o‘zi to‘liq anglamagan holda bolasiga shikast yetkazishi mumkin.</a:t>
            </a:r>
          </a:p>
          <a:p>
            <a:pPr>
              <a:spcAft>
                <a:spcPts val="1200"/>
              </a:spcAft>
            </a:pPr>
            <a:r>
              <a:rPr sz="2000">
                <a:solidFill>
                  <a:srgbClr val="1F2937"/>
                </a:solidFill>
                <a:latin typeface="Calibri"/>
              </a:rPr>
              <a:t>▸  Diqqat: xato qilish xavfi. Bunday harakatni boshqa shaxs sodir etsa, u JK 97-modda (qasddan odam o‘ldirish) bilan baholanadi. 99-modda ≠ 97-modda.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Kindigi tana va yo‘ldoshdan ajratilmagan. Bunday holda sud-tibbiy ekspertiza tayinlanadi.</a:t>
            </a:r>
          </a:p>
          <a:p>
            <a:pPr>
              <a:spcAft>
                <a:spcPts val="1200"/>
              </a:spcAft>
            </a:pPr>
            <a:r>
              <a:rPr sz="2200">
                <a:solidFill>
                  <a:srgbClr val="1F2937"/>
                </a:solidFill>
                <a:latin typeface="Calibri"/>
              </a:rPr>
              <a:t>▸  Savol: go‘dak yangi tug‘ilganmi? Pediatriyada bu davr 4 hafta (neonatal), akusherlikda 7 kun, sud tibbiyotida esa dastlabki 24 soat.</a:t>
            </a:r>
          </a:p>
          <a:p>
            <a:pPr>
              <a:spcAft>
                <a:spcPts val="1200"/>
              </a:spcAft>
            </a:pPr>
            <a:r>
              <a:rPr sz="2200">
                <a:solidFill>
                  <a:srgbClr val="1F2937"/>
                </a:solidFill>
                <a:latin typeface="Calibri"/>
              </a:rPr>
              <a:t>▸  Tana va yo‘ldoshdan ajratilmagan kindik absolyut, ya’ni mutloq ishonchli yangi tug‘ilganlik belgisi hisoblanadi.</a:t>
            </a:r>
          </a:p>
          <a:p>
            <a:pPr>
              <a:spcAft>
                <a:spcPts val="1200"/>
              </a:spcAft>
            </a:pPr>
            <a:r>
              <a:rPr sz="2200">
                <a:solidFill>
                  <a:srgbClr val="1F2937"/>
                </a:solidFill>
                <a:latin typeface="Calibri"/>
              </a:rPr>
              <a:t>▸  Qolgan belgilar nisbiy: ular hayotning ikkinchi va keyingi kunlarida ham aniqlanishi mumkin. Shuning uchun ekspert belgilarni majmuada baholaydi.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255, 258, 255, 256, 258–259, 259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tanadagi qon izlari yangi tug‘ilganlik belgisidir. Ular tug‘ruq yo‘llari yumshoq to‘qimalarining yorilishidan hosil bo‘ladi.</a:t>
            </a:r>
          </a:p>
          <a:p>
            <a:pPr>
              <a:spcAft>
                <a:spcPts val="1200"/>
              </a:spcAft>
            </a:pPr>
            <a:r>
              <a:rPr sz="2200">
                <a:solidFill>
                  <a:srgbClr val="1F2937"/>
                </a:solidFill>
                <a:latin typeface="Calibri"/>
              </a:rPr>
              <a:t>▸  Go‘dak tanasi yuvilgach qon izlari yo‘qoladi. Shu sababli yuvilgan murdada bu belgi topilmasligi yangi tug‘ilganlikni inkor etmaydi.</a:t>
            </a:r>
          </a:p>
          <a:p>
            <a:pPr>
              <a:spcAft>
                <a:spcPts val="1200"/>
              </a:spcAft>
            </a:pPr>
            <a:r>
              <a:rPr sz="2200">
                <a:solidFill>
                  <a:srgbClr val="1F2937"/>
                </a:solidFill>
                <a:latin typeface="Calibri"/>
              </a:rPr>
              <a:t>▸  Mo‘msimon qoplama — oqimtir-kulrang yarim quyuq massa. U yog‘ bezlari sekreti, ko‘chgan epidermis hujayralari, tuk va qog‘onoq suvlari aralashmasidan iborat.</a:t>
            </a:r>
          </a:p>
          <a:p>
            <a:pPr>
              <a:spcAft>
                <a:spcPts val="1200"/>
              </a:spcAft>
            </a:pPr>
            <a:r>
              <a:rPr sz="2200">
                <a:solidFill>
                  <a:srgbClr val="1F2937"/>
                </a:solidFill>
                <a:latin typeface="Calibri"/>
              </a:rPr>
              <a:t>▸  U bachadonda terini qog‘onoq suvlaridan matseratsiyadan himoya qiladi. Burmalarda, qo‘ltiq ostida, oraliqda ko‘proq bo‘ladi; yuvilmasa bir haftagacha saqlanadi.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tosda qisilish tufayli yumshoq to‘qimalar shishadi; 2-3 kunda so‘riladi.</a:t>
            </a:r>
          </a:p>
          <a:p>
            <a:pPr>
              <a:spcAft>
                <a:spcPts val="800"/>
              </a:spcAft>
            </a:pPr>
            <a:r>
              <a:rPr sz="1800">
                <a:solidFill>
                  <a:srgbClr val="1F2937"/>
                </a:solidFill>
                <a:latin typeface="Calibri"/>
              </a:rPr>
              <a:t>▸  Kefalogematoma: suyak usti pardasi ostiga qon quyiladi; 2 hafta va undan ortiq so‘riladi.</a:t>
            </a:r>
          </a:p>
          <a:p>
            <a:pPr>
              <a:spcAft>
                <a:spcPts val="800"/>
              </a:spcAft>
            </a:pPr>
            <a:r>
              <a:rPr sz="1800">
                <a:solidFill>
                  <a:srgbClr val="1F2937"/>
                </a:solidFill>
                <a:latin typeface="Calibri"/>
              </a:rPr>
              <a:t>▸  Diqqat: xato qilish xavfi — shish choklar proeksiyasida ham bor; kefalogematoma choklar bilan chegaralangan.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31649"/>
                <a:gridCol w="200090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Tug‘ruq shishi</a:t>
                      </a:r>
                    </a:p>
                  </a:txBody>
                  <a:tcPr marL="73152" marR="73152" marT="36576" marB="36576">
                    <a:solidFill>
                      <a:srgbClr val="0B1F3A"/>
                    </a:solidFill>
                  </a:tcPr>
                </a:tc>
                <a:tc>
                  <a:txBody>
                    <a:bodyPr/>
                    <a:lstStyle/>
                    <a:p>
                      <a:r>
                        <a:rPr sz="1600" b="1">
                          <a:solidFill>
                            <a:srgbClr val="FFFFFF"/>
                          </a:solidFill>
                        </a:rPr>
                        <a:t>Kefalogematoma</a:t>
                      </a:r>
                    </a:p>
                  </a:txBody>
                  <a:tcPr marL="73152" marR="73152" marT="36576" marB="36576">
                    <a:solidFill>
                      <a:srgbClr val="0B1F3A"/>
                    </a:solidFill>
                  </a:tcPr>
                </a:tc>
              </a:tr>
              <a:tr h="614476">
                <a:tc>
                  <a:txBody>
                    <a:bodyPr/>
                    <a:lstStyle/>
                    <a:p>
                      <a:r>
                        <a:rPr sz="1500" b="0">
                          <a:solidFill>
                            <a:srgbClr val="1F2937"/>
                          </a:solidFill>
                        </a:rPr>
                        <a:t>Sababi</a:t>
                      </a:r>
                    </a:p>
                  </a:txBody>
                  <a:tcPr marL="73152" marR="73152" marT="36576" marB="36576">
                    <a:solidFill>
                      <a:srgbClr val="E8EEF6"/>
                    </a:solidFill>
                  </a:tcPr>
                </a:tc>
                <a:tc>
                  <a:txBody>
                    <a:bodyPr/>
                    <a:lstStyle/>
                    <a:p>
                      <a:r>
                        <a:rPr sz="1500" b="0">
                          <a:solidFill>
                            <a:srgbClr val="1F2937"/>
                          </a:solidFill>
                        </a:rPr>
                        <a:t>Tos halqasida qisilish</a:t>
                      </a:r>
                    </a:p>
                  </a:txBody>
                  <a:tcPr marL="73152" marR="73152" marT="36576" marB="36576">
                    <a:solidFill>
                      <a:srgbClr val="E8EEF6"/>
                    </a:solidFill>
                  </a:tcPr>
                </a:tc>
                <a:tc>
                  <a:txBody>
                    <a:bodyPr/>
                    <a:lstStyle/>
                    <a:p>
                      <a:r>
                        <a:rPr sz="1500" b="0">
                          <a:solidFill>
                            <a:srgbClr val="1F2937"/>
                          </a:solidFill>
                        </a:rPr>
                        <a:t>Tug‘ruq travmasi</a:t>
                      </a:r>
                    </a:p>
                  </a:txBody>
                  <a:tcPr marL="73152" marR="73152" marT="36576" marB="36576">
                    <a:solidFill>
                      <a:srgbClr val="E8EEF6"/>
                    </a:solidFill>
                  </a:tcPr>
                </a:tc>
              </a:tr>
              <a:tr h="614476">
                <a:tc>
                  <a:txBody>
                    <a:bodyPr/>
                    <a:lstStyle/>
                    <a:p>
                      <a:r>
                        <a:rPr sz="1500" b="0">
                          <a:solidFill>
                            <a:srgbClr val="1F2937"/>
                          </a:solidFill>
                        </a:rPr>
                        <a:t>Joyi</a:t>
                      </a:r>
                    </a:p>
                  </a:txBody>
                  <a:tcPr marL="73152" marR="73152" marT="36576" marB="36576">
                    <a:solidFill>
                      <a:srgbClr val="FFFFFF"/>
                    </a:solidFill>
                  </a:tcPr>
                </a:tc>
                <a:tc>
                  <a:txBody>
                    <a:bodyPr/>
                    <a:lstStyle/>
                    <a:p>
                      <a:r>
                        <a:rPr sz="1500" b="0">
                          <a:solidFill>
                            <a:srgbClr val="1F2937"/>
                          </a:solidFill>
                        </a:rPr>
                        <a:t>Choklar proeksiyasida ham</a:t>
                      </a:r>
                    </a:p>
                  </a:txBody>
                  <a:tcPr marL="73152" marR="73152" marT="36576" marB="36576">
                    <a:solidFill>
                      <a:srgbClr val="FFFFFF"/>
                    </a:solidFill>
                  </a:tcPr>
                </a:tc>
                <a:tc>
                  <a:txBody>
                    <a:bodyPr/>
                    <a:lstStyle/>
                    <a:p>
                      <a:r>
                        <a:rPr sz="1500" b="0">
                          <a:solidFill>
                            <a:srgbClr val="1F2937"/>
                          </a:solidFill>
                        </a:rPr>
                        <a:t>Suyak ustida, choklargacha</a:t>
                      </a:r>
                    </a:p>
                  </a:txBody>
                  <a:tcPr marL="73152" marR="73152" marT="36576" marB="36576">
                    <a:solidFill>
                      <a:srgbClr val="FFFFFF"/>
                    </a:solidFill>
                  </a:tcPr>
                </a:tc>
              </a:tr>
              <a:tr h="614476">
                <a:tc>
                  <a:txBody>
                    <a:bodyPr/>
                    <a:lstStyle/>
                    <a:p>
                      <a:r>
                        <a:rPr sz="1500" b="0">
                          <a:solidFill>
                            <a:srgbClr val="1F2937"/>
                          </a:solidFill>
                        </a:rPr>
                        <a:t>Tarkibi</a:t>
                      </a:r>
                    </a:p>
                  </a:txBody>
                  <a:tcPr marL="73152" marR="73152" marT="36576" marB="36576">
                    <a:solidFill>
                      <a:srgbClr val="E8EEF6"/>
                    </a:solidFill>
                  </a:tcPr>
                </a:tc>
                <a:tc>
                  <a:txBody>
                    <a:bodyPr/>
                    <a:lstStyle/>
                    <a:p>
                      <a:r>
                        <a:rPr sz="1500" b="0">
                          <a:solidFill>
                            <a:srgbClr val="1F2937"/>
                          </a:solidFill>
                        </a:rPr>
                        <a:t>Qonli seroz suyuqlik</a:t>
                      </a:r>
                    </a:p>
                  </a:txBody>
                  <a:tcPr marL="73152" marR="73152" marT="36576" marB="36576">
                    <a:solidFill>
                      <a:srgbClr val="E8EEF6"/>
                    </a:solidFill>
                  </a:tcPr>
                </a:tc>
                <a:tc>
                  <a:txBody>
                    <a:bodyPr/>
                    <a:lstStyle/>
                    <a:p>
                      <a:r>
                        <a:rPr sz="1500" b="0">
                          <a:solidFill>
                            <a:srgbClr val="1F2937"/>
                          </a:solidFill>
                        </a:rPr>
                        <a:t>Suyak usti pardasi ostida qon</a:t>
                      </a:r>
                    </a:p>
                  </a:txBody>
                  <a:tcPr marL="73152" marR="73152" marT="36576" marB="36576">
                    <a:solidFill>
                      <a:srgbClr val="E8EEF6"/>
                    </a:solidFill>
                  </a:tcPr>
                </a:tc>
              </a:tr>
              <a:tr h="614476">
                <a:tc>
                  <a:txBody>
                    <a:bodyPr/>
                    <a:lstStyle/>
                    <a:p>
                      <a:r>
                        <a:rPr sz="1500" b="0">
                          <a:solidFill>
                            <a:srgbClr val="1F2937"/>
                          </a:solidFill>
                        </a:rPr>
                        <a:t>So‘rilishi</a:t>
                      </a:r>
                    </a:p>
                  </a:txBody>
                  <a:tcPr marL="73152" marR="73152" marT="36576" marB="36576">
                    <a:solidFill>
                      <a:srgbClr val="FFFFFF"/>
                    </a:solidFill>
                  </a:tcPr>
                </a:tc>
                <a:tc>
                  <a:txBody>
                    <a:bodyPr/>
                    <a:lstStyle/>
                    <a:p>
                      <a:r>
                        <a:rPr sz="1500" b="0">
                          <a:solidFill>
                            <a:srgbClr val="1F2937"/>
                          </a:solidFill>
                        </a:rPr>
                        <a:t>2-3 kun</a:t>
                      </a:r>
                    </a:p>
                  </a:txBody>
                  <a:tcPr marL="73152" marR="73152" marT="36576" marB="36576">
                    <a:solidFill>
                      <a:srgbClr val="FFFFFF"/>
                    </a:solidFill>
                  </a:tcPr>
                </a:tc>
                <a:tc>
                  <a:txBody>
                    <a:bodyPr/>
                    <a:lstStyle/>
                    <a:p>
                      <a:r>
                        <a:rPr sz="1500" b="0">
                          <a:solidFill>
                            <a:srgbClr val="1F2937"/>
                          </a:solidFill>
                        </a:rPr>
                        <a:t>2 hafta va undan ortiq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holatni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 birlamchi najas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 to‘q-yashil yoki qo‘ng‘ir-yashil rangli, yarim suyuq, bir xil massa; birlamchi najas deyiladi.</a:t>
            </a:r>
          </a:p>
          <a:p>
            <a:pPr>
              <a:spcAft>
                <a:spcPts val="1200"/>
              </a:spcAft>
            </a:pPr>
            <a:r>
              <a:rPr sz="2200">
                <a:solidFill>
                  <a:srgbClr val="1F2937"/>
                </a:solidFill>
                <a:latin typeface="Calibri"/>
              </a:rPr>
              <a:t>▸  U yo‘g‘on ichakda, orqa chiqaruv teshigi atrofida, dumba va son sohalarida aniqlanadi.</a:t>
            </a:r>
          </a:p>
          <a:p>
            <a:pPr>
              <a:spcAft>
                <a:spcPts val="1200"/>
              </a:spcAft>
            </a:pPr>
            <a:r>
              <a:rPr sz="2200">
                <a:solidFill>
                  <a:srgbClr val="1F2937"/>
                </a:solidFill>
                <a:latin typeface="Calibri"/>
              </a:rPr>
              <a:t>▸  Tarkibida shilliq, o‘t pigmentlari, ko‘chgan ichak epiteliysi, qog‘onoq suvlari va tuk sochlar bor. Tarkibi homiladorlik muddatiga qarab o‘zgaradi.</a:t>
            </a:r>
          </a:p>
          <a:p>
            <a:pPr>
              <a:spcAft>
                <a:spcPts val="1200"/>
              </a:spcAft>
            </a:pPr>
            <a:r>
              <a:rPr sz="2200">
                <a:solidFill>
                  <a:srgbClr val="1F2937"/>
                </a:solidFill>
                <a:latin typeface="Calibri"/>
              </a:rPr>
              <a:t>▸  Odatda tug‘ruqdan keyin 1-2 kunda ichakdan to‘liq chiqadi; norasolarda bu muddat 3-4 kungacha cho‘ziladi.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o‘zgarishlari: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avval nam, yaltiroq, oqimtir-qizg‘ish; quriganda bujmayib, qo‘ng‘ir-sariqdan qora tusga o‘tadi.</a:t>
            </a:r>
          </a:p>
          <a:p>
            <a:pPr>
              <a:spcAft>
                <a:spcPts val="800"/>
              </a:spcAft>
            </a:pPr>
            <a:r>
              <a:rPr sz="1800">
                <a:solidFill>
                  <a:srgbClr val="1F2937"/>
                </a:solidFill>
                <a:latin typeface="Calibri"/>
              </a:rPr>
              <a:t>▸  Tirik tug‘ilganda asosida qizg‘ish demarkatsion halqa (reaktiv yallig‘lanish) paydo bo‘ladi.</a:t>
            </a:r>
          </a:p>
          <a:p>
            <a:pPr>
              <a:spcAft>
                <a:spcPts val="800"/>
              </a:spcAft>
            </a:pPr>
            <a:r>
              <a:rPr sz="1800">
                <a:solidFill>
                  <a:srgbClr val="1F2937"/>
                </a:solidFill>
                <a:latin typeface="Calibri"/>
              </a:rPr>
              <a:t>▸  Halqaning yo‘qligi yoki dastlabki belgisi, ajratilmagan kindik — absolyut (mutloq ishonchli) belgi.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Bujmayib,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 necha soat: qizg‘ish halqa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Qo‘ng‘ir-qora tus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 halqa bo‘ylab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vaqt chizig‘i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 belgi mutloq, ya’ni to‘liq ishonchli hisoblanadi. Qolgan belgilar nisbiy.</a:t>
            </a:r>
          </a:p>
          <a:p>
            <a:pPr>
              <a:spcAft>
                <a:spcPts val="800"/>
              </a:spcAft>
            </a:pPr>
            <a:r>
              <a:rPr sz="1800">
                <a:solidFill>
                  <a:srgbClr val="1F2937"/>
                </a:solidFill>
                <a:latin typeface="Calibri"/>
              </a:rPr>
              <a:t>▸  Nisbiy belgilar go‘dak hayotining ikkinchi va keyingi kunlarida ham aniqlanishi mumkin.</a:t>
            </a:r>
          </a:p>
          <a:p>
            <a:pPr>
              <a:spcAft>
                <a:spcPts val="800"/>
              </a:spcAft>
            </a:pPr>
            <a:r>
              <a:rPr sz="1800">
                <a:solidFill>
                  <a:srgbClr val="1F2937"/>
                </a:solidFill>
                <a:latin typeface="Calibri"/>
              </a:rPr>
              <a:t>▸  Diqqat: mo‘msimon qoplama mutloq belgi emas, yuvilmasa bir haftagacha saqlanadi.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285554"/>
                <a:gridCol w="1219200"/>
                <a:gridCol w="178322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Xarakter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O‘pkaning birlamchi atelektazi</a:t>
                      </a:r>
                    </a:p>
                  </a:txBody>
                  <a:tcPr marL="73152" marR="73152" marT="36576" marB="36576">
                    <a:solidFill>
                      <a:srgbClr val="E8EEF6"/>
                    </a:solidFill>
                  </a:tcPr>
                </a:tc>
                <a:tc>
                  <a:txBody>
                    <a:bodyPr/>
                    <a:lstStyle/>
                    <a:p>
                      <a:r>
                        <a:rPr sz="1500" b="0">
                          <a:solidFill>
                            <a:srgbClr val="1F2937"/>
                          </a:solidFill>
                        </a:rPr>
                        <a:t>Mutloq</a:t>
                      </a:r>
                    </a:p>
                  </a:txBody>
                  <a:tcPr marL="73152" marR="73152" marT="36576" marB="36576">
                    <a:solidFill>
                      <a:srgbClr val="E8EEF6"/>
                    </a:solidFill>
                  </a:tcPr>
                </a:tc>
                <a:tc>
                  <a:txBody>
                    <a:bodyPr/>
                    <a:lstStyle/>
                    <a:p>
                      <a:r>
                        <a:rPr sz="1500" b="0">
                          <a:solidFill>
                            <a:srgbClr val="1F2937"/>
                          </a:solidFill>
                        </a:rPr>
                        <a:t>Nafas olmagan o‘pka</a:t>
                      </a:r>
                    </a:p>
                  </a:txBody>
                  <a:tcPr marL="73152" marR="73152" marT="36576" marB="36576">
                    <a:solidFill>
                      <a:srgbClr val="E8EEF6"/>
                    </a:solidFill>
                  </a:tcPr>
                </a:tc>
              </a:tr>
              <a:tr h="614476">
                <a:tc>
                  <a:txBody>
                    <a:bodyPr/>
                    <a:lstStyle/>
                    <a:p>
                      <a:r>
                        <a:rPr sz="1500" b="0">
                          <a:solidFill>
                            <a:srgbClr val="1F2937"/>
                          </a:solidFill>
                        </a:rPr>
                        <a:t>Demarkatsion halqa yo‘q yoki boshlang‘ich</a:t>
                      </a:r>
                    </a:p>
                  </a:txBody>
                  <a:tcPr marL="73152" marR="73152" marT="36576" marB="36576">
                    <a:solidFill>
                      <a:srgbClr val="FFFFFF"/>
                    </a:solidFill>
                  </a:tcPr>
                </a:tc>
                <a:tc>
                  <a:txBody>
                    <a:bodyPr/>
                    <a:lstStyle/>
                    <a:p>
                      <a:r>
                        <a:rPr sz="1500" b="0">
                          <a:solidFill>
                            <a:srgbClr val="1F2937"/>
                          </a:solidFill>
                        </a:rPr>
                        <a:t>Mutloq</a:t>
                      </a:r>
                    </a:p>
                  </a:txBody>
                  <a:tcPr marL="73152" marR="73152" marT="36576" marB="36576">
                    <a:solidFill>
                      <a:srgbClr val="FFFFFF"/>
                    </a:solidFill>
                  </a:tcPr>
                </a:tc>
                <a:tc>
                  <a:txBody>
                    <a:bodyPr/>
                    <a:lstStyle/>
                    <a:p>
                      <a:r>
                        <a:rPr sz="1500" b="0">
                          <a:solidFill>
                            <a:srgbClr val="1F2937"/>
                          </a:solidFill>
                        </a:rPr>
                        <a:t>Kindik asosida</a:t>
                      </a:r>
                    </a:p>
                  </a:txBody>
                  <a:tcPr marL="73152" marR="73152" marT="36576" marB="36576">
                    <a:solidFill>
                      <a:srgbClr val="FFFFFF"/>
                    </a:solidFill>
                  </a:tcPr>
                </a:tc>
              </a:tr>
              <a:tr h="614476">
                <a:tc>
                  <a:txBody>
                    <a:bodyPr/>
                    <a:lstStyle/>
                    <a:p>
                      <a:r>
                        <a:rPr sz="1500" b="0">
                          <a:solidFill>
                            <a:srgbClr val="1F2937"/>
                          </a:solidFill>
                        </a:rPr>
                        <a:t>Ajratilmagan kindik</a:t>
                      </a:r>
                    </a:p>
                  </a:txBody>
                  <a:tcPr marL="73152" marR="73152" marT="36576" marB="36576">
                    <a:solidFill>
                      <a:srgbClr val="E8EEF6"/>
                    </a:solidFill>
                  </a:tcPr>
                </a:tc>
                <a:tc>
                  <a:txBody>
                    <a:bodyPr/>
                    <a:lstStyle/>
                    <a:p>
                      <a:r>
                        <a:rPr sz="1500" b="0">
                          <a:solidFill>
                            <a:srgbClr val="1F2937"/>
                          </a:solidFill>
                        </a:rPr>
                        <a:t>Mutloq</a:t>
                      </a:r>
                    </a:p>
                  </a:txBody>
                  <a:tcPr marL="73152" marR="73152" marT="36576" marB="36576">
                    <a:solidFill>
                      <a:srgbClr val="E8EEF6"/>
                    </a:solidFill>
                  </a:tcPr>
                </a:tc>
                <a:tc>
                  <a:txBody>
                    <a:bodyPr/>
                    <a:lstStyle/>
                    <a:p>
                      <a:r>
                        <a:rPr sz="1500" b="0">
                          <a:solidFill>
                            <a:srgbClr val="1F2937"/>
                          </a:solidFill>
                        </a:rPr>
                        <a:t>Tana va yo‘ldoshdan ajralmagan</a:t>
                      </a:r>
                    </a:p>
                  </a:txBody>
                  <a:tcPr marL="73152" marR="73152" marT="36576" marB="36576">
                    <a:solidFill>
                      <a:srgbClr val="E8EEF6"/>
                    </a:solidFill>
                  </a:tcPr>
                </a:tc>
              </a:tr>
              <a:tr h="614476">
                <a:tc>
                  <a:txBody>
                    <a:bodyPr/>
                    <a:lstStyle/>
                    <a:p>
                      <a:r>
                        <a:rPr sz="1500" b="0">
                          <a:solidFill>
                            <a:srgbClr val="1F2937"/>
                          </a:solidFill>
                        </a:rPr>
                        <a:t>Qon izi, qoplama, shish, mekoniy</a:t>
                      </a:r>
                    </a:p>
                  </a:txBody>
                  <a:tcPr marL="73152" marR="73152" marT="36576" marB="36576">
                    <a:solidFill>
                      <a:srgbClr val="FFFFFF"/>
                    </a:solidFill>
                  </a:tcPr>
                </a:tc>
                <a:tc>
                  <a:txBody>
                    <a:bodyPr/>
                    <a:lstStyle/>
                    <a:p>
                      <a:r>
                        <a:rPr sz="1500" b="0">
                          <a:solidFill>
                            <a:srgbClr val="1F2937"/>
                          </a:solidFill>
                        </a:rPr>
                        <a:t>Nisbiy</a:t>
                      </a:r>
                    </a:p>
                  </a:txBody>
                  <a:tcPr marL="73152" marR="73152" marT="36576" marB="36576">
                    <a:solidFill>
                      <a:srgbClr val="FFFFFF"/>
                    </a:solidFill>
                  </a:tcPr>
                </a:tc>
                <a:tc>
                  <a:txBody>
                    <a:bodyPr/>
                    <a:lstStyle/>
                    <a:p>
                      <a:r>
                        <a:rPr sz="1500" b="0">
                          <a:solidFill>
                            <a:srgbClr val="1F2937"/>
                          </a:solidFill>
                        </a:rPr>
                        <a:t>2-kunda ham topilishi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Mutloq va nisbiy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258-259, 259,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qaysi uch belgi mutloq? Javob: birlamchi atelektaz, demarkatsion halqaning yo‘qligi yoki dastlabki belgisi, ajratilmagan kindik.</a:t>
            </a:r>
          </a:p>
          <a:p>
            <a:pPr>
              <a:spcAft>
                <a:spcPts val="1200"/>
              </a:spcAft>
            </a:pPr>
            <a:r>
              <a:rPr sz="2200">
                <a:solidFill>
                  <a:srgbClr val="1F2937"/>
                </a:solidFill>
                <a:latin typeface="Calibri"/>
              </a:rPr>
              <a:t>▸  Tezkor savol: mekoniy qachon to‘liq chiqadi? Javob: odatda 1-2 kunda, norasolarda 3-4 kungacha cho‘ziladi.</a:t>
            </a:r>
          </a:p>
          <a:p>
            <a:pPr>
              <a:spcAft>
                <a:spcPts val="1200"/>
              </a:spcAft>
            </a:pPr>
            <a:r>
              <a:rPr sz="2200">
                <a:solidFill>
                  <a:srgbClr val="1F2937"/>
                </a:solidFill>
                <a:latin typeface="Calibri"/>
              </a:rPr>
              <a:t>▸  Tezkor savol: tug‘ruq shishi va kefalogematoma qachon so‘riladi? Javob: shish 2-3 kunda, kefalogematoma 2 hafta va undan ortiq muddatda.</a:t>
            </a:r>
          </a:p>
          <a:p>
            <a:pPr>
              <a:spcAft>
                <a:spcPts val="1200"/>
              </a:spcAft>
            </a:pPr>
            <a:r>
              <a:rPr sz="2200">
                <a:solidFill>
                  <a:srgbClr val="1F2937"/>
                </a:solidFill>
                <a:latin typeface="Calibri"/>
              </a:rPr>
              <a:t>▸  Eslab qoling: “O‘-D-K” — O‘pka atelektazi, Demarkatsion halqa, Kindik. Bu o‘quv uchun tuzilgan qisqa eslatma.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258-259,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topilgan go‘dak tanasida oqimtir-kulrang mo‘msimon qoplama, orqa chiqaruv teshigi atrofida mekoniy bor.</a:t>
            </a:r>
          </a:p>
          <a:p>
            <a:pPr>
              <a:spcAft>
                <a:spcPts val="1200"/>
              </a:spcAft>
            </a:pPr>
            <a:r>
              <a:rPr sz="2200">
                <a:solidFill>
                  <a:srgbClr val="1F2937"/>
                </a:solidFill>
                <a:latin typeface="Calibri"/>
              </a:rPr>
              <a:t>▸  Kindik tana va yo‘ldoshdan ajratilmagan, kesilmagan holatda.</a:t>
            </a:r>
          </a:p>
          <a:p>
            <a:pPr>
              <a:spcAft>
                <a:spcPts val="1200"/>
              </a:spcAft>
            </a:pPr>
            <a:r>
              <a:rPr sz="2200">
                <a:solidFill>
                  <a:srgbClr val="1F2937"/>
                </a:solidFill>
                <a:latin typeface="Calibri"/>
              </a:rPr>
              <a:t>▸  Savol: qaysi belgi mutloq ishonchli? Javob: ajratilmagan kindik. Qoplama va mekoniy nisbiy belgilardir.</a:t>
            </a:r>
          </a:p>
          <a:p>
            <a:pPr>
              <a:spcAft>
                <a:spcPts val="1200"/>
              </a:spcAft>
            </a:pPr>
            <a:r>
              <a:rPr sz="2200">
                <a:solidFill>
                  <a:srgbClr val="1F2937"/>
                </a:solidFill>
                <a:latin typeface="Calibri"/>
              </a:rPr>
              <a:t>▸  Qoplama yuvilmagan tanada bir haftagacha turadi, shuning uchun yangi tug‘ilganlikni faqat u bilan isbotlab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 258-259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go‘dakda ona organizmidan tashqarida nafas olish, yurak urishi, kindik pulsatsiyasi yoki ixtiyoriy harakat bo‘lishi.</a:t>
            </a:r>
          </a:p>
          <a:p>
            <a:pPr>
              <a:spcAft>
                <a:spcPts val="1200"/>
              </a:spcAft>
            </a:pPr>
            <a:r>
              <a:rPr sz="2200">
                <a:solidFill>
                  <a:srgbClr val="1F2937"/>
                </a:solidFill>
                <a:latin typeface="Calibri"/>
              </a:rPr>
              <a:t>▸  Sud tibbiyotida yurak urishi, kindik pulsatsiyasi va ixtiyoriy harakatni o‘limdan keyin aniqlash usullari hozircha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Tirik tug‘ilganlik turli sinamalar, makroskopik, mikroskopik va laboratoriya tekshiruvlari natijalariga qarab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Sinamani 1681-yilda I. Shreer ilk bor qo‘llagan. Nafas olmagan o‘pka suvdan og‘ir: solishtirma og‘irligi 1,05–1,06.</a:t>
            </a:r>
          </a:p>
          <a:p>
            <a:pPr>
              <a:spcAft>
                <a:spcPts val="800"/>
              </a:spcAft>
            </a:pPr>
            <a:r>
              <a:rPr sz="1800">
                <a:solidFill>
                  <a:srgbClr val="1F2937"/>
                </a:solidFill>
                <a:latin typeface="Calibri"/>
              </a:rPr>
              <a:t>▸  Nafas olgan o‘pkada havo hisobiga solishtirma og‘irlik kamayib, 1,0 dan past bo‘ladi.</a:t>
            </a:r>
          </a:p>
          <a:p>
            <a:pPr>
              <a:spcAft>
                <a:spcPts val="800"/>
              </a:spcAft>
            </a:pPr>
            <a:r>
              <a:rPr sz="1800">
                <a:solidFill>
                  <a:srgbClr val="1F2937"/>
                </a:solidFill>
                <a:latin typeface="Calibri"/>
              </a:rPr>
              <a:t>▸  Avval traxeya va qizilo‘ngachga ligaturalar qo‘yiladi; musbat natija olingan bosqichda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 traxeya, qizilo‘ngach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idishga solinadi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Manfiy: alohida o‘pkalar suvda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Manfiy: bo‘lak va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(suzadi): sinama tugaydi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Galen–Rauger–Shreer sinamasi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sinamasidagi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gazidan qalqigan bo‘lakchalar suv ostida qo‘lda siqilsa, qayta suzib chiqmaydi.</a:t>
            </a:r>
          </a:p>
          <a:p>
            <a:pPr>
              <a:spcAft>
                <a:spcPts val="800"/>
              </a:spcAft>
            </a:pPr>
            <a:r>
              <a:rPr sz="1800">
                <a:solidFill>
                  <a:srgbClr val="1F2937"/>
                </a:solidFill>
                <a:latin typeface="Calibri"/>
              </a:rPr>
              <a:t>▸  Soxta manfiyda Taranuxin (1907) usuli yoki Traxtenberg (1958) modifikatsiyasi qo‘llanadi.</a:t>
            </a:r>
          </a:p>
          <a:p>
            <a:pPr>
              <a:spcAft>
                <a:spcPts val="800"/>
              </a:spcAft>
            </a:pPr>
            <a:r>
              <a:rPr sz="1800">
                <a:solidFill>
                  <a:srgbClr val="1F2937"/>
                </a:solidFill>
                <a:latin typeface="Calibri"/>
              </a:rPr>
              <a:t>▸  Diqqat: o‘pkaning suzishi har doim nafas olganini bildirmaydi; soxta natijalarni istisno qiling.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1208680"/>
                <a:gridCol w="2568445"/>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Chirish</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Chirish gazlari o‘pkani qalqitadi</a:t>
                      </a:r>
                    </a:p>
                  </a:txBody>
                  <a:tcPr marL="73152" marR="73152" marT="36576" marB="36576">
                    <a:solidFill>
                      <a:srgbClr val="E8EEF6"/>
                    </a:solidFill>
                  </a:tcPr>
                </a:tc>
              </a:tr>
              <a:tr h="614476">
                <a:tc>
                  <a:txBody>
                    <a:bodyPr/>
                    <a:lstStyle/>
                    <a:p>
                      <a:r>
                        <a:rPr sz="1500" b="0">
                          <a:solidFill>
                            <a:srgbClr val="1F2937"/>
                          </a:solidFill>
                        </a:rPr>
                        <a:t>Sun’iy nafas</a:t>
                      </a:r>
                    </a:p>
                  </a:txBody>
                  <a:tcPr marL="73152" marR="73152" marT="36576" marB="36576">
                    <a:solidFill>
                      <a:srgbClr val="FFFFFF"/>
                    </a:solidFill>
                  </a:tcPr>
                </a:tc>
                <a:tc>
                  <a:txBody>
                    <a:bodyPr/>
                    <a:lstStyle/>
                    <a:p>
                      <a:r>
                        <a:rPr sz="1500" b="0">
                          <a:solidFill>
                            <a:srgbClr val="1F2937"/>
                          </a:solidFill>
                        </a:rPr>
                        <a:t>Soxta musbat</a:t>
                      </a:r>
                    </a:p>
                  </a:txBody>
                  <a:tcPr marL="73152" marR="73152" marT="36576" marB="36576">
                    <a:solidFill>
                      <a:srgbClr val="FFFFFF"/>
                    </a:solidFill>
                  </a:tcPr>
                </a:tc>
                <a:tc>
                  <a:txBody>
                    <a:bodyPr/>
                    <a:lstStyle/>
                    <a:p>
                      <a:r>
                        <a:rPr sz="1500" b="0">
                          <a:solidFill>
                            <a:srgbClr val="1F2937"/>
                          </a:solidFill>
                        </a:rPr>
                        <a:t>Bo‘lakchalar suvda bir xil emas</a:t>
                      </a:r>
                    </a:p>
                  </a:txBody>
                  <a:tcPr marL="73152" marR="73152" marT="36576" marB="36576">
                    <a:solidFill>
                      <a:srgbClr val="FFFFFF"/>
                    </a:solidFill>
                  </a:tcPr>
                </a:tc>
              </a:tr>
              <a:tr h="614476">
                <a:tc>
                  <a:txBody>
                    <a:bodyPr/>
                    <a:lstStyle/>
                    <a:p>
                      <a:r>
                        <a:rPr sz="1500" b="0">
                          <a:solidFill>
                            <a:srgbClr val="1F2937"/>
                          </a:solidFill>
                        </a:rPr>
                        <a:t>Muzlash</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Erimagan o‘pkada; erisa cho‘kadi</a:t>
                      </a:r>
                    </a:p>
                  </a:txBody>
                  <a:tcPr marL="73152" marR="73152" marT="36576" marB="36576">
                    <a:solidFill>
                      <a:srgbClr val="E8EEF6"/>
                    </a:solidFill>
                  </a:tcPr>
                </a:tc>
              </a:tr>
              <a:tr h="614476">
                <a:tc>
                  <a:txBody>
                    <a:bodyPr/>
                    <a:lstStyle/>
                    <a:p>
                      <a:r>
                        <a:rPr sz="1500" b="0">
                          <a:solidFill>
                            <a:srgbClr val="1F2937"/>
                          </a:solidFill>
                        </a:rPr>
                        <a:t>Ikkilamchi atelektaz</a:t>
                      </a:r>
                    </a:p>
                  </a:txBody>
                  <a:tcPr marL="73152" marR="73152" marT="36576" marB="36576">
                    <a:solidFill>
                      <a:srgbClr val="FFFFFF"/>
                    </a:solidFill>
                  </a:tcPr>
                </a:tc>
                <a:tc>
                  <a:txBody>
                    <a:bodyPr/>
                    <a:lstStyle/>
                    <a:p>
                      <a:r>
                        <a:rPr sz="1500" b="0">
                          <a:solidFill>
                            <a:srgbClr val="1F2937"/>
                          </a:solidFill>
                        </a:rPr>
                        <a:t>Soxta manfiy</a:t>
                      </a:r>
                    </a:p>
                  </a:txBody>
                  <a:tcPr marL="73152" marR="73152" marT="36576" marB="36576">
                    <a:solidFill>
                      <a:srgbClr val="FFFFFF"/>
                    </a:solidFill>
                  </a:tcPr>
                </a:tc>
                <a:tc>
                  <a:txBody>
                    <a:bodyPr/>
                    <a:lstStyle/>
                    <a:p>
                      <a:r>
                        <a:rPr sz="1500" b="0">
                          <a:solidFill>
                            <a:srgbClr val="1F2937"/>
                          </a:solidFill>
                        </a:rPr>
                        <a:t>Avval nafas olgan, keyin atelektaz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musbat va soxta manfiy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atelektaz: Taranuxin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 yopilishi tufayli keyin atelektazga uchraydi. Oddiy o‘pka sinamasi soxta manfiy bo‘lishi mumkin.</a:t>
            </a:r>
          </a:p>
          <a:p>
            <a:pPr>
              <a:spcAft>
                <a:spcPts val="1200"/>
              </a:spcAft>
            </a:pPr>
            <a:r>
              <a:rPr sz="2200">
                <a:solidFill>
                  <a:srgbClr val="1F2937"/>
                </a:solidFill>
                <a:latin typeface="Calibri"/>
              </a:rPr>
              <a:t>▸  Bunday holatda Taranuxin usuli (1907) yoki uning Traxtenberg modifikatsiyasi (1958) tavsiya etiladi.</a:t>
            </a:r>
          </a:p>
          <a:p>
            <a:pPr>
              <a:spcAft>
                <a:spcPts val="1200"/>
              </a:spcAft>
            </a:pPr>
            <a:r>
              <a:rPr sz="2200">
                <a:solidFill>
                  <a:srgbClr val="1F2937"/>
                </a:solidFill>
                <a:latin typeface="Calibri"/>
              </a:rPr>
              <a:t>▸  O‘pka bo‘lakchasi suvli kolbaga solinadi, so‘ng havo tortib olinib, kolbada past bosim yaratiladi.</a:t>
            </a:r>
          </a:p>
          <a:p>
            <a:pPr>
              <a:spcAft>
                <a:spcPts val="1200"/>
              </a:spcAft>
            </a:pPr>
            <a:r>
              <a:rPr sz="2200">
                <a:solidFill>
                  <a:srgbClr val="1F2937"/>
                </a:solidFill>
                <a:latin typeface="Calibri"/>
              </a:rPr>
              <a:t>▸  Odatdagi bosimda cho‘kkan bo‘lakcha past bosimda suv yuziga qalqib chiqsa, unda qolgan havo bor. Bu ikkilamchi atelektazni bildiradi.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va rentgenologik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Breslau sinamasi (1865) nafas olganda havoning bir qismi qizilo‘ngach orqali oshqozon va ichaklarga o‘tishiga asoslangan.</a:t>
            </a:r>
          </a:p>
          <a:p>
            <a:pPr>
              <a:spcAft>
                <a:spcPts val="1200"/>
              </a:spcAft>
            </a:pPr>
            <a:r>
              <a:rPr sz="2200">
                <a:solidFill>
                  <a:srgbClr val="1F2937"/>
                </a:solidFill>
                <a:latin typeface="Calibri"/>
              </a:rPr>
              <a:t>▸  Oshqozon va ichaklarga ligatura qo‘yilib, suvli idishga solinadi. Havoli joylar suzib chiqadi, teshilganda havo pufakchalari ko‘rinadi.</a:t>
            </a:r>
          </a:p>
          <a:p>
            <a:pPr>
              <a:spcAft>
                <a:spcPts val="1200"/>
              </a:spcAft>
            </a:pPr>
            <a:r>
              <a:rPr sz="2200">
                <a:solidFill>
                  <a:srgbClr val="1F2937"/>
                </a:solidFill>
                <a:latin typeface="Calibri"/>
              </a:rPr>
              <a:t>▸  Chirigan murdada (chirish gazlari) va o‘pka sun’iy ventilyatsiya qilinganda sinama soxta musbat beradi, shuning uchun tavsiya etilmaydi.</a:t>
            </a:r>
          </a:p>
          <a:p>
            <a:pPr>
              <a:spcAft>
                <a:spcPts val="1200"/>
              </a:spcAft>
            </a:pPr>
            <a:r>
              <a:rPr sz="2200">
                <a:solidFill>
                  <a:srgbClr val="1F2937"/>
                </a:solidFill>
                <a:latin typeface="Calibri"/>
              </a:rPr>
              <a:t>▸  Rentgen sinamasi (Dillon, 1939) nafas olgan o‘pkani sun’iy ventilyatsiya va chirish gazlaridan ajrata olmaydi. Maxsus jihoz kerak, shu sabab hozir qo‘llanilmaydi.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yuzasi notekis bo‘ladi.</a:t>
            </a:r>
          </a:p>
          <a:p>
            <a:pPr>
              <a:spcAft>
                <a:spcPts val="800"/>
              </a:spcAft>
            </a:pPr>
            <a:r>
              <a:rPr sz="1800">
                <a:solidFill>
                  <a:srgbClr val="1F2937"/>
                </a:solidFill>
                <a:latin typeface="Calibri"/>
              </a:rPr>
              <a:t>▸  Nafas olmagan o‘pka kichik hajmli, zichroq, umurtqa pog‘onasiga yaqin, yuzasi nisbatan tekis.</a:t>
            </a:r>
          </a:p>
          <a:p>
            <a:pPr>
              <a:spcAft>
                <a:spcPts val="800"/>
              </a:spcAft>
            </a:pPr>
            <a:r>
              <a:rPr sz="1800">
                <a:solidFill>
                  <a:srgbClr val="1F2937"/>
                </a:solidFill>
                <a:latin typeface="Calibri"/>
              </a:rPr>
              <a:t>▸  Siqilganda nafas olgan o‘pkadan ko‘pikli qon, nafas olmaganidan esa ozroq qon ajraladi.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022806"/>
                <a:gridCol w="192785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Tirik</a:t>
                      </a:r>
                    </a:p>
                  </a:txBody>
                  <a:tcPr marL="73152" marR="73152" marT="36576" marB="36576">
                    <a:solidFill>
                      <a:srgbClr val="0B1F3A"/>
                    </a:solidFill>
                  </a:tcPr>
                </a:tc>
                <a:tc>
                  <a:txBody>
                    <a:bodyPr/>
                    <a:lstStyle/>
                    <a:p>
                      <a:r>
                        <a:rPr sz="1600" b="1">
                          <a:solidFill>
                            <a:srgbClr val="FFFFFF"/>
                          </a:solidFill>
                        </a:rPr>
                        <a:t>O‘lik</a:t>
                      </a:r>
                    </a:p>
                  </a:txBody>
                  <a:tcPr marL="73152" marR="73152" marT="36576" marB="36576">
                    <a:solidFill>
                      <a:srgbClr val="0B1F3A"/>
                    </a:solidFill>
                  </a:tcPr>
                </a:tc>
              </a:tr>
              <a:tr h="614476">
                <a:tc>
                  <a:txBody>
                    <a:bodyPr/>
                    <a:lstStyle/>
                    <a:p>
                      <a:r>
                        <a:rPr sz="1500" b="0">
                          <a:solidFill>
                            <a:srgbClr val="1F2937"/>
                          </a:solidFill>
                        </a:rPr>
                        <a:t>Ko‘krak qafasi</a:t>
                      </a:r>
                    </a:p>
                  </a:txBody>
                  <a:tcPr marL="73152" marR="73152" marT="36576" marB="36576">
                    <a:solidFill>
                      <a:srgbClr val="E8EEF6"/>
                    </a:solidFill>
                  </a:tcPr>
                </a:tc>
                <a:tc>
                  <a:txBody>
                    <a:bodyPr/>
                    <a:lstStyle/>
                    <a:p>
                      <a:r>
                        <a:rPr sz="1500" b="0">
                          <a:solidFill>
                            <a:srgbClr val="1F2937"/>
                          </a:solidFill>
                        </a:rPr>
                        <a:t>Bochkasimon, qobirg‘a oralig‘i keng</a:t>
                      </a:r>
                    </a:p>
                  </a:txBody>
                  <a:tcPr marL="73152" marR="73152" marT="36576" marB="36576">
                    <a:solidFill>
                      <a:srgbClr val="E8EEF6"/>
                    </a:solidFill>
                  </a:tcPr>
                </a:tc>
                <a:tc>
                  <a:txBody>
                    <a:bodyPr/>
                    <a:lstStyle/>
                    <a:p>
                      <a:r>
                        <a:rPr sz="1500" b="0">
                          <a:solidFill>
                            <a:srgbClr val="1F2937"/>
                          </a:solidFill>
                        </a:rPr>
                        <a:t>Yassi, qobirg‘a oralig‘i tor</a:t>
                      </a:r>
                    </a:p>
                  </a:txBody>
                  <a:tcPr marL="73152" marR="73152" marT="36576" marB="36576">
                    <a:solidFill>
                      <a:srgbClr val="E8EEF6"/>
                    </a:solidFill>
                  </a:tcPr>
                </a:tc>
              </a:tr>
              <a:tr h="614476">
                <a:tc>
                  <a:txBody>
                    <a:bodyPr/>
                    <a:lstStyle/>
                    <a:p>
                      <a:r>
                        <a:rPr sz="1500" b="0">
                          <a:solidFill>
                            <a:srgbClr val="1F2937"/>
                          </a:solidFill>
                        </a:rPr>
                        <a:t>Diafragma gumbazi</a:t>
                      </a:r>
                    </a:p>
                  </a:txBody>
                  <a:tcPr marL="73152" marR="73152" marT="36576" marB="36576">
                    <a:solidFill>
                      <a:srgbClr val="FFFFFF"/>
                    </a:solidFill>
                  </a:tcPr>
                </a:tc>
                <a:tc>
                  <a:txBody>
                    <a:bodyPr/>
                    <a:lstStyle/>
                    <a:p>
                      <a:r>
                        <a:rPr sz="1500" b="0">
                          <a:solidFill>
                            <a:srgbClr val="1F2937"/>
                          </a:solidFill>
                        </a:rPr>
                        <a:t>VI-VII qobirg‘a sathida</a:t>
                      </a:r>
                    </a:p>
                  </a:txBody>
                  <a:tcPr marL="73152" marR="73152" marT="36576" marB="36576">
                    <a:solidFill>
                      <a:srgbClr val="FFFFFF"/>
                    </a:solidFill>
                  </a:tcPr>
                </a:tc>
                <a:tc>
                  <a:txBody>
                    <a:bodyPr/>
                    <a:lstStyle/>
                    <a:p>
                      <a:r>
                        <a:rPr sz="1500" b="0">
                          <a:solidFill>
                            <a:srgbClr val="1F2937"/>
                          </a:solidFill>
                        </a:rPr>
                        <a:t>IV-V qobirg‘a sathida</a:t>
                      </a:r>
                    </a:p>
                  </a:txBody>
                  <a:tcPr marL="73152" marR="73152" marT="36576" marB="36576">
                    <a:solidFill>
                      <a:srgbClr val="FFFFFF"/>
                    </a:solidFill>
                  </a:tcPr>
                </a:tc>
              </a:tr>
              <a:tr h="614476">
                <a:tc>
                  <a:txBody>
                    <a:bodyPr/>
                    <a:lstStyle/>
                    <a:p>
                      <a:r>
                        <a:rPr sz="1500" b="0">
                          <a:solidFill>
                            <a:srgbClr val="1F2937"/>
                          </a:solidFill>
                        </a:rPr>
                        <a:t>O‘pka rangi</a:t>
                      </a:r>
                    </a:p>
                  </a:txBody>
                  <a:tcPr marL="73152" marR="73152" marT="36576" marB="36576">
                    <a:solidFill>
                      <a:srgbClr val="E8EEF6"/>
                    </a:solidFill>
                  </a:tcPr>
                </a:tc>
                <a:tc>
                  <a:txBody>
                    <a:bodyPr/>
                    <a:lstStyle/>
                    <a:p>
                      <a:r>
                        <a:rPr sz="1500" b="0">
                          <a:solidFill>
                            <a:srgbClr val="1F2937"/>
                          </a:solidFill>
                        </a:rPr>
                        <a:t>Marmarsimon (Bush-Xaberda belgisi)</a:t>
                      </a:r>
                    </a:p>
                  </a:txBody>
                  <a:tcPr marL="73152" marR="73152" marT="36576" marB="36576">
                    <a:solidFill>
                      <a:srgbClr val="E8EEF6"/>
                    </a:solidFill>
                  </a:tcPr>
                </a:tc>
                <a:tc>
                  <a:txBody>
                    <a:bodyPr/>
                    <a:lstStyle/>
                    <a:p>
                      <a:r>
                        <a:rPr sz="1500" b="0">
                          <a:solidFill>
                            <a:srgbClr val="1F2937"/>
                          </a:solidFill>
                        </a:rPr>
                        <a:t>Bir xil ko‘kimtir-to‘q qizil</a:t>
                      </a:r>
                    </a:p>
                  </a:txBody>
                  <a:tcPr marL="73152" marR="73152" marT="36576" marB="36576">
                    <a:solidFill>
                      <a:srgbClr val="E8EEF6"/>
                    </a:solidFill>
                  </a:tcPr>
                </a:tc>
              </a:tr>
              <a:tr h="614476">
                <a:tc>
                  <a:txBody>
                    <a:bodyPr/>
                    <a:lstStyle/>
                    <a:p>
                      <a:r>
                        <a:rPr sz="1500" b="0">
                          <a:solidFill>
                            <a:srgbClr val="1F2937"/>
                          </a:solidFill>
                        </a:rPr>
                        <a:t>O‘pka vazni</a:t>
                      </a:r>
                    </a:p>
                  </a:txBody>
                  <a:tcPr marL="73152" marR="73152" marT="36576" marB="36576">
                    <a:solidFill>
                      <a:srgbClr val="FFFFFF"/>
                    </a:solidFill>
                  </a:tcPr>
                </a:tc>
                <a:tc>
                  <a:txBody>
                    <a:bodyPr/>
                    <a:lstStyle/>
                    <a:p>
                      <a:r>
                        <a:rPr sz="1500" b="0">
                          <a:solidFill>
                            <a:srgbClr val="1F2937"/>
                          </a:solidFill>
                        </a:rPr>
                        <a:t>85-90 g</a:t>
                      </a:r>
                    </a:p>
                  </a:txBody>
                  <a:tcPr marL="73152" marR="73152" marT="36576" marB="36576">
                    <a:solidFill>
                      <a:srgbClr val="FFFFFF"/>
                    </a:solidFill>
                  </a:tcPr>
                </a:tc>
                <a:tc>
                  <a:txBody>
                    <a:bodyPr/>
                    <a:lstStyle/>
                    <a:p>
                      <a:r>
                        <a:rPr sz="1500" b="0">
                          <a:solidFill>
                            <a:srgbClr val="1F2937"/>
                          </a:solidFill>
                        </a:rPr>
                        <a:t>55-60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taqqoslash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 va 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Elastik tolalar nafas olmagan o‘pkada tutamsimon, nafas olgan o‘pkada muntazam tartibda joylashadi.</a:t>
            </a:r>
          </a:p>
          <a:p>
            <a:pPr>
              <a:spcAft>
                <a:spcPts val="800"/>
              </a:spcAft>
            </a:pPr>
            <a:r>
              <a:rPr sz="1800">
                <a:solidFill>
                  <a:srgbClr val="1F2937"/>
                </a:solidFill>
                <a:latin typeface="Calibri"/>
              </a:rPr>
              <a:t>▸  Gialin membranalar qondagi oqsillardan (albumin, globulin, fibrin) iborat. Nafas olmagan o‘pkada bo‘lmaydi.</a:t>
            </a:r>
          </a:p>
          <a:p>
            <a:pPr>
              <a:spcAft>
                <a:spcPts val="800"/>
              </a:spcAft>
            </a:pPr>
            <a:r>
              <a:rPr sz="1800">
                <a:solidFill>
                  <a:srgbClr val="1F2937"/>
                </a:solidFill>
                <a:latin typeface="Calibri"/>
              </a:rPr>
              <a:t>▸  O‘lik tug‘ilganlarda o‘pka arteriyalari ichida “kurtaksimon”, “yostiqsimon” bo‘rtiqlar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8658"/>
                <a:gridCol w="1433347"/>
                <a:gridCol w="204596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Nafas olmagan</a:t>
                      </a:r>
                    </a:p>
                  </a:txBody>
                  <a:tcPr marL="73152" marR="73152" marT="36576" marB="36576">
                    <a:solidFill>
                      <a:srgbClr val="0B1F3A"/>
                    </a:solidFill>
                  </a:tcPr>
                </a:tc>
                <a:tc>
                  <a:txBody>
                    <a:bodyPr/>
                    <a:lstStyle/>
                    <a:p>
                      <a:r>
                        <a:rPr sz="1600" b="1">
                          <a:solidFill>
                            <a:srgbClr val="FFFFFF"/>
                          </a:solidFill>
                        </a:rPr>
                        <a:t>Nafas olgan</a:t>
                      </a:r>
                    </a:p>
                  </a:txBody>
                  <a:tcPr marL="73152" marR="73152" marT="36576" marB="36576">
                    <a:solidFill>
                      <a:srgbClr val="0B1F3A"/>
                    </a:solidFill>
                  </a:tcPr>
                </a:tc>
              </a:tr>
              <a:tr h="614476">
                <a:tc>
                  <a:txBody>
                    <a:bodyPr/>
                    <a:lstStyle/>
                    <a:p>
                      <a:r>
                        <a:rPr sz="1500" b="0">
                          <a:solidFill>
                            <a:srgbClr val="1F2937"/>
                          </a:solidFill>
                        </a:rPr>
                        <a:t>Alveolalar</a:t>
                      </a:r>
                    </a:p>
                  </a:txBody>
                  <a:tcPr marL="73152" marR="73152" marT="36576" marB="36576">
                    <a:solidFill>
                      <a:srgbClr val="E8EEF6"/>
                    </a:solidFill>
                  </a:tcPr>
                </a:tc>
                <a:tc>
                  <a:txBody>
                    <a:bodyPr/>
                    <a:lstStyle/>
                    <a:p>
                      <a:r>
                        <a:rPr sz="1500" b="0">
                          <a:solidFill>
                            <a:srgbClr val="1F2937"/>
                          </a:solidFill>
                        </a:rPr>
                        <a:t>Yoyilmagan</a:t>
                      </a:r>
                    </a:p>
                  </a:txBody>
                  <a:tcPr marL="73152" marR="73152" marT="36576" marB="36576">
                    <a:solidFill>
                      <a:srgbClr val="E8EEF6"/>
                    </a:solidFill>
                  </a:tcPr>
                </a:tc>
                <a:tc>
                  <a:txBody>
                    <a:bodyPr/>
                    <a:lstStyle/>
                    <a:p>
                      <a:r>
                        <a:rPr sz="1500" b="0">
                          <a:solidFill>
                            <a:srgbClr val="1F2937"/>
                          </a:solidFill>
                        </a:rPr>
                        <a:t>Yoyilgan</a:t>
                      </a:r>
                    </a:p>
                  </a:txBody>
                  <a:tcPr marL="73152" marR="73152" marT="36576" marB="36576">
                    <a:solidFill>
                      <a:srgbClr val="E8EEF6"/>
                    </a:solidFill>
                  </a:tcPr>
                </a:tc>
              </a:tr>
              <a:tr h="614476">
                <a:tc>
                  <a:txBody>
                    <a:bodyPr/>
                    <a:lstStyle/>
                    <a:p>
                      <a:r>
                        <a:rPr sz="1500" b="0">
                          <a:solidFill>
                            <a:srgbClr val="1F2937"/>
                          </a:solidFill>
                        </a:rPr>
                        <a:t>Alveolyar epiteliy</a:t>
                      </a:r>
                    </a:p>
                  </a:txBody>
                  <a:tcPr marL="73152" marR="73152" marT="36576" marB="36576">
                    <a:solidFill>
                      <a:srgbClr val="FFFFFF"/>
                    </a:solidFill>
                  </a:tcPr>
                </a:tc>
                <a:tc>
                  <a:txBody>
                    <a:bodyPr/>
                    <a:lstStyle/>
                    <a:p>
                      <a:r>
                        <a:rPr sz="1500" b="0">
                          <a:solidFill>
                            <a:srgbClr val="1F2937"/>
                          </a:solidFill>
                        </a:rPr>
                        <a:t>Kubsimon shaklda</a:t>
                      </a:r>
                    </a:p>
                  </a:txBody>
                  <a:tcPr marL="73152" marR="73152" marT="36576" marB="36576">
                    <a:solidFill>
                      <a:srgbClr val="FFFFFF"/>
                    </a:solidFill>
                  </a:tcPr>
                </a:tc>
                <a:tc>
                  <a:txBody>
                    <a:bodyPr/>
                    <a:lstStyle/>
                    <a:p>
                      <a:r>
                        <a:rPr sz="1500" b="0">
                          <a:solidFill>
                            <a:srgbClr val="1F2937"/>
                          </a:solidFill>
                        </a:rPr>
                        <a:t>Yassi shaklda</a:t>
                      </a:r>
                    </a:p>
                  </a:txBody>
                  <a:tcPr marL="73152" marR="73152" marT="36576" marB="36576">
                    <a:solidFill>
                      <a:srgbClr val="FFFFFF"/>
                    </a:solidFill>
                  </a:tcPr>
                </a:tc>
              </a:tr>
              <a:tr h="614476">
                <a:tc>
                  <a:txBody>
                    <a:bodyPr/>
                    <a:lstStyle/>
                    <a:p>
                      <a:r>
                        <a:rPr sz="1500" b="0">
                          <a:solidFill>
                            <a:srgbClr val="1F2937"/>
                          </a:solidFill>
                        </a:rPr>
                        <a:t>Alveolalararo to‘siq</a:t>
                      </a:r>
                    </a:p>
                  </a:txBody>
                  <a:tcPr marL="73152" marR="73152" marT="36576" marB="36576">
                    <a:solidFill>
                      <a:srgbClr val="E8EEF6"/>
                    </a:solidFill>
                  </a:tcPr>
                </a:tc>
                <a:tc>
                  <a:txBody>
                    <a:bodyPr/>
                    <a:lstStyle/>
                    <a:p>
                      <a:r>
                        <a:rPr sz="1500" b="0">
                          <a:solidFill>
                            <a:srgbClr val="1F2937"/>
                          </a:solidFill>
                        </a:rPr>
                        <a:t>Qalin</a:t>
                      </a:r>
                    </a:p>
                  </a:txBody>
                  <a:tcPr marL="73152" marR="73152" marT="36576" marB="36576">
                    <a:solidFill>
                      <a:srgbClr val="E8EEF6"/>
                    </a:solidFill>
                  </a:tcPr>
                </a:tc>
                <a:tc>
                  <a:txBody>
                    <a:bodyPr/>
                    <a:lstStyle/>
                    <a:p>
                      <a:r>
                        <a:rPr sz="1500" b="0">
                          <a:solidFill>
                            <a:srgbClr val="1F2937"/>
                          </a:solidFill>
                        </a:rPr>
                        <a:t>Ingichkalashgan</a:t>
                      </a:r>
                    </a:p>
                  </a:txBody>
                  <a:tcPr marL="73152" marR="73152" marT="36576" marB="36576">
                    <a:solidFill>
                      <a:srgbClr val="E8EEF6"/>
                    </a:solidFill>
                  </a:tcPr>
                </a:tc>
              </a:tr>
              <a:tr h="614476">
                <a:tc>
                  <a:txBody>
                    <a:bodyPr/>
                    <a:lstStyle/>
                    <a:p>
                      <a:r>
                        <a:rPr sz="1500" b="0">
                          <a:solidFill>
                            <a:srgbClr val="1F2937"/>
                          </a:solidFill>
                        </a:rPr>
                        <a:t>Kapillyarlar</a:t>
                      </a:r>
                    </a:p>
                  </a:txBody>
                  <a:tcPr marL="73152" marR="73152" marT="36576" marB="36576">
                    <a:solidFill>
                      <a:srgbClr val="FFFFFF"/>
                    </a:solidFill>
                  </a:tcPr>
                </a:tc>
                <a:tc>
                  <a:txBody>
                    <a:bodyPr/>
                    <a:lstStyle/>
                    <a:p>
                      <a:r>
                        <a:rPr sz="1500" b="0">
                          <a:solidFill>
                            <a:srgbClr val="1F2937"/>
                          </a:solidFill>
                        </a:rPr>
                        <a:t>Qon bo‘lmaydi</a:t>
                      </a:r>
                    </a:p>
                  </a:txBody>
                  <a:tcPr marL="73152" marR="73152" marT="36576" marB="36576">
                    <a:solidFill>
                      <a:srgbClr val="FFFFFF"/>
                    </a:solidFill>
                  </a:tcPr>
                </a:tc>
                <a:tc>
                  <a:txBody>
                    <a:bodyPr/>
                    <a:lstStyle/>
                    <a:p>
                      <a:r>
                        <a:rPr sz="1500" b="0">
                          <a:solidFill>
                            <a:srgbClr val="1F2937"/>
                          </a:solidFill>
                        </a:rPr>
                        <a:t>To‘laqon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mikroskopiyasi: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tirik tug‘ilganlik sinamalari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o‘pka sinamasini sud tibbiyotida kim va qachon birinchi qo‘llagan? Javob: I. Shreer, 1681 yilda.</a:t>
            </a:r>
          </a:p>
          <a:p>
            <a:pPr>
              <a:spcAft>
                <a:spcPts val="1200"/>
              </a:spcAft>
            </a:pPr>
            <a:r>
              <a:rPr sz="2200">
                <a:solidFill>
                  <a:srgbClr val="1F2937"/>
                </a:solidFill>
                <a:latin typeface="Calibri"/>
              </a:rPr>
              <a:t>▸  Savol: oshqozon-ichak sinamasi kimning nomi bilan bog‘liq? Javob: V. Breslau, 1865 yil.</a:t>
            </a:r>
          </a:p>
          <a:p>
            <a:pPr>
              <a:spcAft>
                <a:spcPts val="1200"/>
              </a:spcAft>
            </a:pPr>
            <a:r>
              <a:rPr sz="2200">
                <a:solidFill>
                  <a:srgbClr val="1F2937"/>
                </a:solidFill>
                <a:latin typeface="Calibri"/>
              </a:rPr>
              <a:t>▸  Savol: o‘pka sinamasi qachon soxta musbat beradi? Javob: chirishda, sun’iy nafas oldirilganda, yomon erigan muzlagan o‘pkada.</a:t>
            </a:r>
          </a:p>
          <a:p>
            <a:pPr>
              <a:spcAft>
                <a:spcPts val="1200"/>
              </a:spcAft>
            </a:pPr>
            <a:r>
              <a:rPr sz="2200">
                <a:solidFill>
                  <a:srgbClr val="1F2937"/>
                </a:solidFill>
                <a:latin typeface="Calibri"/>
              </a:rPr>
              <a:t>▸  Savol: soxta manfiy natija qachon? Javob: ikkilamchi atelektazda; Taranuxin usuli (1907)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go‘dak murdasi chirigan, o‘pka-kompleks suv yuzasiga suzib chiqdi. Tirik tug‘ilgan deb xulosa qilish mumkinmi?</a:t>
            </a:r>
          </a:p>
          <a:p>
            <a:pPr>
              <a:spcAft>
                <a:spcPts val="1200"/>
              </a:spcAft>
            </a:pPr>
            <a:r>
              <a:rPr sz="2200">
                <a:solidFill>
                  <a:srgbClr val="1F2937"/>
                </a:solidFill>
                <a:latin typeface="Calibri"/>
              </a:rPr>
              <a:t>▸  Chirish gazlari soxta musbat beradi. Bo‘laklar suv ostida qo‘lda siqilganda qayta suzib chiqmasa, sabab chirish gazidir.</a:t>
            </a:r>
          </a:p>
          <a:p>
            <a:pPr>
              <a:spcAft>
                <a:spcPts val="1200"/>
              </a:spcAft>
            </a:pPr>
            <a:r>
              <a:rPr sz="2200">
                <a:solidFill>
                  <a:srgbClr val="1F2937"/>
                </a:solidFill>
                <a:latin typeface="Calibri"/>
              </a:rPr>
              <a:t>▸  Chirishda oshqozon-ichak sinamasi ham soxta musbat beradi, shuning uchun tavsiya etilmaydi.</a:t>
            </a:r>
          </a:p>
          <a:p>
            <a:pPr>
              <a:spcAft>
                <a:spcPts val="1200"/>
              </a:spcAft>
            </a:pPr>
            <a:r>
              <a:rPr sz="2200">
                <a:solidFill>
                  <a:srgbClr val="1F2937"/>
                </a:solidFill>
                <a:latin typeface="Calibri"/>
              </a:rPr>
              <a:t>▸  Qo‘shimcha: mikroskopiyada alveolalar yoyilganligi, epiteliy yassiligi baholanadi. Suzishning o‘zi xulosa uchun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 261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 homiladorlik o‘rtacha 10 homila oyi yoki 280 kun davom etganini ko‘rsatuvchi belgilar majmui.</a:t>
            </a:r>
          </a:p>
          <a:p>
            <a:pPr>
              <a:spcAft>
                <a:spcPts val="1200"/>
              </a:spcAft>
            </a:pPr>
            <a:r>
              <a:rPr sz="2200">
                <a:solidFill>
                  <a:srgbClr val="1F2937"/>
                </a:solidFill>
                <a:latin typeface="Calibri"/>
              </a:rPr>
              <a:t>▸  Jahon sog‘liqni saqlash tashkiloti (JSST) bo‘yicha 37–42 haftada tug‘ish o‘z muddatida hisoblanadi. Shu muddatda tug‘ilgan go‘dak raso deyiladi.</a:t>
            </a:r>
          </a:p>
          <a:p>
            <a:pPr>
              <a:spcAft>
                <a:spcPts val="1200"/>
              </a:spcAft>
            </a:pPr>
            <a:r>
              <a:rPr sz="2200">
                <a:solidFill>
                  <a:srgbClr val="1F2937"/>
                </a:solidFill>
                <a:latin typeface="Calibri"/>
              </a:rPr>
              <a:t>▸  Raso go‘dakning tana uzunligi o‘rtacha 50–54 sm, vazni 3000–3500 g bo‘ladi.</a:t>
            </a:r>
          </a:p>
          <a:p>
            <a:pPr>
              <a:spcAft>
                <a:spcPts val="1200"/>
              </a:spcAft>
            </a:pPr>
            <a:r>
              <a:rPr sz="2200">
                <a:solidFill>
                  <a:srgbClr val="1F2937"/>
                </a:solidFill>
                <a:latin typeface="Calibri"/>
              </a:rPr>
              <a:t>▸  Diqqat: rasolik ≠ yetuklik. Yetuklik – ona tanasidan tashqarida yashashga yetarli rivojlanish: uzunligi 45 sm dan kam emas, vazni 2500 g dan kam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261–262, 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gestatsion yoshni homila oylarida beradi. Birinchi va ikkinchi yarimda hisob usuli har xil.</a:t>
            </a:r>
          </a:p>
          <a:p>
            <a:pPr>
              <a:spcAft>
                <a:spcPts val="800"/>
              </a:spcAft>
            </a:pPr>
            <a:r>
              <a:rPr sz="1800">
                <a:solidFill>
                  <a:srgbClr val="1F2937"/>
                </a:solidFill>
                <a:latin typeface="Calibri"/>
              </a:rPr>
              <a:t>▸  Baltazar-Derve indeksi 5,6 ga teng. Uni tana uzunligiga ko‘paytirsak, yosh kunlarda chiqadi.</a:t>
            </a:r>
          </a:p>
          <a:p>
            <a:pPr>
              <a:spcAft>
                <a:spcPts val="800"/>
              </a:spcAft>
            </a:pPr>
            <a:r>
              <a:rPr sz="1800">
                <a:solidFill>
                  <a:srgbClr val="1F2937"/>
                </a:solidFill>
                <a:latin typeface="Calibri"/>
              </a:rPr>
              <a:t>▸  I. Yakupov (1981) usulida homila boshining aylana uzunligi 3,4 ga bo‘linadi.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979372"/>
                <a:gridCol w="1380743"/>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Hisob</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Gaaze (1-yarim)</a:t>
                      </a:r>
                    </a:p>
                  </a:txBody>
                  <a:tcPr marL="73152" marR="73152" marT="36576" marB="36576">
                    <a:solidFill>
                      <a:srgbClr val="E8EEF6"/>
                    </a:solidFill>
                  </a:tcPr>
                </a:tc>
                <a:tc>
                  <a:txBody>
                    <a:bodyPr/>
                    <a:lstStyle/>
                    <a:p>
                      <a:r>
                        <a:rPr sz="1500" b="0">
                          <a:solidFill>
                            <a:srgbClr val="1F2937"/>
                          </a:solidFill>
                        </a:rPr>
                        <a:t>tana uzunligidan kvadrat ildiz</a:t>
                      </a:r>
                    </a:p>
                  </a:txBody>
                  <a:tcPr marL="73152" marR="73152" marT="36576" marB="36576">
                    <a:solidFill>
                      <a:srgbClr val="E8EEF6"/>
                    </a:solidFill>
                  </a:tcPr>
                </a:tc>
                <a:tc>
                  <a:txBody>
                    <a:bodyPr/>
                    <a:lstStyle/>
                    <a:p>
                      <a:r>
                        <a:rPr sz="1500" b="0">
                          <a:solidFill>
                            <a:srgbClr val="1F2937"/>
                          </a:solidFill>
                        </a:rPr>
                        <a:t>16 sm → 4 homila oyi</a:t>
                      </a:r>
                    </a:p>
                  </a:txBody>
                  <a:tcPr marL="73152" marR="73152" marT="36576" marB="36576">
                    <a:solidFill>
                      <a:srgbClr val="E8EEF6"/>
                    </a:solidFill>
                  </a:tcPr>
                </a:tc>
              </a:tr>
              <a:tr h="614476">
                <a:tc>
                  <a:txBody>
                    <a:bodyPr/>
                    <a:lstStyle/>
                    <a:p>
                      <a:r>
                        <a:rPr sz="1500" b="0">
                          <a:solidFill>
                            <a:srgbClr val="1F2937"/>
                          </a:solidFill>
                        </a:rPr>
                        <a:t>Gaaze (2-yarim)</a:t>
                      </a:r>
                    </a:p>
                  </a:txBody>
                  <a:tcPr marL="73152" marR="73152" marT="36576" marB="36576">
                    <a:solidFill>
                      <a:srgbClr val="FFFFFF"/>
                    </a:solidFill>
                  </a:tcPr>
                </a:tc>
                <a:tc>
                  <a:txBody>
                    <a:bodyPr/>
                    <a:lstStyle/>
                    <a:p>
                      <a:r>
                        <a:rPr sz="1500" b="0">
                          <a:solidFill>
                            <a:srgbClr val="1F2937"/>
                          </a:solidFill>
                        </a:rPr>
                        <a:t>tana uzunligi ÷ 5</a:t>
                      </a:r>
                    </a:p>
                  </a:txBody>
                  <a:tcPr marL="73152" marR="73152" marT="36576" marB="36576">
                    <a:solidFill>
                      <a:srgbClr val="FFFFFF"/>
                    </a:solidFill>
                  </a:tcPr>
                </a:tc>
                <a:tc>
                  <a:txBody>
                    <a:bodyPr/>
                    <a:lstStyle/>
                    <a:p>
                      <a:r>
                        <a:rPr sz="1500" b="0">
                          <a:solidFill>
                            <a:srgbClr val="1F2937"/>
                          </a:solidFill>
                        </a:rPr>
                        <a:t>40 sm → 8 homila oyi</a:t>
                      </a:r>
                    </a:p>
                  </a:txBody>
                  <a:tcPr marL="73152" marR="73152" marT="36576" marB="36576">
                    <a:solidFill>
                      <a:srgbClr val="FFFFFF"/>
                    </a:solidFill>
                  </a:tcPr>
                </a:tc>
              </a:tr>
              <a:tr h="614476">
                <a:tc>
                  <a:txBody>
                    <a:bodyPr/>
                    <a:lstStyle/>
                    <a:p>
                      <a:r>
                        <a:rPr sz="1500" b="0">
                          <a:solidFill>
                            <a:srgbClr val="1F2937"/>
                          </a:solidFill>
                        </a:rPr>
                        <a:t>Baltazar-Derve</a:t>
                      </a:r>
                    </a:p>
                  </a:txBody>
                  <a:tcPr marL="73152" marR="73152" marT="36576" marB="36576">
                    <a:solidFill>
                      <a:srgbClr val="E8EEF6"/>
                    </a:solidFill>
                  </a:tcPr>
                </a:tc>
                <a:tc>
                  <a:txBody>
                    <a:bodyPr/>
                    <a:lstStyle/>
                    <a:p>
                      <a:r>
                        <a:rPr sz="1500" b="0">
                          <a:solidFill>
                            <a:srgbClr val="1F2937"/>
                          </a:solidFill>
                        </a:rPr>
                        <a:t>tana uzunligi × 5,6 (kun)</a:t>
                      </a:r>
                    </a:p>
                  </a:txBody>
                  <a:tcPr marL="73152" marR="73152" marT="36576" marB="36576">
                    <a:solidFill>
                      <a:srgbClr val="E8EEF6"/>
                    </a:solidFill>
                  </a:tcPr>
                </a:tc>
                <a:tc>
                  <a:txBody>
                    <a:bodyPr/>
                    <a:lstStyle/>
                    <a:p>
                      <a:r>
                        <a:rPr sz="1500" b="0">
                          <a:solidFill>
                            <a:srgbClr val="1F2937"/>
                          </a:solidFill>
                        </a:rPr>
                        <a:t>40 sm → 224 kun (8 oy)</a:t>
                      </a:r>
                    </a:p>
                  </a:txBody>
                  <a:tcPr marL="73152" marR="73152" marT="36576" marB="36576">
                    <a:solidFill>
                      <a:srgbClr val="E8EEF6"/>
                    </a:solidFill>
                  </a:tcPr>
                </a:tc>
              </a:tr>
              <a:tr h="614476">
                <a:tc>
                  <a:txBody>
                    <a:bodyPr/>
                    <a:lstStyle/>
                    <a:p>
                      <a:r>
                        <a:rPr sz="1500" b="0">
                          <a:solidFill>
                            <a:srgbClr val="1F2937"/>
                          </a:solidFill>
                        </a:rPr>
                        <a:t>Yakupov</a:t>
                      </a:r>
                    </a:p>
                  </a:txBody>
                  <a:tcPr marL="73152" marR="73152" marT="36576" marB="36576">
                    <a:solidFill>
                      <a:srgbClr val="FFFFFF"/>
                    </a:solidFill>
                  </a:tcPr>
                </a:tc>
                <a:tc>
                  <a:txBody>
                    <a:bodyPr/>
                    <a:lstStyle/>
                    <a:p>
                      <a:r>
                        <a:rPr sz="1500" b="0">
                          <a:solidFill>
                            <a:srgbClr val="1F2937"/>
                          </a:solidFill>
                        </a:rPr>
                        <a:t>bosh aylanasi ÷ 3,4</a:t>
                      </a:r>
                    </a:p>
                  </a:txBody>
                  <a:tcPr marL="73152" marR="73152" marT="36576" marB="36576">
                    <a:solidFill>
                      <a:srgbClr val="FFFFFF"/>
                    </a:solidFill>
                  </a:tcPr>
                </a:tc>
                <a:tc>
                  <a:txBody>
                    <a:bodyPr/>
                    <a:lstStyle/>
                    <a:p>
                      <a:r>
                        <a:rPr sz="1500" b="0">
                          <a:solidFill>
                            <a:srgbClr val="1F2937"/>
                          </a:solidFill>
                        </a:rPr>
                        <a:t>34 sm → 10 homila oyi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yo‘ldosh bo‘yicha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kindik uzunligi va yo‘ldosh massasi bo‘yicha ham aniqlash mumkin (jadval 10.1).</a:t>
            </a:r>
          </a:p>
          <a:p>
            <a:pPr>
              <a:spcAft>
                <a:spcPts val="800"/>
              </a:spcAft>
            </a:pPr>
            <a:r>
              <a:rPr sz="1800">
                <a:solidFill>
                  <a:srgbClr val="1F2937"/>
                </a:solidFill>
                <a:latin typeface="Calibri"/>
              </a:rPr>
              <a:t>▸  Jadvalda ko‘rsatilmagan IX oy: kindik 47 sm, yo‘ldosh massasi 470 g.</a:t>
            </a:r>
          </a:p>
          <a:p>
            <a:pPr>
              <a:spcAft>
                <a:spcPts val="800"/>
              </a:spcAft>
            </a:pPr>
            <a:r>
              <a:rPr sz="1800">
                <a:solidFill>
                  <a:srgbClr val="1F2937"/>
                </a:solidFill>
                <a:latin typeface="Calibri"/>
              </a:rPr>
              <a:t>▸  Shu sababli ekspertizada murda bilan birga taqdim etilgan yo‘ldosh va kindik ham sinchiklab tekshiriladi.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8972"/>
                <a:gridCol w="1762658"/>
                <a:gridCol w="1866344"/>
              </a:tblGrid>
              <a:tr h="614476">
                <a:tc>
                  <a:txBody>
                    <a:bodyPr/>
                    <a:lstStyle/>
                    <a:p>
                      <a:r>
                        <a:rPr sz="1600" b="1">
                          <a:solidFill>
                            <a:srgbClr val="FFFFFF"/>
                          </a:solidFill>
                        </a:rPr>
                        <a:t>Homila oyi</a:t>
                      </a:r>
                    </a:p>
                  </a:txBody>
                  <a:tcPr marL="73152" marR="73152" marT="36576" marB="36576">
                    <a:solidFill>
                      <a:srgbClr val="0B1F3A"/>
                    </a:solidFill>
                  </a:tcPr>
                </a:tc>
                <a:tc>
                  <a:txBody>
                    <a:bodyPr/>
                    <a:lstStyle/>
                    <a:p>
                      <a:r>
                        <a:rPr sz="1600" b="1">
                          <a:solidFill>
                            <a:srgbClr val="FFFFFF"/>
                          </a:solidFill>
                        </a:rPr>
                        <a:t>Kindik (sm)</a:t>
                      </a:r>
                    </a:p>
                  </a:txBody>
                  <a:tcPr marL="73152" marR="73152" marT="36576" marB="36576">
                    <a:solidFill>
                      <a:srgbClr val="0B1F3A"/>
                    </a:solidFill>
                  </a:tcPr>
                </a:tc>
                <a:tc>
                  <a:txBody>
                    <a:bodyPr/>
                    <a:lstStyle/>
                    <a:p>
                      <a:r>
                        <a:rPr sz="1600" b="1">
                          <a:solidFill>
                            <a:srgbClr val="FFFFFF"/>
                          </a:solidFill>
                        </a:rPr>
                        <a:t>Yo‘ldosh (g)</a:t>
                      </a:r>
                    </a:p>
                  </a:txBody>
                  <a:tcPr marL="73152" marR="73152" marT="36576" marB="36576">
                    <a:solidFill>
                      <a:srgbClr val="0B1F3A"/>
                    </a:solidFill>
                  </a:tcPr>
                </a:tc>
              </a:tr>
              <a:tr h="614476">
                <a:tc>
                  <a:txBody>
                    <a:bodyPr/>
                    <a:lstStyle/>
                    <a:p>
                      <a:r>
                        <a:rPr sz="1500" b="0">
                          <a:solidFill>
                            <a:srgbClr val="1F2937"/>
                          </a:solidFill>
                        </a:rPr>
                        <a:t>VI</a:t>
                      </a:r>
                    </a:p>
                  </a:txBody>
                  <a:tcPr marL="73152" marR="73152" marT="36576" marB="36576">
                    <a:solidFill>
                      <a:srgbClr val="E8EEF6"/>
                    </a:solidFill>
                  </a:tcPr>
                </a:tc>
                <a:tc>
                  <a:txBody>
                    <a:bodyPr/>
                    <a:lstStyle/>
                    <a:p>
                      <a:r>
                        <a:rPr sz="1500" b="0">
                          <a:solidFill>
                            <a:srgbClr val="1F2937"/>
                          </a:solidFill>
                        </a:rPr>
                        <a:t>38</a:t>
                      </a:r>
                    </a:p>
                  </a:txBody>
                  <a:tcPr marL="73152" marR="73152" marT="36576" marB="36576">
                    <a:solidFill>
                      <a:srgbClr val="E8EEF6"/>
                    </a:solidFill>
                  </a:tcPr>
                </a:tc>
                <a:tc>
                  <a:txBody>
                    <a:bodyPr/>
                    <a:lstStyle/>
                    <a:p>
                      <a:r>
                        <a:rPr sz="1500" b="0">
                          <a:solidFill>
                            <a:srgbClr val="1F2937"/>
                          </a:solidFill>
                        </a:rPr>
                        <a:t>250</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42</a:t>
                      </a:r>
                    </a:p>
                  </a:txBody>
                  <a:tcPr marL="73152" marR="73152" marT="36576" marB="36576">
                    <a:solidFill>
                      <a:srgbClr val="FFFFFF"/>
                    </a:solidFill>
                  </a:tcPr>
                </a:tc>
                <a:tc>
                  <a:txBody>
                    <a:bodyPr/>
                    <a:lstStyle/>
                    <a:p>
                      <a:r>
                        <a:rPr sz="1500" b="0">
                          <a:solidFill>
                            <a:srgbClr val="1F2937"/>
                          </a:solidFill>
                        </a:rPr>
                        <a:t>340</a:t>
                      </a:r>
                    </a:p>
                  </a:txBody>
                  <a:tcPr marL="73152" marR="73152" marT="36576" marB="36576">
                    <a:solidFill>
                      <a:srgbClr val="FFFFFF"/>
                    </a:solidFill>
                  </a:tcPr>
                </a:tc>
              </a:tr>
              <a:tr h="614476">
                <a:tc>
                  <a:txBody>
                    <a:bodyPr/>
                    <a:lstStyle/>
                    <a:p>
                      <a:r>
                        <a:rPr sz="1500" b="0">
                          <a:solidFill>
                            <a:srgbClr val="1F2937"/>
                          </a:solidFill>
                        </a:rPr>
                        <a:t>VIII</a:t>
                      </a:r>
                    </a:p>
                  </a:txBody>
                  <a:tcPr marL="73152" marR="73152" marT="36576" marB="36576">
                    <a:solidFill>
                      <a:srgbClr val="E8EEF6"/>
                    </a:solidFill>
                  </a:tcPr>
                </a:tc>
                <a:tc>
                  <a:txBody>
                    <a:bodyPr/>
                    <a:lstStyle/>
                    <a:p>
                      <a:r>
                        <a:rPr sz="1500" b="0">
                          <a:solidFill>
                            <a:srgbClr val="1F2937"/>
                          </a:solidFill>
                        </a:rPr>
                        <a:t>46</a:t>
                      </a:r>
                    </a:p>
                  </a:txBody>
                  <a:tcPr marL="73152" marR="73152" marT="36576" marB="36576">
                    <a:solidFill>
                      <a:srgbClr val="E8EEF6"/>
                    </a:solidFill>
                  </a:tcPr>
                </a:tc>
                <a:tc>
                  <a:txBody>
                    <a:bodyPr/>
                    <a:lstStyle/>
                    <a:p>
                      <a:r>
                        <a:rPr sz="1500" b="0">
                          <a:solidFill>
                            <a:srgbClr val="1F2937"/>
                          </a:solidFill>
                        </a:rPr>
                        <a:t>410</a:t>
                      </a:r>
                    </a:p>
                  </a:txBody>
                  <a:tcPr marL="73152" marR="73152" marT="36576" marB="36576">
                    <a:solidFill>
                      <a:srgbClr val="E8EEF6"/>
                    </a:solidFill>
                  </a:tcPr>
                </a:tc>
              </a:tr>
              <a:tr h="614476">
                <a:tc>
                  <a:txBody>
                    <a:bodyPr/>
                    <a:lstStyle/>
                    <a:p>
                      <a:r>
                        <a:rPr sz="1500" b="0">
                          <a:solidFill>
                            <a:srgbClr val="1F2937"/>
                          </a:solidFill>
                        </a:rPr>
                        <a:t>X</a:t>
                      </a:r>
                    </a:p>
                  </a:txBody>
                  <a:tcPr marL="73152" marR="73152" marT="36576" marB="36576">
                    <a:solidFill>
                      <a:srgbClr val="FFFFFF"/>
                    </a:solidFill>
                  </a:tcPr>
                </a:tc>
                <a:tc>
                  <a:txBody>
                    <a:bodyPr/>
                    <a:lstStyle/>
                    <a:p>
                      <a:r>
                        <a:rPr sz="1500" b="0">
                          <a:solidFill>
                            <a:srgbClr val="1F2937"/>
                          </a:solidFill>
                        </a:rPr>
                        <a:t>50</a:t>
                      </a:r>
                    </a:p>
                  </a:txBody>
                  <a:tcPr marL="73152" marR="73152" marT="36576" marB="36576">
                    <a:solidFill>
                      <a:srgbClr val="FFFFFF"/>
                    </a:solidFill>
                  </a:tcPr>
                </a:tc>
                <a:tc>
                  <a:txBody>
                    <a:bodyPr/>
                    <a:lstStyle/>
                    <a:p>
                      <a:r>
                        <a:rPr sz="15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Jadval 10.1 (qisqartirilgan)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Suyaklanish o‘zaklari va yutish refleksi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aniqlashda suyaklardagi suyaklanish o‘zaklari tekshiriladi: son, tovon va g‘altaksimon suyak.</a:t>
            </a:r>
          </a:p>
          <a:p>
            <a:pPr>
              <a:spcAft>
                <a:spcPts val="800"/>
              </a:spcAft>
            </a:pPr>
            <a:r>
              <a:rPr sz="1800">
                <a:solidFill>
                  <a:srgbClr val="1F2937"/>
                </a:solidFill>
                <a:latin typeface="Calibri"/>
              </a:rPr>
              <a:t>▸  Homiladorlikdagi kasalliklar, chekish, alkogol va narkotik o‘zaklarni kechiktiradi, ba’zan umuman paydo qilmaydi.</a:t>
            </a:r>
          </a:p>
          <a:p>
            <a:pPr>
              <a:spcAft>
                <a:spcPts val="800"/>
              </a:spcAft>
            </a:pPr>
            <a:r>
              <a:rPr sz="1800">
                <a:solidFill>
                  <a:srgbClr val="1F2937"/>
                </a:solidFill>
                <a:latin typeface="Calibri"/>
              </a:rPr>
              <a:t>▸  Yutish refleksi VIII oyda paydo bo‘ladi; mekoniydagi tuk sochlari — Shibkov–Markovin belgisi.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799516"/>
                <a:gridCol w="1244229"/>
                <a:gridCol w="1244229"/>
              </a:tblGrid>
              <a:tr h="768096">
                <a:tc>
                  <a:txBody>
                    <a:bodyPr/>
                    <a:lstStyle/>
                    <a:p>
                      <a:r>
                        <a:rPr sz="1600" b="1">
                          <a:solidFill>
                            <a:srgbClr val="FFFFFF"/>
                          </a:solidFill>
                        </a:rPr>
                        <a:t>Suyak</a:t>
                      </a:r>
                    </a:p>
                  </a:txBody>
                  <a:tcPr marL="73152" marR="73152" marT="36576" marB="36576">
                    <a:solidFill>
                      <a:srgbClr val="0B1F3A"/>
                    </a:solidFill>
                  </a:tcPr>
                </a:tc>
                <a:tc>
                  <a:txBody>
                    <a:bodyPr/>
                    <a:lstStyle/>
                    <a:p>
                      <a:r>
                        <a:rPr sz="1600" b="1">
                          <a:solidFill>
                            <a:srgbClr val="FFFFFF"/>
                          </a:solidFill>
                        </a:rPr>
                        <a:t>Homila oyi</a:t>
                      </a:r>
                    </a:p>
                  </a:txBody>
                  <a:tcPr marL="73152" marR="73152" marT="36576" marB="36576">
                    <a:solidFill>
                      <a:srgbClr val="0B1F3A"/>
                    </a:solidFill>
                  </a:tcPr>
                </a:tc>
                <a:tc>
                  <a:txBody>
                    <a:bodyPr/>
                    <a:lstStyle/>
                    <a:p>
                      <a:r>
                        <a:rPr sz="1600" b="1">
                          <a:solidFill>
                            <a:srgbClr val="FFFFFF"/>
                          </a:solidFill>
                        </a:rPr>
                        <a:t>Diametri</a:t>
                      </a:r>
                    </a:p>
                  </a:txBody>
                  <a:tcPr marL="73152" marR="73152" marT="36576" marB="36576">
                    <a:solidFill>
                      <a:srgbClr val="0B1F3A"/>
                    </a:solidFill>
                  </a:tcPr>
                </a:tc>
              </a:tr>
              <a:tr h="768096">
                <a:tc>
                  <a:txBody>
                    <a:bodyPr/>
                    <a:lstStyle/>
                    <a:p>
                      <a:r>
                        <a:rPr sz="1500" b="0">
                          <a:solidFill>
                            <a:srgbClr val="1F2937"/>
                          </a:solidFill>
                        </a:rPr>
                        <a:t>Tovon suyagi</a:t>
                      </a:r>
                    </a:p>
                  </a:txBody>
                  <a:tcPr marL="73152" marR="73152" marT="36576" marB="36576">
                    <a:solidFill>
                      <a:srgbClr val="E8EEF6"/>
                    </a:solidFill>
                  </a:tcPr>
                </a:tc>
                <a:tc>
                  <a:txBody>
                    <a:bodyPr/>
                    <a:lstStyle/>
                    <a:p>
                      <a:r>
                        <a:rPr sz="1500" b="0">
                          <a:solidFill>
                            <a:srgbClr val="1F2937"/>
                          </a:solidFill>
                        </a:rPr>
                        <a:t>V oy</a:t>
                      </a:r>
                    </a:p>
                  </a:txBody>
                  <a:tcPr marL="73152" marR="73152" marT="36576" marB="36576">
                    <a:solidFill>
                      <a:srgbClr val="E8EEF6"/>
                    </a:solidFill>
                  </a:tcPr>
                </a:tc>
                <a:tc>
                  <a:txBody>
                    <a:bodyPr/>
                    <a:lstStyle/>
                    <a:p>
                      <a:r>
                        <a:rPr sz="1500" b="0">
                          <a:solidFill>
                            <a:srgbClr val="1F2937"/>
                          </a:solidFill>
                        </a:rPr>
                        <a:t>0,8–1,1 sm</a:t>
                      </a:r>
                    </a:p>
                  </a:txBody>
                  <a:tcPr marL="73152" marR="73152" marT="36576" marB="36576">
                    <a:solidFill>
                      <a:srgbClr val="E8EEF6"/>
                    </a:solidFill>
                  </a:tcPr>
                </a:tc>
              </a:tr>
              <a:tr h="768096">
                <a:tc>
                  <a:txBody>
                    <a:bodyPr/>
                    <a:lstStyle/>
                    <a:p>
                      <a:r>
                        <a:rPr sz="1500" b="0">
                          <a:solidFill>
                            <a:srgbClr val="1F2937"/>
                          </a:solidFill>
                        </a:rPr>
                        <a:t>G‘altaksimon suyak</a:t>
                      </a:r>
                    </a:p>
                  </a:txBody>
                  <a:tcPr marL="73152" marR="73152" marT="36576" marB="36576">
                    <a:solidFill>
                      <a:srgbClr val="FFFFFF"/>
                    </a:solidFill>
                  </a:tcPr>
                </a:tc>
                <a:tc>
                  <a:txBody>
                    <a:bodyPr/>
                    <a:lstStyle/>
                    <a:p>
                      <a:r>
                        <a:rPr sz="1500" b="0">
                          <a:solidFill>
                            <a:srgbClr val="1F2937"/>
                          </a:solidFill>
                        </a:rPr>
                        <a:t>VII oy</a:t>
                      </a:r>
                    </a:p>
                  </a:txBody>
                  <a:tcPr marL="73152" marR="73152" marT="36576" marB="36576">
                    <a:solidFill>
                      <a:srgbClr val="FFFFFF"/>
                    </a:solidFill>
                  </a:tcPr>
                </a:tc>
                <a:tc>
                  <a:txBody>
                    <a:bodyPr/>
                    <a:lstStyle/>
                    <a:p>
                      <a:r>
                        <a:rPr sz="1500" b="0">
                          <a:solidFill>
                            <a:srgbClr val="1F2937"/>
                          </a:solidFill>
                        </a:rPr>
                        <a:t>0,7–1,0 sm</a:t>
                      </a:r>
                    </a:p>
                  </a:txBody>
                  <a:tcPr marL="73152" marR="73152" marT="36576" marB="36576">
                    <a:solidFill>
                      <a:srgbClr val="FFFFFF"/>
                    </a:solidFill>
                  </a:tcPr>
                </a:tc>
              </a:tr>
              <a:tr h="768096">
                <a:tc>
                  <a:txBody>
                    <a:bodyPr/>
                    <a:lstStyle/>
                    <a:p>
                      <a:r>
                        <a:rPr sz="1500" b="0">
                          <a:solidFill>
                            <a:srgbClr val="1F2937"/>
                          </a:solidFill>
                        </a:rPr>
                        <a:t>Son pastki epifizi (Beklyar yadrosi)</a:t>
                      </a:r>
                    </a:p>
                  </a:txBody>
                  <a:tcPr marL="73152" marR="73152" marT="36576" marB="36576">
                    <a:solidFill>
                      <a:srgbClr val="E8EEF6"/>
                    </a:solidFill>
                  </a:tcPr>
                </a:tc>
                <a:tc>
                  <a:txBody>
                    <a:bodyPr/>
                    <a:lstStyle/>
                    <a:p>
                      <a:r>
                        <a:rPr sz="1500" b="0">
                          <a:solidFill>
                            <a:srgbClr val="1F2937"/>
                          </a:solidFill>
                        </a:rPr>
                        <a:t>IX oy</a:t>
                      </a:r>
                    </a:p>
                  </a:txBody>
                  <a:tcPr marL="73152" marR="73152" marT="36576" marB="36576">
                    <a:solidFill>
                      <a:srgbClr val="E8EEF6"/>
                    </a:solidFill>
                  </a:tcPr>
                </a:tc>
                <a:tc>
                  <a:txBody>
                    <a:bodyPr/>
                    <a:lstStyle/>
                    <a:p>
                      <a:r>
                        <a:rPr sz="1500" b="0">
                          <a:solidFill>
                            <a:srgbClr val="1F2937"/>
                          </a:solidFill>
                        </a:rPr>
                        <a:t>0,5–0,7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gestatsion yoshni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homila murdasi topildi, tana uzunligi 40 sm. Gestatsion yoshni Gaaze formulasi bilan hisoblang.</a:t>
            </a:r>
          </a:p>
          <a:p>
            <a:pPr>
              <a:spcAft>
                <a:spcPts val="1200"/>
              </a:spcAft>
            </a:pPr>
            <a:r>
              <a:rPr sz="2200">
                <a:solidFill>
                  <a:srgbClr val="1F2937"/>
                </a:solidFill>
                <a:latin typeface="Calibri"/>
              </a:rPr>
              <a:t>▸  Gaaze: ikkinchi yarmida tana uzunligi 5 ga bo‘linadi: 40 : 5 = 8 homila oyi. Birinchi yarmida kvadrat ildiz olinadi (16 sm — 4 oy).</a:t>
            </a:r>
          </a:p>
          <a:p>
            <a:pPr>
              <a:spcAft>
                <a:spcPts val="1200"/>
              </a:spcAft>
            </a:pPr>
            <a:r>
              <a:rPr sz="2200">
                <a:solidFill>
                  <a:srgbClr val="1F2937"/>
                </a:solidFill>
                <a:latin typeface="Calibri"/>
              </a:rPr>
              <a:t>▸  Tekshirish: Baltazar-Derve indeksi 5,6 ni tana uzunligiga ko‘paytiring: 40 × 5,6 = 224 kun, ya’ni 8 homila oyi.</a:t>
            </a:r>
          </a:p>
          <a:p>
            <a:pPr>
              <a:spcAft>
                <a:spcPts val="1200"/>
              </a:spcAft>
            </a:pPr>
            <a:r>
              <a:rPr sz="2200">
                <a:solidFill>
                  <a:srgbClr val="1F2937"/>
                </a:solidFill>
                <a:latin typeface="Calibri"/>
              </a:rPr>
              <a:t>▸  Savol: tana uzunligi 40 sm bo‘lgan homila yetuk hisoblanadimi? Yetuklik mezoni: uzunlik 45 sm va undan ortiq, vazn kamida 2500 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layoqatlilik va uning cheklari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Hayotga layoqatlilik — go‘dakning ona organizmidan tashqarida yashash qobiliyati. Tirik tug‘ilgan go‘dak ham layoqatsiz bo‘lishi mumkin.</a:t>
            </a:r>
          </a:p>
          <a:p>
            <a:pPr>
              <a:spcAft>
                <a:spcPts val="1200"/>
              </a:spcAft>
            </a:pPr>
            <a:r>
              <a:rPr sz="2000">
                <a:solidFill>
                  <a:srgbClr val="1F2937"/>
                </a:solidFill>
                <a:latin typeface="Calibri"/>
              </a:rPr>
              <a:t>▸  Jahon sog‘liqni saqlash tashkiloti (JSST) mezoni: uzunligi 25 sm dan, vazni 500 g dan kam go‘dak o‘ta norasoligi sababli layoqatsiz. Murda ochilmaydi, faqat tashqi tekshiruv, vazn va uzunlik o‘lchanadi.</a:t>
            </a:r>
          </a:p>
          <a:p>
            <a:pPr>
              <a:spcAft>
                <a:spcPts val="1200"/>
              </a:spcAft>
            </a:pPr>
            <a:r>
              <a:rPr sz="2000">
                <a:solidFill>
                  <a:srgbClr val="1F2937"/>
                </a:solidFill>
                <a:latin typeface="Calibri"/>
              </a:rPr>
              <a:t>▸  Anensefaliya, ikki kamerali yurak kabi nuqsonlar hayotga monelik qiladi. Tug‘ruq travmasi (bosh miya majaqlanishi, bo‘yin umurtqalari sinishi) ham shunday.</a:t>
            </a:r>
          </a:p>
          <a:p>
            <a:pPr>
              <a:spcAft>
                <a:spcPts val="1200"/>
              </a:spcAft>
            </a:pPr>
            <a:r>
              <a:rPr sz="2000">
                <a:solidFill>
                  <a:srgbClr val="1F2937"/>
                </a:solidFill>
                <a:latin typeface="Calibri"/>
              </a:rPr>
              <a:t>▸  Tashqi nuqson (oltinchi barmoq, quyon lab) topilsa, ichki nuqsonni istisno qilish uchun bosh miya va ichki a’zolar sinchiklab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hayotining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 davomiyligi morfologik o‘zgarishlar dinamikasi bilan aniqlanadi. Muddatlar taxminiy, shuning uchun imkon qadar ko‘p belgi hisobga olinadi.</a:t>
            </a:r>
          </a:p>
          <a:p>
            <a:pPr>
              <a:spcAft>
                <a:spcPts val="800"/>
              </a:spcAft>
            </a:pPr>
            <a:r>
              <a:rPr sz="1800">
                <a:solidFill>
                  <a:srgbClr val="1F2937"/>
                </a:solidFill>
                <a:latin typeface="Calibri"/>
              </a:rPr>
              <a:t>▸  Havo faqat oshqozonda bo‘lsa, go‘dak 3 soatdan kam yashagan. 5-6 soatda havo ingichka ichakni to‘ldiradi.</a:t>
            </a:r>
          </a:p>
          <a:p>
            <a:pPr>
              <a:spcAft>
                <a:spcPts val="800"/>
              </a:spcAft>
            </a:pPr>
            <a:r>
              <a:rPr sz="1800">
                <a:solidFill>
                  <a:srgbClr val="1F2937"/>
                </a:solidFill>
                <a:latin typeface="Calibri"/>
              </a:rPr>
              <a:t>▸  Diqqat: gialin membranalar (1-2 soat) va ikkilamchi atelektaz (5-6 soat) turli muddatlarda hosil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2900"/>
                <a:gridCol w="3365075"/>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Demarkatsion halqa</a:t>
                      </a:r>
                    </a:p>
                  </a:txBody>
                  <a:tcPr marL="73152" marR="73152" marT="36576" marB="36576">
                    <a:solidFill>
                      <a:srgbClr val="E8EEF6"/>
                    </a:solidFill>
                  </a:tcPr>
                </a:tc>
                <a:tc>
                  <a:txBody>
                    <a:bodyPr/>
                    <a:lstStyle/>
                    <a:p>
                      <a:r>
                        <a:rPr sz="1700" b="0">
                          <a:solidFill>
                            <a:srgbClr val="1F2937"/>
                          </a:solidFill>
                        </a:rPr>
                        <a:t>1-sutka oxiriga kelib shakllanadi</a:t>
                      </a:r>
                    </a:p>
                  </a:txBody>
                  <a:tcPr marL="73152" marR="73152" marT="36576" marB="36576">
                    <a:solidFill>
                      <a:srgbClr val="E8EEF6"/>
                    </a:solidFill>
                  </a:tcPr>
                </a:tc>
              </a:tr>
              <a:tr h="614476">
                <a:tc>
                  <a:txBody>
                    <a:bodyPr/>
                    <a:lstStyle/>
                    <a:p>
                      <a:r>
                        <a:rPr sz="1700" b="0">
                          <a:solidFill>
                            <a:srgbClr val="1F2937"/>
                          </a:solidFill>
                        </a:rPr>
                        <a:t>Mekoniy</a:t>
                      </a:r>
                    </a:p>
                  </a:txBody>
                  <a:tcPr marL="73152" marR="73152" marT="36576" marB="36576">
                    <a:solidFill>
                      <a:srgbClr val="FFFFFF"/>
                    </a:solidFill>
                  </a:tcPr>
                </a:tc>
                <a:tc>
                  <a:txBody>
                    <a:bodyPr/>
                    <a:lstStyle/>
                    <a:p>
                      <a:r>
                        <a:rPr sz="1700" b="0">
                          <a:solidFill>
                            <a:srgbClr val="1F2937"/>
                          </a:solidFill>
                        </a:rPr>
                        <a:t>1-sutka oxiriga kelib chiqib ketadi</a:t>
                      </a:r>
                    </a:p>
                  </a:txBody>
                  <a:tcPr marL="73152" marR="73152" marT="36576" marB="36576">
                    <a:solidFill>
                      <a:srgbClr val="FFFFFF"/>
                    </a:solidFill>
                  </a:tcPr>
                </a:tc>
              </a:tr>
              <a:tr h="614476">
                <a:tc>
                  <a:txBody>
                    <a:bodyPr/>
                    <a:lstStyle/>
                    <a:p>
                      <a:r>
                        <a:rPr sz="1700" b="0">
                          <a:solidFill>
                            <a:srgbClr val="1F2937"/>
                          </a:solidFill>
                        </a:rPr>
                        <a:t>Gialin membranalar</a:t>
                      </a:r>
                    </a:p>
                  </a:txBody>
                  <a:tcPr marL="73152" marR="73152" marT="36576" marB="36576">
                    <a:solidFill>
                      <a:srgbClr val="E8EEF6"/>
                    </a:solidFill>
                  </a:tcPr>
                </a:tc>
                <a:tc>
                  <a:txBody>
                    <a:bodyPr/>
                    <a:lstStyle/>
                    <a:p>
                      <a:r>
                        <a:rPr sz="1700" b="0">
                          <a:solidFill>
                            <a:srgbClr val="1F2937"/>
                          </a:solidFill>
                        </a:rPr>
                        <a:t>go‘dak kamida 1-2 soat yashagan</a:t>
                      </a:r>
                    </a:p>
                  </a:txBody>
                  <a:tcPr marL="73152" marR="73152" marT="36576" marB="36576">
                    <a:solidFill>
                      <a:srgbClr val="E8EEF6"/>
                    </a:solidFill>
                  </a:tcPr>
                </a:tc>
              </a:tr>
              <a:tr h="614476">
                <a:tc>
                  <a:txBody>
                    <a:bodyPr/>
                    <a:lstStyle/>
                    <a:p>
                      <a:r>
                        <a:rPr sz="1700" b="0">
                          <a:solidFill>
                            <a:srgbClr val="1F2937"/>
                          </a:solidFill>
                        </a:rPr>
                        <a:t>Ikkilamchi atelektaz</a:t>
                      </a:r>
                    </a:p>
                  </a:txBody>
                  <a:tcPr marL="73152" marR="73152" marT="36576" marB="36576">
                    <a:solidFill>
                      <a:srgbClr val="FFFFFF"/>
                    </a:solidFill>
                  </a:tcPr>
                </a:tc>
                <a:tc>
                  <a:txBody>
                    <a:bodyPr/>
                    <a:lstStyle/>
                    <a:p>
                      <a:r>
                        <a:rPr sz="1700" b="0">
                          <a:solidFill>
                            <a:srgbClr val="1F2937"/>
                          </a:solidFill>
                        </a:rPr>
                        <a:t>kamida 5-6 soatdan so‘ng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davomiyligi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263-264, 264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Qarov bo‘lgan yoki bo‘lmaganligi surishtiruv va tergov uchun holatga huquqiy baho berishda muhim ahamiyatga ega.</a:t>
            </a:r>
          </a:p>
          <a:p>
            <a:pPr>
              <a:spcAft>
                <a:spcPts val="1200"/>
              </a:spcAft>
            </a:pPr>
            <a:r>
              <a:rPr sz="2200">
                <a:solidFill>
                  <a:srgbClr val="1F2937"/>
                </a:solidFill>
                <a:latin typeface="Calibri"/>
              </a:rPr>
              <a:t>▸  Tashqi belgilar: go‘dak yo‘rgaklangan, ustida kiyim-bosh bor, kindigi kesilib boylangan.</a:t>
            </a:r>
          </a:p>
          <a:p>
            <a:pPr>
              <a:spcAft>
                <a:spcPts val="1200"/>
              </a:spcAft>
            </a:pPr>
            <a:r>
              <a:rPr sz="2200">
                <a:solidFill>
                  <a:srgbClr val="1F2937"/>
                </a:solidFill>
                <a:latin typeface="Calibri"/>
              </a:rPr>
              <a:t>▸  Tana qon izlari va mo‘msimon qoplamadan tozalangan. Ichki tekshiruvda oshqozonda sut yoki unga o‘xshash massa topiladi.</a:t>
            </a:r>
          </a:p>
          <a:p>
            <a:pPr>
              <a:spcAft>
                <a:spcPts val="1200"/>
              </a:spcAft>
            </a:pPr>
            <a:r>
              <a:rPr sz="2200">
                <a:solidFill>
                  <a:srgbClr val="1F2937"/>
                </a:solidFill>
                <a:latin typeface="Calibri"/>
              </a:rPr>
              <a:t>▸  Tezkor savol: gialin membranalar hosil bo‘lishi uchun kamida necha soat kerak? Qarovning besh belgisini sanab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263-264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layoqat, davomiylik,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go‘dak murdasida havo faqat oshqozonda, yo‘g‘on ichakda yo‘q. Kindikda halqaning dastlabki belgilari bor.</a:t>
            </a:r>
          </a:p>
          <a:p>
            <a:pPr>
              <a:spcAft>
                <a:spcPts val="1200"/>
              </a:spcAft>
            </a:pPr>
            <a:r>
              <a:rPr sz="2200">
                <a:solidFill>
                  <a:srgbClr val="1F2937"/>
                </a:solidFill>
                <a:latin typeface="Calibri"/>
              </a:rPr>
              <a:t>▸  Tahlil: havo faqat oshqozonda bo‘lsa, go‘dak 3 soatdan kam yashagan. Ichakka o‘tgan havo uzoqroq yashashni bildiradi.</a:t>
            </a:r>
          </a:p>
          <a:p>
            <a:pPr>
              <a:spcAft>
                <a:spcPts val="1200"/>
              </a:spcAft>
            </a:pPr>
            <a:r>
              <a:rPr sz="2200">
                <a:solidFill>
                  <a:srgbClr val="1F2937"/>
                </a:solidFill>
                <a:latin typeface="Calibri"/>
              </a:rPr>
              <a:t>▸  Kindikdagi halqa belgilari tirik tug‘ilganlikka mos. Muddatlar taxminiy, shuning uchun xulosa bitta belgiga asoslanmaydi.</a:t>
            </a:r>
          </a:p>
          <a:p>
            <a:pPr>
              <a:spcAft>
                <a:spcPts val="1200"/>
              </a:spcAft>
            </a:pPr>
            <a:r>
              <a:rPr sz="2200">
                <a:solidFill>
                  <a:srgbClr val="1F2937"/>
                </a:solidFill>
                <a:latin typeface="Calibri"/>
              </a:rPr>
              <a:t>▸  Savol: go‘dak qancha yashagan va qarov bo‘lganmi? Qarov uchun yo‘rgak, kiyim, kindik, tozalanganlik, oshqozondagi sutni tekshiring.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258-259, 264, 264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sabablari: antenatal va intranatal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Antenatal o‘limda asosiy sabab — homila ichi asfiksiya; yo‘ldosh va kindik ham tekshiriladi.</a:t>
            </a:r>
          </a:p>
          <a:p>
            <a:pPr>
              <a:spcAft>
                <a:spcPts val="800"/>
              </a:spcAft>
            </a:pPr>
            <a:r>
              <a:rPr sz="1800">
                <a:solidFill>
                  <a:srgbClr val="1F2937"/>
                </a:solidFill>
                <a:latin typeface="Calibri"/>
              </a:rPr>
              <a:t>▸  Belgilar: tez o‘lim alomatlari, suv aspiratsiyasi, ko‘p mekoniy; yo‘g‘on ichak bo‘shlig‘i torayadi.</a:t>
            </a:r>
          </a:p>
          <a:p>
            <a:pPr>
              <a:spcAft>
                <a:spcPts val="800"/>
              </a:spcAft>
            </a:pPr>
            <a:r>
              <a:rPr sz="1800">
                <a:solidFill>
                  <a:srgbClr val="1F2937"/>
                </a:solidFill>
                <a:latin typeface="Calibri"/>
              </a:rPr>
              <a:t>▸  Miya pardalari va qorinchalariga qon quyilishi mumkin, ko‘pincha simmetrik.</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22474"/>
                <a:gridCol w="2010080"/>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Sabab</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Antenatal</a:t>
                      </a:r>
                    </a:p>
                  </a:txBody>
                  <a:tcPr marL="73152" marR="73152" marT="36576" marB="36576">
                    <a:solidFill>
                      <a:srgbClr val="E8EEF6"/>
                    </a:solidFill>
                  </a:tcPr>
                </a:tc>
                <a:tc>
                  <a:txBody>
                    <a:bodyPr/>
                    <a:lstStyle/>
                    <a:p>
                      <a:r>
                        <a:rPr sz="1500" b="0">
                          <a:solidFill>
                            <a:srgbClr val="1F2937"/>
                          </a:solidFill>
                        </a:rPr>
                        <a:t>Yo‘ldosh va kindik patologiyasi</a:t>
                      </a:r>
                    </a:p>
                  </a:txBody>
                  <a:tcPr marL="73152" marR="73152" marT="36576" marB="36576">
                    <a:solidFill>
                      <a:srgbClr val="E8EEF6"/>
                    </a:solidFill>
                  </a:tcPr>
                </a:tc>
                <a:tc>
                  <a:txBody>
                    <a:bodyPr/>
                    <a:lstStyle/>
                    <a:p>
                      <a:r>
                        <a:rPr sz="1500" b="0">
                          <a:solidFill>
                            <a:srgbClr val="1F2937"/>
                          </a:solidFill>
                        </a:rPr>
                        <a:t>Oldin joylashish, infarkt, tugun</a:t>
                      </a:r>
                    </a:p>
                  </a:txBody>
                  <a:tcPr marL="73152" marR="73152" marT="36576" marB="36576">
                    <a:solidFill>
                      <a:srgbClr val="E8EEF6"/>
                    </a:solidFill>
                  </a:tcPr>
                </a:tc>
              </a:tr>
              <a:tr h="614476">
                <a:tc>
                  <a:txBody>
                    <a:bodyPr/>
                    <a:lstStyle/>
                    <a:p>
                      <a:r>
                        <a:rPr sz="1500" b="0">
                          <a:solidFill>
                            <a:srgbClr val="1F2937"/>
                          </a:solidFill>
                        </a:rPr>
                        <a:t>Antenatal</a:t>
                      </a:r>
                    </a:p>
                  </a:txBody>
                  <a:tcPr marL="73152" marR="73152" marT="36576" marB="36576">
                    <a:solidFill>
                      <a:srgbClr val="FFFFFF"/>
                    </a:solidFill>
                  </a:tcPr>
                </a:tc>
                <a:tc>
                  <a:txBody>
                    <a:bodyPr/>
                    <a:lstStyle/>
                    <a:p>
                      <a:r>
                        <a:rPr sz="1500" b="0">
                          <a:solidFill>
                            <a:srgbClr val="1F2937"/>
                          </a:solidFill>
                        </a:rPr>
                        <a:t>Ona kasalligi, toksikoz</a:t>
                      </a:r>
                    </a:p>
                  </a:txBody>
                  <a:tcPr marL="73152" marR="73152" marT="36576" marB="36576">
                    <a:solidFill>
                      <a:srgbClr val="FFFFFF"/>
                    </a:solidFill>
                  </a:tcPr>
                </a:tc>
                <a:tc>
                  <a:txBody>
                    <a:bodyPr/>
                    <a:lstStyle/>
                    <a:p>
                      <a:r>
                        <a:rPr sz="1500" b="0">
                          <a:solidFill>
                            <a:srgbClr val="1F2937"/>
                          </a:solidFill>
                        </a:rPr>
                        <a:t>Zaxm, virusli infeksiya, yurak nuqsoni</a:t>
                      </a:r>
                    </a:p>
                  </a:txBody>
                  <a:tcPr marL="73152" marR="73152" marT="36576" marB="36576">
                    <a:solidFill>
                      <a:srgbClr val="FFFFFF"/>
                    </a:solidFill>
                  </a:tcPr>
                </a:tc>
              </a:tr>
              <a:tr h="614476">
                <a:tc>
                  <a:txBody>
                    <a:bodyPr/>
                    <a:lstStyle/>
                    <a:p>
                      <a:r>
                        <a:rPr sz="1500" b="0">
                          <a:solidFill>
                            <a:srgbClr val="1F2937"/>
                          </a:solidFill>
                        </a:rPr>
                        <a:t>Intranatal</a:t>
                      </a:r>
                    </a:p>
                  </a:txBody>
                  <a:tcPr marL="73152" marR="73152" marT="36576" marB="36576">
                    <a:solidFill>
                      <a:srgbClr val="E8EEF6"/>
                    </a:solidFill>
                  </a:tcPr>
                </a:tc>
                <a:tc>
                  <a:txBody>
                    <a:bodyPr/>
                    <a:lstStyle/>
                    <a:p>
                      <a:r>
                        <a:rPr sz="1500" b="0">
                          <a:solidFill>
                            <a:srgbClr val="1F2937"/>
                          </a:solidFill>
                        </a:rPr>
                        <a:t>Tug‘ruq travmasi</a:t>
                      </a:r>
                    </a:p>
                  </a:txBody>
                  <a:tcPr marL="73152" marR="73152" marT="36576" marB="36576">
                    <a:solidFill>
                      <a:srgbClr val="E8EEF6"/>
                    </a:solidFill>
                  </a:tcPr>
                </a:tc>
                <a:tc>
                  <a:txBody>
                    <a:bodyPr/>
                    <a:lstStyle/>
                    <a:p>
                      <a:r>
                        <a:rPr sz="1500" b="0">
                          <a:solidFill>
                            <a:srgbClr val="1F2937"/>
                          </a:solidFill>
                        </a:rPr>
                        <a:t>Kalla suyaklari sinishi, qon quyilish</a:t>
                      </a:r>
                    </a:p>
                  </a:txBody>
                  <a:tcPr marL="73152" marR="73152" marT="36576" marB="36576">
                    <a:solidFill>
                      <a:srgbClr val="E8EEF6"/>
                    </a:solidFill>
                  </a:tcPr>
                </a:tc>
              </a:tr>
              <a:tr h="614476">
                <a:tc>
                  <a:txBody>
                    <a:bodyPr/>
                    <a:lstStyle/>
                    <a:p>
                      <a:r>
                        <a:rPr sz="1500" b="0">
                          <a:solidFill>
                            <a:srgbClr val="1F2937"/>
                          </a:solidFill>
                        </a:rPr>
                        <a:t>Intranatal</a:t>
                      </a:r>
                    </a:p>
                  </a:txBody>
                  <a:tcPr marL="73152" marR="73152" marT="36576" marB="36576">
                    <a:solidFill>
                      <a:srgbClr val="FFFFFF"/>
                    </a:solidFill>
                  </a:tcPr>
                </a:tc>
                <a:tc>
                  <a:txBody>
                    <a:bodyPr/>
                    <a:lstStyle/>
                    <a:p>
                      <a:r>
                        <a:rPr sz="1500" b="0">
                          <a:solidFill>
                            <a:srgbClr val="1F2937"/>
                          </a:solidFill>
                        </a:rPr>
                        <a:t>Tor tos, yirik homila</a:t>
                      </a:r>
                    </a:p>
                  </a:txBody>
                  <a:tcPr marL="73152" marR="73152" marT="36576" marB="36576">
                    <a:solidFill>
                      <a:srgbClr val="FFFFFF"/>
                    </a:solidFill>
                  </a:tcPr>
                </a:tc>
                <a:tc>
                  <a:txBody>
                    <a:bodyPr/>
                    <a:lstStyle/>
                    <a:p>
                      <a:r>
                        <a:rPr sz="1500" b="0">
                          <a:solidFill>
                            <a:srgbClr val="1F2937"/>
                          </a:solidFill>
                        </a:rPr>
                        <a:t>Bosh uzoq qisilib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Nozo‘raki o‘lim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264-265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travmasi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Tor tos, yirik homila yoki tug‘ruq sustligida bosh uzoq qisilib, kalla gumbazi suyaklari sinadi va kalla ichiga qon quyiladi.</a:t>
            </a:r>
          </a:p>
          <a:p>
            <a:pPr>
              <a:spcAft>
                <a:spcPts val="1200"/>
              </a:spcAft>
            </a:pPr>
            <a:r>
              <a:rPr sz="2200">
                <a:solidFill>
                  <a:srgbClr val="1F2937"/>
                </a:solidFill>
                <a:latin typeface="Calibri"/>
              </a:rPr>
              <a:t>▸  Ko‘pincha tepa va peshona suyaklari shikastlanadi; radial va botiq siniqlar aniqlanadi.</a:t>
            </a:r>
          </a:p>
          <a:p>
            <a:pPr>
              <a:spcAft>
                <a:spcPts val="1200"/>
              </a:spcAft>
            </a:pPr>
            <a:r>
              <a:rPr sz="2200">
                <a:solidFill>
                  <a:srgbClr val="1F2937"/>
                </a:solidFill>
                <a:latin typeface="Calibri"/>
              </a:rPr>
              <a:t>▸  Miya parda va to‘qimasiga qon quyiladi; miyacha chodiri yoki o‘roqsimon o‘simta yorilsa, ayniqsa kuchli bo‘ladi.</a:t>
            </a:r>
          </a:p>
          <a:p>
            <a:pPr>
              <a:spcAft>
                <a:spcPts val="1200"/>
              </a:spcAft>
            </a:pPr>
            <a:r>
              <a:rPr sz="2200">
                <a:solidFill>
                  <a:srgbClr val="1F2937"/>
                </a:solidFill>
                <a:latin typeface="Calibri"/>
              </a:rPr>
              <a:t>▸  Diqqat: tug‘ruq travmasida tashqi jarohat, yara bo‘lmaydi. Ayol qo‘li bilan yordam bersa, yuz va bo‘yinda shilinma, qontalash, og‘iz burchagi yorilishi paydo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Zo‘raki o‘lim: aktiv va passiv go‘dak o‘ldirish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davrda uchraydi; antenatal va intranatal davrda juda kam.</a:t>
            </a:r>
          </a:p>
          <a:p>
            <a:pPr>
              <a:spcAft>
                <a:spcPts val="800"/>
              </a:spcAft>
            </a:pPr>
            <a:r>
              <a:rPr sz="1800">
                <a:solidFill>
                  <a:srgbClr val="1F2937"/>
                </a:solidFill>
                <a:latin typeface="Calibri"/>
              </a:rPr>
              <a:t>▸  Huquq idoralari uchun aktiv yoki passiv ekanini emas, o‘limning aniq sababini ko‘rsatish muhim.</a:t>
            </a:r>
          </a:p>
          <a:p>
            <a:pPr>
              <a:spcAft>
                <a:spcPts val="800"/>
              </a:spcAft>
            </a:pPr>
            <a:r>
              <a:rPr sz="1800">
                <a:solidFill>
                  <a:srgbClr val="1F2937"/>
                </a:solidFill>
                <a:latin typeface="Calibri"/>
              </a:rPr>
              <a:t>▸  Antenatal zo‘raki o‘lim homilador ayolga mexanik jarohat yetkazish yoki uni zaharlash bilan bog‘liq.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982980"/>
                <a:gridCol w="2001470"/>
                <a:gridCol w="2303524"/>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614476">
                <a:tc>
                  <a:txBody>
                    <a:bodyPr/>
                    <a:lstStyle/>
                    <a:p>
                      <a:r>
                        <a:rPr sz="1500" b="0">
                          <a:solidFill>
                            <a:srgbClr val="1F2937"/>
                          </a:solidFill>
                        </a:rPr>
                        <a:t>Aktiv</a:t>
                      </a:r>
                    </a:p>
                  </a:txBody>
                  <a:tcPr marL="73152" marR="73152" marT="36576" marB="36576">
                    <a:solidFill>
                      <a:srgbClr val="E8EEF6"/>
                    </a:solidFill>
                  </a:tcPr>
                </a:tc>
                <a:tc>
                  <a:txBody>
                    <a:bodyPr/>
                    <a:lstStyle/>
                    <a:p>
                      <a:r>
                        <a:rPr sz="1500" b="0">
                          <a:solidFill>
                            <a:srgbClr val="1F2937"/>
                          </a:solidFill>
                        </a:rPr>
                        <a:t>Go‘dakka muayyan harakat qilinadi</a:t>
                      </a:r>
                    </a:p>
                  </a:txBody>
                  <a:tcPr marL="73152" marR="73152" marT="36576" marB="36576">
                    <a:solidFill>
                      <a:srgbClr val="E8EEF6"/>
                    </a:solidFill>
                  </a:tcPr>
                </a:tc>
                <a:tc>
                  <a:txBody>
                    <a:bodyPr/>
                    <a:lstStyle/>
                    <a:p>
                      <a:r>
                        <a:rPr sz="1500" b="0">
                          <a:solidFill>
                            <a:srgbClr val="1F2937"/>
                          </a:solidFill>
                        </a:rPr>
                        <a:t>Bo‘g‘ish, nafas teshigini yopish</a:t>
                      </a:r>
                    </a:p>
                  </a:txBody>
                  <a:tcPr marL="73152" marR="73152" marT="36576" marB="36576">
                    <a:solidFill>
                      <a:srgbClr val="E8EEF6"/>
                    </a:solidFill>
                  </a:tcPr>
                </a:tc>
              </a:tr>
              <a:tr h="614476">
                <a:tc>
                  <a:txBody>
                    <a:bodyPr/>
                    <a:lstStyle/>
                    <a:p>
                      <a:r>
                        <a:rPr sz="1500" b="0">
                          <a:solidFill>
                            <a:srgbClr val="1F2937"/>
                          </a:solidFill>
                        </a:rPr>
                        <a:t>Aktiv</a:t>
                      </a:r>
                    </a:p>
                  </a:txBody>
                  <a:tcPr marL="73152" marR="73152" marT="36576" marB="36576">
                    <a:solidFill>
                      <a:srgbClr val="FFFFFF"/>
                    </a:solidFill>
                  </a:tcPr>
                </a:tc>
                <a:tc>
                  <a:txBody>
                    <a:bodyPr/>
                    <a:lstStyle/>
                    <a:p>
                      <a:r>
                        <a:rPr sz="1500" b="0">
                          <a:solidFill>
                            <a:srgbClr val="1F2937"/>
                          </a:solidFill>
                        </a:rPr>
                        <a:t>Boshqa usullar</a:t>
                      </a:r>
                    </a:p>
                  </a:txBody>
                  <a:tcPr marL="73152" marR="73152" marT="36576" marB="36576">
                    <a:solidFill>
                      <a:srgbClr val="FFFFFF"/>
                    </a:solidFill>
                  </a:tcPr>
                </a:tc>
                <a:tc>
                  <a:txBody>
                    <a:bodyPr/>
                    <a:lstStyle/>
                    <a:p>
                      <a:r>
                        <a:rPr sz="1500" b="0">
                          <a:solidFill>
                            <a:srgbClr val="1F2937"/>
                          </a:solidFill>
                        </a:rPr>
                        <a:t>Cho‘ktirish, siqish, olovga tashlash</a:t>
                      </a:r>
                    </a:p>
                  </a:txBody>
                  <a:tcPr marL="73152" marR="73152" marT="36576" marB="36576">
                    <a:solidFill>
                      <a:srgbClr val="FFFFFF"/>
                    </a:solidFill>
                  </a:tcPr>
                </a:tc>
              </a:tr>
              <a:tr h="614476">
                <a:tc>
                  <a:txBody>
                    <a:bodyPr/>
                    <a:lstStyle/>
                    <a:p>
                      <a:r>
                        <a:rPr sz="1500" b="0">
                          <a:solidFill>
                            <a:srgbClr val="1F2937"/>
                          </a:solidFill>
                        </a:rPr>
                        <a:t>Passiv</a:t>
                      </a:r>
                    </a:p>
                  </a:txBody>
                  <a:tcPr marL="73152" marR="73152" marT="36576" marB="36576">
                    <a:solidFill>
                      <a:srgbClr val="E8EEF6"/>
                    </a:solidFill>
                  </a:tcPr>
                </a:tc>
                <a:tc>
                  <a:txBody>
                    <a:bodyPr/>
                    <a:lstStyle/>
                    <a:p>
                      <a:r>
                        <a:rPr sz="1500" b="0">
                          <a:solidFill>
                            <a:srgbClr val="1F2937"/>
                          </a:solidFill>
                        </a:rPr>
                        <a:t>Go‘dak qarovsiz qoldiriladi</a:t>
                      </a:r>
                    </a:p>
                  </a:txBody>
                  <a:tcPr marL="73152" marR="73152" marT="36576" marB="36576">
                    <a:solidFill>
                      <a:srgbClr val="E8EEF6"/>
                    </a:solidFill>
                  </a:tcPr>
                </a:tc>
                <a:tc>
                  <a:txBody>
                    <a:bodyPr/>
                    <a:lstStyle/>
                    <a:p>
                      <a:r>
                        <a:rPr sz="1500" b="0">
                          <a:solidFill>
                            <a:srgbClr val="1F2937"/>
                          </a:solidFill>
                        </a:rPr>
                        <a:t>Kindik bog‘lanmasa — tashqi qon ketish</a:t>
                      </a:r>
                    </a:p>
                  </a:txBody>
                  <a:tcPr marL="73152" marR="73152" marT="36576" marB="36576">
                    <a:solidFill>
                      <a:srgbClr val="E8EEF6"/>
                    </a:solidFill>
                  </a:tcPr>
                </a:tc>
              </a:tr>
              <a:tr h="614476">
                <a:tc>
                  <a:txBody>
                    <a:bodyPr/>
                    <a:lstStyle/>
                    <a:p>
                      <a:r>
                        <a:rPr sz="1500" b="0">
                          <a:solidFill>
                            <a:srgbClr val="1F2937"/>
                          </a:solidFill>
                        </a:rPr>
                        <a:t>Passiv</a:t>
                      </a:r>
                    </a:p>
                  </a:txBody>
                  <a:tcPr marL="73152" marR="73152" marT="36576" marB="36576">
                    <a:solidFill>
                      <a:srgbClr val="FFFFFF"/>
                    </a:solidFill>
                  </a:tcPr>
                </a:tc>
                <a:tc>
                  <a:txBody>
                    <a:bodyPr/>
                    <a:lstStyle/>
                    <a:p>
                      <a:r>
                        <a:rPr sz="1500" b="0">
                          <a:solidFill>
                            <a:srgbClr val="1F2937"/>
                          </a:solidFill>
                        </a:rPr>
                        <a:t>Boshqa hollarda</a:t>
                      </a:r>
                    </a:p>
                  </a:txBody>
                  <a:tcPr marL="73152" marR="73152" marT="36576" marB="36576">
                    <a:solidFill>
                      <a:srgbClr val="FFFFFF"/>
                    </a:solidFill>
                  </a:tcPr>
                </a:tc>
                <a:tc>
                  <a:txBody>
                    <a:bodyPr/>
                    <a:lstStyle/>
                    <a:p>
                      <a:r>
                        <a:rPr sz="1500" b="0">
                          <a:solidFill>
                            <a:srgbClr val="1F2937"/>
                          </a:solidFill>
                        </a:rPr>
                        <a:t>Sovuq qotish, ochlik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o‘ldirish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264-265, 266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chaqaloq murdasida tashqi jarohat yo‘q, ammo kalla ichida qon quyilish aniqlangan.</a:t>
            </a:r>
          </a:p>
          <a:p>
            <a:pPr>
              <a:spcAft>
                <a:spcPts val="1200"/>
              </a:spcAft>
            </a:pPr>
            <a:r>
              <a:rPr sz="2200">
                <a:solidFill>
                  <a:srgbClr val="1F2937"/>
                </a:solidFill>
                <a:latin typeface="Calibri"/>
              </a:rPr>
              <a:t>▸  Tug‘ruq travmasida bosh miya parda va to‘qimasiga qon quyiladi, lekin tashqi jarohat, shu jumladan yara, hosil bo‘lmaydi.</a:t>
            </a:r>
          </a:p>
          <a:p>
            <a:pPr>
              <a:spcAft>
                <a:spcPts val="1200"/>
              </a:spcAft>
            </a:pPr>
            <a:r>
              <a:rPr sz="2200">
                <a:solidFill>
                  <a:srgbClr val="1F2937"/>
                </a:solidFill>
                <a:latin typeface="Calibri"/>
              </a:rPr>
              <a:t>▸  Diqqat: ona o‘ziga yordam berib qo‘li bilan shikast yetkazsa, yuz va bo‘yinda shilinma, qontalash, og‘iz burchagi yorilishi bo‘ladi.</a:t>
            </a:r>
          </a:p>
          <a:p>
            <a:pPr>
              <a:spcAft>
                <a:spcPts val="1200"/>
              </a:spcAft>
            </a:pPr>
            <a:r>
              <a:rPr sz="2200">
                <a:solidFill>
                  <a:srgbClr val="1F2937"/>
                </a:solidFill>
                <a:latin typeface="Calibri"/>
              </a:rPr>
              <a:t>▸  Savol: tor tos, yirik homila va tug‘ruq sustligida bosh uzoq qisilsa, kalla suyaklari va ichida qanday o‘zgarish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xususiyatlari: tekshiruv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uzunlik, vazn, bosh va ko‘krak o‘lchamlari, qon izi, mo‘msimon qoplama, mekoniy, nuqsonlar o‘rganiladi.</a:t>
            </a:r>
          </a:p>
          <a:p>
            <a:pPr>
              <a:spcAft>
                <a:spcPts val="800"/>
              </a:spcAft>
            </a:pPr>
            <a:r>
              <a:rPr sz="1800">
                <a:solidFill>
                  <a:srgbClr val="1F2937"/>
                </a:solidFill>
                <a:latin typeface="Calibri"/>
              </a:rPr>
              <a:t>▸  Yo‘ldosh (vazn, shakl) va kindik (uzunlik, namlik, tugun) ham sinchiklab tekshiriladi.</a:t>
            </a:r>
          </a:p>
          <a:p>
            <a:pPr>
              <a:spcAft>
                <a:spcPts val="800"/>
              </a:spcAft>
            </a:pPr>
            <a:r>
              <a:rPr sz="1800">
                <a:solidFill>
                  <a:srgbClr val="1F2937"/>
                </a:solidFill>
                <a:latin typeface="Calibri"/>
              </a:rPr>
              <a:t>▸  Kesma pastki labdan boshlanadi, kindikka yetmay yonga buriladi; kalla suyagida darchalar ochiladi.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tekshiruv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Yo‘ldosh va kindik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ko‘krak, qorin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Kalla bo‘shlig‘i darchalari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materiallari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 dastlabki 24 soat. Tirik tug‘ilganlik asosan go‘dak nafas olgan-olmaganligi bilan hal etiladi.</a:t>
            </a:r>
          </a:p>
          <a:p>
            <a:pPr>
              <a:spcAft>
                <a:spcPts val="1200"/>
              </a:spcAft>
            </a:pPr>
            <a:r>
              <a:rPr sz="2200">
                <a:solidFill>
                  <a:srgbClr val="1F2937"/>
                </a:solidFill>
                <a:latin typeface="Calibri"/>
              </a:rPr>
              <a:t>▸  Gestatsion yoshni antropometriya va belgilar aniqlaydi. Uzunligi 25 sm dan, vazni 500 g dan kam go‘dak hayotga layoqatsiz hisoblanadi.</a:t>
            </a:r>
          </a:p>
          <a:p>
            <a:pPr>
              <a:spcAft>
                <a:spcPts val="1200"/>
              </a:spcAft>
            </a:pPr>
            <a:r>
              <a:rPr sz="2200">
                <a:solidFill>
                  <a:srgbClr val="1F2937"/>
                </a:solidFill>
                <a:latin typeface="Calibri"/>
              </a:rPr>
              <a:t>▸  O‘lim nozo‘raki (ante-, intra-, postnatal) yoki zo‘raki (asosan postnatal) bo‘ladi. Muhimi — o‘limning aniq sababini ko‘rsatish.</a:t>
            </a:r>
          </a:p>
          <a:p>
            <a:pPr>
              <a:spcAft>
                <a:spcPts val="1200"/>
              </a:spcAft>
            </a:pPr>
            <a:r>
              <a:rPr sz="2200">
                <a:solidFill>
                  <a:srgbClr val="1F2937"/>
                </a:solidFill>
                <a:latin typeface="Calibri"/>
              </a:rPr>
              <a:t>▸  Nazorat: ekspertiza savollari, yangi tug‘ilganlik farqi va belgilari, absolyut belgilar, o‘pka sinamasi va ikkilamchi atelektaz.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 262, 263, 264, 266, 267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tushunchasi uch fanda har xil. Pediatriyada u 4 hafta, akusherlikda 7 kun, sud tibbiyotida esa dastlabki 24 soat. Bu farq qonun bilan bog‘liq: JK 99-modda (ona o‘z chaqalog‘ini o‘ldirsa) jazosi 97-moddaga (qasddan odam o‘ldirish) qaraganda ancha yengil.</a:t>
            </a:r>
          </a:p>
          <a:p>
            <a:pPr>
              <a:spcAft>
                <a:spcPts val="1200"/>
              </a:spcAft>
            </a:pPr>
            <a:r>
              <a:rPr sz="1800">
                <a:solidFill>
                  <a:srgbClr val="1F2937"/>
                </a:solidFill>
                <a:latin typeface="Calibri"/>
              </a:rPr>
              <a:t>▸  Eslab qolish usuli: yangi tug‘ilganlikning mutloq ishonchli belgilari faqat uchta. Ular o‘pkaning birlamchi atelektazi, kindikda demarkatsion halqaning yo‘qligi yoki dastlabki belgilari va tana hamda yo‘ldoshdan ajratilmagan kindik. Qon izlari, mo‘msimon qoplama, tug‘ruq shishi va mekoniy nisbiy belgilar bo‘lib, ikkinchi va keyingi kunlarda ham topilishi mumkin.</a:t>
            </a:r>
          </a:p>
          <a:p>
            <a:pPr>
              <a:spcAft>
                <a:spcPts val="1200"/>
              </a:spcAft>
            </a:pPr>
            <a:r>
              <a:rPr sz="1800">
                <a:solidFill>
                  <a:srgbClr val="1F2937"/>
                </a:solidFill>
                <a:latin typeface="Calibri"/>
              </a:rPr>
              <a:t>▸  Hisoblash misoli: Gaaze formulasi bo‘yicha birinchi yarmida tana uzunligidan kvadrat ildiz olinadi (16 sm – 4 homila oyi). Ikkinchi yarmida uzunlik 5 ga bo‘linadi (40 sm – 8 oy). Baltazar-Derve indeksi 5,6 ni 40 sm ga ko‘paytirsak, 224 kun, ya’ni 8 homila oyi chiqadi.</a:t>
            </a:r>
          </a:p>
          <a:p>
            <a:pPr>
              <a:spcAft>
                <a:spcPts val="1200"/>
              </a:spcAft>
            </a:pPr>
            <a:r>
              <a:rPr sz="1800">
                <a:solidFill>
                  <a:srgbClr val="1F2937"/>
                </a:solidFill>
                <a:latin typeface="Calibri"/>
              </a:rPr>
              <a:t>▸  Hodisa tahlili: chirigan murdada o‘pka bo‘lakchasi chirish gazlari tufayli suzib chiqishi mumkin (soxta musbat natija). Uni suv ostida qo‘l bilan siqib ajratish mumkin. Chirish gazi chiqib ketadi va bo‘lakcha qayta suzib chiqmaydi, haqiqiy nafas olgan o‘pkada esa havo saqlanadi. Soxta manfiy natijada (ikkilamchi atelektaz) Taranuxin usuli qo‘llanadi.</a:t>
            </a:r>
          </a:p>
          <a:p>
            <a:pPr>
              <a:spcAft>
                <a:spcPts val="1200"/>
              </a:spcAft>
            </a:pPr>
            <a:r>
              <a:rPr sz="1800">
                <a:solidFill>
                  <a:srgbClr val="1F2937"/>
                </a:solidFill>
                <a:latin typeface="Calibri"/>
              </a:rPr>
              <a:t>▸  Go‘dak necha soat yashaganini havo joylashuvi ko‘rsatadi. Havo faqat oshqozonda bo‘lsa, 3 soatdan kam yashagan. 5-6 soatda havo ingichka ichakni to‘ldiradi, 6 soatdan keyin yo‘g‘on ichakka o‘tadi. Gialin membranalari uchun kamida 1-2 soat kerak, ikkilamchi atelektaz esa kamida 5-6 soatdan keyin rivojlanadi. Bu muddatlar taxminiy.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