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Vrach bir xatti-harakati uchun bir vaqtda qanday javobgarliklarga tortilishi mumkin? 2) Nima uchun huquqiy bilim vrachga kerak? Doskada: uchta ustunli sxema (mehnat, ma’muriy, fuqarolik) chizdiring. Tipik xato: bitta javobgarlik boshqasini o‘rnini bosadi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Majburiy mehnat qaysi hollarda taqiqlangan? 2) Istisnolar nima uchun kerak? Doskada: Konstitutsiya, MK, mehnat shartnomasi zanjirini chizdiring. Tipik xato: favqulodda holatdagi majburiy ishni taqiqlangan majburiy mehnat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Vrach mehnatida to‘rtala belgi qanday ko‘rinadi? 2) Haq to‘lanishi belgisi nimani ajratadi? Doskada: A, B, V, G belgilarini vrach misolida yozdiring. Tipik xato: belgilar tartibini aralashtirish yoki haq to‘lanishini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Xodimning qaysi huquqi vrach uchun ayniqsa muhim (sog‘liq, zararni qoplash)? 2) Ish beruvchining talab qilish huquqi qayergacha cho‘ziladi? Doskada chizish: ikki ustunli jadval (xodim / ish beruvchi), har ustunga 3 ta huquqni yozdiring. Tipik xato: talabalar ish beruvchi huquqlarini xodim huquqlaridan ko‘p deb o‘ylashadi yoki 16- va 17-moddalarni almashtirib yuborishadi.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Navbatchi vrachdan boshqa bo‘lim ishini talab qilish qonuniymi? 2) Xavfli buyruqni xodim bajarishi shartmi? Doskada chizish: ikki ustunli jadval, pastiga ish beruvchi talab qila olmaydigan 3 harakatni yozdiring. Tipik xato: xodim ish beruvchining har qanday farmonini bajarishi shart deb o‘ylash; manbada faqat qonuniy farmon aytilgan.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daqiqa. Muhokama: 1) Shartnomada muddat yozilmasa, u qanday hisoblanadi? 2) Ish beruvchi nomuayyan shartnomani xodim roziligisiz muddatliga o‘tkaza oladimi? Doskada chizish: uch turdagi muddatni ko‘rsatuvchi vaqt chizig‘i. Tipik xato: muddat ko‘rsatilmagan shartnomani muddatli deb hisoblash; to‘g‘risi — nomuayyan muddatli.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o‘rindoshlar daftarcha o‘rniga ma’lumotnoma topshiradi? 2) Sinov nima uchun kerak? Doskada: ishga qabul hujjatlari ro‘yxatini va sinov muddati sxemasini chizdiring. Tipik xato: sinovni bekor qilishdagi 3 kunlik ogohlantirishni xodim tashabbusidagi 2 haftalik muddat bilan aralashtirish; birinchi marta ishga kirganlar ham daftarcha topshiradi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so‘rang, talabalar javobini kitobsiz bering. Muhokama: nomuayyan shartnoma xodim roziligisiz muayyan muddatga qayta tuzilishi mumkinmi (yo‘q, 75-modda)? Doskada: 3 oy / 3 kun / 5 yil raqamlarini uch ustunda yozing. Tipik xato: raqamlarni (3 oy, 3 kun, 5 yil) bir-biriga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Shifoxonada jamoa shartnomasiga qanday imtiyozlar kiritish mumkin? 2) Kim tomon bo‘lib ishtirok etadi? Doskada: shartnoma loyihasining muhokama yo‘lini (tuzilmalarda muhokama, takliflar hisobga olinishi, umumiy yig‘ilish) strelkalar bilan chizdiring. Tipik xato: jamoa shartnomasini yakka mehnat shartnomasi bilan aralashtirish; tamoyillar manbada yettita ekanini unutish (jadvalda guruhlab berilgan).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Bosh vrach o‘z muassasasida shifokor lavozimida ishlasa, bu qaysi tushuncha? 2) Bo‘lim mudiri ta’tilga chiqsa, uning ishini bajarish nima deyiladi? Doskada: to‘rt tushunchaning jadvalini talabalar bilan to‘ldiring. Diqqat: xato qilish xavfi — o‘rindoshlik ≠ o‘rinbosarlik. O‘rindoshlikda o‘z bo‘sh vaqtingizda ishlanadi, o‘rinbosarlikda vaqtincha yo‘q xodimning ishi bajariladi. Tipik xato: bir necha kasbni tashqi o‘rindoshlik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tibbiy xodimlarga qisqartirilgan ish vaqti belgilangan? 2) Qisqartirilganda ish haqi kamayadimi? Doskada: besh va olti kunlik haftalar uchun kunlik soatlarni yozing va 40 soatga solishtiring. Eslatma: bunday xodimlar ro‘yxati va ish vaqtining aniq muddatini O‘zbekiston Respublikasi Hukumati belgilaydi. Tipik xato: 36 soatni barcha xodimlar uchun normal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Xodim tibbiy ko‘rikni rad etsa, qanday oqibat bo‘ladi? 2) Ko‘rik xarajatini kim to‘laydi? Doskada: ikki ustun chizing — «Ish beruvchi vazifalari» va «Xodim vazifalari» — va talabalar bilan to‘ldiring. Eslatma: ko‘riklar ro‘yxati va o‘tkazish tartibini Sog‘liqni saqlash vazirligi belgilaydi. Tipik xato: ko‘rik xarajatini xodim to‘laydi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Ariza berilgach, ikki hafta o‘tmasdan ketish mumkinmi? (taraflar kelishuvi bilan mumkin). (2) Qaysi hollarda ish beruvchi xodim so‘ragan muddatda bekor qiladi? Doskada: 4 bosqichli zanjirni chizdiring va har bosqichga muddatni yozdiring. Tipik xato: ogohlantirishni og‘zaki yetarli deb o‘ylash yoki ish beruvchi tashabbusi muddatlari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Muntazam va bir martalik qo‘pol buzishning farqi nimada? (2) Kasal bo‘lib yotgan vrachni ishdan bo‘shatish mumkinmi? Doskada: oltita asosni ro‘yxat qilib yozdiring, yoniga «taqiq holatlari» ustunini chizdiring. Tipik xato: bekor qilish ish beruvchining xohishiga bog‘liq deb o‘ylash; aslida sabab kodeksda bo‘lishi va tartib saqlanishi shart.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qisqartirishda muddat eng uzun? (2) Kompensatsiya qaysi hollarda ogohlantirish o‘rnini bosadi? Doskada: jadvalni talabalar bilan birga to‘ldiring, so‘ng xodim tashabbusi muddatini yoniga yozing. Tipik xato: 2 oy, 2 hafta va 3 kun muddatlarini bir-biriga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jazodan oldin tushuntirish xati talab qilinadi? (2) Xodim xat berishdan bosh tortsa, jazo to‘xtaydimi? (kitobga ko‘ra, bu jazoga to‘siq emas). Doskada chizish: jazo muddatlari jadvalini ko‘chirib, vaqt chizig‘ida ko‘rsating. Tipik xato: 1 oylik muddatni jazoning 1 yillik amal qilish muddati bilan aralashtirish. Tezkor savol: jazo muddatidan oldin kim bekor qilishi mumkin? (ish beruvchi, xodim iltimosi yoki jamoa tavsiyasi bilan, MK 183-modda).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Talabalar ikki guruhga bo‘linadi: biri xodim, ikkinchisi ish beruvchi nomidan dalil keltiradi. Muhokama: (1) Xodim salomatligi yomonlashuvini mehnat sharoitiga bog‘lasa, qanday huquqqa ega? (navbatdan tashqari ko‘rik talab qilish). (2) Ogohlantirish muddatlari nega farqlanadi? Doskada: ikki sababli ogohlantirish muddatlarini taqqoslovchi ikki ustunli sxema chizing. Tipik xato: ogohlantirish muddatlarini (2 oy va 2 hafta) almashtirib yuborish; kompensatsiya faqat taraflar kelishuvi bilan mumkinligini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belgilar ma’muriy huquqbuzarlikni jinoyatdan ajratadi? (2) Epidemiyaga qarshi qoidalar buzilishi qachon jinoyatga o‘tishi mumkin? Doskada: ma’muriy huquqbuzarlik va jinoyat uchun ikkita doira chizib, kesishgan qismga ‘ahamiyati, oqibatining og‘irligi, sodir etilish soni’ ni yozing. Tipik xato: ma’muriy huquqbuzarlikni umuman aybsiz harakat deb o‘ylash; kitobga ko‘ra u aybli, ya’ni qasddan yoki ehtiyotsizlik bilan sodir etiladi.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Vrach qasddan emas, ehtiyotsizlik bilan xato qilsa, bu qaysi belgi bo‘yicha farqlanadi? (2) Oxirgi zarurat uchun qaysi ikki shart birga bo‘lishi kerak (xavfni boshqacha bartaraf etib bo‘lmaslik va zarar kamroq bo‘lishi)? Doskada: ikki ustunli jadval chizdiring — qasd va ehtiyotsizlik, har biriga bittadan tibbiy misol keltiring. Tipik xato: oxirgi zarurat har doim javobgarlikdan ozod qiladi deb o‘ylash; darslikda ikki shart ko‘rsatilgan. Diqqat: ehtiyotsizlik ≠ qasd. Kam ahamiyatli holatda organ huquqbuzarni javobgarlikdan ozod etib, ogohlantirish bilan cheklashi mumkin (MJhK 21-modda; MJhK — Ma’muriy javobgarlik to‘g‘risidagi kodeks).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jarima fuqaro va mansabdor shaxs uchun turlicha belgilanadi? (2) Musodara va haq evaziga olib qo‘yish farqi nimada (birinchisida pul to‘lanmaydi)? Doskada: jarima chegaralarini sonlar o‘qi ko‘rinishida chizing. Tipik xato: jarima miqdorini aniq pul summasi deb o‘ylash; manbada u eng kam oylik ish haqiga nisbatan baravarlarda berilgan. Ashyoni olib qo‘yish yoki musodara xususiy tibbiy va farmatsevtika amaliyotida qo‘llanishi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Sanitariya qoidasi buzilganda ishni qaysi organ ko‘rishi mumkin? (2) Nima uchun jinoyat ishi to‘xtatilganda muddat qisqa (bir oy) belgilangan deb o‘ylaysiz? Doskada: vaqt chizig‘i chizing — huquqbuzarlik sanasi va ikki oylik muddat oxiri. Tipik xato: ikki oylik muddatni ma’muriy emas, intizomiy jazoga (bir oy) tatbiq etish; ularni farqlang. Eslatma: musodara haqida qarorni tuman (shahar) sudyasi, soliq va bojxona idoralari qabul qiladi.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ketma-ket bering, javobni kitobsiz so‘rang. Muhokama: nega fuqaro va mansabdor shaxs uchun jarima miqdori farqlanadi? Qasd va ehtiyotsizlikka tibbiy misol keltiring. Doskada: ikki ustunli ‘Qasd | Ehtiyotsizlik’ sxemasini chizdiring. Tipik xato: eng kam oylik ish haqini mansabdor va fuqaro uchun aralashtirib yuborish (1/50 va 1/10 qismlari)..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MJhK — Ma’muriy javobgarlik to‘g‘risidagi kodeks. Bayonnomani uni tuzgan shaxs va huquqbuzar imzolaydi; guvoh va jabrlanuvchi bo‘lsa, ular ham imzolaydi; bosh tortilsa, bu bayonnomaga yoziladi. Ish shaxsning ishtirokisiz faqat unga ko‘rish joyi va vaqti xabar qilingan, kechiktirish iltimosi tushmagan bo‘lsa ko‘riladi. Ma’muriy qamoq, musodara yoki haqini to‘lab olib qo‘yish nazarda tutilsa, shaxsning qatnashishi shart. Muhokama: shaxsga huquqlarini tushuntirmaslik nimaga olib keladi? Voqea tahlili: vrach bayonnomani imzolashdan bosh tortdi — nima qilinadi? Doskada: bosqichlar zanjirini chizdiring. Tipik xato: imzodan bosh tortish ishni to‘xtatadi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Aholi salomatligi guruhiga engil tan jarohati (52), sanitariya (53), epidemiyaga qarshi qoidalar (54), radiatsion xavfsizlik (55), giyohvand vositalarni oz miqdorda g‘ayriqonuniy saqlash (56) va tanosil kasalliklari hamda OITS (orttirilgan immun tanqisligi sindromi) bilan bog‘liq 57–59-moddalar kiradi. Pullik xizmat ko‘rsatishda davlat tizimidagi xodimlar ham javobgar bo‘lishi mumkin. Muhokama: nega 199-moddada subyekt fuqaro, 215-moddada mansabdor shaxs? Doskada jadvalni ko‘chiring va har guruhga o‘z misolingizni qo‘shing. Tipik xato: barcha huquqbuzarliklarda faqat vrach javobgar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 holda jarima asosiy jazo bo‘ladi? 2) Davlat hisobotini rasmiylashtirish tartibini buzish qachon jinoyat sifatida baholanishi mumkin (93-bet)? Doskada: «huquqbuzarlik — bayonnoma — ish ko‘rish — jazo» zanjirini chizdiring. Tipik xato: ma’muriy huquqbuzarlikni jinoyat bilan aralashtirish (ma’muriy qilmishda jamiyat uchun xavf alomati bo‘lmaydi) va jarima miqdorini fuqaro bilan mansabdor shaxs uchun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Shifoxona fuqarolik huquqining qaysi subyekti hisoblanadi? 2) Vrachning ishchanlik obro‘si buzilsa, u qanday himoyalanadi? Doskada: jismoniy shaxs, yuridik shaxs va davlatdan iborat «subyektlar» daraxtini chizdiring. Tipik xato: huquq layoqatini muomala layoqati bilan aralashtirish (biri — huquqqa ega bo‘lish, ikkinchisi — o‘z harakati bilan javob berish).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Xususiy klinikada shartnoma tuzilgan bemor uchun javobgarlik turi qanday bo‘ladi? 2) Nega intizomiy yoki jinoiy javobgarlik zararni qoplashdan ozod qilmaydi (104-bet)? Doskada: ikki ustunli solishtirma jadvalni o‘quvchilar bilan to‘ldiring. Tipik xato: shartnomaviy javobgarlik hajmi deliktdan kam bo‘ladi deb o‘ylash. Aslida kam bo‘lmasligi lozim.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To‘rt shartdan bittasi yo‘q bo‘lsa, javobgarlik yuzaga keladimi? 2) Nega isbotlash yuki vrach yoki muassasada? Doskada: to‘rt shartdan javobgarlikka olib boruvchi zanjirni chizdiring, har bosqichga qisqa misol yozing. Tipik xato: talabalar jabrlanuvchi aybni isbotlashi kerak deb o‘ylaydi; aslida ayb prezumpsiyasi amal qiladi.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bemorning ma’lumotli roziligi vrachni himoya qiladi? 2) Tibbiy kartadagi tuzatishlar sudda qanday oqibat berishi mumkin? Doskada: ikki ustun chizing: «Muassasa to‘laydi» va «Xodimdan regress». Tipik xato: sug‘urta va regressni aralashtirish; sug‘urta puli yetmagan qismni javobgar to‘laydi, regress esa muassasaning xodimga da’vosi.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talabalarga juft-juft bering, javobni 30 soniyada so‘rang. Muhokama: jinoiy va fuqarolik qonunida oxirgi zarurat farqi nimada? Doskada: ikki ustunli solishtirma («jinoiy» va «fuqarolik») chizdiring. Tipik xato: oxirgi zarurat fuqarolik javobgarligidan ham avtomatik ozod qiladi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Bemor davolanish xarajati va ololmagan ish haqini qaysi zarar turiga kiritasiz? 2) Nega uzoq muddatdan keyin bahsni hal etish qiyinlashadi? Doskada: ikki ustunli jadval chizing (haqiqiy zarar va boy berilgan foyda) va har biriga bittadan misol yozdiring. Tipik xato: haqiqiy zarar ≠ boy berilgan foyda; birinchisi xarajat, ikkinchisi olinmagan daromad. Muddatni sodir bo‘lgan kundan emas, huquq buzilganini bilgan kundan hisoblash ham tez-tez xato qilinadi.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daqiqa. Muhokama: 1) Xususiy klinikada bemor va klinika o‘rtasidagi shartnoma qanday xizmatni nazarda tutadi? 2) Shartnoma bekor qilinishida aybdor tomon kim bo‘lishi natijaga qanday ta’sir qiladi? Doskada: ikki tomonli sxema chizing (buyurtmachi ↔ ijrochi) va o‘qlarga to‘lov hamda xizmatni yozing. Tipik xato: ijrochi zarari xizmat bahosining ikki baravari bilan cheklanishini unutish va bekor qilish shartlarini aybdan mustaqil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Bemorga qo‘pollik qilingan, lekin moddiy zarar yo‘q bo‘lsa, ma’naviy zararni qoplashni talab qilish mumkinmi? 2) Vasiyatnomani tasdiqlashda vrach qanday mas’uliyatni his qilishi kerak? Doskada: ma’naviy zararni belgilash mezonlarini 4 ta bandda yozdiring. Tipik xato: ma’naviy zarar faqat mulkiy zarar bo‘lganda to‘lanadi deb o‘ylash; aslida u mulkiy zarardan qat’iy nazar qoplanadi. Navbatchi vrach vasiyatnomani tasdiqlay oladimi, degan savolga ham e’tibor bering.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bemor “iste’molchi” deb qaraladi? 2) Shartnoma tuzilmagan bo‘lsa ham zarar qoplanadimi? Doskada: “iste’molchi – ijrochi – zarar – ozod bo‘lish” zanjirini chizdiring. Tipik xato: shartnoma bo‘lmasa, javobgarlik ham yo‘q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Talabalar guruhlarda ishlasin: zararni “haqiqiy zarar” va “boy berilgan foyda”ga ajrating. Muhokama: ayb taxmini vrachni qanday himoya choralariga undaydi? Doskada: aybsizlik holatlari ro‘yxati (engib bo‘lmas kuch, bemor roziligi, bemorning qo‘pol ehtiyotsizligi). Tipik xato: bemor vrach aybini isbotlashi shart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bitta xato uchun ketma-ket uch javobgarlik yuzaga kelishi mumkinmi? Doskada: intizomiy, ma’muriy va fuqarolik javobgarlik ustunli qiyoslash jadvalini chizdiring (kim qo‘llaydi, jazo, muddat). Tipik xato: intizomiy jazo olgan vrach zararni qoplashdan ozod bo‘ladi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Mehnat qonunchiligi va tibbiy xodimlar faoliyati.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mashg‘ulot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Vrach o‘z faoliyatida uch yo‘nalishda javob beradi: mehnat (intizomiy), ma’muriy va fuqarolik-huquqiy. Mashg‘ulot shu uch javobgarlikni ko‘rib chiqadi.</a:t>
            </a:r>
          </a:p>
          <a:p>
            <a:pPr>
              <a:spcAft>
                <a:spcPts val="1200"/>
              </a:spcAft>
            </a:pPr>
            <a:r>
              <a:rPr sz="2000">
                <a:solidFill>
                  <a:srgbClr val="1F2937"/>
                </a:solidFill>
                <a:latin typeface="Calibri"/>
              </a:rPr>
              <a:t>▸  Reja: mehnat shartnomasi, ish vaqti, mehnatni muhofaza qilish, shartnomani bekor qilish va intizomiy jazo. Keyin ma’muriy huquqbuzarliklar, so‘ng zararni qoplash.</a:t>
            </a:r>
          </a:p>
          <a:p>
            <a:pPr>
              <a:spcAft>
                <a:spcPts val="1200"/>
              </a:spcAft>
            </a:pPr>
            <a:r>
              <a:rPr sz="2000">
                <a:solidFill>
                  <a:srgbClr val="1F2937"/>
                </a:solidFill>
                <a:latin typeface="Calibri"/>
              </a:rPr>
              <a:t>▸  Ma’muriy javobgarlik fuqarolar va mansabdor shaxslarning qonun majburiyatlarini bajarmasligi tufayli yuzaga keladi. Tibbiy xodim ham uning subyekti bo‘lishi mumkin.</a:t>
            </a:r>
          </a:p>
          <a:p>
            <a:pPr>
              <a:spcAft>
                <a:spcPts val="1200"/>
              </a:spcAft>
            </a:pPr>
            <a:r>
              <a:rPr sz="2000">
                <a:solidFill>
                  <a:srgbClr val="1F2937"/>
                </a:solidFill>
                <a:latin typeface="Calibri"/>
              </a:rPr>
              <a:t>▸  Diqqat: intizomiy, ma’muriy yoki jinoiy javobgarlikka tortilish vrachni zararni qoplashdan ozod etmaydi. Fuqarolik javobgarligi alohida saqlanadi.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78, 78-91, 92, 99-100,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qonunchiligi asoslari va majburiy mehnat taqiqi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Konstitutsiyaning 37-moddasiga ko‘ra fuqaro mehnat qilish, erkin ish tanlash, haqqoniy sharoitda ishlash va ishsizlikdan himoyalanish huquqiga ega.</a:t>
            </a:r>
          </a:p>
          <a:p>
            <a:pPr>
              <a:spcAft>
                <a:spcPts val="1200"/>
              </a:spcAft>
            </a:pPr>
            <a:r>
              <a:rPr sz="2000">
                <a:solidFill>
                  <a:srgbClr val="1F2937"/>
                </a:solidFill>
                <a:latin typeface="Calibri"/>
              </a:rPr>
              <a:t>▸  Mehnat kodeksi (MK) mehnat huquqining asosiy manbai bo‘lib, mehnat munosabatlarini bozor iqtisodiyoti tamoyillariga mos tartibga soladi.</a:t>
            </a:r>
          </a:p>
          <a:p>
            <a:pPr>
              <a:spcAft>
                <a:spcPts val="1200"/>
              </a:spcAft>
            </a:pPr>
            <a:r>
              <a:rPr sz="2000">
                <a:solidFill>
                  <a:srgbClr val="1F2937"/>
                </a:solidFill>
                <a:latin typeface="Calibri"/>
              </a:rPr>
              <a:t>▸  Mehnat huquqi shartnoma asosida munosabatlarni o‘rnatish, o‘zgartirish va to‘xtatishni, ish haqi, intizom, mehnat muhofazasi va mehnat bahslarini belgilaydi.</a:t>
            </a:r>
          </a:p>
          <a:p>
            <a:pPr>
              <a:spcAft>
                <a:spcPts val="1200"/>
              </a:spcAft>
            </a:pPr>
            <a:r>
              <a:rPr sz="2000">
                <a:solidFill>
                  <a:srgbClr val="1F2937"/>
                </a:solidFill>
                <a:latin typeface="Calibri"/>
              </a:rPr>
              <a:t>▸  Jazo bilan tahdid qilib ishlashga majburlash taqiqlanadi. Harbiy yoki muqobil xizmat, favqulodda holat va sud hukmi bo‘yicha ishlar majburiy mehnat hisoblanmaydi.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78, 79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munosabatlarining o‘ziga xos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Mehnat munosabati fuqarolik huquqi kabi tarmoqlar predmetidan o‘ziga xos belgilari bilan ajraladi.</a:t>
            </a:r>
          </a:p>
          <a:p>
            <a:pPr>
              <a:spcAft>
                <a:spcPts val="800"/>
              </a:spcAft>
            </a:pPr>
            <a:r>
              <a:rPr sz="1800">
                <a:solidFill>
                  <a:srgbClr val="1F2937"/>
                </a:solidFill>
                <a:latin typeface="Calibri"/>
              </a:rPr>
              <a:t>▸  Haq to‘lanishi mehnatni jamoat tartibida bajariladigan faoliyatlardan farqlaydi.</a:t>
            </a:r>
          </a:p>
          <a:p>
            <a:pPr>
              <a:spcAft>
                <a:spcPts val="800"/>
              </a:spcAft>
            </a:pPr>
            <a:r>
              <a:rPr sz="1800">
                <a:solidFill>
                  <a:srgbClr val="1F2937"/>
                </a:solidFill>
                <a:latin typeface="Calibri"/>
              </a:rPr>
              <a:t>▸  Fuqaro ishda shaxsan ishtirok etadi va belgilangan kasb yoki lavozim bo‘yicha ishni bajaradi.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A</a:t>
                      </a:r>
                    </a:p>
                  </a:txBody>
                  <a:tcPr marL="73152" marR="73152" marT="36576" marB="36576">
                    <a:solidFill>
                      <a:srgbClr val="E8EEF6"/>
                    </a:solidFill>
                  </a:tcPr>
                </a:tc>
                <a:tc>
                  <a:txBody>
                    <a:bodyPr/>
                    <a:lstStyle/>
                    <a:p>
                      <a:r>
                        <a:rPr sz="1300" b="0">
                          <a:solidFill>
                            <a:srgbClr val="1F2937"/>
                          </a:solidFill>
                        </a:rPr>
                        <a:t>Ishlab chiqarishda, qadriyat yaratadi</a:t>
                      </a:r>
                    </a:p>
                  </a:txBody>
                  <a:tcPr marL="73152" marR="73152" marT="36576" marB="36576">
                    <a:solidFill>
                      <a:srgbClr val="E8EEF6"/>
                    </a:solidFill>
                  </a:tcPr>
                </a:tc>
              </a:tr>
              <a:tr h="411480">
                <a:tc>
                  <a:txBody>
                    <a:bodyPr/>
                    <a:lstStyle/>
                    <a:p>
                      <a:r>
                        <a:rPr sz="1300" b="0">
                          <a:solidFill>
                            <a:srgbClr val="1F2937"/>
                          </a:solidFill>
                        </a:rPr>
                        <a:t>B</a:t>
                      </a:r>
                    </a:p>
                  </a:txBody>
                  <a:tcPr marL="73152" marR="73152" marT="36576" marB="36576">
                    <a:solidFill>
                      <a:srgbClr val="FFFFFF"/>
                    </a:solidFill>
                  </a:tcPr>
                </a:tc>
                <a:tc>
                  <a:txBody>
                    <a:bodyPr/>
                    <a:lstStyle/>
                    <a:p>
                      <a:r>
                        <a:rPr sz="1300" b="0">
                          <a:solidFill>
                            <a:srgbClr val="1F2937"/>
                          </a:solidFill>
                        </a:rPr>
                        <a:t>Jamoa a’zosi: aniq huquq va majburiyatlar</a:t>
                      </a:r>
                    </a:p>
                  </a:txBody>
                  <a:tcPr marL="73152" marR="73152" marT="36576" marB="36576">
                    <a:solidFill>
                      <a:srgbClr val="FFFFFF"/>
                    </a:solidFill>
                  </a:tcPr>
                </a:tc>
              </a:tr>
              <a:tr h="411480">
                <a:tc>
                  <a:txBody>
                    <a:bodyPr/>
                    <a:lstStyle/>
                    <a:p>
                      <a:r>
                        <a:rPr sz="1300" b="0">
                          <a:solidFill>
                            <a:srgbClr val="1F2937"/>
                          </a:solidFill>
                        </a:rPr>
                        <a:t>V</a:t>
                      </a:r>
                    </a:p>
                  </a:txBody>
                  <a:tcPr marL="73152" marR="73152" marT="36576" marB="36576">
                    <a:solidFill>
                      <a:srgbClr val="E8EEF6"/>
                    </a:solidFill>
                  </a:tcPr>
                </a:tc>
                <a:tc>
                  <a:txBody>
                    <a:bodyPr/>
                    <a:lstStyle/>
                    <a:p>
                      <a:r>
                        <a:rPr sz="1300" b="0">
                          <a:solidFill>
                            <a:srgbClr val="1F2937"/>
                          </a:solidFill>
                        </a:rPr>
                        <a:t>Haq to‘lanadigan, ehtiyojni qondiradi</a:t>
                      </a:r>
                    </a:p>
                  </a:txBody>
                  <a:tcPr marL="73152" marR="73152" marT="36576" marB="36576">
                    <a:solidFill>
                      <a:srgbClr val="E8EEF6"/>
                    </a:solidFill>
                  </a:tcPr>
                </a:tc>
              </a:tr>
              <a:tr h="411480">
                <a:tc>
                  <a:txBody>
                    <a:bodyPr/>
                    <a:lstStyle/>
                    <a:p>
                      <a:r>
                        <a:rPr sz="1300" b="0">
                          <a:solidFill>
                            <a:srgbClr val="1F2937"/>
                          </a:solidFill>
                        </a:rPr>
                        <a:t>G</a:t>
                      </a:r>
                    </a:p>
                  </a:txBody>
                  <a:tcPr marL="73152" marR="73152" marT="36576" marB="36576">
                    <a:solidFill>
                      <a:srgbClr val="FFFFFF"/>
                    </a:solidFill>
                  </a:tcPr>
                </a:tc>
                <a:tc>
                  <a:txBody>
                    <a:bodyPr/>
                    <a:lstStyle/>
                    <a:p>
                      <a:r>
                        <a:rPr sz="1300" b="0">
                          <a:solidFill>
                            <a:srgbClr val="1F2937"/>
                          </a:solidFill>
                        </a:rPr>
                        <a:t>Shaxsiy mehnat, aniq kasb va lavozim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Mehnat munosabatining 4 belgisi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78-79,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 va ish beruvchining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Xodim dam olish, kasbga tayyorlanish va malaka oshirish huquqiga ham ega (Mehnat kodeksi 16-modda).</a:t>
            </a:r>
          </a:p>
          <a:p>
            <a:pPr>
              <a:spcAft>
                <a:spcPts val="800"/>
              </a:spcAft>
            </a:pPr>
            <a:r>
              <a:rPr sz="1800">
                <a:solidFill>
                  <a:srgbClr val="1F2937"/>
                </a:solidFill>
                <a:latin typeface="Calibri"/>
              </a:rPr>
              <a:t>▸  Xodim kasaba uyushmasiga a’zo bo‘lishi va qonunda nazarda tutilgan hollarda ijtimoiy ta’minot olishi mumkin.</a:t>
            </a:r>
          </a:p>
          <a:p>
            <a:pPr>
              <a:spcAft>
                <a:spcPts val="800"/>
              </a:spcAft>
            </a:pPr>
            <a:r>
              <a:rPr sz="1800">
                <a:solidFill>
                  <a:srgbClr val="1F2937"/>
                </a:solidFill>
                <a:latin typeface="Calibri"/>
              </a:rPr>
              <a:t>▸  Diqqat: 16-modda xodim huquqlarini, 17-modda ish beruvchi huquqlarini beradi. Moddalarni aralashtirmang.</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574408"/>
                <a:gridCol w="2713566"/>
              </a:tblGrid>
              <a:tr h="411480">
                <a:tc>
                  <a:txBody>
                    <a:bodyPr/>
                    <a:lstStyle/>
                    <a:p>
                      <a:r>
                        <a:rPr sz="1400" b="1">
                          <a:solidFill>
                            <a:srgbClr val="FFFFFF"/>
                          </a:solidFill>
                        </a:rPr>
                        <a:t>Xodim</a:t>
                      </a:r>
                    </a:p>
                  </a:txBody>
                  <a:tcPr marL="73152" marR="73152" marT="36576" marB="36576">
                    <a:solidFill>
                      <a:srgbClr val="0B1F3A"/>
                    </a:solidFill>
                  </a:tcPr>
                </a:tc>
                <a:tc>
                  <a:txBody>
                    <a:bodyPr/>
                    <a:lstStyle/>
                    <a:p>
                      <a:r>
                        <a:rPr sz="1400" b="1">
                          <a:solidFill>
                            <a:srgbClr val="FFFFFF"/>
                          </a:solidFill>
                        </a:rPr>
                        <a:t>Ish beruvchi</a:t>
                      </a:r>
                    </a:p>
                  </a:txBody>
                  <a:tcPr marL="73152" marR="73152" marT="36576" marB="36576">
                    <a:solidFill>
                      <a:srgbClr val="0B1F3A"/>
                    </a:solidFill>
                  </a:tcPr>
                </a:tc>
              </a:tr>
              <a:tr h="411480">
                <a:tc>
                  <a:txBody>
                    <a:bodyPr/>
                    <a:lstStyle/>
                    <a:p>
                      <a:r>
                        <a:rPr sz="1300" b="0">
                          <a:solidFill>
                            <a:srgbClr val="1F2937"/>
                          </a:solidFill>
                        </a:rPr>
                        <a:t>Eng kam ish haqidan kam bo‘lmagan haq</a:t>
                      </a:r>
                    </a:p>
                  </a:txBody>
                  <a:tcPr marL="73152" marR="73152" marT="36576" marB="36576">
                    <a:solidFill>
                      <a:srgbClr val="E8EEF6"/>
                    </a:solidFill>
                  </a:tcPr>
                </a:tc>
                <a:tc>
                  <a:txBody>
                    <a:bodyPr/>
                    <a:lstStyle/>
                    <a:p>
                      <a:r>
                        <a:rPr sz="1300" b="0">
                          <a:solidFill>
                            <a:srgbClr val="1F2937"/>
                          </a:solidFill>
                        </a:rPr>
                        <a:t>Shartnomalarni tuzish</a:t>
                      </a:r>
                    </a:p>
                  </a:txBody>
                  <a:tcPr marL="73152" marR="73152" marT="36576" marB="36576">
                    <a:solidFill>
                      <a:srgbClr val="E8EEF6"/>
                    </a:solidFill>
                  </a:tcPr>
                </a:tc>
              </a:tr>
              <a:tr h="411480">
                <a:tc>
                  <a:txBody>
                    <a:bodyPr/>
                    <a:lstStyle/>
                    <a:p>
                      <a:r>
                        <a:rPr sz="1300" b="0">
                          <a:solidFill>
                            <a:srgbClr val="1F2937"/>
                          </a:solidFill>
                        </a:rPr>
                        <a:t>Xavfsiz va gigienik ish sharoiti</a:t>
                      </a:r>
                    </a:p>
                  </a:txBody>
                  <a:tcPr marL="73152" marR="73152" marT="36576" marB="36576">
                    <a:solidFill>
                      <a:srgbClr val="FFFFFF"/>
                    </a:solidFill>
                  </a:tcPr>
                </a:tc>
                <a:tc>
                  <a:txBody>
                    <a:bodyPr/>
                    <a:lstStyle/>
                    <a:p>
                      <a:r>
                        <a:rPr sz="1300" b="0">
                          <a:solidFill>
                            <a:srgbClr val="1F2937"/>
                          </a:solidFill>
                        </a:rPr>
                        <a:t>Shartnomalarni bekor qilish</a:t>
                      </a:r>
                    </a:p>
                  </a:txBody>
                  <a:tcPr marL="73152" marR="73152" marT="36576" marB="36576">
                    <a:solidFill>
                      <a:srgbClr val="FFFFFF"/>
                    </a:solidFill>
                  </a:tcPr>
                </a:tc>
              </a:tr>
              <a:tr h="411480">
                <a:tc>
                  <a:txBody>
                    <a:bodyPr/>
                    <a:lstStyle/>
                    <a:p>
                      <a:r>
                        <a:rPr sz="1300" b="0">
                          <a:solidFill>
                            <a:srgbClr val="1F2937"/>
                          </a:solidFill>
                        </a:rPr>
                        <a:t>Sud orqali himoya, yuridik yordam</a:t>
                      </a:r>
                    </a:p>
                  </a:txBody>
                  <a:tcPr marL="73152" marR="73152" marT="36576" marB="36576">
                    <a:solidFill>
                      <a:srgbClr val="E8EEF6"/>
                    </a:solidFill>
                  </a:tcPr>
                </a:tc>
                <a:tc>
                  <a:txBody>
                    <a:bodyPr/>
                    <a:lstStyle/>
                    <a:p>
                      <a:r>
                        <a:rPr sz="1300" b="0">
                          <a:solidFill>
                            <a:srgbClr val="1F2937"/>
                          </a:solidFill>
                        </a:rPr>
                        <a:t>Ishni to‘laqonli bajarishni talab etish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Huquqlar qiyosi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79-80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 va ish beruvchining majburiyatlari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Xodim texnika xavfsizligi va mehnat muhofazasi talablariga ham rioya qilishi shart (176-modda).</a:t>
            </a:r>
          </a:p>
          <a:p>
            <a:pPr>
              <a:spcAft>
                <a:spcPts val="800"/>
              </a:spcAft>
            </a:pPr>
            <a:r>
              <a:rPr sz="1800">
                <a:solidFill>
                  <a:srgbClr val="1F2937"/>
                </a:solidFill>
                <a:latin typeface="Calibri"/>
              </a:rPr>
              <a:t>▸  Ish beruvchi xodimdan mehnat vazifasiga kirmaydigan ishni talab qilishga haqli emas.</a:t>
            </a:r>
          </a:p>
          <a:p>
            <a:pPr>
              <a:spcAft>
                <a:spcPts val="800"/>
              </a:spcAft>
            </a:pPr>
            <a:r>
              <a:rPr sz="1800">
                <a:solidFill>
                  <a:srgbClr val="1F2937"/>
                </a:solidFill>
                <a:latin typeface="Calibri"/>
              </a:rPr>
              <a:t>▸  Qonunga xilof, hayot va sog‘liq uchun xavfli, sha’nni kamsituvchi harakatlarni ham talab qila 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643987"/>
                <a:gridCol w="2643987"/>
              </a:tblGrid>
              <a:tr h="411480">
                <a:tc>
                  <a:txBody>
                    <a:bodyPr/>
                    <a:lstStyle/>
                    <a:p>
                      <a:r>
                        <a:rPr sz="1400" b="1">
                          <a:solidFill>
                            <a:srgbClr val="FFFFFF"/>
                          </a:solidFill>
                        </a:rPr>
                        <a:t>Xodim</a:t>
                      </a:r>
                    </a:p>
                  </a:txBody>
                  <a:tcPr marL="73152" marR="73152" marT="36576" marB="36576">
                    <a:solidFill>
                      <a:srgbClr val="0B1F3A"/>
                    </a:solidFill>
                  </a:tcPr>
                </a:tc>
                <a:tc>
                  <a:txBody>
                    <a:bodyPr/>
                    <a:lstStyle/>
                    <a:p>
                      <a:r>
                        <a:rPr sz="1400" b="1">
                          <a:solidFill>
                            <a:srgbClr val="FFFFFF"/>
                          </a:solidFill>
                        </a:rPr>
                        <a:t>Ish beruvchi</a:t>
                      </a:r>
                    </a:p>
                  </a:txBody>
                  <a:tcPr marL="73152" marR="73152" marT="36576" marB="36576">
                    <a:solidFill>
                      <a:srgbClr val="0B1F3A"/>
                    </a:solidFill>
                  </a:tcPr>
                </a:tc>
              </a:tr>
              <a:tr h="411480">
                <a:tc>
                  <a:txBody>
                    <a:bodyPr/>
                    <a:lstStyle/>
                    <a:p>
                      <a:r>
                        <a:rPr sz="1300" b="0">
                          <a:solidFill>
                            <a:srgbClr val="1F2937"/>
                          </a:solidFill>
                        </a:rPr>
                        <a:t>Halol, vijdonan ishlash</a:t>
                      </a:r>
                    </a:p>
                  </a:txBody>
                  <a:tcPr marL="73152" marR="73152" marT="36576" marB="36576">
                    <a:solidFill>
                      <a:srgbClr val="E8EEF6"/>
                    </a:solidFill>
                  </a:tcPr>
                </a:tc>
                <a:tc>
                  <a:txBody>
                    <a:bodyPr/>
                    <a:lstStyle/>
                    <a:p>
                      <a:r>
                        <a:rPr sz="1300" b="0">
                          <a:solidFill>
                            <a:srgbClr val="1F2937"/>
                          </a:solidFill>
                        </a:rPr>
                        <a:t>Mehnatni tashkil etish</a:t>
                      </a:r>
                    </a:p>
                  </a:txBody>
                  <a:tcPr marL="73152" marR="73152" marT="36576" marB="36576">
                    <a:solidFill>
                      <a:srgbClr val="E8EEF6"/>
                    </a:solidFill>
                  </a:tcPr>
                </a:tc>
              </a:tr>
              <a:tr h="411480">
                <a:tc>
                  <a:txBody>
                    <a:bodyPr/>
                    <a:lstStyle/>
                    <a:p>
                      <a:r>
                        <a:rPr sz="1300" b="0">
                          <a:solidFill>
                            <a:srgbClr val="1F2937"/>
                          </a:solidFill>
                        </a:rPr>
                        <a:t>Mehnat intizomiga rioya qilish</a:t>
                      </a:r>
                    </a:p>
                  </a:txBody>
                  <a:tcPr marL="73152" marR="73152" marT="36576" marB="36576">
                    <a:solidFill>
                      <a:srgbClr val="FFFFFF"/>
                    </a:solidFill>
                  </a:tcPr>
                </a:tc>
                <a:tc>
                  <a:txBody>
                    <a:bodyPr/>
                    <a:lstStyle/>
                    <a:p>
                      <a:r>
                        <a:rPr sz="1300" b="0">
                          <a:solidFill>
                            <a:srgbClr val="1F2937"/>
                          </a:solidFill>
                        </a:rPr>
                        <a:t>Shartnomadagi sharoitlarni yaratish</a:t>
                      </a:r>
                    </a:p>
                  </a:txBody>
                  <a:tcPr marL="73152" marR="73152" marT="36576" marB="36576">
                    <a:solidFill>
                      <a:srgbClr val="FFFFFF"/>
                    </a:solidFill>
                  </a:tcPr>
                </a:tc>
              </a:tr>
              <a:tr h="411480">
                <a:tc>
                  <a:txBody>
                    <a:bodyPr/>
                    <a:lstStyle/>
                    <a:p>
                      <a:r>
                        <a:rPr sz="1300" b="0">
                          <a:solidFill>
                            <a:srgbClr val="1F2937"/>
                          </a:solidFill>
                        </a:rPr>
                        <a:t>Qonuniy farmonni o‘z vaqtida bajarish</a:t>
                      </a:r>
                    </a:p>
                  </a:txBody>
                  <a:tcPr marL="73152" marR="73152" marT="36576" marB="36576">
                    <a:solidFill>
                      <a:srgbClr val="E8EEF6"/>
                    </a:solidFill>
                  </a:tcPr>
                </a:tc>
                <a:tc>
                  <a:txBody>
                    <a:bodyPr/>
                    <a:lstStyle/>
                    <a:p>
                      <a:r>
                        <a:rPr sz="1300" b="0">
                          <a:solidFill>
                            <a:srgbClr val="1F2937"/>
                          </a:solidFill>
                        </a:rPr>
                        <a:t>Intizom va muhofaza qoidalariga rioya</a:t>
                      </a:r>
                    </a:p>
                  </a:txBody>
                  <a:tcPr marL="73152" marR="73152" marT="36576" marB="36576">
                    <a:solidFill>
                      <a:srgbClr val="E8EEF6"/>
                    </a:solidFill>
                  </a:tcPr>
                </a:tc>
              </a:tr>
              <a:tr h="411480">
                <a:tc>
                  <a:txBody>
                    <a:bodyPr/>
                    <a:lstStyle/>
                    <a:p>
                      <a:r>
                        <a:rPr sz="1300" b="0">
                          <a:solidFill>
                            <a:srgbClr val="1F2937"/>
                          </a:solidFill>
                        </a:rPr>
                        <a:t>Ish beruvchi mol-mulkini asrash</a:t>
                      </a:r>
                    </a:p>
                  </a:txBody>
                  <a:tcPr marL="73152" marR="73152" marT="36576" marB="36576">
                    <a:solidFill>
                      <a:srgbClr val="FFFFFF"/>
                    </a:solidFill>
                  </a:tcPr>
                </a:tc>
                <a:tc>
                  <a:txBody>
                    <a:bodyPr/>
                    <a:lstStyle/>
                    <a:p>
                      <a:r>
                        <a:rPr sz="1300" b="0">
                          <a:solidFill>
                            <a:srgbClr val="1F2937"/>
                          </a:solidFill>
                        </a:rPr>
                        <a:t>Jamoa shartnomalarini tuzish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Majburiyatlar qiyosi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shartnomasi: mazmuni va muddatlari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Shartnomada ish joyi, mehnat vazifasi, lavozimi, ish boshlanish vaqti va haq miqdori belgilanadi.</a:t>
            </a:r>
          </a:p>
          <a:p>
            <a:pPr>
              <a:spcAft>
                <a:spcPts val="800"/>
              </a:spcAft>
            </a:pPr>
            <a:r>
              <a:rPr sz="1800">
                <a:solidFill>
                  <a:srgbClr val="1F2937"/>
                </a:solidFill>
                <a:latin typeface="Calibri"/>
              </a:rPr>
              <a:t>▸  Muddatli shartnomada uning amal qilish muddati ham yoziladi.</a:t>
            </a:r>
          </a:p>
          <a:p>
            <a:pPr>
              <a:spcAft>
                <a:spcPts val="800"/>
              </a:spcAft>
            </a:pPr>
            <a:r>
              <a:rPr sz="1800">
                <a:solidFill>
                  <a:srgbClr val="1F2937"/>
                </a:solidFill>
                <a:latin typeface="Calibri"/>
              </a:rPr>
              <a:t>▸  Qonun bilan belgilangan mehnat huquqlari va kafolatlari darajasini shartnomada pasaytirib bo‘lmaydi.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05278"/>
                <a:gridCol w="3682696"/>
              </a:tblGrid>
              <a:tr h="411480">
                <a:tc>
                  <a:txBody>
                    <a:bodyPr/>
                    <a:lstStyle/>
                    <a:p>
                      <a:r>
                        <a:rPr sz="1400" b="1">
                          <a:solidFill>
                            <a:srgbClr val="FFFFFF"/>
                          </a:solidFill>
                        </a:rPr>
                        <a:t>Muddat turi</a:t>
                      </a:r>
                    </a:p>
                  </a:txBody>
                  <a:tcPr marL="73152" marR="73152" marT="36576" marB="36576">
                    <a:solidFill>
                      <a:srgbClr val="0B1F3A"/>
                    </a:solidFill>
                  </a:tcPr>
                </a:tc>
                <a:tc>
                  <a:txBody>
                    <a:bodyPr/>
                    <a:lstStyle/>
                    <a:p>
                      <a:r>
                        <a:rPr sz="1400" b="1">
                          <a:solidFill>
                            <a:srgbClr val="FFFFFF"/>
                          </a:solidFill>
                        </a:rPr>
                        <a:t>Qoida</a:t>
                      </a:r>
                    </a:p>
                  </a:txBody>
                  <a:tcPr marL="73152" marR="73152" marT="36576" marB="36576">
                    <a:solidFill>
                      <a:srgbClr val="0B1F3A"/>
                    </a:solidFill>
                  </a:tcPr>
                </a:tc>
              </a:tr>
              <a:tr h="411480">
                <a:tc>
                  <a:txBody>
                    <a:bodyPr/>
                    <a:lstStyle/>
                    <a:p>
                      <a:r>
                        <a:rPr sz="1300" b="0">
                          <a:solidFill>
                            <a:srgbClr val="1F2937"/>
                          </a:solidFill>
                        </a:rPr>
                        <a:t>Nomuayyan muddat</a:t>
                      </a:r>
                    </a:p>
                  </a:txBody>
                  <a:tcPr marL="73152" marR="73152" marT="36576" marB="36576">
                    <a:solidFill>
                      <a:srgbClr val="E8EEF6"/>
                    </a:solidFill>
                  </a:tcPr>
                </a:tc>
                <a:tc>
                  <a:txBody>
                    <a:bodyPr/>
                    <a:lstStyle/>
                    <a:p>
                      <a:r>
                        <a:rPr sz="1300" b="0">
                          <a:solidFill>
                            <a:srgbClr val="1F2937"/>
                          </a:solidFill>
                        </a:rPr>
                        <a:t>Muddat yozilmasa, shunday hisoblanadi</a:t>
                      </a:r>
                    </a:p>
                  </a:txBody>
                  <a:tcPr marL="73152" marR="73152" marT="36576" marB="36576">
                    <a:solidFill>
                      <a:srgbClr val="E8EEF6"/>
                    </a:solidFill>
                  </a:tcPr>
                </a:tc>
              </a:tr>
              <a:tr h="411480">
                <a:tc>
                  <a:txBody>
                    <a:bodyPr/>
                    <a:lstStyle/>
                    <a:p>
                      <a:r>
                        <a:rPr sz="1300" b="0">
                          <a:solidFill>
                            <a:srgbClr val="1F2937"/>
                          </a:solidFill>
                        </a:rPr>
                        <a:t>Muayyan muddat</a:t>
                      </a:r>
                    </a:p>
                  </a:txBody>
                  <a:tcPr marL="73152" marR="73152" marT="36576" marB="36576">
                    <a:solidFill>
                      <a:srgbClr val="FFFFFF"/>
                    </a:solidFill>
                  </a:tcPr>
                </a:tc>
                <a:tc>
                  <a:txBody>
                    <a:bodyPr/>
                    <a:lstStyle/>
                    <a:p>
                      <a:r>
                        <a:rPr sz="1300" b="0">
                          <a:solidFill>
                            <a:srgbClr val="1F2937"/>
                          </a:solidFill>
                        </a:rPr>
                        <a:t>Besh yildan oshmasligi kerak</a:t>
                      </a:r>
                    </a:p>
                  </a:txBody>
                  <a:tcPr marL="73152" marR="73152" marT="36576" marB="36576">
                    <a:solidFill>
                      <a:srgbClr val="FFFFFF"/>
                    </a:solidFill>
                  </a:tcPr>
                </a:tc>
              </a:tr>
              <a:tr h="411480">
                <a:tc>
                  <a:txBody>
                    <a:bodyPr/>
                    <a:lstStyle/>
                    <a:p>
                      <a:r>
                        <a:rPr sz="1300" b="0">
                          <a:solidFill>
                            <a:srgbClr val="1F2937"/>
                          </a:solidFill>
                        </a:rPr>
                        <a:t>Muayyan ish uchun</a:t>
                      </a:r>
                    </a:p>
                  </a:txBody>
                  <a:tcPr marL="73152" marR="73152" marT="36576" marB="36576">
                    <a:solidFill>
                      <a:srgbClr val="E8EEF6"/>
                    </a:solidFill>
                  </a:tcPr>
                </a:tc>
                <a:tc>
                  <a:txBody>
                    <a:bodyPr/>
                    <a:lstStyle/>
                    <a:p>
                      <a:r>
                        <a:rPr sz="1300" b="0">
                          <a:solidFill>
                            <a:srgbClr val="1F2937"/>
                          </a:solidFill>
                        </a:rPr>
                        <a:t>Ishni bajarish vaqtiga mo‘ljallanadi</a:t>
                      </a:r>
                    </a:p>
                  </a:txBody>
                  <a:tcPr marL="73152" marR="73152" marT="36576" marB="36576">
                    <a:solidFill>
                      <a:srgbClr val="E8EEF6"/>
                    </a:solidFill>
                  </a:tcPr>
                </a:tc>
              </a:tr>
              <a:tr h="411480">
                <a:tc>
                  <a:txBody>
                    <a:bodyPr/>
                    <a:lstStyle/>
                    <a:p>
                      <a:r>
                        <a:rPr sz="1300" b="0">
                          <a:solidFill>
                            <a:srgbClr val="1F2937"/>
                          </a:solidFill>
                        </a:rPr>
                        <a:t>Qayta tuzish</a:t>
                      </a:r>
                    </a:p>
                  </a:txBody>
                  <a:tcPr marL="73152" marR="73152" marT="36576" marB="36576">
                    <a:solidFill>
                      <a:srgbClr val="FFFFFF"/>
                    </a:solidFill>
                  </a:tcPr>
                </a:tc>
                <a:tc>
                  <a:txBody>
                    <a:bodyPr/>
                    <a:lstStyle/>
                    <a:p>
                      <a:r>
                        <a:rPr sz="1300" b="0">
                          <a:solidFill>
                            <a:srgbClr val="1F2937"/>
                          </a:solidFill>
                        </a:rPr>
                        <a:t>Xodim roziligisiz o‘zgartirib bo‘lmaydi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Shartnoma muddatlari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Ishga qabul qilish: hujjatlar va dastlabki sinov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Pasport, mehnat daftarchasi, harbiy hisob hujjati, diplom yoki maxsus tayyorgarlik hujjati taqdim etiladi.</a:t>
            </a:r>
          </a:p>
          <a:p>
            <a:pPr>
              <a:spcAft>
                <a:spcPts val="800"/>
              </a:spcAft>
            </a:pPr>
            <a:r>
              <a:rPr sz="1800">
                <a:solidFill>
                  <a:srgbClr val="1F2937"/>
                </a:solidFill>
                <a:latin typeface="Calibri"/>
              </a:rPr>
              <a:t>▸  Birinchi bor ishga kirganlarda mehnat daftarchasi talab qilinmaydi; o‘rindoshlar ma’lumotnoma beradi.</a:t>
            </a:r>
          </a:p>
          <a:p>
            <a:pPr>
              <a:spcAft>
                <a:spcPts val="800"/>
              </a:spcAft>
            </a:pPr>
            <a:r>
              <a:rPr sz="1800">
                <a:solidFill>
                  <a:srgbClr val="1F2937"/>
                </a:solidFill>
                <a:latin typeface="Calibri"/>
              </a:rPr>
              <a:t>▸  Sinov xodimning ishga layoqatini tekshirish va ishni davom ettirish maqsadga muvofiqligini aniqlash uchun.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94134"/>
                <a:gridCol w="3493840"/>
              </a:tblGrid>
              <a:tr h="411480">
                <a:tc>
                  <a:txBody>
                    <a:bodyPr/>
                    <a:lstStyle/>
                    <a:p>
                      <a:r>
                        <a:rPr sz="1400" b="1">
                          <a:solidFill>
                            <a:srgbClr val="FFFFFF"/>
                          </a:solidFill>
                        </a:rPr>
                        <a:t>Masala</a:t>
                      </a:r>
                    </a:p>
                  </a:txBody>
                  <a:tcPr marL="73152" marR="73152" marT="36576" marB="36576">
                    <a:solidFill>
                      <a:srgbClr val="0B1F3A"/>
                    </a:solidFill>
                  </a:tcPr>
                </a:tc>
                <a:tc>
                  <a:txBody>
                    <a:bodyPr/>
                    <a:lstStyle/>
                    <a:p>
                      <a:r>
                        <a:rPr sz="1400" b="1">
                          <a:solidFill>
                            <a:srgbClr val="FFFFFF"/>
                          </a:solidFill>
                        </a:rPr>
                        <a:t>Qoida</a:t>
                      </a:r>
                    </a:p>
                  </a:txBody>
                  <a:tcPr marL="73152" marR="73152" marT="36576" marB="36576">
                    <a:solidFill>
                      <a:srgbClr val="0B1F3A"/>
                    </a:solidFill>
                  </a:tcPr>
                </a:tc>
              </a:tr>
              <a:tr h="411480">
                <a:tc>
                  <a:txBody>
                    <a:bodyPr/>
                    <a:lstStyle/>
                    <a:p>
                      <a:r>
                        <a:rPr sz="1300" b="0">
                          <a:solidFill>
                            <a:srgbClr val="1F2937"/>
                          </a:solidFill>
                        </a:rPr>
                        <a:t>Sinov muddati</a:t>
                      </a:r>
                    </a:p>
                  </a:txBody>
                  <a:tcPr marL="73152" marR="73152" marT="36576" marB="36576">
                    <a:solidFill>
                      <a:srgbClr val="E8EEF6"/>
                    </a:solidFill>
                  </a:tcPr>
                </a:tc>
                <a:tc>
                  <a:txBody>
                    <a:bodyPr/>
                    <a:lstStyle/>
                    <a:p>
                      <a:r>
                        <a:rPr sz="1300" b="0">
                          <a:solidFill>
                            <a:srgbClr val="1F2937"/>
                          </a:solidFill>
                        </a:rPr>
                        <a:t>Uch oydan ortiq bo‘lmaydi (85-modda)</a:t>
                      </a:r>
                    </a:p>
                  </a:txBody>
                  <a:tcPr marL="73152" marR="73152" marT="36576" marB="36576">
                    <a:solidFill>
                      <a:srgbClr val="E8EEF6"/>
                    </a:solidFill>
                  </a:tcPr>
                </a:tc>
              </a:tr>
              <a:tr h="411480">
                <a:tc>
                  <a:txBody>
                    <a:bodyPr/>
                    <a:lstStyle/>
                    <a:p>
                      <a:r>
                        <a:rPr sz="1300" b="0">
                          <a:solidFill>
                            <a:srgbClr val="1F2937"/>
                          </a:solidFill>
                        </a:rPr>
                        <a:t>Sinov belgilanmaydi</a:t>
                      </a:r>
                    </a:p>
                  </a:txBody>
                  <a:tcPr marL="73152" marR="73152" marT="36576" marB="36576">
                    <a:solidFill>
                      <a:srgbClr val="FFFFFF"/>
                    </a:solidFill>
                  </a:tcPr>
                </a:tc>
                <a:tc>
                  <a:txBody>
                    <a:bodyPr/>
                    <a:lstStyle/>
                    <a:p>
                      <a:r>
                        <a:rPr sz="1300" b="0">
                          <a:solidFill>
                            <a:srgbClr val="1F2937"/>
                          </a:solidFill>
                        </a:rPr>
                        <a:t>Homilador, 3 yoshgacha bolali ayollar</a:t>
                      </a:r>
                    </a:p>
                  </a:txBody>
                  <a:tcPr marL="73152" marR="73152" marT="36576" marB="36576">
                    <a:solidFill>
                      <a:srgbClr val="FFFFFF"/>
                    </a:solidFill>
                  </a:tcPr>
                </a:tc>
              </a:tr>
              <a:tr h="411480">
                <a:tc>
                  <a:txBody>
                    <a:bodyPr/>
                    <a:lstStyle/>
                    <a:p>
                      <a:r>
                        <a:rPr sz="1300" b="0">
                          <a:solidFill>
                            <a:srgbClr val="1F2937"/>
                          </a:solidFill>
                        </a:rPr>
                        <a:t>Bekor qilish</a:t>
                      </a:r>
                    </a:p>
                  </a:txBody>
                  <a:tcPr marL="73152" marR="73152" marT="36576" marB="36576">
                    <a:solidFill>
                      <a:srgbClr val="E8EEF6"/>
                    </a:solidFill>
                  </a:tcPr>
                </a:tc>
                <a:tc>
                  <a:txBody>
                    <a:bodyPr/>
                    <a:lstStyle/>
                    <a:p>
                      <a:r>
                        <a:rPr sz="1300" b="0">
                          <a:solidFill>
                            <a:srgbClr val="1F2937"/>
                          </a:solidFill>
                        </a:rPr>
                        <a:t>3 kun oldin yozma ogohlantirish</a:t>
                      </a:r>
                    </a:p>
                  </a:txBody>
                  <a:tcPr marL="73152" marR="73152" marT="36576" marB="36576">
                    <a:solidFill>
                      <a:srgbClr val="E8EEF6"/>
                    </a:solidFill>
                  </a:tcPr>
                </a:tc>
              </a:tr>
              <a:tr h="411480">
                <a:tc>
                  <a:txBody>
                    <a:bodyPr/>
                    <a:lstStyle/>
                    <a:p>
                      <a:r>
                        <a:rPr sz="1300" b="0">
                          <a:solidFill>
                            <a:srgbClr val="1F2937"/>
                          </a:solidFill>
                        </a:rPr>
                        <a:t>Muddat o‘tsa</a:t>
                      </a:r>
                    </a:p>
                  </a:txBody>
                  <a:tcPr marL="73152" marR="73152" marT="36576" marB="36576">
                    <a:solidFill>
                      <a:srgbClr val="FFFFFF"/>
                    </a:solidFill>
                  </a:tcPr>
                </a:tc>
                <a:tc>
                  <a:txBody>
                    <a:bodyPr/>
                    <a:lstStyle/>
                    <a:p>
                      <a:r>
                        <a:rPr sz="1300" b="0">
                          <a:solidFill>
                            <a:srgbClr val="1F2937"/>
                          </a:solidFill>
                        </a:rPr>
                        <a:t>Shartnoma amal qilishda davom etadi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Dastlabki sinov qoidalari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81-82,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shartnoma va ishga qabul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dastlabki sinov eng ko‘pi bilan qancha davom etadi? Javob: uch oydan oshmaydigan muddatga belgilanadi.</a:t>
            </a:r>
          </a:p>
          <a:p>
            <a:pPr>
              <a:spcAft>
                <a:spcPts val="1200"/>
              </a:spcAft>
            </a:pPr>
            <a:r>
              <a:rPr sz="2200">
                <a:solidFill>
                  <a:srgbClr val="1F2937"/>
                </a:solidFill>
                <a:latin typeface="Calibri"/>
              </a:rPr>
              <a:t>▸  Savol: shartnomada amal qilish muddati yozilmagan bo‘lsa-chi? Javob: u nomuayyan muddatga tuzilgan deb hisoblanadi.</a:t>
            </a:r>
          </a:p>
          <a:p>
            <a:pPr>
              <a:spcAft>
                <a:spcPts val="1200"/>
              </a:spcAft>
            </a:pPr>
            <a:r>
              <a:rPr sz="2200">
                <a:solidFill>
                  <a:srgbClr val="1F2937"/>
                </a:solidFill>
                <a:latin typeface="Calibri"/>
              </a:rPr>
              <a:t>▸  Savol: homilador ayolga sinov belgilanadimi? Javob: yo‘q, homilador va uch yoshga to‘lmagan bolali ayollarga belgilanmaydi.</a:t>
            </a:r>
          </a:p>
          <a:p>
            <a:pPr>
              <a:spcAft>
                <a:spcPts val="1200"/>
              </a:spcAft>
            </a:pPr>
            <a:r>
              <a:rPr sz="2200">
                <a:solidFill>
                  <a:srgbClr val="1F2937"/>
                </a:solidFill>
                <a:latin typeface="Calibri"/>
              </a:rPr>
              <a:t>▸  Diqqat: xato qilish xavfi! Muddatli shartnoma 5 yildan oshmaydi; sinov muddati (3 oy) ≠ sinovni bekor qilish ogohlantirishi (3 kun).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82, 81, 81-82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Jamoa shartnomasi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 beruvchi va xodimlar munosabatlarini tartibga soladi; tomonlari kasaba uyushmasi va ish beruvchi.</a:t>
            </a:r>
          </a:p>
          <a:p>
            <a:pPr>
              <a:spcAft>
                <a:spcPts val="800"/>
              </a:spcAft>
            </a:pPr>
            <a:r>
              <a:rPr sz="1800">
                <a:solidFill>
                  <a:srgbClr val="1F2937"/>
                </a:solidFill>
                <a:latin typeface="Calibri"/>
              </a:rPr>
              <a:t>▸  Qonundagidan imtiyozliroq shartlar mumkin: qo‘shimcha ta’til, pensiyaga ustama, kompensatsiyalar.</a:t>
            </a:r>
          </a:p>
          <a:p>
            <a:pPr>
              <a:spcAft>
                <a:spcPts val="800"/>
              </a:spcAft>
            </a:pPr>
            <a:r>
              <a:rPr sz="1800">
                <a:solidFill>
                  <a:srgbClr val="1F2937"/>
                </a:solidFill>
                <a:latin typeface="Calibri"/>
              </a:rPr>
              <a:t>▸  Loyiha umumiy yig‘ilishda muhokama qilinadi; muddati tugasa, yangisi tuzilguncha amalda bo‘ladi.</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Tamoyil</a:t>
                      </a:r>
                    </a:p>
                  </a:txBody>
                  <a:tcPr marL="73152" marR="73152" marT="36576" marB="36576">
                    <a:solidFill>
                      <a:srgbClr val="0B1F3A"/>
                    </a:solidFill>
                  </a:tcPr>
                </a:tc>
              </a:tr>
              <a:tr h="411480">
                <a:tc>
                  <a:txBody>
                    <a:bodyPr/>
                    <a:lstStyle/>
                    <a:p>
                      <a:r>
                        <a:rPr sz="1300" b="0">
                          <a:solidFill>
                            <a:srgbClr val="1F2937"/>
                          </a:solidFill>
                        </a:rPr>
                        <a:t>Qonuniylik</a:t>
                      </a:r>
                    </a:p>
                  </a:txBody>
                  <a:tcPr marL="73152" marR="73152" marT="36576" marB="36576">
                    <a:solidFill>
                      <a:srgbClr val="E8EEF6"/>
                    </a:solidFill>
                  </a:tcPr>
                </a:tc>
                <a:tc>
                  <a:txBody>
                    <a:bodyPr/>
                    <a:lstStyle/>
                    <a:p>
                      <a:r>
                        <a:rPr sz="1300" b="0">
                          <a:solidFill>
                            <a:srgbClr val="1F2937"/>
                          </a:solidFill>
                        </a:rPr>
                        <a:t>Qonun normalariga rioya; vakolatlilik</a:t>
                      </a:r>
                    </a:p>
                  </a:txBody>
                  <a:tcPr marL="73152" marR="73152" marT="36576" marB="36576">
                    <a:solidFill>
                      <a:srgbClr val="E8EEF6"/>
                    </a:solidFill>
                  </a:tcPr>
                </a:tc>
              </a:tr>
              <a:tr h="411480">
                <a:tc>
                  <a:txBody>
                    <a:bodyPr/>
                    <a:lstStyle/>
                    <a:p>
                      <a:r>
                        <a:rPr sz="1300" b="0">
                          <a:solidFill>
                            <a:srgbClr val="1F2937"/>
                          </a:solidFill>
                        </a:rPr>
                        <a:t>Erkinlik</a:t>
                      </a:r>
                    </a:p>
                  </a:txBody>
                  <a:tcPr marL="73152" marR="73152" marT="36576" marB="36576">
                    <a:solidFill>
                      <a:srgbClr val="FFFFFF"/>
                    </a:solidFill>
                  </a:tcPr>
                </a:tc>
                <a:tc>
                  <a:txBody>
                    <a:bodyPr/>
                    <a:lstStyle/>
                    <a:p>
                      <a:r>
                        <a:rPr sz="1300" b="0">
                          <a:solidFill>
                            <a:srgbClr val="1F2937"/>
                          </a:solidFill>
                        </a:rPr>
                        <a:t>Masalani tanlash va ixtiyoriy majburiyat</a:t>
                      </a:r>
                    </a:p>
                  </a:txBody>
                  <a:tcPr marL="73152" marR="73152" marT="36576" marB="36576">
                    <a:solidFill>
                      <a:srgbClr val="FFFFFF"/>
                    </a:solidFill>
                  </a:tcPr>
                </a:tc>
              </a:tr>
              <a:tr h="411480">
                <a:tc>
                  <a:txBody>
                    <a:bodyPr/>
                    <a:lstStyle/>
                    <a:p>
                      <a:r>
                        <a:rPr sz="1300" b="0">
                          <a:solidFill>
                            <a:srgbClr val="1F2937"/>
                          </a:solidFill>
                        </a:rPr>
                        <a:t>Nazorat</a:t>
                      </a:r>
                    </a:p>
                  </a:txBody>
                  <a:tcPr marL="73152" marR="73152" marT="36576" marB="36576">
                    <a:solidFill>
                      <a:srgbClr val="E8EEF6"/>
                    </a:solidFill>
                  </a:tcPr>
                </a:tc>
                <a:tc>
                  <a:txBody>
                    <a:bodyPr/>
                    <a:lstStyle/>
                    <a:p>
                      <a:r>
                        <a:rPr sz="1300" b="0">
                          <a:solidFill>
                            <a:srgbClr val="1F2937"/>
                          </a:solidFill>
                        </a:rPr>
                        <a:t>Bajarilishi, tekshiruv, muqarrar javobgarlik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Mehnat kodeksi 30-moddasi tamoyillari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82-83, 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O‘rindoshlik, bir necha kasb va o‘rinbosarlik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O‘rindoshlik — asosiy ishdan bo‘sh vaqtda shartnoma asosida bajariladigan haq to‘lanadigan ish.</a:t>
            </a:r>
          </a:p>
          <a:p>
            <a:pPr>
              <a:spcAft>
                <a:spcPts val="800"/>
              </a:spcAft>
            </a:pPr>
            <a:r>
              <a:rPr sz="1800">
                <a:solidFill>
                  <a:srgbClr val="1F2937"/>
                </a:solidFill>
                <a:latin typeface="Calibri"/>
              </a:rPr>
              <a:t>▸  Sog‘liqni saqlash muassasasi rahbariga vrach, vrachga o‘rta tibbiy xodim vazifasida ishlash ruxsat etiladi.</a:t>
            </a:r>
          </a:p>
          <a:p>
            <a:pPr>
              <a:spcAft>
                <a:spcPts val="800"/>
              </a:spcAft>
            </a:pPr>
            <a:r>
              <a:rPr sz="1800">
                <a:solidFill>
                  <a:srgbClr val="1F2937"/>
                </a:solidFill>
                <a:latin typeface="Calibri"/>
              </a:rPr>
              <a:t>▸  Bir necha kasbda ishlash faqat asosiy ish hajmi asosiy ish vaqtida to‘liq bajarilganda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02907"/>
                <a:gridCol w="3585067"/>
              </a:tblGrid>
              <a:tr h="411480">
                <a:tc>
                  <a:txBody>
                    <a:bodyPr/>
                    <a:lstStyle/>
                    <a:p>
                      <a:r>
                        <a:rPr sz="1400" b="1">
                          <a:solidFill>
                            <a:srgbClr val="FFFFFF"/>
                          </a:solidFill>
                        </a:rPr>
                        <a:t>Tushuncha</a:t>
                      </a:r>
                    </a:p>
                  </a:txBody>
                  <a:tcPr marL="73152" marR="73152" marT="36576" marB="36576">
                    <a:solidFill>
                      <a:srgbClr val="0B1F3A"/>
                    </a:solidFill>
                  </a:tcPr>
                </a:tc>
                <a:tc>
                  <a:txBody>
                    <a:bodyPr/>
                    <a:lstStyle/>
                    <a:p>
                      <a:r>
                        <a:rPr sz="1400" b="1">
                          <a:solidFill>
                            <a:srgbClr val="FFFFFF"/>
                          </a:solidFill>
                        </a:rPr>
                        <a:t>Asosiy belgisi</a:t>
                      </a:r>
                    </a:p>
                  </a:txBody>
                  <a:tcPr marL="73152" marR="73152" marT="36576" marB="36576">
                    <a:solidFill>
                      <a:srgbClr val="0B1F3A"/>
                    </a:solidFill>
                  </a:tcPr>
                </a:tc>
              </a:tr>
              <a:tr h="411480">
                <a:tc>
                  <a:txBody>
                    <a:bodyPr/>
                    <a:lstStyle/>
                    <a:p>
                      <a:r>
                        <a:rPr sz="1300" b="0">
                          <a:solidFill>
                            <a:srgbClr val="1F2937"/>
                          </a:solidFill>
                        </a:rPr>
                        <a:t>Ichki o‘rindoshlik</a:t>
                      </a:r>
                    </a:p>
                  </a:txBody>
                  <a:tcPr marL="73152" marR="73152" marT="36576" marB="36576">
                    <a:solidFill>
                      <a:srgbClr val="E8EEF6"/>
                    </a:solidFill>
                  </a:tcPr>
                </a:tc>
                <a:tc>
                  <a:txBody>
                    <a:bodyPr/>
                    <a:lstStyle/>
                    <a:p>
                      <a:r>
                        <a:rPr sz="1300" b="0">
                          <a:solidFill>
                            <a:srgbClr val="1F2937"/>
                          </a:solidFill>
                        </a:rPr>
                        <a:t>Asosiy ish bo‘sh vaqtida, o‘z muassasasida</a:t>
                      </a:r>
                    </a:p>
                  </a:txBody>
                  <a:tcPr marL="73152" marR="73152" marT="36576" marB="36576">
                    <a:solidFill>
                      <a:srgbClr val="E8EEF6"/>
                    </a:solidFill>
                  </a:tcPr>
                </a:tc>
              </a:tr>
              <a:tr h="411480">
                <a:tc>
                  <a:txBody>
                    <a:bodyPr/>
                    <a:lstStyle/>
                    <a:p>
                      <a:r>
                        <a:rPr sz="1300" b="0">
                          <a:solidFill>
                            <a:srgbClr val="1F2937"/>
                          </a:solidFill>
                        </a:rPr>
                        <a:t>Tashqi o‘rindoshlik</a:t>
                      </a:r>
                    </a:p>
                  </a:txBody>
                  <a:tcPr marL="73152" marR="73152" marT="36576" marB="36576">
                    <a:solidFill>
                      <a:srgbClr val="FFFFFF"/>
                    </a:solidFill>
                  </a:tcPr>
                </a:tc>
                <a:tc>
                  <a:txBody>
                    <a:bodyPr/>
                    <a:lstStyle/>
                    <a:p>
                      <a:r>
                        <a:rPr sz="1300" b="0">
                          <a:solidFill>
                            <a:srgbClr val="1F2937"/>
                          </a:solidFill>
                        </a:rPr>
                        <a:t>Asosiy ish bo‘sh vaqtida, boshqa muassasada</a:t>
                      </a:r>
                    </a:p>
                  </a:txBody>
                  <a:tcPr marL="73152" marR="73152" marT="36576" marB="36576">
                    <a:solidFill>
                      <a:srgbClr val="FFFFFF"/>
                    </a:solidFill>
                  </a:tcPr>
                </a:tc>
              </a:tr>
              <a:tr h="411480">
                <a:tc>
                  <a:txBody>
                    <a:bodyPr/>
                    <a:lstStyle/>
                    <a:p>
                      <a:r>
                        <a:rPr sz="1300" b="0">
                          <a:solidFill>
                            <a:srgbClr val="1F2937"/>
                          </a:solidFill>
                        </a:rPr>
                        <a:t>Bir necha kasb</a:t>
                      </a:r>
                    </a:p>
                  </a:txBody>
                  <a:tcPr marL="73152" marR="73152" marT="36576" marB="36576">
                    <a:solidFill>
                      <a:srgbClr val="E8EEF6"/>
                    </a:solidFill>
                  </a:tcPr>
                </a:tc>
                <a:tc>
                  <a:txBody>
                    <a:bodyPr/>
                    <a:lstStyle/>
                    <a:p>
                      <a:r>
                        <a:rPr sz="1300" b="0">
                          <a:solidFill>
                            <a:srgbClr val="1F2937"/>
                          </a:solidFill>
                        </a:rPr>
                        <a:t>Asosiy ish bilan birga, boshqa lavozimda</a:t>
                      </a:r>
                    </a:p>
                  </a:txBody>
                  <a:tcPr marL="73152" marR="73152" marT="36576" marB="36576">
                    <a:solidFill>
                      <a:srgbClr val="E8EEF6"/>
                    </a:solidFill>
                  </a:tcPr>
                </a:tc>
              </a:tr>
              <a:tr h="411480">
                <a:tc>
                  <a:txBody>
                    <a:bodyPr/>
                    <a:lstStyle/>
                    <a:p>
                      <a:r>
                        <a:rPr sz="1300" b="0">
                          <a:solidFill>
                            <a:srgbClr val="1F2937"/>
                          </a:solidFill>
                        </a:rPr>
                        <a:t>O‘rinbosarlik</a:t>
                      </a:r>
                    </a:p>
                  </a:txBody>
                  <a:tcPr marL="73152" marR="73152" marT="36576" marB="36576">
                    <a:solidFill>
                      <a:srgbClr val="FFFFFF"/>
                    </a:solidFill>
                  </a:tcPr>
                </a:tc>
                <a:tc>
                  <a:txBody>
                    <a:bodyPr/>
                    <a:lstStyle/>
                    <a:p>
                      <a:r>
                        <a:rPr sz="1300" b="0">
                          <a:solidFill>
                            <a:srgbClr val="1F2937"/>
                          </a:solidFill>
                        </a:rPr>
                        <a:t>Yo‘q xodim ishi, lavozimi saqlanadi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tushunchani farqlash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vaqti va tibbiy xodimlarning qisqartirilgan vaqti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 vaqti — xodim jadval yoki shartnomaga ko‘ra mehnat vazifasini bajarishi lozim bo‘lgan vaqt.</a:t>
            </a:r>
          </a:p>
          <a:p>
            <a:pPr>
              <a:spcAft>
                <a:spcPts val="800"/>
              </a:spcAft>
            </a:pPr>
            <a:r>
              <a:rPr sz="1800">
                <a:solidFill>
                  <a:srgbClr val="1F2937"/>
                </a:solidFill>
                <a:latin typeface="Calibri"/>
              </a:rPr>
              <a:t>▸  Haq kamaytirilmay qisqartiriladi: 18 yoshgacha, I-II guruh nogironlari, noqulay sharoitdagilar va boshqalar.</a:t>
            </a:r>
          </a:p>
          <a:p>
            <a:pPr>
              <a:spcAft>
                <a:spcPts val="800"/>
              </a:spcAft>
            </a:pPr>
            <a:r>
              <a:rPr sz="1800">
                <a:solidFill>
                  <a:srgbClr val="1F2937"/>
                </a:solidFill>
                <a:latin typeface="Calibri"/>
              </a:rPr>
              <a:t>▸  Yuqori his-hayajon va asab tarangligi bilan bog‘liq ishda — haftasiga 36 soatgacha; tibbiy xodimlar kiradi.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912671"/>
                <a:gridCol w="3375303"/>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Chegara</a:t>
                      </a:r>
                    </a:p>
                  </a:txBody>
                  <a:tcPr marL="73152" marR="73152" marT="36576" marB="36576">
                    <a:solidFill>
                      <a:srgbClr val="0B1F3A"/>
                    </a:solidFill>
                  </a:tcPr>
                </a:tc>
              </a:tr>
              <a:tr h="411480">
                <a:tc>
                  <a:txBody>
                    <a:bodyPr/>
                    <a:lstStyle/>
                    <a:p>
                      <a:r>
                        <a:rPr sz="1300" b="0">
                          <a:solidFill>
                            <a:srgbClr val="1F2937"/>
                          </a:solidFill>
                        </a:rPr>
                        <a:t>Normal muddat</a:t>
                      </a:r>
                    </a:p>
                  </a:txBody>
                  <a:tcPr marL="73152" marR="73152" marT="36576" marB="36576">
                    <a:solidFill>
                      <a:srgbClr val="E8EEF6"/>
                    </a:solidFill>
                  </a:tcPr>
                </a:tc>
                <a:tc>
                  <a:txBody>
                    <a:bodyPr/>
                    <a:lstStyle/>
                    <a:p>
                      <a:r>
                        <a:rPr sz="1300" b="0">
                          <a:solidFill>
                            <a:srgbClr val="1F2937"/>
                          </a:solidFill>
                        </a:rPr>
                        <a:t>Haftasiga 40 soatdan ko‘p emas</a:t>
                      </a:r>
                    </a:p>
                  </a:txBody>
                  <a:tcPr marL="73152" marR="73152" marT="36576" marB="36576">
                    <a:solidFill>
                      <a:srgbClr val="E8EEF6"/>
                    </a:solidFill>
                  </a:tcPr>
                </a:tc>
              </a:tr>
              <a:tr h="411480">
                <a:tc>
                  <a:txBody>
                    <a:bodyPr/>
                    <a:lstStyle/>
                    <a:p>
                      <a:r>
                        <a:rPr sz="1300" b="0">
                          <a:solidFill>
                            <a:srgbClr val="1F2937"/>
                          </a:solidFill>
                        </a:rPr>
                        <a:t>Besh kunlik hafta</a:t>
                      </a:r>
                    </a:p>
                  </a:txBody>
                  <a:tcPr marL="73152" marR="73152" marT="36576" marB="36576">
                    <a:solidFill>
                      <a:srgbClr val="FFFFFF"/>
                    </a:solidFill>
                  </a:tcPr>
                </a:tc>
                <a:tc>
                  <a:txBody>
                    <a:bodyPr/>
                    <a:lstStyle/>
                    <a:p>
                      <a:r>
                        <a:rPr sz="1300" b="0">
                          <a:solidFill>
                            <a:srgbClr val="1F2937"/>
                          </a:solidFill>
                        </a:rPr>
                        <a:t>Kuniga 8 soatdan ko‘p emas</a:t>
                      </a:r>
                    </a:p>
                  </a:txBody>
                  <a:tcPr marL="73152" marR="73152" marT="36576" marB="36576">
                    <a:solidFill>
                      <a:srgbClr val="FFFFFF"/>
                    </a:solidFill>
                  </a:tcPr>
                </a:tc>
              </a:tr>
              <a:tr h="411480">
                <a:tc>
                  <a:txBody>
                    <a:bodyPr/>
                    <a:lstStyle/>
                    <a:p>
                      <a:r>
                        <a:rPr sz="1300" b="0">
                          <a:solidFill>
                            <a:srgbClr val="1F2937"/>
                          </a:solidFill>
                        </a:rPr>
                        <a:t>Olti kunlik hafta</a:t>
                      </a:r>
                    </a:p>
                  </a:txBody>
                  <a:tcPr marL="73152" marR="73152" marT="36576" marB="36576">
                    <a:solidFill>
                      <a:srgbClr val="E8EEF6"/>
                    </a:solidFill>
                  </a:tcPr>
                </a:tc>
                <a:tc>
                  <a:txBody>
                    <a:bodyPr/>
                    <a:lstStyle/>
                    <a:p>
                      <a:r>
                        <a:rPr sz="1300" b="0">
                          <a:solidFill>
                            <a:srgbClr val="1F2937"/>
                          </a:solidFill>
                        </a:rPr>
                        <a:t>Kuniga 7 soatdan ko‘p emas</a:t>
                      </a:r>
                    </a:p>
                  </a:txBody>
                  <a:tcPr marL="73152" marR="73152" marT="36576" marB="36576">
                    <a:solidFill>
                      <a:srgbClr val="E8EEF6"/>
                    </a:solidFill>
                  </a:tcPr>
                </a:tc>
              </a:tr>
              <a:tr h="411480">
                <a:tc>
                  <a:txBody>
                    <a:bodyPr/>
                    <a:lstStyle/>
                    <a:p>
                      <a:r>
                        <a:rPr sz="1300" b="0">
                          <a:solidFill>
                            <a:srgbClr val="1F2937"/>
                          </a:solidFill>
                        </a:rPr>
                        <a:t>Tibbiy xodimlar</a:t>
                      </a:r>
                    </a:p>
                  </a:txBody>
                  <a:tcPr marL="73152" marR="73152" marT="36576" marB="36576">
                    <a:solidFill>
                      <a:srgbClr val="FFFFFF"/>
                    </a:solidFill>
                  </a:tcPr>
                </a:tc>
                <a:tc>
                  <a:txBody>
                    <a:bodyPr/>
                    <a:lstStyle/>
                    <a:p>
                      <a:r>
                        <a:rPr sz="1300" b="0">
                          <a:solidFill>
                            <a:srgbClr val="1F2937"/>
                          </a:solidFill>
                        </a:rPr>
                        <a:t>Haftasiga 36 soatdan oshmaydi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 vaqti chegaralari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84, 84-85, 85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Mehnatni muhofaza qilish va tibbiy ko‘riklar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Ish beruvchi xavfsizlik va gigiena talablariga javob beradigan sharoit yaratadi va buning uchun qonun oldida javob beradi. Ishga qabul qilishda xavf va himoya vositalari haqida xabar beradi.</a:t>
            </a:r>
          </a:p>
          <a:p>
            <a:pPr>
              <a:spcAft>
                <a:spcPts val="1200"/>
              </a:spcAft>
            </a:pPr>
            <a:r>
              <a:rPr sz="2000">
                <a:solidFill>
                  <a:srgbClr val="1F2937"/>
                </a:solidFill>
                <a:latin typeface="Calibri"/>
              </a:rPr>
              <a:t>▸  Xodim mehnat muhofazasi talablariga rioya qiladi, himoya vositalaridan foydalanadi, xavfli vaziyat va baxtsiz hodisa haqida shoshilinch xabar beradi.</a:t>
            </a:r>
          </a:p>
          <a:p>
            <a:pPr>
              <a:spcAft>
                <a:spcPts val="1200"/>
              </a:spcAft>
            </a:pPr>
            <a:r>
              <a:rPr sz="2000">
                <a:solidFill>
                  <a:srgbClr val="1F2937"/>
                </a:solidFill>
                <a:latin typeface="Calibri"/>
              </a:rPr>
              <a:t>▸  Alohida toifalar (18 yoshgacha, nogironlar, tungi ish, aholiga bevosita xizmat ko‘rsatuvchilar va b.) dastlabki va davriy ko‘rikdan o‘tadi. Rad etish ishdan chetlatish asosi.</a:t>
            </a:r>
          </a:p>
          <a:p>
            <a:pPr>
              <a:spcAft>
                <a:spcPts val="1200"/>
              </a:spcAft>
            </a:pPr>
            <a:r>
              <a:rPr sz="2000">
                <a:solidFill>
                  <a:srgbClr val="1F2937"/>
                </a:solidFill>
                <a:latin typeface="Calibri"/>
              </a:rPr>
              <a:t>▸  Salomatligi yomonlashuvi ish sharoitiga bog‘liq deb hisoblasa, xodim navbatdan tashqari ko‘rik talab qiladi. Ko‘rik xarajatini xodim to‘lamaydi.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85, 85-86, 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Shartnomani xodim tashabbusi bilan bekor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Xodim ish beruvchini ikki hafta oldin yozma ogohlantirib, muddatli yoki muddatsiz shartnomani bekor qilishga haqli.</a:t>
            </a:r>
          </a:p>
          <a:p>
            <a:pPr>
              <a:spcAft>
                <a:spcPts val="800"/>
              </a:spcAft>
            </a:pPr>
            <a:r>
              <a:rPr sz="1800">
                <a:solidFill>
                  <a:srgbClr val="1F2937"/>
                </a:solidFill>
                <a:latin typeface="Calibri"/>
              </a:rPr>
              <a:t>▸  Ogohlantirish tugamaguncha xodim arizasini qaytarib oladi; muddat o‘tib bekor qilinmasa, ariza kuchini yo‘qotadi.</a:t>
            </a:r>
          </a:p>
          <a:p>
            <a:pPr>
              <a:spcAft>
                <a:spcPts val="800"/>
              </a:spcAft>
            </a:pPr>
            <a:r>
              <a:rPr sz="1800">
                <a:solidFill>
                  <a:srgbClr val="1F2937"/>
                </a:solidFill>
                <a:latin typeface="Calibri"/>
              </a:rPr>
              <a:t>▸  O‘qishga qabul, pensiya, saylov kabi sabablarda ish beruvchi shartnomani xodim so‘ragan muddatda bekor qiladi.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Yozma ogohlantirish (2 hafta)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Arizani qaytarib olish mumkin</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Muddat o‘tgach xodim ketadi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Daftarcha va hisob-kitob</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Xodim tashabbusi: bosqichlar</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beruvchi tashabbusi bilan bekor qilish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Ish beruvchi shartnomani faqat Mehnat kodeksidagi sabablarga ko‘ra va barcha rasmiy talablarga qat’iy amal qilib bekor qiladi.</a:t>
            </a:r>
          </a:p>
          <a:p>
            <a:pPr>
              <a:spcAft>
                <a:spcPts val="1200"/>
              </a:spcAft>
            </a:pPr>
            <a:r>
              <a:rPr sz="2200">
                <a:solidFill>
                  <a:srgbClr val="1F2937"/>
                </a:solidFill>
                <a:latin typeface="Calibri"/>
              </a:rPr>
              <a:t>▸  Asoslar: shtat qisqarishi yoki korxona tugatilishi; malaka yetishmasligi yoki sog‘liq tufayli noloyiqlik; o‘rindoshlar; mulkdor o‘zgarishida rahbar.</a:t>
            </a:r>
          </a:p>
          <a:p>
            <a:pPr>
              <a:spcAft>
                <a:spcPts val="1200"/>
              </a:spcAft>
            </a:pPr>
            <a:r>
              <a:rPr sz="2200">
                <a:solidFill>
                  <a:srgbClr val="1F2937"/>
                </a:solidFill>
                <a:latin typeface="Calibri"/>
              </a:rPr>
              <a:t>▸  Muntazam buzish: jazodan keyin bir yil ichida takror nojo‘ya harakat. Bir marta qo‘pol buzish oqibatga qarab baholanadi.</a:t>
            </a:r>
          </a:p>
          <a:p>
            <a:pPr>
              <a:spcAft>
                <a:spcPts val="1200"/>
              </a:spcAft>
            </a:pPr>
            <a:r>
              <a:rPr sz="2200">
                <a:solidFill>
                  <a:srgbClr val="1F2937"/>
                </a:solidFill>
                <a:latin typeface="Calibri"/>
              </a:rPr>
              <a:t>▸  Diqqat: vaqtincha mehnatga layoqatsizlik va ta’til davrida bekor qilib bo‘lmaydi; faqat korxona butunlay tugatilsa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87-88, 88-89, 88, 89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Bekor qilishda ogohlantirish muddatlari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 beruvchi bekor qilish niyatini xodimga yozma, imzo chektirib ogohlantiradi; muddat sababga qarab farqlanadi.</a:t>
            </a:r>
          </a:p>
          <a:p>
            <a:pPr>
              <a:spcAft>
                <a:spcPts val="800"/>
              </a:spcAft>
            </a:pPr>
            <a:r>
              <a:rPr sz="1800">
                <a:solidFill>
                  <a:srgbClr val="1F2937"/>
                </a:solidFill>
                <a:latin typeface="Calibri"/>
              </a:rPr>
              <a:t>▸  Qisqartirish va noloyiqlikda kelishuv bilan ogohlantirish pullik kompensatsiyaga almashadi.</a:t>
            </a:r>
          </a:p>
          <a:p>
            <a:pPr>
              <a:spcAft>
                <a:spcPts val="800"/>
              </a:spcAft>
            </a:pPr>
            <a:r>
              <a:rPr sz="1800">
                <a:solidFill>
                  <a:srgbClr val="1F2937"/>
                </a:solidFill>
                <a:latin typeface="Calibri"/>
              </a:rPr>
              <a:t>▸  Diqqat: xodim tashabbusida muddat ikki hafta; ish beruvchi tashabbusida u sababga bog‘liq.</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805650"/>
                <a:gridCol w="1289750"/>
                <a:gridCol w="2192575"/>
              </a:tblGrid>
              <a:tr h="411480">
                <a:tc>
                  <a:txBody>
                    <a:bodyPr/>
                    <a:lstStyle/>
                    <a:p>
                      <a:r>
                        <a:rPr sz="1300" b="1">
                          <a:solidFill>
                            <a:srgbClr val="FFFFFF"/>
                          </a:solidFill>
                        </a:rPr>
                        <a:t>Asos</a:t>
                      </a:r>
                    </a:p>
                  </a:txBody>
                  <a:tcPr marL="73152" marR="73152" marT="36576" marB="36576">
                    <a:solidFill>
                      <a:srgbClr val="0B1F3A"/>
                    </a:solidFill>
                  </a:tcPr>
                </a:tc>
                <a:tc>
                  <a:txBody>
                    <a:bodyPr/>
                    <a:lstStyle/>
                    <a:p>
                      <a:r>
                        <a:rPr sz="1300" b="1">
                          <a:solidFill>
                            <a:srgbClr val="FFFFFF"/>
                          </a:solidFill>
                        </a:rPr>
                        <a:t>Muddat</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Shtat qisqarishi, tugatilish</a:t>
                      </a:r>
                    </a:p>
                  </a:txBody>
                  <a:tcPr marL="73152" marR="73152" marT="36576" marB="36576">
                    <a:solidFill>
                      <a:srgbClr val="E8EEF6"/>
                    </a:solidFill>
                  </a:tcPr>
                </a:tc>
                <a:tc>
                  <a:txBody>
                    <a:bodyPr/>
                    <a:lstStyle/>
                    <a:p>
                      <a:r>
                        <a:rPr sz="1200" b="0">
                          <a:solidFill>
                            <a:srgbClr val="1F2937"/>
                          </a:solidFill>
                        </a:rPr>
                        <a:t>Kamida 2 oy oldin</a:t>
                      </a:r>
                    </a:p>
                  </a:txBody>
                  <a:tcPr marL="73152" marR="73152" marT="36576" marB="36576">
                    <a:solidFill>
                      <a:srgbClr val="E8EEF6"/>
                    </a:solidFill>
                  </a:tcPr>
                </a:tc>
                <a:tc>
                  <a:txBody>
                    <a:bodyPr/>
                    <a:lstStyle/>
                    <a:p>
                      <a:r>
                        <a:rPr sz="1200" b="0">
                          <a:solidFill>
                            <a:srgbClr val="1F2937"/>
                          </a:solidFill>
                        </a:rPr>
                        <a:t>Kelishuv bilan kompensatsiya</a:t>
                      </a:r>
                    </a:p>
                  </a:txBody>
                  <a:tcPr marL="73152" marR="73152" marT="36576" marB="36576">
                    <a:solidFill>
                      <a:srgbClr val="E8EEF6"/>
                    </a:solidFill>
                  </a:tcPr>
                </a:tc>
              </a:tr>
              <a:tr h="411480">
                <a:tc>
                  <a:txBody>
                    <a:bodyPr/>
                    <a:lstStyle/>
                    <a:p>
                      <a:r>
                        <a:rPr sz="1200" b="0">
                          <a:solidFill>
                            <a:srgbClr val="1F2937"/>
                          </a:solidFill>
                        </a:rPr>
                        <a:t>Noloyiqlik (malaka, sog‘liq)</a:t>
                      </a:r>
                    </a:p>
                  </a:txBody>
                  <a:tcPr marL="73152" marR="73152" marT="36576" marB="36576">
                    <a:solidFill>
                      <a:srgbClr val="FFFFFF"/>
                    </a:solidFill>
                  </a:tcPr>
                </a:tc>
                <a:tc>
                  <a:txBody>
                    <a:bodyPr/>
                    <a:lstStyle/>
                    <a:p>
                      <a:r>
                        <a:rPr sz="1200" b="0">
                          <a:solidFill>
                            <a:srgbClr val="1F2937"/>
                          </a:solidFill>
                        </a:rPr>
                        <a:t>Kamida 2 hafta oldin</a:t>
                      </a:r>
                    </a:p>
                  </a:txBody>
                  <a:tcPr marL="73152" marR="73152" marT="36576" marB="36576">
                    <a:solidFill>
                      <a:srgbClr val="FFFFFF"/>
                    </a:solidFill>
                  </a:tcPr>
                </a:tc>
                <a:tc>
                  <a:txBody>
                    <a:bodyPr/>
                    <a:lstStyle/>
                    <a:p>
                      <a:r>
                        <a:rPr sz="1200" b="0">
                          <a:solidFill>
                            <a:srgbClr val="1F2937"/>
                          </a:solidFill>
                        </a:rPr>
                        <a:t>Kelishuv bilan kompensatsiya</a:t>
                      </a:r>
                    </a:p>
                  </a:txBody>
                  <a:tcPr marL="73152" marR="73152" marT="36576" marB="36576">
                    <a:solidFill>
                      <a:srgbClr val="FFFFFF"/>
                    </a:solidFill>
                  </a:tcPr>
                </a:tc>
              </a:tr>
              <a:tr h="411480">
                <a:tc>
                  <a:txBody>
                    <a:bodyPr/>
                    <a:lstStyle/>
                    <a:p>
                      <a:r>
                        <a:rPr sz="1200" b="0">
                          <a:solidFill>
                            <a:srgbClr val="1F2937"/>
                          </a:solidFill>
                        </a:rPr>
                        <a:t>Muntazam buzish</a:t>
                      </a:r>
                    </a:p>
                  </a:txBody>
                  <a:tcPr marL="73152" marR="73152" marT="36576" marB="36576">
                    <a:solidFill>
                      <a:srgbClr val="E8EEF6"/>
                    </a:solidFill>
                  </a:tcPr>
                </a:tc>
                <a:tc>
                  <a:txBody>
                    <a:bodyPr/>
                    <a:lstStyle/>
                    <a:p>
                      <a:r>
                        <a:rPr sz="1200" b="0">
                          <a:solidFill>
                            <a:srgbClr val="1F2937"/>
                          </a:solidFill>
                        </a:rPr>
                        <a:t>3 kun oldin</a:t>
                      </a:r>
                    </a:p>
                  </a:txBody>
                  <a:tcPr marL="73152" marR="73152" marT="36576" marB="36576">
                    <a:solidFill>
                      <a:srgbClr val="E8EEF6"/>
                    </a:solidFill>
                  </a:tcPr>
                </a:tc>
                <a:tc>
                  <a:txBody>
                    <a:bodyPr/>
                    <a:lstStyle/>
                    <a:p>
                      <a:r>
                        <a:rPr sz="1200" b="0">
                          <a:solidFill>
                            <a:srgbClr val="1F2937"/>
                          </a:solidFill>
                        </a:rPr>
                        <a:t>Xabardor qilish yoki kompensatsiya</a:t>
                      </a:r>
                    </a:p>
                  </a:txBody>
                  <a:tcPr marL="73152" marR="73152" marT="36576" marB="36576">
                    <a:solidFill>
                      <a:srgbClr val="E8EEF6"/>
                    </a:solidFill>
                  </a:tcPr>
                </a:tc>
              </a:tr>
              <a:tr h="411480">
                <a:tc>
                  <a:txBody>
                    <a:bodyPr/>
                    <a:lstStyle/>
                    <a:p>
                      <a:r>
                        <a:rPr sz="1200" b="0">
                          <a:solidFill>
                            <a:srgbClr val="1F2937"/>
                          </a:solidFill>
                        </a:rPr>
                        <a:t>Bir marta qo‘pol buzish</a:t>
                      </a:r>
                    </a:p>
                  </a:txBody>
                  <a:tcPr marL="73152" marR="73152" marT="36576" marB="36576">
                    <a:solidFill>
                      <a:srgbClr val="FFFFFF"/>
                    </a:solidFill>
                  </a:tcPr>
                </a:tc>
                <a:tc>
                  <a:txBody>
                    <a:bodyPr/>
                    <a:lstStyle/>
                    <a:p>
                      <a:r>
                        <a:rPr sz="1200" b="0">
                          <a:solidFill>
                            <a:srgbClr val="1F2937"/>
                          </a:solidFill>
                        </a:rPr>
                        <a:t>3 kun oldin</a:t>
                      </a:r>
                    </a:p>
                  </a:txBody>
                  <a:tcPr marL="73152" marR="73152" marT="36576" marB="36576">
                    <a:solidFill>
                      <a:srgbClr val="FFFFFF"/>
                    </a:solidFill>
                  </a:tcPr>
                </a:tc>
                <a:tc>
                  <a:txBody>
                    <a:bodyPr/>
                    <a:lstStyle/>
                    <a:p>
                      <a:r>
                        <a:rPr sz="1200" b="0">
                          <a:solidFill>
                            <a:srgbClr val="1F2937"/>
                          </a:solidFill>
                        </a:rPr>
                        <a:t>Xabardor qilish yoki kompensatsiya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 beruvchi ogohlantirishi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89, 87, 89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Intizomiy jazolar va ularni qo‘llash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Jazo turlari: hayfsan, o‘rtacha oylik ish haqining 30% gacha jarima, mehnat shartnomasini bekor qilish.</a:t>
            </a:r>
          </a:p>
          <a:p>
            <a:pPr>
              <a:spcAft>
                <a:spcPts val="800"/>
              </a:spcAft>
            </a:pPr>
            <a:r>
              <a:rPr sz="1800">
                <a:solidFill>
                  <a:srgbClr val="1F2937"/>
                </a:solidFill>
                <a:latin typeface="Calibri"/>
              </a:rPr>
              <a:t>▸  Ichki tartibga ko‘ra ayrim qilmishlarga jarima oylik ish haqining 50% igacha belgilanishi mumkin.</a:t>
            </a:r>
          </a:p>
          <a:p>
            <a:pPr>
              <a:spcAft>
                <a:spcPts val="800"/>
              </a:spcAft>
            </a:pPr>
            <a:r>
              <a:rPr sz="1800">
                <a:solidFill>
                  <a:srgbClr val="1F2937"/>
                </a:solidFill>
                <a:latin typeface="Calibri"/>
              </a:rPr>
              <a:t>▸  Jazodan oldin tushuntirish xati so‘raladi; bir huquqbuzarlikka bitta jazo, buyruq bilan e’lon qilinadi.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82160"/>
                <a:gridCol w="3405814"/>
              </a:tblGrid>
              <a:tr h="411480">
                <a:tc>
                  <a:txBody>
                    <a:bodyPr/>
                    <a:lstStyle/>
                    <a:p>
                      <a:r>
                        <a:rPr sz="1400" b="1">
                          <a:solidFill>
                            <a:srgbClr val="FFFFFF"/>
                          </a:solidFill>
                        </a:rPr>
                        <a:t>Masala</a:t>
                      </a:r>
                    </a:p>
                  </a:txBody>
                  <a:tcPr marL="73152" marR="73152" marT="36576" marB="36576">
                    <a:solidFill>
                      <a:srgbClr val="0B1F3A"/>
                    </a:solidFill>
                  </a:tcPr>
                </a:tc>
                <a:tc>
                  <a:txBody>
                    <a:bodyPr/>
                    <a:lstStyle/>
                    <a:p>
                      <a:r>
                        <a:rPr sz="1400" b="1">
                          <a:solidFill>
                            <a:srgbClr val="FFFFFF"/>
                          </a:solidFill>
                        </a:rPr>
                        <a:t>Qoida</a:t>
                      </a:r>
                    </a:p>
                  </a:txBody>
                  <a:tcPr marL="73152" marR="73152" marT="36576" marB="36576">
                    <a:solidFill>
                      <a:srgbClr val="0B1F3A"/>
                    </a:solidFill>
                  </a:tcPr>
                </a:tc>
              </a:tr>
              <a:tr h="411480">
                <a:tc>
                  <a:txBody>
                    <a:bodyPr/>
                    <a:lstStyle/>
                    <a:p>
                      <a:r>
                        <a:rPr sz="1300" b="0">
                          <a:solidFill>
                            <a:srgbClr val="1F2937"/>
                          </a:solidFill>
                        </a:rPr>
                        <a:t>Qo‘llash muddati</a:t>
                      </a:r>
                    </a:p>
                  </a:txBody>
                  <a:tcPr marL="73152" marR="73152" marT="36576" marB="36576">
                    <a:solidFill>
                      <a:srgbClr val="E8EEF6"/>
                    </a:solidFill>
                  </a:tcPr>
                </a:tc>
                <a:tc>
                  <a:txBody>
                    <a:bodyPr/>
                    <a:lstStyle/>
                    <a:p>
                      <a:r>
                        <a:rPr sz="1300" b="0">
                          <a:solidFill>
                            <a:srgbClr val="1F2937"/>
                          </a:solidFill>
                        </a:rPr>
                        <a:t>Qilmish aniqlangandan 1 oy ichida</a:t>
                      </a:r>
                    </a:p>
                  </a:txBody>
                  <a:tcPr marL="73152" marR="73152" marT="36576" marB="36576">
                    <a:solidFill>
                      <a:srgbClr val="E8EEF6"/>
                    </a:solidFill>
                  </a:tcPr>
                </a:tc>
              </a:tr>
              <a:tr h="411480">
                <a:tc>
                  <a:txBody>
                    <a:bodyPr/>
                    <a:lstStyle/>
                    <a:p>
                      <a:r>
                        <a:rPr sz="1300" b="0">
                          <a:solidFill>
                            <a:srgbClr val="1F2937"/>
                          </a:solidFill>
                        </a:rPr>
                        <a:t>Bemorlik va ta’til</a:t>
                      </a:r>
                    </a:p>
                  </a:txBody>
                  <a:tcPr marL="73152" marR="73152" marT="36576" marB="36576">
                    <a:solidFill>
                      <a:srgbClr val="FFFFFF"/>
                    </a:solidFill>
                  </a:tcPr>
                </a:tc>
                <a:tc>
                  <a:txBody>
                    <a:bodyPr/>
                    <a:lstStyle/>
                    <a:p>
                      <a:r>
                        <a:rPr sz="1300" b="0">
                          <a:solidFill>
                            <a:srgbClr val="1F2937"/>
                          </a:solidFill>
                        </a:rPr>
                        <a:t>1 oylik muddatga kirmaydi</a:t>
                      </a:r>
                    </a:p>
                  </a:txBody>
                  <a:tcPr marL="73152" marR="73152" marT="36576" marB="36576">
                    <a:solidFill>
                      <a:srgbClr val="FFFFFF"/>
                    </a:solidFill>
                  </a:tcPr>
                </a:tc>
              </a:tr>
              <a:tr h="411480">
                <a:tc>
                  <a:txBody>
                    <a:bodyPr/>
                    <a:lstStyle/>
                    <a:p>
                      <a:r>
                        <a:rPr sz="1300" b="0">
                          <a:solidFill>
                            <a:srgbClr val="1F2937"/>
                          </a:solidFill>
                        </a:rPr>
                        <a:t>Eng kech chegara</a:t>
                      </a:r>
                    </a:p>
                  </a:txBody>
                  <a:tcPr marL="73152" marR="73152" marT="36576" marB="36576">
                    <a:solidFill>
                      <a:srgbClr val="E8EEF6"/>
                    </a:solidFill>
                  </a:tcPr>
                </a:tc>
                <a:tc>
                  <a:txBody>
                    <a:bodyPr/>
                    <a:lstStyle/>
                    <a:p>
                      <a:r>
                        <a:rPr sz="1300" b="0">
                          <a:solidFill>
                            <a:srgbClr val="1F2937"/>
                          </a:solidFill>
                        </a:rPr>
                        <a:t>Sodir etilgandan 6 oy; taftishda 2 yil</a:t>
                      </a:r>
                    </a:p>
                  </a:txBody>
                  <a:tcPr marL="73152" marR="73152" marT="36576" marB="36576">
                    <a:solidFill>
                      <a:srgbClr val="E8EEF6"/>
                    </a:solidFill>
                  </a:tcPr>
                </a:tc>
              </a:tr>
              <a:tr h="411480">
                <a:tc>
                  <a:txBody>
                    <a:bodyPr/>
                    <a:lstStyle/>
                    <a:p>
                      <a:r>
                        <a:rPr sz="1300" b="0">
                          <a:solidFill>
                            <a:srgbClr val="1F2937"/>
                          </a:solidFill>
                        </a:rPr>
                        <a:t>Jazoning amal qilishi</a:t>
                      </a:r>
                    </a:p>
                  </a:txBody>
                  <a:tcPr marL="73152" marR="73152" marT="36576" marB="36576">
                    <a:solidFill>
                      <a:srgbClr val="FFFFFF"/>
                    </a:solidFill>
                  </a:tcPr>
                </a:tc>
                <a:tc>
                  <a:txBody>
                    <a:bodyPr/>
                    <a:lstStyle/>
                    <a:p>
                      <a:r>
                        <a:rPr sz="1300" b="0">
                          <a:solidFill>
                            <a:srgbClr val="1F2937"/>
                          </a:solidFill>
                        </a:rPr>
                        <a:t>Qo‘llangan kundan 1 yil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Intizomiy jazo muddatlari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mehnat qonunchiligi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poliklinika vrachi davriy tibbiy ko‘rikdan o‘tishni rad etdi va shifokorlarning tavsiyalarini bajarmadi.</a:t>
            </a:r>
          </a:p>
          <a:p>
            <a:pPr>
              <a:spcAft>
                <a:spcPts val="1200"/>
              </a:spcAft>
            </a:pPr>
            <a:r>
              <a:rPr sz="2200">
                <a:solidFill>
                  <a:srgbClr val="1F2937"/>
                </a:solidFill>
                <a:latin typeface="Calibri"/>
              </a:rPr>
              <a:t>▸  Tahlil: ko‘rikni rad etish yoki tavsiyalarni bajarmaslik xodimni ishdan chetlatishga asos. Ko‘rik xarajatini xodim to‘lamaydi.</a:t>
            </a:r>
          </a:p>
          <a:p>
            <a:pPr>
              <a:spcAft>
                <a:spcPts val="1200"/>
              </a:spcAft>
            </a:pPr>
            <a:r>
              <a:rPr sz="2200">
                <a:solidFill>
                  <a:srgbClr val="1F2937"/>
                </a:solidFill>
                <a:latin typeface="Calibri"/>
              </a:rPr>
              <a:t>▸  Diqqat: shtat qisqarishida ish beruvchi kamida 2 oy, noloyiqlikda kamida 2 hafta oldin yozma ogohlantiradi. Bemorlik va ta’tilda bekor qilib bo‘lmaydi.</a:t>
            </a:r>
          </a:p>
          <a:p>
            <a:pPr>
              <a:spcAft>
                <a:spcPts val="1200"/>
              </a:spcAft>
            </a:pPr>
            <a:r>
              <a:rPr sz="2200">
                <a:solidFill>
                  <a:srgbClr val="1F2937"/>
                </a:solidFill>
                <a:latin typeface="Calibri"/>
              </a:rPr>
              <a:t>▸  Savol: birinchi holatda ish beruvchi qanday qaror qiladi? Ikkinchi holatda xodim kasal bo‘lib qolsa, bekor qilish mumkinmi?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86, 89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qonunchilik va ma’muriy huquqbuzarlik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Ma’muriy qonunchilik davlat boshqaruvi va boshqa sohalarda jamoat munosabatlarini tartibga soladi. Unga sanitariya va litsenziyalash qoidalari ham kiradi.</a:t>
            </a:r>
          </a:p>
          <a:p>
            <a:pPr>
              <a:spcAft>
                <a:spcPts val="1200"/>
              </a:spcAft>
            </a:pPr>
            <a:r>
              <a:rPr sz="2000">
                <a:solidFill>
                  <a:srgbClr val="1F2937"/>
                </a:solidFill>
                <a:latin typeface="Calibri"/>
              </a:rPr>
              <a:t>▸  Ma’muriy huquqbuzarlik — fuqaro huquqlari, mulk, jamoat tartibi yoki tabiiy muhitga tajovuz qiluvchi, aybli (qasddan yoki ehtiyotsizlik bilan) harakat yoki harakatsizlik.</a:t>
            </a:r>
          </a:p>
          <a:p>
            <a:pPr>
              <a:spcAft>
                <a:spcPts val="1200"/>
              </a:spcAft>
            </a:pPr>
            <a:r>
              <a:rPr sz="2000">
                <a:solidFill>
                  <a:srgbClr val="1F2937"/>
                </a:solidFill>
                <a:latin typeface="Calibri"/>
              </a:rPr>
              <a:t>▸  Diqqat: ma’muriy huquqbuzarlik ≠ jinoyat. U jamiyat uchun xavf alomatlarini tutmaydi, shu sababli jinoiy javobgarlik yuzaga kelmaydi.</a:t>
            </a:r>
          </a:p>
          <a:p>
            <a:pPr>
              <a:spcAft>
                <a:spcPts val="1200"/>
              </a:spcAft>
            </a:pPr>
            <a:r>
              <a:rPr sz="2000">
                <a:solidFill>
                  <a:srgbClr val="1F2937"/>
                </a:solidFill>
                <a:latin typeface="Calibri"/>
              </a:rPr>
              <a:t>▸  O‘tish: sanitariya va epidemiyaga qarshi qoidalarni buzish oqibati og‘ir bo‘lsa yoki ijtimoiy xavf yuzaga kelsa, jinoyat sifatida baholanishi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92, 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Qasd, ehtiyotsizlik, oxirgi zarurat va yosh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Qasddan: shaxs harakati g‘ayrihuquqiyligini biladi va zararli oqibatni istaydi yoki ongli ravishda yo‘l qo‘yadi.</a:t>
            </a:r>
          </a:p>
          <a:p>
            <a:pPr>
              <a:spcAft>
                <a:spcPts val="800"/>
              </a:spcAft>
            </a:pPr>
            <a:r>
              <a:rPr sz="1800">
                <a:solidFill>
                  <a:srgbClr val="1F2937"/>
                </a:solidFill>
                <a:latin typeface="Calibri"/>
              </a:rPr>
              <a:t>▸  Ehtiyotsizlik: oqibatni engiltaklik bilan oldini olish mumkin deb o‘ylash yoki uni ko‘ra bilmaslik.</a:t>
            </a:r>
          </a:p>
          <a:p>
            <a:pPr>
              <a:spcAft>
                <a:spcPts val="800"/>
              </a:spcAft>
            </a:pPr>
            <a:r>
              <a:rPr sz="1800">
                <a:solidFill>
                  <a:srgbClr val="1F2937"/>
                </a:solidFill>
                <a:latin typeface="Calibri"/>
              </a:rPr>
              <a:t>▸  Oxirgi zarurat huquqbuzarlik emas; 16 yoshgacha javobgarlik yo‘q; kam ahamiyatlida ogohlantirish mumkin.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Qasddan</a:t>
                      </a:r>
                    </a:p>
                  </a:txBody>
                  <a:tcPr marL="73152" marR="73152" marT="36576" marB="36576">
                    <a:solidFill>
                      <a:srgbClr val="E8EEF6"/>
                    </a:solidFill>
                  </a:tcPr>
                </a:tc>
                <a:tc>
                  <a:txBody>
                    <a:bodyPr/>
                    <a:lstStyle/>
                    <a:p>
                      <a:r>
                        <a:rPr sz="1300" b="0">
                          <a:solidFill>
                            <a:srgbClr val="1F2937"/>
                          </a:solidFill>
                        </a:rPr>
                        <a:t>Oqibatni istaydi yoki ongli yo‘l qo‘yadi</a:t>
                      </a:r>
                    </a:p>
                  </a:txBody>
                  <a:tcPr marL="73152" marR="73152" marT="36576" marB="36576">
                    <a:solidFill>
                      <a:srgbClr val="E8EEF6"/>
                    </a:solidFill>
                  </a:tcPr>
                </a:tc>
              </a:tr>
              <a:tr h="411480">
                <a:tc>
                  <a:txBody>
                    <a:bodyPr/>
                    <a:lstStyle/>
                    <a:p>
                      <a:r>
                        <a:rPr sz="1300" b="0">
                          <a:solidFill>
                            <a:srgbClr val="1F2937"/>
                          </a:solidFill>
                        </a:rPr>
                        <a:t>Ehtiyotsizlik</a:t>
                      </a:r>
                    </a:p>
                  </a:txBody>
                  <a:tcPr marL="73152" marR="73152" marT="36576" marB="36576">
                    <a:solidFill>
                      <a:srgbClr val="FFFFFF"/>
                    </a:solidFill>
                  </a:tcPr>
                </a:tc>
                <a:tc>
                  <a:txBody>
                    <a:bodyPr/>
                    <a:lstStyle/>
                    <a:p>
                      <a:r>
                        <a:rPr sz="1300" b="0">
                          <a:solidFill>
                            <a:srgbClr val="1F2937"/>
                          </a:solidFill>
                        </a:rPr>
                        <a:t>Engiltaklik yoki oqibatni ko‘ra bilmaslik</a:t>
                      </a:r>
                    </a:p>
                  </a:txBody>
                  <a:tcPr marL="73152" marR="73152" marT="36576" marB="36576">
                    <a:solidFill>
                      <a:srgbClr val="FFFFFF"/>
                    </a:solidFill>
                  </a:tcPr>
                </a:tc>
              </a:tr>
              <a:tr h="411480">
                <a:tc>
                  <a:txBody>
                    <a:bodyPr/>
                    <a:lstStyle/>
                    <a:p>
                      <a:r>
                        <a:rPr sz="1300" b="0">
                          <a:solidFill>
                            <a:srgbClr val="1F2937"/>
                          </a:solidFill>
                        </a:rPr>
                        <a:t>Oxirgi zarurat</a:t>
                      </a:r>
                    </a:p>
                  </a:txBody>
                  <a:tcPr marL="73152" marR="73152" marT="36576" marB="36576">
                    <a:solidFill>
                      <a:srgbClr val="E8EEF6"/>
                    </a:solidFill>
                  </a:tcPr>
                </a:tc>
                <a:tc>
                  <a:txBody>
                    <a:bodyPr/>
                    <a:lstStyle/>
                    <a:p>
                      <a:r>
                        <a:rPr sz="1300" b="0">
                          <a:solidFill>
                            <a:srgbClr val="1F2937"/>
                          </a:solidFill>
                        </a:rPr>
                        <a:t>Zarar kamroq bo‘lsa — huquqbuzarlik emas</a:t>
                      </a:r>
                    </a:p>
                  </a:txBody>
                  <a:tcPr marL="73152" marR="73152" marT="36576" marB="36576">
                    <a:solidFill>
                      <a:srgbClr val="E8EEF6"/>
                    </a:solidFill>
                  </a:tcPr>
                </a:tc>
              </a:tr>
              <a:tr h="411480">
                <a:tc>
                  <a:txBody>
                    <a:bodyPr/>
                    <a:lstStyle/>
                    <a:p>
                      <a:r>
                        <a:rPr sz="1300" b="0">
                          <a:solidFill>
                            <a:srgbClr val="1F2937"/>
                          </a:solidFill>
                        </a:rPr>
                        <a:t>16 yoshgacha</a:t>
                      </a:r>
                    </a:p>
                  </a:txBody>
                  <a:tcPr marL="73152" marR="73152" marT="36576" marB="36576">
                    <a:solidFill>
                      <a:srgbClr val="FFFFFF"/>
                    </a:solidFill>
                  </a:tcPr>
                </a:tc>
                <a:tc>
                  <a:txBody>
                    <a:bodyPr/>
                    <a:lstStyle/>
                    <a:p>
                      <a:r>
                        <a:rPr sz="1300" b="0">
                          <a:solidFill>
                            <a:srgbClr val="1F2937"/>
                          </a:solidFill>
                        </a:rPr>
                        <a:t>Ma’muriy javobgarlikka tortilmaydi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Ayb shakllari va javobgarlikni istisno qiluvchi holatlar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93, 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jazo turlari va jarima miqdorlari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Turlari: jarima, ashyoni haq evaziga olib qo‘yish, musodara, maxsus huquqdan mahrum etish, ma’muriy qamoq.</a:t>
            </a:r>
          </a:p>
          <a:p>
            <a:pPr>
              <a:spcAft>
                <a:spcPts val="800"/>
              </a:spcAft>
            </a:pPr>
            <a:r>
              <a:rPr sz="1800">
                <a:solidFill>
                  <a:srgbClr val="1F2937"/>
                </a:solidFill>
                <a:latin typeface="Calibri"/>
              </a:rPr>
              <a:t>▸  Tibbiy xodimlarning kasbiy huquqbuzarliklarida asosan jarima belgilanadi.</a:t>
            </a:r>
          </a:p>
          <a:p>
            <a:pPr>
              <a:spcAft>
                <a:spcPts val="800"/>
              </a:spcAft>
            </a:pPr>
            <a:r>
              <a:rPr sz="1800">
                <a:solidFill>
                  <a:srgbClr val="1F2937"/>
                </a:solidFill>
                <a:latin typeface="Calibri"/>
              </a:rPr>
              <a:t>▸  Mahalliy hokimiyat qarorida jarima fuqaroga uch, mansabdorga besh baravardan oshmaydi.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669886"/>
                <a:gridCol w="1577115"/>
                <a:gridCol w="2040972"/>
              </a:tblGrid>
              <a:tr h="411480">
                <a:tc>
                  <a:txBody>
                    <a:bodyPr/>
                    <a:lstStyle/>
                    <a:p>
                      <a:r>
                        <a:rPr sz="1300" b="1">
                          <a:solidFill>
                            <a:srgbClr val="FFFFFF"/>
                          </a:solidFill>
                        </a:rPr>
                        <a:t>Subyekt</a:t>
                      </a:r>
                    </a:p>
                  </a:txBody>
                  <a:tcPr marL="73152" marR="73152" marT="36576" marB="36576">
                    <a:solidFill>
                      <a:srgbClr val="0B1F3A"/>
                    </a:solidFill>
                  </a:tcPr>
                </a:tc>
                <a:tc>
                  <a:txBody>
                    <a:bodyPr/>
                    <a:lstStyle/>
                    <a:p>
                      <a:r>
                        <a:rPr sz="1300" b="1">
                          <a:solidFill>
                            <a:srgbClr val="FFFFFF"/>
                          </a:solidFill>
                        </a:rPr>
                        <a:t>Eng kam</a:t>
                      </a:r>
                    </a:p>
                  </a:txBody>
                  <a:tcPr marL="73152" marR="73152" marT="36576" marB="36576">
                    <a:solidFill>
                      <a:srgbClr val="0B1F3A"/>
                    </a:solidFill>
                  </a:tcPr>
                </a:tc>
                <a:tc>
                  <a:txBody>
                    <a:bodyPr/>
                    <a:lstStyle/>
                    <a:p>
                      <a:r>
                        <a:rPr sz="1300" b="1">
                          <a:solidFill>
                            <a:srgbClr val="FFFFFF"/>
                          </a:solidFill>
                        </a:rPr>
                        <a:t>Eng ko‘p</a:t>
                      </a:r>
                    </a:p>
                  </a:txBody>
                  <a:tcPr marL="73152" marR="73152" marT="36576" marB="36576">
                    <a:solidFill>
                      <a:srgbClr val="0B1F3A"/>
                    </a:solidFill>
                  </a:tcPr>
                </a:tc>
              </a:tr>
              <a:tr h="411480">
                <a:tc>
                  <a:txBody>
                    <a:bodyPr/>
                    <a:lstStyle/>
                    <a:p>
                      <a:r>
                        <a:rPr sz="1200" b="0">
                          <a:solidFill>
                            <a:srgbClr val="1F2937"/>
                          </a:solidFill>
                        </a:rPr>
                        <a:t>Fuqaro</a:t>
                      </a:r>
                    </a:p>
                  </a:txBody>
                  <a:tcPr marL="73152" marR="73152" marT="36576" marB="36576">
                    <a:solidFill>
                      <a:srgbClr val="E8EEF6"/>
                    </a:solidFill>
                  </a:tcPr>
                </a:tc>
                <a:tc>
                  <a:txBody>
                    <a:bodyPr/>
                    <a:lstStyle/>
                    <a:p>
                      <a:r>
                        <a:rPr sz="1200" b="0">
                          <a:solidFill>
                            <a:srgbClr val="1F2937"/>
                          </a:solidFill>
                        </a:rPr>
                        <a:t>ellikdan bir qism</a:t>
                      </a:r>
                    </a:p>
                  </a:txBody>
                  <a:tcPr marL="73152" marR="73152" marT="36576" marB="36576">
                    <a:solidFill>
                      <a:srgbClr val="E8EEF6"/>
                    </a:solidFill>
                  </a:tcPr>
                </a:tc>
                <a:tc>
                  <a:txBody>
                    <a:bodyPr/>
                    <a:lstStyle/>
                    <a:p>
                      <a:r>
                        <a:rPr sz="1200" b="0">
                          <a:solidFill>
                            <a:srgbClr val="1F2937"/>
                          </a:solidFill>
                        </a:rPr>
                        <a:t>besh baravar</a:t>
                      </a:r>
                    </a:p>
                  </a:txBody>
                  <a:tcPr marL="73152" marR="73152" marT="36576" marB="36576">
                    <a:solidFill>
                      <a:srgbClr val="E8EEF6"/>
                    </a:solidFill>
                  </a:tcPr>
                </a:tc>
              </a:tr>
              <a:tr h="411480">
                <a:tc>
                  <a:txBody>
                    <a:bodyPr/>
                    <a:lstStyle/>
                    <a:p>
                      <a:r>
                        <a:rPr sz="1200" b="0">
                          <a:solidFill>
                            <a:srgbClr val="1F2937"/>
                          </a:solidFill>
                        </a:rPr>
                        <a:t>Mansabdor shaxs</a:t>
                      </a:r>
                    </a:p>
                  </a:txBody>
                  <a:tcPr marL="73152" marR="73152" marT="36576" marB="36576">
                    <a:solidFill>
                      <a:srgbClr val="FFFFFF"/>
                    </a:solidFill>
                  </a:tcPr>
                </a:tc>
                <a:tc>
                  <a:txBody>
                    <a:bodyPr/>
                    <a:lstStyle/>
                    <a:p>
                      <a:r>
                        <a:rPr sz="1200" b="0">
                          <a:solidFill>
                            <a:srgbClr val="1F2937"/>
                          </a:solidFill>
                        </a:rPr>
                        <a:t>o‘ndan bir qism</a:t>
                      </a:r>
                    </a:p>
                  </a:txBody>
                  <a:tcPr marL="73152" marR="73152" marT="36576" marB="36576">
                    <a:solidFill>
                      <a:srgbClr val="FFFFFF"/>
                    </a:solidFill>
                  </a:tcPr>
                </a:tc>
                <a:tc>
                  <a:txBody>
                    <a:bodyPr/>
                    <a:lstStyle/>
                    <a:p>
                      <a:r>
                        <a:rPr sz="1200" b="0">
                          <a:solidFill>
                            <a:srgbClr val="1F2937"/>
                          </a:solidFill>
                        </a:rPr>
                        <a:t>o‘n baravar</a:t>
                      </a:r>
                    </a:p>
                  </a:txBody>
                  <a:tcPr marL="73152" marR="73152" marT="36576" marB="36576">
                    <a:solidFill>
                      <a:srgbClr val="FFFFFF"/>
                    </a:solidFill>
                  </a:tcPr>
                </a:tc>
              </a:tr>
              <a:tr h="411480">
                <a:tc>
                  <a:txBody>
                    <a:bodyPr/>
                    <a:lstStyle/>
                    <a:p>
                      <a:r>
                        <a:rPr sz="1200" b="0">
                          <a:solidFill>
                            <a:srgbClr val="1F2937"/>
                          </a:solidFill>
                        </a:rPr>
                        <a:t>Istisno: fuqaro</a:t>
                      </a:r>
                    </a:p>
                  </a:txBody>
                  <a:tcPr marL="73152" marR="73152" marT="36576" marB="36576">
                    <a:solidFill>
                      <a:srgbClr val="E8EEF6"/>
                    </a:solidFill>
                  </a:tcPr>
                </a:tc>
                <a:tc>
                  <a:txBody>
                    <a:bodyPr/>
                    <a:lstStyle/>
                    <a:p>
                      <a:r>
                        <a:rPr sz="1200" b="0">
                          <a:solidFill>
                            <a:srgbClr val="1F2937"/>
                          </a:solidFill>
                        </a:rPr>
                        <a:t>—</a:t>
                      </a:r>
                    </a:p>
                  </a:txBody>
                  <a:tcPr marL="73152" marR="73152" marT="36576" marB="36576">
                    <a:solidFill>
                      <a:srgbClr val="E8EEF6"/>
                    </a:solidFill>
                  </a:tcPr>
                </a:tc>
                <a:tc>
                  <a:txBody>
                    <a:bodyPr/>
                    <a:lstStyle/>
                    <a:p>
                      <a:r>
                        <a:rPr sz="1200" b="0">
                          <a:solidFill>
                            <a:srgbClr val="1F2937"/>
                          </a:solidFill>
                        </a:rPr>
                        <a:t>yuz baravargacha</a:t>
                      </a:r>
                    </a:p>
                  </a:txBody>
                  <a:tcPr marL="73152" marR="73152" marT="36576" marB="36576">
                    <a:solidFill>
                      <a:srgbClr val="E8EEF6"/>
                    </a:solidFill>
                  </a:tcPr>
                </a:tc>
              </a:tr>
              <a:tr h="411480">
                <a:tc>
                  <a:txBody>
                    <a:bodyPr/>
                    <a:lstStyle/>
                    <a:p>
                      <a:r>
                        <a:rPr sz="1200" b="0">
                          <a:solidFill>
                            <a:srgbClr val="1F2937"/>
                          </a:solidFill>
                        </a:rPr>
                        <a:t>Istisno: mansabdor</a:t>
                      </a:r>
                    </a:p>
                  </a:txBody>
                  <a:tcPr marL="73152" marR="73152" marT="36576" marB="36576">
                    <a:solidFill>
                      <a:srgbClr val="FFFFFF"/>
                    </a:solidFill>
                  </a:tcPr>
                </a:tc>
                <a:tc>
                  <a:txBody>
                    <a:bodyPr/>
                    <a:lstStyle/>
                    <a:p>
                      <a:r>
                        <a:rPr sz="1200" b="0">
                          <a:solidFill>
                            <a:srgbClr val="1F2937"/>
                          </a:solidFill>
                        </a:rPr>
                        <a:t>—</a:t>
                      </a:r>
                    </a:p>
                  </a:txBody>
                  <a:tcPr marL="73152" marR="73152" marT="36576" marB="36576">
                    <a:solidFill>
                      <a:srgbClr val="FFFFFF"/>
                    </a:solidFill>
                  </a:tcPr>
                </a:tc>
                <a:tc>
                  <a:txBody>
                    <a:bodyPr/>
                    <a:lstStyle/>
                    <a:p>
                      <a:r>
                        <a:rPr sz="1200" b="0">
                          <a:solidFill>
                            <a:srgbClr val="1F2937"/>
                          </a:solidFill>
                        </a:rPr>
                        <a:t>yuz ellik baravargacha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Jarima chegarasi (eng kam oylik ish haqiga nisbatan)</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94, 95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Jazo qo‘llash muddatlari va ko‘rib chiqish organlari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Jazo huquqbuzarlik sodir etilgan (davom etsa — aniqlangan) kundan ikki oydan kechiktirmay qo‘llanadi.</a:t>
            </a:r>
          </a:p>
          <a:p>
            <a:pPr>
              <a:spcAft>
                <a:spcPts val="800"/>
              </a:spcAft>
            </a:pPr>
            <a:r>
              <a:rPr sz="1800">
                <a:solidFill>
                  <a:srgbClr val="1F2937"/>
                </a:solidFill>
                <a:latin typeface="Calibri"/>
              </a:rPr>
              <a:t>▸  Ishni sudya, xo‘jalik sudi, ma’muriy komissiyalar, ichki ishlar va davlat inspeksiyalari ko‘radi.</a:t>
            </a:r>
          </a:p>
          <a:p>
            <a:pPr>
              <a:spcAft>
                <a:spcPts val="800"/>
              </a:spcAft>
            </a:pPr>
            <a:r>
              <a:rPr sz="1800">
                <a:solidFill>
                  <a:srgbClr val="1F2937"/>
                </a:solidFill>
                <a:latin typeface="Calibri"/>
              </a:rPr>
              <a:t>▸  Ular orasida Davlat sanitariya nazorati va mehnat bo‘yicha davlat nazorati inspektorlari ham bor.</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3021700"/>
                <a:gridCol w="2266275"/>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Muddat</a:t>
                      </a:r>
                    </a:p>
                  </a:txBody>
                  <a:tcPr marL="73152" marR="73152" marT="36576" marB="36576">
                    <a:solidFill>
                      <a:srgbClr val="0B1F3A"/>
                    </a:solidFill>
                  </a:tcPr>
                </a:tc>
              </a:tr>
              <a:tr h="411480">
                <a:tc>
                  <a:txBody>
                    <a:bodyPr/>
                    <a:lstStyle/>
                    <a:p>
                      <a:r>
                        <a:rPr sz="1300" b="0">
                          <a:solidFill>
                            <a:srgbClr val="1F2937"/>
                          </a:solidFill>
                        </a:rPr>
                        <a:t>Odatdagi huquqbuzarlik</a:t>
                      </a:r>
                    </a:p>
                  </a:txBody>
                  <a:tcPr marL="73152" marR="73152" marT="36576" marB="36576">
                    <a:solidFill>
                      <a:srgbClr val="E8EEF6"/>
                    </a:solidFill>
                  </a:tcPr>
                </a:tc>
                <a:tc>
                  <a:txBody>
                    <a:bodyPr/>
                    <a:lstStyle/>
                    <a:p>
                      <a:r>
                        <a:rPr sz="1300" b="0">
                          <a:solidFill>
                            <a:srgbClr val="1F2937"/>
                          </a:solidFill>
                        </a:rPr>
                        <a:t>ikki oydan kechiktirmay</a:t>
                      </a:r>
                    </a:p>
                  </a:txBody>
                  <a:tcPr marL="73152" marR="73152" marT="36576" marB="36576">
                    <a:solidFill>
                      <a:srgbClr val="E8EEF6"/>
                    </a:solidFill>
                  </a:tcPr>
                </a:tc>
              </a:tr>
              <a:tr h="411480">
                <a:tc>
                  <a:txBody>
                    <a:bodyPr/>
                    <a:lstStyle/>
                    <a:p>
                      <a:r>
                        <a:rPr sz="1300" b="0">
                          <a:solidFill>
                            <a:srgbClr val="1F2937"/>
                          </a:solidFill>
                        </a:rPr>
                        <a:t>Jinoyat ishi rad etilsa yoki to‘xtatilsa</a:t>
                      </a:r>
                    </a:p>
                  </a:txBody>
                  <a:tcPr marL="73152" marR="73152" marT="36576" marB="36576">
                    <a:solidFill>
                      <a:srgbClr val="FFFFFF"/>
                    </a:solidFill>
                  </a:tcPr>
                </a:tc>
                <a:tc>
                  <a:txBody>
                    <a:bodyPr/>
                    <a:lstStyle/>
                    <a:p>
                      <a:r>
                        <a:rPr sz="1300" b="0">
                          <a:solidFill>
                            <a:srgbClr val="1F2937"/>
                          </a:solidFill>
                        </a:rPr>
                        <a:t>qarordan boshlab bir oy ichida</a:t>
                      </a:r>
                    </a:p>
                  </a:txBody>
                  <a:tcPr marL="73152" marR="73152" marT="36576" marB="36576">
                    <a:solidFill>
                      <a:srgbClr val="FFFFFF"/>
                    </a:solidFill>
                  </a:tcPr>
                </a:tc>
              </a:tr>
              <a:tr h="411480">
                <a:tc>
                  <a:txBody>
                    <a:bodyPr/>
                    <a:lstStyle/>
                    <a:p>
                      <a:r>
                        <a:rPr sz="1300" b="0">
                          <a:solidFill>
                            <a:srgbClr val="1F2937"/>
                          </a:solidFill>
                        </a:rPr>
                        <a:t>Bojxona organi musodarasi</a:t>
                      </a:r>
                    </a:p>
                  </a:txBody>
                  <a:tcPr marL="73152" marR="73152" marT="36576" marB="36576">
                    <a:solidFill>
                      <a:srgbClr val="E8EEF6"/>
                    </a:solidFill>
                  </a:tcPr>
                </a:tc>
                <a:tc>
                  <a:txBody>
                    <a:bodyPr/>
                    <a:lstStyle/>
                    <a:p>
                      <a:r>
                        <a:rPr sz="1300" b="0">
                          <a:solidFill>
                            <a:srgbClr val="1F2937"/>
                          </a:solidFill>
                        </a:rPr>
                        <a:t>bu muddatlar qo‘llanmaydi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Ma’muriy jazo qo‘llash muddatlari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96, 97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ma‘muriy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ma’muriy javobgarlik qaysi yoshdan boshlanadi? Javob: huquqbuzarlik paytida o‘n olti yoshga to‘lmagan shaxslar javobgarlikka tortilmaydi.</a:t>
            </a:r>
          </a:p>
          <a:p>
            <a:pPr>
              <a:spcAft>
                <a:spcPts val="1200"/>
              </a:spcAft>
            </a:pPr>
            <a:r>
              <a:rPr sz="2000">
                <a:solidFill>
                  <a:srgbClr val="1F2937"/>
                </a:solidFill>
                <a:latin typeface="Calibri"/>
              </a:rPr>
              <a:t>▸  Savol: ma’muriy jazo turlari? Javob: jarima, ashyoni haqi to‘lab olib qo‘yish, musodara, maxsus huquqdan mahrum qilish, ma’muriy qamoq. Tibbiy xodimlarga ko‘pincha jarima solinadi.</a:t>
            </a:r>
          </a:p>
          <a:p>
            <a:pPr>
              <a:spcAft>
                <a:spcPts val="1200"/>
              </a:spcAft>
            </a:pPr>
            <a:r>
              <a:rPr sz="2000">
                <a:solidFill>
                  <a:srgbClr val="1F2937"/>
                </a:solidFill>
                <a:latin typeface="Calibri"/>
              </a:rPr>
              <a:t>▸  Diqqat: jarima fuqaroga eng kam oylik ish haqining 1/50 qismidan 5 baravarigacha, mansabdor shaxsga 1/10 qismidan 10 baravarigacha solinadi.</a:t>
            </a:r>
          </a:p>
          <a:p>
            <a:pPr>
              <a:spcAft>
                <a:spcPts val="1200"/>
              </a:spcAft>
            </a:pPr>
            <a:r>
              <a:rPr sz="2000">
                <a:solidFill>
                  <a:srgbClr val="1F2937"/>
                </a:solidFill>
                <a:latin typeface="Calibri"/>
              </a:rPr>
              <a:t>▸  Savol: qasd bilan ehtiyotsizlik farqi? Qasdda shaxs g‘ayriqonuniyligini biladi, oqibatni istaydi yoki ongli yo‘l qo‘yadi; ehtiyotsizlikda oqibatni oldindan ko‘rmaydi yoki oldini olaman deb o‘ylaydi.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94, 95, 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Bayonnoma va javobgarlikka tortilayotgan shaxs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Bayonnomada sana, joy, huquqbuzarlik mohiyati, me’yoriy hujjat va tushuntirish xati ko‘rsatiladi.</a:t>
            </a:r>
          </a:p>
          <a:p>
            <a:pPr>
              <a:spcAft>
                <a:spcPts val="800"/>
              </a:spcAft>
            </a:pPr>
            <a:r>
              <a:rPr sz="1800">
                <a:solidFill>
                  <a:srgbClr val="1F2937"/>
                </a:solidFill>
                <a:latin typeface="Calibri"/>
              </a:rPr>
              <a:t>▸  Ma’muriy javobgarlik kodeksi 294-moddasi: ish bilan tanishish, advokat, tarjimon, shikoyat huquqi.</a:t>
            </a:r>
          </a:p>
          <a:p>
            <a:pPr>
              <a:spcAft>
                <a:spcPts val="800"/>
              </a:spcAft>
            </a:pPr>
            <a:r>
              <a:rPr sz="1800">
                <a:solidFill>
                  <a:srgbClr val="1F2937"/>
                </a:solidFill>
                <a:latin typeface="Calibri"/>
              </a:rPr>
              <a:t>▸  Ish shaxs ishtirokida ko‘riladi; jabrlanuvchi ham huquqlarga ega; zarur bo‘lsa ekspertiza tayinlanadi.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Surishtiruv natijasi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Bayonnoma tuziladi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Imzolash (bosh tortsa — yozuv)</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Shaxs ishtirokida ko‘rish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Qaror ustidan shikoyat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 yuritish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97, 98, 98-99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xodimlar faoliyatidagi ma‘muriy huquqbuzarliklar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Tuxmat, haqorat kabi huquqbuzarliklar ko‘proq muassasa rahbarlari faoliyatiga taalluqli.</a:t>
            </a:r>
          </a:p>
          <a:p>
            <a:pPr>
              <a:spcAft>
                <a:spcPts val="800"/>
              </a:spcAft>
            </a:pPr>
            <a:r>
              <a:rPr sz="1800">
                <a:solidFill>
                  <a:srgbClr val="1F2937"/>
                </a:solidFill>
                <a:latin typeface="Calibri"/>
              </a:rPr>
              <a:t>▸  52–59-moddalar bo‘yicha huquqbuzarlik subyekti boshqa fuqarolar qatori tibbiy xodim ham bo‘lishi mumkin.</a:t>
            </a:r>
          </a:p>
          <a:p>
            <a:pPr>
              <a:spcAft>
                <a:spcPts val="800"/>
              </a:spcAft>
            </a:pPr>
            <a:r>
              <a:rPr sz="1800">
                <a:solidFill>
                  <a:srgbClr val="1F2937"/>
                </a:solidFill>
                <a:latin typeface="Calibri"/>
              </a:rPr>
              <a:t>▸  Tez yordamni qasddan aldab chaqirish — fuqaro; statistik hisobotni buzish — mansabdor shaxs.</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762658"/>
                <a:gridCol w="1094063"/>
                <a:gridCol w="2431252"/>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Moddalar</a:t>
                      </a:r>
                    </a:p>
                  </a:txBody>
                  <a:tcPr marL="73152" marR="73152" marT="36576" marB="36576">
                    <a:solidFill>
                      <a:srgbClr val="0B1F3A"/>
                    </a:solidFill>
                  </a:tcPr>
                </a:tc>
                <a:tc>
                  <a:txBody>
                    <a:bodyPr/>
                    <a:lstStyle/>
                    <a:p>
                      <a:r>
                        <a:rPr sz="1300" b="1">
                          <a:solidFill>
                            <a:srgbClr val="FFFFFF"/>
                          </a:solidFill>
                        </a:rPr>
                        <a:t>Misollar</a:t>
                      </a:r>
                    </a:p>
                  </a:txBody>
                  <a:tcPr marL="73152" marR="73152" marT="36576" marB="36576">
                    <a:solidFill>
                      <a:srgbClr val="0B1F3A"/>
                    </a:solidFill>
                  </a:tcPr>
                </a:tc>
              </a:tr>
              <a:tr h="411480">
                <a:tc>
                  <a:txBody>
                    <a:bodyPr/>
                    <a:lstStyle/>
                    <a:p>
                      <a:r>
                        <a:rPr sz="1200" b="0">
                          <a:solidFill>
                            <a:srgbClr val="1F2937"/>
                          </a:solidFill>
                        </a:rPr>
                        <a:t>Fuqarolar huquqlariga tajovuz</a:t>
                      </a:r>
                    </a:p>
                  </a:txBody>
                  <a:tcPr marL="73152" marR="73152" marT="36576" marB="36576">
                    <a:solidFill>
                      <a:srgbClr val="E8EEF6"/>
                    </a:solidFill>
                  </a:tcPr>
                </a:tc>
                <a:tc>
                  <a:txBody>
                    <a:bodyPr/>
                    <a:lstStyle/>
                    <a:p>
                      <a:r>
                        <a:rPr sz="1200" b="0">
                          <a:solidFill>
                            <a:srgbClr val="1F2937"/>
                          </a:solidFill>
                        </a:rPr>
                        <a:t>40–43, 49, 51</a:t>
                      </a:r>
                    </a:p>
                  </a:txBody>
                  <a:tcPr marL="73152" marR="73152" marT="36576" marB="36576">
                    <a:solidFill>
                      <a:srgbClr val="E8EEF6"/>
                    </a:solidFill>
                  </a:tcPr>
                </a:tc>
                <a:tc>
                  <a:txBody>
                    <a:bodyPr/>
                    <a:lstStyle/>
                    <a:p>
                      <a:r>
                        <a:rPr sz="1200" b="0">
                          <a:solidFill>
                            <a:srgbClr val="1F2937"/>
                          </a:solidFill>
                        </a:rPr>
                        <a:t>Tuxmat, haqorat, davlat tili, murojaatlar</a:t>
                      </a:r>
                    </a:p>
                  </a:txBody>
                  <a:tcPr marL="73152" marR="73152" marT="36576" marB="36576">
                    <a:solidFill>
                      <a:srgbClr val="E8EEF6"/>
                    </a:solidFill>
                  </a:tcPr>
                </a:tc>
              </a:tr>
              <a:tr h="411480">
                <a:tc>
                  <a:txBody>
                    <a:bodyPr/>
                    <a:lstStyle/>
                    <a:p>
                      <a:r>
                        <a:rPr sz="1200" b="0">
                          <a:solidFill>
                            <a:srgbClr val="1F2937"/>
                          </a:solidFill>
                        </a:rPr>
                        <a:t>Aholi salomatligi</a:t>
                      </a:r>
                    </a:p>
                  </a:txBody>
                  <a:tcPr marL="73152" marR="73152" marT="36576" marB="36576">
                    <a:solidFill>
                      <a:srgbClr val="FFFFFF"/>
                    </a:solidFill>
                  </a:tcPr>
                </a:tc>
                <a:tc>
                  <a:txBody>
                    <a:bodyPr/>
                    <a:lstStyle/>
                    <a:p>
                      <a:r>
                        <a:rPr sz="1200" b="0">
                          <a:solidFill>
                            <a:srgbClr val="1F2937"/>
                          </a:solidFill>
                        </a:rPr>
                        <a:t>52–59</a:t>
                      </a:r>
                    </a:p>
                  </a:txBody>
                  <a:tcPr marL="73152" marR="73152" marT="36576" marB="36576">
                    <a:solidFill>
                      <a:srgbClr val="FFFFFF"/>
                    </a:solidFill>
                  </a:tcPr>
                </a:tc>
                <a:tc>
                  <a:txBody>
                    <a:bodyPr/>
                    <a:lstStyle/>
                    <a:p>
                      <a:r>
                        <a:rPr sz="1200" b="0">
                          <a:solidFill>
                            <a:srgbClr val="1F2937"/>
                          </a:solidFill>
                        </a:rPr>
                        <a:t>Sanitariya, epidemiya, radiatsiya qoidalari</a:t>
                      </a:r>
                    </a:p>
                  </a:txBody>
                  <a:tcPr marL="73152" marR="73152" marT="36576" marB="36576">
                    <a:solidFill>
                      <a:srgbClr val="FFFFFF"/>
                    </a:solidFill>
                  </a:tcPr>
                </a:tc>
              </a:tr>
              <a:tr h="411480">
                <a:tc>
                  <a:txBody>
                    <a:bodyPr/>
                    <a:lstStyle/>
                    <a:p>
                      <a:r>
                        <a:rPr sz="1200" b="0">
                          <a:solidFill>
                            <a:srgbClr val="1F2937"/>
                          </a:solidFill>
                        </a:rPr>
                        <a:t>Savdo va tadbirkorlik</a:t>
                      </a:r>
                    </a:p>
                  </a:txBody>
                  <a:tcPr marL="73152" marR="73152" marT="36576" marB="36576">
                    <a:solidFill>
                      <a:srgbClr val="E8EEF6"/>
                    </a:solidFill>
                  </a:tcPr>
                </a:tc>
                <a:tc>
                  <a:txBody>
                    <a:bodyPr/>
                    <a:lstStyle/>
                    <a:p>
                      <a:r>
                        <a:rPr sz="1200" b="0">
                          <a:solidFill>
                            <a:srgbClr val="1F2937"/>
                          </a:solidFill>
                        </a:rPr>
                        <a:t>164, 176 va boshq.</a:t>
                      </a:r>
                    </a:p>
                  </a:txBody>
                  <a:tcPr marL="73152" marR="73152" marT="36576" marB="36576">
                    <a:solidFill>
                      <a:srgbClr val="E8EEF6"/>
                    </a:solidFill>
                  </a:tcPr>
                </a:tc>
                <a:tc>
                  <a:txBody>
                    <a:bodyPr/>
                    <a:lstStyle/>
                    <a:p>
                      <a:r>
                        <a:rPr sz="1200" b="0">
                          <a:solidFill>
                            <a:srgbClr val="1F2937"/>
                          </a:solidFill>
                        </a:rPr>
                        <a:t>Pullik xizmat qoidalari, shartnoma intizomi</a:t>
                      </a:r>
                    </a:p>
                  </a:txBody>
                  <a:tcPr marL="73152" marR="73152" marT="36576" marB="36576">
                    <a:solidFill>
                      <a:srgbClr val="E8EEF6"/>
                    </a:solidFill>
                  </a:tcPr>
                </a:tc>
              </a:tr>
              <a:tr h="411480">
                <a:tc>
                  <a:txBody>
                    <a:bodyPr/>
                    <a:lstStyle/>
                    <a:p>
                      <a:r>
                        <a:rPr sz="1200" b="0">
                          <a:solidFill>
                            <a:srgbClr val="1F2937"/>
                          </a:solidFill>
                        </a:rPr>
                        <a:t>Boshqaruv tartibi</a:t>
                      </a:r>
                    </a:p>
                  </a:txBody>
                  <a:tcPr marL="73152" marR="73152" marT="36576" marB="36576">
                    <a:solidFill>
                      <a:srgbClr val="FFFFFF"/>
                    </a:solidFill>
                  </a:tcPr>
                </a:tc>
                <a:tc>
                  <a:txBody>
                    <a:bodyPr/>
                    <a:lstStyle/>
                    <a:p>
                      <a:r>
                        <a:rPr sz="1200" b="0">
                          <a:solidFill>
                            <a:srgbClr val="1F2937"/>
                          </a:solidFill>
                        </a:rPr>
                        <a:t>199, 215</a:t>
                      </a:r>
                    </a:p>
                  </a:txBody>
                  <a:tcPr marL="73152" marR="73152" marT="36576" marB="36576">
                    <a:solidFill>
                      <a:srgbClr val="FFFFFF"/>
                    </a:solidFill>
                  </a:tcPr>
                </a:tc>
                <a:tc>
                  <a:txBody>
                    <a:bodyPr/>
                    <a:lstStyle/>
                    <a:p>
                      <a:r>
                        <a:rPr sz="1200" b="0">
                          <a:solidFill>
                            <a:srgbClr val="1F2937"/>
                          </a:solidFill>
                        </a:rPr>
                        <a:t>Tez yordamni aldash; statistik hisobot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Huquqbuzarlik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99, 99-100, 100-101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ma‘muriy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tuman kasalxonasining mansabdor shaxsi davlat statistik hisobotini belgilangan tartibda taqdim etmadi.</a:t>
            </a:r>
          </a:p>
          <a:p>
            <a:pPr>
              <a:spcAft>
                <a:spcPts val="1200"/>
              </a:spcAft>
            </a:pPr>
            <a:r>
              <a:rPr sz="2200">
                <a:solidFill>
                  <a:srgbClr val="1F2937"/>
                </a:solidFill>
                <a:latin typeface="Calibri"/>
              </a:rPr>
              <a:t>▸  Bu qilmish ma’muriy javobgarlikka asos bo‘ladi. Huquqbuzarlik subyekti — sog‘liqni saqlash muassasasining mansabdor shaxsi.</a:t>
            </a:r>
          </a:p>
          <a:p>
            <a:pPr>
              <a:spcAft>
                <a:spcPts val="1200"/>
              </a:spcAft>
            </a:pPr>
            <a:r>
              <a:rPr sz="2200">
                <a:solidFill>
                  <a:srgbClr val="1F2937"/>
                </a:solidFill>
                <a:latin typeface="Calibri"/>
              </a:rPr>
              <a:t>▸  Mansabdor shaxsga jarima eng kam oylik ish haqining o‘ndan biridan kam emas, o‘n baravaridan ko‘p bo‘lmasligi kerak.</a:t>
            </a:r>
          </a:p>
          <a:p>
            <a:pPr>
              <a:spcAft>
                <a:spcPts val="1200"/>
              </a:spcAft>
            </a:pPr>
            <a:r>
              <a:rPr sz="2200">
                <a:solidFill>
                  <a:srgbClr val="1F2937"/>
                </a:solidFill>
                <a:latin typeface="Calibri"/>
              </a:rPr>
              <a:t>▸  Savol: bu holatda qaysi jazo turi qo‘llanadi va jazo huquqbuzarlik sodir etilgandan keyin necha oy ichida berilishi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101, 95, 94, 96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Fuqarolik huquqi: tushuncha, subyekt va obyektlar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Fuqarolik huquqi fuqarolar va tashkilotlarning mulkiy hamda unga bog‘liq nomulkiy munosabatlarini tartibga soluvchi me’yorlar tizimidir.</a:t>
            </a:r>
          </a:p>
          <a:p>
            <a:pPr>
              <a:spcAft>
                <a:spcPts val="1200"/>
              </a:spcAft>
            </a:pPr>
            <a:r>
              <a:rPr sz="2200">
                <a:solidFill>
                  <a:srgbClr val="1F2937"/>
                </a:solidFill>
                <a:latin typeface="Calibri"/>
              </a:rPr>
              <a:t>▸  Subyektlar: jismoniy shaxslar (fuqarolar, chet elliklar, fuqaroligi yo‘qlar), yuridik shaxslar, shuningdek davlat va hududiy tuzilmalar.</a:t>
            </a:r>
          </a:p>
          <a:p>
            <a:pPr>
              <a:spcAft>
                <a:spcPts val="1200"/>
              </a:spcAft>
            </a:pPr>
            <a:r>
              <a:rPr sz="2200">
                <a:solidFill>
                  <a:srgbClr val="1F2937"/>
                </a:solidFill>
                <a:latin typeface="Calibri"/>
              </a:rPr>
              <a:t>▸  Huquq layoqati — huquq va burchlarga ega bo‘lish imkoni. Muomala layoqati — o‘z harakati bilan huquq yaratish va javob bera olish.</a:t>
            </a:r>
          </a:p>
          <a:p>
            <a:pPr>
              <a:spcAft>
                <a:spcPts val="1200"/>
              </a:spcAft>
            </a:pPr>
            <a:r>
              <a:rPr sz="2200">
                <a:solidFill>
                  <a:srgbClr val="1F2937"/>
                </a:solidFill>
                <a:latin typeface="Calibri"/>
              </a:rPr>
              <a:t>▸  Obyektlar: ashyolar, pul, ishlar va xizmatlar, intellektual natijalar. Sha’ni, qadr-qimmati, ishchanlik obro‘si nomulkiy huquq bo‘lib, sud orqali himoya qilinadi.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Delikt va shartnomaviy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Delikt: zarar etkazishning o‘zi uni qoplash majburiyatini yuzaga keltiradi.</a:t>
            </a:r>
          </a:p>
          <a:p>
            <a:pPr>
              <a:spcAft>
                <a:spcPts val="800"/>
              </a:spcAft>
            </a:pPr>
            <a:r>
              <a:rPr sz="1800">
                <a:solidFill>
                  <a:srgbClr val="1F2937"/>
                </a:solidFill>
                <a:latin typeface="Calibri"/>
              </a:rPr>
              <a:t>▸  Bemor va muassasa o‘rtasida shartnoma kam o‘rnatiladi, shuning uchun tibbiyotda delikt ko‘proq uchraydi.</a:t>
            </a:r>
          </a:p>
          <a:p>
            <a:pPr>
              <a:spcAft>
                <a:spcPts val="800"/>
              </a:spcAft>
            </a:pPr>
            <a:r>
              <a:rPr sz="1800">
                <a:solidFill>
                  <a:srgbClr val="1F2937"/>
                </a:solidFill>
                <a:latin typeface="Calibri"/>
              </a:rPr>
              <a:t>▸  «Yatrogen delikt» — vrach bemorga etkazgan zararni qoplashni ko‘zda tutuvchi huquqbuzarlik (A. V. Tixomirov taklifi).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070982"/>
                <a:gridCol w="1606473"/>
                <a:gridCol w="2610519"/>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Delikt</a:t>
                      </a:r>
                    </a:p>
                  </a:txBody>
                  <a:tcPr marL="73152" marR="73152" marT="36576" marB="36576">
                    <a:solidFill>
                      <a:srgbClr val="0B1F3A"/>
                    </a:solidFill>
                  </a:tcPr>
                </a:tc>
                <a:tc>
                  <a:txBody>
                    <a:bodyPr/>
                    <a:lstStyle/>
                    <a:p>
                      <a:r>
                        <a:rPr sz="1300" b="1">
                          <a:solidFill>
                            <a:srgbClr val="FFFFFF"/>
                          </a:solidFill>
                        </a:rPr>
                        <a:t>Shartnomaviy</a:t>
                      </a:r>
                    </a:p>
                  </a:txBody>
                  <a:tcPr marL="73152" marR="73152" marT="36576" marB="36576">
                    <a:solidFill>
                      <a:srgbClr val="0B1F3A"/>
                    </a:solidFill>
                  </a:tcPr>
                </a:tc>
              </a:tr>
              <a:tr h="411480">
                <a:tc>
                  <a:txBody>
                    <a:bodyPr/>
                    <a:lstStyle/>
                    <a:p>
                      <a:r>
                        <a:rPr sz="1200" b="0">
                          <a:solidFill>
                            <a:srgbClr val="1F2937"/>
                          </a:solidFill>
                        </a:rPr>
                        <a:t>G‘ayriqonuniylik</a:t>
                      </a:r>
                    </a:p>
                  </a:txBody>
                  <a:tcPr marL="73152" marR="73152" marT="36576" marB="36576">
                    <a:solidFill>
                      <a:srgbClr val="E8EEF6"/>
                    </a:solidFill>
                  </a:tcPr>
                </a:tc>
                <a:tc>
                  <a:txBody>
                    <a:bodyPr/>
                    <a:lstStyle/>
                    <a:p>
                      <a:r>
                        <a:rPr sz="1200" b="0">
                          <a:solidFill>
                            <a:srgbClr val="1F2937"/>
                          </a:solidFill>
                        </a:rPr>
                        <a:t>Umumiy obyektiv mezonlar</a:t>
                      </a:r>
                    </a:p>
                  </a:txBody>
                  <a:tcPr marL="73152" marR="73152" marT="36576" marB="36576">
                    <a:solidFill>
                      <a:srgbClr val="E8EEF6"/>
                    </a:solidFill>
                  </a:tcPr>
                </a:tc>
                <a:tc>
                  <a:txBody>
                    <a:bodyPr/>
                    <a:lstStyle/>
                    <a:p>
                      <a:r>
                        <a:rPr sz="1200" b="0">
                          <a:solidFill>
                            <a:srgbClr val="1F2937"/>
                          </a:solidFill>
                        </a:rPr>
                        <a:t>Faqat shartnoma talabi buzilishi</a:t>
                      </a:r>
                    </a:p>
                  </a:txBody>
                  <a:tcPr marL="73152" marR="73152" marT="36576" marB="36576">
                    <a:solidFill>
                      <a:srgbClr val="E8EEF6"/>
                    </a:solidFill>
                  </a:tcPr>
                </a:tc>
              </a:tr>
              <a:tr h="411480">
                <a:tc>
                  <a:txBody>
                    <a:bodyPr/>
                    <a:lstStyle/>
                    <a:p>
                      <a:r>
                        <a:rPr sz="1200" b="0">
                          <a:solidFill>
                            <a:srgbClr val="1F2937"/>
                          </a:solidFill>
                        </a:rPr>
                        <a:t>Tibbiyotda</a:t>
                      </a:r>
                    </a:p>
                  </a:txBody>
                  <a:tcPr marL="73152" marR="73152" marT="36576" marB="36576">
                    <a:solidFill>
                      <a:srgbClr val="FFFFFF"/>
                    </a:solidFill>
                  </a:tcPr>
                </a:tc>
                <a:tc>
                  <a:txBody>
                    <a:bodyPr/>
                    <a:lstStyle/>
                    <a:p>
                      <a:r>
                        <a:rPr sz="1200" b="0">
                          <a:solidFill>
                            <a:srgbClr val="1F2937"/>
                          </a:solidFill>
                        </a:rPr>
                        <a:t>Ko‘proq uchraydi</a:t>
                      </a:r>
                    </a:p>
                  </a:txBody>
                  <a:tcPr marL="73152" marR="73152" marT="36576" marB="36576">
                    <a:solidFill>
                      <a:srgbClr val="FFFFFF"/>
                    </a:solidFill>
                  </a:tcPr>
                </a:tc>
                <a:tc>
                  <a:txBody>
                    <a:bodyPr/>
                    <a:lstStyle/>
                    <a:p>
                      <a:r>
                        <a:rPr sz="1200" b="0">
                          <a:solidFill>
                            <a:srgbClr val="1F2937"/>
                          </a:solidFill>
                        </a:rPr>
                        <a:t>Kamdan-kam o‘rnatiladi</a:t>
                      </a:r>
                    </a:p>
                  </a:txBody>
                  <a:tcPr marL="73152" marR="73152" marT="36576" marB="36576">
                    <a:solidFill>
                      <a:srgbClr val="FFFFFF"/>
                    </a:solidFill>
                  </a:tcPr>
                </a:tc>
              </a:tr>
              <a:tr h="411480">
                <a:tc>
                  <a:txBody>
                    <a:bodyPr/>
                    <a:lstStyle/>
                    <a:p>
                      <a:r>
                        <a:rPr sz="1200" b="0">
                          <a:solidFill>
                            <a:srgbClr val="1F2937"/>
                          </a:solidFill>
                        </a:rPr>
                        <a:t>Zarar hajmi</a:t>
                      </a:r>
                    </a:p>
                  </a:txBody>
                  <a:tcPr marL="73152" marR="73152" marT="36576" marB="36576">
                    <a:solidFill>
                      <a:srgbClr val="E8EEF6"/>
                    </a:solidFill>
                  </a:tcPr>
                </a:tc>
                <a:tc>
                  <a:txBody>
                    <a:bodyPr/>
                    <a:lstStyle/>
                    <a:p>
                      <a:r>
                        <a:rPr sz="1200" b="0">
                          <a:solidFill>
                            <a:srgbClr val="1F2937"/>
                          </a:solidFill>
                        </a:rPr>
                        <a:t>Umumiy qoidalar bo‘yicha</a:t>
                      </a:r>
                    </a:p>
                  </a:txBody>
                  <a:tcPr marL="73152" marR="73152" marT="36576" marB="36576">
                    <a:solidFill>
                      <a:srgbClr val="E8EEF6"/>
                    </a:solidFill>
                  </a:tcPr>
                </a:tc>
                <a:tc>
                  <a:txBody>
                    <a:bodyPr/>
                    <a:lstStyle/>
                    <a:p>
                      <a:r>
                        <a:rPr sz="1200" b="0">
                          <a:solidFill>
                            <a:srgbClr val="1F2937"/>
                          </a:solidFill>
                        </a:rPr>
                        <a:t>Deliktdan kam emas, orttirilishi mumkin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Delikt va shartnoma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103,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 uchun javobgarlik shartlari va ayb prezumpsiyasi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 xodimning aybi ikki shaklda bo‘ladi: qasddan yoki ehtiyotsizlik orqasidan (beparvolik, o‘ziga o‘ta ishonish).</a:t>
            </a:r>
          </a:p>
          <a:p>
            <a:pPr>
              <a:spcAft>
                <a:spcPts val="800"/>
              </a:spcAft>
            </a:pPr>
            <a:r>
              <a:rPr sz="1800">
                <a:solidFill>
                  <a:srgbClr val="1F2937"/>
                </a:solidFill>
                <a:latin typeface="Calibri"/>
              </a:rPr>
              <a:t>▸  Fuqarolik qonuni ayb prezumpsiyasini nazarda tutadi: jabrlanuvchi zarar etkazuvchining aybini isbotlashi shart emas.</a:t>
            </a:r>
          </a:p>
          <a:p>
            <a:pPr>
              <a:spcAft>
                <a:spcPts val="800"/>
              </a:spcAft>
            </a:pPr>
            <a:r>
              <a:rPr sz="1800">
                <a:solidFill>
                  <a:srgbClr val="1F2937"/>
                </a:solidFill>
                <a:latin typeface="Calibri"/>
              </a:rPr>
              <a:t>▸  Tibbiy yordam sifatsiz bo‘lsa, aybning yo‘qligini isbotlash kamchilikka yo‘l qo‘ygan shaxsga yuklanadi.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 etkazilgani fakti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G‘ayriqonuniy harakat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Sababiy bog‘liqlik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 etkazuvchining aybi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Zararni qoplash majburiyati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Javobgarlik yuzaga kelish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105,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Aybsiz deb topish holatlari, regress va sug‘urta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xodim aybsiz topiladi: engib bo‘lmas kuch isbotlansa; zarar bemor iltimosi yoki roziligi bilan etkazilsa; bemor qo‘pol ehtiyotsizlikka yo‘l qo‘ysa.</a:t>
            </a:r>
          </a:p>
          <a:p>
            <a:pPr>
              <a:spcAft>
                <a:spcPts val="1200"/>
              </a:spcAft>
            </a:pPr>
            <a:r>
              <a:rPr sz="2200">
                <a:solidFill>
                  <a:srgbClr val="1F2937"/>
                </a:solidFill>
                <a:latin typeface="Calibri"/>
              </a:rPr>
              <a:t>▸  Bunday bahsda tibbiy hujjatlar hal qiluvchi: asl nusxa, kundaliklardagi ma’lumotlarning to‘laqonligi, tuzatishlarning yo‘qligi.</a:t>
            </a:r>
          </a:p>
          <a:p>
            <a:pPr>
              <a:spcAft>
                <a:spcPts val="1200"/>
              </a:spcAft>
            </a:pPr>
            <a:r>
              <a:rPr sz="2200">
                <a:solidFill>
                  <a:srgbClr val="1F2937"/>
                </a:solidFill>
                <a:latin typeface="Calibri"/>
              </a:rPr>
              <a:t>▸  Fuqarolik kodeksi (FK) 989-modda: xodim vazifasini bajarayotib etkazgan zararni yuridik shaxs yoki fuqaro qoplaydi. FK 992: sug‘urta puli yetmasa, farqni javobgar to‘laydi.</a:t>
            </a:r>
          </a:p>
          <a:p>
            <a:pPr>
              <a:spcAft>
                <a:spcPts val="1200"/>
              </a:spcAft>
            </a:pPr>
            <a:r>
              <a:rPr sz="2200">
                <a:solidFill>
                  <a:srgbClr val="1F2937"/>
                </a:solidFill>
                <a:latin typeface="Calibri"/>
              </a:rPr>
              <a:t>▸  FK 1001 (regress): zararni to‘lagan muassasa to‘langan mablag‘ni xodimdan talab qilishi mumkin, ammo amalda bunday da’vo juda kam.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105-106, 106, 107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fuqarolik-huquqiy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Bemor vrachning aybini isbotlashi shartmi? Yo‘q: ayb prezumpsiyasi amal qiladi, aybsizlikni vrach o‘zi isbotlaydi.</a:t>
            </a:r>
          </a:p>
          <a:p>
            <a:pPr>
              <a:spcAft>
                <a:spcPts val="1200"/>
              </a:spcAft>
            </a:pPr>
            <a:r>
              <a:rPr sz="2200">
                <a:solidFill>
                  <a:srgbClr val="1F2937"/>
                </a:solidFill>
                <a:latin typeface="Calibri"/>
              </a:rPr>
              <a:t>▸  Savol 2: Oxirgi zarurat jinoiy javobgarlikdan ozod qilsa, zararni qoplash ham bekor bo‘ladimi? Yo‘q, zarar to‘lanishi lozim; sud majburiyatni boshqa shaxsga yuklashi mumkin.</a:t>
            </a:r>
          </a:p>
          <a:p>
            <a:pPr>
              <a:spcAft>
                <a:spcPts val="1200"/>
              </a:spcAft>
            </a:pPr>
            <a:r>
              <a:rPr sz="2200">
                <a:solidFill>
                  <a:srgbClr val="1F2937"/>
                </a:solidFill>
                <a:latin typeface="Calibri"/>
              </a:rPr>
              <a:t>▸  Savol 3: Muassasa xodim etkazgan zararni to‘lasa, pulni xodimdan talab qila oladimi? Ha, regress huquqi bor, lekin amalda kam qo‘llanadi.</a:t>
            </a:r>
          </a:p>
          <a:p>
            <a:pPr>
              <a:spcAft>
                <a:spcPts val="1200"/>
              </a:spcAft>
            </a:pPr>
            <a:r>
              <a:rPr sz="2200">
                <a:solidFill>
                  <a:srgbClr val="1F2937"/>
                </a:solidFill>
                <a:latin typeface="Calibri"/>
              </a:rPr>
              <a:t>▸  Savol 4: Zarar bemor roziligi bilan etkazilsa, nega vrach aybsiz topilishi mumkin? Bu ma’lumotli rozilik olishning naqadar muhimligini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104, 106-107, 107, 106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 turlari va da’vo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Haqiqiy zarar: davolanish, dori-darmon, sanatoriya va qo‘shimcha ovqatlanishga sarflangan xarajatlar.</a:t>
            </a:r>
          </a:p>
          <a:p>
            <a:pPr>
              <a:spcAft>
                <a:spcPts val="800"/>
              </a:spcAft>
            </a:pPr>
            <a:r>
              <a:rPr sz="1800">
                <a:solidFill>
                  <a:srgbClr val="1F2937"/>
                </a:solidFill>
                <a:latin typeface="Calibri"/>
              </a:rPr>
              <a:t>▸  Zararni qoplashda sud tibbiy-mehnat, bahsli holatda esa sud-tibbiy ekspertiza xulosasiga tayanadi.</a:t>
            </a:r>
          </a:p>
          <a:p>
            <a:pPr>
              <a:spcAft>
                <a:spcPts val="800"/>
              </a:spcAft>
            </a:pPr>
            <a:r>
              <a:rPr sz="1800">
                <a:solidFill>
                  <a:srgbClr val="1F2937"/>
                </a:solidFill>
                <a:latin typeface="Calibri"/>
              </a:rPr>
              <a:t>▸  Umumiy da’vo muddati uch yil; u huquq buzilganini bilgan kundan boshlanadi.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41095"/>
                <a:gridCol w="3646879"/>
              </a:tblGrid>
              <a:tr h="411480">
                <a:tc>
                  <a:txBody>
                    <a:bodyPr/>
                    <a:lstStyle/>
                    <a:p>
                      <a:r>
                        <a:rPr sz="1400" b="1">
                          <a:solidFill>
                            <a:srgbClr val="FFFFFF"/>
                          </a:solidFill>
                        </a:rPr>
                        <a:t>Tushuncha</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Haqiqiy zarar</a:t>
                      </a:r>
                    </a:p>
                  </a:txBody>
                  <a:tcPr marL="73152" marR="73152" marT="36576" marB="36576">
                    <a:solidFill>
                      <a:srgbClr val="E8EEF6"/>
                    </a:solidFill>
                  </a:tcPr>
                </a:tc>
                <a:tc>
                  <a:txBody>
                    <a:bodyPr/>
                    <a:lstStyle/>
                    <a:p>
                      <a:r>
                        <a:rPr sz="1300" b="0">
                          <a:solidFill>
                            <a:srgbClr val="1F2937"/>
                          </a:solidFill>
                        </a:rPr>
                        <a:t>Xarajat; mol-mulk yo‘qolishi yoki shikasti</a:t>
                      </a:r>
                    </a:p>
                  </a:txBody>
                  <a:tcPr marL="73152" marR="73152" marT="36576" marB="36576">
                    <a:solidFill>
                      <a:srgbClr val="E8EEF6"/>
                    </a:solidFill>
                  </a:tcPr>
                </a:tc>
              </a:tr>
              <a:tr h="411480">
                <a:tc>
                  <a:txBody>
                    <a:bodyPr/>
                    <a:lstStyle/>
                    <a:p>
                      <a:r>
                        <a:rPr sz="1300" b="0">
                          <a:solidFill>
                            <a:srgbClr val="1F2937"/>
                          </a:solidFill>
                        </a:rPr>
                        <a:t>Boy berilgan foyda</a:t>
                      </a:r>
                    </a:p>
                  </a:txBody>
                  <a:tcPr marL="73152" marR="73152" marT="36576" marB="36576">
                    <a:solidFill>
                      <a:srgbClr val="FFFFFF"/>
                    </a:solidFill>
                  </a:tcPr>
                </a:tc>
                <a:tc>
                  <a:txBody>
                    <a:bodyPr/>
                    <a:lstStyle/>
                    <a:p>
                      <a:r>
                        <a:rPr sz="1300" b="0">
                          <a:solidFill>
                            <a:srgbClr val="1F2937"/>
                          </a:solidFill>
                        </a:rPr>
                        <a:t>Ololmay qolgan ish haqi yoki boshqa daromad</a:t>
                      </a:r>
                    </a:p>
                  </a:txBody>
                  <a:tcPr marL="73152" marR="73152" marT="36576" marB="36576">
                    <a:solidFill>
                      <a:srgbClr val="FFFFFF"/>
                    </a:solidFill>
                  </a:tcPr>
                </a:tc>
              </a:tr>
              <a:tr h="411480">
                <a:tc>
                  <a:txBody>
                    <a:bodyPr/>
                    <a:lstStyle/>
                    <a:p>
                      <a:r>
                        <a:rPr sz="1300" b="0">
                          <a:solidFill>
                            <a:srgbClr val="1F2937"/>
                          </a:solidFill>
                        </a:rPr>
                        <a:t>Da’vo muddati</a:t>
                      </a:r>
                    </a:p>
                  </a:txBody>
                  <a:tcPr marL="73152" marR="73152" marT="36576" marB="36576">
                    <a:solidFill>
                      <a:srgbClr val="E8EEF6"/>
                    </a:solidFill>
                  </a:tcPr>
                </a:tc>
                <a:tc>
                  <a:txBody>
                    <a:bodyPr/>
                    <a:lstStyle/>
                    <a:p>
                      <a:r>
                        <a:rPr sz="1300" b="0">
                          <a:solidFill>
                            <a:srgbClr val="1F2937"/>
                          </a:solidFill>
                        </a:rPr>
                        <a:t>Uch yil (FK 150-modda)</a:t>
                      </a:r>
                    </a:p>
                  </a:txBody>
                  <a:tcPr marL="73152" marR="73152" marT="36576" marB="36576">
                    <a:solidFill>
                      <a:srgbClr val="E8EEF6"/>
                    </a:solidFill>
                  </a:tcPr>
                </a:tc>
              </a:tr>
              <a:tr h="411480">
                <a:tc>
                  <a:txBody>
                    <a:bodyPr/>
                    <a:lstStyle/>
                    <a:p>
                      <a:r>
                        <a:rPr sz="1300" b="0">
                          <a:solidFill>
                            <a:srgbClr val="1F2937"/>
                          </a:solidFill>
                        </a:rPr>
                        <a:t>Hisoblash boshi</a:t>
                      </a:r>
                    </a:p>
                  </a:txBody>
                  <a:tcPr marL="73152" marR="73152" marT="36576" marB="36576">
                    <a:solidFill>
                      <a:srgbClr val="FFFFFF"/>
                    </a:solidFill>
                  </a:tcPr>
                </a:tc>
                <a:tc>
                  <a:txBody>
                    <a:bodyPr/>
                    <a:lstStyle/>
                    <a:p>
                      <a:r>
                        <a:rPr sz="1300" b="0">
                          <a:solidFill>
                            <a:srgbClr val="1F2937"/>
                          </a:solidFill>
                        </a:rPr>
                        <a:t>Huquq buzilganini bilgan kundan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Zarar turlari va muddat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105, 109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Shartnoma asosida tibbiy yordam ko‘rsatish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Shartnoma — ikki yoki undan ko‘p shaxsning fuqarolik huquq va burchlarini vujudga keltirish haqidagi kelishuv.</a:t>
            </a:r>
          </a:p>
          <a:p>
            <a:pPr>
              <a:spcAft>
                <a:spcPts val="800"/>
              </a:spcAft>
            </a:pPr>
            <a:r>
              <a:rPr sz="1800">
                <a:solidFill>
                  <a:srgbClr val="1F2937"/>
                </a:solidFill>
                <a:latin typeface="Calibri"/>
              </a:rPr>
              <a:t>▸  Haq evaziga xizmatda ijrochi xizmat ko‘rsatadi, buyurtmachi esa uning haqini to‘laydi (FK 703-modda).</a:t>
            </a:r>
          </a:p>
          <a:p>
            <a:pPr>
              <a:spcAft>
                <a:spcPts val="800"/>
              </a:spcAft>
            </a:pPr>
            <a:r>
              <a:rPr sz="1800">
                <a:solidFill>
                  <a:srgbClr val="1F2937"/>
                </a:solidFill>
                <a:latin typeface="Calibri"/>
              </a:rPr>
              <a:t>▸  Ijrochi xizmatni bajarmasa, zararni to‘laydi, lekin xizmat bahosining ikki baravaridan oshmaydi (FK 706).</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40972"/>
                <a:gridCol w="3247002"/>
              </a:tblGrid>
              <a:tr h="411480">
                <a:tc>
                  <a:txBody>
                    <a:bodyPr/>
                    <a:lstStyle/>
                    <a:p>
                      <a:r>
                        <a:rPr sz="1400" b="1">
                          <a:solidFill>
                            <a:srgbClr val="FFFFFF"/>
                          </a:solidFill>
                        </a:rPr>
                        <a:t>Tomon</a:t>
                      </a:r>
                    </a:p>
                  </a:txBody>
                  <a:tcPr marL="73152" marR="73152" marT="36576" marB="36576">
                    <a:solidFill>
                      <a:srgbClr val="0B1F3A"/>
                    </a:solidFill>
                  </a:tcPr>
                </a:tc>
                <a:tc>
                  <a:txBody>
                    <a:bodyPr/>
                    <a:lstStyle/>
                    <a:p>
                      <a:r>
                        <a:rPr sz="1400" b="1">
                          <a:solidFill>
                            <a:srgbClr val="FFFFFF"/>
                          </a:solidFill>
                        </a:rPr>
                        <a:t>Bekor qilish sharti</a:t>
                      </a:r>
                    </a:p>
                  </a:txBody>
                  <a:tcPr marL="73152" marR="73152" marT="36576" marB="36576">
                    <a:solidFill>
                      <a:srgbClr val="0B1F3A"/>
                    </a:solidFill>
                  </a:tcPr>
                </a:tc>
              </a:tr>
              <a:tr h="411480">
                <a:tc>
                  <a:txBody>
                    <a:bodyPr/>
                    <a:lstStyle/>
                    <a:p>
                      <a:r>
                        <a:rPr sz="1300" b="0">
                          <a:solidFill>
                            <a:srgbClr val="1F2937"/>
                          </a:solidFill>
                        </a:rPr>
                        <a:t>Buyurtmachi</a:t>
                      </a:r>
                    </a:p>
                  </a:txBody>
                  <a:tcPr marL="73152" marR="73152" marT="36576" marB="36576">
                    <a:solidFill>
                      <a:srgbClr val="E8EEF6"/>
                    </a:solidFill>
                  </a:tcPr>
                </a:tc>
                <a:tc>
                  <a:txBody>
                    <a:bodyPr/>
                    <a:lstStyle/>
                    <a:p>
                      <a:r>
                        <a:rPr sz="1300" b="0">
                          <a:solidFill>
                            <a:srgbClr val="1F2937"/>
                          </a:solidFill>
                        </a:rPr>
                        <a:t>Xizmat bahosini to‘liq to‘lasa</a:t>
                      </a:r>
                    </a:p>
                  </a:txBody>
                  <a:tcPr marL="73152" marR="73152" marT="36576" marB="36576">
                    <a:solidFill>
                      <a:srgbClr val="E8EEF6"/>
                    </a:solidFill>
                  </a:tcPr>
                </a:tc>
              </a:tr>
              <a:tr h="411480">
                <a:tc>
                  <a:txBody>
                    <a:bodyPr/>
                    <a:lstStyle/>
                    <a:p>
                      <a:r>
                        <a:rPr sz="1300" b="0">
                          <a:solidFill>
                            <a:srgbClr val="1F2937"/>
                          </a:solidFill>
                        </a:rPr>
                        <a:t>Ijrochi</a:t>
                      </a:r>
                    </a:p>
                  </a:txBody>
                  <a:tcPr marL="73152" marR="73152" marT="36576" marB="36576">
                    <a:solidFill>
                      <a:srgbClr val="FFFFFF"/>
                    </a:solidFill>
                  </a:tcPr>
                </a:tc>
                <a:tc>
                  <a:txBody>
                    <a:bodyPr/>
                    <a:lstStyle/>
                    <a:p>
                      <a:r>
                        <a:rPr sz="1300" b="0">
                          <a:solidFill>
                            <a:srgbClr val="1F2937"/>
                          </a:solidFill>
                        </a:rPr>
                        <a:t>Buyurtmachi zararini to‘liq to‘lasa</a:t>
                      </a:r>
                    </a:p>
                  </a:txBody>
                  <a:tcPr marL="73152" marR="73152" marT="36576" marB="36576">
                    <a:solidFill>
                      <a:srgbClr val="FFFFFF"/>
                    </a:solidFill>
                  </a:tcPr>
                </a:tc>
              </a:tr>
              <a:tr h="411480">
                <a:tc>
                  <a:txBody>
                    <a:bodyPr/>
                    <a:lstStyle/>
                    <a:p>
                      <a:r>
                        <a:rPr sz="1300" b="0">
                          <a:solidFill>
                            <a:srgbClr val="1F2937"/>
                          </a:solidFill>
                        </a:rPr>
                        <a:t>Ijrochi aybi bilan</a:t>
                      </a:r>
                    </a:p>
                  </a:txBody>
                  <a:tcPr marL="73152" marR="73152" marT="36576" marB="36576">
                    <a:solidFill>
                      <a:srgbClr val="E8EEF6"/>
                    </a:solidFill>
                  </a:tcPr>
                </a:tc>
                <a:tc>
                  <a:txBody>
                    <a:bodyPr/>
                    <a:lstStyle/>
                    <a:p>
                      <a:r>
                        <a:rPr sz="1300" b="0">
                          <a:solidFill>
                            <a:srgbClr val="1F2937"/>
                          </a:solidFill>
                        </a:rPr>
                        <a:t>Baho to‘lash sharti qo‘llanmaydi</a:t>
                      </a:r>
                    </a:p>
                  </a:txBody>
                  <a:tcPr marL="73152" marR="73152" marT="36576" marB="36576">
                    <a:solidFill>
                      <a:srgbClr val="E8EEF6"/>
                    </a:solidFill>
                  </a:tcPr>
                </a:tc>
              </a:tr>
              <a:tr h="411480">
                <a:tc>
                  <a:txBody>
                    <a:bodyPr/>
                    <a:lstStyle/>
                    <a:p>
                      <a:r>
                        <a:rPr sz="1300" b="0">
                          <a:solidFill>
                            <a:srgbClr val="1F2937"/>
                          </a:solidFill>
                        </a:rPr>
                        <a:t>Buyurtmachi aybi bilan</a:t>
                      </a:r>
                    </a:p>
                  </a:txBody>
                  <a:tcPr marL="73152" marR="73152" marT="36576" marB="36576">
                    <a:solidFill>
                      <a:srgbClr val="FFFFFF"/>
                    </a:solidFill>
                  </a:tcPr>
                </a:tc>
                <a:tc>
                  <a:txBody>
                    <a:bodyPr/>
                    <a:lstStyle/>
                    <a:p>
                      <a:r>
                        <a:rPr sz="1300" b="0">
                          <a:solidFill>
                            <a:srgbClr val="1F2937"/>
                          </a:solidFill>
                        </a:rPr>
                        <a:t>Zarar to‘lash sharti qo‘llanmaydi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Shartnomani bekor qilish (FK 707)</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109, 109-110, 110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Ma’naviy zararni qoplash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Ma’naviy zarar — shaxsiy nomulkiy huquqlarga yoki nomoddiy ne’matlarga tajovuz oqibatidagi jismoniy va ma’naviy azoblanish (FK 1021).</a:t>
            </a:r>
          </a:p>
          <a:p>
            <a:pPr>
              <a:spcAft>
                <a:spcPts val="1200"/>
              </a:spcAft>
            </a:pPr>
            <a:r>
              <a:rPr sz="2200">
                <a:solidFill>
                  <a:srgbClr val="1F2937"/>
                </a:solidFill>
                <a:latin typeface="Calibri"/>
              </a:rPr>
              <a:t>▸  U pul bilan qoplanadi. Sud miqdorni azob xarakteri, holat tafsilotlari, jabrlanuvchi xususiyatlari va ayb darajasiga qarab, oqilona va adolatli belgilaydi.</a:t>
            </a:r>
          </a:p>
          <a:p>
            <a:pPr>
              <a:spcAft>
                <a:spcPts val="1200"/>
              </a:spcAft>
            </a:pPr>
            <a:r>
              <a:rPr sz="2200">
                <a:solidFill>
                  <a:srgbClr val="1F2937"/>
                </a:solidFill>
                <a:latin typeface="Calibri"/>
              </a:rPr>
              <a:t>▸  Ma’naviy zarar mulkiy zararga bog‘liq emas. Qo‘pollik, hurmatsizlik va shifokor sirini oshkor etish ham unga asos bo‘lishi mumkin.</a:t>
            </a:r>
          </a:p>
          <a:p>
            <a:pPr>
              <a:spcAft>
                <a:spcPts val="1200"/>
              </a:spcAft>
            </a:pPr>
            <a:r>
              <a:rPr sz="2200">
                <a:solidFill>
                  <a:srgbClr val="1F2937"/>
                </a:solidFill>
                <a:latin typeface="Calibri"/>
              </a:rPr>
              <a:t>▸  Statsionarda davolanayotgan bemorning vasiyatnomasini bosh vrach, davolash bo‘yicha o‘rinbosar yoki navbatchi vrach tasdiqlasa, u notarial tasdiqlanganga tenglashadi (FK 1126).</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111, 111-112, 112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“Iste’molchilar huquqlarini himoya qilish” Qonuni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Qonun 1996 yilda qabul qilingan. Unda tibbiy xodim yoki muassasa xizmat ijrochisi, bemor esa iste’molchi hisoblanadi.</a:t>
            </a:r>
          </a:p>
          <a:p>
            <a:pPr>
              <a:spcAft>
                <a:spcPts val="1200"/>
              </a:spcAft>
            </a:pPr>
            <a:r>
              <a:rPr sz="2200">
                <a:solidFill>
                  <a:srgbClr val="1F2937"/>
                </a:solidFill>
                <a:latin typeface="Calibri"/>
              </a:rPr>
              <a:t>▸  4-modda: iste’molchi xizmat va ijrochi haqida to‘liq ma’lumot oladi, xizmatni erkin tanlaydi, sifatli va xavfsiz xizmat hamda zararning qoplanishini talab qiladi.</a:t>
            </a:r>
          </a:p>
          <a:p>
            <a:pPr>
              <a:spcAft>
                <a:spcPts val="1200"/>
              </a:spcAft>
            </a:pPr>
            <a:r>
              <a:rPr sz="2200">
                <a:solidFill>
                  <a:srgbClr val="1F2937"/>
                </a:solidFill>
                <a:latin typeface="Calibri"/>
              </a:rPr>
              <a:t>▸  20-modda: xizmat nuqsoni tufayli hayot, sog‘liq yoki mulkka yetgan zararni ijrochi qoplaydi, shartnoma bo‘lmasa ham. Engib bo‘lmas kuch yoki iste’molchi aybi isbotlansa, ozod bo‘ladi.</a:t>
            </a:r>
          </a:p>
          <a:p>
            <a:pPr>
              <a:spcAft>
                <a:spcPts val="1200"/>
              </a:spcAft>
            </a:pPr>
            <a:r>
              <a:rPr sz="2200">
                <a:solidFill>
                  <a:srgbClr val="1F2937"/>
                </a:solidFill>
                <a:latin typeface="Calibri"/>
              </a:rPr>
              <a:t>▸  22-modda: ijrochi aybdor topilsa, moddiy zarardan qat’i nazar ma’naviy zarar uchun ham to‘laydi. To‘lov miqdorini sud belgilaydi.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112-113, 113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fuqarolik-huquqiy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Faraziy vaziyat: bemor muolajadan keyin sog‘lig‘i yomonlashganini aytib, davolanish xarajati, ololmagan ish haqi va ma’naviy zararni talab qildi.</a:t>
            </a:r>
          </a:p>
          <a:p>
            <a:pPr>
              <a:spcAft>
                <a:spcPts val="1200"/>
              </a:spcAft>
            </a:pPr>
            <a:r>
              <a:rPr sz="2200">
                <a:solidFill>
                  <a:srgbClr val="1F2937"/>
                </a:solidFill>
                <a:latin typeface="Calibri"/>
              </a:rPr>
              <a:t>▸  Dori va davolanish xarajatlari haqiqiy zarar, ololmagan ish haqi esa boy berilgan foyda hisoblanadi. Nizoda sud sud-tibbiy ekspertizaga tayanadi.</a:t>
            </a:r>
          </a:p>
          <a:p>
            <a:pPr>
              <a:spcAft>
                <a:spcPts val="1200"/>
              </a:spcAft>
            </a:pPr>
            <a:r>
              <a:rPr sz="2200">
                <a:solidFill>
                  <a:srgbClr val="1F2937"/>
                </a:solidFill>
                <a:latin typeface="Calibri"/>
              </a:rPr>
              <a:t>▸  Zarar etkazuvchining aybi taxmin qilinadi: aybsizligini isbotlash klinikaga yuklanadi. Shuning uchun asl nusxadagi, to‘liq va to‘g‘rilashsiz tibbiy hujjat muhim.</a:t>
            </a:r>
          </a:p>
          <a:p>
            <a:pPr>
              <a:spcAft>
                <a:spcPts val="1200"/>
              </a:spcAft>
            </a:pPr>
            <a:r>
              <a:rPr sz="2200">
                <a:solidFill>
                  <a:srgbClr val="1F2937"/>
                </a:solidFill>
                <a:latin typeface="Calibri"/>
              </a:rPr>
              <a:t>▸  Savol: klinika qaysi uch holatda aybsiz topiladi? Qo‘pol munosabat moddiy zarar bo‘lmasa ham ma’naviy zarar asosi bo‘ladimi?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104-105, 104-106, 106, 111-112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uch javobgarlikni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Intizomiy: mehnat intizomi buzilsa, ish beruvchi hayfsan, o‘rtacha oylik ish haqining 30 foizigacha jarima yoki shartnomani bekor qilish qo‘llaydi. Jazo qilmish aniqlangandan bir oy ichida qo‘llanadi.</a:t>
            </a:r>
          </a:p>
          <a:p>
            <a:pPr>
              <a:spcAft>
                <a:spcPts val="1200"/>
              </a:spcAft>
            </a:pPr>
            <a:r>
              <a:rPr sz="2200">
                <a:solidFill>
                  <a:srgbClr val="1F2937"/>
                </a:solidFill>
                <a:latin typeface="Calibri"/>
              </a:rPr>
              <a:t>▸  Ma’muriy: tibbiy xodimlarga ko‘pincha jarima solinadi. Sanitariya va epidemiyaga qarshi qoidalar buzilishi misol; javobgarlik 16 yoshdan boshlanadi.</a:t>
            </a:r>
          </a:p>
          <a:p>
            <a:pPr>
              <a:spcAft>
                <a:spcPts val="1200"/>
              </a:spcAft>
            </a:pPr>
            <a:r>
              <a:rPr sz="2200">
                <a:solidFill>
                  <a:srgbClr val="1F2937"/>
                </a:solidFill>
                <a:latin typeface="Calibri"/>
              </a:rPr>
              <a:t>▸  Fuqarolik: maqsad zararni qoplash. Ayb taxmin qilinadi, umumiy da’vo muddati uch yil.</a:t>
            </a:r>
          </a:p>
          <a:p>
            <a:pPr>
              <a:spcAft>
                <a:spcPts val="1200"/>
              </a:spcAft>
            </a:pPr>
            <a:r>
              <a:rPr sz="2200">
                <a:solidFill>
                  <a:srgbClr val="1F2937"/>
                </a:solidFill>
                <a:latin typeface="Calibri"/>
              </a:rPr>
              <a:t>▸  Diqqat: boshqa turdagi javobgarlikka tortilish zararni qoplashdan ozod etmaydi. Amaliyotda ma’lumotli rozilik va to‘liq hujjat himoya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Vrach faoliyatining huquqiy asoslari: darslik, betlar: 90, 93-94, 104, 109, 104, 106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Tibbiy xodimlarning ish vaqti boshqalarnikidan qisqa. Odatda hafta 40 soat, tibbiy xodimlarda esa 36 soatdan oshmaydi. Sababi: ish yuqori his-hayajon, aqliy zo‘riqish va asab tarangligi bilan bog‘liq.</a:t>
            </a:r>
          </a:p>
          <a:p>
            <a:pPr>
              <a:spcAft>
                <a:spcPts val="1200"/>
              </a:spcAft>
            </a:pPr>
            <a:r>
              <a:rPr sz="1800">
                <a:solidFill>
                  <a:srgbClr val="1F2937"/>
                </a:solidFill>
                <a:latin typeface="Calibri"/>
              </a:rPr>
              <a:t>▸  Eslab qolish usuli: intizomiy jazo muddatlari «1–6–2–1». Jazo qilmish aniqlangandan 1 oy ichida qo‘llanadi. Qilmishdan 6 oy o‘tsa, qo‘llab bo‘lmaydi. Taftishda aniqlansa, chegara 2 yil. Jazoning amal qilish muddati 1 yil.</a:t>
            </a:r>
          </a:p>
          <a:p>
            <a:pPr>
              <a:spcAft>
                <a:spcPts val="1200"/>
              </a:spcAft>
            </a:pPr>
            <a:r>
              <a:rPr sz="1800">
                <a:solidFill>
                  <a:srgbClr val="1F2937"/>
                </a:solidFill>
                <a:latin typeface="Calibri"/>
              </a:rPr>
              <a:t>▸  Hodisa tahlili: bemor vrachni zarar yetkazganlikda ayblaydi. Fuqarolik huquqida ayb taxmin qilinadi: vrach o‘z harakati qonuniy va aybsiz ekanini isbotlamaguncha aybdor hisoblanadi. Shuning uchun tibbiy hujjatlarning to‘liq va to‘g‘ri yuritilishi muhim. «Yatrogen delikt» atamasini A. V. Tixomirov taklif etgan.</a:t>
            </a:r>
          </a:p>
          <a:p>
            <a:pPr>
              <a:spcAft>
                <a:spcPts val="1200"/>
              </a:spcAft>
            </a:pPr>
            <a:r>
              <a:rPr sz="1800">
                <a:solidFill>
                  <a:srgbClr val="1F2937"/>
                </a:solidFill>
                <a:latin typeface="Calibri"/>
              </a:rPr>
              <a:t>▸  Eslab qolish usuli: ish beruvchi bekor qilishda ogohlantirish muddati sababga bog‘liq. Shtat qisqarishi yoki korxona tugatilsa, kamida 2 oy oldin. Malaka yoki sog‘liq sababli noloyiq bo‘lsa, kamida 2 hafta oldin. Muntazam yoki qo‘pol buzishda 3 kun oldin. Xodim o‘z tashabbusi bilan ketsa, 2 hafta oldin yozma ogohlantiradi.</a:t>
            </a:r>
          </a:p>
          <a:p>
            <a:pPr>
              <a:spcAft>
                <a:spcPts val="1200"/>
              </a:spcAft>
            </a:pPr>
            <a:r>
              <a:rPr sz="1800">
                <a:solidFill>
                  <a:srgbClr val="1F2937"/>
                </a:solidFill>
                <a:latin typeface="Calibri"/>
              </a:rPr>
              <a:t>▸  Diqqat: oxirgi zarurat holatida yetkazilgan zarar ma’muriy javobgarlikni keltirib chiqarmaydi. Ammo fuqarolik huquqida bu zararni qoplashdan ozod qilish uchun avtomatik asos emas. Sud to‘lov majburiyatini zarar yetkazgan shaxsga yoki manfaati ko‘zlangan uchinchi shaxsga yuklashi yoki ikkalasini ham ozod qilishi mumkin.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Bosh vrach navbatchi hamshiraga, ishlamasa jazolayman deb qo‘rqitib, qo‘shimcha ish topshirdi. Bu holat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Majburiy mehnat bo‘lib, qonun uni taqiqlaydi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Intizomiy jazo bo‘lib, qonun uni ruxsat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O‘rinbosarlik bo‘lib, qonun uni ruxsat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Ish beruvchining odatiy huquqi, taqiq yo‘q</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Vrach bilan tuzilgan mehnat shartnomasida amal qilish muddati ko‘rsatilmagan. Shartnoma qanday muddatga tuzilgan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yilga tuzilgan shartnoma deb hisoblanadi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Nomuayyan muddatga tuzilgan deb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Besh yilga tuzilgan shartnoma deb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Sinov muddatiga tuzilgan deb hisoblanadi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Klinikaga homilador shifokor ishga qabul qilinmoqda. Unga dastlabki sinov belgilanishi mumkinmi?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 uch oygacha sinov belgilanishi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 faqat ish beruvchi xohlasa belgilanadi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Yo‘q, homilador ayolga sinov belgilanmaydi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 bir oylik sinov majburiy belgilanadi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Ishga qabul qilishda belgilanadigan dastlabki sinov muddati eng ko‘pi bilan qancha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oydan ortiq bo‘lmagan muddat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 oydan ortiq bo‘lmagan muddat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Olti oydan ortiq bo‘lmagan muddat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Uch oydan ortiq bo‘lmagan muddat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Poliklinikada jamoa shartnomasi tuzilmoqda. Xodimlar nomidan shartnomaning tomoni sifatida kim ishtirok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ish beruvchining o‘zi ishtirok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Kasaba uyushmasi yoki vakolat bergan vakillik organi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sog‘liqni saqlash vazirligi ishtirok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Har bir xodim alohida-alohida ishtirok etadi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Poliklinika vrachi ish vaqti qisqartirilgan xodimlar toifasiga kiradi (ishi yuqori asab tarangligi bilan bog‘liq). Qonunchilikka ko‘ra uning ish vaqti haftasiga necha soatdan oshmaydi?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Haftasiga 40 soatdan oshmaydi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Haftasiga 36 soatdan oshmaydi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Haftasiga 48 soatdan oshmaydi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Haftasiga 30 soatdan oshmaydi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Vrach o‘z ixtiyori bilan ishdan ketmoqchi (shartnoma muddatsiz). U ish beruvchini qancha oldin va qanday shaklda ogohlantirishi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Ikki hafta oldin yozma ravishda ogohlantiradi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 kun oldin yozma ravishda ogohlantiradi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 oy oldin yozma ravishda ogohlantiradi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 oy oldin yozma ravishda ogohlantiradi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Vrach o‘z kasalxonasidagi asosiy ishidan bo‘sh vaqtida boshqa klinikada shartnoma asosida haq evaziga ishlaydi. Bu qanday ish turi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Ichki o‘rindoshlik asosida ishlash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O‘rinbosarlik asosida ishlash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necha kasbda ishlash turi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Tashqi o‘rindoshlik asosida ishlash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Hamshira xavfli sharoitda ishlaydi va davriy tibbiy ko‘rikdan o‘tishni rad etdi. Qonunchilikka ko‘ra bu holatda nima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Ko‘rik ixtiyoriy bo‘lgani uchun ish davom ettiriladi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Ko‘rik xarajati xodimdan undirilib, ko‘rik majburlanadi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Xodimni ishdan chetlatish uchun asos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Mehnat shartnomasi o‘z-o‘zidan bekor bo‘ladi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Kasalxonada xodimning intizomiy qilmishi aniqlandi. Qilmish aniqlangandan keyin intizomiy jazo qo‘llash uchun umumiy muddat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Aniqlangandan bir oy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Aniqlangandan olti oy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Aniqlangandan bir yil ichida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Aniqlangandan ikki yil ichida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muolajada xavfsizlik qoidasini buzdi. U zarar bo‘lishi mumkinligini oldindan ko‘rdi, lekin yengiltaklik bilan oldini olaman deb o‘yladi. Bu huquqbuzarlik qaysi ayb shaklida sodir etilgan?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Qasddan sodir etilgan huquqbuzarlik deb baholanadi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Oxirgi zarurat holatida sodir etilgan harakat sanaladi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Ehtiyotsizlik orqasida sodir etilgan huquqbuzarlik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 ahamiyatli huquqbuzarlik sifatida baholanadi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Tibbiy xodim fuqaro sifatida ma’muriy jarimaga tortilmoqda. Jarimaning eng ko‘p miqdori odatda eng kam oylik ish haqining necha baravaridan oshmasligi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Besh baravaridan oshmasligi kerak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 baravaridan oshmasligi kerak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 baravaridan oshmasligi kerak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Yuz baravaridan oshmasligi kerak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Muassasada ma’muriy huquqbuzarlik sodir etildi, jinoyat ishi bilan bog‘liq qaror yo‘q. Ma’muriy jazo huquqbuzarlik sodir etilgan kundan boshlab qancha muddatdan kechiktirmay qo‘llanadi?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oydan kechiktirmay qo‘llanadi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Olti oydan kechiktirmay qo‘llanadi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yildan kechiktirmay qo‘llanadi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Ikki oydan kechiktirmay qo‘llanadi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Ma’muriy huquqbuzarlik bayonnomasi tuzilganda huquqbuzar imzo qo‘yishdan bosh tortdi. Bayonnoma tuzuvchi shaxs nima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Bayonnoma haqiqiy emas deb hisoblanadi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Bayonnomaga bu haqda yozib qo‘yiladi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Ish darhol to‘xtatilib, arxivga topshiriladi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Imzoni guvohlar huquqbuzar o‘rniga qo‘yadi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vrach xatosi tufayli zarar ko‘rdi va tovon talab qilmoqda. Tibbiy xodimlarning kasb huquqbuzarliklarida fuqarolik javobgarligining qaysi turi ko‘proq vujudga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Shartnomaviy javobgarlik turi ko‘proq vujudga keladi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Intizomiy javobgarlik turi ko‘proq vujudga keladi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Delikt ko‘rinishidagi javobgarlik ko‘proq vujudga keladi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Ma’muriy javobgarlik turi ko‘proq vujudga keladi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davolanishdan keyin asorat yuzaga kelganini aytib, vrachni kasb vazifasini lozim darajada bajarmaslikda ayblab sudga murojaat qildi. Fuqarolik qonuniga ko‘ra isbot yuki kimda?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 vrachning aybini va harakati g‘ayriqonuniyligini isbotlashi shart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Vrach o‘z aybsizligini isbotlamaguncha aybdor deb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Aybni isbotlash yuki to‘liq sud zimmasiga yuklatiladi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Ayb faqat bemor guvohlari ko‘rsatmasi bilan aniqlanadi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Davolash muassasasi o‘z xodimining aybi bilan bemorga etkazilgan zararni to‘ladi. Muassasa keyin xodimdan nimani talab qilishi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xodimni intizomiy jazoga tortishni talab qilishi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Xodimdan hech qanday mablag‘ni qaytarishni talab qila 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To‘langan mablag‘ni xodimdan muassasa hisobiga qaytarishni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To‘langan mablag‘ning ikki baravarini xodimdan undirishni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Fuqarolik kodeksiga ko‘ra, zararni qoplash bo‘yicha umumiy da’vo muddati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Uch yil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Besh yil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 yil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 yil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Bemorga vrach qo‘pol munosabatda bo‘ldi, lekin moddiy zarar etkazilmadi. Bu holatda ma’naviy zararni qoplash masalasi qanday hal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Yo‘q, ma’naviy zarar faqat moddiy zarar isbotlansa qoplanadi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Yo‘q, qo‘pollik huquqbuzarlik emas, faqat odob masalasi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 lekin faqat jinoiy javobgarlik belgilangandan keyin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 moddiy zarar bo‘lmasa ham ma’naviy zarar qoplanishi mumkin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xususiy klinika bilan haq evaziga xizmat shartnomasi tuzdi. Xizmat tegishli darajada bajarilmadi. Ijrochi to‘laydigan zarar qaysi chegaradan oshishi mumkin emas?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Xizmat bahosining bir baravaridan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Xizmat bahosining ikki baravaridan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Xizmat bahosining uch baravaridan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Xizmat bahosining besh baravaridan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Majburiy mehnat bo‘lib, qonun uni taqiqlaydi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Biron-bir jazoni qo‘llash bilan tahdid qilib ishga majburlash majburiy mehnat hisoblanadi va taqiqlanadi. Harbiy yoki muqobil xizmat, favqulodda holat, sudning kuchga kirgan hukmi kabi qonunda ko‘rsatilgan istisnolar bu yerda mavjud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79-bet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Nomuayyan muddatga tuzilgan deb hisoblanadi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Mehnat shartnomasida amal qilish muddati ko‘rsatilmagan bo‘lsa, u nomuayyan muddatga tuzilgan deb hisoblanadi. Muayyan muddat esa besh yildan ortiq bo‘lmasligi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81-bet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Yo‘q, homilador ayolga sinov belgilanmaydi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Mehnat qonunchiligiga ko‘ra homilador ayol va uch yoshga to‘lmagan bolasi bor ayollar ishga qabul qilinganda dastlabki sinov belgilanmaydi.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82-bet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Uch oydan ortiq bo‘lmagan muddat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Dastlabki sinov uch oydan ortiq bo‘lmagan muddatga belgilanadi. Sinov tugamaguncha har bir taraf ikkinchisini uch kun oldin yozma ogohlantirib, shartnomani bekor qilishi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82-bet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Kasaba uyushmasi yoki vakolat bergan vakillik organi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Jamoa shartnomasining tomonlari: bir tarafdan kasaba uyushmalari yoki ular vakolat bergan boshqa vakillik organlari, ikkinchi tarafdan ish beruvchi yoki u vakolat bergan vakillar.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83-bet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Haftasiga 36 soatdan oshmaydi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Ishi yuqori his-hayajon, aqliy zo‘riqish va asab tarangligi bilan bog‘liq xodimlar, jumladan tibbiy xodimlar uchun ish vaqti haftasiga 36 soatdan oshmaydi. Haftasiga 40 soat esa umumiy normal muddatdir.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85-bet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Ikki hafta oldin yozma ravishda ogohlantiradi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Xodim muddatsiz va muddatli shartnomani ikki hafta oldin yozma ogohlantirib bekor qilishga haqli. Uch kun muddati esa dastlabki sinov davri uchun, ikki oy esa ish beruvchi shtatni qisqartirganda belgilanadi.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87-bet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Tashqi o‘rindoshlik asosida ishlash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Asosiy ishdan bo‘sh vaqtda boshqa muassasada haq evaziga ishlash tashqi o‘rindoshlik deyiladi. O‘z muassasasida bo‘lsa — ichki o‘rindoshlik, vaqtincha yo‘q xodim ishini bajarish — o‘rinbosarlik.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84-bet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Xodimni ishdan chetlatish uchun asos hisoblanadi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Xodimlar tibbiy ko‘rikni rad etishga haqli emas. Rad etish yoki vrach tavsiyalarini bajarmaslik ishdan chetlatishga asos bo‘ladi. Ko‘rik xarajatini esa xodimlar to‘lamaydi.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86-bet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Aniqlangandan bir oy ichida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Intizomiy jazo qilmish aniqlangandan bir oy ichida qo‘llanadi (xodimning bemorlik yoki ta’til vaqti kirmaydi). Olti oy — qilmish sodir bo‘lgandan keyingi chegara, ikki yil — taftish natijasida aniqlanganda, bir yil — jazoning amal qilish muddati.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90-bet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Ehtiyotsizlik orqasida sodir etilgan huquqbuzarlik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Shaxs zararli oqibat mumkinligini oldindan ko‘rib, yengiltaklik bilan uni oldini olish mumkin deb o‘ylasa, huquqbuzarlik ehtiyotsizlik orqasida sodir etilgan hisoblanadi. Qasdda esa shaxs oqibatni istaydi yoki ongli ravishda yo‘l qo‘yadi.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93-bet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Besh baravaridan oshmasligi kerak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Fuqarolarga jarimaning eng ko‘p miqdori eng kam oylik ish haqining besh baravaridan oshmaydi. O‘n baravar mansabdor shaxslarga tegishli. Yuz baravar faqat istisno holatlarda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95-bet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Ikki oydan kechiktirmay qo‘llanadi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Umumiy qoida bo‘yicha ma’muriy jazo sodir etilgan kundan ikki oy ichida qo‘llanadi. Bir oylik muddat esa jinoyat ishi qo‘zg‘atishni rad etish yoki ishni to‘xtatish qarori kunidan boshlanadi.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96-bet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Bayonnomaga bu haqda yozib qo‘yiladi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Huquqbuzar bayonnomani imzolashdan bosh tortsa, bayonnomaga bu haqda yozib qo‘yiladi. Shaxs imzodan bosh tortish sabablarini o‘zi ham bayon etishga haqli.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98-bet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Delikt ko‘rinishidagi javobgarlik ko‘proq vujudga keladi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Bemor va davolash muassasasi o‘rtasida shartnomaviy munosabatlar kamdan-kam o‘rnatiladi, shuning uchun tibbiy xodimlarning kasb huquqbuzarliklarida ko‘proq delikt javobgarligi yuzaga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103-bet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Vrach o‘z aybsizligini isbotlamaguncha aybdor deb hisoblanadi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Fuqarolik qonuni zarar etkazuvchining aybini taxmin qiladi (ayb prezumpsiyasi). Jabrlanuvchi aybni va g‘ayriqonuniylikni isbotlashi shart emas. Vrach aybsizligini isbotlasa, javobgarlikdan ozod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104-bet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To‘langan mablag‘ni xodimdan muassasa hisobiga qaytarishni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Fuqarolik kodeksi regress huquqini belgilaydi. O‘z xodimi etkazgan zararni to‘lagan yuridik shaxs to‘langan mablag‘ni xodimdan qaytarishni talab qilishi mumkin. Amalda bunday da’volar juda kam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107-bet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Uch yil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Umumiy da’vo muddati uch yil. U shaxs o‘z huquqi buzilganini bilgan yoki bilishi lozim bo‘lgan kundan boshlab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109-bet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Ha, moddiy zarar bo‘lmasa ham ma’naviy zarar qoplanishi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Bemorga qo‘pollik, hurmatsizlik yoki shifokor sirini oshkor etish moddiy zarardan qat’iy nazar ma’naviy zararni qoplash uchun asos bo‘lishi mumkin. Ma’naviy zarar to‘lanishi lozim bo‘lgan mulkiy zarardan qat’iy nazar qoplanadi.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111-112-bet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Xizmat bahosining ikki baravaridan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Ijrochi xizmatni bajarmasa yoki tegishli darajada bajarmasa, zararni buyurtmachiga batamom to‘laydi. Lekin to‘lov shartnomadagi xizmat bahosining ikki baravaridan oshishi mumkin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Vrach faoliyatining huquqiy asoslari: darslik, 110-bet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Vrach faoliyatining huquqiy asoslari: darslik, Toshkent: Tafakkur-Bo‘stoni (egasi taqdim etgan; yopiq foydalanish). 2012. 6-bob. Mehnat qonunchiligi va tibbiy xodimlar; bet 78-91</a:t>
            </a:r>
          </a:p>
          <a:p>
            <a:pPr>
              <a:spcAft>
                <a:spcPts val="1200"/>
              </a:spcAft>
            </a:pPr>
            <a:r>
              <a:rPr sz="2000">
                <a:solidFill>
                  <a:srgbClr val="1F2937"/>
                </a:solidFill>
                <a:latin typeface="Calibri"/>
              </a:rPr>
              <a:t>▸  G‘iyosov Z.A. Vrach faoliyatining huquqiy asoslari: darslik, Toshkent: Tafakkur-Bo‘stoni (egasi taqdim etgan; yopiq foydalanish). 2012. 7-bob. Tibbiy xodimlarning ma’muriy javobgarligi; bet 92-101</a:t>
            </a:r>
          </a:p>
          <a:p>
            <a:pPr>
              <a:spcAft>
                <a:spcPts val="1200"/>
              </a:spcAft>
            </a:pPr>
            <a:r>
              <a:rPr sz="2000">
                <a:solidFill>
                  <a:srgbClr val="1F2937"/>
                </a:solidFill>
                <a:latin typeface="Calibri"/>
              </a:rPr>
              <a:t>▸  G‘iyosov Z.A. Vrach faoliyatining huquqiy asoslari: darslik, Toshkent: Tafakkur-Bo‘stoni (egasi taqdim etgan; yopiq foydalanish). 2012. 8-bob. Tibbiy xodimlarning fuqarolik-huquqiy javobgarligi; bet 102-114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