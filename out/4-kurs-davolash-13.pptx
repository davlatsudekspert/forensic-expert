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Mashg‘ulot rejasi: avval jinsiy holatlar ekspertizasi (jins, yetuklik, bokiralik, nasl qoldirish, homiladorlik), so‘ng jinsiy jinoyatlar. Muhokama: nega tirik shaxslar ekspertizasi eng ko‘p uchraydi? Qaysi turlar bugungi mavzuga kiradi? Doskada: 4 qatorli jadvalni talabalar bilan birga chizing. Tipik xato: jinsiy holatlar (jins, bokiralik) va jinsiy jinoyatlar (zo‘rlash va h.k.) 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nasl qoldirish qobiliyatini aniqlash qaysi ishlarda kerak bo‘ladi (tan jarohatlari, nikohni bekor qilish, aliment)? Homiladorlik masalasida qaysi mutaxassis ishtirok etadi (akusher-ginekolog)? Doskada: 5 tugunli zanjirni chizib, har biriga bitta misol yozing. Tipik xato: jinsiy yetuklikni bokiralik bilan bir tushuncha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tashqi belgilarga qarab jinsni aniqlash yetarli emas? Qaysi ishlarda jinsga shubha paydo bo‘ladi? Doskada: ’jinsiy bez → tashqi jinsiy belgilar’ strelkasini chizib, nuqson bo‘lganda bu moslik buzilishini ko‘rsating. Tipik xato: tashqi jinsiy belgilar va jinsiy bez bir-biriga doim mos keladi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Chin va soxta germafroditizmni nima bilan farqlaymiz? 2) Nega tashqi belgilarga qarab jinsni aniqlash xato bo‘lishi mumkin? Doskada: uch qatorli jadvalni (chin, soxta erkak, soxta ayol) talabalar bilan birga chizing. Tipik xato: soxta erkak germafroditni tashqi belgilari sababli ayol deb hisoblash. Jinsni bezga qarab aniqlash kerak.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Tibbiy hujjatlarni qaysi mutaxassislar beradi (ginekolog, urolog, androlog, endokrinolog)? 2) Genetik jins qaysi bosqichda aniqlanadi? Doskada: 5 bosqichli zanjirni strelkalar bilan chizdiring. Tipik xato: faqat tashqi ko‘rik bilan cheklanish va laboratoriya hamda genetik tekshiruvni qoldirish.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Savollarni og‘zaki, juftlikda bering. Muhokama: tashqi belgi va jinsiy bez mos kelmasa, qaysi biri asos bo‘ladi? Doskada: ikki ustunli qisqa jadval (bez | tashqi belgi). Tipik xato: chin va soxta turni aralashtirish. Chin turda ikkala bez bor, soxta turda bitta bez bor.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yetuklik tushunchasi ayol va erkakda har xil qamrovga ega? 2) Yoshga bog‘langan javobgarlik yetuklik ekspertizasining ahamiyatini nega kamaytirgan? Doskada: ayollar va erkaklar yetukligining tarkibiy qismlarini ikki ustunda chizdiring. Tipik xato: jinsiy yetuklikni nikoh yoshi yoki jinoiy javobgarlik yoshi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raqamlar mutlaq mezon emas? 2) Akseleratsiya xulosaga qanday ta’sir qiladi? Doskada: jadvalni chizib, tos o‘lchamlarini talabalarga to‘ldirtiring. Tipik xato: eng kam ko‘rsatkichdan past qiymatni avtomatik ‘yetilmagan’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Ovulyatsiya va menstrual sikl o‘rtasidagi bog‘liqlik nimani bildiradi? 2) Bachadon nisbati buzilsa, qanday oqibat bo‘ladi? Doskada: bachadonning tana va bo‘yincha nisbatini (2/3 va 1/3) sxemada chizdiring. Tipik xato: faqat tos o‘lchamlariga tayanib, bachadon va siklni inobatga olmaslik.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Yetuklik qaysi belgilar majmuiga qarab baholanadi? 2) Nega bitta o‘lchamga tayanib bo‘lmaydi? Doskada: yetuklik belgilari ro‘yxatini (jismoniy rivojlanish, jinsiy a’zolar, ikkilamchi belgilar, tos, menstruatsiya) chizdiring. Tipik xato: talaba tos yoki bo‘y o‘lchamini mutlaq mezon deb oladi.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Parda qismlari qaysilar? 2) Soat siferblati bilan tavsiflash nima uchun qulay? Doskada: pardaning soddalashtirilgan sxemasini asos, erkin chet va teshik bilan chizdiring, soat raqamlarini qo‘ying. Tipik xato: bokiralikni faqat jinsiy aloqa bo‘lmaganligi deb tushunish; mezon asosan pardaning anatomik butunligi.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Qaysi guruh eng ko‘p uchraydi? 2) Teshigi bo‘lmagan parda qaysi guruhga kiradi? Doskada: uch guruhli jadvalni ko‘chiring va har guruhga bittadan shaklni sxematik chizing. Tipik xato: guruh nomlarini aralashtirish, masalan baxromali shaklni odatdagilar qatoriga qo‘shish.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har doim ham jinsiy aloqada defloratsiya bo‘lmaydi? 2) Parda butunligi buzilishining boshqa sabablari qaysilar? Doskada chizish: qizlik pardasi sxemasi (asos, erkin chet, teshik) va to‘liq hamda noto‘liq yoriqni ko‘rsating. Tipik xato: parda buzilgan bo‘lsa, albatta jinsiy aloqa bo‘lgan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muddatni faqat dastlabki haftalarda aniqlash mumkin? 2) Qaysi parda tezroq bitadi va nima uchun? Doskada chizish: bitish bosqichlarining vaqt chizig‘ini o‘zlari chizsin. Tipik xato: yoriq muddatini uch haftadan keyin ham aniq belgilash mumkin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Soat siferblati bo‘yicha 5–7 oralig‘i nimani bildiradi? 2) Nega talabalar fuqarolarga tezroq murojaat qilishni tushuntirishi kerak? Doskada chizish: soat siferblatli parda va 5–7 sohasini belgilang. Tipik xato: har qanday o‘yiqni yoriq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maniy uchun namunani tez olish kerak? 2) Qizlik pardasining yorilishi bilan jinsiy aloqa bir narsami? Doskada: vaqt o‘qini chizing (0-5 kun: maniy saqlanadi) va belgilarni ro‘yxat qiling. Tipik xato: talabalar yorilgan parda = aloqa bo‘lgan deb xulosa qiladi; boshqa sabablarni unutadi.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Guruhlarda ishlang. Muhokama: 1) Qaysi belgilar yoriqni tabiiy o‘yiqdan ajratadi? 2) Nega shubha bo‘lsa, tezroq sud-tibbiy ekspertga murojaat qilish kerak? Doskada: soat siferblatini chizib, 5-7 oralig‘ini belgilang. Tipik xato: chandiqlangan chetni yangi jarohat deb baholash va 3 haftalik chegarani unutish.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Impotensiya bilan urug‘lantirish qobiliyatining farqi nima? 2) Ayolda homilador bo‘lishni istisno qiluvchi qaysi holatlarni bilasiz? Doskada: jadvalni o‘zingiz qayta chizing va har katakka bittadan misol qo‘shing. Tipik xato: azospermiya va nekrospermiyani aralashtirish (birida spermatozoid umuman yo‘q, ikkinchisida harakatchan yo‘q).</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Qaysi belgilar gumonli, qaysilari ishonchli? 2) Hayzning bo‘lmasligi bitta o‘zi homiladorlikni isbotlaydimi? Doskada chizish: belgilarni ikki ustunga ajrating (gumonli / ishonchli). Tipik xato: sut bezlari o‘zgarishi yoki hayzning to‘xtashini ishonchli belgi deb hisoblash. Ishonchli belgilarga yurak urishi va ultratovushda ko‘rinadigan homila qismlari kiradi.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vaqt o‘tgani sari tug‘ruq muddatini aniq aytish qiyinlashadi? 2) Bachadon bo‘yinchasi teshigining shakli nimani ko‘rsatadi? Doskada chizish: ‘erta’ va ‘kech’ davr belgilarini ikki ro‘yxatda yozing. Tipik xato: kech davrda aniq kunni aytishga urinish; manbaga ko‘ra bu davrda faqat tug‘ruq bo‘lganini qayd etish mumkin. Diqqat: yoriqsimon teshik (tug‘gan) ≠ dumaloq teshik (tug‘magan).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Spontan va sun’iy abort qanday farqlanadi? 2) Jinoiy abortni tibbiy abortdan farqlovchi asosiy belgi nima? Doskada chizish: abort tasnifi daraxti (abort → o‘z-o‘zidan / sun’iy → tibbiy / jinoiy). Tipik xato: jinoiy abortni faqat tibbiyot muassasasidan tashqarida o‘tkaziladi deb o‘ylash; manbaga ko‘ra u muassasada ham bo‘lishi mumkin. Diqqat: tibbiy abort ≠ jinoiy abort (farq bajaruvchining tayyorgarligi va tartibda). Tibbiy abort 12 haftagacha ayolning xohishiga ko‘ra, kechroq muddatda tibbiy va ijtimoiy ko‘rsatma bilan o‘tkaziladi.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jinoiy abort tibbiy abortdan xavfliroq? 2) Usulni qaysi izlar ko‘rsatadi? Doskada: usul → iz → asorat zanjirini chizdiring. Tipik xato: abortning barcha usullarini bir xil iz qoldiradi deb o‘ylash, ya’ni usul va izni bog‘lamaslik.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Ekspert qaysi uchta masalani o‘rganadi (homiladorlik va uzilish, usul, oqibat)? 2) Mexanik va kimyoviy usul izlari qanday farqlanadi? Doskada: vaziyat bo‘yicha qaror daraxtini chizdiring. Tipik xato: abortni faqat ayolning o‘zi qilgan deb taxmin qilish; manbada tayyorgarligi yo‘q xodimlar ham sanalgan.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113-modda nega hayot yoki sog‘liqqa xavfli jinoyatlar guruhiga kiradi? 2) 119 va 120 moddalar qanday farqlanadi? Doskada: moddalarni guruhlar bo‘yicha ikki ustunga yozdiring. Tipik xato: besoqolbozlikda faqat aktiv qatnashchini javobgar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Nima uchun ekspert avval hujjatlar bilan tanishadi, so‘ng ko‘rikka o‘tadi? 2) Qo‘rqitish isbotini tibbiy belgilar bilan tasdiqlab bo‘ladimi? Doskada chizish: ekspertiza bosqichlari zanjiri (hujjatlar - so‘rov - ginekologik anamnez - ko‘rik). Tipik xato: “nomusga tegish” ni tibbiy tashxis deb o‘ylash, aslida u huquqiy tushuncha.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Nima uchun namuna olishda vaqt hal qiluvchi? 2) Ojizlik holatiga qaysi sabablar kiradi? Doskada chizish: tananing jarohat joylashadigan sohalari sxemasi (son ichki yuzasi, jinsiy a’zolar, ko‘krak, bo‘yin). Tipik xato: qizlik pardasi yorig‘i yoki qin shikastini nomusga tegishning yagona isboti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Gumondor ko‘rigi nima uchun jabrlanuvchi ko‘rigi kabi muhim? 2) Qaysi sohalardan namuna olinadi? Doskada chizish: jabrlanuvchi va gumondorda tekshiriladigan sohalar ro‘yxati (ikki ustun shaklida). Tipik xato: 118-modda (oddiy jinsiy aloqa) bilan 119-modda (og‘iz yoki orqa teshik orqali g‘ayritabiiy aloqa) 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Qaysi izlar zo‘rlikni ko‘rsatadi, qaysi biri ko‘rsatmaydi? 2) Surtma va bosmani nega imkon qadar tez olish kerak? Doskaga chizing: jabrlanuvchi tanasida jarohat va maniy izi ehtimoliy joylari sxemasi. Tipik xato: qo‘rqitishda ham jarohat bo‘ladi deb o‘ylash yoki qin shikastini faqat zo‘rlikka xos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120- va 119-moddalar farqi nimada? 2) Nega ikkala qatnashchidan ham namuna olinadi? Doskaga jadvalni ko‘chirib, har ustunni talabalar bilan to‘ldiring. Tipik xato: zo‘rlik holatida ham ikkala shaxsni javobgar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kasalliklar passiv besoqolbozlik belgilariga o‘xshab ketadi? 2) Proktolog maslahati qachon kerak? Doskaga yozing: «Kasallik belgisi ≠ passiv besoqolbozlik» va to‘rtta kasallik nomini. Tipik xato: orqa teshik sohasidagi har qanday o‘zgarishni darhol passiv aloqa izi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fahsh harakatlari jinsiy erkinlikka emas, axloqqa qarshi jinoyatlar guruhiga kiritilgan? 2) Iz topilmasa ekspert qanday xulosa qilishi mumkin? Doskada: ikki ustunli ro‘yxat – ‘harakat turlari’ va ‘mumkin bo‘lgan izlar’. Tipik xato: fahsh harakatlarini nomusga tegish bilan aralashtirish (jinsiy aloqa yoki zo‘rlik shart emas; yosh chegarasi 16).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Yuqish manbai nima uchun o‘rganiladi? 2) Tibbiyot xodimining kasbiy javobgarligi qanday holatda paydo bo‘ladi? Doskada: Jinoyat kodeksi moddalari (113, 118, 119, 120, 129) va ularning guruhlarini jadvalga yozing. Tipik xato: 113-moddani jinsiy erkinlikka qarshi jinoyat deb hisoblash – u hayot va sog‘liq uchun xavfli jinoyatlar guruhiga kiradi.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Savol talabalarga: 1) Ko‘rik tartibini bosqichma-bosqich ayting. 2) Qaysi sohalardan, qancha vaqt ichida namuna olinadi? 3) Qo‘rqitish isbotlanmasa, bu zo‘rlik bo‘lmaganini bildiradimi? Doskada: 6 bosqichli umumiy algoritm sxemasi (hodisa tafsiloti – hujjatlar – so‘rov – ko‘rik – qo‘shimcha tekshiruv – xulosa). Tipik xato: izsizlikni jinoyat bo‘lmagan deb talqin qilish va namuna olishni kechiktirish.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tibbiy hujjatlar ko‘rikdan oldin o‘rganiladi? 2) Qo‘shimcha tekshiruv qachon kerak bo‘ladi? Doskada: olti bosqichli zanjirni chizib, har bosqichga bitta misol yozing. Tipik xato: talabalar so‘rovni ko‘rikdan keyin o‘tkaziladi deb o‘ylaydi; to‘g‘ri tartib: avval hujjat, so‘ng so‘rov, undan keyin ko‘rik.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o‘zga jins ko‘rigida tergovchi xonadan chiqadi? 2) Voyaga yetmagan shaxs ko‘rigida kim ishtirok etadi? Doskada: ko‘rik ishtirokchilari jadvalini (shaxs toifasi va ishtirokchi) chizdiring. Tipik xato: ko‘rik faqat tashqi jarohat uchun deb o‘ylash va fotosurtni jarohat suratiga qorishtirish; ikkita fotosurat shaxsni tasdiqlash uchun, jarohatni suratga olish esa faqat shaxsning ruxsati bilan mumkin.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muddat omili bokiralik ekspertizasida hal qiluvchi? 2) Namunani kechiktirish natijaga qanday ta’sir qiladi? Doskada: mavzuning to‘rtta asosiy tezisini qisqa kalit so‘zlar bilan yozing. Tipik xato: uch haftadan keyin ham pardadagi yoriq muddatini aniq aytish mumkin deb o‘ylash; manbaga ko‘ra bu imkonsiz.</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Amaliy mashg’ulot: Jinsiy holat va jinsiy jinoyatlarda tirik shaxslar sud-tibbiy ekspertizasi.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tirik shaxslar ekspertizasi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Tirik shaxslar ekspertizasi amaliyotda eng ko‘p o‘tkaziladigan ekspertiza turidir.</a:t>
            </a:r>
          </a:p>
          <a:p>
            <a:pPr>
              <a:spcAft>
                <a:spcPts val="800"/>
              </a:spcAft>
            </a:pPr>
            <a:r>
              <a:rPr sz="1800">
                <a:solidFill>
                  <a:srgbClr val="1F2937"/>
                </a:solidFill>
                <a:latin typeface="Calibri"/>
              </a:rPr>
              <a:t>▸  U jinoiy, fuqarolik va ma’muriy ishlar bo‘yicha tayinlanadi.</a:t>
            </a:r>
          </a:p>
          <a:p>
            <a:pPr>
              <a:spcAft>
                <a:spcPts val="800"/>
              </a:spcAft>
            </a:pPr>
            <a:r>
              <a:rPr sz="1800">
                <a:solidFill>
                  <a:srgbClr val="1F2937"/>
                </a:solidFill>
                <a:latin typeface="Calibri"/>
              </a:rPr>
              <a:t>▸  Ekspertiza ambulatoriya, tuman, shahar, tumanlararo bo‘limlarda; ayrim hollarda davolash muassasasida o‘tadi.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41095"/>
                <a:gridCol w="3646879"/>
              </a:tblGrid>
              <a:tr h="411480">
                <a:tc>
                  <a:txBody>
                    <a:bodyPr/>
                    <a:lstStyle/>
                    <a:p>
                      <a:r>
                        <a:rPr sz="1400" b="1">
                          <a:solidFill>
                            <a:srgbClr val="FFFFFF"/>
                          </a:solidFill>
                        </a:rPr>
                        <a:t>Tur</a:t>
                      </a:r>
                    </a:p>
                  </a:txBody>
                  <a:tcPr marL="73152" marR="73152" marT="36576" marB="36576">
                    <a:solidFill>
                      <a:srgbClr val="0B1F3A"/>
                    </a:solidFill>
                  </a:tcPr>
                </a:tc>
                <a:tc>
                  <a:txBody>
                    <a:bodyPr/>
                    <a:lstStyle/>
                    <a:p>
                      <a:r>
                        <a:rPr sz="1400" b="1">
                          <a:solidFill>
                            <a:srgbClr val="FFFFFF"/>
                          </a:solidFill>
                        </a:rPr>
                        <a:t>Maqsadi</a:t>
                      </a:r>
                    </a:p>
                  </a:txBody>
                  <a:tcPr marL="73152" marR="73152" marT="36576" marB="36576">
                    <a:solidFill>
                      <a:srgbClr val="0B1F3A"/>
                    </a:solidFill>
                  </a:tcPr>
                </a:tc>
              </a:tr>
              <a:tr h="411480">
                <a:tc>
                  <a:txBody>
                    <a:bodyPr/>
                    <a:lstStyle/>
                    <a:p>
                      <a:r>
                        <a:rPr sz="1300" b="0">
                          <a:solidFill>
                            <a:srgbClr val="1F2937"/>
                          </a:solidFill>
                        </a:rPr>
                        <a:t>Tan jarohatlari</a:t>
                      </a:r>
                    </a:p>
                  </a:txBody>
                  <a:tcPr marL="73152" marR="73152" marT="36576" marB="36576">
                    <a:solidFill>
                      <a:srgbClr val="E8EEF6"/>
                    </a:solidFill>
                  </a:tcPr>
                </a:tc>
                <a:tc>
                  <a:txBody>
                    <a:bodyPr/>
                    <a:lstStyle/>
                    <a:p>
                      <a:r>
                        <a:rPr sz="1300" b="0">
                          <a:solidFill>
                            <a:srgbClr val="1F2937"/>
                          </a:solidFill>
                        </a:rPr>
                        <a:t>Xarakteri va og‘irlik darajasi</a:t>
                      </a:r>
                    </a:p>
                  </a:txBody>
                  <a:tcPr marL="73152" marR="73152" marT="36576" marB="36576">
                    <a:solidFill>
                      <a:srgbClr val="E8EEF6"/>
                    </a:solidFill>
                  </a:tcPr>
                </a:tc>
              </a:tr>
              <a:tr h="411480">
                <a:tc>
                  <a:txBody>
                    <a:bodyPr/>
                    <a:lstStyle/>
                    <a:p>
                      <a:r>
                        <a:rPr sz="1300" b="0">
                          <a:solidFill>
                            <a:srgbClr val="1F2937"/>
                          </a:solidFill>
                        </a:rPr>
                        <a:t>Jinsiy holatlar</a:t>
                      </a:r>
                    </a:p>
                  </a:txBody>
                  <a:tcPr marL="73152" marR="73152" marT="36576" marB="36576">
                    <a:solidFill>
                      <a:srgbClr val="FFFFFF"/>
                    </a:solidFill>
                  </a:tcPr>
                </a:tc>
                <a:tc>
                  <a:txBody>
                    <a:bodyPr/>
                    <a:lstStyle/>
                    <a:p>
                      <a:r>
                        <a:rPr sz="1300" b="0">
                          <a:solidFill>
                            <a:srgbClr val="1F2937"/>
                          </a:solidFill>
                        </a:rPr>
                        <a:t>Jins, bokiralik, homiladorlik va b.</a:t>
                      </a:r>
                    </a:p>
                  </a:txBody>
                  <a:tcPr marL="73152" marR="73152" marT="36576" marB="36576">
                    <a:solidFill>
                      <a:srgbClr val="FFFFFF"/>
                    </a:solidFill>
                  </a:tcPr>
                </a:tc>
              </a:tr>
              <a:tr h="411480">
                <a:tc>
                  <a:txBody>
                    <a:bodyPr/>
                    <a:lstStyle/>
                    <a:p>
                      <a:r>
                        <a:rPr sz="1300" b="0">
                          <a:solidFill>
                            <a:srgbClr val="1F2937"/>
                          </a:solidFill>
                        </a:rPr>
                        <a:t>Jinsiy jinoyatlar</a:t>
                      </a:r>
                    </a:p>
                  </a:txBody>
                  <a:tcPr marL="73152" marR="73152" marT="36576" marB="36576">
                    <a:solidFill>
                      <a:srgbClr val="E8EEF6"/>
                    </a:solidFill>
                  </a:tcPr>
                </a:tc>
                <a:tc>
                  <a:txBody>
                    <a:bodyPr/>
                    <a:lstStyle/>
                    <a:p>
                      <a:r>
                        <a:rPr sz="1300" b="0">
                          <a:solidFill>
                            <a:srgbClr val="1F2937"/>
                          </a:solidFill>
                        </a:rPr>
                        <a:t>Zo‘rlash, besoqolbozlik, fahsh harakatlari</a:t>
                      </a:r>
                    </a:p>
                  </a:txBody>
                  <a:tcPr marL="73152" marR="73152" marT="36576" marB="36576">
                    <a:solidFill>
                      <a:srgbClr val="E8EEF6"/>
                    </a:solidFill>
                  </a:tcPr>
                </a:tc>
              </a:tr>
              <a:tr h="411480">
                <a:tc>
                  <a:txBody>
                    <a:bodyPr/>
                    <a:lstStyle/>
                    <a:p>
                      <a:r>
                        <a:rPr sz="1300" b="0">
                          <a:solidFill>
                            <a:srgbClr val="1F2937"/>
                          </a:solidFill>
                        </a:rPr>
                        <a:t>Salomatlik va yosh</a:t>
                      </a:r>
                    </a:p>
                  </a:txBody>
                  <a:tcPr marL="73152" marR="73152" marT="36576" marB="36576">
                    <a:solidFill>
                      <a:srgbClr val="FFFFFF"/>
                    </a:solidFill>
                  </a:tcPr>
                </a:tc>
                <a:tc>
                  <a:txBody>
                    <a:bodyPr/>
                    <a:lstStyle/>
                    <a:p>
                      <a:r>
                        <a:rPr sz="1300" b="0">
                          <a:solidFill>
                            <a:srgbClr val="1F2937"/>
                          </a:solidFill>
                        </a:rPr>
                        <a:t>Simulyasiya, sun’iy kasallik, yosh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Jinsiy holatlar ekspertizasi: nimalar aniqlanadi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Bunday ekspertiza jinoiy ishlarni tergov qilishda ham, fuqarolik ishlarini ko‘rishda ham zarur bo‘ladi.</a:t>
            </a:r>
          </a:p>
          <a:p>
            <a:pPr>
              <a:spcAft>
                <a:spcPts val="800"/>
              </a:spcAft>
            </a:pPr>
            <a:r>
              <a:rPr sz="1800">
                <a:solidFill>
                  <a:srgbClr val="1F2937"/>
                </a:solidFill>
                <a:latin typeface="Calibri"/>
              </a:rPr>
              <a:t>▸  Jins, yetuklik, bokiralik, nasl qoldirish, homiladorlik, tug‘ruq va abort aniqlanadi.</a:t>
            </a:r>
          </a:p>
          <a:p>
            <a:pPr>
              <a:spcAft>
                <a:spcPts val="800"/>
              </a:spcAft>
            </a:pPr>
            <a:r>
              <a:rPr sz="1800">
                <a:solidFill>
                  <a:srgbClr val="1F2937"/>
                </a:solidFill>
                <a:latin typeface="Calibri"/>
              </a:rPr>
              <a:t>▸  Homiladorlik masalasi go‘dak o‘ldirish, bola o‘g‘irlash, jinoiy abort, nomusga tegish ishlarida turadi.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Jins</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Jinsiy yetuklik, bokiralik</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Nasl qoldirish qobiliyati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Homiladorlik</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Tug‘ruq va abort</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Jinsiy holatlar yo‘nalishlari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288, 293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Jinsni aniqlash: qachon va nima uchun kerak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Haqiqiy jinsni aniqlash zarurati jins noto‘g‘ri aniqlanganda, shaxsni tasdiqlovchi hujjat berishda yoki maxsus o‘quv yurtiga kirishda tug‘iladi.</a:t>
            </a:r>
          </a:p>
          <a:p>
            <a:pPr>
              <a:spcAft>
                <a:spcPts val="1200"/>
              </a:spcAft>
            </a:pPr>
            <a:r>
              <a:rPr sz="2200">
                <a:solidFill>
                  <a:srgbClr val="1F2937"/>
                </a:solidFill>
                <a:latin typeface="Calibri"/>
              </a:rPr>
              <a:t>▸  Nikohni bekor qilish, aliment undirish va jinsiy jinoyatlar tergovida shaxsning qayd etilgan jinsiga shubha bo‘lsa, ham ekspertiza o‘tkaziladi.</a:t>
            </a:r>
          </a:p>
          <a:p>
            <a:pPr>
              <a:spcAft>
                <a:spcPts val="1200"/>
              </a:spcAft>
            </a:pPr>
            <a:r>
              <a:rPr sz="2200">
                <a:solidFill>
                  <a:srgbClr val="1F2937"/>
                </a:solidFill>
                <a:latin typeface="Calibri"/>
              </a:rPr>
              <a:t>▸  Odatda tashqi jinsiy belgilar mavjud jinsiy bezga (tuxumdon yoki yorg‘oq) mos holda shakllanadi.</a:t>
            </a:r>
          </a:p>
          <a:p>
            <a:pPr>
              <a:spcAft>
                <a:spcPts val="1200"/>
              </a:spcAft>
            </a:pPr>
            <a:r>
              <a:rPr sz="2200">
                <a:solidFill>
                  <a:srgbClr val="1F2937"/>
                </a:solidFill>
                <a:latin typeface="Calibri"/>
              </a:rPr>
              <a:t>▸  Embrional davrda nuqson yuzaga kelsa, tashqi jinsiy a’zolar muayyan jinsga to‘liq mos kelmasligi mumkin; shuning uchun tekshiruv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Germafroditizm: chin va soxta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 vaqtda ikki jinsga xos jinsiy a’zolar bo‘lishi germafroditizm deb ataladi. Uning chin va soxta turlari farqlanadi.</a:t>
            </a:r>
          </a:p>
          <a:p>
            <a:pPr>
              <a:spcAft>
                <a:spcPts val="800"/>
              </a:spcAft>
            </a:pPr>
            <a:r>
              <a:rPr sz="1800">
                <a:solidFill>
                  <a:srgbClr val="1F2937"/>
                </a:solidFill>
                <a:latin typeface="Calibri"/>
              </a:rPr>
              <a:t>▸  Chin germafroditizm juda kam uchraydi. Unda spermatogenez va ovogenez alomatlari birga aniqlanadi.</a:t>
            </a:r>
          </a:p>
          <a:p>
            <a:pPr>
              <a:spcAft>
                <a:spcPts val="800"/>
              </a:spcAft>
            </a:pPr>
            <a:r>
              <a:rPr sz="1800">
                <a:solidFill>
                  <a:srgbClr val="1F2937"/>
                </a:solidFill>
                <a:latin typeface="Calibri"/>
              </a:rPr>
              <a:t>▸  Diqqat: amaliyotda soxta turi ko‘proq uchraydi. Bunda bez bir jinsga, tashqi belgilar boshqa jinsga xos bo‘ladi.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007233"/>
                <a:gridCol w="1762658"/>
                <a:gridCol w="2518083"/>
              </a:tblGrid>
              <a:tr h="411480">
                <a:tc>
                  <a:txBody>
                    <a:bodyPr/>
                    <a:lstStyle/>
                    <a:p>
                      <a:r>
                        <a:rPr sz="1300" b="1">
                          <a:solidFill>
                            <a:srgbClr val="FFFFFF"/>
                          </a:solidFill>
                        </a:rPr>
                        <a:t>Turi</a:t>
                      </a:r>
                    </a:p>
                  </a:txBody>
                  <a:tcPr marL="73152" marR="73152" marT="36576" marB="36576">
                    <a:solidFill>
                      <a:srgbClr val="0B1F3A"/>
                    </a:solidFill>
                  </a:tcPr>
                </a:tc>
                <a:tc>
                  <a:txBody>
                    <a:bodyPr/>
                    <a:lstStyle/>
                    <a:p>
                      <a:r>
                        <a:rPr sz="1300" b="1">
                          <a:solidFill>
                            <a:srgbClr val="FFFFFF"/>
                          </a:solidFill>
                        </a:rPr>
                        <a:t>Jinsiy bez</a:t>
                      </a:r>
                    </a:p>
                  </a:txBody>
                  <a:tcPr marL="73152" marR="73152" marT="36576" marB="36576">
                    <a:solidFill>
                      <a:srgbClr val="0B1F3A"/>
                    </a:solidFill>
                  </a:tcPr>
                </a:tc>
                <a:tc>
                  <a:txBody>
                    <a:bodyPr/>
                    <a:lstStyle/>
                    <a:p>
                      <a:r>
                        <a:rPr sz="1300" b="1">
                          <a:solidFill>
                            <a:srgbClr val="FFFFFF"/>
                          </a:solidFill>
                        </a:rPr>
                        <a:t>Tashqi belgi</a:t>
                      </a:r>
                    </a:p>
                  </a:txBody>
                  <a:tcPr marL="73152" marR="73152" marT="36576" marB="36576">
                    <a:solidFill>
                      <a:srgbClr val="0B1F3A"/>
                    </a:solidFill>
                  </a:tcPr>
                </a:tc>
              </a:tr>
              <a:tr h="411480">
                <a:tc>
                  <a:txBody>
                    <a:bodyPr/>
                    <a:lstStyle/>
                    <a:p>
                      <a:r>
                        <a:rPr sz="1200" b="0">
                          <a:solidFill>
                            <a:srgbClr val="1F2937"/>
                          </a:solidFill>
                        </a:rPr>
                        <a:t>Chin</a:t>
                      </a:r>
                    </a:p>
                  </a:txBody>
                  <a:tcPr marL="73152" marR="73152" marT="36576" marB="36576">
                    <a:solidFill>
                      <a:srgbClr val="E8EEF6"/>
                    </a:solidFill>
                  </a:tcPr>
                </a:tc>
                <a:tc>
                  <a:txBody>
                    <a:bodyPr/>
                    <a:lstStyle/>
                    <a:p>
                      <a:r>
                        <a:rPr sz="1200" b="0">
                          <a:solidFill>
                            <a:srgbClr val="1F2937"/>
                          </a:solidFill>
                        </a:rPr>
                        <a:t>Erkak va ayol jinsiy bezlari</a:t>
                      </a:r>
                    </a:p>
                  </a:txBody>
                  <a:tcPr marL="73152" marR="73152" marT="36576" marB="36576">
                    <a:solidFill>
                      <a:srgbClr val="E8EEF6"/>
                    </a:solidFill>
                  </a:tcPr>
                </a:tc>
                <a:tc>
                  <a:txBody>
                    <a:bodyPr/>
                    <a:lstStyle/>
                    <a:p>
                      <a:r>
                        <a:rPr sz="1200" b="0">
                          <a:solidFill>
                            <a:srgbClr val="1F2937"/>
                          </a:solidFill>
                        </a:rPr>
                        <a:t>Erkak yoki ayolga o‘xshash bo‘lishi mumkin</a:t>
                      </a:r>
                    </a:p>
                  </a:txBody>
                  <a:tcPr marL="73152" marR="73152" marT="36576" marB="36576">
                    <a:solidFill>
                      <a:srgbClr val="E8EEF6"/>
                    </a:solidFill>
                  </a:tcPr>
                </a:tc>
              </a:tr>
              <a:tr h="411480">
                <a:tc>
                  <a:txBody>
                    <a:bodyPr/>
                    <a:lstStyle/>
                    <a:p>
                      <a:r>
                        <a:rPr sz="1200" b="0">
                          <a:solidFill>
                            <a:srgbClr val="1F2937"/>
                          </a:solidFill>
                        </a:rPr>
                        <a:t>Soxta erkak</a:t>
                      </a:r>
                    </a:p>
                  </a:txBody>
                  <a:tcPr marL="73152" marR="73152" marT="36576" marB="36576">
                    <a:solidFill>
                      <a:srgbClr val="FFFFFF"/>
                    </a:solidFill>
                  </a:tcPr>
                </a:tc>
                <a:tc>
                  <a:txBody>
                    <a:bodyPr/>
                    <a:lstStyle/>
                    <a:p>
                      <a:r>
                        <a:rPr sz="1200" b="0">
                          <a:solidFill>
                            <a:srgbClr val="1F2937"/>
                          </a:solidFill>
                        </a:rPr>
                        <a:t>Yorg‘oq (spermatogenez bor)</a:t>
                      </a:r>
                    </a:p>
                  </a:txBody>
                  <a:tcPr marL="73152" marR="73152" marT="36576" marB="36576">
                    <a:solidFill>
                      <a:srgbClr val="FFFFFF"/>
                    </a:solidFill>
                  </a:tcPr>
                </a:tc>
                <a:tc>
                  <a:txBody>
                    <a:bodyPr/>
                    <a:lstStyle/>
                    <a:p>
                      <a:r>
                        <a:rPr sz="1200" b="0">
                          <a:solidFill>
                            <a:srgbClr val="1F2937"/>
                          </a:solidFill>
                        </a:rPr>
                        <a:t>Ayolga o‘xshash (kichik olat, kriptorxizm)</a:t>
                      </a:r>
                    </a:p>
                  </a:txBody>
                  <a:tcPr marL="73152" marR="73152" marT="36576" marB="36576">
                    <a:solidFill>
                      <a:srgbClr val="FFFFFF"/>
                    </a:solidFill>
                  </a:tcPr>
                </a:tc>
              </a:tr>
              <a:tr h="411480">
                <a:tc>
                  <a:txBody>
                    <a:bodyPr/>
                    <a:lstStyle/>
                    <a:p>
                      <a:r>
                        <a:rPr sz="1200" b="0">
                          <a:solidFill>
                            <a:srgbClr val="1F2937"/>
                          </a:solidFill>
                        </a:rPr>
                        <a:t>Soxta ayol</a:t>
                      </a:r>
                    </a:p>
                  </a:txBody>
                  <a:tcPr marL="73152" marR="73152" marT="36576" marB="36576">
                    <a:solidFill>
                      <a:srgbClr val="E8EEF6"/>
                    </a:solidFill>
                  </a:tcPr>
                </a:tc>
                <a:tc>
                  <a:txBody>
                    <a:bodyPr/>
                    <a:lstStyle/>
                    <a:p>
                      <a:r>
                        <a:rPr sz="1200" b="0">
                          <a:solidFill>
                            <a:srgbClr val="1F2937"/>
                          </a:solidFill>
                        </a:rPr>
                        <a:t>Tuxumdon (ovogenez bor)</a:t>
                      </a:r>
                    </a:p>
                  </a:txBody>
                  <a:tcPr marL="73152" marR="73152" marT="36576" marB="36576">
                    <a:solidFill>
                      <a:srgbClr val="E8EEF6"/>
                    </a:solidFill>
                  </a:tcPr>
                </a:tc>
                <a:tc>
                  <a:txBody>
                    <a:bodyPr/>
                    <a:lstStyle/>
                    <a:p>
                      <a:r>
                        <a:rPr sz="1200" b="0">
                          <a:solidFill>
                            <a:srgbClr val="1F2937"/>
                          </a:solidFill>
                        </a:rPr>
                        <a:t>Erkakka o‘xshash (klitor gipertrofiyasi)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Germafroditizm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Haqiqiy jinsni aniqlash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Anamnezda menstruatsiya, pollyusiya, jinsiy intilish va mutaxassislar hujjatlari hisobga olinadi.</a:t>
            </a:r>
          </a:p>
          <a:p>
            <a:pPr>
              <a:spcAft>
                <a:spcPts val="800"/>
              </a:spcAft>
            </a:pPr>
            <a:r>
              <a:rPr sz="1800">
                <a:solidFill>
                  <a:srgbClr val="1F2937"/>
                </a:solidFill>
                <a:latin typeface="Calibri"/>
              </a:rPr>
              <a:t>▸  Jinsiy bez funksiyasi klinik, laboratoriya va funksional tekshiruvlar bilan aniqlanadi.</a:t>
            </a:r>
          </a:p>
          <a:p>
            <a:pPr>
              <a:spcAft>
                <a:spcPts val="800"/>
              </a:spcAft>
            </a:pPr>
            <a:r>
              <a:rPr sz="1800">
                <a:solidFill>
                  <a:srgbClr val="1F2937"/>
                </a:solidFill>
                <a:latin typeface="Calibri"/>
              </a:rPr>
              <a:t>▸  Leykotsitlardagi xromosomalarni tekshirish genetik jinsni ko‘rsatishi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Anamnez va tibbiy hujjatlar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Antropometrik o‘lchovlar</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Tashqi va ikkilamchi belgilar</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Klinik-laborator tekshiruv</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Xromosoma: genetik jins</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Jinsni aniqlash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jins va germafroditizm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chin germafroditizmda qanday jinsiy bezlar bo‘ladi? Javob: ham erkak, ham ayol jinsiy bezlari.</a:t>
            </a:r>
          </a:p>
          <a:p>
            <a:pPr>
              <a:spcAft>
                <a:spcPts val="1200"/>
              </a:spcAft>
            </a:pPr>
            <a:r>
              <a:rPr sz="2200">
                <a:solidFill>
                  <a:srgbClr val="1F2937"/>
                </a:solidFill>
                <a:latin typeface="Calibri"/>
              </a:rPr>
              <a:t>▸  2-savol: soxta erkak germafroditizmda qaysi bez ishlaydi? Javob: yorg‘oq (spermatogenez); tashqi belgilar ayolnikiga o‘xshaydi.</a:t>
            </a:r>
          </a:p>
          <a:p>
            <a:pPr>
              <a:spcAft>
                <a:spcPts val="1200"/>
              </a:spcAft>
            </a:pPr>
            <a:r>
              <a:rPr sz="2200">
                <a:solidFill>
                  <a:srgbClr val="1F2937"/>
                </a:solidFill>
                <a:latin typeface="Calibri"/>
              </a:rPr>
              <a:t>▸  3-savol: soxta ayol germafroditizmda-chi? Javob: tuxumdon (ovogenez); tashqi belgilar erkaklarnikiga o‘xshaydi.</a:t>
            </a:r>
          </a:p>
          <a:p>
            <a:pPr>
              <a:spcAft>
                <a:spcPts val="1200"/>
              </a:spcAft>
            </a:pPr>
            <a:r>
              <a:rPr sz="2200">
                <a:solidFill>
                  <a:srgbClr val="1F2937"/>
                </a:solidFill>
                <a:latin typeface="Calibri"/>
              </a:rPr>
              <a:t>▸  4-savol: genetik jins qanday aniqlanadi? Javob: qondagi leykotsitlarda xromosomalarni tekshirish orqali.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Jinsiy yetuklik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Jinsiy yetuklik — organizm shunday rivojlanganki, salomatlik va keyingi o‘sishga zarar bermay jinsiy hayot olib borish mumkin.</a:t>
            </a:r>
          </a:p>
          <a:p>
            <a:pPr>
              <a:spcAft>
                <a:spcPts val="1200"/>
              </a:spcAft>
            </a:pPr>
            <a:r>
              <a:rPr sz="2200">
                <a:solidFill>
                  <a:srgbClr val="1F2937"/>
                </a:solidFill>
                <a:latin typeface="Calibri"/>
              </a:rPr>
              <a:t>▸  Ayollarda: jinsiy aloqa, homilador bo‘lish, homilani saqlash, tug‘ish, emizish. Erkaklarda: jinsiy aloqa qilish va urug‘lantirish qobiliyati.</a:t>
            </a:r>
          </a:p>
          <a:p>
            <a:pPr>
              <a:spcAft>
                <a:spcPts val="1200"/>
              </a:spcAft>
            </a:pPr>
            <a:r>
              <a:rPr sz="2200">
                <a:solidFill>
                  <a:srgbClr val="1F2937"/>
                </a:solidFill>
                <a:latin typeface="Calibri"/>
              </a:rPr>
              <a:t>▸  14 yoshga to‘lmaganlar jinsiy yetilmagan hisoblanadi. Yetuklik masalasi 14 yoshdan nikoh yoshigacha bo‘lgan davrda ko‘tariladi.</a:t>
            </a:r>
          </a:p>
          <a:p>
            <a:pPr>
              <a:spcAft>
                <a:spcPts val="1200"/>
              </a:spcAft>
            </a:pPr>
            <a:r>
              <a:rPr sz="2200">
                <a:solidFill>
                  <a:srgbClr val="1F2937"/>
                </a:solidFill>
                <a:latin typeface="Calibri"/>
              </a:rPr>
              <a:t>▸  Hozir amaliy ahamiyati kamaygan: Jinoyat kodeksida javobgarlik yoshga bog‘langan (118, 119-moddalar — 18 va 14 yosh; 128, 129-moddalar — 16 yosh).</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Qizlarda jinsiy yetuklik ko‘rsatkichlari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Ko‘rsatkichlar nisbiy: ba’zan kichikroq o‘lchamli ayollar ham organizmga zararsiz farzand ko‘radi.</a:t>
            </a:r>
          </a:p>
          <a:p>
            <a:pPr>
              <a:spcAft>
                <a:spcPts val="800"/>
              </a:spcAft>
            </a:pPr>
            <a:r>
              <a:rPr sz="1800">
                <a:solidFill>
                  <a:srgbClr val="1F2937"/>
                </a:solidFill>
                <a:latin typeface="Calibri"/>
              </a:rPr>
              <a:t>▸  14 yoshga to‘lmagan qizlarda akseleratsiya (jadal rivojlanish) tufayli kattaroq ko‘rsatkichlar aniqlanishi mumkin.</a:t>
            </a:r>
          </a:p>
          <a:p>
            <a:pPr>
              <a:spcAft>
                <a:spcPts val="800"/>
              </a:spcAft>
            </a:pPr>
            <a:r>
              <a:rPr sz="1800">
                <a:solidFill>
                  <a:srgbClr val="1F2937"/>
                </a:solidFill>
                <a:latin typeface="Calibri"/>
              </a:rPr>
              <a:t>▸  Odatda 16-17 yoshga kelib tosning rivojlanishi tug‘ruqning normal o‘tishiga imkon beradi.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3721167"/>
                <a:gridCol w="1566807"/>
              </a:tblGrid>
              <a:tr h="411480">
                <a:tc>
                  <a:txBody>
                    <a:bodyPr/>
                    <a:lstStyle/>
                    <a:p>
                      <a:r>
                        <a:rPr sz="1400" b="1">
                          <a:solidFill>
                            <a:srgbClr val="FFFFFF"/>
                          </a:solidFill>
                        </a:rPr>
                        <a:t>Ko‘rsatkich</a:t>
                      </a:r>
                    </a:p>
                  </a:txBody>
                  <a:tcPr marL="73152" marR="73152" marT="36576" marB="36576">
                    <a:solidFill>
                      <a:srgbClr val="0B1F3A"/>
                    </a:solidFill>
                  </a:tcPr>
                </a:tc>
                <a:tc>
                  <a:txBody>
                    <a:bodyPr/>
                    <a:lstStyle/>
                    <a:p>
                      <a:r>
                        <a:rPr sz="1400" b="1">
                          <a:solidFill>
                            <a:srgbClr val="FFFFFF"/>
                          </a:solidFill>
                        </a:rPr>
                        <a:t>Eng kam</a:t>
                      </a:r>
                    </a:p>
                  </a:txBody>
                  <a:tcPr marL="73152" marR="73152" marT="36576" marB="36576">
                    <a:solidFill>
                      <a:srgbClr val="0B1F3A"/>
                    </a:solidFill>
                  </a:tcPr>
                </a:tc>
              </a:tr>
              <a:tr h="411480">
                <a:tc>
                  <a:txBody>
                    <a:bodyPr/>
                    <a:lstStyle/>
                    <a:p>
                      <a:r>
                        <a:rPr sz="1300" b="0">
                          <a:solidFill>
                            <a:srgbClr val="1F2937"/>
                          </a:solidFill>
                        </a:rPr>
                        <a:t>Tana uzunligi: tik / o‘tirgan</a:t>
                      </a:r>
                    </a:p>
                  </a:txBody>
                  <a:tcPr marL="73152" marR="73152" marT="36576" marB="36576">
                    <a:solidFill>
                      <a:srgbClr val="E8EEF6"/>
                    </a:solidFill>
                  </a:tcPr>
                </a:tc>
                <a:tc>
                  <a:txBody>
                    <a:bodyPr/>
                    <a:lstStyle/>
                    <a:p>
                      <a:r>
                        <a:rPr sz="1300" b="0">
                          <a:solidFill>
                            <a:srgbClr val="1F2937"/>
                          </a:solidFill>
                        </a:rPr>
                        <a:t>150 sm / 80 sm</a:t>
                      </a:r>
                    </a:p>
                  </a:txBody>
                  <a:tcPr marL="73152" marR="73152" marT="36576" marB="36576">
                    <a:solidFill>
                      <a:srgbClr val="E8EEF6"/>
                    </a:solidFill>
                  </a:tcPr>
                </a:tc>
              </a:tr>
              <a:tr h="411480">
                <a:tc>
                  <a:txBody>
                    <a:bodyPr/>
                    <a:lstStyle/>
                    <a:p>
                      <a:r>
                        <a:rPr sz="1300" b="0">
                          <a:solidFill>
                            <a:srgbClr val="1F2937"/>
                          </a:solidFill>
                        </a:rPr>
                        <a:t>Ko‘krak qafasi aylanasi (tinch holat)</a:t>
                      </a:r>
                    </a:p>
                  </a:txBody>
                  <a:tcPr marL="73152" marR="73152" marT="36576" marB="36576">
                    <a:solidFill>
                      <a:srgbClr val="FFFFFF"/>
                    </a:solidFill>
                  </a:tcPr>
                </a:tc>
                <a:tc>
                  <a:txBody>
                    <a:bodyPr/>
                    <a:lstStyle/>
                    <a:p>
                      <a:r>
                        <a:rPr sz="1300" b="0">
                          <a:solidFill>
                            <a:srgbClr val="1F2937"/>
                          </a:solidFill>
                        </a:rPr>
                        <a:t>78-80 sm</a:t>
                      </a:r>
                    </a:p>
                  </a:txBody>
                  <a:tcPr marL="73152" marR="73152" marT="36576" marB="36576">
                    <a:solidFill>
                      <a:srgbClr val="FFFFFF"/>
                    </a:solidFill>
                  </a:tcPr>
                </a:tc>
              </a:tr>
              <a:tr h="411480">
                <a:tc>
                  <a:txBody>
                    <a:bodyPr/>
                    <a:lstStyle/>
                    <a:p>
                      <a:r>
                        <a:rPr sz="1300" b="0">
                          <a:solidFill>
                            <a:srgbClr val="1F2937"/>
                          </a:solidFill>
                        </a:rPr>
                        <a:t>Tos: yonbosh o‘siqlari / son ko‘stlari</a:t>
                      </a:r>
                    </a:p>
                  </a:txBody>
                  <a:tcPr marL="73152" marR="73152" marT="36576" marB="36576">
                    <a:solidFill>
                      <a:srgbClr val="E8EEF6"/>
                    </a:solidFill>
                  </a:tcPr>
                </a:tc>
                <a:tc>
                  <a:txBody>
                    <a:bodyPr/>
                    <a:lstStyle/>
                    <a:p>
                      <a:r>
                        <a:rPr sz="1300" b="0">
                          <a:solidFill>
                            <a:srgbClr val="1F2937"/>
                          </a:solidFill>
                        </a:rPr>
                        <a:t>26-27 sm / 29 sm</a:t>
                      </a:r>
                    </a:p>
                  </a:txBody>
                  <a:tcPr marL="73152" marR="73152" marT="36576" marB="36576">
                    <a:solidFill>
                      <a:srgbClr val="E8EEF6"/>
                    </a:solidFill>
                  </a:tcPr>
                </a:tc>
              </a:tr>
              <a:tr h="411480">
                <a:tc>
                  <a:txBody>
                    <a:bodyPr/>
                    <a:lstStyle/>
                    <a:p>
                      <a:r>
                        <a:rPr sz="1300" b="0">
                          <a:solidFill>
                            <a:srgbClr val="1F2937"/>
                          </a:solidFill>
                        </a:rPr>
                        <a:t>Tashqi konyugata</a:t>
                      </a:r>
                    </a:p>
                  </a:txBody>
                  <a:tcPr marL="73152" marR="73152" marT="36576" marB="36576">
                    <a:solidFill>
                      <a:srgbClr val="FFFFFF"/>
                    </a:solidFill>
                  </a:tcPr>
                </a:tc>
                <a:tc>
                  <a:txBody>
                    <a:bodyPr/>
                    <a:lstStyle/>
                    <a:p>
                      <a:r>
                        <a:rPr sz="1300" b="0">
                          <a:solidFill>
                            <a:srgbClr val="1F2937"/>
                          </a:solidFill>
                        </a:rPr>
                        <a:t>17-18 sm</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Eng kam ko‘rsatkichlar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Jinsiy aloqa, ovulyatsiya va bachadon mezonlari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Jinsiy aloqa qilish qobiliyati tashqi jinsiy a’zolarning, xususan qinning yetarli rivojlanganligiga bog‘liq.</a:t>
            </a:r>
          </a:p>
          <a:p>
            <a:pPr>
              <a:spcAft>
                <a:spcPts val="1200"/>
              </a:spcAft>
            </a:pPr>
            <a:r>
              <a:rPr sz="2200">
                <a:solidFill>
                  <a:srgbClr val="1F2937"/>
                </a:solidFill>
                <a:latin typeface="Calibri"/>
              </a:rPr>
              <a:t>▸  Ovulyatsiyadan so‘ng homilador bo‘lish mumkin. Ovulyatsiya to‘g‘ri shakllangan menstrual sikl bilan bog‘liq.</a:t>
            </a:r>
          </a:p>
          <a:p>
            <a:pPr>
              <a:spcAft>
                <a:spcPts val="1200"/>
              </a:spcAft>
            </a:pPr>
            <a:r>
              <a:rPr sz="2200">
                <a:solidFill>
                  <a:srgbClr val="1F2937"/>
                </a:solidFill>
                <a:latin typeface="Calibri"/>
              </a:rPr>
              <a:t>▸  Yetuklikda bachadon tanasi uning 2/3 qismini, bo‘yinchasi 1/3 qismini tashkil etadi. Aks holda homila belgilangan muddat saqlanmaydi.</a:t>
            </a:r>
          </a:p>
          <a:p>
            <a:pPr>
              <a:spcAft>
                <a:spcPts val="1200"/>
              </a:spcAft>
            </a:pPr>
            <a:r>
              <a:rPr sz="2200">
                <a:solidFill>
                  <a:srgbClr val="1F2937"/>
                </a:solidFill>
                <a:latin typeface="Calibri"/>
              </a:rPr>
              <a:t>▸  O‘g‘il bolalarda yetuklik kam aniqlanadi; urolog yoki androlog bilan birga umumiy rivojlanish, jinsiy a’zolar, ikkilamchi belgilar, bez funksiyasi o‘rganiladi.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289, 290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jins va yetuklik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14 yoshdan nikoh yoshigacha bo‘lgan qizda jinsiy yetuklikni aniqlash uchun ekspertiza tayinlandi. U akusher-ginekolog ishtirokida o‘tadi.</a:t>
            </a:r>
          </a:p>
          <a:p>
            <a:pPr>
              <a:spcAft>
                <a:spcPts val="1200"/>
              </a:spcAft>
            </a:pPr>
            <a:r>
              <a:rPr sz="2200">
                <a:solidFill>
                  <a:srgbClr val="1F2937"/>
                </a:solidFill>
                <a:latin typeface="Calibri"/>
              </a:rPr>
              <a:t>▸  Baholashda jismoniy rivojlanish, tashqi va ichki jinsiy a’zolar, ikkilamchi belgilar, tos o‘lchamlari va menstruatsiya birga hisobga olinadi.</a:t>
            </a:r>
          </a:p>
          <a:p>
            <a:pPr>
              <a:spcAft>
                <a:spcPts val="1200"/>
              </a:spcAft>
            </a:pPr>
            <a:r>
              <a:rPr sz="2200">
                <a:solidFill>
                  <a:srgbClr val="1F2937"/>
                </a:solidFill>
                <a:latin typeface="Calibri"/>
              </a:rPr>
              <a:t>▸  Diqqat: o‘lchamlar nisbiy ahamiyatga ega. Kichikroq ko‘rsatkichli ayol ham farzand ko‘rishi mumkin; 14 yoshgacha akseleratsiya kattaroq ko‘rsatkich beradi.</a:t>
            </a:r>
          </a:p>
          <a:p>
            <a:pPr>
              <a:spcAft>
                <a:spcPts val="1200"/>
              </a:spcAft>
            </a:pPr>
            <a:r>
              <a:rPr sz="2200">
                <a:solidFill>
                  <a:srgbClr val="1F2937"/>
                </a:solidFill>
                <a:latin typeface="Calibri"/>
              </a:rPr>
              <a:t>▸  Savol: faqat bo‘y o‘lchamiga qarab qizni yetuk yoki yetilmagan deb xulosa qilish mumkinmi? Nima uchun?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Bokiralik va qizlik pardasi tuzilishi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Bokiralik (virginitas) asosan qizlik pardasining (hymen) anatomik butunligi bilan belgilanadi.</a:t>
            </a:r>
          </a:p>
          <a:p>
            <a:pPr>
              <a:spcAft>
                <a:spcPts val="1200"/>
              </a:spcAft>
            </a:pPr>
            <a:r>
              <a:rPr sz="2200">
                <a:solidFill>
                  <a:srgbClr val="1F2937"/>
                </a:solidFill>
                <a:latin typeface="Calibri"/>
              </a:rPr>
              <a:t>▸  Parda qin shilliq qavatining burmasi bo‘lib, biriktiruvchi va mushak tolalari, qon tomir va nerv bor. U qin dahlizi va qin oralig‘ida, qin o‘qiga perpendikulyar turadi.</a:t>
            </a:r>
          </a:p>
          <a:p>
            <a:pPr>
              <a:spcAft>
                <a:spcPts val="1200"/>
              </a:spcAft>
            </a:pPr>
            <a:r>
              <a:rPr sz="2200">
                <a:solidFill>
                  <a:srgbClr val="1F2937"/>
                </a:solidFill>
                <a:latin typeface="Calibri"/>
              </a:rPr>
              <a:t>▸  Pardada asos, erkin chet va teshik farqlanadi. Teshik bir nechta bo‘lishi yoki umuman bo‘lmasligi ham mumkin.</a:t>
            </a:r>
          </a:p>
          <a:p>
            <a:pPr>
              <a:spcAft>
                <a:spcPts val="1200"/>
              </a:spcAft>
            </a:pPr>
            <a:r>
              <a:rPr sz="2200">
                <a:solidFill>
                  <a:srgbClr val="1F2937"/>
                </a:solidFill>
                <a:latin typeface="Calibri"/>
              </a:rPr>
              <a:t>▸  Pardani tavsiflashda soat siferblati bilan taqqoslanadi. Bokiralikda teshikka barmoq uchi ehtiyotkorlik bilan kiritilsa, qisqarish halqasi seziladi.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Qizlik pardasi shakllari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Nikitin va Serdyukov pardalarni tuzilishiga ko‘ra uch guruhga ajratgan.</a:t>
            </a:r>
          </a:p>
          <a:p>
            <a:pPr>
              <a:spcAft>
                <a:spcPts val="800"/>
              </a:spcAft>
            </a:pPr>
            <a:r>
              <a:rPr sz="1800">
                <a:solidFill>
                  <a:srgbClr val="1F2937"/>
                </a:solidFill>
                <a:latin typeface="Calibri"/>
              </a:rPr>
              <a:t>▸  G‘ayrioddiy shakllarda parda erkin chetlari notekis bo‘ladi.</a:t>
            </a:r>
          </a:p>
          <a:p>
            <a:pPr>
              <a:spcAft>
                <a:spcPts val="800"/>
              </a:spcAft>
            </a:pPr>
            <a:r>
              <a:rPr sz="1800">
                <a:solidFill>
                  <a:srgbClr val="1F2937"/>
                </a:solidFill>
                <a:latin typeface="Calibri"/>
              </a:rPr>
              <a:t>▸  Darslikdagi rasm 12.1 da halqasimon, yarim oysimon, baxromali, to‘siqli shakllar ko‘rsatilgan.</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057595"/>
                <a:gridCol w="1652492"/>
                <a:gridCol w="2577887"/>
              </a:tblGrid>
              <a:tr h="411480">
                <a:tc>
                  <a:txBody>
                    <a:bodyPr/>
                    <a:lstStyle/>
                    <a:p>
                      <a:r>
                        <a:rPr sz="1300" b="1">
                          <a:solidFill>
                            <a:srgbClr val="FFFFFF"/>
                          </a:solidFill>
                        </a:rPr>
                        <a:t>Guruh</a:t>
                      </a:r>
                    </a:p>
                  </a:txBody>
                  <a:tcPr marL="73152" marR="73152" marT="36576" marB="36576">
                    <a:solidFill>
                      <a:srgbClr val="0B1F3A"/>
                    </a:solidFill>
                  </a:tcPr>
                </a:tc>
                <a:tc>
                  <a:txBody>
                    <a:bodyPr/>
                    <a:lstStyle/>
                    <a:p>
                      <a:r>
                        <a:rPr sz="1300" b="1">
                          <a:solidFill>
                            <a:srgbClr val="FFFFFF"/>
                          </a:solidFill>
                        </a:rPr>
                        <a:t>Uchrashishi</a:t>
                      </a:r>
                    </a:p>
                  </a:txBody>
                  <a:tcPr marL="73152" marR="73152" marT="36576" marB="36576">
                    <a:solidFill>
                      <a:srgbClr val="0B1F3A"/>
                    </a:solidFill>
                  </a:tcPr>
                </a:tc>
                <a:tc>
                  <a:txBody>
                    <a:bodyPr/>
                    <a:lstStyle/>
                    <a:p>
                      <a:r>
                        <a:rPr sz="1300" b="1">
                          <a:solidFill>
                            <a:srgbClr val="FFFFFF"/>
                          </a:solidFill>
                        </a:rPr>
                        <a:t>Misollar</a:t>
                      </a:r>
                    </a:p>
                  </a:txBody>
                  <a:tcPr marL="73152" marR="73152" marT="36576" marB="36576">
                    <a:solidFill>
                      <a:srgbClr val="0B1F3A"/>
                    </a:solidFill>
                  </a:tcPr>
                </a:tc>
              </a:tr>
              <a:tr h="411480">
                <a:tc>
                  <a:txBody>
                    <a:bodyPr/>
                    <a:lstStyle/>
                    <a:p>
                      <a:r>
                        <a:rPr sz="1200" b="0">
                          <a:solidFill>
                            <a:srgbClr val="1F2937"/>
                          </a:solidFill>
                        </a:rPr>
                        <a:t>1-guruh</a:t>
                      </a:r>
                    </a:p>
                  </a:txBody>
                  <a:tcPr marL="73152" marR="73152" marT="36576" marB="36576">
                    <a:solidFill>
                      <a:srgbClr val="E8EEF6"/>
                    </a:solidFill>
                  </a:tcPr>
                </a:tc>
                <a:tc>
                  <a:txBody>
                    <a:bodyPr/>
                    <a:lstStyle/>
                    <a:p>
                      <a:r>
                        <a:rPr sz="1200" b="0">
                          <a:solidFill>
                            <a:srgbClr val="1F2937"/>
                          </a:solidFill>
                        </a:rPr>
                        <a:t>Odatdagi, ko‘p uchraydi</a:t>
                      </a:r>
                    </a:p>
                  </a:txBody>
                  <a:tcPr marL="73152" marR="73152" marT="36576" marB="36576">
                    <a:solidFill>
                      <a:srgbClr val="E8EEF6"/>
                    </a:solidFill>
                  </a:tcPr>
                </a:tc>
                <a:tc>
                  <a:txBody>
                    <a:bodyPr/>
                    <a:lstStyle/>
                    <a:p>
                      <a:r>
                        <a:rPr sz="1200" b="0">
                          <a:solidFill>
                            <a:srgbClr val="1F2937"/>
                          </a:solidFill>
                        </a:rPr>
                        <a:t>Halqasimon, yarim oysimon, voronkasimon</a:t>
                      </a:r>
                    </a:p>
                  </a:txBody>
                  <a:tcPr marL="73152" marR="73152" marT="36576" marB="36576">
                    <a:solidFill>
                      <a:srgbClr val="E8EEF6"/>
                    </a:solidFill>
                  </a:tcPr>
                </a:tc>
              </a:tr>
              <a:tr h="411480">
                <a:tc>
                  <a:txBody>
                    <a:bodyPr/>
                    <a:lstStyle/>
                    <a:p>
                      <a:r>
                        <a:rPr sz="1200" b="0">
                          <a:solidFill>
                            <a:srgbClr val="1F2937"/>
                          </a:solidFill>
                        </a:rPr>
                        <a:t>2-guruh</a:t>
                      </a:r>
                    </a:p>
                  </a:txBody>
                  <a:tcPr marL="73152" marR="73152" marT="36576" marB="36576">
                    <a:solidFill>
                      <a:srgbClr val="FFFFFF"/>
                    </a:solidFill>
                  </a:tcPr>
                </a:tc>
                <a:tc>
                  <a:txBody>
                    <a:bodyPr/>
                    <a:lstStyle/>
                    <a:p>
                      <a:r>
                        <a:rPr sz="1200" b="0">
                          <a:solidFill>
                            <a:srgbClr val="1F2937"/>
                          </a:solidFill>
                        </a:rPr>
                        <a:t>G‘ayrioddiy, kam uchraydi</a:t>
                      </a:r>
                    </a:p>
                  </a:txBody>
                  <a:tcPr marL="73152" marR="73152" marT="36576" marB="36576">
                    <a:solidFill>
                      <a:srgbClr val="FFFFFF"/>
                    </a:solidFill>
                  </a:tcPr>
                </a:tc>
                <a:tc>
                  <a:txBody>
                    <a:bodyPr/>
                    <a:lstStyle/>
                    <a:p>
                      <a:r>
                        <a:rPr sz="1200" b="0">
                          <a:solidFill>
                            <a:srgbClr val="1F2937"/>
                          </a:solidFill>
                        </a:rPr>
                        <a:t>Bo‘lakchali, spiralsimon, baxromali</a:t>
                      </a:r>
                    </a:p>
                  </a:txBody>
                  <a:tcPr marL="73152" marR="73152" marT="36576" marB="36576">
                    <a:solidFill>
                      <a:srgbClr val="FFFFFF"/>
                    </a:solidFill>
                  </a:tcPr>
                </a:tc>
              </a:tr>
              <a:tr h="411480">
                <a:tc>
                  <a:txBody>
                    <a:bodyPr/>
                    <a:lstStyle/>
                    <a:p>
                      <a:r>
                        <a:rPr sz="1200" b="0">
                          <a:solidFill>
                            <a:srgbClr val="1F2937"/>
                          </a:solidFill>
                        </a:rPr>
                        <a:t>3-guruh</a:t>
                      </a:r>
                    </a:p>
                  </a:txBody>
                  <a:tcPr marL="73152" marR="73152" marT="36576" marB="36576">
                    <a:solidFill>
                      <a:srgbClr val="E8EEF6"/>
                    </a:solidFill>
                  </a:tcPr>
                </a:tc>
                <a:tc>
                  <a:txBody>
                    <a:bodyPr/>
                    <a:lstStyle/>
                    <a:p>
                      <a:r>
                        <a:rPr sz="1200" b="0">
                          <a:solidFill>
                            <a:srgbClr val="1F2937"/>
                          </a:solidFill>
                        </a:rPr>
                        <a:t>Juda kam uchraydi</a:t>
                      </a:r>
                    </a:p>
                  </a:txBody>
                  <a:tcPr marL="73152" marR="73152" marT="36576" marB="36576">
                    <a:solidFill>
                      <a:srgbClr val="E8EEF6"/>
                    </a:solidFill>
                  </a:tcPr>
                </a:tc>
                <a:tc>
                  <a:txBody>
                    <a:bodyPr/>
                    <a:lstStyle/>
                    <a:p>
                      <a:r>
                        <a:rPr sz="1200" b="0">
                          <a:solidFill>
                            <a:srgbClr val="1F2937"/>
                          </a:solidFill>
                        </a:rPr>
                        <a:t>Ikki oynali, to‘siqli, teshigi yo‘q</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Pardaning uch guruhi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290, 291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Defloratsiya: to‘liq va noto‘liq yoriqlar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Birinchi jinsiy aloqada qizlik pardasining anatomik butunligi buzilishi (defloratsiya) bokiralikning yo‘qolishiga olib keladi.</a:t>
            </a:r>
          </a:p>
          <a:p>
            <a:pPr>
              <a:spcAft>
                <a:spcPts val="1200"/>
              </a:spcAft>
            </a:pPr>
            <a:r>
              <a:rPr sz="2200">
                <a:solidFill>
                  <a:srgbClr val="1F2937"/>
                </a:solidFill>
                <a:latin typeface="Calibri"/>
              </a:rPr>
              <a:t>▸  Jinsiy olat boshchasi ta’sirida pardada to‘liq va noto‘liq yoriq hosil bo‘ladi. To‘liq yoriq parda asosigacha yetadi, noto‘liq yoriq yetmaydi.</a:t>
            </a:r>
          </a:p>
          <a:p>
            <a:pPr>
              <a:spcAft>
                <a:spcPts val="1200"/>
              </a:spcAft>
            </a:pPr>
            <a:r>
              <a:rPr sz="2200">
                <a:solidFill>
                  <a:srgbClr val="1F2937"/>
                </a:solidFill>
                <a:latin typeface="Calibri"/>
              </a:rPr>
              <a:t>▸  Ba’zan aloqada defloratsiya bo‘lmaydi. Bu asosan elastik, cho‘ziluvchan, past va tabiiy o‘yiqlari ko‘p pardalarda kuzatiladi.</a:t>
            </a:r>
          </a:p>
          <a:p>
            <a:pPr>
              <a:spcAft>
                <a:spcPts val="1200"/>
              </a:spcAft>
            </a:pPr>
            <a:r>
              <a:rPr sz="2200">
                <a:solidFill>
                  <a:srgbClr val="1F2937"/>
                </a:solidFill>
                <a:latin typeface="Calibri"/>
              </a:rPr>
              <a:t>▸  Diqqat: parda butunligi barmoq, turli jismlar yoki jarrohlik operatsiyasida ham buzilishi mumkin. Parda shikasti har doim ham jinsiy aloqadan emas.</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Qizlik pardasi yorig‘ining bitish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Muddatni faqat dastlabki haftalarda aniqlash mumkin. Uch haftadan so‘ng bu masalani hal etib bo‘lmaydi.</a:t>
            </a:r>
          </a:p>
          <a:p>
            <a:pPr>
              <a:spcAft>
                <a:spcPts val="800"/>
              </a:spcAft>
            </a:pPr>
            <a:r>
              <a:rPr sz="1800">
                <a:solidFill>
                  <a:srgbClr val="1F2937"/>
                </a:solidFill>
                <a:latin typeface="Calibri"/>
              </a:rPr>
              <a:t>▸  Yupqa, elastik pardadagi yoriq qalin, go‘shtsimon pardadagiga qaraganda ancha tez bitadi.</a:t>
            </a:r>
          </a:p>
          <a:p>
            <a:pPr>
              <a:spcAft>
                <a:spcPts val="800"/>
              </a:spcAft>
            </a:pPr>
            <a:r>
              <a:rPr sz="1800">
                <a:solidFill>
                  <a:srgbClr val="1F2937"/>
                </a:solidFill>
                <a:latin typeface="Calibri"/>
              </a:rPr>
              <a:t>▸  Bitish shikast ko‘lami, organizm xususiyatlari, parda shakli va tuzilishiga bog‘liq.</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Dastlab: qon ketish, shish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Yoriq chetlari oqimtir qoplama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1-hafta oxiri: granulyasiya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2-hafta oxiri–3-hafta: chandiq</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haftadan keyin: muddat noaniq</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Yoriq bitishi vaqt chizig‘i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Yoriq va tabiiy o‘yiqni farqlash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Yoriq chetlarining holati uning muddatiga bog‘liq. Eski yoriqning chetlari nisbatan qalin va chandiqlangan bo‘ladi.</a:t>
            </a:r>
          </a:p>
          <a:p>
            <a:pPr>
              <a:spcAft>
                <a:spcPts val="800"/>
              </a:spcAft>
            </a:pPr>
            <a:r>
              <a:rPr sz="1800">
                <a:solidFill>
                  <a:srgbClr val="1F2937"/>
                </a:solidFill>
                <a:latin typeface="Calibri"/>
              </a:rPr>
              <a:t>▸  Diqqat: tabiiy o‘yiq ≠ yoriq. Ularni farqlash ko‘pincha zarur bo‘lib qoladi.</a:t>
            </a:r>
          </a:p>
          <a:p>
            <a:pPr>
              <a:spcAft>
                <a:spcPts val="800"/>
              </a:spcAft>
            </a:pPr>
            <a:r>
              <a:rPr sz="1800">
                <a:solidFill>
                  <a:srgbClr val="1F2937"/>
                </a:solidFill>
                <a:latin typeface="Calibri"/>
              </a:rPr>
              <a:t>▸  Bokiralikka shubha bo‘lsa, imkon qadar tez akusher-ginekologga emas, sud-tibbiy ekspertga murojaat qilinadi.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057595"/>
                <a:gridCol w="1982990"/>
                <a:gridCol w="2247389"/>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Yoriq</a:t>
                      </a:r>
                    </a:p>
                  </a:txBody>
                  <a:tcPr marL="73152" marR="73152" marT="36576" marB="36576">
                    <a:solidFill>
                      <a:srgbClr val="0B1F3A"/>
                    </a:solidFill>
                  </a:tcPr>
                </a:tc>
                <a:tc>
                  <a:txBody>
                    <a:bodyPr/>
                    <a:lstStyle/>
                    <a:p>
                      <a:r>
                        <a:rPr sz="1300" b="1">
                          <a:solidFill>
                            <a:srgbClr val="FFFFFF"/>
                          </a:solidFill>
                        </a:rPr>
                        <a:t>Tabiiy o‘yiq</a:t>
                      </a:r>
                    </a:p>
                  </a:txBody>
                  <a:tcPr marL="73152" marR="73152" marT="36576" marB="36576">
                    <a:solidFill>
                      <a:srgbClr val="0B1F3A"/>
                    </a:solidFill>
                  </a:tcPr>
                </a:tc>
              </a:tr>
              <a:tr h="411480">
                <a:tc>
                  <a:txBody>
                    <a:bodyPr/>
                    <a:lstStyle/>
                    <a:p>
                      <a:r>
                        <a:rPr sz="1200" b="0">
                          <a:solidFill>
                            <a:srgbClr val="1F2937"/>
                          </a:solidFill>
                        </a:rPr>
                        <a:t>Joylashuvi</a:t>
                      </a:r>
                    </a:p>
                  </a:txBody>
                  <a:tcPr marL="73152" marR="73152" marT="36576" marB="36576">
                    <a:solidFill>
                      <a:srgbClr val="E8EEF6"/>
                    </a:solidFill>
                  </a:tcPr>
                </a:tc>
                <a:tc>
                  <a:txBody>
                    <a:bodyPr/>
                    <a:lstStyle/>
                    <a:p>
                      <a:r>
                        <a:rPr sz="1200" b="0">
                          <a:solidFill>
                            <a:srgbClr val="1F2937"/>
                          </a:solidFill>
                        </a:rPr>
                        <a:t>Ko‘pincha pastki, soat 5–7</a:t>
                      </a:r>
                    </a:p>
                  </a:txBody>
                  <a:tcPr marL="73152" marR="73152" marT="36576" marB="36576">
                    <a:solidFill>
                      <a:srgbClr val="E8EEF6"/>
                    </a:solidFill>
                  </a:tcPr>
                </a:tc>
                <a:tc>
                  <a:txBody>
                    <a:bodyPr/>
                    <a:lstStyle/>
                    <a:p>
                      <a:r>
                        <a:rPr sz="1200" b="0">
                          <a:solidFill>
                            <a:srgbClr val="1F2937"/>
                          </a:solidFill>
                        </a:rPr>
                        <a:t>Turli segmentlarda bo‘lishi mumkin</a:t>
                      </a:r>
                    </a:p>
                  </a:txBody>
                  <a:tcPr marL="73152" marR="73152" marT="36576" marB="36576">
                    <a:solidFill>
                      <a:srgbClr val="E8EEF6"/>
                    </a:solidFill>
                  </a:tcPr>
                </a:tc>
              </a:tr>
              <a:tr h="411480">
                <a:tc>
                  <a:txBody>
                    <a:bodyPr/>
                    <a:lstStyle/>
                    <a:p>
                      <a:r>
                        <a:rPr sz="1200" b="0">
                          <a:solidFill>
                            <a:srgbClr val="1F2937"/>
                          </a:solidFill>
                        </a:rPr>
                        <a:t>Asosga yetishi</a:t>
                      </a:r>
                    </a:p>
                  </a:txBody>
                  <a:tcPr marL="73152" marR="73152" marT="36576" marB="36576">
                    <a:solidFill>
                      <a:srgbClr val="FFFFFF"/>
                    </a:solidFill>
                  </a:tcPr>
                </a:tc>
                <a:tc>
                  <a:txBody>
                    <a:bodyPr/>
                    <a:lstStyle/>
                    <a:p>
                      <a:r>
                        <a:rPr sz="1200" b="0">
                          <a:solidFill>
                            <a:srgbClr val="1F2937"/>
                          </a:solidFill>
                        </a:rPr>
                        <a:t>To‘liq yoriq asosigacha yetadi</a:t>
                      </a:r>
                    </a:p>
                  </a:txBody>
                  <a:tcPr marL="73152" marR="73152" marT="36576" marB="36576">
                    <a:solidFill>
                      <a:srgbClr val="FFFFFF"/>
                    </a:solidFill>
                  </a:tcPr>
                </a:tc>
                <a:tc>
                  <a:txBody>
                    <a:bodyPr/>
                    <a:lstStyle/>
                    <a:p>
                      <a:r>
                        <a:rPr sz="1200" b="0">
                          <a:solidFill>
                            <a:srgbClr val="1F2937"/>
                          </a:solidFill>
                        </a:rPr>
                        <a:t>Aksariyati asosgacha yetmaydi</a:t>
                      </a:r>
                    </a:p>
                  </a:txBody>
                  <a:tcPr marL="73152" marR="73152" marT="36576" marB="36576">
                    <a:solidFill>
                      <a:srgbClr val="FFFFFF"/>
                    </a:solidFill>
                  </a:tcPr>
                </a:tc>
              </a:tr>
              <a:tr h="411480">
                <a:tc>
                  <a:txBody>
                    <a:bodyPr/>
                    <a:lstStyle/>
                    <a:p>
                      <a:r>
                        <a:rPr sz="1200" b="0">
                          <a:solidFill>
                            <a:srgbClr val="1F2937"/>
                          </a:solidFill>
                        </a:rPr>
                        <a:t>Chetlari</a:t>
                      </a:r>
                    </a:p>
                  </a:txBody>
                  <a:tcPr marL="73152" marR="73152" marT="36576" marB="36576">
                    <a:solidFill>
                      <a:srgbClr val="E8EEF6"/>
                    </a:solidFill>
                  </a:tcPr>
                </a:tc>
                <a:tc>
                  <a:txBody>
                    <a:bodyPr/>
                    <a:lstStyle/>
                    <a:p>
                      <a:r>
                        <a:rPr sz="1200" b="0">
                          <a:solidFill>
                            <a:srgbClr val="1F2937"/>
                          </a:solidFill>
                        </a:rPr>
                        <a:t>Eski yoriq: qalin, chandiqli</a:t>
                      </a:r>
                    </a:p>
                  </a:txBody>
                  <a:tcPr marL="73152" marR="73152" marT="36576" marB="36576">
                    <a:solidFill>
                      <a:srgbClr val="E8EEF6"/>
                    </a:solidFill>
                  </a:tcPr>
                </a:tc>
                <a:tc>
                  <a:txBody>
                    <a:bodyPr/>
                    <a:lstStyle/>
                    <a:p>
                      <a:r>
                        <a:rPr sz="1200" b="0">
                          <a:solidFill>
                            <a:srgbClr val="1F2937"/>
                          </a:solidFill>
                        </a:rPr>
                        <a:t>Boshqa sohadan farq qilmaydi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Yoriq va tabiiy o‘yiq</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292, 291-292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Jinsiy aloqa bo‘lganligini tasdiqlovchi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Aloqa bo‘lganini qinda maniyning topilishi, homiladorlikning rivojlanishi va tanosil kasalliklarining yuqishi tasdiqlaydi.</a:t>
            </a:r>
          </a:p>
          <a:p>
            <a:pPr>
              <a:spcAft>
                <a:spcPts val="1200"/>
              </a:spcAft>
            </a:pPr>
            <a:r>
              <a:rPr sz="2200">
                <a:solidFill>
                  <a:srgbClr val="1F2937"/>
                </a:solidFill>
                <a:latin typeface="Calibri"/>
              </a:rPr>
              <a:t>▸  Maniy qinda odatda 3-5 kungacha saqlanadi. Shu sababli namuna qancha tez olinsa, laboratoriya natijasi shunchalik ishonchli bo‘ladi.</a:t>
            </a:r>
          </a:p>
          <a:p>
            <a:pPr>
              <a:spcAft>
                <a:spcPts val="1200"/>
              </a:spcAft>
            </a:pPr>
            <a:r>
              <a:rPr sz="2200">
                <a:solidFill>
                  <a:srgbClr val="1F2937"/>
                </a:solidFill>
                <a:latin typeface="Calibri"/>
              </a:rPr>
              <a:t>▸  Nomusga tegish ko‘rigida qin ichidan surtma, qov, oraliq va sondan bosmalar imkon qadar tez olinadi. Vaqt o‘tsa, spermatozoid topilish ehtimoli kamayadi.</a:t>
            </a:r>
          </a:p>
          <a:p>
            <a:pPr>
              <a:spcAft>
                <a:spcPts val="1200"/>
              </a:spcAft>
            </a:pPr>
            <a:r>
              <a:rPr sz="2200">
                <a:solidFill>
                  <a:srgbClr val="1F2937"/>
                </a:solidFill>
                <a:latin typeface="Calibri"/>
              </a:rPr>
              <a:t>▸  Diqqat: xato qilish xavfi. Qizlik pardasi butunligining buzilishi har doim jinsiy aloqani bildirmaydi. U barmoq, turli jismlar yoki operatsiya natijasida ham buzilishi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292, 296, 291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bokiralik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qiz bola ko‘rikka keltirildi. Qizlik pardasining pastki qismida, soat siferblati bo‘yicha 5-7 oralig‘ida, asosigacha yetgan yoriq topildi. Chetlari qalin va chandiqlangan.</a:t>
            </a:r>
          </a:p>
          <a:p>
            <a:pPr>
              <a:spcAft>
                <a:spcPts val="1200"/>
              </a:spcAft>
            </a:pPr>
            <a:r>
              <a:rPr sz="2000">
                <a:solidFill>
                  <a:srgbClr val="1F2937"/>
                </a:solidFill>
                <a:latin typeface="Calibri"/>
              </a:rPr>
              <a:t>▸  Savol: bu yoriqmi yoki tabiiy o‘yiqmi? Tabiiy o‘yiq pardaning turli segmentida bo‘lishi mumkin. U ko‘pincha asosigacha yetmaydi, chetlari boshqa sohalardan farq qilmaydi.</a:t>
            </a:r>
          </a:p>
          <a:p>
            <a:pPr>
              <a:spcAft>
                <a:spcPts val="1200"/>
              </a:spcAft>
            </a:pPr>
            <a:r>
              <a:rPr sz="2000">
                <a:solidFill>
                  <a:srgbClr val="1F2937"/>
                </a:solidFill>
                <a:latin typeface="Calibri"/>
              </a:rPr>
              <a:t>▸  Yoriq ko‘pincha pastki segmentlarda, 5-7 oralig‘ida bo‘ladi. Eski yoriqning chetlari nisbatan qalin va chandiqlangan bo‘ladi. Bu belgilar yoriq foydasiga gapiradi.</a:t>
            </a:r>
          </a:p>
          <a:p>
            <a:pPr>
              <a:spcAft>
                <a:spcPts val="1200"/>
              </a:spcAft>
            </a:pPr>
            <a:r>
              <a:rPr sz="2000">
                <a:solidFill>
                  <a:srgbClr val="1F2937"/>
                </a:solidFill>
                <a:latin typeface="Calibri"/>
              </a:rPr>
              <a:t>▸  Muddat: 2-hafta oxiri - 3-haftada yoriq chetida chandiq hosil bo‘ladi. Butunlik buzilgan muddat faqat dastlabki haftalarda aniqlanadi, uch haftadan so‘ng bu imkonsiz.</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292, 291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Nasl qoldirish qobiliyati: erkak va ayol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Erkakda bu jinsiy aloqa va urug‘lantirish; ayolda aloqa, homilador bo‘lish va tug‘ish imkoniyatidir.</a:t>
            </a:r>
          </a:p>
          <a:p>
            <a:pPr>
              <a:spcAft>
                <a:spcPts val="800"/>
              </a:spcAft>
            </a:pPr>
            <a:r>
              <a:rPr sz="1800">
                <a:solidFill>
                  <a:srgbClr val="1F2937"/>
                </a:solidFill>
                <a:latin typeface="Calibri"/>
              </a:rPr>
              <a:t>▸  Urug‘lantirish qobiliyati eyakulyatni laboratoriya tekshiruvi orqali aniqlanadi. Harakatchan spermatozoidlar topilsa, qobiliyat tasdiqlanadi.</a:t>
            </a:r>
          </a:p>
          <a:p>
            <a:pPr>
              <a:spcAft>
                <a:spcPts val="800"/>
              </a:spcAft>
            </a:pPr>
            <a:r>
              <a:rPr sz="1800">
                <a:solidFill>
                  <a:srgbClr val="1F2937"/>
                </a:solidFill>
                <a:latin typeface="Calibri"/>
              </a:rPr>
              <a:t>▸  Ekspertiza klinitsist-mutaxassislar ishtirokida o‘tadi; ba’zan statsionarda tekshiriladi.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014863"/>
                <a:gridCol w="2136555"/>
                <a:gridCol w="2136555"/>
              </a:tblGrid>
              <a:tr h="411480">
                <a:tc>
                  <a:txBody>
                    <a:bodyPr/>
                    <a:lstStyle/>
                    <a:p>
                      <a:r>
                        <a:rPr sz="1300" b="1">
                          <a:solidFill>
                            <a:srgbClr val="FFFFFF"/>
                          </a:solidFill>
                        </a:rPr>
                        <a:t>Qobiliyat</a:t>
                      </a:r>
                    </a:p>
                  </a:txBody>
                  <a:tcPr marL="73152" marR="73152" marT="36576" marB="36576">
                    <a:solidFill>
                      <a:srgbClr val="0B1F3A"/>
                    </a:solidFill>
                  </a:tcPr>
                </a:tc>
                <a:tc>
                  <a:txBody>
                    <a:bodyPr/>
                    <a:lstStyle/>
                    <a:p>
                      <a:r>
                        <a:rPr sz="1300" b="1">
                          <a:solidFill>
                            <a:srgbClr val="FFFFFF"/>
                          </a:solidFill>
                        </a:rPr>
                        <a:t>Erkak</a:t>
                      </a:r>
                    </a:p>
                  </a:txBody>
                  <a:tcPr marL="73152" marR="73152" marT="36576" marB="36576">
                    <a:solidFill>
                      <a:srgbClr val="0B1F3A"/>
                    </a:solidFill>
                  </a:tcPr>
                </a:tc>
                <a:tc>
                  <a:txBody>
                    <a:bodyPr/>
                    <a:lstStyle/>
                    <a:p>
                      <a:r>
                        <a:rPr sz="1300" b="1">
                          <a:solidFill>
                            <a:srgbClr val="FFFFFF"/>
                          </a:solidFill>
                        </a:rPr>
                        <a:t>Ayol</a:t>
                      </a:r>
                    </a:p>
                  </a:txBody>
                  <a:tcPr marL="73152" marR="73152" marT="36576" marB="36576">
                    <a:solidFill>
                      <a:srgbClr val="0B1F3A"/>
                    </a:solidFill>
                  </a:tcPr>
                </a:tc>
              </a:tr>
              <a:tr h="411480">
                <a:tc>
                  <a:txBody>
                    <a:bodyPr/>
                    <a:lstStyle/>
                    <a:p>
                      <a:r>
                        <a:rPr sz="1200" b="0">
                          <a:solidFill>
                            <a:srgbClr val="1F2937"/>
                          </a:solidFill>
                        </a:rPr>
                        <a:t>Jinsiy aloqa</a:t>
                      </a:r>
                    </a:p>
                  </a:txBody>
                  <a:tcPr marL="73152" marR="73152" marT="36576" marB="36576">
                    <a:solidFill>
                      <a:srgbClr val="E8EEF6"/>
                    </a:solidFill>
                  </a:tcPr>
                </a:tc>
                <a:tc>
                  <a:txBody>
                    <a:bodyPr/>
                    <a:lstStyle/>
                    <a:p>
                      <a:r>
                        <a:rPr sz="1200" b="0">
                          <a:solidFill>
                            <a:srgbClr val="1F2937"/>
                          </a:solidFill>
                        </a:rPr>
                        <a:t>Impotensiya: nerv, endokrin, nuqson, nevroz</a:t>
                      </a:r>
                    </a:p>
                  </a:txBody>
                  <a:tcPr marL="73152" marR="73152" marT="36576" marB="36576">
                    <a:solidFill>
                      <a:srgbClr val="E8EEF6"/>
                    </a:solidFill>
                  </a:tcPr>
                </a:tc>
                <a:tc>
                  <a:txBody>
                    <a:bodyPr/>
                    <a:lstStyle/>
                    <a:p>
                      <a:r>
                        <a:rPr sz="1200" b="0">
                          <a:solidFill>
                            <a:srgbClr val="1F2937"/>
                          </a:solidFill>
                        </a:rPr>
                        <a:t>Qin atreziyasi, chandiq, o‘sma, vaginizm</a:t>
                      </a:r>
                    </a:p>
                  </a:txBody>
                  <a:tcPr marL="73152" marR="73152" marT="36576" marB="36576">
                    <a:solidFill>
                      <a:srgbClr val="E8EEF6"/>
                    </a:solidFill>
                  </a:tcPr>
                </a:tc>
              </a:tr>
              <a:tr h="411480">
                <a:tc>
                  <a:txBody>
                    <a:bodyPr/>
                    <a:lstStyle/>
                    <a:p>
                      <a:r>
                        <a:rPr sz="1200" b="0">
                          <a:solidFill>
                            <a:srgbClr val="1F2937"/>
                          </a:solidFill>
                        </a:rPr>
                        <a:t>Urug‘lanish, homila</a:t>
                      </a:r>
                    </a:p>
                  </a:txBody>
                  <a:tcPr marL="73152" marR="73152" marT="36576" marB="36576">
                    <a:solidFill>
                      <a:srgbClr val="FFFFFF"/>
                    </a:solidFill>
                  </a:tcPr>
                </a:tc>
                <a:tc>
                  <a:txBody>
                    <a:bodyPr/>
                    <a:lstStyle/>
                    <a:p>
                      <a:r>
                        <a:rPr sz="1200" b="0">
                          <a:solidFill>
                            <a:srgbClr val="1F2937"/>
                          </a:solidFill>
                        </a:rPr>
                        <a:t>Azospermiya, nekrospermiya, astenospermiya</a:t>
                      </a:r>
                    </a:p>
                  </a:txBody>
                  <a:tcPr marL="73152" marR="73152" marT="36576" marB="36576">
                    <a:solidFill>
                      <a:srgbClr val="FFFFFF"/>
                    </a:solidFill>
                  </a:tcPr>
                </a:tc>
                <a:tc>
                  <a:txBody>
                    <a:bodyPr/>
                    <a:lstStyle/>
                    <a:p>
                      <a:r>
                        <a:rPr sz="1200" b="0">
                          <a:solidFill>
                            <a:srgbClr val="1F2937"/>
                          </a:solidFill>
                        </a:rPr>
                        <a:t>Yosh, bachadon va nay atreziyasi, o‘sma</a:t>
                      </a:r>
                    </a:p>
                  </a:txBody>
                  <a:tcPr marL="73152" marR="73152" marT="36576" marB="36576">
                    <a:solidFill>
                      <a:srgbClr val="FFFFFF"/>
                    </a:solidFill>
                  </a:tcPr>
                </a:tc>
              </a:tr>
              <a:tr h="411480">
                <a:tc>
                  <a:txBody>
                    <a:bodyPr/>
                    <a:lstStyle/>
                    <a:p>
                      <a:r>
                        <a:rPr sz="1200" b="0">
                          <a:solidFill>
                            <a:srgbClr val="1F2937"/>
                          </a:solidFill>
                        </a:rPr>
                        <a:t>Tug‘ish</a:t>
                      </a:r>
                    </a:p>
                  </a:txBody>
                  <a:tcPr marL="73152" marR="73152" marT="36576" marB="36576">
                    <a:solidFill>
                      <a:srgbClr val="E8EEF6"/>
                    </a:solidFill>
                  </a:tcPr>
                </a:tc>
                <a:tc>
                  <a:txBody>
                    <a:bodyPr/>
                    <a:lstStyle/>
                    <a:p>
                      <a:r>
                        <a:rPr sz="1200" b="0">
                          <a:solidFill>
                            <a:srgbClr val="1F2937"/>
                          </a:solidFill>
                        </a:rPr>
                        <a:t>Tegishli emas</a:t>
                      </a:r>
                    </a:p>
                  </a:txBody>
                  <a:tcPr marL="73152" marR="73152" marT="36576" marB="36576">
                    <a:solidFill>
                      <a:srgbClr val="E8EEF6"/>
                    </a:solidFill>
                  </a:tcPr>
                </a:tc>
                <a:tc>
                  <a:txBody>
                    <a:bodyPr/>
                    <a:lstStyle/>
                    <a:p>
                      <a:r>
                        <a:rPr sz="1200" b="0">
                          <a:solidFill>
                            <a:srgbClr val="1F2937"/>
                          </a:solidFill>
                        </a:rPr>
                        <a:t>Tor tos, tos deformatsiyasi, chandiq</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Qobiliyatga monelik qiluvchi holatlar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292, 293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Kechayotgan homiladorlikni aniqlash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Homiladorlikda hayz ko‘rilmaydi. Ammo ba’zan homilador ayolda qonli ajralma bo‘lishi yoki ayrim kasalliklar menopauza bilan kechishi mumkinligini unutmang.</a:t>
            </a:r>
          </a:p>
          <a:p>
            <a:pPr>
              <a:spcAft>
                <a:spcPts val="1200"/>
              </a:spcAft>
            </a:pPr>
            <a:r>
              <a:rPr sz="2000">
                <a:solidFill>
                  <a:srgbClr val="1F2937"/>
                </a:solidFill>
                <a:latin typeface="Calibri"/>
              </a:rPr>
              <a:t>▸  Sut bezlari kattalashadi. So‘rg‘ich va uning atrofidagi doira kattalashib, pigmentlanadi. Bu belgilar 2-oydan yaqqol ko‘rinadi.</a:t>
            </a:r>
          </a:p>
          <a:p>
            <a:pPr>
              <a:spcAft>
                <a:spcPts val="1200"/>
              </a:spcAft>
            </a:pPr>
            <a:r>
              <a:rPr sz="2000">
                <a:solidFill>
                  <a:srgbClr val="1F2937"/>
                </a:solidFill>
                <a:latin typeface="Calibri"/>
              </a:rPr>
              <a:t>▸  Laboratoriyada xorial gonadotropin gormoni aniqlanadi; u dastlabki davrdan ishlab chiqariladi. Bachadonning o‘lchami, shakli va zichligi o‘zgaradi. Ikkinchi yarmida qorin kattalashadi, oqimtir chiziqlar (stria gravidarum) va o‘rta chiziqda pigmentatsiya paydo bo‘ladi.</a:t>
            </a:r>
          </a:p>
          <a:p>
            <a:pPr>
              <a:spcAft>
                <a:spcPts val="1200"/>
              </a:spcAft>
            </a:pPr>
            <a:r>
              <a:rPr sz="2000">
                <a:solidFill>
                  <a:srgbClr val="1F2937"/>
                </a:solidFill>
                <a:latin typeface="Calibri"/>
              </a:rPr>
              <a:t>▸  Ishonchli belgilar: auskultatsiyada homila yuragi urishi, palpatsiya va ultratovushda homila tanasi qismlari va qimirlashi. Muddat akusherlikdagidek aniqlanadi.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Bo‘lib o‘tgan tug‘ruqni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Dastlabki kunlarda sut bezlari shishgan, so‘rg‘ich doirasi to‘qroq, ajralma chiqadi. Jinsiy oraliq keng, qinga kirish ochiq, qin devorlari biroz tushgan bo‘ladi.</a:t>
            </a:r>
          </a:p>
          <a:p>
            <a:pPr>
              <a:spcAft>
                <a:spcPts val="1200"/>
              </a:spcAft>
            </a:pPr>
            <a:r>
              <a:rPr sz="2000">
                <a:solidFill>
                  <a:srgbClr val="1F2937"/>
                </a:solidFill>
                <a:latin typeface="Calibri"/>
              </a:rPr>
              <a:t>▸  Tug‘ruqda qizlik pardasi shikastlanadi. Uning o‘rnida qon quyilishli alohida laxtaklar — mirtasimon so‘rg‘ichlar qoladi. Bachadon bo‘yinchasi dastlab silliqlashgan, tashqi teshigi ochiq bo‘ladi.</a:t>
            </a:r>
          </a:p>
          <a:p>
            <a:pPr>
              <a:spcAft>
                <a:spcPts val="1200"/>
              </a:spcAft>
            </a:pPr>
            <a:r>
              <a:rPr sz="2000">
                <a:solidFill>
                  <a:srgbClr val="1F2937"/>
                </a:solidFill>
                <a:latin typeface="Calibri"/>
              </a:rPr>
              <a:t>▸  Tug‘gan ayolda bachadon bo‘yinchasining tashqi teshigi yoriqsimon, tug‘magan ayolda odatda dumaloq. Muddatni involyusiya (bachadonning kichrayishi) va ajralmalar ko‘rsatadi.</a:t>
            </a:r>
          </a:p>
          <a:p>
            <a:pPr>
              <a:spcAft>
                <a:spcPts val="1200"/>
              </a:spcAft>
            </a:pPr>
            <a:r>
              <a:rPr sz="2000">
                <a:solidFill>
                  <a:srgbClr val="1F2937"/>
                </a:solidFill>
                <a:latin typeface="Calibri"/>
              </a:rPr>
              <a:t>▸  Dastlabki kunlarda tug‘ruq muddatini aniqlash qiyin emas. Keyin faqat tug‘ruq bo‘lganini aytish mumkin: yoriqsimon teshik, mirtasimon so‘rg‘ichlar, qin silliqlanishi, qorin terisidagi mayda chandiqlar.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293–294, 294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Abort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Abort — homiladorlikning 22 haftasigacha uzilishi. U o‘z-o‘zidan yoki sun’iy bo‘lishi mumkin.</a:t>
            </a:r>
          </a:p>
          <a:p>
            <a:pPr>
              <a:spcAft>
                <a:spcPts val="800"/>
              </a:spcAft>
            </a:pPr>
            <a:r>
              <a:rPr sz="1800">
                <a:solidFill>
                  <a:srgbClr val="1F2937"/>
                </a:solidFill>
                <a:latin typeface="Calibri"/>
              </a:rPr>
              <a:t>▸  Sun’iy abort tibbiy (artifitsial) va jinoiy turlarga bo‘linadi. Farq bajaruvchi va sharoitda.</a:t>
            </a:r>
          </a:p>
          <a:p>
            <a:pPr>
              <a:spcAft>
                <a:spcPts val="800"/>
              </a:spcAft>
            </a:pPr>
            <a:r>
              <a:rPr sz="1800">
                <a:solidFill>
                  <a:srgbClr val="1F2937"/>
                </a:solidFill>
                <a:latin typeface="Calibri"/>
              </a:rPr>
              <a:t>▸  Jinoyat kodeksi (JK) 114-moddasi jinoiy abort uchun javobgarlikni belgilaydi.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40084"/>
                <a:gridCol w="1997679"/>
                <a:gridCol w="2350211"/>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Tibbiy abort</a:t>
                      </a:r>
                    </a:p>
                  </a:txBody>
                  <a:tcPr marL="73152" marR="73152" marT="36576" marB="36576">
                    <a:solidFill>
                      <a:srgbClr val="0B1F3A"/>
                    </a:solidFill>
                  </a:tcPr>
                </a:tc>
                <a:tc>
                  <a:txBody>
                    <a:bodyPr/>
                    <a:lstStyle/>
                    <a:p>
                      <a:r>
                        <a:rPr sz="1300" b="1">
                          <a:solidFill>
                            <a:srgbClr val="FFFFFF"/>
                          </a:solidFill>
                        </a:rPr>
                        <a:t>Jinoiy abort</a:t>
                      </a:r>
                    </a:p>
                  </a:txBody>
                  <a:tcPr marL="73152" marR="73152" marT="36576" marB="36576">
                    <a:solidFill>
                      <a:srgbClr val="0B1F3A"/>
                    </a:solidFill>
                  </a:tcPr>
                </a:tc>
              </a:tr>
              <a:tr h="411480">
                <a:tc>
                  <a:txBody>
                    <a:bodyPr/>
                    <a:lstStyle/>
                    <a:p>
                      <a:r>
                        <a:rPr sz="1200" b="0">
                          <a:solidFill>
                            <a:srgbClr val="1F2937"/>
                          </a:solidFill>
                        </a:rPr>
                        <a:t>Bajaruvchi</a:t>
                      </a:r>
                    </a:p>
                  </a:txBody>
                  <a:tcPr marL="73152" marR="73152" marT="36576" marB="36576">
                    <a:solidFill>
                      <a:srgbClr val="E8EEF6"/>
                    </a:solidFill>
                  </a:tcPr>
                </a:tc>
                <a:tc>
                  <a:txBody>
                    <a:bodyPr/>
                    <a:lstStyle/>
                    <a:p>
                      <a:r>
                        <a:rPr sz="1200" b="0">
                          <a:solidFill>
                            <a:srgbClr val="1F2937"/>
                          </a:solidFill>
                        </a:rPr>
                        <a:t>Akusher-ginekolog</a:t>
                      </a:r>
                    </a:p>
                  </a:txBody>
                  <a:tcPr marL="73152" marR="73152" marT="36576" marB="36576">
                    <a:solidFill>
                      <a:srgbClr val="E8EEF6"/>
                    </a:solidFill>
                  </a:tcPr>
                </a:tc>
                <a:tc>
                  <a:txBody>
                    <a:bodyPr/>
                    <a:lstStyle/>
                    <a:p>
                      <a:r>
                        <a:rPr sz="1200" b="0">
                          <a:solidFill>
                            <a:srgbClr val="1F2937"/>
                          </a:solidFill>
                        </a:rPr>
                        <a:t>Tayyorgarligisiz xodim yoki bilimsiz shaxs</a:t>
                      </a:r>
                    </a:p>
                  </a:txBody>
                  <a:tcPr marL="73152" marR="73152" marT="36576" marB="36576">
                    <a:solidFill>
                      <a:srgbClr val="E8EEF6"/>
                    </a:solidFill>
                  </a:tcPr>
                </a:tc>
              </a:tr>
              <a:tr h="411480">
                <a:tc>
                  <a:txBody>
                    <a:bodyPr/>
                    <a:lstStyle/>
                    <a:p>
                      <a:r>
                        <a:rPr sz="1200" b="0">
                          <a:solidFill>
                            <a:srgbClr val="1F2937"/>
                          </a:solidFill>
                        </a:rPr>
                        <a:t>Joy</a:t>
                      </a:r>
                    </a:p>
                  </a:txBody>
                  <a:tcPr marL="73152" marR="73152" marT="36576" marB="36576">
                    <a:solidFill>
                      <a:srgbClr val="FFFFFF"/>
                    </a:solidFill>
                  </a:tcPr>
                </a:tc>
                <a:tc>
                  <a:txBody>
                    <a:bodyPr/>
                    <a:lstStyle/>
                    <a:p>
                      <a:r>
                        <a:rPr sz="1200" b="0">
                          <a:solidFill>
                            <a:srgbClr val="1F2937"/>
                          </a:solidFill>
                        </a:rPr>
                        <a:t>Tibbiyot muassasasi, qoidaga rioya</a:t>
                      </a:r>
                    </a:p>
                  </a:txBody>
                  <a:tcPr marL="73152" marR="73152" marT="36576" marB="36576">
                    <a:solidFill>
                      <a:srgbClr val="FFFFFF"/>
                    </a:solidFill>
                  </a:tcPr>
                </a:tc>
                <a:tc>
                  <a:txBody>
                    <a:bodyPr/>
                    <a:lstStyle/>
                    <a:p>
                      <a:r>
                        <a:rPr sz="1200" b="0">
                          <a:solidFill>
                            <a:srgbClr val="1F2937"/>
                          </a:solidFill>
                        </a:rPr>
                        <a:t>Muassasada yoki undan tashqarida</a:t>
                      </a:r>
                    </a:p>
                  </a:txBody>
                  <a:tcPr marL="73152" marR="73152" marT="36576" marB="36576">
                    <a:solidFill>
                      <a:srgbClr val="FFFFFF"/>
                    </a:solidFill>
                  </a:tcPr>
                </a:tc>
              </a:tr>
              <a:tr h="411480">
                <a:tc>
                  <a:txBody>
                    <a:bodyPr/>
                    <a:lstStyle/>
                    <a:p>
                      <a:r>
                        <a:rPr sz="1200" b="0">
                          <a:solidFill>
                            <a:srgbClr val="1F2937"/>
                          </a:solidFill>
                        </a:rPr>
                        <a:t>Usul/tekshiruv</a:t>
                      </a:r>
                    </a:p>
                  </a:txBody>
                  <a:tcPr marL="73152" marR="73152" marT="36576" marB="36576">
                    <a:solidFill>
                      <a:srgbClr val="E8EEF6"/>
                    </a:solidFill>
                  </a:tcPr>
                </a:tc>
                <a:tc>
                  <a:txBody>
                    <a:bodyPr/>
                    <a:lstStyle/>
                    <a:p>
                      <a:r>
                        <a:rPr sz="1200" b="0">
                          <a:solidFill>
                            <a:srgbClr val="1F2937"/>
                          </a:solidFill>
                        </a:rPr>
                        <a:t>Oldindan tekshiruv, keyin kuzatuv</a:t>
                      </a:r>
                    </a:p>
                  </a:txBody>
                  <a:tcPr marL="73152" marR="73152" marT="36576" marB="36576">
                    <a:solidFill>
                      <a:srgbClr val="E8EEF6"/>
                    </a:solidFill>
                  </a:tcPr>
                </a:tc>
                <a:tc>
                  <a:txBody>
                    <a:bodyPr/>
                    <a:lstStyle/>
                    <a:p>
                      <a:r>
                        <a:rPr sz="1200" b="0">
                          <a:solidFill>
                            <a:srgbClr val="1F2937"/>
                          </a:solidFill>
                        </a:rPr>
                        <a:t>Mexanik, kimyoviy, termik usullar</a:t>
                      </a:r>
                    </a:p>
                  </a:txBody>
                  <a:tcPr marL="73152" marR="73152" marT="36576" marB="36576">
                    <a:solidFill>
                      <a:srgbClr val="E8EEF6"/>
                    </a:solidFill>
                  </a:tcPr>
                </a:tc>
              </a:tr>
              <a:tr h="411480">
                <a:tc>
                  <a:txBody>
                    <a:bodyPr/>
                    <a:lstStyle/>
                    <a:p>
                      <a:r>
                        <a:rPr sz="1200" b="0">
                          <a:solidFill>
                            <a:srgbClr val="1F2937"/>
                          </a:solidFill>
                        </a:rPr>
                        <a:t>Huquqiy holat</a:t>
                      </a:r>
                    </a:p>
                  </a:txBody>
                  <a:tcPr marL="73152" marR="73152" marT="36576" marB="36576">
                    <a:solidFill>
                      <a:srgbClr val="FFFFFF"/>
                    </a:solidFill>
                  </a:tcPr>
                </a:tc>
                <a:tc>
                  <a:txBody>
                    <a:bodyPr/>
                    <a:lstStyle/>
                    <a:p>
                      <a:r>
                        <a:rPr sz="1200" b="0">
                          <a:solidFill>
                            <a:srgbClr val="1F2937"/>
                          </a:solidFill>
                        </a:rPr>
                        <a:t>Belgilangan tartibda o‘tkaziladi</a:t>
                      </a:r>
                    </a:p>
                  </a:txBody>
                  <a:tcPr marL="73152" marR="73152" marT="36576" marB="36576">
                    <a:solidFill>
                      <a:srgbClr val="FFFFFF"/>
                    </a:solidFill>
                  </a:tcPr>
                </a:tc>
                <a:tc>
                  <a:txBody>
                    <a:bodyPr/>
                    <a:lstStyle/>
                    <a:p>
                      <a:r>
                        <a:rPr sz="1200" b="0">
                          <a:solidFill>
                            <a:srgbClr val="1F2937"/>
                          </a:solidFill>
                        </a:rPr>
                        <a:t>JK 114-modda bo‘yicha jinoyat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Tibbiy va jinoiy abort farqi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Jinoiy abort usullari va oqibatlari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Jinoiy abortni tayyorgarligi yo‘q shaxslar o‘tkazadi. Jinoyat kodeksining 114-moddasi javobgarlikni belgilaydi.</a:t>
            </a:r>
          </a:p>
          <a:p>
            <a:pPr>
              <a:spcAft>
                <a:spcPts val="800"/>
              </a:spcAft>
            </a:pPr>
            <a:r>
              <a:rPr sz="1800">
                <a:solidFill>
                  <a:srgbClr val="1F2937"/>
                </a:solidFill>
                <a:latin typeface="Calibri"/>
              </a:rPr>
              <a:t>▸  Usul tanadagi izlarni belgilaydi: mexanik, kimyoviy, termik. Elektr toki juda kam ishlatiladi.</a:t>
            </a:r>
          </a:p>
          <a:p>
            <a:pPr>
              <a:spcAft>
                <a:spcPts val="800"/>
              </a:spcAft>
            </a:pPr>
            <a:r>
              <a:rPr sz="1800">
                <a:solidFill>
                  <a:srgbClr val="1F2937"/>
                </a:solidFill>
                <a:latin typeface="Calibri"/>
              </a:rPr>
              <a:t>▸  Xavfli asoratlar: havo emboliyasi, shok, qon ketish, perforatsiya, zaharlanish, infeksiya.</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940084"/>
                <a:gridCol w="2056434"/>
                <a:gridCol w="2291455"/>
              </a:tblGrid>
              <a:tr h="411480">
                <a:tc>
                  <a:txBody>
                    <a:bodyPr/>
                    <a:lstStyle/>
                    <a:p>
                      <a:r>
                        <a:rPr sz="1300" b="1">
                          <a:solidFill>
                            <a:srgbClr val="FFFFFF"/>
                          </a:solidFill>
                        </a:rPr>
                        <a:t>Usul</a:t>
                      </a:r>
                    </a:p>
                  </a:txBody>
                  <a:tcPr marL="73152" marR="73152" marT="36576" marB="36576">
                    <a:solidFill>
                      <a:srgbClr val="0B1F3A"/>
                    </a:solidFill>
                  </a:tcPr>
                </a:tc>
                <a:tc>
                  <a:txBody>
                    <a:bodyPr/>
                    <a:lstStyle/>
                    <a:p>
                      <a:r>
                        <a:rPr sz="1300" b="1">
                          <a:solidFill>
                            <a:srgbClr val="FFFFFF"/>
                          </a:solidFill>
                        </a:rPr>
                        <a:t>Vosita</a:t>
                      </a:r>
                    </a:p>
                  </a:txBody>
                  <a:tcPr marL="73152" marR="73152" marT="36576" marB="36576">
                    <a:solidFill>
                      <a:srgbClr val="0B1F3A"/>
                    </a:solidFill>
                  </a:tcPr>
                </a:tc>
                <a:tc>
                  <a:txBody>
                    <a:bodyPr/>
                    <a:lstStyle/>
                    <a:p>
                      <a:r>
                        <a:rPr sz="1300" b="1">
                          <a:solidFill>
                            <a:srgbClr val="FFFFFF"/>
                          </a:solidFill>
                        </a:rPr>
                        <a:t>Topiladigan iz</a:t>
                      </a:r>
                    </a:p>
                  </a:txBody>
                  <a:tcPr marL="73152" marR="73152" marT="36576" marB="36576">
                    <a:solidFill>
                      <a:srgbClr val="0B1F3A"/>
                    </a:solidFill>
                  </a:tcPr>
                </a:tc>
              </a:tr>
              <a:tr h="411480">
                <a:tc>
                  <a:txBody>
                    <a:bodyPr/>
                    <a:lstStyle/>
                    <a:p>
                      <a:r>
                        <a:rPr sz="1200" b="0">
                          <a:solidFill>
                            <a:srgbClr val="1F2937"/>
                          </a:solidFill>
                        </a:rPr>
                        <a:t>Mexanik</a:t>
                      </a:r>
                    </a:p>
                  </a:txBody>
                  <a:tcPr marL="73152" marR="73152" marT="36576" marB="36576">
                    <a:solidFill>
                      <a:srgbClr val="E8EEF6"/>
                    </a:solidFill>
                  </a:tcPr>
                </a:tc>
                <a:tc>
                  <a:txBody>
                    <a:bodyPr/>
                    <a:lstStyle/>
                    <a:p>
                      <a:r>
                        <a:rPr sz="1200" b="0">
                          <a:solidFill>
                            <a:srgbClr val="1F2937"/>
                          </a:solidFill>
                        </a:rPr>
                        <a:t>Anjom, jism, bosim ostida suyuqlik</a:t>
                      </a:r>
                    </a:p>
                  </a:txBody>
                  <a:tcPr marL="73152" marR="73152" marT="36576" marB="36576">
                    <a:solidFill>
                      <a:srgbClr val="E8EEF6"/>
                    </a:solidFill>
                  </a:tcPr>
                </a:tc>
                <a:tc>
                  <a:txBody>
                    <a:bodyPr/>
                    <a:lstStyle/>
                    <a:p>
                      <a:r>
                        <a:rPr sz="1200" b="0">
                          <a:solidFill>
                            <a:srgbClr val="1F2937"/>
                          </a:solidFill>
                        </a:rPr>
                        <a:t>Shilinma, qontalash, yara, qon quyilish</a:t>
                      </a:r>
                    </a:p>
                  </a:txBody>
                  <a:tcPr marL="73152" marR="73152" marT="36576" marB="36576">
                    <a:solidFill>
                      <a:srgbClr val="E8EEF6"/>
                    </a:solidFill>
                  </a:tcPr>
                </a:tc>
              </a:tr>
              <a:tr h="411480">
                <a:tc>
                  <a:txBody>
                    <a:bodyPr/>
                    <a:lstStyle/>
                    <a:p>
                      <a:r>
                        <a:rPr sz="1200" b="0">
                          <a:solidFill>
                            <a:srgbClr val="1F2937"/>
                          </a:solidFill>
                        </a:rPr>
                        <a:t>Kimyoviy</a:t>
                      </a:r>
                    </a:p>
                  </a:txBody>
                  <a:tcPr marL="73152" marR="73152" marT="36576" marB="36576">
                    <a:solidFill>
                      <a:srgbClr val="FFFFFF"/>
                    </a:solidFill>
                  </a:tcPr>
                </a:tc>
                <a:tc>
                  <a:txBody>
                    <a:bodyPr/>
                    <a:lstStyle/>
                    <a:p>
                      <a:r>
                        <a:rPr sz="1200" b="0">
                          <a:solidFill>
                            <a:srgbClr val="1F2937"/>
                          </a:solidFill>
                        </a:rPr>
                        <a:t>Dori, kislota, ishqor, spirt, sovun</a:t>
                      </a:r>
                    </a:p>
                  </a:txBody>
                  <a:tcPr marL="73152" marR="73152" marT="36576" marB="36576">
                    <a:solidFill>
                      <a:srgbClr val="FFFFFF"/>
                    </a:solidFill>
                  </a:tcPr>
                </a:tc>
                <a:tc>
                  <a:txBody>
                    <a:bodyPr/>
                    <a:lstStyle/>
                    <a:p>
                      <a:r>
                        <a:rPr sz="1200" b="0">
                          <a:solidFill>
                            <a:srgbClr val="1F2937"/>
                          </a:solidFill>
                        </a:rPr>
                        <a:t>Zaharlanish, kimyoviy kuyish</a:t>
                      </a:r>
                    </a:p>
                  </a:txBody>
                  <a:tcPr marL="73152" marR="73152" marT="36576" marB="36576">
                    <a:solidFill>
                      <a:srgbClr val="FFFFFF"/>
                    </a:solidFill>
                  </a:tcPr>
                </a:tc>
              </a:tr>
              <a:tr h="411480">
                <a:tc>
                  <a:txBody>
                    <a:bodyPr/>
                    <a:lstStyle/>
                    <a:p>
                      <a:r>
                        <a:rPr sz="1200" b="0">
                          <a:solidFill>
                            <a:srgbClr val="1F2937"/>
                          </a:solidFill>
                        </a:rPr>
                        <a:t>Termik</a:t>
                      </a:r>
                    </a:p>
                  </a:txBody>
                  <a:tcPr marL="73152" marR="73152" marT="36576" marB="36576">
                    <a:solidFill>
                      <a:srgbClr val="E8EEF6"/>
                    </a:solidFill>
                  </a:tcPr>
                </a:tc>
                <a:tc>
                  <a:txBody>
                    <a:bodyPr/>
                    <a:lstStyle/>
                    <a:p>
                      <a:r>
                        <a:rPr sz="1200" b="0">
                          <a:solidFill>
                            <a:srgbClr val="1F2937"/>
                          </a:solidFill>
                        </a:rPr>
                        <a:t>Issiq suv, issiq vanna</a:t>
                      </a:r>
                    </a:p>
                  </a:txBody>
                  <a:tcPr marL="73152" marR="73152" marT="36576" marB="36576">
                    <a:solidFill>
                      <a:srgbClr val="E8EEF6"/>
                    </a:solidFill>
                  </a:tcPr>
                </a:tc>
                <a:tc>
                  <a:txBody>
                    <a:bodyPr/>
                    <a:lstStyle/>
                    <a:p>
                      <a:r>
                        <a:rPr sz="1200" b="0">
                          <a:solidFill>
                            <a:srgbClr val="1F2937"/>
                          </a:solidFill>
                        </a:rPr>
                        <a:t>Termik kuyish</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Abort usuli va izi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294, 294-295, 295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homiladorlik va abort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O‘quv vaziyati: ayolda homiladorlik uzilgan, tibbiyot muassasasidan tashqarida abort qilinganiga shubha bor.</a:t>
            </a:r>
          </a:p>
          <a:p>
            <a:pPr>
              <a:spcAft>
                <a:spcPts val="1200"/>
              </a:spcAft>
            </a:pPr>
            <a:r>
              <a:rPr sz="2200">
                <a:solidFill>
                  <a:srgbClr val="1F2937"/>
                </a:solidFill>
                <a:latin typeface="Calibri"/>
              </a:rPr>
              <a:t>▸  Ko‘rikda qin va bachadonda shilinma, qontalash, yara va shilliq qavatga qon quyilishi aniqlangan, deylik.</a:t>
            </a:r>
          </a:p>
          <a:p>
            <a:pPr>
              <a:spcAft>
                <a:spcPts val="1200"/>
              </a:spcAft>
            </a:pPr>
            <a:r>
              <a:rPr sz="2200">
                <a:solidFill>
                  <a:srgbClr val="1F2937"/>
                </a:solidFill>
                <a:latin typeface="Calibri"/>
              </a:rPr>
              <a:t>▸  Savol 1: bu izlar qaysi usulga xos? Ekspertiza homiladorlik, uzilish va usulni qanday aniqlaydi?</a:t>
            </a:r>
          </a:p>
          <a:p>
            <a:pPr>
              <a:spcAft>
                <a:spcPts val="1200"/>
              </a:spcAft>
            </a:pPr>
            <a:r>
              <a:rPr sz="2200">
                <a:solidFill>
                  <a:srgbClr val="1F2937"/>
                </a:solidFill>
                <a:latin typeface="Calibri"/>
              </a:rPr>
              <a:t>▸  Savol 2: ayolda qanday hayot uchun xavfli asoratlar (emboliya, shok, perforatsiya) kutilishi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294, 295, 294-295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Jinsiy jinoyatlar va Jinoyat kodeksi moddalari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113-modda: tanosil kasalligi yoki OIV (odam immunitet tanqisligi virusi)ni bila turib yuqtirish.</a:t>
            </a:r>
          </a:p>
          <a:p>
            <a:pPr>
              <a:spcAft>
                <a:spcPts val="800"/>
              </a:spcAft>
            </a:pPr>
            <a:r>
              <a:rPr sz="1800">
                <a:solidFill>
                  <a:srgbClr val="1F2937"/>
                </a:solidFill>
                <a:latin typeface="Calibri"/>
              </a:rPr>
              <a:t>▸  Besoqolbozlikda ikkala qatnashchi javobgar. Zo‘rlik bo‘lsa, faqat aktiv qatnashchi 119-modda bo‘yicha javob beradi.</a:t>
            </a:r>
          </a:p>
          <a:p>
            <a:pPr>
              <a:spcAft>
                <a:spcPts val="800"/>
              </a:spcAft>
            </a:pPr>
            <a:r>
              <a:rPr sz="1800">
                <a:solidFill>
                  <a:srgbClr val="1F2937"/>
                </a:solidFill>
                <a:latin typeface="Calibri"/>
              </a:rPr>
              <a:t>▸  Diqqat: 118 ≠ 120. Nomusga tegishda zo‘rlik bor, besoqolbozlikda zo‘rliksiz.</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07233"/>
                <a:gridCol w="2455131"/>
                <a:gridCol w="1825610"/>
              </a:tblGrid>
              <a:tr h="411480">
                <a:tc>
                  <a:txBody>
                    <a:bodyPr/>
                    <a:lstStyle/>
                    <a:p>
                      <a:r>
                        <a:rPr sz="1300" b="1">
                          <a:solidFill>
                            <a:srgbClr val="FFFFFF"/>
                          </a:solidFill>
                        </a:rPr>
                        <a:t>Modda</a:t>
                      </a:r>
                    </a:p>
                  </a:txBody>
                  <a:tcPr marL="73152" marR="73152" marT="36576" marB="36576">
                    <a:solidFill>
                      <a:srgbClr val="0B1F3A"/>
                    </a:solidFill>
                  </a:tcPr>
                </a:tc>
                <a:tc>
                  <a:txBody>
                    <a:bodyPr/>
                    <a:lstStyle/>
                    <a:p>
                      <a:r>
                        <a:rPr sz="1300" b="1">
                          <a:solidFill>
                            <a:srgbClr val="FFFFFF"/>
                          </a:solidFill>
                        </a:rPr>
                        <a:t>Mazmuni</a:t>
                      </a:r>
                    </a:p>
                  </a:txBody>
                  <a:tcPr marL="73152" marR="73152" marT="36576" marB="36576">
                    <a:solidFill>
                      <a:srgbClr val="0B1F3A"/>
                    </a:solidFill>
                  </a:tcPr>
                </a:tc>
                <a:tc>
                  <a:txBody>
                    <a:bodyPr/>
                    <a:lstStyle/>
                    <a:p>
                      <a:r>
                        <a:rPr sz="1300" b="1">
                          <a:solidFill>
                            <a:srgbClr val="FFFFFF"/>
                          </a:solidFill>
                        </a:rPr>
                        <a:t>Guruh</a:t>
                      </a:r>
                    </a:p>
                  </a:txBody>
                  <a:tcPr marL="73152" marR="73152" marT="36576" marB="36576">
                    <a:solidFill>
                      <a:srgbClr val="0B1F3A"/>
                    </a:solidFill>
                  </a:tcPr>
                </a:tc>
              </a:tr>
              <a:tr h="411480">
                <a:tc>
                  <a:txBody>
                    <a:bodyPr/>
                    <a:lstStyle/>
                    <a:p>
                      <a:r>
                        <a:rPr sz="1200" b="0">
                          <a:solidFill>
                            <a:srgbClr val="1F2937"/>
                          </a:solidFill>
                        </a:rPr>
                        <a:t>118</a:t>
                      </a:r>
                    </a:p>
                  </a:txBody>
                  <a:tcPr marL="73152" marR="73152" marT="36576" marB="36576">
                    <a:solidFill>
                      <a:srgbClr val="E8EEF6"/>
                    </a:solidFill>
                  </a:tcPr>
                </a:tc>
                <a:tc>
                  <a:txBody>
                    <a:bodyPr/>
                    <a:lstStyle/>
                    <a:p>
                      <a:r>
                        <a:rPr sz="1200" b="0">
                          <a:solidFill>
                            <a:srgbClr val="1F2937"/>
                          </a:solidFill>
                        </a:rPr>
                        <a:t>Nomusga tegish: xohishga qarshi aloqa</a:t>
                      </a:r>
                    </a:p>
                  </a:txBody>
                  <a:tcPr marL="73152" marR="73152" marT="36576" marB="36576">
                    <a:solidFill>
                      <a:srgbClr val="E8EEF6"/>
                    </a:solidFill>
                  </a:tcPr>
                </a:tc>
                <a:tc>
                  <a:txBody>
                    <a:bodyPr/>
                    <a:lstStyle/>
                    <a:p>
                      <a:r>
                        <a:rPr sz="1200" b="0">
                          <a:solidFill>
                            <a:srgbClr val="1F2937"/>
                          </a:solidFill>
                        </a:rPr>
                        <a:t>Jinsiy erkinlikka qarshi</a:t>
                      </a:r>
                    </a:p>
                  </a:txBody>
                  <a:tcPr marL="73152" marR="73152" marT="36576" marB="36576">
                    <a:solidFill>
                      <a:srgbClr val="E8EEF6"/>
                    </a:solidFill>
                  </a:tcPr>
                </a:tc>
              </a:tr>
              <a:tr h="411480">
                <a:tc>
                  <a:txBody>
                    <a:bodyPr/>
                    <a:lstStyle/>
                    <a:p>
                      <a:r>
                        <a:rPr sz="1200" b="0">
                          <a:solidFill>
                            <a:srgbClr val="1F2937"/>
                          </a:solidFill>
                        </a:rPr>
                        <a:t>119</a:t>
                      </a:r>
                    </a:p>
                  </a:txBody>
                  <a:tcPr marL="73152" marR="73152" marT="36576" marB="36576">
                    <a:solidFill>
                      <a:srgbClr val="FFFFFF"/>
                    </a:solidFill>
                  </a:tcPr>
                </a:tc>
                <a:tc>
                  <a:txBody>
                    <a:bodyPr/>
                    <a:lstStyle/>
                    <a:p>
                      <a:r>
                        <a:rPr sz="1200" b="0">
                          <a:solidFill>
                            <a:srgbClr val="1F2937"/>
                          </a:solidFill>
                        </a:rPr>
                        <a:t>G‘ayritabiiy usulda ehtiyojni qondirish</a:t>
                      </a:r>
                    </a:p>
                  </a:txBody>
                  <a:tcPr marL="73152" marR="73152" marT="36576" marB="36576">
                    <a:solidFill>
                      <a:srgbClr val="FFFFFF"/>
                    </a:solidFill>
                  </a:tcPr>
                </a:tc>
                <a:tc>
                  <a:txBody>
                    <a:bodyPr/>
                    <a:lstStyle/>
                    <a:p>
                      <a:r>
                        <a:rPr sz="1200" b="0">
                          <a:solidFill>
                            <a:srgbClr val="1F2937"/>
                          </a:solidFill>
                        </a:rPr>
                        <a:t>Jinsiy erkinlikka qarshi</a:t>
                      </a:r>
                    </a:p>
                  </a:txBody>
                  <a:tcPr marL="73152" marR="73152" marT="36576" marB="36576">
                    <a:solidFill>
                      <a:srgbClr val="FFFFFF"/>
                    </a:solidFill>
                  </a:tcPr>
                </a:tc>
              </a:tr>
              <a:tr h="411480">
                <a:tc>
                  <a:txBody>
                    <a:bodyPr/>
                    <a:lstStyle/>
                    <a:p>
                      <a:r>
                        <a:rPr sz="1200" b="0">
                          <a:solidFill>
                            <a:srgbClr val="1F2937"/>
                          </a:solidFill>
                        </a:rPr>
                        <a:t>120</a:t>
                      </a:r>
                    </a:p>
                  </a:txBody>
                  <a:tcPr marL="73152" marR="73152" marT="36576" marB="36576">
                    <a:solidFill>
                      <a:srgbClr val="E8EEF6"/>
                    </a:solidFill>
                  </a:tcPr>
                </a:tc>
                <a:tc>
                  <a:txBody>
                    <a:bodyPr/>
                    <a:lstStyle/>
                    <a:p>
                      <a:r>
                        <a:rPr sz="1200" b="0">
                          <a:solidFill>
                            <a:srgbClr val="1F2937"/>
                          </a:solidFill>
                        </a:rPr>
                        <a:t>Besoqolbozlik: erkak bilan erkak</a:t>
                      </a:r>
                    </a:p>
                  </a:txBody>
                  <a:tcPr marL="73152" marR="73152" marT="36576" marB="36576">
                    <a:solidFill>
                      <a:srgbClr val="E8EEF6"/>
                    </a:solidFill>
                  </a:tcPr>
                </a:tc>
                <a:tc>
                  <a:txBody>
                    <a:bodyPr/>
                    <a:lstStyle/>
                    <a:p>
                      <a:r>
                        <a:rPr sz="1200" b="0">
                          <a:solidFill>
                            <a:srgbClr val="1F2937"/>
                          </a:solidFill>
                        </a:rPr>
                        <a:t>Jinsiy erkinlikka qarshi</a:t>
                      </a:r>
                    </a:p>
                  </a:txBody>
                  <a:tcPr marL="73152" marR="73152" marT="36576" marB="36576">
                    <a:solidFill>
                      <a:srgbClr val="E8EEF6"/>
                    </a:solidFill>
                  </a:tcPr>
                </a:tc>
              </a:tr>
              <a:tr h="411480">
                <a:tc>
                  <a:txBody>
                    <a:bodyPr/>
                    <a:lstStyle/>
                    <a:p>
                      <a:r>
                        <a:rPr sz="1200" b="0">
                          <a:solidFill>
                            <a:srgbClr val="1F2937"/>
                          </a:solidFill>
                        </a:rPr>
                        <a:t>129</a:t>
                      </a:r>
                    </a:p>
                  </a:txBody>
                  <a:tcPr marL="73152" marR="73152" marT="36576" marB="36576">
                    <a:solidFill>
                      <a:srgbClr val="FFFFFF"/>
                    </a:solidFill>
                  </a:tcPr>
                </a:tc>
                <a:tc>
                  <a:txBody>
                    <a:bodyPr/>
                    <a:lstStyle/>
                    <a:p>
                      <a:r>
                        <a:rPr sz="1200" b="0">
                          <a:solidFill>
                            <a:srgbClr val="1F2937"/>
                          </a:solidFill>
                        </a:rPr>
                        <a:t>Fahsh harakatlari (16 yoshgacha)</a:t>
                      </a:r>
                    </a:p>
                  </a:txBody>
                  <a:tcPr marL="73152" marR="73152" marT="36576" marB="36576">
                    <a:solidFill>
                      <a:srgbClr val="FFFFFF"/>
                    </a:solidFill>
                  </a:tcPr>
                </a:tc>
                <a:tc>
                  <a:txBody>
                    <a:bodyPr/>
                    <a:lstStyle/>
                    <a:p>
                      <a:r>
                        <a:rPr sz="1200" b="0">
                          <a:solidFill>
                            <a:srgbClr val="1F2937"/>
                          </a:solidFill>
                        </a:rPr>
                        <a:t>Oila, yoshlar, ahloqqa qarshi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Jinoyat kodeksi moddalari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299, 297-298, 295, 297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Nomusga tegish: ekspertiza tartibi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118-modda: jabrlanuvchining xohishiga qarshi zo‘rlik, qo‘rqitish yoki ojizligidan foydalanib jinsiy aloqa qilish. Nazariy jihatdan erkaklar ham jabrlanadi, amalda asosan ayollar.</a:t>
            </a:r>
          </a:p>
          <a:p>
            <a:pPr>
              <a:spcAft>
                <a:spcPts val="1200"/>
              </a:spcAft>
            </a:pPr>
            <a:r>
              <a:rPr sz="2000">
                <a:solidFill>
                  <a:srgbClr val="1F2937"/>
                </a:solidFill>
                <a:latin typeface="Calibri"/>
              </a:rPr>
              <a:t>▸  Ko‘rikdan oldin ekspertiza tayinlash qarori, hodisa joyini ko‘zdan kechirish bayonnomasi va tibbiy hujjatlar o‘rganiladi. So‘ngra jabrlanuvchi so‘roq qilinadi.</a:t>
            </a:r>
          </a:p>
          <a:p>
            <a:pPr>
              <a:spcAft>
                <a:spcPts val="1200"/>
              </a:spcAft>
            </a:pPr>
            <a:r>
              <a:rPr sz="2000">
                <a:solidFill>
                  <a:srgbClr val="1F2937"/>
                </a:solidFill>
                <a:latin typeface="Calibri"/>
              </a:rPr>
              <a:t>▸  Ginekologik anamnez yig‘iladi: hayz ko‘rgan yosh, so‘nggi menstruatsiya, jinsiy hayot boshlanishi, oxirgi jinsiy aloqa, homiladorlik, tug‘ruq va abortlar.</a:t>
            </a:r>
          </a:p>
          <a:p>
            <a:pPr>
              <a:spcAft>
                <a:spcPts val="1200"/>
              </a:spcAft>
            </a:pPr>
            <a:r>
              <a:rPr sz="2000">
                <a:solidFill>
                  <a:srgbClr val="1F2937"/>
                </a:solidFill>
                <a:latin typeface="Calibri"/>
              </a:rPr>
              <a:t>▸  Diqqat: “nomusga tegish” huquqiy tushuncha. Ekspert aloqa yoki urinish, zo‘rlik va ojizlikni tasdiqlovchi ob’ektiv belgilarni izlaydi. Qo‘rqitish ob’ektiv belgi qoldirmaydi.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295, 295-296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Nomusga tegishda jarohatlar va izlar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Zo‘rlikda qontalash va shilinma jinoyatchining qo‘l-oyoqlari bilan yetkaziladi: sonning ichki yuzasi, jinsiy a’zolar, ba’zan ko‘krak va bo‘yin (tishlanma). Kurashda boshqa joylarda ham bo‘ladi.</a:t>
            </a:r>
          </a:p>
          <a:p>
            <a:pPr>
              <a:spcAft>
                <a:spcPts val="1200"/>
              </a:spcAft>
            </a:pPr>
            <a:r>
              <a:rPr sz="2000">
                <a:solidFill>
                  <a:srgbClr val="1F2937"/>
                </a:solidFill>
                <a:latin typeface="Calibri"/>
              </a:rPr>
              <a:t>▸  Qizlik pardasi yorig‘i, ba’zan qin devori va oraliqda qon quyilish, yorilish topiladi. Diqqat: qin va oraliq shikasti jinsiy hayot olib borgan ayolda ham bo‘lishi mumkin.</a:t>
            </a:r>
          </a:p>
          <a:p>
            <a:pPr>
              <a:spcAft>
                <a:spcPts val="1200"/>
              </a:spcAft>
            </a:pPr>
            <a:r>
              <a:rPr sz="2000">
                <a:solidFill>
                  <a:srgbClr val="1F2937"/>
                </a:solidFill>
                <a:latin typeface="Calibri"/>
              </a:rPr>
              <a:t>▸  Qin ichida, qov, oraliq va son sohasida maniy topilishi muhim dalil. Maniydan tashqari soch va qon izlari ham bo‘lishi mumkin.</a:t>
            </a:r>
          </a:p>
          <a:p>
            <a:pPr>
              <a:spcAft>
                <a:spcPts val="1200"/>
              </a:spcAft>
            </a:pPr>
            <a:r>
              <a:rPr sz="2000">
                <a:solidFill>
                  <a:srgbClr val="1F2937"/>
                </a:solidFill>
                <a:latin typeface="Calibri"/>
              </a:rPr>
              <a:t>▸  Surtma va bosmalar voqeadan so‘ng imkon qadar tez olinadi: vaqt o‘tgan sari spermatozoid topilish ehtimoli kamayadi. Ojizlik ruhiy kasallik, yosh, mastlik va boshqalar bilan bog‘liq.</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Gumondor ko‘rigi va g‘ayritabiiy usul (119-modda)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119-modda: zo‘rlik, qo‘rqitish yoki ojizlikdan foydalanib og‘iz yoki orqa chiqaruv teshigiga jinsiy aloqa qilish, ya’ni jinsiy ehtiyojni g‘ayritabiiy usulda qondirish.</a:t>
            </a:r>
          </a:p>
          <a:p>
            <a:pPr>
              <a:spcAft>
                <a:spcPts val="1200"/>
              </a:spcAft>
            </a:pPr>
            <a:r>
              <a:rPr sz="2000">
                <a:solidFill>
                  <a:srgbClr val="1F2937"/>
                </a:solidFill>
                <a:latin typeface="Calibri"/>
              </a:rPr>
              <a:t>▸  Jabrlanuvchida og‘iz bo‘shlig‘i va atrofi, orqa chiqaruv teshigi va atrofi, to‘g‘ri ichakning pastki qismi shikast yoki o‘zgarish borligiga tekshiriladi. Surtma va bosmalar olinadi.</a:t>
            </a:r>
          </a:p>
          <a:p>
            <a:pPr>
              <a:spcAft>
                <a:spcPts val="1200"/>
              </a:spcAft>
            </a:pPr>
            <a:r>
              <a:rPr sz="2000">
                <a:solidFill>
                  <a:srgbClr val="1F2937"/>
                </a:solidFill>
                <a:latin typeface="Calibri"/>
              </a:rPr>
              <a:t>▸  Gumondor ham ko‘rikdan o‘tkaziladi. Tananing turli sohalarida, jumladan tashqi jinsiy a’zolarda, jabrlanuvchi kurashi natijasida qontalash, shilinma va tishlanma izlar bo‘lishi mumkin.</a:t>
            </a:r>
          </a:p>
          <a:p>
            <a:pPr>
              <a:spcAft>
                <a:spcPts val="1200"/>
              </a:spcAft>
            </a:pPr>
            <a:r>
              <a:rPr sz="2000">
                <a:solidFill>
                  <a:srgbClr val="1F2937"/>
                </a:solidFill>
                <a:latin typeface="Calibri"/>
              </a:rPr>
              <a:t>▸  Jinsiy a’zo va qovda ayolga tegishli qon izlari yoki sochlar topilsa, ular laboratoriya tekshiruvi uchun olinadi.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nomusga tegish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1-savol: zo‘rlik ishlatilganini qaysi izlar ko‘rsatadi? Javob: asosan qontalash va shilinmalar, ko‘pincha sonning ichki yuzasida va jinsiy a’zolar sohasida.</a:t>
            </a:r>
          </a:p>
          <a:p>
            <a:pPr>
              <a:spcAft>
                <a:spcPts val="1200"/>
              </a:spcAft>
            </a:pPr>
            <a:r>
              <a:rPr sz="2000">
                <a:solidFill>
                  <a:srgbClr val="1F2937"/>
                </a:solidFill>
                <a:latin typeface="Calibri"/>
              </a:rPr>
              <a:t>▸  2-savol: qo‘rqitish nega iz qoldirmaydi? Javob: qo‘rqitish jabrlanganda ob’ektiv belgilar qoldirmaydi. Shu sabab boshqa tibbiy-biologik belgilar o‘rganiladi.</a:t>
            </a:r>
          </a:p>
          <a:p>
            <a:pPr>
              <a:spcAft>
                <a:spcPts val="1200"/>
              </a:spcAft>
            </a:pPr>
            <a:r>
              <a:rPr sz="2000">
                <a:solidFill>
                  <a:srgbClr val="1F2937"/>
                </a:solidFill>
                <a:latin typeface="Calibri"/>
              </a:rPr>
              <a:t>▸  3-savol: namunani nega tez olish kerak? Vaqt o‘tgan sari spermatozoidlar topilish ehtimoli kamayadi. Qin ichidan surtma, tashqi sohalardan bosma olinadi.</a:t>
            </a:r>
          </a:p>
          <a:p>
            <a:pPr>
              <a:spcAft>
                <a:spcPts val="1200"/>
              </a:spcAft>
            </a:pPr>
            <a:r>
              <a:rPr sz="2000">
                <a:solidFill>
                  <a:srgbClr val="1F2937"/>
                </a:solidFill>
                <a:latin typeface="Calibri"/>
              </a:rPr>
              <a:t>▸  Diqqat: qin va oraliq shikastlanishi jinsiy hayot olib borgan ayollarda ham bo‘lishi mumkin. Bu belgi yolg‘iz o‘zi zo‘rlikni isbotlamaydi.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Besoqolbozlik: aktiv va passiv qatnashchilar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120-modda: erkakning erkak bilan zo‘rliksiz jinsiy ehtiyojini qondirishi (erkak gomoseksualizmi).</a:t>
            </a:r>
          </a:p>
          <a:p>
            <a:pPr>
              <a:spcAft>
                <a:spcPts val="800"/>
              </a:spcAft>
            </a:pPr>
            <a:r>
              <a:rPr sz="1800">
                <a:solidFill>
                  <a:srgbClr val="1F2937"/>
                </a:solidFill>
                <a:latin typeface="Calibri"/>
              </a:rPr>
              <a:t>▸  Aktiv ham, passiv ham qatnashchi jinoyat sub’ekti bo‘lib, ikkovi ham javobgarlikka tortiladi.</a:t>
            </a:r>
          </a:p>
          <a:p>
            <a:pPr>
              <a:spcAft>
                <a:spcPts val="800"/>
              </a:spcAft>
            </a:pPr>
            <a:r>
              <a:rPr sz="1800">
                <a:solidFill>
                  <a:srgbClr val="1F2937"/>
                </a:solidFill>
                <a:latin typeface="Calibri"/>
              </a:rPr>
              <a:t>▸  Zo‘rlik, qo‘rqitish yoki ojizlikdan foydalanilsa, faqat aktiv shaxs 119-modda bilan javob beradi; passiv — jabrlanuvchi.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45297"/>
                <a:gridCol w="1967618"/>
                <a:gridCol w="2275059"/>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Aktiv</a:t>
                      </a:r>
                    </a:p>
                  </a:txBody>
                  <a:tcPr marL="73152" marR="73152" marT="36576" marB="36576">
                    <a:solidFill>
                      <a:srgbClr val="0B1F3A"/>
                    </a:solidFill>
                  </a:tcPr>
                </a:tc>
                <a:tc>
                  <a:txBody>
                    <a:bodyPr/>
                    <a:lstStyle/>
                    <a:p>
                      <a:r>
                        <a:rPr sz="1300" b="1">
                          <a:solidFill>
                            <a:srgbClr val="FFFFFF"/>
                          </a:solidFill>
                        </a:rPr>
                        <a:t>Passiv</a:t>
                      </a:r>
                    </a:p>
                  </a:txBody>
                  <a:tcPr marL="73152" marR="73152" marT="36576" marB="36576">
                    <a:solidFill>
                      <a:srgbClr val="0B1F3A"/>
                    </a:solidFill>
                  </a:tcPr>
                </a:tc>
              </a:tr>
              <a:tr h="411480">
                <a:tc>
                  <a:txBody>
                    <a:bodyPr/>
                    <a:lstStyle/>
                    <a:p>
                      <a:r>
                        <a:rPr sz="1200" b="0">
                          <a:solidFill>
                            <a:srgbClr val="1F2937"/>
                          </a:solidFill>
                        </a:rPr>
                        <a:t>Ko‘rik joyi</a:t>
                      </a:r>
                    </a:p>
                  </a:txBody>
                  <a:tcPr marL="73152" marR="73152" marT="36576" marB="36576">
                    <a:solidFill>
                      <a:srgbClr val="E8EEF6"/>
                    </a:solidFill>
                  </a:tcPr>
                </a:tc>
                <a:tc>
                  <a:txBody>
                    <a:bodyPr/>
                    <a:lstStyle/>
                    <a:p>
                      <a:r>
                        <a:rPr sz="1200" b="0">
                          <a:solidFill>
                            <a:srgbClr val="1F2937"/>
                          </a:solidFill>
                        </a:rPr>
                        <a:t>Olat, qov sohasi</a:t>
                      </a:r>
                    </a:p>
                  </a:txBody>
                  <a:tcPr marL="73152" marR="73152" marT="36576" marB="36576">
                    <a:solidFill>
                      <a:srgbClr val="E8EEF6"/>
                    </a:solidFill>
                  </a:tcPr>
                </a:tc>
                <a:tc>
                  <a:txBody>
                    <a:bodyPr/>
                    <a:lstStyle/>
                    <a:p>
                      <a:r>
                        <a:rPr sz="1200" b="0">
                          <a:solidFill>
                            <a:srgbClr val="1F2937"/>
                          </a:solidFill>
                        </a:rPr>
                        <a:t>Orqa teshik, to‘g‘ri ichak, oraliq</a:t>
                      </a:r>
                    </a:p>
                  </a:txBody>
                  <a:tcPr marL="73152" marR="73152" marT="36576" marB="36576">
                    <a:solidFill>
                      <a:srgbClr val="E8EEF6"/>
                    </a:solidFill>
                  </a:tcPr>
                </a:tc>
              </a:tr>
              <a:tr h="411480">
                <a:tc>
                  <a:txBody>
                    <a:bodyPr/>
                    <a:lstStyle/>
                    <a:p>
                      <a:r>
                        <a:rPr sz="1200" b="0">
                          <a:solidFill>
                            <a:srgbClr val="1F2937"/>
                          </a:solidFill>
                        </a:rPr>
                        <a:t>Topiladigan izlar</a:t>
                      </a:r>
                    </a:p>
                  </a:txBody>
                  <a:tcPr marL="73152" marR="73152" marT="36576" marB="36576">
                    <a:solidFill>
                      <a:srgbClr val="FFFFFF"/>
                    </a:solidFill>
                  </a:tcPr>
                </a:tc>
                <a:tc>
                  <a:txBody>
                    <a:bodyPr/>
                    <a:lstStyle/>
                    <a:p>
                      <a:r>
                        <a:rPr sz="1200" b="0">
                          <a:solidFill>
                            <a:srgbClr val="1F2937"/>
                          </a:solidFill>
                        </a:rPr>
                        <a:t>Qon, soch, axlat, moysimon modda</a:t>
                      </a:r>
                    </a:p>
                  </a:txBody>
                  <a:tcPr marL="73152" marR="73152" marT="36576" marB="36576">
                    <a:solidFill>
                      <a:srgbClr val="FFFFFF"/>
                    </a:solidFill>
                  </a:tcPr>
                </a:tc>
                <a:tc>
                  <a:txBody>
                    <a:bodyPr/>
                    <a:lstStyle/>
                    <a:p>
                      <a:r>
                        <a:rPr sz="1200" b="0">
                          <a:solidFill>
                            <a:srgbClr val="1F2937"/>
                          </a:solidFill>
                        </a:rPr>
                        <a:t>Maniy, soch, moysimon modda zarralari</a:t>
                      </a:r>
                    </a:p>
                  </a:txBody>
                  <a:tcPr marL="73152" marR="73152" marT="36576" marB="36576">
                    <a:solidFill>
                      <a:srgbClr val="FFFFFF"/>
                    </a:solidFill>
                  </a:tcPr>
                </a:tc>
              </a:tr>
              <a:tr h="411480">
                <a:tc>
                  <a:txBody>
                    <a:bodyPr/>
                    <a:lstStyle/>
                    <a:p>
                      <a:r>
                        <a:rPr sz="1200" b="0">
                          <a:solidFill>
                            <a:srgbClr val="1F2937"/>
                          </a:solidFill>
                        </a:rPr>
                        <a:t>Jarohat/o‘zgarish</a:t>
                      </a:r>
                    </a:p>
                  </a:txBody>
                  <a:tcPr marL="73152" marR="73152" marT="36576" marB="36576">
                    <a:solidFill>
                      <a:srgbClr val="E8EEF6"/>
                    </a:solidFill>
                  </a:tcPr>
                </a:tc>
                <a:tc>
                  <a:txBody>
                    <a:bodyPr/>
                    <a:lstStyle/>
                    <a:p>
                      <a:r>
                        <a:rPr sz="1200" b="0">
                          <a:solidFill>
                            <a:srgbClr val="1F2937"/>
                          </a:solidFill>
                        </a:rPr>
                        <a:t>Izlar toj egatchasida saqlanadi</a:t>
                      </a:r>
                    </a:p>
                  </a:txBody>
                  <a:tcPr marL="73152" marR="73152" marT="36576" marB="36576">
                    <a:solidFill>
                      <a:srgbClr val="E8EEF6"/>
                    </a:solidFill>
                  </a:tcPr>
                </a:tc>
                <a:tc>
                  <a:txBody>
                    <a:bodyPr/>
                    <a:lstStyle/>
                    <a:p>
                      <a:r>
                        <a:rPr sz="1200" b="0">
                          <a:solidFill>
                            <a:srgbClr val="1F2937"/>
                          </a:solidFill>
                        </a:rPr>
                        <a:t>Shilinma, qon quyilishi, yoriqlar</a:t>
                      </a:r>
                    </a:p>
                  </a:txBody>
                  <a:tcPr marL="73152" marR="73152" marT="36576" marB="36576">
                    <a:solidFill>
                      <a:srgbClr val="E8EEF6"/>
                    </a:solidFill>
                  </a:tcPr>
                </a:tc>
              </a:tr>
              <a:tr h="411480">
                <a:tc>
                  <a:txBody>
                    <a:bodyPr/>
                    <a:lstStyle/>
                    <a:p>
                      <a:r>
                        <a:rPr sz="1200" b="0">
                          <a:solidFill>
                            <a:srgbClr val="1F2937"/>
                          </a:solidFill>
                        </a:rPr>
                        <a:t>Muntazam aloqada</a:t>
                      </a:r>
                    </a:p>
                  </a:txBody>
                  <a:tcPr marL="73152" marR="73152" marT="36576" marB="36576">
                    <a:solidFill>
                      <a:srgbClr val="FFFFFF"/>
                    </a:solidFill>
                  </a:tcPr>
                </a:tc>
                <a:tc>
                  <a:txBody>
                    <a:bodyPr/>
                    <a:lstStyle/>
                    <a:p>
                      <a:r>
                        <a:rPr sz="1200" b="0">
                          <a:solidFill>
                            <a:srgbClr val="1F2937"/>
                          </a:solidFill>
                        </a:rPr>
                        <a:t>Manbada keltirilmagan</a:t>
                      </a:r>
                    </a:p>
                  </a:txBody>
                  <a:tcPr marL="73152" marR="73152" marT="36576" marB="36576">
                    <a:solidFill>
                      <a:srgbClr val="FFFFFF"/>
                    </a:solidFill>
                  </a:tcPr>
                </a:tc>
                <a:tc>
                  <a:txBody>
                    <a:bodyPr/>
                    <a:lstStyle/>
                    <a:p>
                      <a:r>
                        <a:rPr sz="1200" b="0">
                          <a:solidFill>
                            <a:srgbClr val="1F2937"/>
                          </a:solidFill>
                        </a:rPr>
                        <a:t>Burmalar silliqlashadi, sfinkter zaif</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Aktiv va passiv qatnashchi belgilari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297, 298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Besoqolbozlikda xatolarni oldini olish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Qabziyat yoki ich ketishi bilan kechadigan kasalliklar, proktit, paraproktit, bavosil va to‘g‘ri ichak tushishi xato talqin etilishi mumkin.</a:t>
            </a:r>
          </a:p>
          <a:p>
            <a:pPr>
              <a:spcAft>
                <a:spcPts val="1200"/>
              </a:spcAft>
            </a:pPr>
            <a:r>
              <a:rPr sz="2200">
                <a:solidFill>
                  <a:srgbClr val="1F2937"/>
                </a:solidFill>
                <a:latin typeface="Calibri"/>
              </a:rPr>
              <a:t>▸  Shu sohadagi jarrohlik aralashuvlarning qoldiq izlari ham passiv besoqolbozlikka xos belgi deb noto‘g‘ri baholanishi mumkin.</a:t>
            </a:r>
          </a:p>
          <a:p>
            <a:pPr>
              <a:spcAft>
                <a:spcPts val="1200"/>
              </a:spcAft>
            </a:pPr>
            <a:r>
              <a:rPr sz="2200">
                <a:solidFill>
                  <a:srgbClr val="1F2937"/>
                </a:solidFill>
                <a:latin typeface="Calibri"/>
              </a:rPr>
              <a:t>▸  Passiv qatnashchining so‘rovida bu masalalarga e’tibor beriladi. Kerak bo‘lsa, ekspertiza doirasida proktolog maslahati olinadi.</a:t>
            </a:r>
          </a:p>
          <a:p>
            <a:pPr>
              <a:spcAft>
                <a:spcPts val="1200"/>
              </a:spcAft>
            </a:pPr>
            <a:r>
              <a:rPr sz="2200">
                <a:solidFill>
                  <a:srgbClr val="1F2937"/>
                </a:solidFill>
                <a:latin typeface="Calibri"/>
              </a:rPr>
              <a:t>▸  Diqqat: kasallik belgisi ≠ passiv besoqolbozlik belgisi. Kam sonli aloqada katta yoshli passivda jarohat umuman topilmasligi ham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298, 297–298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Fahsh harakatlari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Fahsh harakatlari – o‘n olti yoshga to‘lmagan shaxsga nisbatan sodir etilgan, shahvoniy xarakterdagi uyatsiz-buzuq harakatlardir.</a:t>
            </a:r>
          </a:p>
          <a:p>
            <a:pPr>
              <a:spcAft>
                <a:spcPts val="1200"/>
              </a:spcAft>
            </a:pPr>
            <a:r>
              <a:rPr sz="2200">
                <a:solidFill>
                  <a:srgbClr val="1F2937"/>
                </a:solidFill>
                <a:latin typeface="Calibri"/>
              </a:rPr>
              <a:t>▸  Misollar: jinsiy a’zoga qo‘l yoki olatni tegizish va ishqalash, oldida yalang‘ochlanish, onanizm, pornografik tasvir va filmlarni ko‘rsatish.</a:t>
            </a:r>
          </a:p>
          <a:p>
            <a:pPr>
              <a:spcAft>
                <a:spcPts val="1200"/>
              </a:spcAft>
            </a:pPr>
            <a:r>
              <a:rPr sz="2200">
                <a:solidFill>
                  <a:srgbClr val="1F2937"/>
                </a:solidFill>
                <a:latin typeface="Calibri"/>
              </a:rPr>
              <a:t>▸  Bu jinoyat oilaga, yoshlarga va axloqqa qarshi jinoyatlar guruhiga kiradi. Javobgarlik Jinoyat kodeksining 129-moddasida belgilangan.</a:t>
            </a:r>
          </a:p>
          <a:p>
            <a:pPr>
              <a:spcAft>
                <a:spcPts val="1200"/>
              </a:spcAft>
            </a:pPr>
            <a:r>
              <a:rPr sz="2200">
                <a:solidFill>
                  <a:srgbClr val="1F2937"/>
                </a:solidFill>
                <a:latin typeface="Calibri"/>
              </a:rPr>
              <a:t>▸  Mumkin bo‘lgan izlar: qizarish, shilinma, qontalash, qinda qon quyilishi, qizlik pardasining noto‘liq yorilishi, maniy izlari. Diqqat: ba’zan hech qanday iz qolmaydi.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Tanosil kasalliklari, OIV/OITS tarqatish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113-modda: o‘zida tanosil kasalligi yoki OIV (odam immunitet tanqisligi virusi)/OITS borligini bila turib yuqtirish yoki xavf ostida qoldirish jinoyatdir.</a:t>
            </a:r>
          </a:p>
          <a:p>
            <a:pPr>
              <a:spcAft>
                <a:spcPts val="1200"/>
              </a:spcAft>
            </a:pPr>
            <a:r>
              <a:rPr sz="2000">
                <a:solidFill>
                  <a:srgbClr val="1F2937"/>
                </a:solidFill>
                <a:latin typeface="Calibri"/>
              </a:rPr>
              <a:t>▸  Bu jinoyatlar hayot yoki sog‘liq uchun xavfli jinoyatlar guruhiga kiradi. Diqqat: nomusga tegish va besoqolbozlik esa jinsiy erkinlikka qarshi jinoyatlardir.</a:t>
            </a:r>
          </a:p>
          <a:p>
            <a:pPr>
              <a:spcAft>
                <a:spcPts val="1200"/>
              </a:spcAft>
            </a:pPr>
            <a:r>
              <a:rPr sz="2000">
                <a:solidFill>
                  <a:srgbClr val="1F2937"/>
                </a:solidFill>
                <a:latin typeface="Calibri"/>
              </a:rPr>
              <a:t>▸  Ekspertiza dermatovenerolog va OITS mutaxassislari ishtirokida o‘tadi: gumondor va jabrlanuvchi ko‘rikdan, laboratoriya tekshiruvidan o‘tadi, hujjatlar tahlil qilinadi.</a:t>
            </a:r>
          </a:p>
          <a:p>
            <a:pPr>
              <a:spcAft>
                <a:spcPts val="1200"/>
              </a:spcAft>
            </a:pPr>
            <a:r>
              <a:rPr sz="2000">
                <a:solidFill>
                  <a:srgbClr val="1F2937"/>
                </a:solidFill>
                <a:latin typeface="Calibri"/>
              </a:rPr>
              <a:t>▸  Kasallik kechish bosqichi hisobga olinadi: kech bosqich aniqlangan shaxs jinoyat sub’ekti. Xizmat vazifasini lozim bajarmagan tibbiyot xodimi ham javobgar bo‘lishi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jinsiy jinoyatlar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ayol nomusga tegish shubhasi bilan ekspertizaga keltirildi. Avval qaror, bayonnoma, tibbiy hujjatlar o‘rganiladi, so‘ng so‘rov va ginekologik anamnez olinadi.</a:t>
            </a:r>
          </a:p>
          <a:p>
            <a:pPr>
              <a:spcAft>
                <a:spcPts val="1200"/>
              </a:spcAft>
            </a:pPr>
            <a:r>
              <a:rPr sz="2000">
                <a:solidFill>
                  <a:srgbClr val="1F2937"/>
                </a:solidFill>
                <a:latin typeface="Calibri"/>
              </a:rPr>
              <a:t>▸  Ko‘rikda sonning ichki yuzasi va jinsiy a’zo sohasida qontalash, shilinma, qizlik pardasida yoriq topilishi mumkin. Qo‘rqitish esa ob’ektiv iz qoldirmaydi.</a:t>
            </a:r>
          </a:p>
          <a:p>
            <a:pPr>
              <a:spcAft>
                <a:spcPts val="1200"/>
              </a:spcAft>
            </a:pPr>
            <a:r>
              <a:rPr sz="2000">
                <a:solidFill>
                  <a:srgbClr val="1F2937"/>
                </a:solidFill>
                <a:latin typeface="Calibri"/>
              </a:rPr>
              <a:t>▸  Qin ichidan surtma, qov, oraliq va sondan bosma voqeadan so‘ng imkon qadar tez olinadi. Vaqt o‘tgan sari spermatozoid topilish ehtimoli kamayadi.</a:t>
            </a:r>
          </a:p>
          <a:p>
            <a:pPr>
              <a:spcAft>
                <a:spcPts val="1200"/>
              </a:spcAft>
            </a:pPr>
            <a:r>
              <a:rPr sz="2000">
                <a:solidFill>
                  <a:srgbClr val="1F2937"/>
                </a:solidFill>
                <a:latin typeface="Calibri"/>
              </a:rPr>
              <a:t>▸  Gumondor ham ko‘rikdan o‘tadi: qontalash, shilinma, tishlanma, jinsiy olat va qovda ayolga tegishli qon va soch izlari izlanadi. Savol: qaysi namunalar olinadi?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295, 296, 297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o‘tkazish algoritmi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Tirik shaxslar ekspertizasi olti bosqichli umumiy algoritm bo‘yicha o‘tkaziladi.</a:t>
            </a:r>
          </a:p>
          <a:p>
            <a:pPr>
              <a:spcAft>
                <a:spcPts val="800"/>
              </a:spcAft>
            </a:pPr>
            <a:r>
              <a:rPr sz="1800">
                <a:solidFill>
                  <a:srgbClr val="1F2937"/>
                </a:solidFill>
                <a:latin typeface="Calibri"/>
              </a:rPr>
              <a:t>▸  Hodisa tafsiloti avvalo ekspertiza tayinlash qarori yoki ajrimidagi ma’lumotlardan o‘rganiladi.</a:t>
            </a:r>
          </a:p>
          <a:p>
            <a:pPr>
              <a:spcAft>
                <a:spcPts val="800"/>
              </a:spcAft>
            </a:pPr>
            <a:r>
              <a:rPr sz="1800">
                <a:solidFill>
                  <a:srgbClr val="1F2937"/>
                </a:solidFill>
                <a:latin typeface="Calibri"/>
              </a:rPr>
              <a:t>▸  Tibbiy hujjatlarning asl nusxasi beriladi; ishonchliligi uchun ekspertiza tayinlagan shaxs javob beradi.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1-2. Hodisa va tibbiy hujjatlar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Shaxsning so‘rovi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Shaxsni ko‘rikdan o‘tkazish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 Qo‘shimcha tekshiruvlar</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6. Ekspert xulosasi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299-300, 300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Ko‘rik shartlari va ishtirok etuvchilar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Shaxs pasport, harbiy bilet yoki tug‘ilganlik guvohnomasi bilan tasdiqlanadi. Hujjat bo‘lmasa, uni ekspertiza tayinlagan shaxs ham tasdiqlashi mumkin.</a:t>
            </a:r>
          </a:p>
          <a:p>
            <a:pPr>
              <a:spcAft>
                <a:spcPts val="1200"/>
              </a:spcAft>
            </a:pPr>
            <a:r>
              <a:rPr sz="2000">
                <a:solidFill>
                  <a:srgbClr val="1F2937"/>
                </a:solidFill>
                <a:latin typeface="Calibri"/>
              </a:rPr>
              <a:t>▸  Jinsiy holat va jinoyatlar ekspertizasida shaxsni tasdiqlovchi hujjatdan tashqari ko‘rikdan o‘tuvchining ikkita fotosurati ham taqdim etiladi.</a:t>
            </a:r>
          </a:p>
          <a:p>
            <a:pPr>
              <a:spcAft>
                <a:spcPts val="1200"/>
              </a:spcAft>
            </a:pPr>
            <a:r>
              <a:rPr sz="2000">
                <a:solidFill>
                  <a:srgbClr val="1F2937"/>
                </a:solidFill>
                <a:latin typeface="Calibri"/>
              </a:rPr>
              <a:t>▸  O‘zga jins ko‘rigida tanani yalang‘ochlashda tergovchi chiqib turadi. Balog‘atga yetmaganlar ota-ona yoki pedagog, layoqatsizlar qonuniy vakil ishtirokida ko‘riladi.</a:t>
            </a:r>
          </a:p>
          <a:p>
            <a:pPr>
              <a:spcAft>
                <a:spcPts val="1200"/>
              </a:spcAft>
            </a:pPr>
            <a:r>
              <a:rPr sz="2000">
                <a:solidFill>
                  <a:srgbClr val="1F2937"/>
                </a:solidFill>
                <a:latin typeface="Calibri"/>
              </a:rPr>
              <a:t>▸  Davolanayotgan bemor ko‘rigi sog‘lig‘i ruxsat bersa, tayinlagan shaxs va davolovchi vrach yoki bo‘lim mudiri ishtirokida o‘tadi; kasallik tarixiga yoziladi.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300, 301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asosiy tezislar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Jinsiy holatlar ekspertizasi jins, jinsiy yetuklik, bokiralik, nasl qoldirish qobiliyati, homiladorlik, tug‘ruq va abortni aniqlash uchun tayinlanadi.</a:t>
            </a:r>
          </a:p>
          <a:p>
            <a:pPr>
              <a:spcAft>
                <a:spcPts val="1200"/>
              </a:spcAft>
            </a:pPr>
            <a:r>
              <a:rPr sz="2200">
                <a:solidFill>
                  <a:srgbClr val="1F2937"/>
                </a:solidFill>
                <a:latin typeface="Calibri"/>
              </a:rPr>
              <a:t>▸  Qizlik pardasi butunligi buzilgan muddat faqat dastlabki haftalarda aniqlanadi; uch haftadan so‘ng bu masalani hal etib bo‘lmaydi.</a:t>
            </a:r>
          </a:p>
          <a:p>
            <a:pPr>
              <a:spcAft>
                <a:spcPts val="1200"/>
              </a:spcAft>
            </a:pPr>
            <a:r>
              <a:rPr sz="2200">
                <a:solidFill>
                  <a:srgbClr val="1F2937"/>
                </a:solidFill>
                <a:latin typeface="Calibri"/>
              </a:rPr>
              <a:t>▸  Nomusga tegishda jarohat, maniy, qon va soch izlari izlanadi. Surtma va bosmalar imkon qadar tez olinadi, chunki vaqt o‘tgan sari natija ishonchliligi kamayadi.</a:t>
            </a:r>
          </a:p>
          <a:p>
            <a:pPr>
              <a:spcAft>
                <a:spcPts val="1200"/>
              </a:spcAft>
            </a:pPr>
            <a:r>
              <a:rPr sz="2200">
                <a:solidFill>
                  <a:srgbClr val="1F2937"/>
                </a:solidFill>
                <a:latin typeface="Calibri"/>
              </a:rPr>
              <a:t>▸  Barcha tirik shaxslar ekspertizasi olti bosqichli algoritm bo‘yicha o‘tkaziladi: hodisa tafsilotidan ekspert xulosasigacha.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288, 291, 296, 299-300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qolish usuli: qizlik pardasi jarohatining “soati” 3 haftaga to‘g‘ri keladi. 1-hafta oxirida yoriq chetida granulyasion to‘qima paydo bo‘ladi. 2-hafta oxiri va 3-haftada chandiq hosil bo‘ladi. 3 haftadan keyin yoriq muddatini aniqlab bo‘lmaydi. Shuning uchun shubha bo‘lsa, sud-tibbiy ekspertga tezroq murojaat qilinadi.</a:t>
            </a:r>
          </a:p>
          <a:p>
            <a:pPr>
              <a:spcAft>
                <a:spcPts val="1200"/>
              </a:spcAft>
            </a:pPr>
            <a:r>
              <a:rPr sz="1800">
                <a:solidFill>
                  <a:srgbClr val="1F2937"/>
                </a:solidFill>
                <a:latin typeface="Calibri"/>
              </a:rPr>
              <a:t>▸  Qiziqarli fakt: maniy qinda odatda 3-5 kungacha saqlanadi. Shu sababli surtma va bosmalarni voqeadan keyin imkon qadar tez olish kerak. Vaqt o‘tgan sari spermatozoidlarni topish ehtimoli kamayadi.</a:t>
            </a:r>
          </a:p>
          <a:p>
            <a:pPr>
              <a:spcAft>
                <a:spcPts val="1200"/>
              </a:spcAft>
            </a:pPr>
            <a:r>
              <a:rPr sz="1800">
                <a:solidFill>
                  <a:srgbClr val="1F2937"/>
                </a:solidFill>
                <a:latin typeface="Calibri"/>
              </a:rPr>
              <a:t>▸  Hodisa tahlili: simulyant yuqori ko‘rsatkichlarga erishish uchun hiyla ishlatishi mumkin. Masalan, tekshiruvdan oldin askorbin kislotasini qabul qilib oshqozon shirasining nordonligini oshiradi. Achchiq choy yoki kofe ichib taxikardiya va hansirash hosil qiladi. Shuning uchun ayrim tekshiruvlar tekshiriluvchini ogohlantirmasdan, to‘satdan va takroran o‘tkaziladi.</a:t>
            </a:r>
          </a:p>
          <a:p>
            <a:pPr>
              <a:spcAft>
                <a:spcPts val="1200"/>
              </a:spcAft>
            </a:pPr>
            <a:r>
              <a:rPr sz="1800">
                <a:solidFill>
                  <a:srgbClr val="1F2937"/>
                </a:solidFill>
                <a:latin typeface="Calibri"/>
              </a:rPr>
              <a:t>▸  Diqqat: a’zobuzarlikda jarohat odatda shaxsning qo‘li yetadigan sohalarda bo‘ladi. Asosiy jarohat yonida bir necha yuzaki kesma va chopma yaralar topilishi mumkin. Barmoqlarning travmatik amputatsiyasi turli sathlarda bo‘ladi, baxtsiz hodisada esa odatda bir sathda. Shikastlanish asosan chap tomonda uchraydi.</a:t>
            </a:r>
          </a:p>
          <a:p>
            <a:pPr>
              <a:spcAft>
                <a:spcPts val="1200"/>
              </a:spcAft>
            </a:pPr>
            <a:r>
              <a:rPr sz="1800">
                <a:solidFill>
                  <a:srgbClr val="1F2937"/>
                </a:solidFill>
                <a:latin typeface="Calibri"/>
              </a:rPr>
              <a:t>▸  Tipik xato: sud-tibbiy va klinik og‘irlik baholari bir xil tushuncha emas. Ularning maqsadi va mezonlari har xil, shuning uchun natijalari mos kelmasligi mumkin. Shifokor “ahvoli og‘ir” degan klinik xulosani avtomatik ravishda “og‘ir tan jarohati” deb olmasligi kerak.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17 yoshli shaxsni ko‘rdi: yorg‘oqda spermatogenez bor, ammo jinsiy olat kichik, ko‘krak bezlari kattalashgan. Bu qanday holat?</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Soxta erkak germafroditizm holati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Soxta ayol germafroditizm holati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Chin germafroditizm holati bor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Erkak jinsiga xos me’yoriy holat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Sud jarayonida shaxsning haqiqiy jinsiga shubha bor. Genetik jinsni aniqlash uchun qaysi tekshiruv qo‘llanadi?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Qon zardobidagi oqsillarni o‘lchash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Leykotsitlarda xromosomalarni tekshirish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Tashqi jinsiy a’zolarni ko‘zdan kechirish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Antropometrik o‘lchovlarni taqqoslash</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Ekspertiza 13 yoshli qizda o‘tkazilmoqda. Odatda bu yoshdagi shaxs jinsiy jihatdan qanday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Jinsiy jihatdan to‘liq yetilgan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qisman jinsiy yetilgan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Jinsiy jihatdan yetilmagan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Yetukligi har doim aniqlanmaydi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ayolda bachadon tanasi uchdan ikki, bo‘yinchasi uchdan bir qismni tashkil etmasligini aniqladi. Bu nimaga olib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Jinsiy aloqa qilish imkonsiz bo‘ladi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Ovulyatsiya umuman bo‘lmaydi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Menstruatsiya doimo to‘xtab qoladi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Homilani muddatigacha saqlay olmaydi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Quyidagi ekspertizalardan qaysi biri jinsiy holatlar yuzasidan o‘tkaziladigan ekspertizalar qatoriga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Tan jarohati og‘irligini aniqlash ekspertizasi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Simulyatsiyani aniqlash ekspertizasi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Bokiralikni aniqlash ekspertizasi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Yoshni aniqlash ekspertizasi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Tekshiruvda qizlik pardasi yorig‘ining chetlari granulyasion to‘qima bilan qoplana boshlagani aniqlandi. Bu holat jarohatning qaysi davriga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Dastlabki bir necha kunga mos keladi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Birinchi haftaning oxiriga mos keladi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Ikkinchi haftaning oxiriga mos keladi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Uchinchi haftadan keyingi davrga mos keladi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qizlik pardasining pastki qismida, soat siferblati bo‘yicha 5-7 oralig‘ida, asosigacha yetgan nuqsonni topdi. Bu nuqson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Tabiiy o‘yiq, chunki u odatda asosigacha yetadi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Tabiiy o‘yiq, chunki u faqat pastki segmentda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Yoriq, chunki yoriq ko‘pincha 5-7 oralig‘ida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Yoriq, chunki uning chetlari doim chandiqlangan bo‘ladi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Jinsiy aloqa bo‘lgan deb gumon qilingan qiz voqeadan 2 kun o‘tgach ko‘rikka keltirildi. Maniy qinda odatda qancha muddat saqlanadi?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Odatda 3-5 kungacha saqlanadi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Odatda 1-2 kungacha saqlanadi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Odatda 7-10 kungacha saqlanadi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Odatda 2-3 haftagacha saqlanadi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M.D. Nikitin va M.G. Serdyukov tasnifiga ko‘ra, quyidagi qizlik pardasi shakllaridan qaysi biri juda kamdan-kam uchraydigan guruhga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Halqasimon shakl</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Yarim oysimon shakl</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Burmasimon shakl</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Ikki oynali shakl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Erkakda eyakulyatni laboratoriya tekshiruvida spermatozoidlar umuman topilmadi. Bu holat qanday ataladi?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Nekrospermiya deb ataladi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Azospermiya deb ataladi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Astenospermiya deb ataladi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Vaginizm deb ataladi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Kechayotgan homiladorlikni aniqlashda quyidagilardan qaysi biri uning ishonchli belgisi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Homiladorlik davrida hayzning to‘xtashi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Sut bezlari va so‘rg‘ich atrofida pigmentatsiya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Auskultatsiyada homila yuragi urishini eshitish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Qorinda oqimtir vertikal yoy shaklidagi chiziqlar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ko‘rigida ayolda bachadon bo‘yinchasining tashqi teshigi yoriqsimon shaklda topildi. Bu holat nimaga dalolat beradi?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Ilgari tug‘ruq bo‘lganiga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Hozir homiladorlik kechayotganiga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Bokiralik saqlanib qolganiga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Jinoiy abort qilinganiga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Jinoiy abort qilingan ayolda zaharlanish alomatlari va jinsiy a’zolarda kimyoviy kuyishga xos o‘zgarishlar topildi. Qaysi usul qo‘llangan?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Mexanik usul</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Kimyoviy usul</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Termik usul</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Elektr toki ta’siri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Nomusga tegish gumon qilingan jabrlanuvchidan qin surtmasi va tashqi sohalardan bosmalarni qachon olish eng maqbul?</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Bir necha kun o‘tgach, jarohatlar bitganda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sud majlisi arafasida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gumondor aniqlangandan keyin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Voqeadan so‘ng imkon qadar qisqa vaqtda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Bir erkak ikkinchi erkakka zo‘rlik ishlatib jinsiy ehtiyojini qondirdi. Kim va qaysi modda bo‘yicha javobgarlikka tortiladi?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Ikkala qatnashchi, Jinoyat kodeksining 120-moddasi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passiv qatnashchi, 119-modda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aktiv qatnashchi, 119-modda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Ikkala qatnashchi, 119-modda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Jabrlanuvchi ayol jinsiy aloqaga faqat qo‘rqitish orqali majburlangan. Ko‘rikda tan jarohati topilmadi. Ekspert bu holatni qanday baholashi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Jarohat bo‘lmasa, nomusga tegish bo‘lmagan deb hisoblanadi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Qo‘rqitish ob’ektiv iz qoldirmaydi, jarohat yo‘qligi uni inkor etmaydi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qinda maniy topilsagina jinoyat tasdiqlanishi mumkin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Qo‘rqitish holatida sud-tibbiy ko‘rikka ehtiyoj umuman qolmaydi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Ikki balog‘at yoshdagi erkak o‘zaro rozilik bilan, zo‘rliksiz jinsiy aloqada bo‘lgan. Jinoyat kodeksining 120-moddasiga ko‘ra kim jinoiy javobgarlikka tortiladi?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aktiv qatnashchi jinoiy javobgarlikka tortiladi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passiv qatnashchi jinoiy javobgarlikka tortiladi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Hech biri jinoiy javobgarlikka tortilmaydi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Aktiv va passiv qatnashchilarning ikkalasi ham tortiladi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Passiv besoqolbozlikda gumon qilingan shaxsda to‘g‘ri ichak kasalligi (masalan, proktit yoki bavosil) aniqlandi. Xatoga yo‘l qo‘ymaslik uchun ekspert nima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So‘rovda bu holatlarga e’tibor beradi va kerak bo‘lsa proktolog maslahatini 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Barcha o‘zgarishlarni muntazam jinsiy aloqa belgisi deb xulosa qiladi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Kasallikni e’tiborga olmay, faqat orqa teshik burmalariga qaraydi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Ko‘rikni to‘xtatib, ishni mutaxassissiz yakunlaydi</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Balog‘atga yetmagan o‘smirning sud-tibbiy ko‘rigi o‘tkazilmoqda. Ko‘rik kimlar ishtirokida o‘tkazilishi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ekspertiza tayinlagan shaxs ishtirokida o‘tkaziladi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o‘zga jinsdagi mutaxassis ishtirokida o‘tkaziladi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Ota-onasi yoki pedagoglari ishtirokida o‘tkaziladi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davolovchi vrach ishtirokida o‘tkaziladi</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Shaxs o‘zida OIV-infeksiyasi borligini bila turib, sherigini yuqtirish xavfi ostida qoldirdi. Bu jinoyat Jinoyat kodeksida qaysi guruhga kiritilgan?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Jinsiy erkinlikka qarshi jinoyatlar guruhiga kiritilgan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Hayot yoki sog‘liq uchun xavfli jinoyatlar guruhiga kiritilgan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Oilaga, yoshlarga va axloqqa qarshi jinoyatlar guruhiga kiritilgan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Shaxs erkinligiga qarshi jinoyatlar guruhiga kiritilgan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Soxta erkak germafroditizm holati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Soxta erkak germafroditizmda faoliyat ko‘rsatayotgan yorg‘oq (spermatogenez) bo‘ladi, tashqi belgilar esa ayollarnikiga o‘xshaydi. Soxta ayol germafroditizmda tuxumdon bor, tashqi belgilar erkaklarnikiga o‘xshaydi. Chin germafroditizmda ikkala jinsning bezlari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288-bet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Leykotsitlarda xromosomalarni tekshirish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Genetik jins qondagi leykotsitlarda xromosomalarni tekshirish orqali aniqlanishi mumkin. Ko‘zdan kechirish va antropometriya tashqi belgilarni baholaydi, genetik jinsni ko‘rsatmaydi.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288-bet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Jinsiy jihatdan yetilmagan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Odatda 14 yoshga to‘lmagan shaxslar jinsiy jihatdan yetilmagan deb hisoblanadi. Jinsiy yetuklikni aniqlash masalasi 14 yoshdan nikoh yoshigacha bo‘lgan davrda paydo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289-bet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Homilani muddatigacha saqlay olmaydi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Jinsiy yetuklikda bachadon tanasi uchdan ikki, bo‘yinchasi uchdan bir qismni tashkil etadi. Aks holda bachadon homilani belgilangan muddat davomida saqlay olmaydi. Jinsiy aloqa qilish qobiliyati esa tashqi jinsiy a’zolar, xususan qinning rivojlanishi bilan bog‘liq.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290-bet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Bokiralikni aniqlash ekspertizasi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Jinsiy holatlar yuzasidan jinsni, bokiralikni, jinsiy yetuklikni, nasl qoldirish qobiliyatini, homiladorlik, tug‘ruq va abortni aniqlash ekspertizalari o‘tkaziladi. Tan jarohatlari, simulyatsiya va yoshni aniqlash alohida turlardir.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276-bet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Birinchi haftaning oxiriga mos keladi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Birinchi haftaning oxirida yallig‘lanish alomatlari kamayadi va yoriq chetlari granulyasion to‘qima bilan qoplana boshlaydi. Chandiq ikkinchi haftaning oxiri – uchinchi haftada hosil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291-bet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Yoriq, chunki yoriq ko‘pincha 5-7 oralig‘ida bo‘ladi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Yoriqlar ko‘pincha pastki segmentlarda, asosan 5-7 oralig‘ida aniqlanadi. Tabiiy o‘yiqlar aksariyat hollarda pardaning asosigacha yetmaydi. Chandiqlangan chetlar faqat eski yoriqqa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292-bet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Odatda 3-5 kungacha saqlanadi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Maniy qinda odatda 3-5 kungacha saqlanadi. Shu sababli laboratoriya uchun namuna qancha tez olinsa, natija shunchalik ishonchli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292-bet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Ikki oynali shakl</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Halqasimon, yarim oysimon va burmasimon shakllar odatdagi, ko‘p uchraydigan guruhga kiradi. Ikki oynali, to‘siqli, panjarasimon va teshigi yo‘q shakllar juda kamdan-kam uchraydi.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290-bet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Azospermiya deb ataladi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Eyakulyatda spermatozoidlarning umuman bo‘lmasligi azospermiya deyiladi va urug‘lantirish qobiliyatini inkor etadi. Nekrospermiya – harakatchan spermatozoidlarning yo‘qligi, vaginizm esa ayollardagi muammo.</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292-bet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Auskultatsiyada homila yuragi urishini eshitish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Auskultatsiyada homila yuragi urishini eshitish, palpatsiya va ultratovushda homila qismlari va qimirlashini aniqlash ishonchli belgilardir. Hayzning bo‘lmasligi, sut bezlari va qorin terisidagi o‘zgarishlar esa ishonchli belgi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293-bet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Ilgari tug‘ruq bo‘lganiga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Tug‘gan ayollarda bachadon bo‘yinchasining tashqi teshigi yoriqsimon, tug‘magan ayollarda esa odatda dumaloq bo‘ladi. Keyingi davrda bu belgi faqat tug‘ruq bo‘lganini qayd etishga imkon beradi.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294-bet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Kimyoviy usul</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Kimyoviy usullar qo‘llanganda zaharlanish alomatlari va tashqi hamda ichki jinsiy a’zolarda kimyoviy kuyishga xos o‘zgarishlar aniqlanadi. Mexanik usulda shilinma, yara va qon quyilishlar, termik usulda termik kuyishlar topiladi.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295-bet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Voqeadan so‘ng imkon qadar qisqa vaqtda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Vaqt o‘tgan sari tekshiruvning samaradorligi, xususan spermatozoidlar topilish ehtimoli kamayadi. Shuning uchun namunalar voqeadan so‘ng imkon qadar tez olinishi kerak.</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296-bet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Faqat aktiv qatnashchi, 119-modda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Zo‘rlik, qo‘rqitish yoki ojizlikdan foydalanilganda faqat aktiv qatnashchi 119-modda bo‘yicha javobgar bo‘ladi, passiv qatnashchi jabrlanuvchi hisoblanadi. Zo‘rliksiz kelishuvda ikkalasi ham 120-modda (besoqolbozlik) bo‘yicha javobgar.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297-bet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Qo‘rqitish ob’ektiv iz qoldirmaydi, jarohat yo‘qligi uni inkor etmaydi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Nomusga tegish huquqiy tushuncha. Ekspertiza zo‘rlik, ojizlik yoki jinsiy aloqaga oid ob’ektiv belgilarni o‘rganadi. Qo‘rqitish jabrlanuvchida ob’ektiv belgilar qoldirmaydi, shuning uchun jarohatning yo‘qligi uni inkor etmaydi.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295-296-bet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Aktiv va passiv qatnashchilarning ikkalasi ham tortiladi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120-modda zo‘rliksiz erkak-erkak jinsiy aloqasini nazarda tutadi. Moddaga ko‘ra aktiv va passiv qatnashchilarning ikkalasi ham jinoyat sub’ekti hisoblanadi. Zo‘rlik ishlatilganda esa faqat aktiv qatnashchi 119-modda bo‘yicha javob beradi.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297-bet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So‘rovda bu holatlarga e’tibor beradi va kerak bo‘lsa proktolog maslahatini 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Qabziyat, ich ketishi, proktit, paraproktit, bavosil, to‘g‘ri ichak tushishi va jarrohlik izlari muntazam passiv besoqolbozlik belgilari sifatida noto‘g‘ri talqin qilinishi mumkin. Shu sababli so‘rovda bu masalalarga e’tibor beriladi, kerak bo‘lsa proktolog maslahati olinadi.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298-bet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Ota-onasi yoki pedagoglari ishtirokida o‘tkaziladi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Balog‘atga yetmagan shaxslarning ko‘rigi ota-onasi yoki pedagoglari ishtirokida o‘tkaziladi. Muomalaga layoqatsiz shaxslarning ko‘rigi esa qonuniy vakili ishtirokida o‘tkaziladi.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301-bet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Hayot yoki sog‘liq uchun xavfli jinoyatlar guruhiga kiritilgan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Nomusga tegish, besoqolbozlik va g‘ayritabiiy usulda jinsiy ehtiyojni qondirish jinsiy erkinlikka qarshi jinoyatlardir. Tanosil kasalliklari yoki OIV-infeksiyasi/OITSni tarqatish (113-modda) esa hayot yoki sog‘liq uchun xavfli jinoyatlar guruhiga kiradi.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299-bet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Jinsiy holat va jinsiy jinoyatlarda tirik shaxslar sud-tibbiy ekspertiz</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80</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12. Tirik shaxslar sud-tibbiy ekspertizasi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