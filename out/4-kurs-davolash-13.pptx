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Mashg‘ulot rejasi: avval jinsiy holatlar ekspertizasi (jins, yetuklik, bokiralik, nasl qoldirish, homiladorlik), so‘ng jinsiy jinoyatlar. Muhokama: nega tirik shaxslar ekspertizasi eng ko‘p uchraydi? Qaysi turlar bugungi mavzuga kiradi? Doskada: 4 qatorli jadvalni talabalar bilan birga chizing. Tipik xato: jinsiy holatlar (jins, bokiralik) va jinsiy jinoyatlar (zo‘rlash va h.k.) 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nasl qoldirish qobiliyatini aniqlash qaysi ishlarda kerak bo‘ladi (tan jarohatlari, nikohni bekor qilish, aliment)? Homiladorlik masalasida qaysi mutaxassis ishtirok etadi (akusher-ginekolog)? Doskada: 5 tugunli zanjirni chizib, har biriga bitta misol yozing. Tipik xato: jinsiy yetuklikni bokiralik bilan bir tushuncha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tashqi belgilarga qarab jinsni aniqlash yetarli emas? Qaysi ishlarda jinsga shubha paydo bo‘ladi? Doskada: ’jinsiy bez → tashqi jinsiy belgilar’ strelkasini chizib, nuqson bo‘lganda bu moslik buzilishini ko‘rsating. Tipik xato: tashqi jinsiy belgilar va jinsiy bez bir-biriga doim mos keladi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Chin va soxta germafroditizmni nima bilan farqlaymiz? 2) Nega tashqi belgilarga qarab jinsni aniqlash xato bo‘lishi mumkin? Doskada: uch qatorli jadvalni (chin, soxta erkak, soxta ayol) talabalar bilan birga chizing. Tipik xato: soxta erkak germafroditni tashqi belgilari sababli ayol deb hisoblash. Jinsni bezga qarab aniqlash kerak.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Tibbiy hujjatlarni qaysi mutaxassislar beradi (ginekolog, urolog, androlog, endokrinolog)? 2) Genetik jins qaysi bosqichda aniqlanadi? Doskada: 5 bosqichli zanjirni strelkalar bilan chizdiring. Tipik xato: faqat tashqi ko‘rik bilan cheklanish va laboratoriya hamda genetik tekshiruvni qoldirish.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Savollarni og‘zaki, juftlikda bering. Muhokama: tashqi belgi va jinsiy bez mos kelmasa, qaysi biri asos bo‘ladi? Doskada: ikki ustunli qisqa jadval (bez | tashqi belgi). Tipik xato: chin va soxta turni aralashtirish. Chin turda ikkala bez bor, soxta turda bitta bez bor.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yetuklik tushunchasi ayol va erkakda har xil qamrovga ega? 2) Yoshga bog‘langan javobgarlik yetuklik ekspertizasining ahamiyatini nega kamaytirgan? Doskada: ayollar va erkaklar yetukligining tarkibiy qismlarini ikki ustunda chizdiring. Tipik xato: jinsiy yetuklikni nikoh yoshi yoki jinoiy javobgarlik yoshi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raqamlar mutlaq mezon emas? 2) Akseleratsiya xulosaga qanday ta’sir qiladi? Doskada: jadvalni chizib, tos o‘lchamlarini talabalarga to‘ldirtiring. Tipik xato: eng kam ko‘rsatkichdan past qiymatni avtomatik ‘yetilmagan’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Ovulyatsiya va menstrual sikl o‘rtasidagi bog‘liqlik nimani bildiradi? 2) Bachadon nisbati buzilsa, qanday oqibat bo‘ladi? Doskada: bachadonning tana va bo‘yincha nisbatini (2/3 va 1/3) sxemada chizdiring. Tipik xato: faqat tos o‘lchamlariga tayanib, bachadon va siklni inobatga olmaslik.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Yetuklik qaysi belgilar majmuiga qarab baholanadi? 2) Nega bitta o‘lchamga tayanib bo‘lmaydi? Doskada: yetuklik belgilari ro‘yxatini (jismoniy rivojlanish, jinsiy a’zolar, ikkilamchi belgilar, tos, menstruatsiya) chizdiring. Tipik xato: talaba tos yoki bo‘y o‘lchamini mutlaq mezon deb oladi.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Parda qismlari qaysilar? 2) Soat siferblati bilan tavsiflash nima uchun qulay? Doskada: pardaning soddalashtirilgan sxemasini asos, erkin chet va teshik bilan chizdiring, soat raqamlarini qo‘ying. Tipik xato: bokiralikni faqat jinsiy aloqa bo‘lmaganligi deb tushunish; mezon asosan pardaning anatomik butunligi. Qo‘shimcha (slayddan ko‘chirilgan, manba shu bet): U qin dahlizi va qin oralig‘ida, qin o‘qiga perpendikulyar turadi. Manbadan qo‘shimcha (slaydda sig‘magan): Parda qin shilliq qavatining burmasi bo‘lib, biriktiruvchi va mushak tolalari, qon tomir va nerv bor. U qin dahlizi va qin oralig‘ida, qin o‘qiga perpendikulyar turadi.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Qaysi guruh eng ko‘p uchraydi? 2) Teshigi bo‘lmagan parda qaysi guruhga kiradi? Doskada: uch guruhli jadvalni ko‘chiring va har guruhga bittadan shaklni sxematik chizing. Tipik xato: guruh nomlarini aralashtirish, masalan baxromali shaklni odatdagilar qatoriga qo‘shish.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har doim ham jinsiy aloqada defloratsiya bo‘lmaydi? 2) Parda butunligi buzilishining boshqa sabablari qaysilar? Doskada chizish: qizlik pardasi sxemasi (asos, erkin chet, teshik) va to‘liq hamda noto‘liq yoriqni ko‘rsating. Tipik xato: parda buzilgan bo‘lsa, albatta jinsiy aloqa bo‘lgan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muddatni faqat dastlabki haftalarda aniqlash mumkin? 2) Qaysi parda tezroq bitadi va nima uchun? Doskada chizish: bitish bosqichlarining vaqt chizig‘ini o‘zlari chizsin. Tipik xato: yoriq muddatini uch haftadan keyin ham aniq belgilash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Soat siferblati bo‘yicha 5–7 oralig‘i nimani bildiradi? 2) Nega talabalar fuqarolarga tezroq murojaat qilishni tushuntirishi kerak? Doskada chizish: soat siferblatli parda va 5–7 sohasini belgilang. Tipik xato: har qanday o‘yiqni yoriq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maniy uchun namunani tez olish kerak? 2) Qizlik pardasining yorilishi bilan jinsiy aloqa bir narsami? Doskada: vaqt o‘qini chizing (0-5 kun: maniy saqlanadi) va belgilarni ro‘yxat qiling. Tipik xato: talabalar yorilgan parda = aloqa bo‘lgan deb xulosa qiladi; boshqa sabablarni unutadi. Qo‘shimcha (slayddan ko‘chirilgan, manba shu bet): U barmoq, turli jismlar yoki operatsiya natijasida ham buzilishi mumkin. Manbadan qo‘shimcha (slaydda sig‘magan): Qizlik pardasi butunligining buzilishi har doim jinsiy aloqani bildirmaydi. U barmoq, turli jismlar yoki operatsiya natijasida ham buzilishi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Guruhlarda ishlang. Muhokama: 1) Qaysi belgilar yoriqni tabiiy o‘yiqdan ajratadi? 2) Nega shubha bo‘lsa, tezroq sud-tibbiy ekspertga murojaat qilish kerak? Doskada: soat siferblatini chizib, 5-7 oralig‘ini belgilang. Tipik xato: chandiqlangan chetni yangi jarohat deb baholash va 3 haftalik chegarani unutish. Qo‘shimcha (slayddan ko‘chirilgan, manba shu bet): Chetlari qalin va chandiqlangan. U ko‘pincha asosigacha yetmaydi, chetlari boshqa sohalardan farq qilmaydi. Bu belgilar yoriq foydasiga gapiradi. Butunlik buzilgan muddat faqat dastlabki haftalarda aniqlanadi, uch haftadan so‘ng bu imkonsiz. Manbadan qo‘shimcha (slaydda sig‘magan): Tabiiy o‘yiq pardaning turli segmentida bo‘lishi mumkin. U ko‘pincha asosigacha yetmaydi, chetlari boshqa sohalardan farq qilmaydi. Eski yoriqning chetlari nisbatan qalin va chandiqlangan bo‘ladi. Bu belgilar yoriq foydasiga gapiradi.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Impotensiya bilan urug‘lantirish qobiliyatining farqi nima? 2) Ayolda homilador bo‘lishni istisno qiluvchi qaysi holatlarni bilasiz? Doskada: jadvalni o‘zingiz qayta chizing va har katakka bittadan misol qo‘shing. Tipik xato: azospermiya va nekrospermiyani aralashtirish (birida spermatozoid umuman yo‘q, ikkinchisida harakatchan yo‘q).</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homilador bo‘lish bilan tug‘ish qobiliyati farqi nimada? Tipik xato: tor tosni homilador bo‘lishga monelik deb hisoblash — manbada u tabiiy tug‘ishga to‘sqinlik.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belgilar gumonli, qaysilari ishonchli? 2) Hayzning bo‘lmasligi bitta o‘zi homiladorlikni isbotlaydimi? Doskada chizish: belgilarni ikki ustunga ajrating (gumonli / ishonchli). Tipik xato: sut bezlari o‘zgarishi yoki hayzning to‘xtashini ishonchli belgi deb hisoblash. Ishonchli belgilarga yurak urishi va ultratovushda ko‘rinadigan homila qismlari kiradi. Qo‘shimcha (slayddan ko‘chirilgan, manba shu bet): Ikkinchi yarmida qorin kattalashadi, oqimtir chiziqlar (stria gravidarum) va o‘rta chiziqda pigmentatsiya paydo bo‘ladi.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Doskada: belgilarni ehtimoliy va ishonchli ustunlarga bo‘ling. Tipik xato: hayz to‘xtashini yolg‘iz o‘zi ishonchli belgi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vaqt o‘tgani sari tug‘ruq muddatini aniq aytish qiyinlashadi? 2) Bachadon bo‘yinchasi teshigining shakli nimani ko‘rsatadi? Doskada chizish: ‘erta’ va ‘kech’ davr belgilarini ikki ro‘yxatda yozing. Tipik xato: kech davrda aniq kunni aytishga urinish; manbaga ko‘ra bu davrda faqat tug‘ruq bo‘lganini qayd etish mumkin. Diqqat: yoriqsimon teshik (tug‘gan) ≠ dumaloq teshik (tug‘magan). Qo‘shimcha (slayddan ko‘chirilgan, manba shu bet): Jinsiy oraliq keng, qinga kirish ochiq, qin devorlari biroz tushgan bo‘ladi. Bachadon bo‘yinchasi dastlab silliqlashgan, tashqi teshigi ochiq bo‘ladi. Muddatni involyusiya (bachadonning kichrayishi) va ajralmalar ko‘rsatadi. Keyin faqat tug‘ruq bo‘lganini aytish mumkin: yoriqsimon teshik, mirtasimon so‘rg‘ichlar, qin silliqlanishi, qorin terisidagi mayda chandiqlar. Manbadan qo‘shimcha (slaydda sig‘magan): Muddatni involyusiya (bachadonning kichrayishi) va ajralmalar ko‘rsatadi. Dastlabki kunlarda tug‘ruq muddatini aniqlash qiyin emas. Keyin faqat tug‘ruq bo‘lganini aytish mumkin: yoriqsimon teshik, mirtasimon so‘rg‘ichlar, qin silliqlanishi, qorin terisidagi mayda chandiqlar.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Spontan va sun’iy abort qanday farqlanadi? 2) Jinoiy abortni tibbiy abortdan farqlovchi asosiy belgi nima? Doskada chizish: abort tasnifi daraxti (abort → o‘z-o‘zidan / sun’iy → tibbiy / jinoiy). Tipik xato: jinoiy abortni faqat tibbiyot muassasasidan tashqarida o‘tkaziladi deb o‘ylash; manbaga ko‘ra u muassasada ham bo‘lishi mumkin. Diqqat: tibbiy abort ≠ jinoiy abort (farq bajaruvchining tayyorgarligi va tartibda). Tibbiy abort 12 haftagacha ayolning xohishiga ko‘ra, kechroq muddatda tibbiy va ijtimoiy ko‘rsatma bilan o‘tkaziladi.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jinoiy abort tibbiy abortdan xavfliroq? 2) Usulni qaysi izlar ko‘rsatadi? Doskada: usul → iz → asorat zanjirini chizdiring. Tipik xato: abortning barcha usullarini bir xil iz qoldiradi deb o‘ylash, ya’ni usul va izni bog‘lamaslik.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Ekspert qaysi uchta masalani o‘rganadi (homiladorlik va uzilish, usul, oqibat)? 2) Mexanik va kimyoviy usul izlari qanday farqlanadi? Doskada: vaziyat bo‘yicha qaror daraxtini chizdiring. Tipik xato: abortni faqat ayolning o‘zi qilgan deb taxmin qilish; manbada tayyorgarligi yo‘q xodimlar ham sanalgan.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113-modda nega hayot yoki sog‘liqqa xavfli jinoyatlar guruhiga kiradi? 2) 119 va 120 moddalar qanday farqlanadi? Doskada: moddalarni guruhlar bo‘yicha ikki ustunga yozdiring. Tipik xato: besoqolbozlikda faqat aktiv qatnashchini javobgar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ekspert avval hujjatlar bilan tanishadi, so‘ng ko‘rikka o‘tadi? 2) Qo‘rqitish isbotini tibbiy belgilar bilan tasdiqlab bo‘ladimi? Doskada chizish: ekspertiza bosqichlari zanjiri (hujjatlar - so‘rov - ginekologik anamnez - ko‘rik). Tipik xato: “nomusga tegish” ni tibbiy tashxis deb o‘ylash, aslida u huquqiy tushuncha. Qo‘shimcha (slayddan ko‘chirilgan, manba shu bet): Nazariy jihatdan erkaklar ham jabrlanadi, amalda asosan ayollar. Qo‘rqitish ob’ektiv belgi qoldirmaydi.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namuna olishda vaqt hal qiluvchi? 2) Ojizlik holatiga qaysi sabablar kiradi? Doskada chizish: tananing jarohat joylashadigan sohalari sxemasi (son ichki yuzasi, jinsiy a’zolar, ko‘krak, bo‘yin). Tipik xato: qizlik pardasi yorig‘i yoki qin shikastini nomusga tegishning yagona isboti deb hisoblash. Qo‘shimcha (slayddan ko‘chirilgan, manba shu bet): Kurashda boshqa joylarda ham bo‘ladi. Diqqat: qin va oraliq shikasti jinsiy hayot olib borgan ayolda ham bo‘lishi mumkin. Ojizlik ruhiy kasallik, yosh, mastlik va boshqalar bilan bog‘liq. Manbadan qo‘shimcha (slaydda sig‘magan): Kurashda boshqa joylarda ham bo‘ladi. Ojizlik ruhiy kasallik, yosh, mastlik va boshqalar bilan bog‘liq.</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Gumondor ko‘rigi nima uchun jabrlanuvchi ko‘rigi kabi muhim? 2) Qaysi sohalardan namuna olinadi? Doskada chizish: jabrlanuvchi va gumondorda tekshiriladigan sohalar ro‘yxati (ikki ustun shaklida). Tipik xato: 118-modda (oddiy jinsiy aloqa) bilan 119-modda (og‘iz yoki orqa teshik orqali g‘ayritabiiy aloqa) ni aralashtirish. Qo‘shimcha (slayddan ko‘chirilgan, manba shu bet): Surtma va bosmalar olinadi. Tananing turli sohalarida, jumladan tashqi jinsiy a’zolarda, jabrlanuvchi kurashi natijasida qontalash, shilinma va tishlanma izlar bo‘lishi mumkin. Manbadan qo‘shimcha (slaydda sig‘magan): Surtma va bosmalar olinadi.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Qaysi izlar zo‘rlikni ko‘rsatadi, qaysi biri ko‘rsatmaydi? 2) Surtma va bosmani nega imkon qadar tez olish kerak? Doskaga chizing: jabrlanuvchi tanasida jarohat va maniy izi ehtimoliy joylari sxemasi. Tipik xato: qo‘rqitishda ham jarohat bo‘ladi deb o‘ylash yoki qin shikastini faqat zo‘rlikka xos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120- va 119-moddalar farqi nimada? 2) Nega ikkala qatnashchidan ham namuna olinadi? Doskaga jadvalni ko‘chirib, har ustunni talabalar bilan to‘ldiring. Tipik xato: zo‘rlik holatida ham ikkala shaxsni javobgar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kasalliklar passiv besoqolbozlik belgilariga o‘xshab ketadi? 2) Proktolog maslahati qachon kerak? Doskaga yozing: «Kasallik belgisi ≠ passiv besoqolbozlik» va to‘rtta kasallik nomini. Tipik xato: orqa teshik sohasidagi har qanday o‘zgarishni darhol passiv aloqa izi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fahsh harakatlari jinsiy erkinlikka emas, axloqqa qarshi jinoyatlar guruhiga kiritilgan? 2) Iz topilmasa ekspert qanday xulosa qilishi mumkin? Doskada: ikki ustunli ro‘yxat – ‘harakat turlari’ va ‘mumkin bo‘lgan izlar’. Tipik xato: fahsh harakatlarini nomusga tegish bilan aralashtirish (jinsiy aloqa yoki zo‘rlik shart emas; yosh chegarasi 16). Qo‘shimcha (slayddan ko‘chirilgan, manba shu bet): Diqqat: ba’zan hech qanday iz qolmaydi.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iz yo‘qligi harakat bo‘lmaganini isbotlaydimi? Tipik xato: faqat jismoniy izga tayanish.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Yuqish manbai nima uchun o‘rganiladi? 2) Tibbiyot xodimining kasbiy javobgarligi qanday holatda paydo bo‘ladi? Doskada: Jinoyat kodeksi moddalari (113, 118, 119, 120, 129) va ularning guruhlarini jadvalga yozing. Tipik xato: 113-moddani jinsiy erkinlikka qarshi jinoyat deb hisoblash – u hayot va sog‘liq uchun xavfli jinoyatlar guruhiga kiradi. Qo‘shimcha (slayddan ko‘chirilgan, manba shu bet): Xizmat vazifasini lozim bajarmagan tibbiyot xodimi ham javobgar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Savol talabalarga: 1) Ko‘rik tartibini bosqichma-bosqich ayting. 2) Qaysi sohalardan, qancha vaqt ichida namuna olinadi? 3) Qo‘rqitish isbotlanmasa, bu zo‘rlik bo‘lmaganini bildiradimi? Doskada: 6 bosqichli umumiy algoritm sxemasi (hodisa tafsiloti – hujjatlar – so‘rov – ko‘rik – qo‘shimcha tekshiruv – xulosa). Tipik xato: izsizlikni jinoyat bo‘lmagan deb talqin qilish va namuna olishni kechiktirish. Qo‘shimcha (slayddan ko‘chirilgan, manba shu bet): Avval qaror, bayonnoma, tibbiy hujjatlar o‘rganiladi, so‘ng so‘rov va ginekologik anamnez olinadi.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tibbiy hujjatlar ko‘rikdan oldin o‘rganiladi? 2) Qo‘shimcha tekshiruv qachon kerak bo‘ladi? Doskada: olti bosqichli zanjirni chizib, har bosqichga bitta misol yozing. Tipik xato: talabalar so‘rovni ko‘rikdan keyin o‘tkaziladi deb o‘ylaydi; to‘g‘ri tartib: avval hujjat, so‘ng so‘rov, undan keyin ko‘rik.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o‘zga jins ko‘rigida tergovchi xonadan chiqadi? 2) Voyaga yetmagan shaxs ko‘rigida kim ishtirok etadi? Doskada: ko‘rik ishtirokchilari jadvalini (shaxs toifasi va ishtirokchi) chizdiring. Tipik xato: ko‘rik faqat tashqi jarohat uchun deb o‘ylash va fotosurtni jarohat suratiga qorishtirish; ikkita fotosurat shaxsni tasdiqlash uchun, jarohatni suratga olish esa faqat shaxsning ruxsati bilan mumkin. Qo‘shimcha (slayddan ko‘chirilgan, manba shu bet): Balog‘atga yetmaganlar ota-ona yoki pedagog, layoqatsizlar qonuniy vakil ishtirokida ko‘riladi.</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muddat omili bokiralik ekspertizasida hal qiluvchi? 2) Namunani kechiktirish natijaga qanday ta’sir qiladi? Doskada: mavzuning to‘rtta asosiy tezisini qisqa kalit so‘zlar bilan yozing. Tipik xato: uch haftadan keyin ham pardadagi yoriq muddatini aniq aytish mumkin deb o‘ylash; manbaga ko‘ra bu imkonsiz.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Jinsiy holat va jinsiy jinoyatlarda tirik shaxslar sud-tibbiy ekspertizasi.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tirik shaxslar ekspertizasi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Tirik shaxslar ekspertizasi amaliyotda eng ko‘p o‘tkaziladigan ekspertiza turidir.</a:t>
            </a:r>
          </a:p>
          <a:p>
            <a:pPr>
              <a:spcAft>
                <a:spcPts val="800"/>
              </a:spcAft>
            </a:pPr>
            <a:r>
              <a:rPr sz="1800">
                <a:solidFill>
                  <a:srgbClr val="1F2937"/>
                </a:solidFill>
                <a:latin typeface="Calibri"/>
              </a:rPr>
              <a:t>▸  U jinoiy, fuqarolik va ma’muriy ishlar bo‘yicha tayinlanadi.</a:t>
            </a:r>
          </a:p>
          <a:p>
            <a:pPr>
              <a:spcAft>
                <a:spcPts val="800"/>
              </a:spcAft>
            </a:pPr>
            <a:r>
              <a:rPr sz="1800">
                <a:solidFill>
                  <a:srgbClr val="1F2937"/>
                </a:solidFill>
                <a:latin typeface="Calibri"/>
              </a:rPr>
              <a:t>▸  Ekspertiza ambulatoriya, tuman, shahar, tumanlararo bo‘limlarda; ayrim hollarda davolash muassasasida o‘tadi.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Tirik shaxslar ekspertizasi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Tan jarohatlari</a:t>
            </a:r>
          </a:p>
          <a:p>
            <a:pPr algn="l">
              <a:spcAft>
                <a:spcPts val="0"/>
              </a:spcAft>
            </a:pPr>
            <a:r>
              <a:rPr sz="1200" b="0">
                <a:solidFill>
                  <a:srgbClr val="1F2937"/>
                </a:solidFill>
                <a:latin typeface="Calibri"/>
              </a:rPr>
              <a:t>Xarakteri  ·  Og‘irlik darajasi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Jinsiy holatlar</a:t>
            </a:r>
          </a:p>
          <a:p>
            <a:pPr algn="l">
              <a:spcAft>
                <a:spcPts val="0"/>
              </a:spcAft>
            </a:pPr>
            <a:r>
              <a:rPr sz="1200" b="0">
                <a:solidFill>
                  <a:srgbClr val="1F2937"/>
                </a:solidFill>
                <a:latin typeface="Calibri"/>
              </a:rPr>
              <a:t>Jins, bokiralik  ·  Homiladorlik va b.</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Jinsiy jinoyatlar</a:t>
            </a:r>
          </a:p>
          <a:p>
            <a:pPr algn="l">
              <a:spcAft>
                <a:spcPts val="0"/>
              </a:spcAft>
            </a:pPr>
            <a:r>
              <a:rPr sz="1200" b="0">
                <a:solidFill>
                  <a:srgbClr val="1F2937"/>
                </a:solidFill>
                <a:latin typeface="Calibri"/>
              </a:rPr>
              <a:t>Zo‘rlash, besoqolbozlik  ·  Fahsh harakatlari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Salomatlik va yosh</a:t>
            </a:r>
          </a:p>
          <a:p>
            <a:pPr algn="l">
              <a:spcAft>
                <a:spcPts val="0"/>
              </a:spcAft>
            </a:pPr>
            <a:r>
              <a:rPr sz="1200" b="0">
                <a:solidFill>
                  <a:srgbClr val="1F2937"/>
                </a:solidFill>
                <a:latin typeface="Calibri"/>
              </a:rPr>
              <a:t>Simulyasiya, sun’iy kasallik  ·  Yosh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Ekspertiza turlari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276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holatlar ekspertizasi: nimalar aniqlanadi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Bunday ekspertiza jinoiy ishlarni tergov qilishda ham, fuqarolik ishlarini ko‘rishda ham zarur bo‘ladi.</a:t>
            </a:r>
          </a:p>
          <a:p>
            <a:pPr>
              <a:spcAft>
                <a:spcPts val="800"/>
              </a:spcAft>
            </a:pPr>
            <a:r>
              <a:rPr sz="1800">
                <a:solidFill>
                  <a:srgbClr val="1F2937"/>
                </a:solidFill>
                <a:latin typeface="Calibri"/>
              </a:rPr>
              <a:t>▸  Jins, yetuklik, bokiralik, nasl qoldirish, homiladorlik, tug‘ruq va abort aniqlanadi.</a:t>
            </a:r>
          </a:p>
          <a:p>
            <a:pPr>
              <a:spcAft>
                <a:spcPts val="800"/>
              </a:spcAft>
            </a:pPr>
            <a:r>
              <a:rPr sz="1800">
                <a:solidFill>
                  <a:srgbClr val="1F2937"/>
                </a:solidFill>
                <a:latin typeface="Calibri"/>
              </a:rPr>
              <a:t>▸  Homiladorlik masalasi go‘dak o‘ldirish, bola o‘g‘irlash, jinoiy abort, nomusga tegish ishlarida turadi.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Jinsiy holatlar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Jins</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Yetuklik, bokiralik</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Nasl qoldirish</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Homiladorlik</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Tug‘ruq va abort</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Jinsiy holatlar yo‘nalishlari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288, 293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Jinsni aniqlash: qachon va nima uchun kerak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Haqiqiy jinsni aniqlash zarurati jins noto‘g‘ri aniqlanganda, shaxsni tasdiqlovchi hujjat berishda yoki maxsus o‘quv yurtiga kirishda tug‘iladi.</a:t>
            </a:r>
          </a:p>
          <a:p>
            <a:pPr>
              <a:spcAft>
                <a:spcPts val="800"/>
              </a:spcAft>
            </a:pPr>
            <a:r>
              <a:rPr sz="1600">
                <a:solidFill>
                  <a:srgbClr val="1F2937"/>
                </a:solidFill>
                <a:latin typeface="Calibri"/>
              </a:rPr>
              <a:t>▸  Nikohni bekor qilish, aliment undirish va jinsiy jinoyatlar tergovida shaxsning qayd etilgan jinsiga shubha bo‘lsa, ham ekspertiza o‘tkaziladi.</a:t>
            </a:r>
          </a:p>
          <a:p>
            <a:pPr>
              <a:spcAft>
                <a:spcPts val="800"/>
              </a:spcAft>
            </a:pPr>
            <a:r>
              <a:rPr sz="1600">
                <a:solidFill>
                  <a:srgbClr val="1F2937"/>
                </a:solidFill>
                <a:latin typeface="Calibri"/>
              </a:rPr>
              <a:t>▸  Odatda tashqi jinsiy belgilar mavjud jinsiy bezga (tuxumdon yoki yorg‘oq) mos holda shakllanadi.</a:t>
            </a:r>
          </a:p>
          <a:p>
            <a:pPr>
              <a:spcAft>
                <a:spcPts val="800"/>
              </a:spcAft>
            </a:pPr>
            <a:r>
              <a:rPr sz="1600">
                <a:solidFill>
                  <a:srgbClr val="1F2937"/>
                </a:solidFill>
                <a:latin typeface="Calibri"/>
              </a:rPr>
              <a:t>▸  Embrional davrda nuqson yuzaga kelsa, tashqi jinsiy a’zolar muayyan jinsga to‘liq mos kelmasligi mumkin; shuning uchun tekshiruv kerak.</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Jinsni aniqlash</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Qachon kerak</a:t>
            </a:r>
          </a:p>
          <a:p>
            <a:pPr algn="l">
              <a:spcAft>
                <a:spcPts val="0"/>
              </a:spcAft>
            </a:pPr>
            <a:r>
              <a:rPr sz="1200" b="0">
                <a:solidFill>
                  <a:srgbClr val="1F2937"/>
                </a:solidFill>
                <a:latin typeface="Calibri"/>
              </a:rPr>
              <a:t>Jins noto‘g‘ri aniqlanganda  ·  Hujjat berishda  ·  Nikohni bekor qilish, aliment</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Odatda</a:t>
            </a:r>
          </a:p>
          <a:p>
            <a:pPr algn="l">
              <a:spcAft>
                <a:spcPts val="0"/>
              </a:spcAft>
            </a:pPr>
            <a:r>
              <a:rPr sz="1200" b="0">
                <a:solidFill>
                  <a:srgbClr val="1F2937"/>
                </a:solidFill>
                <a:latin typeface="Calibri"/>
              </a:rPr>
              <a:t>Tashqi belgilar jinsiy bezga mos</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Embrional nuqson</a:t>
            </a:r>
          </a:p>
          <a:p>
            <a:pPr algn="l">
              <a:spcAft>
                <a:spcPts val="0"/>
              </a:spcAft>
            </a:pPr>
            <a:r>
              <a:rPr sz="1200" b="0">
                <a:solidFill>
                  <a:srgbClr val="1F2937"/>
                </a:solidFill>
                <a:latin typeface="Calibri"/>
              </a:rPr>
              <a:t>Tashqi a’zolar jinsga mos kelmaydi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Jinsni aniqlash zarurati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Germafroditizm: chin va soxta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Bir vaqtda ikki jinsga xos jinsiy a’zolar bo‘lishi germafroditizm deb ataladi. Uning chin va soxta turlari farqlanadi.</a:t>
            </a:r>
          </a:p>
          <a:p>
            <a:pPr>
              <a:spcAft>
                <a:spcPts val="800"/>
              </a:spcAft>
            </a:pPr>
            <a:r>
              <a:rPr sz="1800">
                <a:solidFill>
                  <a:srgbClr val="1F2937"/>
                </a:solidFill>
                <a:latin typeface="Calibri"/>
              </a:rPr>
              <a:t>▸  Chin germafroditizm juda kam uchraydi. Unda spermatogenez va ovogenez alomatlari birga aniqlanadi.</a:t>
            </a:r>
          </a:p>
          <a:p>
            <a:pPr>
              <a:spcAft>
                <a:spcPts val="800"/>
              </a:spcAft>
            </a:pPr>
            <a:r>
              <a:rPr sz="1800">
                <a:solidFill>
                  <a:srgbClr val="1F2937"/>
                </a:solidFill>
                <a:latin typeface="Calibri"/>
              </a:rPr>
              <a:t>▸  Diqqat: amaliyotda soxta turi ko‘proq uchraydi. Bunda bez bir jinsga, tashqi belgilar boshqa jinsga xos bo‘ladi.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Chin</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Erkak va ayol jinsiy bezlari</a:t>
            </a:r>
          </a:p>
          <a:p>
            <a:pPr algn="l">
              <a:spcAft>
                <a:spcPts val="700"/>
              </a:spcAft>
            </a:pPr>
            <a:r>
              <a:rPr sz="1500" b="1">
                <a:solidFill>
                  <a:srgbClr val="C9A227"/>
                </a:solidFill>
                <a:latin typeface="Calibri"/>
              </a:rPr>
              <a:t>●  </a:t>
            </a:r>
            <a:r>
              <a:rPr sz="1500" b="0">
                <a:solidFill>
                  <a:srgbClr val="1F2937"/>
                </a:solidFill>
                <a:latin typeface="Calibri"/>
              </a:rPr>
              <a:t>Spermatogenez va ovogenez birga</a:t>
            </a:r>
          </a:p>
          <a:p>
            <a:pPr algn="l">
              <a:spcAft>
                <a:spcPts val="700"/>
              </a:spcAft>
            </a:pPr>
            <a:r>
              <a:rPr sz="1500" b="1">
                <a:solidFill>
                  <a:srgbClr val="C9A227"/>
                </a:solidFill>
                <a:latin typeface="Calibri"/>
              </a:rPr>
              <a:t>●  </a:t>
            </a:r>
            <a:r>
              <a:rPr sz="1500" b="0">
                <a:solidFill>
                  <a:srgbClr val="1F2937"/>
                </a:solidFill>
                <a:latin typeface="Calibri"/>
              </a:rPr>
              <a:t>Juda kam uchraydi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Soxta erkak</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Yorg‘oq (spermatogenez)</a:t>
            </a:r>
          </a:p>
          <a:p>
            <a:pPr algn="l">
              <a:spcAft>
                <a:spcPts val="700"/>
              </a:spcAft>
            </a:pPr>
            <a:r>
              <a:rPr sz="1500" b="1">
                <a:solidFill>
                  <a:srgbClr val="C9A227"/>
                </a:solidFill>
                <a:latin typeface="Calibri"/>
              </a:rPr>
              <a:t>●  </a:t>
            </a:r>
            <a:r>
              <a:rPr sz="1500" b="0">
                <a:solidFill>
                  <a:srgbClr val="1F2937"/>
                </a:solidFill>
                <a:latin typeface="Calibri"/>
              </a:rPr>
              <a:t>Ayolga o‘xshash belgilar</a:t>
            </a:r>
          </a:p>
          <a:p>
            <a:pPr algn="l">
              <a:spcAft>
                <a:spcPts val="700"/>
              </a:spcAft>
            </a:pPr>
            <a:r>
              <a:rPr sz="1500" b="1">
                <a:solidFill>
                  <a:srgbClr val="C9A227"/>
                </a:solidFill>
                <a:latin typeface="Calibri"/>
              </a:rPr>
              <a:t>●  </a:t>
            </a:r>
            <a:r>
              <a:rPr sz="1500" b="0">
                <a:solidFill>
                  <a:srgbClr val="1F2937"/>
                </a:solidFill>
                <a:latin typeface="Calibri"/>
              </a:rPr>
              <a:t>Kichik olat, kriptorxizm</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Soxta ayol</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Tuxumdon (ovogenez)</a:t>
            </a:r>
          </a:p>
          <a:p>
            <a:pPr algn="l">
              <a:spcAft>
                <a:spcPts val="700"/>
              </a:spcAft>
            </a:pPr>
            <a:r>
              <a:rPr sz="1500" b="1">
                <a:solidFill>
                  <a:srgbClr val="C9A227"/>
                </a:solidFill>
                <a:latin typeface="Calibri"/>
              </a:rPr>
              <a:t>●  </a:t>
            </a:r>
            <a:r>
              <a:rPr sz="1500" b="0">
                <a:solidFill>
                  <a:srgbClr val="1F2937"/>
                </a:solidFill>
                <a:latin typeface="Calibri"/>
              </a:rPr>
              <a:t>Erkakka o‘xshash belgilar</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Germafroditizm turlari</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Haqiqiy jinsni aniqlash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Anamnezda menstruatsiya, pollyusiya, jinsiy intilish va mutaxassislar hujjatlari hisobga olinadi.</a:t>
            </a:r>
          </a:p>
          <a:p>
            <a:pPr>
              <a:spcAft>
                <a:spcPts val="800"/>
              </a:spcAft>
            </a:pPr>
            <a:r>
              <a:rPr sz="1800">
                <a:solidFill>
                  <a:srgbClr val="1F2937"/>
                </a:solidFill>
                <a:latin typeface="Calibri"/>
              </a:rPr>
              <a:t>▸  Jinsiy bez funksiyasi klinik, laboratoriya va funksional tekshiruvlar bilan aniqlanadi.</a:t>
            </a:r>
          </a:p>
          <a:p>
            <a:pPr>
              <a:spcAft>
                <a:spcPts val="800"/>
              </a:spcAft>
            </a:pPr>
            <a:r>
              <a:rPr sz="1800">
                <a:solidFill>
                  <a:srgbClr val="1F2937"/>
                </a:solidFill>
                <a:latin typeface="Calibri"/>
              </a:rPr>
              <a:t>▸  Leykotsitlardagi xromosomalarni tekshirish genetik jinsni ko‘rsatishi mumkin.</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Anamnez</a:t>
            </a:r>
          </a:p>
          <a:p>
            <a:pPr algn="l">
              <a:spcAft>
                <a:spcPts val="200"/>
              </a:spcAft>
            </a:pPr>
            <a:r>
              <a:rPr sz="1400" b="0">
                <a:solidFill>
                  <a:srgbClr val="1F2937"/>
                </a:solidFill>
                <a:latin typeface="Calibri"/>
              </a:rPr>
              <a:t>Tibbiy hujjatlar</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Antropometriya</a:t>
            </a:r>
          </a:p>
          <a:p>
            <a:pPr algn="l">
              <a:spcAft>
                <a:spcPts val="200"/>
              </a:spcAft>
            </a:pPr>
            <a:r>
              <a:rPr sz="1400" b="0">
                <a:solidFill>
                  <a:srgbClr val="1F2937"/>
                </a:solidFill>
                <a:latin typeface="Calibri"/>
              </a:rPr>
              <a:t>O‘lchovlar</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Belgilar</a:t>
            </a:r>
          </a:p>
          <a:p>
            <a:pPr algn="l">
              <a:spcAft>
                <a:spcPts val="200"/>
              </a:spcAft>
            </a:pPr>
            <a:r>
              <a:rPr sz="1400" b="0">
                <a:solidFill>
                  <a:srgbClr val="1F2937"/>
                </a:solidFill>
                <a:latin typeface="Calibri"/>
              </a:rPr>
              <a:t>Tashqi va ikkilamchi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Klinik-laborator</a:t>
            </a:r>
          </a:p>
          <a:p>
            <a:pPr algn="l">
              <a:spcAft>
                <a:spcPts val="200"/>
              </a:spcAft>
            </a:pPr>
            <a:r>
              <a:rPr sz="1400" b="0">
                <a:solidFill>
                  <a:srgbClr val="1F2937"/>
                </a:solidFill>
                <a:latin typeface="Calibri"/>
              </a:rPr>
              <a:t>Bez funksiyasi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Xromosoma</a:t>
            </a:r>
          </a:p>
          <a:p>
            <a:pPr algn="l">
              <a:spcAft>
                <a:spcPts val="200"/>
              </a:spcAft>
            </a:pPr>
            <a:r>
              <a:rPr sz="1400" b="0">
                <a:solidFill>
                  <a:srgbClr val="1F2937"/>
                </a:solidFill>
                <a:latin typeface="Calibri"/>
              </a:rPr>
              <a:t>Genetik jins</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Jinsni aniqlash zanjiri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jins va germafroditizm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chin germafroditizmda qanday jinsiy bezlar bo‘ladi? Javob: ham erkak, ham ayol jinsiy bezlari.</a:t>
            </a:r>
          </a:p>
          <a:p>
            <a:pPr>
              <a:spcAft>
                <a:spcPts val="1200"/>
              </a:spcAft>
            </a:pPr>
            <a:r>
              <a:rPr sz="2200">
                <a:solidFill>
                  <a:srgbClr val="1F2937"/>
                </a:solidFill>
                <a:latin typeface="Calibri"/>
              </a:rPr>
              <a:t>▸  2-savol: soxta erkak germafroditizmda qaysi bez ishlaydi? Javob: yorg‘oq (spermatogenez); tashqi belgilar ayolnikiga o‘xshaydi.</a:t>
            </a:r>
          </a:p>
          <a:p>
            <a:pPr>
              <a:spcAft>
                <a:spcPts val="1200"/>
              </a:spcAft>
            </a:pPr>
            <a:r>
              <a:rPr sz="2200">
                <a:solidFill>
                  <a:srgbClr val="1F2937"/>
                </a:solidFill>
                <a:latin typeface="Calibri"/>
              </a:rPr>
              <a:t>▸  3-savol: soxta ayol germafroditizmda-chi? Javob: tuxumdon (ovogenez); tashqi belgilar erkaklarnikiga o‘xshaydi.</a:t>
            </a:r>
          </a:p>
          <a:p>
            <a:pPr>
              <a:spcAft>
                <a:spcPts val="1200"/>
              </a:spcAft>
            </a:pPr>
            <a:r>
              <a:rPr sz="2200">
                <a:solidFill>
                  <a:srgbClr val="1F2937"/>
                </a:solidFill>
                <a:latin typeface="Calibri"/>
              </a:rPr>
              <a:t>▸  4-savol: genetik jins qanday aniqlanadi? Javob: qondagi leykotsitlarda xromosomalarni tekshirish orqali.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yetuklik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Jinsiy yetuklik — organizm shunday rivojlanganki, salomatlik va keyingi o‘sishga zarar bermay jinsiy hayot olib borish mumkin.</a:t>
            </a:r>
          </a:p>
          <a:p>
            <a:pPr>
              <a:spcAft>
                <a:spcPts val="800"/>
              </a:spcAft>
            </a:pPr>
            <a:r>
              <a:rPr sz="1600">
                <a:solidFill>
                  <a:srgbClr val="1F2937"/>
                </a:solidFill>
                <a:latin typeface="Calibri"/>
              </a:rPr>
              <a:t>▸  Ayollarda: jinsiy aloqa, homilador bo‘lish, homilani saqlash, tug‘ish, emizish. Erkaklarda: jinsiy aloqa qilish va urug‘lantirish qobiliyati.</a:t>
            </a:r>
          </a:p>
          <a:p>
            <a:pPr>
              <a:spcAft>
                <a:spcPts val="800"/>
              </a:spcAft>
            </a:pPr>
            <a:r>
              <a:rPr sz="1600">
                <a:solidFill>
                  <a:srgbClr val="1F2937"/>
                </a:solidFill>
                <a:latin typeface="Calibri"/>
              </a:rPr>
              <a:t>▸  14 yoshga to‘lmaganlar jinsiy yetilmagan hisoblanadi. Yetuklik masalasi 14 yoshdan nikoh yoshigacha bo‘lgan davrda ko‘tariladi.</a:t>
            </a:r>
          </a:p>
          <a:p>
            <a:pPr>
              <a:spcAft>
                <a:spcPts val="800"/>
              </a:spcAft>
            </a:pPr>
            <a:r>
              <a:rPr sz="1600">
                <a:solidFill>
                  <a:srgbClr val="1F2937"/>
                </a:solidFill>
                <a:latin typeface="Calibri"/>
              </a:rPr>
              <a:t>▸  Hozir amaliy ahamiyati kamaygan: Jinoyat kodeksida javobgarlik yoshga bog‘langan (118, 119-moddalar — 18 va 14 yosh; 128, 129-moddalar — 16 yosh).</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Jinsiy yetuklik</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Ayollarda</a:t>
            </a:r>
          </a:p>
          <a:p>
            <a:pPr algn="l">
              <a:spcAft>
                <a:spcPts val="0"/>
              </a:spcAft>
            </a:pPr>
            <a:r>
              <a:rPr sz="1200" b="0">
                <a:solidFill>
                  <a:srgbClr val="1F2937"/>
                </a:solidFill>
                <a:latin typeface="Calibri"/>
              </a:rPr>
              <a:t>Jinsiy aloqa, homiladorlik  ·  Saqlash, tug‘ish, emizish</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Erkaklarda</a:t>
            </a:r>
          </a:p>
          <a:p>
            <a:pPr algn="l">
              <a:spcAft>
                <a:spcPts val="0"/>
              </a:spcAft>
            </a:pPr>
            <a:r>
              <a:rPr sz="1200" b="0">
                <a:solidFill>
                  <a:srgbClr val="1F2937"/>
                </a:solidFill>
                <a:latin typeface="Calibri"/>
              </a:rPr>
              <a:t>Jinsiy aloqa  ·  Urug‘lantirish</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Yosh chegarasi</a:t>
            </a:r>
          </a:p>
          <a:p>
            <a:pPr algn="l">
              <a:spcAft>
                <a:spcPts val="0"/>
              </a:spcAft>
            </a:pPr>
            <a:r>
              <a:rPr sz="1200" b="0">
                <a:solidFill>
                  <a:srgbClr val="1F2937"/>
                </a:solidFill>
                <a:latin typeface="Calibri"/>
              </a:rPr>
              <a:t>14 yoshga to‘lmaganlar yetilmagan</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Jinsiy yetuklik tushunchasi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Qizlarda jinsiy yetuklik ko‘rsatkichlari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Ko‘rsatkichlar nisbiy: ba’zan kichikroq o‘lchamli ayollar ham organizmga zararsiz farzand ko‘radi.</a:t>
            </a:r>
          </a:p>
          <a:p>
            <a:pPr>
              <a:spcAft>
                <a:spcPts val="800"/>
              </a:spcAft>
            </a:pPr>
            <a:r>
              <a:rPr sz="1800">
                <a:solidFill>
                  <a:srgbClr val="1F2937"/>
                </a:solidFill>
                <a:latin typeface="Calibri"/>
              </a:rPr>
              <a:t>▸  14 yoshga to‘lmagan qizlarda akseleratsiya (jadal rivojlanish) tufayli kattaroq ko‘rsatkichlar aniqlanishi mumkin.</a:t>
            </a:r>
          </a:p>
          <a:p>
            <a:pPr>
              <a:spcAft>
                <a:spcPts val="800"/>
              </a:spcAft>
            </a:pPr>
            <a:r>
              <a:rPr sz="1800">
                <a:solidFill>
                  <a:srgbClr val="1F2937"/>
                </a:solidFill>
                <a:latin typeface="Calibri"/>
              </a:rPr>
              <a:t>▸  Odatda 16-17 yoshga kelib tosning rivojlanishi tug‘ruqning normal o‘tishiga imkon beradi.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Tana uzunligi (tik)</a:t>
            </a:r>
          </a:p>
          <a:p>
            <a:pPr algn="l">
              <a:spcAft>
                <a:spcPts val="100"/>
              </a:spcAft>
            </a:pPr>
            <a:r>
              <a:rPr sz="3000" b="1">
                <a:solidFill>
                  <a:srgbClr val="0B1F3A"/>
                </a:solidFill>
                <a:latin typeface="Calibri"/>
              </a:rPr>
              <a:t>150</a:t>
            </a:r>
            <a:r>
              <a:rPr sz="1500" b="0">
                <a:solidFill>
                  <a:srgbClr val="6B7280"/>
                </a:solidFill>
                <a:latin typeface="Calibri"/>
              </a:rPr>
              <a:t>  sm</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Tana uzunligi (o‘tirgan)</a:t>
            </a:r>
          </a:p>
          <a:p>
            <a:pPr algn="l">
              <a:spcAft>
                <a:spcPts val="100"/>
              </a:spcAft>
            </a:pPr>
            <a:r>
              <a:rPr sz="3000" b="1">
                <a:solidFill>
                  <a:srgbClr val="0B1F3A"/>
                </a:solidFill>
                <a:latin typeface="Calibri"/>
              </a:rPr>
              <a:t>80</a:t>
            </a:r>
            <a:r>
              <a:rPr sz="1500" b="0">
                <a:solidFill>
                  <a:srgbClr val="6B7280"/>
                </a:solidFill>
                <a:latin typeface="Calibri"/>
              </a:rPr>
              <a:t>  sm</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Ko‘krak aylanasi</a:t>
            </a:r>
          </a:p>
          <a:p>
            <a:pPr algn="l">
              <a:spcAft>
                <a:spcPts val="100"/>
              </a:spcAft>
            </a:pPr>
            <a:r>
              <a:rPr sz="3000" b="1">
                <a:solidFill>
                  <a:srgbClr val="0B1F3A"/>
                </a:solidFill>
                <a:latin typeface="Calibri"/>
              </a:rPr>
              <a:t>78-80</a:t>
            </a:r>
            <a:r>
              <a:rPr sz="1500" b="0">
                <a:solidFill>
                  <a:srgbClr val="6B7280"/>
                </a:solidFill>
                <a:latin typeface="Calibri"/>
              </a:rPr>
              <a:t>  sm</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Tos: yonbosh o‘siqlari</a:t>
            </a:r>
          </a:p>
          <a:p>
            <a:pPr algn="l">
              <a:spcAft>
                <a:spcPts val="100"/>
              </a:spcAft>
            </a:pPr>
            <a:r>
              <a:rPr sz="3000" b="1">
                <a:solidFill>
                  <a:srgbClr val="0B1F3A"/>
                </a:solidFill>
                <a:latin typeface="Calibri"/>
              </a:rPr>
              <a:t>26-27</a:t>
            </a:r>
            <a:r>
              <a:rPr sz="1500" b="0">
                <a:solidFill>
                  <a:srgbClr val="6B7280"/>
                </a:solidFill>
                <a:latin typeface="Calibri"/>
              </a:rPr>
              <a:t>  sm</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Tos: son ko‘stlari</a:t>
            </a:r>
          </a:p>
          <a:p>
            <a:pPr algn="l">
              <a:spcAft>
                <a:spcPts val="100"/>
              </a:spcAft>
            </a:pPr>
            <a:r>
              <a:rPr sz="3000" b="1">
                <a:solidFill>
                  <a:srgbClr val="0B1F3A"/>
                </a:solidFill>
                <a:latin typeface="Calibri"/>
              </a:rPr>
              <a:t>29</a:t>
            </a:r>
            <a:r>
              <a:rPr sz="1500" b="0">
                <a:solidFill>
                  <a:srgbClr val="6B7280"/>
                </a:solidFill>
                <a:latin typeface="Calibri"/>
              </a:rPr>
              <a:t>  sm</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Tashqi konyugata</a:t>
            </a:r>
          </a:p>
          <a:p>
            <a:pPr algn="l">
              <a:spcAft>
                <a:spcPts val="100"/>
              </a:spcAft>
            </a:pPr>
            <a:r>
              <a:rPr sz="3000" b="1">
                <a:solidFill>
                  <a:srgbClr val="0B1F3A"/>
                </a:solidFill>
                <a:latin typeface="Calibri"/>
              </a:rPr>
              <a:t>17-18</a:t>
            </a:r>
            <a:r>
              <a:rPr sz="1500" b="0">
                <a:solidFill>
                  <a:srgbClr val="6B7280"/>
                </a:solidFill>
                <a:latin typeface="Calibri"/>
              </a:rPr>
              <a:t>  sm</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Eng kam ko‘rsatkichlar (qizlarda)</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aloqa, ovulyatsiya va bachadon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Jinsiy aloqa qilish qobiliyati tashqi jinsiy a’zolarning, xususan qinning yetarli rivojlanganligiga bog‘liq.</a:t>
            </a:r>
          </a:p>
          <a:p>
            <a:pPr>
              <a:spcAft>
                <a:spcPts val="800"/>
              </a:spcAft>
            </a:pPr>
            <a:r>
              <a:rPr sz="1600">
                <a:solidFill>
                  <a:srgbClr val="1F2937"/>
                </a:solidFill>
                <a:latin typeface="Calibri"/>
              </a:rPr>
              <a:t>▸  Ovulyatsiyadan so‘ng homilador bo‘lish mumkin. Ovulyatsiya to‘g‘ri shakllangan menstrual sikl bilan bog‘liq.</a:t>
            </a:r>
          </a:p>
          <a:p>
            <a:pPr>
              <a:spcAft>
                <a:spcPts val="800"/>
              </a:spcAft>
            </a:pPr>
            <a:r>
              <a:rPr sz="1600">
                <a:solidFill>
                  <a:srgbClr val="1F2937"/>
                </a:solidFill>
                <a:latin typeface="Calibri"/>
              </a:rPr>
              <a:t>▸  Yetuklikda bachadon tanasi uning 2/3 qismini, bo‘yinchasi 1/3 qismini tashkil etadi. Aks holda homila belgilangan muddat saqlanmaydi.</a:t>
            </a:r>
          </a:p>
          <a:p>
            <a:pPr>
              <a:spcAft>
                <a:spcPts val="800"/>
              </a:spcAft>
            </a:pPr>
            <a:r>
              <a:rPr sz="1600">
                <a:solidFill>
                  <a:srgbClr val="1F2937"/>
                </a:solidFill>
                <a:latin typeface="Calibri"/>
              </a:rPr>
              <a:t>▸  O‘g‘il bolalarda yetuklik kam aniqlanadi; urolog yoki androlog bilan birga umumiy rivojlanish, jinsiy a’zolar, ikkilamchi belgilar, bez funksiyasi o‘rganiladi.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Mezonlar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Qin</a:t>
            </a:r>
          </a:p>
          <a:p>
            <a:pPr algn="l">
              <a:spcAft>
                <a:spcPts val="0"/>
              </a:spcAft>
            </a:pPr>
            <a:r>
              <a:rPr sz="1200" b="0">
                <a:solidFill>
                  <a:srgbClr val="1F2937"/>
                </a:solidFill>
                <a:latin typeface="Calibri"/>
              </a:rPr>
              <a:t>Jinsiy aloqa uchun yetarli rivojlanish</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Ovulyatsiya</a:t>
            </a:r>
          </a:p>
          <a:p>
            <a:pPr algn="l">
              <a:spcAft>
                <a:spcPts val="0"/>
              </a:spcAft>
            </a:pPr>
            <a:r>
              <a:rPr sz="1200" b="0">
                <a:solidFill>
                  <a:srgbClr val="1F2937"/>
                </a:solidFill>
                <a:latin typeface="Calibri"/>
              </a:rPr>
              <a:t>To‘g‘ri shakllangan menstrual sikl</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Bachadon</a:t>
            </a:r>
          </a:p>
          <a:p>
            <a:pPr algn="l">
              <a:spcAft>
                <a:spcPts val="0"/>
              </a:spcAft>
            </a:pPr>
            <a:r>
              <a:rPr sz="1200" b="0">
                <a:solidFill>
                  <a:srgbClr val="1F2937"/>
                </a:solidFill>
                <a:latin typeface="Calibri"/>
              </a:rPr>
              <a:t>Tana — 2/3, bo‘yincha — 1/3</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O‘g‘il bolalar</a:t>
            </a:r>
          </a:p>
          <a:p>
            <a:pPr algn="l">
              <a:spcAft>
                <a:spcPts val="0"/>
              </a:spcAft>
            </a:pPr>
            <a:r>
              <a:rPr sz="1200" b="0">
                <a:solidFill>
                  <a:srgbClr val="1F2937"/>
                </a:solidFill>
                <a:latin typeface="Calibri"/>
              </a:rPr>
              <a:t>Urolog, androlog bilan birga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Yetuklik mezonlari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289, 290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jins va yetuklik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14 yoshdan nikoh yoshigacha bo‘lgan qizda jinsiy yetuklikni aniqlash uchun ekspertiza tayinlandi. U akusher-ginekolog ishtirokida o‘tadi.</a:t>
            </a:r>
          </a:p>
          <a:p>
            <a:pPr>
              <a:spcAft>
                <a:spcPts val="1200"/>
              </a:spcAft>
            </a:pPr>
            <a:r>
              <a:rPr sz="2200">
                <a:solidFill>
                  <a:srgbClr val="1F2937"/>
                </a:solidFill>
                <a:latin typeface="Calibri"/>
              </a:rPr>
              <a:t>▸  Baholashda jismoniy rivojlanish, tashqi va ichki jinsiy a’zolar, ikkilamchi belgilar, tos o‘lchamlari va menstruatsiya birga hisobga olinadi.</a:t>
            </a:r>
          </a:p>
          <a:p>
            <a:pPr>
              <a:spcAft>
                <a:spcPts val="1200"/>
              </a:spcAft>
            </a:pPr>
            <a:r>
              <a:rPr sz="2200">
                <a:solidFill>
                  <a:srgbClr val="1F2937"/>
                </a:solidFill>
                <a:latin typeface="Calibri"/>
              </a:rPr>
              <a:t>▸  Diqqat: o‘lchamlar nisbiy ahamiyatga ega. Kichikroq ko‘rsatkichli ayol ham farzand ko‘rishi mumkin; 14 yoshgacha akseleratsiya kattaroq ko‘rsatkich beradi.</a:t>
            </a:r>
          </a:p>
          <a:p>
            <a:pPr>
              <a:spcAft>
                <a:spcPts val="1200"/>
              </a:spcAft>
            </a:pPr>
            <a:r>
              <a:rPr sz="2200">
                <a:solidFill>
                  <a:srgbClr val="1F2937"/>
                </a:solidFill>
                <a:latin typeface="Calibri"/>
              </a:rPr>
              <a:t>▸  Savol: faqat bo‘y o‘lchamiga qarab qizni yetuk yoki yetilmagan deb xulosa qilish mumkinmi? Nima uchun?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Bokiralik va qizlik pardasi tuzilishi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Bokiralik (virginitas) asosan qizlik pardasining (hymen) anatomik butunligi bilan belgilanadi.</a:t>
            </a:r>
          </a:p>
          <a:p>
            <a:pPr>
              <a:spcAft>
                <a:spcPts val="800"/>
              </a:spcAft>
            </a:pPr>
            <a:r>
              <a:rPr sz="1600">
                <a:solidFill>
                  <a:srgbClr val="1F2937"/>
                </a:solidFill>
                <a:latin typeface="Calibri"/>
              </a:rPr>
              <a:t>▸  Parda qin shilliq qavatining burmasi bo‘lib, biriktiruvchi va mushak tolalari, qon tomir va nerv bor.</a:t>
            </a:r>
          </a:p>
          <a:p>
            <a:pPr>
              <a:spcAft>
                <a:spcPts val="800"/>
              </a:spcAft>
            </a:pPr>
            <a:r>
              <a:rPr sz="1600">
                <a:solidFill>
                  <a:srgbClr val="1F2937"/>
                </a:solidFill>
                <a:latin typeface="Calibri"/>
              </a:rPr>
              <a:t>▸  Pardada asos, erkin chet va teshik farqlanadi. Teshik bir nechta bo‘lishi yoki umuman bo‘lmasligi ham mumkin.</a:t>
            </a:r>
          </a:p>
          <a:p>
            <a:pPr>
              <a:spcAft>
                <a:spcPts val="800"/>
              </a:spcAft>
            </a:pPr>
            <a:r>
              <a:rPr sz="1600">
                <a:solidFill>
                  <a:srgbClr val="1F2937"/>
                </a:solidFill>
                <a:latin typeface="Calibri"/>
              </a:rPr>
              <a:t>▸  Pardani tavsiflashda soat siferblati bilan taqqoslanadi. Bokiralikda teshikka barmoq uchi ehtiyotkorlik bilan kiritilsa, qisqarish halqasi seziladi.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Qizlik pardasi (hymen)</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Tarkibi</a:t>
            </a:r>
          </a:p>
          <a:p>
            <a:pPr algn="l">
              <a:spcAft>
                <a:spcPts val="0"/>
              </a:spcAft>
            </a:pPr>
            <a:r>
              <a:rPr sz="1200" b="0">
                <a:solidFill>
                  <a:srgbClr val="1F2937"/>
                </a:solidFill>
                <a:latin typeface="Calibri"/>
              </a:rPr>
              <a:t>Qin shilliq qavati burmasi  ·  Biriktiruvchi, mushak, tomir, nerv</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Qismlari</a:t>
            </a:r>
          </a:p>
          <a:p>
            <a:pPr algn="l">
              <a:spcAft>
                <a:spcPts val="0"/>
              </a:spcAft>
            </a:pPr>
            <a:r>
              <a:rPr sz="1200" b="0">
                <a:solidFill>
                  <a:srgbClr val="1F2937"/>
                </a:solidFill>
                <a:latin typeface="Calibri"/>
              </a:rPr>
              <a:t>Asos, erkin chet, teshik</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Teshik</a:t>
            </a:r>
          </a:p>
          <a:p>
            <a:pPr algn="l">
              <a:spcAft>
                <a:spcPts val="0"/>
              </a:spcAft>
            </a:pPr>
            <a:r>
              <a:rPr sz="1200" b="0">
                <a:solidFill>
                  <a:srgbClr val="1F2937"/>
                </a:solidFill>
                <a:latin typeface="Calibri"/>
              </a:rPr>
              <a:t>Bir nechta yoki umuman yo‘q</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Tavsif</a:t>
            </a:r>
          </a:p>
          <a:p>
            <a:pPr algn="l">
              <a:spcAft>
                <a:spcPts val="0"/>
              </a:spcAft>
            </a:pPr>
            <a:r>
              <a:rPr sz="1200" b="0">
                <a:solidFill>
                  <a:srgbClr val="1F2937"/>
                </a:solidFill>
                <a:latin typeface="Calibri"/>
              </a:rPr>
              <a:t>Soat siferblati bilan taqqoslanadi  ·  Barmoq uchida qisqarish halqasi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Qizlik pardasi tuzilishi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Qizlik pardasi shakllari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Nikitin va Serdyukov pardalarni tuzilishiga ko‘ra uch guruhga ajratgan.</a:t>
            </a:r>
          </a:p>
          <a:p>
            <a:pPr>
              <a:spcAft>
                <a:spcPts val="800"/>
              </a:spcAft>
            </a:pPr>
            <a:r>
              <a:rPr sz="1800">
                <a:solidFill>
                  <a:srgbClr val="1F2937"/>
                </a:solidFill>
                <a:latin typeface="Calibri"/>
              </a:rPr>
              <a:t>▸  G‘ayrioddiy shakllarda parda erkin chetlari notekis bo‘ladi.</a:t>
            </a:r>
          </a:p>
          <a:p>
            <a:pPr>
              <a:spcAft>
                <a:spcPts val="800"/>
              </a:spcAft>
            </a:pPr>
            <a:r>
              <a:rPr sz="1800">
                <a:solidFill>
                  <a:srgbClr val="1F2937"/>
                </a:solidFill>
                <a:latin typeface="Calibri"/>
              </a:rPr>
              <a:t>▸  Darslikdagi rasm 12.1 da halqasimon, yarim oysimon, baxromali, to‘siqli shakllar ko‘rsatilgan.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Qizlik pardasi shakllari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1-guruh (ko‘p uchraydi)</a:t>
            </a:r>
          </a:p>
          <a:p>
            <a:pPr algn="l">
              <a:spcAft>
                <a:spcPts val="0"/>
              </a:spcAft>
            </a:pPr>
            <a:r>
              <a:rPr sz="1200" b="0">
                <a:solidFill>
                  <a:srgbClr val="1F2937"/>
                </a:solidFill>
                <a:latin typeface="Calibri"/>
              </a:rPr>
              <a:t>Halqasimon, yarim oysimon  ·  Voronkasimon</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2-guruh (kam uchraydi)</a:t>
            </a:r>
          </a:p>
          <a:p>
            <a:pPr algn="l">
              <a:spcAft>
                <a:spcPts val="0"/>
              </a:spcAft>
            </a:pPr>
            <a:r>
              <a:rPr sz="1200" b="0">
                <a:solidFill>
                  <a:srgbClr val="1F2937"/>
                </a:solidFill>
                <a:latin typeface="Calibri"/>
              </a:rPr>
              <a:t>Bo‘lakchali, spiralsimon  ·  Baxromali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3-guruh (juda kam)</a:t>
            </a:r>
          </a:p>
          <a:p>
            <a:pPr algn="l">
              <a:spcAft>
                <a:spcPts val="0"/>
              </a:spcAft>
            </a:pPr>
            <a:r>
              <a:rPr sz="1200" b="0">
                <a:solidFill>
                  <a:srgbClr val="1F2937"/>
                </a:solidFill>
                <a:latin typeface="Calibri"/>
              </a:rPr>
              <a:t>Ikki oynali, to‘siqli  ·  Teshigi yo‘q</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Pardaning uch guruhi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290, 291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Defloratsiya: to‘liq va noto‘liq yoriqlar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Birinchi jinsiy aloqada qizlik pardasining anatomik butunligi buzilishi (defloratsiya) bokiralikning yo‘qolishiga olib keladi.</a:t>
            </a:r>
          </a:p>
          <a:p>
            <a:pPr>
              <a:spcAft>
                <a:spcPts val="1200"/>
              </a:spcAft>
            </a:pPr>
            <a:r>
              <a:rPr sz="2200">
                <a:solidFill>
                  <a:srgbClr val="1F2937"/>
                </a:solidFill>
                <a:latin typeface="Calibri"/>
              </a:rPr>
              <a:t>▸  Jinsiy olat boshchasi ta’sirida pardada to‘liq va noto‘liq yoriq hosil bo‘ladi. To‘liq yoriq parda asosigacha yetadi, noto‘liq yoriq yetmaydi.</a:t>
            </a:r>
          </a:p>
          <a:p>
            <a:pPr>
              <a:spcAft>
                <a:spcPts val="1200"/>
              </a:spcAft>
            </a:pPr>
            <a:r>
              <a:rPr sz="2200">
                <a:solidFill>
                  <a:srgbClr val="1F2937"/>
                </a:solidFill>
                <a:latin typeface="Calibri"/>
              </a:rPr>
              <a:t>▸  Ba’zan aloqada defloratsiya bo‘lmaydi. Bu asosan elastik, cho‘ziluvchan, past va tabiiy o‘yiqlari ko‘p pardalarda kuzatiladi.</a:t>
            </a:r>
          </a:p>
          <a:p>
            <a:pPr>
              <a:spcAft>
                <a:spcPts val="1200"/>
              </a:spcAft>
            </a:pPr>
            <a:r>
              <a:rPr sz="2200">
                <a:solidFill>
                  <a:srgbClr val="1F2937"/>
                </a:solidFill>
                <a:latin typeface="Calibri"/>
              </a:rPr>
              <a:t>▸  Diqqat: parda butunligi barmoq, turli jismlar yoki jarrohlik operatsiyasida ham buzilishi mumkin. Parda shikasti har doim ham jinsiy aloqadan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Qizlik pardasi yorig‘ining bitish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Muddatni faqat dastlabki haftalarda aniqlash mumkin. Uch haftadan so‘ng bu masalani hal etib bo‘lmaydi.</a:t>
            </a:r>
          </a:p>
          <a:p>
            <a:pPr>
              <a:spcAft>
                <a:spcPts val="800"/>
              </a:spcAft>
            </a:pPr>
            <a:r>
              <a:rPr sz="1800">
                <a:solidFill>
                  <a:srgbClr val="1F2937"/>
                </a:solidFill>
                <a:latin typeface="Calibri"/>
              </a:rPr>
              <a:t>▸  Yupqa, elastik pardadagi yoriq qalin, go‘shtsimon pardadagiga qaraganda ancha tez bitadi.</a:t>
            </a:r>
          </a:p>
          <a:p>
            <a:pPr>
              <a:spcAft>
                <a:spcPts val="800"/>
              </a:spcAft>
            </a:pPr>
            <a:r>
              <a:rPr sz="1800">
                <a:solidFill>
                  <a:srgbClr val="1F2937"/>
                </a:solidFill>
                <a:latin typeface="Calibri"/>
              </a:rPr>
              <a:t>▸  Bitish shikast ko‘lami, organizm xususiyatlari, parda shakli va tuzilishiga bog‘liq.</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Dastlab</a:t>
            </a:r>
          </a:p>
          <a:p>
            <a:pPr algn="l">
              <a:spcAft>
                <a:spcPts val="200"/>
              </a:spcAft>
            </a:pPr>
            <a:r>
              <a:rPr sz="1400" b="0">
                <a:solidFill>
                  <a:srgbClr val="1F2937"/>
                </a:solidFill>
                <a:latin typeface="Calibri"/>
              </a:rPr>
              <a:t>Qon ketish, shish</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Keyin</a:t>
            </a:r>
          </a:p>
          <a:p>
            <a:pPr algn="l">
              <a:spcAft>
                <a:spcPts val="200"/>
              </a:spcAft>
            </a:pPr>
            <a:r>
              <a:rPr sz="1400" b="0">
                <a:solidFill>
                  <a:srgbClr val="1F2937"/>
                </a:solidFill>
                <a:latin typeface="Calibri"/>
              </a:rPr>
              <a:t>Chetlar oqimtir qoplama</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1-hafta oxiri</a:t>
            </a:r>
          </a:p>
          <a:p>
            <a:pPr algn="l">
              <a:spcAft>
                <a:spcPts val="200"/>
              </a:spcAft>
            </a:pPr>
            <a:r>
              <a:rPr sz="1400" b="0">
                <a:solidFill>
                  <a:srgbClr val="1F2937"/>
                </a:solidFill>
                <a:latin typeface="Calibri"/>
              </a:rPr>
              <a:t>Granulyasiya</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2-3 hafta</a:t>
            </a:r>
          </a:p>
          <a:p>
            <a:pPr algn="l">
              <a:spcAft>
                <a:spcPts val="200"/>
              </a:spcAft>
            </a:pPr>
            <a:r>
              <a:rPr sz="1400" b="0">
                <a:solidFill>
                  <a:srgbClr val="1F2937"/>
                </a:solidFill>
                <a:latin typeface="Calibri"/>
              </a:rPr>
              <a:t>Chandiq</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3 haftadan keyin</a:t>
            </a:r>
          </a:p>
          <a:p>
            <a:pPr algn="l">
              <a:spcAft>
                <a:spcPts val="200"/>
              </a:spcAft>
            </a:pPr>
            <a:r>
              <a:rPr sz="1400" b="0">
                <a:solidFill>
                  <a:srgbClr val="1F2937"/>
                </a:solidFill>
                <a:latin typeface="Calibri"/>
              </a:rPr>
              <a:t>Muddat noaniq</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Yoriq bitishi vaqt chizig‘i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Yoriq va tabiiy o‘yiqni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Yoriq chetlarining holati uning muddatiga bog‘liq. Eski yoriqning chetlari nisbatan qalin va chandiqlangan bo‘ladi.</a:t>
            </a:r>
          </a:p>
          <a:p>
            <a:pPr>
              <a:spcAft>
                <a:spcPts val="800"/>
              </a:spcAft>
            </a:pPr>
            <a:r>
              <a:rPr sz="1800">
                <a:solidFill>
                  <a:srgbClr val="1F2937"/>
                </a:solidFill>
                <a:latin typeface="Calibri"/>
              </a:rPr>
              <a:t>▸  Diqqat: tabiiy o‘yiq ≠ yoriq. Ularni farqlash ko‘pincha zarur bo‘lib qoladi.</a:t>
            </a:r>
          </a:p>
          <a:p>
            <a:pPr>
              <a:spcAft>
                <a:spcPts val="800"/>
              </a:spcAft>
            </a:pPr>
            <a:r>
              <a:rPr sz="1800">
                <a:solidFill>
                  <a:srgbClr val="1F2937"/>
                </a:solidFill>
                <a:latin typeface="Calibri"/>
              </a:rPr>
              <a:t>▸  Bokiralikka shubha bo‘lsa, imkon qadar tez akusher-ginekologga emas, sud-tibbiy ekspertga murojaat qilinadi.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Yoriq</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Ko‘pincha pastki, soat 5–7</a:t>
            </a:r>
          </a:p>
          <a:p>
            <a:pPr algn="l">
              <a:spcAft>
                <a:spcPts val="700"/>
              </a:spcAft>
            </a:pPr>
            <a:r>
              <a:rPr sz="1500" b="1">
                <a:solidFill>
                  <a:srgbClr val="C9A227"/>
                </a:solidFill>
                <a:latin typeface="Calibri"/>
              </a:rPr>
              <a:t>●  </a:t>
            </a:r>
            <a:r>
              <a:rPr sz="1500" b="0">
                <a:solidFill>
                  <a:srgbClr val="1F2937"/>
                </a:solidFill>
                <a:latin typeface="Calibri"/>
              </a:rPr>
              <a:t>To‘liq yoriq asosigacha yetadi</a:t>
            </a:r>
          </a:p>
          <a:p>
            <a:pPr algn="l">
              <a:spcAft>
                <a:spcPts val="700"/>
              </a:spcAft>
            </a:pPr>
            <a:r>
              <a:rPr sz="1500" b="1">
                <a:solidFill>
                  <a:srgbClr val="C9A227"/>
                </a:solidFill>
                <a:latin typeface="Calibri"/>
              </a:rPr>
              <a:t>●  </a:t>
            </a:r>
            <a:r>
              <a:rPr sz="1500" b="0">
                <a:solidFill>
                  <a:srgbClr val="1F2937"/>
                </a:solidFill>
                <a:latin typeface="Calibri"/>
              </a:rPr>
              <a:t>Eski yoriq: chetlari qalin, chandiqli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Tabiiy o‘yiq</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Turli segmentlarda</a:t>
            </a:r>
          </a:p>
          <a:p>
            <a:pPr algn="l">
              <a:spcAft>
                <a:spcPts val="700"/>
              </a:spcAft>
            </a:pPr>
            <a:r>
              <a:rPr sz="1500" b="1">
                <a:solidFill>
                  <a:srgbClr val="C9A227"/>
                </a:solidFill>
                <a:latin typeface="Calibri"/>
              </a:rPr>
              <a:t>●  </a:t>
            </a:r>
            <a:r>
              <a:rPr sz="1500" b="0">
                <a:solidFill>
                  <a:srgbClr val="1F2937"/>
                </a:solidFill>
                <a:latin typeface="Calibri"/>
              </a:rPr>
              <a:t>Aksariyati asosgacha yetmaydi</a:t>
            </a:r>
          </a:p>
          <a:p>
            <a:pPr algn="l">
              <a:spcAft>
                <a:spcPts val="700"/>
              </a:spcAft>
            </a:pPr>
            <a:r>
              <a:rPr sz="1500" b="1">
                <a:solidFill>
                  <a:srgbClr val="C9A227"/>
                </a:solidFill>
                <a:latin typeface="Calibri"/>
              </a:rPr>
              <a:t>●  </a:t>
            </a:r>
            <a:r>
              <a:rPr sz="1500" b="0">
                <a:solidFill>
                  <a:srgbClr val="1F2937"/>
                </a:solidFill>
                <a:latin typeface="Calibri"/>
              </a:rPr>
              <a:t>Chetlari boshqa sohadan farq qilmaydi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Yoriq va tabiiy o‘yiq</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292, 291-292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aloqa bo‘lganligini tasdiqlovchi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Aloqa bo‘lganini qinda maniyning topilishi, homiladorlikning rivojlanishi va tanosil kasalliklarining yuqishi tasdiqlaydi.</a:t>
            </a:r>
          </a:p>
          <a:p>
            <a:pPr>
              <a:spcAft>
                <a:spcPts val="800"/>
              </a:spcAft>
            </a:pPr>
            <a:r>
              <a:rPr sz="1600">
                <a:solidFill>
                  <a:srgbClr val="1F2937"/>
                </a:solidFill>
                <a:latin typeface="Calibri"/>
              </a:rPr>
              <a:t>▸  Maniy qinda odatda 3-5 kungacha saqlanadi. Shu sababli namuna qancha tez olinsa, laboratoriya natijasi shunchalik ishonchli bo‘ladi.</a:t>
            </a:r>
          </a:p>
          <a:p>
            <a:pPr>
              <a:spcAft>
                <a:spcPts val="800"/>
              </a:spcAft>
            </a:pPr>
            <a:r>
              <a:rPr sz="1600">
                <a:solidFill>
                  <a:srgbClr val="1F2937"/>
                </a:solidFill>
                <a:latin typeface="Calibri"/>
              </a:rPr>
              <a:t>▸  Nomusga tegish ko‘rigida qin ichidan surtma, qov, oraliq va sondan bosmalar imkon qadar tez olinadi. Vaqt o‘tsa, spermatozoid topilish ehtimoli kamayadi.</a:t>
            </a:r>
          </a:p>
          <a:p>
            <a:pPr>
              <a:spcAft>
                <a:spcPts val="800"/>
              </a:spcAft>
            </a:pPr>
            <a:r>
              <a:rPr sz="1600">
                <a:solidFill>
                  <a:srgbClr val="1F2937"/>
                </a:solidFill>
                <a:latin typeface="Calibri"/>
              </a:rPr>
              <a:t>▸  Diqqat: xato qilish xavfi. Qizlik pardasi butunligining buzilishi har doim jinsiy aloqani bildirmaydi.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Aloqa belgilari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Maniy</a:t>
            </a:r>
          </a:p>
          <a:p>
            <a:pPr algn="l">
              <a:spcAft>
                <a:spcPts val="0"/>
              </a:spcAft>
            </a:pPr>
            <a:r>
              <a:rPr sz="1200" b="0">
                <a:solidFill>
                  <a:srgbClr val="1F2937"/>
                </a:solidFill>
                <a:latin typeface="Calibri"/>
              </a:rPr>
              <a:t>Qinda 3-5 kungacha saqlanadi  ·  Namuna tez olinadi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Homiladorlik</a:t>
            </a:r>
          </a:p>
          <a:p>
            <a:pPr algn="l">
              <a:spcAft>
                <a:spcPts val="0"/>
              </a:spcAft>
            </a:pPr>
            <a:r>
              <a:rPr sz="1200" b="0">
                <a:solidFill>
                  <a:srgbClr val="1F2937"/>
                </a:solidFill>
                <a:latin typeface="Calibri"/>
              </a:rPr>
              <a:t>Rivojlanishi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Tanosil kasalligi</a:t>
            </a:r>
          </a:p>
          <a:p>
            <a:pPr algn="l">
              <a:spcAft>
                <a:spcPts val="0"/>
              </a:spcAft>
            </a:pPr>
            <a:r>
              <a:rPr sz="1200" b="0">
                <a:solidFill>
                  <a:srgbClr val="1F2937"/>
                </a:solidFill>
                <a:latin typeface="Calibri"/>
              </a:rPr>
              <a:t>Yuqishi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Eslatma</a:t>
            </a:r>
          </a:p>
          <a:p>
            <a:pPr algn="l">
              <a:spcAft>
                <a:spcPts val="0"/>
              </a:spcAft>
            </a:pPr>
            <a:r>
              <a:rPr sz="1200" b="0">
                <a:solidFill>
                  <a:srgbClr val="1F2937"/>
                </a:solidFill>
                <a:latin typeface="Calibri"/>
              </a:rPr>
              <a:t>Parda buzilishi har doim aloqa emas</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Jinsiy aloqa bo‘lganini tasdiqlovchilar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292, 296, 291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bokiralik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qiz bola ko‘rikka keltirildi. Qizlik pardasining pastki qismida, soat siferblati bo‘yicha 5-7 oralig‘ida, asosigacha yetgan yoriq topildi.</a:t>
            </a:r>
          </a:p>
          <a:p>
            <a:pPr>
              <a:spcAft>
                <a:spcPts val="1200"/>
              </a:spcAft>
            </a:pPr>
            <a:r>
              <a:rPr sz="2200">
                <a:solidFill>
                  <a:srgbClr val="1F2937"/>
                </a:solidFill>
                <a:latin typeface="Calibri"/>
              </a:rPr>
              <a:t>▸  Savol: bu yoriqmi yoki tabiiy o‘yiqmi? Tabiiy o‘yiq pardaning turli segmentida bo‘lishi mumkin.</a:t>
            </a:r>
          </a:p>
          <a:p>
            <a:pPr>
              <a:spcAft>
                <a:spcPts val="1200"/>
              </a:spcAft>
            </a:pPr>
            <a:r>
              <a:rPr sz="2200">
                <a:solidFill>
                  <a:srgbClr val="1F2937"/>
                </a:solidFill>
                <a:latin typeface="Calibri"/>
              </a:rPr>
              <a:t>▸  Yoriq ko‘pincha pastki segmentlarda, 5-7 oralig‘ida bo‘ladi. Eski yoriqning chetlari nisbatan qalin va chandiqlangan bo‘ladi.</a:t>
            </a:r>
          </a:p>
          <a:p>
            <a:pPr>
              <a:spcAft>
                <a:spcPts val="1200"/>
              </a:spcAft>
            </a:pPr>
            <a:r>
              <a:rPr sz="2200">
                <a:solidFill>
                  <a:srgbClr val="1F2937"/>
                </a:solidFill>
                <a:latin typeface="Calibri"/>
              </a:rPr>
              <a:t>▸  Muddat: 2-hafta oxiri - 3-haftada yoriq chetida chandiq hosil bo‘ladi.</a:t>
            </a:r>
          </a:p>
          <a:p>
            <a:pPr>
              <a:spcAft>
                <a:spcPts val="1200"/>
              </a:spcAft>
            </a:pPr>
            <a:r>
              <a:rPr sz="2200">
                <a:solidFill>
                  <a:srgbClr val="1F2937"/>
                </a:solidFill>
                <a:latin typeface="Calibri"/>
              </a:rPr>
              <a:t>▸  Butunlik buzilgan muddat faqat dastlabki haftalarda aniqlanadi, uch haftadan so‘ng bu imkonsiz.</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292, 291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Nasl qoldirish qobiliyati: erkak va ayol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Erkakda bu jinsiy aloqa va urug‘lantirish; ayolda aloqa, homilador bo‘lish va tug‘ish imkoniyatidir.</a:t>
            </a:r>
          </a:p>
          <a:p>
            <a:pPr>
              <a:spcAft>
                <a:spcPts val="800"/>
              </a:spcAft>
            </a:pPr>
            <a:r>
              <a:rPr sz="1800">
                <a:solidFill>
                  <a:srgbClr val="1F2937"/>
                </a:solidFill>
                <a:latin typeface="Calibri"/>
              </a:rPr>
              <a:t>▸  Urug‘lantirish qobiliyati eyakulyatni laboratoriya tekshiruvi orqali aniqlanadi. Harakatchan spermatozoidlar topilsa, qobiliyat tasdiqlanadi.</a:t>
            </a:r>
          </a:p>
          <a:p>
            <a:pPr>
              <a:spcAft>
                <a:spcPts val="800"/>
              </a:spcAft>
            </a:pPr>
            <a:r>
              <a:rPr sz="1800">
                <a:solidFill>
                  <a:srgbClr val="1F2937"/>
                </a:solidFill>
                <a:latin typeface="Calibri"/>
              </a:rPr>
              <a:t>▸  Ekspertiza klinitsist-mutaxassislar ishtirokida o‘tadi; ba’zan statsionarda tekshiriladi.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Erkak</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Impotensiya: MNT, nuqson, endokrin, nevroz</a:t>
            </a:r>
          </a:p>
          <a:p>
            <a:pPr algn="l">
              <a:spcAft>
                <a:spcPts val="700"/>
              </a:spcAft>
            </a:pPr>
            <a:r>
              <a:rPr sz="1500" b="1">
                <a:solidFill>
                  <a:srgbClr val="C9A227"/>
                </a:solidFill>
                <a:latin typeface="Calibri"/>
              </a:rPr>
              <a:t>●  </a:t>
            </a:r>
            <a:r>
              <a:rPr sz="1500" b="0">
                <a:solidFill>
                  <a:srgbClr val="1F2937"/>
                </a:solidFill>
                <a:latin typeface="Calibri"/>
              </a:rPr>
              <a:t>Azospermiya, nekrospermiya, astenospermiya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Ayol</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Qin atreziyasi, chandiq, o‘sma, vaginizm</a:t>
            </a:r>
          </a:p>
          <a:p>
            <a:pPr algn="l">
              <a:spcAft>
                <a:spcPts val="700"/>
              </a:spcAft>
            </a:pPr>
            <a:r>
              <a:rPr sz="1500" b="1">
                <a:solidFill>
                  <a:srgbClr val="C9A227"/>
                </a:solidFill>
                <a:latin typeface="Calibri"/>
              </a:rPr>
              <a:t>●  </a:t>
            </a:r>
            <a:r>
              <a:rPr sz="1500" b="0">
                <a:solidFill>
                  <a:srgbClr val="1F2937"/>
                </a:solidFill>
                <a:latin typeface="Calibri"/>
              </a:rPr>
              <a:t>Bachadon va nay atreziyasi, yosh</a:t>
            </a:r>
          </a:p>
          <a:p>
            <a:pPr algn="l">
              <a:spcAft>
                <a:spcPts val="700"/>
              </a:spcAft>
            </a:pPr>
            <a:r>
              <a:rPr sz="1500" b="1">
                <a:solidFill>
                  <a:srgbClr val="C9A227"/>
                </a:solidFill>
                <a:latin typeface="Calibri"/>
              </a:rPr>
              <a:t>●  </a:t>
            </a:r>
            <a:r>
              <a:rPr sz="1500" b="0">
                <a:solidFill>
                  <a:srgbClr val="1F2937"/>
                </a:solidFill>
                <a:latin typeface="Calibri"/>
              </a:rPr>
              <a:t>Tor tos, tos deformatsiyasi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Nasl qoldirish: monelik qiluvchilar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292, 293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Homilador bo‘lish va tug‘ish qobiliyatiga monelik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Homilador bo‘lish qobiliyatini yoshi (balog‘atga yetmagan yoki menopauza) bilan bog‘liq holatlar istisno qiladi.</a:t>
            </a:r>
          </a:p>
          <a:p>
            <a:pPr>
              <a:spcAft>
                <a:spcPts val="800"/>
              </a:spcAft>
            </a:pPr>
            <a:r>
              <a:rPr sz="1600">
                <a:solidFill>
                  <a:srgbClr val="1F2937"/>
                </a:solidFill>
                <a:latin typeface="Calibri"/>
              </a:rPr>
              <a:t>▸  Jinsiy a’zolar kasalliklari (yallig‘lanish, tuberkulez, gonoreya), rivojlanish nuqsonlari (bachadon, nay atreziyasi) va o‘smalar ham istisno qiladi.</a:t>
            </a:r>
          </a:p>
          <a:p>
            <a:pPr>
              <a:spcAft>
                <a:spcPts val="800"/>
              </a:spcAft>
            </a:pPr>
            <a:r>
              <a:rPr sz="1600">
                <a:solidFill>
                  <a:srgbClr val="1F2937"/>
                </a:solidFill>
                <a:latin typeface="Calibri"/>
              </a:rPr>
              <a:t>▸  Surunkali infeksiya, intoksikatsiyalar va o‘tkazilgan operatsiyalar (bachadon, tuxumdon, nay amputatsiyasi) ham qobiliyatni yo‘qotadi.</a:t>
            </a:r>
          </a:p>
          <a:p>
            <a:pPr>
              <a:spcAft>
                <a:spcPts val="800"/>
              </a:spcAft>
            </a:pPr>
            <a:r>
              <a:rPr sz="1600">
                <a:solidFill>
                  <a:srgbClr val="1F2937"/>
                </a:solidFill>
                <a:latin typeface="Calibri"/>
              </a:rPr>
              <a:t>▸  Tor tos, tos suyaklari deformatsiyasi, jinsiy a’zolar kasalliklari oqibatlari (o‘sma, chandiq) tabiiy tug‘ishga to‘sqinlik qiladi.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Monelik qiluvchilar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Yosh</a:t>
            </a:r>
          </a:p>
          <a:p>
            <a:pPr algn="l">
              <a:spcAft>
                <a:spcPts val="0"/>
              </a:spcAft>
            </a:pPr>
            <a:r>
              <a:rPr sz="1200" b="0">
                <a:solidFill>
                  <a:srgbClr val="1F2937"/>
                </a:solidFill>
                <a:latin typeface="Calibri"/>
              </a:rPr>
              <a:t>Balog‘atga yetmagan  ·  Menopauza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Kasalliklar</a:t>
            </a:r>
          </a:p>
          <a:p>
            <a:pPr algn="l">
              <a:spcAft>
                <a:spcPts val="0"/>
              </a:spcAft>
            </a:pPr>
            <a:r>
              <a:rPr sz="1200" b="0">
                <a:solidFill>
                  <a:srgbClr val="1F2937"/>
                </a:solidFill>
                <a:latin typeface="Calibri"/>
              </a:rPr>
              <a:t>Yallig‘lanish  ·  Tuberkulez, gonoreya</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Nuqson, o‘sma</a:t>
            </a:r>
          </a:p>
          <a:p>
            <a:pPr algn="l">
              <a:spcAft>
                <a:spcPts val="0"/>
              </a:spcAft>
            </a:pPr>
            <a:r>
              <a:rPr sz="1200" b="0">
                <a:solidFill>
                  <a:srgbClr val="1F2937"/>
                </a:solidFill>
                <a:latin typeface="Calibri"/>
              </a:rPr>
              <a:t>Bachadon, nay atreziyasi  ·  O‘smalar</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Boshqa</a:t>
            </a:r>
          </a:p>
          <a:p>
            <a:pPr algn="l">
              <a:spcAft>
                <a:spcPts val="0"/>
              </a:spcAft>
            </a:pPr>
            <a:r>
              <a:rPr sz="1200" b="0">
                <a:solidFill>
                  <a:srgbClr val="1F2937"/>
                </a:solidFill>
                <a:latin typeface="Calibri"/>
              </a:rPr>
              <a:t>Surunkali infeksiya, intoksikatsiya  ·  Bachadon, tuxumdon, nay amputatsiyasi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Homilador bo‘lishga monelik</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292, 293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Kechayotgan homiladorlikni aniqlash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Homiladorlikda hayz ko‘rilmaydi. Ammo ba’zan homilador ayolda qonli ajralma bo‘lishi yoki ayrim kasalliklar menopauza bilan kechishi mumkinligini unutmang.</a:t>
            </a:r>
          </a:p>
          <a:p>
            <a:pPr>
              <a:spcAft>
                <a:spcPts val="1200"/>
              </a:spcAft>
            </a:pPr>
            <a:r>
              <a:rPr sz="2000">
                <a:solidFill>
                  <a:srgbClr val="1F2937"/>
                </a:solidFill>
                <a:latin typeface="Calibri"/>
              </a:rPr>
              <a:t>▸  Sut bezlari kattalashadi. So‘rg‘ich va uning atrofidagi doira kattalashib, pigmentlanadi. Bu belgilar 2-oydan yaqqol ko‘rinadi.</a:t>
            </a:r>
          </a:p>
          <a:p>
            <a:pPr>
              <a:spcAft>
                <a:spcPts val="1200"/>
              </a:spcAft>
            </a:pPr>
            <a:r>
              <a:rPr sz="2000">
                <a:solidFill>
                  <a:srgbClr val="1F2937"/>
                </a:solidFill>
                <a:latin typeface="Calibri"/>
              </a:rPr>
              <a:t>▸  Laboratoriyada xorial gonadotropin gormoni aniqlanadi; u dastlabki davrdan ishlab chiqariladi. Bachadonning o‘lchami, shakli va zichligi o‘zgaradi.</a:t>
            </a:r>
          </a:p>
          <a:p>
            <a:pPr>
              <a:spcAft>
                <a:spcPts val="1200"/>
              </a:spcAft>
            </a:pPr>
            <a:r>
              <a:rPr sz="2000">
                <a:solidFill>
                  <a:srgbClr val="1F2937"/>
                </a:solidFill>
                <a:latin typeface="Calibri"/>
              </a:rPr>
              <a:t>▸  Ishonchli belgilar: auskultatsiyada homila yuragi urishi, palpatsiya va ultratovushda homila tanasi qismlari va qimirlashi. Muddat akusherlikdagidek aniqlanadi.</a:t>
            </a:r>
          </a:p>
          <a:p>
            <a:pPr>
              <a:spcAft>
                <a:spcPts val="1200"/>
              </a:spcAft>
            </a:pPr>
            <a:r>
              <a:rPr sz="2000">
                <a:solidFill>
                  <a:srgbClr val="1F2937"/>
                </a:solidFill>
                <a:latin typeface="Calibri"/>
              </a:rPr>
              <a:t>▸  Ikkinchi yarmida qorin kattalashadi, oqimtir chiziqlar (stria gravidarum) va o‘rta chiziqda pigmentatsiya paydo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Kechayotgan homiladorlik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Homiladorlikda hayz ko‘rilmaydi (ba’zan qonli ajralma yoki menopauza bilan kechadigan kasalliklarni hisobga olish kerak).</a:t>
            </a:r>
          </a:p>
          <a:p>
            <a:pPr>
              <a:spcAft>
                <a:spcPts val="800"/>
              </a:spcAft>
            </a:pPr>
            <a:r>
              <a:rPr sz="1600">
                <a:solidFill>
                  <a:srgbClr val="1F2937"/>
                </a:solidFill>
                <a:latin typeface="Calibri"/>
              </a:rPr>
              <a:t>▸  Sut bezlari kattalashadi, so‘rg‘ich va uning atrofi kattalashib pigmentlanadi; bu belgilar 2-oydan yaqqol bo‘ladi.</a:t>
            </a:r>
          </a:p>
          <a:p>
            <a:pPr>
              <a:spcAft>
                <a:spcPts val="800"/>
              </a:spcAft>
            </a:pPr>
            <a:r>
              <a:rPr sz="1600">
                <a:solidFill>
                  <a:srgbClr val="1F2937"/>
                </a:solidFill>
                <a:latin typeface="Calibri"/>
              </a:rPr>
              <a:t>▸  Laboratoriyada xorial gonadotropin aniqlanadi; bachadon o‘lchami, shakli, zichligi o‘zgaradi.</a:t>
            </a:r>
          </a:p>
          <a:p>
            <a:pPr>
              <a:spcAft>
                <a:spcPts val="800"/>
              </a:spcAft>
            </a:pPr>
            <a:r>
              <a:rPr sz="1600">
                <a:solidFill>
                  <a:srgbClr val="1F2937"/>
                </a:solidFill>
                <a:latin typeface="Calibri"/>
              </a:rPr>
              <a:t>▸  Ikkinchi yarmida qorin kattalashadi, oqimtir vertikal chiziqlar (stria gravidarum) va o‘rta chiziqda pigmentatsiya paydo bo‘ladi.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Homiladorlik belgilari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Ehtimoliy</a:t>
            </a:r>
          </a:p>
          <a:p>
            <a:pPr algn="l">
              <a:spcAft>
                <a:spcPts val="0"/>
              </a:spcAft>
            </a:pPr>
            <a:r>
              <a:rPr sz="1200" b="0">
                <a:solidFill>
                  <a:srgbClr val="1F2937"/>
                </a:solidFill>
                <a:latin typeface="Calibri"/>
              </a:rPr>
              <a:t>Hayz to‘xtashi  ·  Sut bezlari o‘zgarishi (2-oydan)</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Laboratoriya</a:t>
            </a:r>
          </a:p>
          <a:p>
            <a:pPr algn="l">
              <a:spcAft>
                <a:spcPts val="0"/>
              </a:spcAft>
            </a:pPr>
            <a:r>
              <a:rPr sz="1200" b="0">
                <a:solidFill>
                  <a:srgbClr val="1F2937"/>
                </a:solidFill>
                <a:latin typeface="Calibri"/>
              </a:rPr>
              <a:t>Xorial gonadotropin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Bachadon, qorin</a:t>
            </a:r>
          </a:p>
          <a:p>
            <a:pPr algn="l">
              <a:spcAft>
                <a:spcPts val="0"/>
              </a:spcAft>
            </a:pPr>
            <a:r>
              <a:rPr sz="1200" b="0">
                <a:solidFill>
                  <a:srgbClr val="1F2937"/>
                </a:solidFill>
                <a:latin typeface="Calibri"/>
              </a:rPr>
              <a:t>Bachadon o‘lchami, zichligi  ·  Stria gravidarum (2-yarmida)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Ishonchli</a:t>
            </a:r>
          </a:p>
          <a:p>
            <a:pPr algn="l">
              <a:spcAft>
                <a:spcPts val="0"/>
              </a:spcAft>
            </a:pPr>
            <a:r>
              <a:rPr sz="1200" b="0">
                <a:solidFill>
                  <a:srgbClr val="1F2937"/>
                </a:solidFill>
                <a:latin typeface="Calibri"/>
              </a:rPr>
              <a:t>Homila yuragi urishi  ·  Homila qismlari, qimirlashi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Homiladorlik belgilari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Bo‘lib o‘tgan tug‘ruqni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Dastlabki kunlarda sut bezlari shishgan, so‘rg‘ich doirasi to‘qroq, ajralma chiqadi.</a:t>
            </a:r>
          </a:p>
          <a:p>
            <a:pPr>
              <a:spcAft>
                <a:spcPts val="800"/>
              </a:spcAft>
            </a:pPr>
            <a:r>
              <a:rPr sz="1800">
                <a:solidFill>
                  <a:srgbClr val="1F2937"/>
                </a:solidFill>
                <a:latin typeface="Calibri"/>
              </a:rPr>
              <a:t>▸  Tug‘ruqda qizlik pardasi shikastlanadi. Uning o‘rnida qon quyilishli alohida laxtaklar — mirtasimon so‘rg‘ichlar qoladi.</a:t>
            </a:r>
          </a:p>
          <a:p>
            <a:pPr>
              <a:spcAft>
                <a:spcPts val="800"/>
              </a:spcAft>
            </a:pPr>
            <a:r>
              <a:rPr sz="1800">
                <a:solidFill>
                  <a:srgbClr val="1F2937"/>
                </a:solidFill>
                <a:latin typeface="Calibri"/>
              </a:rPr>
              <a:t>▸  Tug‘gan ayolda bachadon bo‘yinchasining tashqi teshigi yoriqsimon, tug‘magan ayolda odatda dumaloq.</a:t>
            </a:r>
          </a:p>
          <a:p>
            <a:pPr>
              <a:spcAft>
                <a:spcPts val="800"/>
              </a:spcAft>
            </a:pPr>
            <a:r>
              <a:rPr sz="1800">
                <a:solidFill>
                  <a:srgbClr val="1F2937"/>
                </a:solidFill>
                <a:latin typeface="Calibri"/>
              </a:rPr>
              <a:t>▸  Dastlabki kunlarda tug‘ruq muddatini aniqlash qiyin emas.</a:t>
            </a:r>
          </a:p>
          <a:p>
            <a:pPr>
              <a:spcAft>
                <a:spcPts val="800"/>
              </a:spcAft>
            </a:pPr>
            <a:r>
              <a:rPr sz="1800">
                <a:solidFill>
                  <a:srgbClr val="1F2937"/>
                </a:solidFill>
                <a:latin typeface="Calibri"/>
              </a:rPr>
              <a:t>▸  Jinsiy oraliq keng, qinga kirish ochiq, qin devorlari biroz tushgan bo‘ladi.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Tug‘ruq belgilari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Dastlabki kunlar</a:t>
            </a:r>
          </a:p>
          <a:p>
            <a:pPr algn="l">
              <a:spcAft>
                <a:spcPts val="0"/>
              </a:spcAft>
            </a:pPr>
            <a:r>
              <a:rPr sz="1200" b="0">
                <a:solidFill>
                  <a:srgbClr val="1F2937"/>
                </a:solidFill>
                <a:latin typeface="Calibri"/>
              </a:rPr>
              <a:t>Sut bezlari shishgan, ajralma  ·  Jinsiy oraliq keng</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Qizlik pardasi</a:t>
            </a:r>
          </a:p>
          <a:p>
            <a:pPr algn="l">
              <a:spcAft>
                <a:spcPts val="0"/>
              </a:spcAft>
            </a:pPr>
            <a:r>
              <a:rPr sz="1200" b="0">
                <a:solidFill>
                  <a:srgbClr val="1F2937"/>
                </a:solidFill>
                <a:latin typeface="Calibri"/>
              </a:rPr>
              <a:t>Mirtasimon so‘rg‘ichlar</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Bachadon bo‘yinchasi</a:t>
            </a:r>
          </a:p>
          <a:p>
            <a:pPr algn="l">
              <a:spcAft>
                <a:spcPts val="0"/>
              </a:spcAft>
            </a:pPr>
            <a:r>
              <a:rPr sz="1200" b="0">
                <a:solidFill>
                  <a:srgbClr val="1F2937"/>
                </a:solidFill>
                <a:latin typeface="Calibri"/>
              </a:rPr>
              <a:t>Tug‘gan: tashqi teshik yoriqsimon  ·  Tug‘magan: odatda dumaloq</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Bo‘lib o‘tgan tug‘ruq belgilari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293–294, 294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Abort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Abort — homiladorlikning 22 haftasigacha uzilishi. U o‘z-o‘zidan yoki sun’iy bo‘lishi mumkin.</a:t>
            </a:r>
          </a:p>
          <a:p>
            <a:pPr>
              <a:spcAft>
                <a:spcPts val="800"/>
              </a:spcAft>
            </a:pPr>
            <a:r>
              <a:rPr sz="1800">
                <a:solidFill>
                  <a:srgbClr val="1F2937"/>
                </a:solidFill>
                <a:latin typeface="Calibri"/>
              </a:rPr>
              <a:t>▸  Sun’iy abort tibbiy (artifitsial) va jinoiy turlarga bo‘linadi. Farq bajaruvchi va sharoitda.</a:t>
            </a:r>
          </a:p>
          <a:p>
            <a:pPr>
              <a:spcAft>
                <a:spcPts val="800"/>
              </a:spcAft>
            </a:pPr>
            <a:r>
              <a:rPr sz="1800">
                <a:solidFill>
                  <a:srgbClr val="1F2937"/>
                </a:solidFill>
                <a:latin typeface="Calibri"/>
              </a:rPr>
              <a:t>▸  Jinoyat kodeksi (JK) 114-moddasi jinoiy abort uchun javobgarlikni belgilaydi.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Tibbiy abort</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Akusher-ginekolog bajaradi</a:t>
            </a:r>
          </a:p>
          <a:p>
            <a:pPr algn="l">
              <a:spcAft>
                <a:spcPts val="700"/>
              </a:spcAft>
            </a:pPr>
            <a:r>
              <a:rPr sz="1500" b="1">
                <a:solidFill>
                  <a:srgbClr val="C9A227"/>
                </a:solidFill>
                <a:latin typeface="Calibri"/>
              </a:rPr>
              <a:t>●  </a:t>
            </a:r>
            <a:r>
              <a:rPr sz="1500" b="0">
                <a:solidFill>
                  <a:srgbClr val="1F2937"/>
                </a:solidFill>
                <a:latin typeface="Calibri"/>
              </a:rPr>
              <a:t>Tibbiyot muassasasi, qoidaga rioya</a:t>
            </a:r>
          </a:p>
          <a:p>
            <a:pPr algn="l">
              <a:spcAft>
                <a:spcPts val="700"/>
              </a:spcAft>
            </a:pPr>
            <a:r>
              <a:rPr sz="1500" b="1">
                <a:solidFill>
                  <a:srgbClr val="C9A227"/>
                </a:solidFill>
                <a:latin typeface="Calibri"/>
              </a:rPr>
              <a:t>●  </a:t>
            </a:r>
            <a:r>
              <a:rPr sz="1500" b="0">
                <a:solidFill>
                  <a:srgbClr val="1F2937"/>
                </a:solidFill>
                <a:latin typeface="Calibri"/>
              </a:rPr>
              <a:t>Oldindan tekshiruv, keyin kuzatuv</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Jinoiy abort</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Tayyorgarlik yo‘q xodim yoki bilimsiz shaxs</a:t>
            </a:r>
          </a:p>
          <a:p>
            <a:pPr algn="l">
              <a:spcAft>
                <a:spcPts val="700"/>
              </a:spcAft>
            </a:pPr>
            <a:r>
              <a:rPr sz="1500" b="1">
                <a:solidFill>
                  <a:srgbClr val="C9A227"/>
                </a:solidFill>
                <a:latin typeface="Calibri"/>
              </a:rPr>
              <a:t>●  </a:t>
            </a:r>
            <a:r>
              <a:rPr sz="1500" b="0">
                <a:solidFill>
                  <a:srgbClr val="1F2937"/>
                </a:solidFill>
                <a:latin typeface="Calibri"/>
              </a:rPr>
              <a:t>Muassasada yoki undan tashqarida</a:t>
            </a:r>
          </a:p>
          <a:p>
            <a:pPr algn="l">
              <a:spcAft>
                <a:spcPts val="700"/>
              </a:spcAft>
            </a:pPr>
            <a:r>
              <a:rPr sz="1500" b="1">
                <a:solidFill>
                  <a:srgbClr val="C9A227"/>
                </a:solidFill>
                <a:latin typeface="Calibri"/>
              </a:rPr>
              <a:t>●  </a:t>
            </a:r>
            <a:r>
              <a:rPr sz="1500" b="0">
                <a:solidFill>
                  <a:srgbClr val="1F2937"/>
                </a:solidFill>
                <a:latin typeface="Calibri"/>
              </a:rPr>
              <a:t>JK 114-modda bo‘yicha jinoyat</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Tibbiy va jinoiy abort</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Jinoiy abort usullari va oqibatlari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Jinoiy abortni tayyorgarligi yo‘q shaxslar o‘tkazadi. Jinoyat kodeksining 114-moddasi javobgarlikni belgilaydi.</a:t>
            </a:r>
          </a:p>
          <a:p>
            <a:pPr>
              <a:spcAft>
                <a:spcPts val="800"/>
              </a:spcAft>
            </a:pPr>
            <a:r>
              <a:rPr sz="1800">
                <a:solidFill>
                  <a:srgbClr val="1F2937"/>
                </a:solidFill>
                <a:latin typeface="Calibri"/>
              </a:rPr>
              <a:t>▸  Usul tanadagi izlarni belgilaydi: mexanik, kimyoviy, termik. Elektr toki juda kam ishlatiladi.</a:t>
            </a:r>
          </a:p>
          <a:p>
            <a:pPr>
              <a:spcAft>
                <a:spcPts val="800"/>
              </a:spcAft>
            </a:pPr>
            <a:r>
              <a:rPr sz="1800">
                <a:solidFill>
                  <a:srgbClr val="1F2937"/>
                </a:solidFill>
                <a:latin typeface="Calibri"/>
              </a:rPr>
              <a:t>▸  Xavfli asoratlar: havo emboliyasi, shok, qon ketish, perforatsiya, zaharlanish, infeksiya.</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Jinoiy abort usullari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Mexanik</a:t>
            </a:r>
          </a:p>
          <a:p>
            <a:pPr algn="l">
              <a:spcAft>
                <a:spcPts val="0"/>
              </a:spcAft>
            </a:pPr>
            <a:r>
              <a:rPr sz="1200" b="0">
                <a:solidFill>
                  <a:srgbClr val="1F2937"/>
                </a:solidFill>
                <a:latin typeface="Calibri"/>
              </a:rPr>
              <a:t>Anjom, jism, bosimli suyuqlik  ·  Shilinma, qontalash, yara</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Kimyoviy</a:t>
            </a:r>
          </a:p>
          <a:p>
            <a:pPr algn="l">
              <a:spcAft>
                <a:spcPts val="0"/>
              </a:spcAft>
            </a:pPr>
            <a:r>
              <a:rPr sz="1200" b="0">
                <a:solidFill>
                  <a:srgbClr val="1F2937"/>
                </a:solidFill>
                <a:latin typeface="Calibri"/>
              </a:rPr>
              <a:t>Dori, kislota, ishqor, spirt  ·  Zaharlanish, kimyoviy kuyish</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Termik</a:t>
            </a:r>
          </a:p>
          <a:p>
            <a:pPr algn="l">
              <a:spcAft>
                <a:spcPts val="0"/>
              </a:spcAft>
            </a:pPr>
            <a:r>
              <a:rPr sz="1200" b="0">
                <a:solidFill>
                  <a:srgbClr val="1F2937"/>
                </a:solidFill>
                <a:latin typeface="Calibri"/>
              </a:rPr>
              <a:t>Issiq suv, issiq vanna  ·  Termik kuyish</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Abort usuli va izi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294, 294-295, 295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homiladorlik va abort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O‘quv vaziyati: ayolda homiladorlik uzilgan, tibbiyot muassasasidan tashqarida abort qilinganiga shubha bor.</a:t>
            </a:r>
          </a:p>
          <a:p>
            <a:pPr>
              <a:spcAft>
                <a:spcPts val="1200"/>
              </a:spcAft>
            </a:pPr>
            <a:r>
              <a:rPr sz="2200">
                <a:solidFill>
                  <a:srgbClr val="1F2937"/>
                </a:solidFill>
                <a:latin typeface="Calibri"/>
              </a:rPr>
              <a:t>▸  Ko‘rikda qin va bachadonda shilinma, qontalash, yara va shilliq qavatga qon quyilishi aniqlangan, deylik.</a:t>
            </a:r>
          </a:p>
          <a:p>
            <a:pPr>
              <a:spcAft>
                <a:spcPts val="1200"/>
              </a:spcAft>
            </a:pPr>
            <a:r>
              <a:rPr sz="2200">
                <a:solidFill>
                  <a:srgbClr val="1F2937"/>
                </a:solidFill>
                <a:latin typeface="Calibri"/>
              </a:rPr>
              <a:t>▸  Savol 1: bu izlar qaysi usulga xos? Ekspertiza homiladorlik, uzilish va usulni qanday aniqlaydi?</a:t>
            </a:r>
          </a:p>
          <a:p>
            <a:pPr>
              <a:spcAft>
                <a:spcPts val="1200"/>
              </a:spcAft>
            </a:pPr>
            <a:r>
              <a:rPr sz="2200">
                <a:solidFill>
                  <a:srgbClr val="1F2937"/>
                </a:solidFill>
                <a:latin typeface="Calibri"/>
              </a:rPr>
              <a:t>▸  Savol 2: ayolda qanday hayot uchun xavfli asoratlar (emboliya, shok, perforatsiya) kutilishi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294, 295, 294-295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jinoyatlar va Jinoyat kodeksi moddalari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113-modda: tanosil kasalligi yoki OIV (odam immunitet tanqisligi virusi)ni bila turib yuqtirish.</a:t>
            </a:r>
          </a:p>
          <a:p>
            <a:pPr>
              <a:spcAft>
                <a:spcPts val="800"/>
              </a:spcAft>
            </a:pPr>
            <a:r>
              <a:rPr sz="1800">
                <a:solidFill>
                  <a:srgbClr val="1F2937"/>
                </a:solidFill>
                <a:latin typeface="Calibri"/>
              </a:rPr>
              <a:t>▸  Besoqolbozlikda ikkala qatnashchi javobgar. Zo‘rlik bo‘lsa, faqat aktiv qatnashchi 119-modda bo‘yicha javob beradi.</a:t>
            </a:r>
          </a:p>
          <a:p>
            <a:pPr>
              <a:spcAft>
                <a:spcPts val="800"/>
              </a:spcAft>
            </a:pPr>
            <a:r>
              <a:rPr sz="1800">
                <a:solidFill>
                  <a:srgbClr val="1F2937"/>
                </a:solidFill>
                <a:latin typeface="Calibri"/>
              </a:rPr>
              <a:t>▸  Diqqat: 118 ≠ 120. Nomusga tegishda zo‘rlik bor, besoqolbozlikda zo‘rliksiz.</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Jinsiy jinoyatlar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118-modda</a:t>
            </a:r>
          </a:p>
          <a:p>
            <a:pPr algn="l">
              <a:spcAft>
                <a:spcPts val="0"/>
              </a:spcAft>
            </a:pPr>
            <a:r>
              <a:rPr sz="1200" b="0">
                <a:solidFill>
                  <a:srgbClr val="1F2937"/>
                </a:solidFill>
                <a:latin typeface="Calibri"/>
              </a:rPr>
              <a:t>Nomusga tegish  ·  Jinsiy erkinlikka qarshi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119-modda</a:t>
            </a:r>
          </a:p>
          <a:p>
            <a:pPr algn="l">
              <a:spcAft>
                <a:spcPts val="0"/>
              </a:spcAft>
            </a:pPr>
            <a:r>
              <a:rPr sz="1200" b="0">
                <a:solidFill>
                  <a:srgbClr val="1F2937"/>
                </a:solidFill>
                <a:latin typeface="Calibri"/>
              </a:rPr>
              <a:t>G‘ayritabiiy usul  ·  Jinsiy erkinlikka qarshi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120-modda</a:t>
            </a:r>
          </a:p>
          <a:p>
            <a:pPr algn="l">
              <a:spcAft>
                <a:spcPts val="0"/>
              </a:spcAft>
            </a:pPr>
            <a:r>
              <a:rPr sz="1200" b="0">
                <a:solidFill>
                  <a:srgbClr val="1F2937"/>
                </a:solidFill>
                <a:latin typeface="Calibri"/>
              </a:rPr>
              <a:t>Besoqolbozlik (zo‘rliksiz)  ·  Jinsiy erkinlikka qarshi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129-modda</a:t>
            </a:r>
          </a:p>
          <a:p>
            <a:pPr algn="l">
              <a:spcAft>
                <a:spcPts val="0"/>
              </a:spcAft>
            </a:pPr>
            <a:r>
              <a:rPr sz="1200" b="0">
                <a:solidFill>
                  <a:srgbClr val="1F2937"/>
                </a:solidFill>
                <a:latin typeface="Calibri"/>
              </a:rPr>
              <a:t>Fahsh harakatlari (16 yoshgacha)  ·  Oila, yoshlar, axloqqa qarshi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Jinoyat kodeksi moddalari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299, 297-298, 295, 297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Nomusga tegish: ekspertiza tartibi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118-modda: jabrlanuvchining xohishiga qarshi zo‘rlik, qo‘rqitish yoki ojizligidan foydalanib jinsiy aloqa qilish.</a:t>
            </a:r>
          </a:p>
          <a:p>
            <a:pPr>
              <a:spcAft>
                <a:spcPts val="1200"/>
              </a:spcAft>
            </a:pPr>
            <a:r>
              <a:rPr sz="2000">
                <a:solidFill>
                  <a:srgbClr val="1F2937"/>
                </a:solidFill>
                <a:latin typeface="Calibri"/>
              </a:rPr>
              <a:t>▸  Ko‘rikdan oldin ekspertiza tayinlash qarori, hodisa joyini ko‘zdan kechirish bayonnomasi va tibbiy hujjatlar o‘rganiladi. So‘ngra jabrlanuvchi so‘roq qilinadi.</a:t>
            </a:r>
          </a:p>
          <a:p>
            <a:pPr>
              <a:spcAft>
                <a:spcPts val="1200"/>
              </a:spcAft>
            </a:pPr>
            <a:r>
              <a:rPr sz="2000">
                <a:solidFill>
                  <a:srgbClr val="1F2937"/>
                </a:solidFill>
                <a:latin typeface="Calibri"/>
              </a:rPr>
              <a:t>▸  Ginekologik anamnez yig‘iladi: hayz ko‘rgan yosh, so‘nggi menstruatsiya, jinsiy hayot boshlanishi, oxirgi jinsiy aloqa, homiladorlik, tug‘ruq va abortlar.</a:t>
            </a:r>
          </a:p>
          <a:p>
            <a:pPr>
              <a:spcAft>
                <a:spcPts val="1200"/>
              </a:spcAft>
            </a:pPr>
            <a:r>
              <a:rPr sz="2000">
                <a:solidFill>
                  <a:srgbClr val="1F2937"/>
                </a:solidFill>
                <a:latin typeface="Calibri"/>
              </a:rPr>
              <a:t>▸  Diqqat: “nomusga tegish” huquqiy tushuncha. Ekspert aloqa yoki urinish, zo‘rlik va ojizlikni tasdiqlovchi ob’ektiv belgilarni izlaydi.</a:t>
            </a:r>
          </a:p>
          <a:p>
            <a:pPr>
              <a:spcAft>
                <a:spcPts val="1200"/>
              </a:spcAft>
            </a:pPr>
            <a:r>
              <a:rPr sz="2000">
                <a:solidFill>
                  <a:srgbClr val="1F2937"/>
                </a:solidFill>
                <a:latin typeface="Calibri"/>
              </a:rPr>
              <a:t>▸  Nazariy jihatdan erkaklar ham jabrlanadi, amalda asosan ayollar.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295, 295-296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Nomusga tegishda jarohatlar va izlar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Zo‘rlikda qontalash va shilinma jinoyatchining qo‘l-oyoqlari bilan yetkaziladi: sonning ichki yuzasi, jinsiy a’zolar, ba’zan ko‘krak va bo‘yin (tishlanma).</a:t>
            </a:r>
          </a:p>
          <a:p>
            <a:pPr>
              <a:spcAft>
                <a:spcPts val="800"/>
              </a:spcAft>
            </a:pPr>
            <a:r>
              <a:rPr sz="1600">
                <a:solidFill>
                  <a:srgbClr val="1F2937"/>
                </a:solidFill>
                <a:latin typeface="Calibri"/>
              </a:rPr>
              <a:t>▸  Qizlik pardasi yorig‘i, ba’zan qin devori va oraliqda qon quyilish, yorilish topiladi.</a:t>
            </a:r>
          </a:p>
          <a:p>
            <a:pPr>
              <a:spcAft>
                <a:spcPts val="800"/>
              </a:spcAft>
            </a:pPr>
            <a:r>
              <a:rPr sz="1600">
                <a:solidFill>
                  <a:srgbClr val="1F2937"/>
                </a:solidFill>
                <a:latin typeface="Calibri"/>
              </a:rPr>
              <a:t>▸  Qin ichida, qov, oraliq va son sohasida maniy topilishi muhim dalil. Maniydan tashqari soch va qon izlari ham bo‘lishi mumkin.</a:t>
            </a:r>
          </a:p>
          <a:p>
            <a:pPr>
              <a:spcAft>
                <a:spcPts val="800"/>
              </a:spcAft>
            </a:pPr>
            <a:r>
              <a:rPr sz="1600">
                <a:solidFill>
                  <a:srgbClr val="1F2937"/>
                </a:solidFill>
                <a:latin typeface="Calibri"/>
              </a:rPr>
              <a:t>▸  Surtma va bosmalar voqeadan so‘ng imkon qadar tez olinadi: vaqt o‘tgan sari spermatozoid topilish ehtimoli kamayadi.</a:t>
            </a:r>
          </a:p>
          <a:p>
            <a:pPr>
              <a:spcAft>
                <a:spcPts val="800"/>
              </a:spcAft>
            </a:pPr>
            <a:r>
              <a:rPr sz="1600">
                <a:solidFill>
                  <a:srgbClr val="1F2937"/>
                </a:solidFill>
                <a:latin typeface="Calibri"/>
              </a:rPr>
              <a:t>▸  Diqqat: qin va oraliq shikasti jinsiy hayot olib borgan ayolda ham bo‘lishi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Izlar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Zo‘rlik</a:t>
            </a:r>
          </a:p>
          <a:p>
            <a:pPr algn="l">
              <a:spcAft>
                <a:spcPts val="0"/>
              </a:spcAft>
            </a:pPr>
            <a:r>
              <a:rPr sz="1200" b="0">
                <a:solidFill>
                  <a:srgbClr val="1F2937"/>
                </a:solidFill>
                <a:latin typeface="Calibri"/>
              </a:rPr>
              <a:t>Qontalash, shilinma  ·  Son ichki yuzasi, jinsiy a’zolar</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Jinsiy a’zolar</a:t>
            </a:r>
          </a:p>
          <a:p>
            <a:pPr algn="l">
              <a:spcAft>
                <a:spcPts val="0"/>
              </a:spcAft>
            </a:pPr>
            <a:r>
              <a:rPr sz="1200" b="0">
                <a:solidFill>
                  <a:srgbClr val="1F2937"/>
                </a:solidFill>
                <a:latin typeface="Calibri"/>
              </a:rPr>
              <a:t>Qizlik pardasi yorig‘i  ·  Qin devori, oraliq: qon quyilish</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Maniy</a:t>
            </a:r>
          </a:p>
          <a:p>
            <a:pPr algn="l">
              <a:spcAft>
                <a:spcPts val="0"/>
              </a:spcAft>
            </a:pPr>
            <a:r>
              <a:rPr sz="1200" b="0">
                <a:solidFill>
                  <a:srgbClr val="1F2937"/>
                </a:solidFill>
                <a:latin typeface="Calibri"/>
              </a:rPr>
              <a:t>Qin ichi, qov, oraliq, son  ·  Soch, qon izlari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Namuna</a:t>
            </a:r>
          </a:p>
          <a:p>
            <a:pPr algn="l">
              <a:spcAft>
                <a:spcPts val="0"/>
              </a:spcAft>
            </a:pPr>
            <a:r>
              <a:rPr sz="1200" b="0">
                <a:solidFill>
                  <a:srgbClr val="1F2937"/>
                </a:solidFill>
                <a:latin typeface="Calibri"/>
              </a:rPr>
              <a:t>Surtma va bosmalar tez olinadi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Nomusga tegishda izlar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Gumondor ko‘rigi va g‘ayritabiiy usul (119-modda)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119-modda: zo‘rlik, qo‘rqitish yoki ojizlikdan foydalanib og‘iz yoki orqa chiqaruv teshigiga jinsiy aloqa qilish (g‘ayritabiiy usulda ehtiyojni qondirish).</a:t>
            </a:r>
          </a:p>
          <a:p>
            <a:pPr>
              <a:spcAft>
                <a:spcPts val="800"/>
              </a:spcAft>
            </a:pPr>
            <a:r>
              <a:rPr sz="1600">
                <a:solidFill>
                  <a:srgbClr val="1F2937"/>
                </a:solidFill>
                <a:latin typeface="Calibri"/>
              </a:rPr>
              <a:t>▸  Jabrlanuvchida og‘iz bo‘shlig‘i va atrofi, orqa chiqaruv teshigi va atrofi, to‘g‘ri ichakning pastki qismi shikast yoki o‘zgarish borligiga tekshiriladi.</a:t>
            </a:r>
          </a:p>
          <a:p>
            <a:pPr>
              <a:spcAft>
                <a:spcPts val="800"/>
              </a:spcAft>
            </a:pPr>
            <a:r>
              <a:rPr sz="1600">
                <a:solidFill>
                  <a:srgbClr val="1F2937"/>
                </a:solidFill>
                <a:latin typeface="Calibri"/>
              </a:rPr>
              <a:t>▸  Gumondor ham ko‘rikdan o‘tkaziladi.</a:t>
            </a:r>
          </a:p>
          <a:p>
            <a:pPr>
              <a:spcAft>
                <a:spcPts val="800"/>
              </a:spcAft>
            </a:pPr>
            <a:r>
              <a:rPr sz="1600">
                <a:solidFill>
                  <a:srgbClr val="1F2937"/>
                </a:solidFill>
                <a:latin typeface="Calibri"/>
              </a:rPr>
              <a:t>▸  Jinsiy a’zo va qovda ayolga tegishli qon izlari yoki sochlar topilsa, ular laboratoriya tekshiruvi uchun olinadi.</a:t>
            </a:r>
          </a:p>
          <a:p>
            <a:pPr>
              <a:spcAft>
                <a:spcPts val="800"/>
              </a:spcAft>
            </a:pPr>
            <a:r>
              <a:rPr sz="1600">
                <a:solidFill>
                  <a:srgbClr val="1F2937"/>
                </a:solidFill>
                <a:latin typeface="Calibri"/>
              </a:rPr>
              <a:t>▸  Tananing turli sohalarida, jumladan tashqi jinsiy a’zolarda, jabrlanuvchi kurashi natijasida qontalash, shilinma va tishlanma izlar bo‘lishi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G‘ayritabiiy usul</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119-modda</a:t>
            </a:r>
          </a:p>
          <a:p>
            <a:pPr algn="l">
              <a:spcAft>
                <a:spcPts val="0"/>
              </a:spcAft>
            </a:pPr>
            <a:r>
              <a:rPr sz="1200" b="0">
                <a:solidFill>
                  <a:srgbClr val="1F2937"/>
                </a:solidFill>
                <a:latin typeface="Calibri"/>
              </a:rPr>
              <a:t>Zo‘rlik, qo‘rqitish, ojizlik  ·  Og‘iz yoki orqa teshikka aloqa</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Jabrlanuvchi</a:t>
            </a:r>
          </a:p>
          <a:p>
            <a:pPr algn="l">
              <a:spcAft>
                <a:spcPts val="0"/>
              </a:spcAft>
            </a:pPr>
            <a:r>
              <a:rPr sz="1200" b="0">
                <a:solidFill>
                  <a:srgbClr val="1F2937"/>
                </a:solidFill>
                <a:latin typeface="Calibri"/>
              </a:rPr>
              <a:t>Og‘iz va atrofi  ·  Orqa teshik va atrofi  ·  To‘g‘ri ichak pastki qismi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Gumondor</a:t>
            </a:r>
          </a:p>
          <a:p>
            <a:pPr algn="l">
              <a:spcAft>
                <a:spcPts val="0"/>
              </a:spcAft>
            </a:pPr>
            <a:r>
              <a:rPr sz="1200" b="0">
                <a:solidFill>
                  <a:srgbClr val="1F2937"/>
                </a:solidFill>
                <a:latin typeface="Calibri"/>
              </a:rPr>
              <a:t>Qontalash, shilinma, tishlanma  ·  Ayolga tegishli qon va soch</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Gumondor va 119-modda</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nomusga tegish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1-savol: zo‘rlik ishlatilganini qaysi izlar ko‘rsatadi? Javob: asosan qontalash va shilinmalar, ko‘pincha sonning ichki yuzasida va jinsiy a’zolar sohasida.</a:t>
            </a:r>
          </a:p>
          <a:p>
            <a:pPr>
              <a:spcAft>
                <a:spcPts val="1200"/>
              </a:spcAft>
            </a:pPr>
            <a:r>
              <a:rPr sz="2000">
                <a:solidFill>
                  <a:srgbClr val="1F2937"/>
                </a:solidFill>
                <a:latin typeface="Calibri"/>
              </a:rPr>
              <a:t>▸  2-savol: qo‘rqitish nega iz qoldirmaydi? Javob: qo‘rqitish jabrlanganda ob’ektiv belgilar qoldirmaydi. Shu sabab boshqa tibbiy-biologik belgilar o‘rganiladi.</a:t>
            </a:r>
          </a:p>
          <a:p>
            <a:pPr>
              <a:spcAft>
                <a:spcPts val="1200"/>
              </a:spcAft>
            </a:pPr>
            <a:r>
              <a:rPr sz="2000">
                <a:solidFill>
                  <a:srgbClr val="1F2937"/>
                </a:solidFill>
                <a:latin typeface="Calibri"/>
              </a:rPr>
              <a:t>▸  3-savol: namunani nega tez olish kerak? Vaqt o‘tgan sari spermatozoidlar topilish ehtimoli kamayadi. Qin ichidan surtma, tashqi sohalardan bosma olinadi.</a:t>
            </a:r>
          </a:p>
          <a:p>
            <a:pPr>
              <a:spcAft>
                <a:spcPts val="1200"/>
              </a:spcAft>
            </a:pPr>
            <a:r>
              <a:rPr sz="2000">
                <a:solidFill>
                  <a:srgbClr val="1F2937"/>
                </a:solidFill>
                <a:latin typeface="Calibri"/>
              </a:rPr>
              <a:t>▸  Diqqat: qin va oraliq shikastlanishi jinsiy hayot olib borgan ayollarda ham bo‘lishi mumkin. Bu belgi yolg‘iz o‘zi zo‘rlikni isbotlamaydi.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Besoqolbozlik: aktiv va passiv qatnashchilar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120-modda: erkakning erkak bilan zo‘rliksiz jinsiy ehtiyojini qondirishi (erkak gomoseksualizmi).</a:t>
            </a:r>
          </a:p>
          <a:p>
            <a:pPr>
              <a:spcAft>
                <a:spcPts val="800"/>
              </a:spcAft>
            </a:pPr>
            <a:r>
              <a:rPr sz="1800">
                <a:solidFill>
                  <a:srgbClr val="1F2937"/>
                </a:solidFill>
                <a:latin typeface="Calibri"/>
              </a:rPr>
              <a:t>▸  Aktiv ham, passiv ham qatnashchi jinoyat sub’ekti bo‘lib, ikkovi ham javobgarlikka tortiladi.</a:t>
            </a:r>
          </a:p>
          <a:p>
            <a:pPr>
              <a:spcAft>
                <a:spcPts val="800"/>
              </a:spcAft>
            </a:pPr>
            <a:r>
              <a:rPr sz="1800">
                <a:solidFill>
                  <a:srgbClr val="1F2937"/>
                </a:solidFill>
                <a:latin typeface="Calibri"/>
              </a:rPr>
              <a:t>▸  Zo‘rlik, qo‘rqitish yoki ojizlikdan foydalanilsa, faqat aktiv shaxs 119-modda bilan javob beradi; passiv — jabrlanuvchi.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Aktiv qatnashchi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Olat, qov sohasi ko‘riladi</a:t>
            </a:r>
          </a:p>
          <a:p>
            <a:pPr algn="l">
              <a:spcAft>
                <a:spcPts val="700"/>
              </a:spcAft>
            </a:pPr>
            <a:r>
              <a:rPr sz="1500" b="1">
                <a:solidFill>
                  <a:srgbClr val="C9A227"/>
                </a:solidFill>
                <a:latin typeface="Calibri"/>
              </a:rPr>
              <a:t>●  </a:t>
            </a:r>
            <a:r>
              <a:rPr sz="1500" b="0">
                <a:solidFill>
                  <a:srgbClr val="1F2937"/>
                </a:solidFill>
                <a:latin typeface="Calibri"/>
              </a:rPr>
              <a:t>Qon, soch, axlat, moysimon modda</a:t>
            </a:r>
          </a:p>
          <a:p>
            <a:pPr algn="l">
              <a:spcAft>
                <a:spcPts val="700"/>
              </a:spcAft>
            </a:pPr>
            <a:r>
              <a:rPr sz="1500" b="1">
                <a:solidFill>
                  <a:srgbClr val="C9A227"/>
                </a:solidFill>
                <a:latin typeface="Calibri"/>
              </a:rPr>
              <a:t>●  </a:t>
            </a:r>
            <a:r>
              <a:rPr sz="1500" b="0">
                <a:solidFill>
                  <a:srgbClr val="1F2937"/>
                </a:solidFill>
                <a:latin typeface="Calibri"/>
              </a:rPr>
              <a:t>Izlar toj egatchasida saqlanadi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Passiv qatnashchi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Orqa teshik, to‘g‘ri ichak, oraliq</a:t>
            </a:r>
          </a:p>
          <a:p>
            <a:pPr algn="l">
              <a:spcAft>
                <a:spcPts val="700"/>
              </a:spcAft>
            </a:pPr>
            <a:r>
              <a:rPr sz="1500" b="1">
                <a:solidFill>
                  <a:srgbClr val="C9A227"/>
                </a:solidFill>
                <a:latin typeface="Calibri"/>
              </a:rPr>
              <a:t>●  </a:t>
            </a:r>
            <a:r>
              <a:rPr sz="1500" b="0">
                <a:solidFill>
                  <a:srgbClr val="1F2937"/>
                </a:solidFill>
                <a:latin typeface="Calibri"/>
              </a:rPr>
              <a:t>Maniy, soch, moysimon modda</a:t>
            </a:r>
          </a:p>
          <a:p>
            <a:pPr algn="l">
              <a:spcAft>
                <a:spcPts val="700"/>
              </a:spcAft>
            </a:pPr>
            <a:r>
              <a:rPr sz="1500" b="1">
                <a:solidFill>
                  <a:srgbClr val="C9A227"/>
                </a:solidFill>
                <a:latin typeface="Calibri"/>
              </a:rPr>
              <a:t>●  </a:t>
            </a:r>
            <a:r>
              <a:rPr sz="1500" b="0">
                <a:solidFill>
                  <a:srgbClr val="1F2937"/>
                </a:solidFill>
                <a:latin typeface="Calibri"/>
              </a:rPr>
              <a:t>Shilinma, qon quyilishi, yoriqlar; burmalar silliqlashadi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Besoqolbozlik: aktiv va passiv</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297, 298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Besoqolbozlikda xatolarni oldini olish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Qabziyat yoki ich ketishi bilan kechadigan kasalliklar, proktit, paraproktit, bavosil va to‘g‘ri ichak tushishi xato talqin etilishi mumkin.</a:t>
            </a:r>
          </a:p>
          <a:p>
            <a:pPr>
              <a:spcAft>
                <a:spcPts val="800"/>
              </a:spcAft>
            </a:pPr>
            <a:r>
              <a:rPr sz="1600">
                <a:solidFill>
                  <a:srgbClr val="1F2937"/>
                </a:solidFill>
                <a:latin typeface="Calibri"/>
              </a:rPr>
              <a:t>▸  Shu sohadagi jarrohlik aralashuvlarning qoldiq izlari ham passiv besoqolbozlikka xos belgi deb noto‘g‘ri baholanishi mumkin.</a:t>
            </a:r>
          </a:p>
          <a:p>
            <a:pPr>
              <a:spcAft>
                <a:spcPts val="800"/>
              </a:spcAft>
            </a:pPr>
            <a:r>
              <a:rPr sz="1600">
                <a:solidFill>
                  <a:srgbClr val="1F2937"/>
                </a:solidFill>
                <a:latin typeface="Calibri"/>
              </a:rPr>
              <a:t>▸  Passiv qatnashchining so‘rovida bu masalalarga e’tibor beriladi. Kerak bo‘lsa, ekspertiza doirasida proktolog maslahati olinadi.</a:t>
            </a:r>
          </a:p>
          <a:p>
            <a:pPr>
              <a:spcAft>
                <a:spcPts val="800"/>
              </a:spcAft>
            </a:pPr>
            <a:r>
              <a:rPr sz="1600">
                <a:solidFill>
                  <a:srgbClr val="1F2937"/>
                </a:solidFill>
                <a:latin typeface="Calibri"/>
              </a:rPr>
              <a:t>▸  Diqqat: kasallik belgisi ≠ passiv besoqolbozlik belgisi. Kam sonli aloqada katta yoshli passivda jarohat umuman topilmasligi ham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Soxta talqin</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Kasalliklar</a:t>
            </a:r>
          </a:p>
          <a:p>
            <a:pPr algn="l">
              <a:spcAft>
                <a:spcPts val="0"/>
              </a:spcAft>
            </a:pPr>
            <a:r>
              <a:rPr sz="1200" b="0">
                <a:solidFill>
                  <a:srgbClr val="1F2937"/>
                </a:solidFill>
                <a:latin typeface="Calibri"/>
              </a:rPr>
              <a:t>Qabziyat, ich ketishi  ·  Proktit, paraproktit, bavosil  ·  To‘g‘ri ichak tushishi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Jarrohlik</a:t>
            </a:r>
          </a:p>
          <a:p>
            <a:pPr algn="l">
              <a:spcAft>
                <a:spcPts val="0"/>
              </a:spcAft>
            </a:pPr>
            <a:r>
              <a:rPr sz="1200" b="0">
                <a:solidFill>
                  <a:srgbClr val="1F2937"/>
                </a:solidFill>
                <a:latin typeface="Calibri"/>
              </a:rPr>
              <a:t>Qoldiq izlar</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Choralar</a:t>
            </a:r>
          </a:p>
          <a:p>
            <a:pPr algn="l">
              <a:spcAft>
                <a:spcPts val="0"/>
              </a:spcAft>
            </a:pPr>
            <a:r>
              <a:rPr sz="1200" b="0">
                <a:solidFill>
                  <a:srgbClr val="1F2937"/>
                </a:solidFill>
                <a:latin typeface="Calibri"/>
              </a:rPr>
              <a:t>So‘rovda e’tibor  ·  Proktolog maslahati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Xatolarning oldini olish</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298, 297–298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Fahsh harakatlari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Fahsh harakatlari – o‘n olti yoshga to‘lmagan shaxsga nisbatan sodir etilgan, shahvoniy xarakterdagi uyatsiz-buzuq harakatlardir.</a:t>
            </a:r>
          </a:p>
          <a:p>
            <a:pPr>
              <a:spcAft>
                <a:spcPts val="800"/>
              </a:spcAft>
            </a:pPr>
            <a:r>
              <a:rPr sz="1600">
                <a:solidFill>
                  <a:srgbClr val="1F2937"/>
                </a:solidFill>
                <a:latin typeface="Calibri"/>
              </a:rPr>
              <a:t>▸  Misollar: jinsiy a’zoga qo‘l yoki olatni tegizish va ishqalash, oldida yalang‘ochlanish, onanizm, pornografik tasvir va filmlarni ko‘rsatish.</a:t>
            </a:r>
          </a:p>
          <a:p>
            <a:pPr>
              <a:spcAft>
                <a:spcPts val="800"/>
              </a:spcAft>
            </a:pPr>
            <a:r>
              <a:rPr sz="1600">
                <a:solidFill>
                  <a:srgbClr val="1F2937"/>
                </a:solidFill>
                <a:latin typeface="Calibri"/>
              </a:rPr>
              <a:t>▸  Bu jinoyat oilaga, yoshlarga va axloqqa qarshi jinoyatlar guruhiga kiradi. Javobgarlik Jinoyat kodeksining 129-moddasida belgilangan.</a:t>
            </a:r>
          </a:p>
          <a:p>
            <a:pPr>
              <a:spcAft>
                <a:spcPts val="800"/>
              </a:spcAft>
            </a:pPr>
            <a:r>
              <a:rPr sz="1600">
                <a:solidFill>
                  <a:srgbClr val="1F2937"/>
                </a:solidFill>
                <a:latin typeface="Calibri"/>
              </a:rPr>
              <a:t>▸  Mumkin bo‘lgan izlar: qizarish, shilinma, qontalash, qinda qon quyilishi, qizlik pardasining noto‘liq yorilishi, maniy izlari.</a:t>
            </a:r>
          </a:p>
          <a:p>
            <a:pPr>
              <a:spcAft>
                <a:spcPts val="800"/>
              </a:spcAft>
            </a:pPr>
            <a:r>
              <a:rPr sz="1600">
                <a:solidFill>
                  <a:srgbClr val="1F2937"/>
                </a:solidFill>
                <a:latin typeface="Calibri"/>
              </a:rPr>
              <a:t>▸  Diqqat: ba’zan hech qanday iz qolmaydi.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Fahsh harakatlari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Ta’rif</a:t>
            </a:r>
          </a:p>
          <a:p>
            <a:pPr algn="l">
              <a:spcAft>
                <a:spcPts val="0"/>
              </a:spcAft>
            </a:pPr>
            <a:r>
              <a:rPr sz="1200" b="0">
                <a:solidFill>
                  <a:srgbClr val="1F2937"/>
                </a:solidFill>
                <a:latin typeface="Calibri"/>
              </a:rPr>
              <a:t>16 yoshga to‘lmaganga nisbatan  ·  Shahvoniy uyatsiz-buzuq harakatlar</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Misollar</a:t>
            </a:r>
          </a:p>
          <a:p>
            <a:pPr algn="l">
              <a:spcAft>
                <a:spcPts val="0"/>
              </a:spcAft>
            </a:pPr>
            <a:r>
              <a:rPr sz="1200" b="0">
                <a:solidFill>
                  <a:srgbClr val="1F2937"/>
                </a:solidFill>
                <a:latin typeface="Calibri"/>
              </a:rPr>
              <a:t>Jinsiy a’zoga tegizish, ishqalash  ·  Yalang‘ochlanish, onanizm  ·  Pornografik materiallar</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Huquqiy guruh</a:t>
            </a:r>
          </a:p>
          <a:p>
            <a:pPr algn="l">
              <a:spcAft>
                <a:spcPts val="0"/>
              </a:spcAft>
            </a:pPr>
            <a:r>
              <a:rPr sz="1200" b="0">
                <a:solidFill>
                  <a:srgbClr val="1F2937"/>
                </a:solidFill>
                <a:latin typeface="Calibri"/>
              </a:rPr>
              <a:t>Oila, yoshlar, axloqqa qarshi  ·  JK 129-modda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Fahsh harakatlari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Fahsh harakatlari: izlar va namunalar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Fahsh harakatlarida jinsiy a’zolar sohasida qizarish, shilinma, qontalash paydo bo‘lishi mumkin.</a:t>
            </a:r>
          </a:p>
          <a:p>
            <a:pPr>
              <a:spcAft>
                <a:spcPts val="800"/>
              </a:spcAft>
            </a:pPr>
            <a:r>
              <a:rPr sz="1800">
                <a:solidFill>
                  <a:srgbClr val="1F2937"/>
                </a:solidFill>
                <a:latin typeface="Calibri"/>
              </a:rPr>
              <a:t>▸  Qizlarda qin shilliq qavatida qon quyilishi, yuzaki yoriq, qizlik pardasida qon quyilishi va noto‘liq yorilish bo‘lishi mumkin.</a:t>
            </a:r>
          </a:p>
          <a:p>
            <a:pPr>
              <a:spcAft>
                <a:spcPts val="800"/>
              </a:spcAft>
            </a:pPr>
            <a:r>
              <a:rPr sz="1800">
                <a:solidFill>
                  <a:srgbClr val="1F2937"/>
                </a:solidFill>
                <a:latin typeface="Calibri"/>
              </a:rPr>
              <a:t>▸  Qizlarda tashqi jinsiy a’zolar va son sohasida, ba’zan kiyimda maniy izlari topiladi; surtma va bosmalar laboratoriyaga olinadi.</a:t>
            </a:r>
          </a:p>
          <a:p>
            <a:pPr>
              <a:spcAft>
                <a:spcPts val="800"/>
              </a:spcAft>
            </a:pPr>
            <a:r>
              <a:rPr sz="1800">
                <a:solidFill>
                  <a:srgbClr val="1F2937"/>
                </a:solidFill>
                <a:latin typeface="Calibri"/>
              </a:rPr>
              <a:t>▸  Ba’zan fahsh harakatlari jabrlanuvchida hech qanday iz qoldirmaydi.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Jarohatlar</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Qizarish, shilinma, qontalash</a:t>
            </a:r>
          </a:p>
          <a:p>
            <a:pPr algn="l">
              <a:spcAft>
                <a:spcPts val="700"/>
              </a:spcAft>
            </a:pPr>
            <a:r>
              <a:rPr sz="1500" b="1">
                <a:solidFill>
                  <a:srgbClr val="C9A227"/>
                </a:solidFill>
                <a:latin typeface="Calibri"/>
              </a:rPr>
              <a:t>●  </a:t>
            </a:r>
            <a:r>
              <a:rPr sz="1500" b="0">
                <a:solidFill>
                  <a:srgbClr val="1F2937"/>
                </a:solidFill>
                <a:latin typeface="Calibri"/>
              </a:rPr>
              <a:t>Qinda qon quyilishi, yuzaki yoriq</a:t>
            </a:r>
          </a:p>
          <a:p>
            <a:pPr algn="l">
              <a:spcAft>
                <a:spcPts val="700"/>
              </a:spcAft>
            </a:pPr>
            <a:r>
              <a:rPr sz="1500" b="1">
                <a:solidFill>
                  <a:srgbClr val="C9A227"/>
                </a:solidFill>
                <a:latin typeface="Calibri"/>
              </a:rPr>
              <a:t>●  </a:t>
            </a:r>
            <a:r>
              <a:rPr sz="1500" b="0">
                <a:solidFill>
                  <a:srgbClr val="1F2937"/>
                </a:solidFill>
                <a:latin typeface="Calibri"/>
              </a:rPr>
              <a:t>Pardada qon quyilishi, noto‘liq yorilish</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Izlar va namuna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Maniy: tashqi a’zolar, son, kiyim</a:t>
            </a:r>
          </a:p>
          <a:p>
            <a:pPr algn="l">
              <a:spcAft>
                <a:spcPts val="700"/>
              </a:spcAft>
            </a:pPr>
            <a:r>
              <a:rPr sz="1500" b="1">
                <a:solidFill>
                  <a:srgbClr val="C9A227"/>
                </a:solidFill>
                <a:latin typeface="Calibri"/>
              </a:rPr>
              <a:t>●  </a:t>
            </a:r>
            <a:r>
              <a:rPr sz="1500" b="0">
                <a:solidFill>
                  <a:srgbClr val="1F2937"/>
                </a:solidFill>
                <a:latin typeface="Calibri"/>
              </a:rPr>
              <a:t>Surtma va bosmalar olinadi</a:t>
            </a:r>
          </a:p>
          <a:p>
            <a:pPr algn="l">
              <a:spcAft>
                <a:spcPts val="700"/>
              </a:spcAft>
            </a:pPr>
            <a:r>
              <a:rPr sz="1500" b="1">
                <a:solidFill>
                  <a:srgbClr val="C9A227"/>
                </a:solidFill>
                <a:latin typeface="Calibri"/>
              </a:rPr>
              <a:t>●  </a:t>
            </a:r>
            <a:r>
              <a:rPr sz="1500" b="0">
                <a:solidFill>
                  <a:srgbClr val="1F2937"/>
                </a:solidFill>
                <a:latin typeface="Calibri"/>
              </a:rPr>
              <a:t>Ba’zan iz bo‘lmaydi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Fahsh harakatlarida topilmalar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Tanosil kasalliklari, OIV/OITS tarqatish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113-modda: o‘zida tanosil kasalligi yoki OIV (odam immunitet tanqisligi virusi)/OITS borligini bila turib yuqtirish yoki xavf ostida qoldirish jinoyatdir.</a:t>
            </a:r>
          </a:p>
          <a:p>
            <a:pPr>
              <a:spcAft>
                <a:spcPts val="1200"/>
              </a:spcAft>
            </a:pPr>
            <a:r>
              <a:rPr sz="2000">
                <a:solidFill>
                  <a:srgbClr val="1F2937"/>
                </a:solidFill>
                <a:latin typeface="Calibri"/>
              </a:rPr>
              <a:t>▸  Bu jinoyatlar hayot yoki sog‘liq uchun xavfli jinoyatlar guruhiga kiradi. Diqqat: nomusga tegish va besoqolbozlik esa jinsiy erkinlikka qarshi jinoyatlardir.</a:t>
            </a:r>
          </a:p>
          <a:p>
            <a:pPr>
              <a:spcAft>
                <a:spcPts val="1200"/>
              </a:spcAft>
            </a:pPr>
            <a:r>
              <a:rPr sz="2000">
                <a:solidFill>
                  <a:srgbClr val="1F2937"/>
                </a:solidFill>
                <a:latin typeface="Calibri"/>
              </a:rPr>
              <a:t>▸  Ekspertiza dermatovenerolog va OITS mutaxassislari ishtirokida: gumondor va jabrlanuvchi ko‘rikdan, laboratoriyadan o‘tadi, hujjatlar tahlil qilinadi.</a:t>
            </a:r>
          </a:p>
          <a:p>
            <a:pPr>
              <a:spcAft>
                <a:spcPts val="1200"/>
              </a:spcAft>
            </a:pPr>
            <a:r>
              <a:rPr sz="2000">
                <a:solidFill>
                  <a:srgbClr val="1F2937"/>
                </a:solidFill>
                <a:latin typeface="Calibri"/>
              </a:rPr>
              <a:t>▸  Kasallik kechish bosqichi hisobga olinadi: kech bosqich aniqlangan shaxs jinoyat sub’ekti.</a:t>
            </a:r>
          </a:p>
          <a:p>
            <a:pPr>
              <a:spcAft>
                <a:spcPts val="1200"/>
              </a:spcAft>
            </a:pPr>
            <a:r>
              <a:rPr sz="2000">
                <a:solidFill>
                  <a:srgbClr val="1F2937"/>
                </a:solidFill>
                <a:latin typeface="Calibri"/>
              </a:rPr>
              <a:t>▸  Xizmat vazifasini lozim bajarmagan tibbiyot xodimi ham javobgar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jinsiy jinoyatlar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ayol nomusga tegish shubhasi bilan ekspertizaga keltirildi.</a:t>
            </a:r>
          </a:p>
          <a:p>
            <a:pPr>
              <a:spcAft>
                <a:spcPts val="1200"/>
              </a:spcAft>
            </a:pPr>
            <a:r>
              <a:rPr sz="2000">
                <a:solidFill>
                  <a:srgbClr val="1F2937"/>
                </a:solidFill>
                <a:latin typeface="Calibri"/>
              </a:rPr>
              <a:t>▸  Ko‘rikda sonning ichki yuzasi va jinsiy a’zo sohasida qontalash, shilinma, qizlik pardasida yoriq topilishi mumkin. Qo‘rqitish esa ob’ektiv iz qoldirmaydi.</a:t>
            </a:r>
          </a:p>
          <a:p>
            <a:pPr>
              <a:spcAft>
                <a:spcPts val="1200"/>
              </a:spcAft>
            </a:pPr>
            <a:r>
              <a:rPr sz="2000">
                <a:solidFill>
                  <a:srgbClr val="1F2937"/>
                </a:solidFill>
                <a:latin typeface="Calibri"/>
              </a:rPr>
              <a:t>▸  Qin ichidan surtma, qov, oraliq va sondan bosma voqeadan so‘ng imkon qadar tez olinadi. Vaqt o‘tgan sari spermatozoid topilish ehtimoli kamayadi.</a:t>
            </a:r>
          </a:p>
          <a:p>
            <a:pPr>
              <a:spcAft>
                <a:spcPts val="1200"/>
              </a:spcAft>
            </a:pPr>
            <a:r>
              <a:rPr sz="2000">
                <a:solidFill>
                  <a:srgbClr val="1F2937"/>
                </a:solidFill>
                <a:latin typeface="Calibri"/>
              </a:rPr>
              <a:t>▸  Gumondor ham ko‘rikdan o‘tadi: qontalash, shilinma, tishlanma, jinsiy olat va qovda ayolga tegishli qon va soch izlari izlanadi. Savol: qaysi namunalar olinadi?</a:t>
            </a:r>
          </a:p>
          <a:p>
            <a:pPr>
              <a:spcAft>
                <a:spcPts val="1200"/>
              </a:spcAft>
            </a:pPr>
            <a:r>
              <a:rPr sz="2000">
                <a:solidFill>
                  <a:srgbClr val="1F2937"/>
                </a:solidFill>
                <a:latin typeface="Calibri"/>
              </a:rPr>
              <a:t>▸  Avval qaror, bayonnoma, tibbiy hujjatlar o‘rganiladi, so‘ng so‘rov va ginekologik anamnez olinadi.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295, 296, 297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o‘tkazish algoritmi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Tirik shaxslar ekspertizasi olti bosqichli umumiy algoritm bo‘yicha o‘tkaziladi.</a:t>
            </a:r>
          </a:p>
          <a:p>
            <a:pPr>
              <a:spcAft>
                <a:spcPts val="800"/>
              </a:spcAft>
            </a:pPr>
            <a:r>
              <a:rPr sz="1800">
                <a:solidFill>
                  <a:srgbClr val="1F2937"/>
                </a:solidFill>
                <a:latin typeface="Calibri"/>
              </a:rPr>
              <a:t>▸  Hodisa tafsiloti avvalo ekspertiza tayinlash qarori yoki ajrimidagi ma’lumotlardan o‘rganiladi.</a:t>
            </a:r>
          </a:p>
          <a:p>
            <a:pPr>
              <a:spcAft>
                <a:spcPts val="800"/>
              </a:spcAft>
            </a:pPr>
            <a:r>
              <a:rPr sz="1800">
                <a:solidFill>
                  <a:srgbClr val="1F2937"/>
                </a:solidFill>
                <a:latin typeface="Calibri"/>
              </a:rPr>
              <a:t>▸  Tibbiy hujjatlarning asl nusxasi beriladi; ishonchliligi uchun ekspertiza tayinlagan shaxs javob beradi.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1-2. Hodisa, hujjat</a:t>
            </a:r>
          </a:p>
          <a:p>
            <a:pPr algn="l">
              <a:spcAft>
                <a:spcPts val="200"/>
              </a:spcAft>
            </a:pPr>
            <a:r>
              <a:rPr sz="1400" b="0">
                <a:solidFill>
                  <a:srgbClr val="1F2937"/>
                </a:solidFill>
                <a:latin typeface="Calibri"/>
              </a:rPr>
              <a:t>Tafsilot va tibbiy hujjatlar</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So‘rov</a:t>
            </a:r>
          </a:p>
          <a:p>
            <a:pPr algn="l">
              <a:spcAft>
                <a:spcPts val="200"/>
              </a:spcAft>
            </a:pPr>
            <a:r>
              <a:rPr sz="1400" b="0">
                <a:solidFill>
                  <a:srgbClr val="1F2937"/>
                </a:solidFill>
                <a:latin typeface="Calibri"/>
              </a:rPr>
              <a:t>Shaxsning so‘rovi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Ko‘rik</a:t>
            </a:r>
          </a:p>
          <a:p>
            <a:pPr algn="l">
              <a:spcAft>
                <a:spcPts val="200"/>
              </a:spcAft>
            </a:pPr>
            <a:r>
              <a:rPr sz="1400" b="0">
                <a:solidFill>
                  <a:srgbClr val="1F2937"/>
                </a:solidFill>
                <a:latin typeface="Calibri"/>
              </a:rPr>
              <a:t>Shaxsni ko‘rikdan o‘tkazish</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Qo‘shimcha</a:t>
            </a:r>
          </a:p>
          <a:p>
            <a:pPr algn="l">
              <a:spcAft>
                <a:spcPts val="200"/>
              </a:spcAft>
            </a:pPr>
            <a:r>
              <a:rPr sz="1400" b="0">
                <a:solidFill>
                  <a:srgbClr val="1F2937"/>
                </a:solidFill>
                <a:latin typeface="Calibri"/>
              </a:rPr>
              <a:t>Maxsus tekshiruvlar</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Xulosa</a:t>
            </a:r>
          </a:p>
          <a:p>
            <a:pPr algn="l">
              <a:spcAft>
                <a:spcPts val="200"/>
              </a:spcAft>
            </a:pPr>
            <a:r>
              <a:rPr sz="1400" b="0">
                <a:solidFill>
                  <a:srgbClr val="1F2937"/>
                </a:solidFill>
                <a:latin typeface="Calibri"/>
              </a:rPr>
              <a:t>Ekspert xulosasi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Ekspertiza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299-300, 300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Ko‘rik shartlari va ishtirok etuvchilar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Shaxs pasport, harbiy bilet yoki tug‘ilganlik guvohnomasi bilan tasdiqlanadi. Hujjat bo‘lmasa, uni ekspertiza tayinlagan shaxs ham tasdiqlashi mumkin.</a:t>
            </a:r>
          </a:p>
          <a:p>
            <a:pPr>
              <a:spcAft>
                <a:spcPts val="800"/>
              </a:spcAft>
            </a:pPr>
            <a:r>
              <a:rPr sz="1600">
                <a:solidFill>
                  <a:srgbClr val="1F2937"/>
                </a:solidFill>
                <a:latin typeface="Calibri"/>
              </a:rPr>
              <a:t>▸  Jinsiy holat va jinoyatlar ekspertizasida shaxsni tasdiqlovchi hujjatdan tashqari ko‘rikdan o‘tuvchining ikkita fotosurati ham taqdim etiladi.</a:t>
            </a:r>
          </a:p>
          <a:p>
            <a:pPr>
              <a:spcAft>
                <a:spcPts val="800"/>
              </a:spcAft>
            </a:pPr>
            <a:r>
              <a:rPr sz="1600">
                <a:solidFill>
                  <a:srgbClr val="1F2937"/>
                </a:solidFill>
                <a:latin typeface="Calibri"/>
              </a:rPr>
              <a:t>▸  O‘zga jins ko‘rigida tanani yalang‘ochlashda tergovchi chiqib turadi.</a:t>
            </a:r>
          </a:p>
          <a:p>
            <a:pPr>
              <a:spcAft>
                <a:spcPts val="800"/>
              </a:spcAft>
            </a:pPr>
            <a:r>
              <a:rPr sz="1600">
                <a:solidFill>
                  <a:srgbClr val="1F2937"/>
                </a:solidFill>
                <a:latin typeface="Calibri"/>
              </a:rPr>
              <a:t>▸  Davolanayotgan bemor ko‘rigi sog‘lig‘i ruxsat bersa, tayinlagan shaxs va davolovchi vrach yoki bo‘lim mudiri ishtirokida o‘tadi; kasallik tarixiga yoziladi.</a:t>
            </a:r>
          </a:p>
          <a:p>
            <a:pPr>
              <a:spcAft>
                <a:spcPts val="800"/>
              </a:spcAft>
            </a:pPr>
            <a:r>
              <a:rPr sz="1600">
                <a:solidFill>
                  <a:srgbClr val="1F2937"/>
                </a:solidFill>
                <a:latin typeface="Calibri"/>
              </a:rPr>
              <a:t>▸  Balog‘atga yetmaganlar ota-ona yoki pedagog, layoqatsizlar qonuniy vakil ishtirokida ko‘riladi.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Ko‘rik shartlari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Shaxsni tasdiqlash</a:t>
            </a:r>
          </a:p>
          <a:p>
            <a:pPr algn="l">
              <a:spcAft>
                <a:spcPts val="0"/>
              </a:spcAft>
            </a:pPr>
            <a:r>
              <a:rPr sz="1200" b="0">
                <a:solidFill>
                  <a:srgbClr val="1F2937"/>
                </a:solidFill>
                <a:latin typeface="Calibri"/>
              </a:rPr>
              <a:t>Pasport, harbiy bilet, guvohnoma  ·  Jinsiy ishlarda 2 ta foto</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Balog‘atga yetmagan</a:t>
            </a:r>
          </a:p>
          <a:p>
            <a:pPr algn="l">
              <a:spcAft>
                <a:spcPts val="0"/>
              </a:spcAft>
            </a:pPr>
            <a:r>
              <a:rPr sz="1200" b="0">
                <a:solidFill>
                  <a:srgbClr val="1F2937"/>
                </a:solidFill>
                <a:latin typeface="Calibri"/>
              </a:rPr>
              <a:t>Ota-ona yoki pedagoglar</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O‘zga jins</a:t>
            </a:r>
          </a:p>
          <a:p>
            <a:pPr algn="l">
              <a:spcAft>
                <a:spcPts val="0"/>
              </a:spcAft>
            </a:pPr>
            <a:r>
              <a:rPr sz="1200" b="0">
                <a:solidFill>
                  <a:srgbClr val="1F2937"/>
                </a:solidFill>
                <a:latin typeface="Calibri"/>
              </a:rPr>
              <a:t>Tergovchi xonadan chiqadi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Davolanayotgan bemor</a:t>
            </a:r>
          </a:p>
          <a:p>
            <a:pPr algn="l">
              <a:spcAft>
                <a:spcPts val="0"/>
              </a:spcAft>
            </a:pPr>
            <a:r>
              <a:rPr sz="1200" b="0">
                <a:solidFill>
                  <a:srgbClr val="1F2937"/>
                </a:solidFill>
                <a:latin typeface="Calibri"/>
              </a:rPr>
              <a:t>Tayinlagan shaxs, davolovchi vrach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Ko‘rik ishtirokchilari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300, 301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tezislar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Jinsiy holatlar ekspertizasi jins, jinsiy yetuklik, bokiralik, nasl qoldirish qobiliyati, homiladorlik, tug‘ruq va abortni aniqlash uchun tayinlanadi.</a:t>
            </a:r>
          </a:p>
          <a:p>
            <a:pPr>
              <a:spcAft>
                <a:spcPts val="1200"/>
              </a:spcAft>
            </a:pPr>
            <a:r>
              <a:rPr sz="2200">
                <a:solidFill>
                  <a:srgbClr val="1F2937"/>
                </a:solidFill>
                <a:latin typeface="Calibri"/>
              </a:rPr>
              <a:t>▸  Qizlik pardasi butunligi buzilgan muddat faqat dastlabki haftalarda aniqlanadi; uch haftadan so‘ng bu masalani hal etib bo‘lmaydi.</a:t>
            </a:r>
          </a:p>
          <a:p>
            <a:pPr>
              <a:spcAft>
                <a:spcPts val="1200"/>
              </a:spcAft>
            </a:pPr>
            <a:r>
              <a:rPr sz="2200">
                <a:solidFill>
                  <a:srgbClr val="1F2937"/>
                </a:solidFill>
                <a:latin typeface="Calibri"/>
              </a:rPr>
              <a:t>▸  Nomusga tegishda jarohat, maniy, qon va soch izlari izlanadi. Surtma va bosmalar imkon qadar tez olinadi, chunki vaqt o‘tgan sari natija ishonchliligi kamayadi.</a:t>
            </a:r>
          </a:p>
          <a:p>
            <a:pPr>
              <a:spcAft>
                <a:spcPts val="1200"/>
              </a:spcAft>
            </a:pPr>
            <a:r>
              <a:rPr sz="2200">
                <a:solidFill>
                  <a:srgbClr val="1F2937"/>
                </a:solidFill>
                <a:latin typeface="Calibri"/>
              </a:rPr>
              <a:t>▸  Barcha tirik shaxslar ekspertizasi olti bosqichli algoritm bo‘yicha o‘tkaziladi: hodisa tafsilotidan ekspert xulosasigacha.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288, 291, 296, 299-300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42</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usuli: qizlik pardasi jarohatining “soati” 3 haftaga to‘g‘ri keladi. 1-hafta oxirida yoriq chetida granulyasion to‘qima paydo bo‘ladi. 2-hafta oxiri va 3-haftada chandiq hosil bo‘ladi. 3 haftadan keyin yoriq muddatini aniqlab bo‘lmaydi. Shuning uchun shubha bo‘lsa, sud-tibbiy ekspertga tezroq murojaat qilinadi.</a:t>
            </a:r>
          </a:p>
          <a:p>
            <a:pPr>
              <a:spcAft>
                <a:spcPts val="1200"/>
              </a:spcAft>
            </a:pPr>
            <a:r>
              <a:rPr sz="1800">
                <a:solidFill>
                  <a:srgbClr val="1F2937"/>
                </a:solidFill>
                <a:latin typeface="Calibri"/>
              </a:rPr>
              <a:t>▸  Qiziqarli fakt: maniy qinda odatda 3-5 kungacha saqlanadi. Shu sababli surtma va bosmalarni voqeadan keyin imkon qadar tez olish kerak. Vaqt o‘tgan sari spermatozoidlarni topish ehtimoli kamayadi.</a:t>
            </a:r>
          </a:p>
          <a:p>
            <a:pPr>
              <a:spcAft>
                <a:spcPts val="1200"/>
              </a:spcAft>
            </a:pPr>
            <a:r>
              <a:rPr sz="1800">
                <a:solidFill>
                  <a:srgbClr val="1F2937"/>
                </a:solidFill>
                <a:latin typeface="Calibri"/>
              </a:rPr>
              <a:t>▸  Hodisa tahlili: simulyant yuqori ko‘rsatkichlarga erishish uchun hiyla ishlatishi mumkin. Masalan, tekshiruvdan oldin askorbin kislotasini qabul qilib oshqozon shirasining nordonligini oshiradi. Achchiq choy yoki kofe ichib taxikardiya va hansirash hosil qiladi. Shuning uchun ayrim tekshiruvlar tekshiriluvchini ogohlantirmasdan, to‘satdan va takroran o‘tkaziladi.</a:t>
            </a:r>
          </a:p>
          <a:p>
            <a:pPr>
              <a:spcAft>
                <a:spcPts val="1200"/>
              </a:spcAft>
            </a:pPr>
            <a:r>
              <a:rPr sz="1800">
                <a:solidFill>
                  <a:srgbClr val="1F2937"/>
                </a:solidFill>
                <a:latin typeface="Calibri"/>
              </a:rPr>
              <a:t>▸  Diqqat: a’zobuzarlikda jarohat odatda shaxsning qo‘li yetadigan sohalarda bo‘ladi. Asosiy jarohat yonida bir necha yuzaki kesma va chopma yaralar topilishi mumkin. Barmoqlarning travmatik amputatsiyasi turli sathlarda bo‘ladi, baxtsiz hodisada esa odatda bir sathda. Shikastlanish asosan chap tomonda uchraydi.</a:t>
            </a:r>
          </a:p>
          <a:p>
            <a:pPr>
              <a:spcAft>
                <a:spcPts val="1200"/>
              </a:spcAft>
            </a:pPr>
            <a:r>
              <a:rPr sz="1800">
                <a:solidFill>
                  <a:srgbClr val="1F2937"/>
                </a:solidFill>
                <a:latin typeface="Calibri"/>
              </a:rPr>
              <a:t>▸  Tipik xato: sud-tibbiy va klinik og‘irlik baholari bir xil tushuncha emas. Ularning maqsadi va mezonlari har xil, shuning uchun natijalari mos kelmasligi mumkin. Shifokor “ahvoli og‘ir” degan klinik xulosani avtomatik ravishda “og‘ir tan jarohati” deb olmasligi kerak.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Jinsiy holat va jinsiy jinoyatlarda tirik shaxslar sud-tibbiy ekspertiz</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42</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12. Tirik shaxslar sud-tibbiy ekspertizasi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