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Maqsad: talabalar mashg‘ulot rejasini (harorat, elektr toki, bosim, radiatsiya) bilib oladi. Muhokama: 1) Nega kam uchraydigan travmalarni ham bilish kerak? 2) Elektrotravma kam uchrasa-da, nega xavfli? Doskada: 4 ta kvadrat chizib, har biriga bir omil nomini yozing. Tipik xato: kam uchrashini ahamiyatsizlik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yo‘l issiqlikni eng ko‘p chiqaradi? 2) Nega 43-44°S va 22-25°S chegaralari muhim? Doskada: tana harorati shkalasini chizib, 36-37°S, 22-25°S va 43-44°S ni belgilang. Tipik xato: umumiy ta’sir (issiq urish, sovuq qotish) bilan mahalliy ta’sirni (kuyish, sovuq urish)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issiq sexda ishlovchi va sportchi xavf guruhiga kiradi? 2) Nega yosh chaqaloqlarda xavf yuqori? Doskada: ‘ko‘p ishlab chiqarish’ va ‘kam ajratish’ ikki ustunini chizib, sharoitlarni taqsimlang. Tipik xato: faqat tashqi issiqni sabab deb bilish; ichki moyillik omillarini (kasallik, semizlik, yosh) unutish.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qon quyuqlashishi gipertermiyani kuchaytiradi? Havo va namlik o‘tkazmaydigan kiyim qanday rol o‘ynaydi? Doskada: patogenez zanjirini strelkalar bilan chizdiring. Tipik xato: gipoksiyani faqat nafas yetishmovchiligi deb o‘ylash, aslida u qon aylanishi buzilishining natijasi.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holsizlik davri predagonal deyiladi? O‘tkir va uzaytirilgan shaklning asosiy farqi nimada? Doskada: uch davrni vaqt chizig‘i ko‘rinishida chizdiring. Tipik xato: qo‘zg‘alish davrini birinchi davr deb adashtirish; birinchi davr qisqa latent davr (MNT faoliyatining susayishi). MNT - markaziy nerv tizimi.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issiq urishi va quyosh urishi sabablari qanday farq qiladi? Murda tekshiruvida ularni ajratish mumkinmi (morfologik o‘zgarishlar o‘xshash, spetsifik emas)? Doskada: ikki holatni solishtirish jadvalini chizdiring (sabab, harorat, belgilar). Tipik xato: quyosh urishida ham yuqori isitma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bu belgilar issiq urishini aniq isbotlamaydi? 2) Murda qotishi va dog‘lari bu holatda qanday farq qiladi? Doskada chizish: ikki ustun (miya / ichki a’zolar / qon va o‘pka / murda qotishi va dog‘lari) bo‘yicha topilmalar ro‘yxati. Tipik xato: quyuq qon yoki to‘laqonlikni issiq urishga xos spetsifik belgi deb hisoblash. Qo‘shimcha (slayddan ko‘chirilgan, manba shu bet): Ichki a’zolar to‘laqon, seroz pardalar ostida mayda qon quyilishlar topiladi.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sharoitlar bu ishchida issiq urishga moyillik yaratgan? 2) Boshqa o‘lim sabablarini qanday chetlatish mumkin? Doskada chizish: xavf omillari → topilmalar → xulosa zanjiri. Tipik xato: faqat murda topilmalariga tayanib, voqea sharoitini hisobga olmaslik. Qo‘shimcha (slayddan ko‘chirilgan, manba shu bet): Ularga e’tibor berilmasa, xato klinik diagnoz qo‘yilishi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talabalarga navbat bilan bering. Muhokama: 1) Issiq urishi va quyosh urishi sabablari qanday farqlanadi? 2) Nega anamnez bu holatlarda hal qiluvchi? Doskada chizish: issiq urishi va quyosh urishini yonma-yon solishtiruvchi qisqa jadval (sabab, harorat, murda topilmasi). Tipik xato: quyosh urishida ham yuqori tana harorati xos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bir xil ta’sirda teri yupqa sohalarda kuyish chuqurroq bo‘ladi? 2) Kuyishning og‘irligini qaysi uch omil belgilaydi? Doskada: harorat chegarasi (45-50°S) va kuyish manbalari ro‘yxatini chizing. Tipik xato: kuyish og‘irligini faqat darajaga qarab baholash, maydonni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Murdada qaysi daraja ko‘pincha aniqlanmaydi va nima uchun? 2) II daraja pufak tubi kesilganda qon chiqmasligi nimani bildiradi? Doskada: 4 darajali jadvalni talabalar bilan birga to‘ldiring. Tipik xato: IV darajani suyuqlik yoki bug‘dan ham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Murdada kiyimi butun, kuyishi oqma shaklida bo‘lsa, qaysi manbani o‘ylaysiz? 2) Kuyish yarasining joylashuvi jabrlanganning holati haqida nimani aytadi? Doskada: oqma (pastga) va alanga tili (yuqoriga) yo‘nalishini strelkalar bilan chizing. Tipik xato: qurum izini suyuqlik kuyishiga xos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kuyish maydoni darajadan tashqari baholanadi? 2) Qaysi holatda kaft qoidasi qulay? Doskada: odam sxemasini chizib, hududlarga foizlarni yozdiring. Tipik xato: to‘qqizliklar qoidasidagi 9% va 18% qiymatlarini, shuningdek III-IV (10%), III (15%) va II (20%) chegaralarini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“30% (10%) / II-III” yozuvi nimani bildiradi? 2) Nega kichik yuzali kuyish ham xavfli bo‘lishi mumkin? Doskada: talabalar bir nechta kasr shaklidagi diagnozni yozib, suratni va mahrajni izohlasin. Tipik xato: kasrda suratga daraja, mahrajga yuza yozish; qavs ichidagi yuzani umumiy yuza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Toksemiya va septikotoksemiya farqi nimada? 2) Nega bolalarda kuyish kasalligi kichik maydonda ham rivojlanadi? Doskada: to‘rt davrni zanjir qilib chizing va har biriga asosiy belgini yozing. Tipik xato: toksemiyani (oqsil parchalanish mahsulotlarining so‘rilishi) septikotoksemiya (yiringlash) bilan aralashtirish. Qo‘shimcha: shok bir sutkagacha, ba’zan 2-3 sutkagacha cho‘ziladi; septikotoksemiya bir necha oygacha davom etishi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Yong‘in o‘chog‘idan topilgan murdada nega avval nafas yo‘llari qurumi tekshiriladi? 2) Nima uchun qon yuza tomirdan emas, yurak kameralari va chuqur tomirlardan olinadi? Doskada chizish: jadvalni daftarga ko‘chirtiring va har belgi yoniga namuna olish joyini yozdiring. Tipik xato: talaba yuza tomir qonidagi karboksigemoglobinni hayotiylik isboti deb hisoblaydi, holbuki u o‘limdan keyin ham 20% gacha bo‘lishi mumkin. Qo‘shimcha: qurum leykotsit sitoplazmasi va jigardagi Kupfer hujayralarida ham topilishi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“G‘oz panjasi” nima uchun hosil bo‘ladi (qovoq burmalari)? 2) Yong‘indan keyingi epidural gematomani travmadan qanday farqlaysiz? Doskada chizish: ikki gematoma shaklini (urchuqsimon va o‘roqsimon) yonma-yon chizdiring. Tipik xato: urchuqsimon va o‘roqsimon shakllarni, birikkan va birikmagan holatni adashtirish. Gistologik tekshiruv ham muhim ekanini eslating.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Bokser pozasi nima uchun hosil bo‘ladi? 2) Kul tekshiruvi qanday savollarga javob beradi? Doskada chizish: bokser pozasidagi tana holatini sxematik chizdiring. Tipik xato: bokser pozasini mushaklarning zichlashishi natijasi emas, balki hayotda yuz bergan harakat deb o‘ylash. Yoqish vaqtlarini (go‘dak, kattalar, krematoriy) taqqoslab yodlatish tavsiya etiladi.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Qurum va karboksigemoglobin nima uchun hayotiylikning ishonchli belgilari? 2) Qovoqdagi “g‘oz panjasi” belgisi nimani ko‘rsatadi? Doskaga chizish: urchuqsimon va o‘roqsimon epidural gematomaning kesim sxemasi. Tipik xato: bokser pozasi yoki ko‘mirlanishni hayotiylik belgisi deb hisoblash. Aslida bu mushaklarning zichlashishi natijasidir. Qurum va qondagi karboksigemoglobin hal qiluvchi.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alkogol sovuqda xavfli, garchi “isitgandek” tuyulsa? 2) Nega go‘daklar va keksalar xavf guruhida? Doskaga chizish: tashqi va ichki moyillik omillari ikki ustunli ro‘yxati. Tipik xato: sovuq qotish faqat manfiy haroratda bo‘ladi deb o‘ylash. Manbaga ko‘ra +10°S gacha ham mumkin.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Kompensatsiya nima uchun dekompensatsiyaga o‘tadi? 2) Harorat chegaralari klinik belgilar bilan qanday bog‘lanadi? Doskaga chizish: harorat o‘qi (+30…+22°S) va unga mos bosqichlar. Tipik xato: dekompensatsiyada ham modda almashinuvi kuchayadi deb o‘ylash. Aslida u pasayadi.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kuchli mast odamda poza bo‘lmasligi mumkin? Nega murda dog‘lari musbat va manfiy haroratda har xil rangda? Doskada: jadvaldagi to‘rt belgini muallif ismlari bilan chizdiring. Tipik xato: qor tagidagi muz qatlamini sovuq qotishning spetsifik belgisi deb hisoblash; bu belgi sovub ulgurmagan murdada ham paydo bo‘ladi. Puparev belgisi faqat erkaklarda.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sekin o‘limda qon laxtali va qip-qizil bo‘ladi? Puxnarevich va Fabrikantov belgilari qaysi a’zoda aniqlanadi? Doskada: ikki ustun chizing, chap tomonga Puxnarevich (oshqozon), o‘ng tomonga Fabrikantov (buyrak jomi) yozdiring. Tipik xato: Puxnarevich belgisini buyrak, Fabrikantov belgisini oshqozon bilan aralashtirish. Eslab qoling: P-U-X oshqozon (bo‘sh), F-A-B buyrak.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tez o‘limda dog‘lar kam yoki yo‘q bo‘ladi? Nega oshqozonning kirish qismida dog‘lar to‘q jigar rangda? Doskada: mexanizm zanjirini besh bosqichda chizdiring. Tipik xato: dog‘larni oshqozon yarasi yoki eroziya deb o‘ylash; ular burma tepasidagi mayda qon quyilish bo‘lib, oson olinadi. Eslatma: bu belgi tananing muzlashi bilan emas, hayotiy sovuq ta’siri bilan bog‘liq.</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glikogenning bo‘lishi yoki yo‘qligi o‘lim tezligiga bog‘liq? 2) Qon va siydikda alkogol nisbati nimani ko‘rsatadi? Doskada: ‘mikro–gistokimyo–alkogol’ uch ustunli qisqa jadval chizdiring. Tipik xato: gistokimyoviy o‘zgarishlarni sovuq qotishning yagona isboti deb hisoblash; qisqa o‘limda glikogen saqlanishi mumkinligini unutish. Qo‘shimcha (slayddan ko‘chirilgan, manba shu bet): Buyrak to‘g‘ri naychalarida nekrobiotik o‘zgarishlar bo‘ladi (Kasyanov belgisi).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muzlash artefaktini hayotiy jarohatdan ajratish muhim? 2) Nega eritishni shoshiltirish ekspertiza sifatiga zarar qiladi? Doskada: ‘muzlash → hajm ortishi → kalla bo‘shlig‘ida shikast’ zanjirini chizdiring. Tipik xato: muzlash natijasidagi kalla suyaklari sinishini travma deb baholash. Qo‘shimcha (slayddan ko‘chirilgan, manba shu bet): Mikroskopda mayda yoriqlar va epidermisning dermadan ajralishi topiladi. Eritish qanchalik tez bo‘lsa, qon gemolizi va to‘qimalarning o‘limdan keyingi imbibitsiyasi shunchalik kuchli bo‘ladi. Manbadan qo‘shimcha (slaydda sig‘magan): Mikroskopda mayda yoriqlar va epidermisning dermadan ajralishi topiladi.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Javob: Rayskiy (qirov), Puxnarevich (bo‘sh oshqozon), Vishnevskiy (shilliq qavatdagi qon quyilishlar). Dog‘lar kislorod ko‘pligidan pushti-qizgish. Muhokama: 1) Qaysi belgi eng ishonchli? 2) Mastlik bu tasvirni qanday o‘zgartiradi? Doskada: topilgan belgilarni ‘tashqi / ichki / laboratoriya’ ustunlariga ajratib yozing. Tipik xato: faqat bitta belgiga tayanib xulosa chiqarish, qorning tagidagi muzni spetsifik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sovuq urishda tana harorati normal bo‘lib, faqat soha sovuydi? Reperkussiya fenomeni nimani ko‘rsatadi? Doskada: yashirin va reaktiv davrlarning vaqt chizig‘ini chizdiring. Tipik xato: mahalliy sovuq urishni umumiy sovuq qotish bilan aralashtirish. Qo‘shimcha (slayddan ko‘chirilgan, manba shu bet): Hayot uchun xavfli: 10% dan ortiq III-IV, 15% dan ortiq III, 20% dan ortiq II daraja.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I-II va III-IV darajani pufak suyuqligi va chandiq bo‘yicha qanday farqlaysiz? Nega IV darajada sepsis xavfi katta? Doskada: to‘rt daraja bo‘yicha jadvalni talabalar bilan to‘ldiring. Tipik xato: II va III daraja pufak suyuqligini (tiniq va gemorragik)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elektrotravma kam uchrasa ham xavfli hisoblanadi? Tokning boshqa shikastlovchi omillardan farqi nimada? Doskada: uch guruh omillarning sxemasini chizdiring. Tipik xato: tok xususiyatlari bilan organizm omillarini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500 voltda ikki tok turining xavfi tenglashadi? Nega yuqori chastotali tok fizioterapiyada qo‘llanadi? Doskada jadvalni chizdirib, qiymatlarni to‘ldirtiring. Tipik xato: yuqori kuchlanishni har doim xavfliroq deb o‘ylash, aslida 3000 voltdan yuqorida o‘lim kam uchraydi.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professional elektromonterlarda elektrotravma kam uchraydi (diqqat omili)? Qadam kuchlanishida pastki sirtmoq o‘zi xavfli emas bo‘lsa, nega xavf tug‘iladi? Doskada tok sirtmoqlarini (yuqori, pastki, to‘liq) sxematik chizdirib, xavfli yo‘llarni belgilatng. Tipik xato: qadam kuchlanishida xavfni to‘g‘ridan-to‘g‘ri pastki sirtmoqqa bog‘lash; aslida yiqilish natijasida to‘liq sirtmoq paydo bo‘ladi.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spetsifik va nospetsifik ta’sirning farqi nimada? Anod va katodda nekroz turlari qanday farqlanadi? Doskada spetsifik ta’sirning to‘rt turi (umumiy, kimyoviy, termik, mexanik) sxemasini chizdiring. Tipik xato: tok ta’siridan balandlikdan yiqilishni spetsifik ta’sirga kiritish; u nospetsifik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elektr kuyish og‘riqsiz bo‘ladi? 2) Metallizatsiya ekspertga qanday ma’lumot beradi? Doskada: tamg‘a va kuyishning harorat hamda ko‘rinish jadvalini chizdiring. Tipik xato: talabalar tamg‘a har doim hosil bo‘ladi deb o‘ylaydi; yupqa yoki nam teridagi holatlar ham bor, ular 10-20% gacha.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tokdan ozod bo‘lgan jabrlanganni ham kuzatishda ushlash kerak? 2) Hodisa joyida soxta o‘limni qanday hisobga olasiz? Doskada: 4 turni vaqt chizig‘ida (zumda — kunlargacha) chizdiring. Tipik xato: uzilgan o‘limni sekin o‘lim bilan aralashtirish; uzilganda jabrlangan o‘ziga keladi, keyin o‘ladi.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yashin figurasini darhol suratga olish shart? 2) Yashin va yuqori kuchlanishli tok jarohatlari qanday o‘xshaydi? Doskada: yashinning to‘rt shikastlovchi omilini sxema qilib chizdiring. Tipik xato: kiyim butun bo‘lsa, yashin ta’siri bo‘lmagan deb xulosa qilish; bunday holat uchramasligi ham, tana jarohati bo‘lishi ham mumkin.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suv tagida olingan jarohat faqat yuzaga chiqqanda sezilishi mumkin? 2) Murdada o‘pka barotravmasi qanday tasdiqlanadi (o‘pka, yurak va tomirlarni bog‘lab suvga solib, havo yuborish; tomirlarda havo emboliyasi)? Doskada: zanjirni chizing va har bosqichga morfologik belgini yozing. Diqqat, tipik xato: niqob yoki naycha bilan sho‘ng‘iganda o‘pka barotravmasi bo‘lmaydi, akvalangda 10 m chuqurlikda nafas to‘xtatilsa bo‘ladi. Quloq va burun qo‘shimcha bo‘shliqlari barotravmasi o‘limga olib kelmaydi, odatda o‘pka barotravmasi bilan birga uchraydi.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kislorod bilan zaharlanishda bolalarda o‘tkir (neyrotoksik) forma bo‘lmaydi? 2) Tez ko‘tarilganda nima uchun azot gaz emboliyasi hosil qiladi? Doskada: jadvalni chizib, har gaz uchun bosim qiymati (2,5–3,0 MPa neyrotoksik, 1,0–1,5 MPa o‘pka forma) yozib qo‘ying. Tipik xato: kislorod va karbonat angidridi zaharlanishida murdada spetsifik belgilar bor deb o‘ylash, aslida tashxis tafsilot va klinikaga tayanadi. Azotning mast qiluvchi ta’siri parsial bosim pasayganda tez yo‘qoladi.</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Tog‘li hududda topilgan murdada nega faqat balandlik kasalligini tashxis qilish yetarli emas (yurak kasalligi, yashin, quyosh urishi, yiqilish ehtimoli)? 2) Latent davrdagi yaxshilanish nima uchun xavfli? Doskada: nur dozasi (grey) bo‘yicha to‘rt formani shkala ko‘rinishida chizing. Tipik xato: 1 grey = 100 rad ekanini va suyak miya formasi 6 greydan yuqori dozada o‘lim keltirishini chalkashtirish. Yakuniy xulosa: bosimning keskin o‘zgarishi, gazlar va nurlanish ta’sirida tashxis voqea tafsiloti, hodisa joyi, makro- va mikroskopik hamda laboratoriya ma’lumotlari majmuiga tayanadi. Qo‘shimcha (slayddan ko‘chirilgan, manba shu bet): Suyak miya formasi 6 greydan baland dozada o‘limga olib keladi.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Fizik omillar ta’siridan o‘lim hollarida murdalar sud-tibbiy ekspertizasi.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fizik omillar va sud-tibbiy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Mavzuda fizik omillarning to‘rt guruhi ko‘riladi: yuqori va past harorat, elektr toki, bosimning o‘zgarishi hamda radiatsiya.</a:t>
            </a:r>
          </a:p>
          <a:p>
            <a:pPr>
              <a:spcAft>
                <a:spcPts val="1200"/>
              </a:spcAft>
            </a:pPr>
            <a:r>
              <a:rPr sz="2200">
                <a:solidFill>
                  <a:srgbClr val="1F2937"/>
                </a:solidFill>
                <a:latin typeface="Calibri"/>
              </a:rPr>
              <a:t>▸  Elektrotravma barcha shikastlanishlarning 1-2,5% ini tashkil etsa-da, nogironlik va o‘limga olib kelishi bo‘yicha etakchi o‘rinlardan birini egallaydi.</a:t>
            </a:r>
          </a:p>
          <a:p>
            <a:pPr>
              <a:spcAft>
                <a:spcPts val="1200"/>
              </a:spcAft>
            </a:pPr>
            <a:r>
              <a:rPr sz="2200">
                <a:solidFill>
                  <a:srgbClr val="1F2937"/>
                </a:solidFill>
                <a:latin typeface="Calibri"/>
              </a:rPr>
              <a:t>▸  Barotravma, ya’ni bosim o‘zgarishidan shikastlanish, sud-tibbiy ekspertiza amaliyotida kam uchraydi.</a:t>
            </a:r>
          </a:p>
          <a:p>
            <a:pPr>
              <a:spcAft>
                <a:spcPts val="1200"/>
              </a:spcAft>
            </a:pPr>
            <a:r>
              <a:rPr sz="2200">
                <a:solidFill>
                  <a:srgbClr val="1F2937"/>
                </a:solidFill>
                <a:latin typeface="Calibri"/>
              </a:rPr>
              <a:t>▸  Radiatsion travma ham nisbatan kam uchraydi. Yadro portlashlaridan tashqari barcha holatlarda u baxtsiz hodisa oqibatida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183, 196, 205, 212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Tana harorati va issiqlik ajralish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Normal tana harorati 36-37°S; u issiqlik ishlab chiqarish va ajratish regulyatsiyasi bilan ta’minlanadi.</a:t>
            </a:r>
          </a:p>
          <a:p>
            <a:pPr>
              <a:spcAft>
                <a:spcPts val="800"/>
              </a:spcAft>
            </a:pPr>
            <a:r>
              <a:rPr sz="1800">
                <a:solidFill>
                  <a:srgbClr val="1F2937"/>
                </a:solidFill>
                <a:latin typeface="Calibri"/>
              </a:rPr>
              <a:t>▸  22-25°S dan past yoki 43-44°S dan baland harorat to‘qimalarda hayotga mos kelmaydigan o‘zgarish beradi.</a:t>
            </a:r>
          </a:p>
          <a:p>
            <a:pPr>
              <a:spcAft>
                <a:spcPts val="800"/>
              </a:spcAft>
            </a:pPr>
            <a:r>
              <a:rPr sz="1800">
                <a:solidFill>
                  <a:srgbClr val="1F2937"/>
                </a:solidFill>
                <a:latin typeface="Calibri"/>
              </a:rPr>
              <a:t>▸  Umumiy ta’sir issiq urish yoki sovuq qotishga, mahalliy ta’sir kuyish yoki sovuq urishiga olib keladi.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Nurlanish</a:t>
            </a:r>
          </a:p>
          <a:p>
            <a:pPr algn="l">
              <a:spcAft>
                <a:spcPts val="100"/>
              </a:spcAft>
            </a:pPr>
            <a:r>
              <a:rPr sz="3000" b="1">
                <a:solidFill>
                  <a:srgbClr val="0B1F3A"/>
                </a:solidFill>
                <a:latin typeface="Calibri"/>
              </a:rPr>
              <a:t>55</a:t>
            </a:r>
            <a:r>
              <a:rPr sz="1500" b="0">
                <a:solidFill>
                  <a:srgbClr val="6B7280"/>
                </a:solidFill>
                <a:latin typeface="Calibri"/>
              </a:rPr>
              <a:t>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Ter bilan</a:t>
            </a:r>
          </a:p>
          <a:p>
            <a:pPr algn="l">
              <a:spcAft>
                <a:spcPts val="100"/>
              </a:spcAft>
            </a:pPr>
            <a:r>
              <a:rPr sz="3000" b="1">
                <a:solidFill>
                  <a:srgbClr val="0B1F3A"/>
                </a:solidFill>
                <a:latin typeface="Calibri"/>
              </a:rPr>
              <a:t>27</a:t>
            </a:r>
            <a:r>
              <a:rPr sz="1500" b="0">
                <a:solidFill>
                  <a:srgbClr val="6B7280"/>
                </a:solidFill>
                <a:latin typeface="Calibri"/>
              </a:rPr>
              <a:t>  %</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O‘tkazish orqali</a:t>
            </a:r>
          </a:p>
          <a:p>
            <a:pPr algn="l">
              <a:spcAft>
                <a:spcPts val="100"/>
              </a:spcAft>
            </a:pPr>
            <a:r>
              <a:rPr sz="3000" b="1">
                <a:solidFill>
                  <a:srgbClr val="0B1F3A"/>
                </a:solidFill>
                <a:latin typeface="Calibri"/>
              </a:rPr>
              <a:t>15</a:t>
            </a:r>
            <a:r>
              <a:rPr sz="1500" b="0">
                <a:solidFill>
                  <a:srgbClr val="6B7280"/>
                </a:solidFill>
                <a:latin typeface="Calibri"/>
              </a:rPr>
              <a:t>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Turli ajratmalar</a:t>
            </a:r>
          </a:p>
          <a:p>
            <a:pPr algn="l">
              <a:spcAft>
                <a:spcPts val="100"/>
              </a:spcAft>
            </a:pPr>
            <a:r>
              <a:rPr sz="3000" b="1">
                <a:solidFill>
                  <a:srgbClr val="0B1F3A"/>
                </a:solidFill>
                <a:latin typeface="Calibri"/>
              </a:rPr>
              <a:t>3</a:t>
            </a:r>
            <a:r>
              <a:rPr sz="1500" b="0">
                <a:solidFill>
                  <a:srgbClr val="6B7280"/>
                </a:solidFill>
                <a:latin typeface="Calibri"/>
              </a:rPr>
              <a:t>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Normal tana harorati</a:t>
            </a:r>
          </a:p>
          <a:p>
            <a:pPr algn="l">
              <a:spcAft>
                <a:spcPts val="100"/>
              </a:spcAft>
            </a:pPr>
            <a:r>
              <a:rPr sz="3000" b="1">
                <a:solidFill>
                  <a:srgbClr val="0B1F3A"/>
                </a:solidFill>
                <a:latin typeface="Calibri"/>
              </a:rPr>
              <a:t>36-37</a:t>
            </a:r>
            <a:r>
              <a:rPr sz="1500" b="0">
                <a:solidFill>
                  <a:srgbClr val="6B7280"/>
                </a:solidFill>
                <a:latin typeface="Calibri"/>
              </a:rPr>
              <a:t>  °S</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Issiqlik ajralish yo‘llari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Issiq urishi: sharoit va moyillik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Issiq urishi organizmda issiqlik ko‘p ishlab chiqarilib, kam ajratilganda vujudga keladi.</a:t>
            </a:r>
          </a:p>
          <a:p>
            <a:pPr>
              <a:spcAft>
                <a:spcPts val="800"/>
              </a:spcAft>
            </a:pPr>
            <a:r>
              <a:rPr sz="1600">
                <a:solidFill>
                  <a:srgbClr val="1F2937"/>
                </a:solidFill>
                <a:latin typeface="Calibri"/>
              </a:rPr>
              <a:t>▸  Sharoitlar: havo harorati va namligi baland, shamol yo‘q; issiq sexlar, og‘ir jismoniy ish, sportchilar va harbiylarning mashqi.</a:t>
            </a:r>
          </a:p>
          <a:p>
            <a:pPr>
              <a:spcAft>
                <a:spcPts val="800"/>
              </a:spcAft>
            </a:pPr>
            <a:r>
              <a:rPr sz="1600">
                <a:solidFill>
                  <a:srgbClr val="1F2937"/>
                </a:solidFill>
                <a:latin typeface="Calibri"/>
              </a:rPr>
              <a:t>▸  Havo va namlik o‘tkazmaydigan kiyim, yurak-qon tomir kasalliklari, qalqonsimon bez giperfunksiyasi, semizlik va keksalik moyillikni oshiradi.</a:t>
            </a:r>
          </a:p>
          <a:p>
            <a:pPr>
              <a:spcAft>
                <a:spcPts val="800"/>
              </a:spcAft>
            </a:pPr>
            <a:r>
              <a:rPr sz="1600">
                <a:solidFill>
                  <a:srgbClr val="1F2937"/>
                </a:solidFill>
                <a:latin typeface="Calibri"/>
              </a:rPr>
              <a:t>▸  Bir yoshgacha bolalarda termoregulyatsiya mexanizmlari to‘liq shakllanmagan, shuning uchun ular yuqori haroratga o‘ta sezgir.</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Issiq urishi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Sharoit</a:t>
            </a:r>
          </a:p>
          <a:p>
            <a:pPr algn="l">
              <a:spcAft>
                <a:spcPts val="0"/>
              </a:spcAft>
            </a:pPr>
            <a:r>
              <a:rPr sz="1200" b="0">
                <a:solidFill>
                  <a:srgbClr val="1F2937"/>
                </a:solidFill>
                <a:latin typeface="Calibri"/>
              </a:rPr>
              <a:t>Havo harorati, namligi baland  ·  Shamol yo‘q, issiq sex</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Faoliyat</a:t>
            </a:r>
          </a:p>
          <a:p>
            <a:pPr algn="l">
              <a:spcAft>
                <a:spcPts val="0"/>
              </a:spcAft>
            </a:pPr>
            <a:r>
              <a:rPr sz="1200" b="0">
                <a:solidFill>
                  <a:srgbClr val="1F2937"/>
                </a:solidFill>
                <a:latin typeface="Calibri"/>
              </a:rPr>
              <a:t>Og‘ir jismoniy ish  ·  Sportchilar, harbiylar mashqi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Moyillik</a:t>
            </a:r>
          </a:p>
          <a:p>
            <a:pPr algn="l">
              <a:spcAft>
                <a:spcPts val="0"/>
              </a:spcAft>
            </a:pPr>
            <a:r>
              <a:rPr sz="1200" b="0">
                <a:solidFill>
                  <a:srgbClr val="1F2937"/>
                </a:solidFill>
                <a:latin typeface="Calibri"/>
              </a:rPr>
              <a:t>Havo o‘tkazmaydigan kiyim  ·  Yurak-qon tomir kasalligi, semizlik</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Bolalar</a:t>
            </a:r>
          </a:p>
          <a:p>
            <a:pPr algn="l">
              <a:spcAft>
                <a:spcPts val="0"/>
              </a:spcAft>
            </a:pPr>
            <a:r>
              <a:rPr sz="1200" b="0">
                <a:solidFill>
                  <a:srgbClr val="1F2937"/>
                </a:solidFill>
                <a:latin typeface="Calibri"/>
              </a:rPr>
              <a:t>1 yoshgacha: termoregulyatsiya zaif</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Issiq urishiga moyillik</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Issiq urishi: rivojlanish mexanizmi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Asosiy o‘rinni gemodinamikaning buzilishi egallaydi: qon quyuqlashadi, qon aylanishi sekinlashadi.</a:t>
            </a:r>
          </a:p>
          <a:p>
            <a:pPr>
              <a:spcAft>
                <a:spcPts val="800"/>
              </a:spcAft>
            </a:pPr>
            <a:r>
              <a:rPr sz="1800">
                <a:solidFill>
                  <a:srgbClr val="1F2937"/>
                </a:solidFill>
                <a:latin typeface="Calibri"/>
              </a:rPr>
              <a:t>▸  Bu holat to‘qima gipertermiyasini kuchaytiradi va to‘qima gipoksiyasiga olib keladi.</a:t>
            </a:r>
          </a:p>
          <a:p>
            <a:pPr>
              <a:spcAft>
                <a:spcPts val="800"/>
              </a:spcAft>
            </a:pPr>
            <a:r>
              <a:rPr sz="1800">
                <a:solidFill>
                  <a:srgbClr val="1F2937"/>
                </a:solidFill>
                <a:latin typeface="Calibri"/>
              </a:rPr>
              <a:t>▸  Stress reaksiyasida katexolaminlar va glyukokortikoidlar ajraladi, mikrotsirkulyatsiyada staz kuzatiladi.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Issiqlik</a:t>
            </a:r>
          </a:p>
          <a:p>
            <a:pPr algn="l">
              <a:spcAft>
                <a:spcPts val="200"/>
              </a:spcAft>
            </a:pPr>
            <a:r>
              <a:rPr sz="1400" b="0">
                <a:solidFill>
                  <a:srgbClr val="1F2937"/>
                </a:solidFill>
                <a:latin typeface="Calibri"/>
              </a:rPr>
              <a:t>Ko‘p ishlab chiqariladi, kam ajraladi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Gemodinamika</a:t>
            </a:r>
          </a:p>
          <a:p>
            <a:pPr algn="l">
              <a:spcAft>
                <a:spcPts val="200"/>
              </a:spcAft>
            </a:pPr>
            <a:r>
              <a:rPr sz="1400" b="0">
                <a:solidFill>
                  <a:srgbClr val="1F2937"/>
                </a:solidFill>
                <a:latin typeface="Calibri"/>
              </a:rPr>
              <a:t>Buziladi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Qon</a:t>
            </a:r>
          </a:p>
          <a:p>
            <a:pPr algn="l">
              <a:spcAft>
                <a:spcPts val="200"/>
              </a:spcAft>
            </a:pPr>
            <a:r>
              <a:rPr sz="1400" b="0">
                <a:solidFill>
                  <a:srgbClr val="1F2937"/>
                </a:solidFill>
                <a:latin typeface="Calibri"/>
              </a:rPr>
              <a:t>Quyuqlashadi, oqim sekin</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To‘qima</a:t>
            </a:r>
          </a:p>
          <a:p>
            <a:pPr algn="l">
              <a:spcAft>
                <a:spcPts val="200"/>
              </a:spcAft>
            </a:pPr>
            <a:r>
              <a:rPr sz="1400" b="0">
                <a:solidFill>
                  <a:srgbClr val="1F2937"/>
                </a:solidFill>
                <a:latin typeface="Calibri"/>
              </a:rPr>
              <a:t>Gipertermiya, gipoksiya</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Staz</a:t>
            </a:r>
          </a:p>
          <a:p>
            <a:pPr algn="l">
              <a:spcAft>
                <a:spcPts val="200"/>
              </a:spcAft>
            </a:pPr>
            <a:r>
              <a:rPr sz="1400" b="0">
                <a:solidFill>
                  <a:srgbClr val="1F2937"/>
                </a:solidFill>
                <a:latin typeface="Calibri"/>
              </a:rPr>
              <a:t>Metabolik buzilish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Issiq urishi patogenezi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Issiq urishining o‘tkir va uzaytirilgan shakllari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O‘tkir shakl: birdan hush yo‘qoladi, koma, yurak va nafas buzilishidan qisqa vaqtda o‘lim.</a:t>
            </a:r>
          </a:p>
          <a:p>
            <a:pPr>
              <a:spcAft>
                <a:spcPts val="800"/>
              </a:spcAft>
            </a:pPr>
            <a:r>
              <a:rPr sz="1800">
                <a:solidFill>
                  <a:srgbClr val="1F2937"/>
                </a:solidFill>
                <a:latin typeface="Calibri"/>
              </a:rPr>
              <a:t>▸  Uzaytirilgan shakl sekin rivojlanadi va uch davrga bo‘linadi; holsizlik davri predagonal hisoblanadi.</a:t>
            </a:r>
          </a:p>
          <a:p>
            <a:pPr>
              <a:spcAft>
                <a:spcPts val="800"/>
              </a:spcAft>
            </a:pPr>
            <a:r>
              <a:rPr sz="1800">
                <a:solidFill>
                  <a:srgbClr val="1F2937"/>
                </a:solidFill>
                <a:latin typeface="Calibri"/>
              </a:rPr>
              <a:t>▸  Tana harorati 42-43°S dan oshganda o‘lim nafas olishning birlamchi to‘xtashidan sodir bo‘ladi.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Susayish</a:t>
            </a:r>
          </a:p>
          <a:p>
            <a:pPr algn="l">
              <a:spcAft>
                <a:spcPts val="200"/>
              </a:spcAft>
            </a:pPr>
            <a:r>
              <a:rPr sz="1400" b="0">
                <a:solidFill>
                  <a:srgbClr val="1F2937"/>
                </a:solidFill>
                <a:latin typeface="Calibri"/>
              </a:rPr>
              <a:t>MNT faoliyati susayadi</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Qo‘zg‘alish</a:t>
            </a:r>
          </a:p>
          <a:p>
            <a:pPr algn="l">
              <a:spcAft>
                <a:spcPts val="200"/>
              </a:spcAft>
            </a:pPr>
            <a:r>
              <a:rPr sz="1400" b="0">
                <a:solidFill>
                  <a:srgbClr val="1F2937"/>
                </a:solidFill>
                <a:latin typeface="Calibri"/>
              </a:rPr>
              <a:t>Bezovtalik, bosh og‘rig‘i, taxikardiya</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Holsizlik</a:t>
            </a:r>
          </a:p>
          <a:p>
            <a:pPr algn="l">
              <a:spcAft>
                <a:spcPts val="200"/>
              </a:spcAft>
            </a:pPr>
            <a:r>
              <a:rPr sz="1400" b="0">
                <a:solidFill>
                  <a:srgbClr val="1F2937"/>
                </a:solidFill>
                <a:latin typeface="Calibri"/>
              </a:rPr>
              <a:t>Harorat 41-42°S dan yuqori, koma, talvasa</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Uzaytirilgan shakl davrlari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183-184, 184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Quyosh urishi (insolyasiya)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Quyosh urishi ochiq joyda, bosh kiyimsiz uzoq vaqt quyosh nurlari boshga ta’sir qilganda vujudga keladi.</a:t>
            </a:r>
          </a:p>
          <a:p>
            <a:pPr>
              <a:spcAft>
                <a:spcPts val="1200"/>
              </a:spcAft>
            </a:pPr>
            <a:r>
              <a:rPr sz="2200">
                <a:solidFill>
                  <a:srgbClr val="1F2937"/>
                </a:solidFill>
                <a:latin typeface="Calibri"/>
              </a:rPr>
              <a:t>▸  Boshning isishi markaziy nerv tizimi (MNT) faoliyatini buzadi: bosh og‘rig‘i, hushning xiralashuvi, qo‘zg‘alish, gallyusinatsiya, talvasa.</a:t>
            </a:r>
          </a:p>
          <a:p>
            <a:pPr>
              <a:spcAft>
                <a:spcPts val="1200"/>
              </a:spcAft>
            </a:pPr>
            <a:r>
              <a:rPr sz="2200">
                <a:solidFill>
                  <a:srgbClr val="1F2937"/>
                </a:solidFill>
                <a:latin typeface="Calibri"/>
              </a:rPr>
              <a:t>▸  Avval puls va nafas tezlashadi, keyin puls sekinlashadi. Patologik nafas va nafas markazi falaji bo‘lishi mumkin.</a:t>
            </a:r>
          </a:p>
          <a:p>
            <a:pPr>
              <a:spcAft>
                <a:spcPts val="1200"/>
              </a:spcAft>
            </a:pPr>
            <a:r>
              <a:rPr sz="2200">
                <a:solidFill>
                  <a:srgbClr val="1F2937"/>
                </a:solidFill>
                <a:latin typeface="Calibri"/>
              </a:rPr>
              <a:t>▸  Diqqat: issiq urishidan farqli, tana haroratining salmoqli ko‘tarilishi xos emas. Terida I darajali kuyish (eritema)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Issiq va quyosh urishida murda o‘zgarishlari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Issiq urishi va quyosh urishidan o‘lgan murdalarda morfologik o‘zgarishlar o‘xshash. Ikkalasida ham birorta spetsifik belgi yo‘q.</a:t>
            </a:r>
          </a:p>
          <a:p>
            <a:pPr>
              <a:spcAft>
                <a:spcPts val="1200"/>
              </a:spcAft>
            </a:pPr>
            <a:r>
              <a:rPr sz="2200">
                <a:solidFill>
                  <a:srgbClr val="1F2937"/>
                </a:solidFill>
                <a:latin typeface="Calibri"/>
              </a:rPr>
              <a:t>▸  Bosh miya va uning pardalari keskin to‘laqon va shishgan; miyada mayda perivaskulyar qon quyilishlar bor.</a:t>
            </a:r>
          </a:p>
          <a:p>
            <a:pPr>
              <a:spcAft>
                <a:spcPts val="1200"/>
              </a:spcAft>
            </a:pPr>
            <a:r>
              <a:rPr sz="2200">
                <a:solidFill>
                  <a:srgbClr val="1F2937"/>
                </a:solidFill>
                <a:latin typeface="Calibri"/>
              </a:rPr>
              <a:t>▸  Yurak kameralari va yirik tomirlarda quyuq qon bo‘ladi. Nafas yo‘llarida shilliq to‘planadi, o‘pka quyuq qon hisobiga qo‘ng‘ir tusga kiradi.</a:t>
            </a:r>
          </a:p>
          <a:p>
            <a:pPr>
              <a:spcAft>
                <a:spcPts val="1200"/>
              </a:spcAft>
            </a:pPr>
            <a:r>
              <a:rPr sz="2200">
                <a:solidFill>
                  <a:srgbClr val="1F2937"/>
                </a:solidFill>
                <a:latin typeface="Calibri"/>
              </a:rPr>
              <a:t>▸  Murda qotishi tez rivojlanadi va kuchli bo‘ladi. Murda dog‘lari esa kech paydo bo‘ladi va oz miqdorda bo‘ladi.</a:t>
            </a:r>
          </a:p>
          <a:p>
            <a:pPr>
              <a:spcAft>
                <a:spcPts val="1200"/>
              </a:spcAft>
            </a:pPr>
            <a:r>
              <a:rPr sz="2200">
                <a:solidFill>
                  <a:srgbClr val="1F2937"/>
                </a:solidFill>
                <a:latin typeface="Calibri"/>
              </a:rPr>
              <a:t>▸  Ichki a’zolar to‘laqon, seroz pardalar ostida mayda qon quyilishlar topiladi.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issiq sexda topilgan murda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issiq sexda og‘ir jismoniy ish qilgan, havo o‘tkazmaydigan kiyimdagi semiz ishchi o‘lgan. Bu sharoitlar issiq urishga moyillik yaratadi.</a:t>
            </a:r>
          </a:p>
          <a:p>
            <a:pPr>
              <a:spcAft>
                <a:spcPts val="1200"/>
              </a:spcAft>
            </a:pPr>
            <a:r>
              <a:rPr sz="2200">
                <a:solidFill>
                  <a:srgbClr val="1F2937"/>
                </a:solidFill>
                <a:latin typeface="Calibri"/>
              </a:rPr>
              <a:t>▸  Murdada miya to‘laqon va shishgan, yurakda quyuq qon, murda qotishi tez va kuchli, dog‘lar kech va oz. Bu topilmalar issiq urishiga mos keladi.</a:t>
            </a:r>
          </a:p>
          <a:p>
            <a:pPr>
              <a:spcAft>
                <a:spcPts val="1200"/>
              </a:spcAft>
            </a:pPr>
            <a:r>
              <a:rPr sz="2200">
                <a:solidFill>
                  <a:srgbClr val="1F2937"/>
                </a:solidFill>
                <a:latin typeface="Calibri"/>
              </a:rPr>
              <a:t>▸  Savol: faqat shu topilmalar bilan issiq urishni qat’iy isbotlash mumkinmi? Nega voqea tafsilotlarini (anamnez) o‘rganish zarur?</a:t>
            </a:r>
          </a:p>
          <a:p>
            <a:pPr>
              <a:spcAft>
                <a:spcPts val="1200"/>
              </a:spcAft>
            </a:pPr>
            <a:r>
              <a:rPr sz="2200">
                <a:solidFill>
                  <a:srgbClr val="1F2937"/>
                </a:solidFill>
                <a:latin typeface="Calibri"/>
              </a:rPr>
              <a:t>▸  Javob yo‘nalishi: morfologiya spetsifik emas, shuning uchun voqea tafsilotlari va sharoit baholanadi.</a:t>
            </a:r>
          </a:p>
          <a:p>
            <a:pPr>
              <a:spcAft>
                <a:spcPts val="1200"/>
              </a:spcAft>
            </a:pPr>
            <a:r>
              <a:rPr sz="2200">
                <a:solidFill>
                  <a:srgbClr val="1F2937"/>
                </a:solidFill>
                <a:latin typeface="Calibri"/>
              </a:rPr>
              <a:t>▸  Ularga e’tibor berilmasa, xato klinik diagnoz qo‘yilishi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183, 184, 185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issiq urish va quyosh urishi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quyosh urishida tana harorati salmoqli ko‘tariladimi? Javob: yo‘q, salmoqli harorat ko‘tarilishi bu holat uchun xos emas.</a:t>
            </a:r>
          </a:p>
          <a:p>
            <a:pPr>
              <a:spcAft>
                <a:spcPts val="1200"/>
              </a:spcAft>
            </a:pPr>
            <a:r>
              <a:rPr sz="2200">
                <a:solidFill>
                  <a:srgbClr val="1F2937"/>
                </a:solidFill>
                <a:latin typeface="Calibri"/>
              </a:rPr>
              <a:t>▸  Savol: issiq urishning uzaytirilgan shaklida qaysi uch davr bor? Javob: MNT (markaziy nerv tizimi) susayish, qo‘zg‘alish va holsizlik davrlari.</a:t>
            </a:r>
          </a:p>
          <a:p>
            <a:pPr>
              <a:spcAft>
                <a:spcPts val="1200"/>
              </a:spcAft>
            </a:pPr>
            <a:r>
              <a:rPr sz="2200">
                <a:solidFill>
                  <a:srgbClr val="1F2937"/>
                </a:solidFill>
                <a:latin typeface="Calibri"/>
              </a:rPr>
              <a:t>▸  Savol: tana harorati 42-43°S dan oshganda o‘lim nimadan sodir bo‘ladi? Javob: nafas olishning birlamchi to‘xtashidan.</a:t>
            </a:r>
          </a:p>
          <a:p>
            <a:pPr>
              <a:spcAft>
                <a:spcPts val="1200"/>
              </a:spcAft>
            </a:pPr>
            <a:r>
              <a:rPr sz="2200">
                <a:solidFill>
                  <a:srgbClr val="1F2937"/>
                </a:solidFill>
                <a:latin typeface="Calibri"/>
              </a:rPr>
              <a:t>▸  Diqqat: xato qilish xavfi. Spetsifik klinik belgilar yo‘qligi va anamnezga e’tibor berilmasligi sababli ba’zan xato klinik diagnoz qo‘yiladi.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184, 185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Termik kuyish: sabablari va maydoni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Mahalliy ta’sirda teri va uning ostidagi to‘qimalar harorati 45-50°S dan oshsa, termik kuyish yuzaga keladi.</a:t>
            </a:r>
          </a:p>
          <a:p>
            <a:pPr>
              <a:spcAft>
                <a:spcPts val="1200"/>
              </a:spcAft>
            </a:pPr>
            <a:r>
              <a:rPr sz="2200">
                <a:solidFill>
                  <a:srgbClr val="1F2937"/>
                </a:solidFill>
                <a:latin typeface="Calibri"/>
              </a:rPr>
              <a:t>▸  Kuyish xususiyati manba turiga, harorati va ta’sir davomiyligiga, shuningdek shikastlangan sohaga bog‘liq.</a:t>
            </a:r>
          </a:p>
          <a:p>
            <a:pPr>
              <a:spcAft>
                <a:spcPts val="1200"/>
              </a:spcAft>
            </a:pPr>
            <a:r>
              <a:rPr sz="2200">
                <a:solidFill>
                  <a:srgbClr val="1F2937"/>
                </a:solidFill>
                <a:latin typeface="Calibri"/>
              </a:rPr>
              <a:t>▸  Manbalar: alanga, smola, napalm, bitum, 60°S dan issiq suv, qaynoq bug‘, gazlar va qizdirilgan jism. Teri yupqa joyda kuyish chuqurroq bo‘ladi.</a:t>
            </a:r>
          </a:p>
          <a:p>
            <a:pPr>
              <a:spcAft>
                <a:spcPts val="1200"/>
              </a:spcAft>
            </a:pPr>
            <a:r>
              <a:rPr sz="2200">
                <a:solidFill>
                  <a:srgbClr val="1F2937"/>
                </a:solidFill>
                <a:latin typeface="Calibri"/>
              </a:rPr>
              <a:t>▸  Sud-tibbiy baholashda kuyish darajasidan tashqari, jarohat egallagan maydon ham muhim ahamiyatga ega.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185, 186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Termik kuyish darajalari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 va II daraja yuzaki, III va IV daraja chuqur kuyish hisoblanadi.</a:t>
            </a:r>
          </a:p>
          <a:p>
            <a:pPr>
              <a:spcAft>
                <a:spcPts val="800"/>
              </a:spcAft>
            </a:pPr>
            <a:r>
              <a:rPr sz="1800">
                <a:solidFill>
                  <a:srgbClr val="1F2937"/>
                </a:solidFill>
                <a:latin typeface="Calibri"/>
              </a:rPr>
              <a:t>▸  Aksariyat hollarda bir jarohatda turli darajalar birga uchraydi (masalan, II-III).</a:t>
            </a:r>
          </a:p>
          <a:p>
            <a:pPr>
              <a:spcAft>
                <a:spcPts val="800"/>
              </a:spcAft>
            </a:pPr>
            <a:r>
              <a:rPr sz="1800">
                <a:solidFill>
                  <a:srgbClr val="1F2937"/>
                </a:solidFill>
                <a:latin typeface="Calibri"/>
              </a:rPr>
              <a:t>▸  Diqqat: IV daraja faqat alanga ta’sirida bo‘ladi; I-III daraja esa har qanday manbadan paydo bo‘ladi.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Kuyish darajalari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 daraja</a:t>
            </a:r>
          </a:p>
          <a:p>
            <a:pPr algn="l">
              <a:spcAft>
                <a:spcPts val="0"/>
              </a:spcAft>
            </a:pPr>
            <a:r>
              <a:rPr sz="1200" b="0">
                <a:solidFill>
                  <a:srgbClr val="1F2937"/>
                </a:solidFill>
                <a:latin typeface="Calibri"/>
              </a:rPr>
              <a:t>Qizarish, shish  ·  3-4 kunda izsiz o‘tadi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II daraja</a:t>
            </a:r>
          </a:p>
          <a:p>
            <a:pPr algn="l">
              <a:spcAft>
                <a:spcPts val="0"/>
              </a:spcAft>
            </a:pPr>
            <a:r>
              <a:rPr sz="1200" b="0">
                <a:solidFill>
                  <a:srgbClr val="1F2937"/>
                </a:solidFill>
                <a:latin typeface="Calibri"/>
              </a:rPr>
              <a:t>Seroz pufaklar  ·  10-20 kunda chandiqsiz</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III daraja</a:t>
            </a:r>
          </a:p>
          <a:p>
            <a:pPr algn="l">
              <a:spcAft>
                <a:spcPts val="0"/>
              </a:spcAft>
            </a:pPr>
            <a:r>
              <a:rPr sz="1200" b="0">
                <a:solidFill>
                  <a:srgbClr val="1F2937"/>
                </a:solidFill>
                <a:latin typeface="Calibri"/>
              </a:rPr>
              <a:t>Nekroz: III-A yuzaki, III-V to‘liq  ·  2-3 haftada granulyasiya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IV daraja</a:t>
            </a:r>
          </a:p>
          <a:p>
            <a:pPr algn="l">
              <a:spcAft>
                <a:spcPts val="0"/>
              </a:spcAft>
            </a:pPr>
            <a:r>
              <a:rPr sz="1200" b="0">
                <a:solidFill>
                  <a:srgbClr val="1F2937"/>
                </a:solidFill>
                <a:latin typeface="Calibri"/>
              </a:rPr>
              <a:t>Mushak, boylam, suyak nekrozi  ·  Faqat alanga ta’sirida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Termik kuyish darajalari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185, 185-186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Issiq manbaini aniqlash: suyuqlik, alanga, qizigan jism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Kuyishning xususiyatlariga qarab yuqori harorat manbaining turini aniqlash mumkin.</a:t>
            </a:r>
          </a:p>
          <a:p>
            <a:pPr>
              <a:spcAft>
                <a:spcPts val="800"/>
              </a:spcAft>
            </a:pPr>
            <a:r>
              <a:rPr sz="1800">
                <a:solidFill>
                  <a:srgbClr val="1F2937"/>
                </a:solidFill>
                <a:latin typeface="Calibri"/>
              </a:rPr>
              <a:t>▸  Issiq suyuqlik kiyim va poyafzal ostiga oqib kirib, yopiq sohalarni ham kuydirishi mumkin.</a:t>
            </a:r>
          </a:p>
          <a:p>
            <a:pPr>
              <a:spcAft>
                <a:spcPts val="800"/>
              </a:spcAft>
            </a:pPr>
            <a:r>
              <a:rPr sz="1800">
                <a:solidFill>
                  <a:srgbClr val="1F2937"/>
                </a:solidFill>
                <a:latin typeface="Calibri"/>
              </a:rPr>
              <a:t>▸  Yaralar joyi hodisa paytidagi holatni ko‘rsatadi: oqmalar pastga, “alanga tillari” yuqoriga yo‘naladi.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Issiq suyuqlik</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Soch, kiyim zarar ko‘rmaydi</a:t>
            </a:r>
          </a:p>
          <a:p>
            <a:pPr algn="l">
              <a:spcAft>
                <a:spcPts val="700"/>
              </a:spcAft>
            </a:pPr>
            <a:r>
              <a:rPr sz="1500" b="1">
                <a:solidFill>
                  <a:srgbClr val="C9A227"/>
                </a:solidFill>
                <a:latin typeface="Calibri"/>
              </a:rPr>
              <a:t>●  </a:t>
            </a:r>
            <a:r>
              <a:rPr sz="1500" b="0">
                <a:solidFill>
                  <a:srgbClr val="1F2937"/>
                </a:solidFill>
                <a:latin typeface="Calibri"/>
              </a:rPr>
              <a:t>Yuzaki, oqma pastga yo‘nalgan</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Alanga</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Soch, kiyim shikastlanadi</a:t>
            </a:r>
          </a:p>
          <a:p>
            <a:pPr algn="l">
              <a:spcAft>
                <a:spcPts val="700"/>
              </a:spcAft>
            </a:pPr>
            <a:r>
              <a:rPr sz="1500" b="1">
                <a:solidFill>
                  <a:srgbClr val="C9A227"/>
                </a:solidFill>
                <a:latin typeface="Calibri"/>
              </a:rPr>
              <a:t>●  </a:t>
            </a:r>
            <a:r>
              <a:rPr sz="1500" b="0">
                <a:solidFill>
                  <a:srgbClr val="1F2937"/>
                </a:solidFill>
                <a:latin typeface="Calibri"/>
              </a:rPr>
              <a:t>Tilsimon, chuqur; qurum izi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Qizigan jism</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Chuqur, yuzasi cheklangan</a:t>
            </a:r>
          </a:p>
          <a:p>
            <a:pPr algn="l">
              <a:spcAft>
                <a:spcPts val="700"/>
              </a:spcAft>
            </a:pPr>
            <a:r>
              <a:rPr sz="1500" b="1">
                <a:solidFill>
                  <a:srgbClr val="C9A227"/>
                </a:solidFill>
                <a:latin typeface="Calibri"/>
              </a:rPr>
              <a:t>●  </a:t>
            </a:r>
            <a:r>
              <a:rPr sz="1500" b="0">
                <a:solidFill>
                  <a:srgbClr val="1F2937"/>
                </a:solidFill>
                <a:latin typeface="Calibri"/>
              </a:rPr>
              <a:t>Shakli kontakt yuzasiga mos</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Issiq manbaini farqlash</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yuzasini baholash qoidalari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To‘qqizliklar qoidasi (A.Wallace, 1951) kuyish maydonini taxminan aniqlash imkonini beradi.</a:t>
            </a:r>
          </a:p>
          <a:p>
            <a:pPr>
              <a:spcAft>
                <a:spcPts val="800"/>
              </a:spcAft>
            </a:pPr>
            <a:r>
              <a:rPr sz="1800">
                <a:solidFill>
                  <a:srgbClr val="1F2937"/>
                </a:solidFill>
                <a:latin typeface="Calibri"/>
              </a:rPr>
              <a:t>▸  Kaft qoidasi: qo‘l kafti yuzasi tana umumiy yuzasining taxminan 1%ini tashkil etadi.</a:t>
            </a:r>
          </a:p>
          <a:p>
            <a:pPr>
              <a:spcAft>
                <a:spcPts val="800"/>
              </a:spcAft>
            </a:pPr>
            <a:r>
              <a:rPr sz="1800">
                <a:solidFill>
                  <a:srgbClr val="1F2937"/>
                </a:solidFill>
                <a:latin typeface="Calibri"/>
              </a:rPr>
              <a:t>▸  Hayot uchun xavfli: tananing 10%dan ortig‘i III-IV, 15%dan ortig‘i III, 20%dan ortig‘i II darajali kuyish.</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Bosh-bo‘yin</a:t>
            </a:r>
          </a:p>
          <a:p>
            <a:pPr algn="l">
              <a:spcAft>
                <a:spcPts val="100"/>
              </a:spcAft>
            </a:pPr>
            <a:r>
              <a:rPr sz="3000" b="1">
                <a:solidFill>
                  <a:srgbClr val="0B1F3A"/>
                </a:solidFill>
                <a:latin typeface="Calibri"/>
              </a:rPr>
              <a:t>9</a:t>
            </a:r>
            <a:r>
              <a:rPr sz="1500" b="0">
                <a:solidFill>
                  <a:srgbClr val="6B7280"/>
                </a:solidFill>
                <a:latin typeface="Calibri"/>
              </a:rPr>
              <a:t>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Qo‘l (har biri)</a:t>
            </a:r>
          </a:p>
          <a:p>
            <a:pPr algn="l">
              <a:spcAft>
                <a:spcPts val="100"/>
              </a:spcAft>
            </a:pPr>
            <a:r>
              <a:rPr sz="3000" b="1">
                <a:solidFill>
                  <a:srgbClr val="0B1F3A"/>
                </a:solidFill>
                <a:latin typeface="Calibri"/>
              </a:rPr>
              <a:t>9</a:t>
            </a:r>
            <a:r>
              <a:rPr sz="1500" b="0">
                <a:solidFill>
                  <a:srgbClr val="6B7280"/>
                </a:solidFill>
                <a:latin typeface="Calibri"/>
              </a:rPr>
              <a:t>  %</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Tananing old yuzasi</a:t>
            </a:r>
          </a:p>
          <a:p>
            <a:pPr algn="l">
              <a:spcAft>
                <a:spcPts val="100"/>
              </a:spcAft>
            </a:pPr>
            <a:r>
              <a:rPr sz="3000" b="1">
                <a:solidFill>
                  <a:srgbClr val="0B1F3A"/>
                </a:solidFill>
                <a:latin typeface="Calibri"/>
              </a:rPr>
              <a:t>18</a:t>
            </a:r>
            <a:r>
              <a:rPr sz="1500" b="0">
                <a:solidFill>
                  <a:srgbClr val="6B7280"/>
                </a:solidFill>
                <a:latin typeface="Calibri"/>
              </a:rPr>
              <a:t>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Tananing orqa yuzasi</a:t>
            </a:r>
          </a:p>
          <a:p>
            <a:pPr algn="l">
              <a:spcAft>
                <a:spcPts val="100"/>
              </a:spcAft>
            </a:pPr>
            <a:r>
              <a:rPr sz="3000" b="1">
                <a:solidFill>
                  <a:srgbClr val="0B1F3A"/>
                </a:solidFill>
                <a:latin typeface="Calibri"/>
              </a:rPr>
              <a:t>18</a:t>
            </a:r>
            <a:r>
              <a:rPr sz="1500" b="0">
                <a:solidFill>
                  <a:srgbClr val="6B7280"/>
                </a:solidFill>
                <a:latin typeface="Calibri"/>
              </a:rPr>
              <a:t>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Oraliq soha</a:t>
            </a:r>
          </a:p>
          <a:p>
            <a:pPr algn="l">
              <a:spcAft>
                <a:spcPts val="100"/>
              </a:spcAft>
            </a:pPr>
            <a:r>
              <a:rPr sz="3000" b="1">
                <a:solidFill>
                  <a:srgbClr val="0B1F3A"/>
                </a:solidFill>
                <a:latin typeface="Calibri"/>
              </a:rPr>
              <a:t>1</a:t>
            </a:r>
            <a:r>
              <a:rPr sz="1500" b="0">
                <a:solidFill>
                  <a:srgbClr val="6B7280"/>
                </a:solidFill>
                <a:latin typeface="Calibri"/>
              </a:rPr>
              <a:t>  %</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Qo‘l kafti</a:t>
            </a:r>
          </a:p>
          <a:p>
            <a:pPr algn="l">
              <a:spcAft>
                <a:spcPts val="100"/>
              </a:spcAft>
            </a:pPr>
            <a:r>
              <a:rPr sz="3000" b="1">
                <a:solidFill>
                  <a:srgbClr val="0B1F3A"/>
                </a:solidFill>
                <a:latin typeface="Calibri"/>
              </a:rPr>
              <a:t>1</a:t>
            </a:r>
            <a:r>
              <a:rPr sz="1500" b="0">
                <a:solidFill>
                  <a:srgbClr val="6B7280"/>
                </a:solidFill>
                <a:latin typeface="Calibri"/>
              </a:rPr>
              <a:t>  %</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To‘qqizliklar qoidasi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186-187, 187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diagnozini yozish va hayot uchun xavf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Diagnozda kuyish kasr shaklida yoziladi: suratda kuyish yuzasi, mahrajda kuyish darajalari. Daraja va yuza imkon qadar to‘liq ko‘rsatiladi.</a:t>
            </a:r>
          </a:p>
          <a:p>
            <a:pPr>
              <a:spcAft>
                <a:spcPts val="1200"/>
              </a:spcAft>
            </a:pPr>
            <a:r>
              <a:rPr sz="2200">
                <a:solidFill>
                  <a:srgbClr val="1F2937"/>
                </a:solidFill>
                <a:latin typeface="Calibri"/>
              </a:rPr>
              <a:t>▸  Misollar: 10 % / II yoki 30% (10%) / II-III. Qavs ichida chuqurroq kuyish yuzasi ko‘rsatiladi.</a:t>
            </a:r>
          </a:p>
          <a:p>
            <a:pPr>
              <a:spcAft>
                <a:spcPts val="1200"/>
              </a:spcAft>
            </a:pPr>
            <a:r>
              <a:rPr sz="2200">
                <a:solidFill>
                  <a:srgbClr val="1F2937"/>
                </a:solidFill>
                <a:latin typeface="Calibri"/>
              </a:rPr>
              <a:t>▸  Nafas yo‘llarining shishi va ovoz yorig‘ining torayishi bilan kechgan nafas yo‘llari kuyishi hayot uchun xavfli hisoblanadi.</a:t>
            </a:r>
          </a:p>
          <a:p>
            <a:pPr>
              <a:spcAft>
                <a:spcPts val="1200"/>
              </a:spcAft>
            </a:pPr>
            <a:r>
              <a:rPr sz="2200">
                <a:solidFill>
                  <a:srgbClr val="1F2937"/>
                </a:solidFill>
                <a:latin typeface="Calibri"/>
              </a:rPr>
              <a:t>▸  Kuyish kasalligi rivojlansa, kichikroq yuzali termik kuyishlar ham hayotga tahdid soladi.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188, 187-188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Kuyish kasalligi va uning davrlari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Nafas yo‘li kuyishi va is gazi qo‘shilsa, o‘lim ehtimoli ikki va undan ko‘p marta ortadi.</a:t>
            </a:r>
          </a:p>
          <a:p>
            <a:pPr>
              <a:spcAft>
                <a:spcPts val="800"/>
              </a:spcAft>
            </a:pPr>
            <a:r>
              <a:rPr sz="1800">
                <a:solidFill>
                  <a:srgbClr val="1F2937"/>
                </a:solidFill>
                <a:latin typeface="Calibri"/>
              </a:rPr>
              <a:t>▸  Septikotoksemiyada yiringlash asoratlari: pnevmoniya, abssess, flegmona, pielonefrit, sepsis.</a:t>
            </a:r>
          </a:p>
          <a:p>
            <a:pPr>
              <a:spcAft>
                <a:spcPts val="800"/>
              </a:spcAft>
            </a:pPr>
            <a:r>
              <a:rPr sz="1800">
                <a:solidFill>
                  <a:srgbClr val="1F2937"/>
                </a:solidFill>
                <a:latin typeface="Calibri"/>
              </a:rPr>
              <a:t>▸  Bolalarda og‘irroq kechadi; keksalarda hamroh kasalliklar kasallikni og‘irlashtiradi.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Kuyish shoki</a:t>
            </a:r>
          </a:p>
          <a:p>
            <a:pPr algn="l">
              <a:spcAft>
                <a:spcPts val="200"/>
              </a:spcAft>
            </a:pPr>
            <a:r>
              <a:rPr sz="1400" b="0">
                <a:solidFill>
                  <a:srgbClr val="1F2937"/>
                </a:solidFill>
                <a:latin typeface="Calibri"/>
              </a:rPr>
              <a:t>1 sutkagacha</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Toksemiya</a:t>
            </a:r>
          </a:p>
          <a:p>
            <a:pPr algn="l">
              <a:spcAft>
                <a:spcPts val="200"/>
              </a:spcAft>
            </a:pPr>
            <a:r>
              <a:rPr sz="1400" b="0">
                <a:solidFill>
                  <a:srgbClr val="1F2937"/>
                </a:solidFill>
                <a:latin typeface="Calibri"/>
              </a:rPr>
              <a:t>1-2 hafta</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Septikotoksemiya</a:t>
            </a:r>
          </a:p>
          <a:p>
            <a:pPr algn="l">
              <a:spcAft>
                <a:spcPts val="200"/>
              </a:spcAft>
            </a:pPr>
            <a:r>
              <a:rPr sz="1400" b="0">
                <a:solidFill>
                  <a:srgbClr val="1F2937"/>
                </a:solidFill>
                <a:latin typeface="Calibri"/>
              </a:rPr>
              <a:t>2-3 hafta</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Rekonvalessensiya</a:t>
            </a:r>
          </a:p>
          <a:p>
            <a:pPr algn="l">
              <a:spcAft>
                <a:spcPts val="200"/>
              </a:spcAft>
            </a:pPr>
            <a:r>
              <a:rPr sz="1400" b="0">
                <a:solidFill>
                  <a:srgbClr val="1F2937"/>
                </a:solidFill>
                <a:latin typeface="Calibri"/>
              </a:rPr>
              <a:t>Tuzalish davri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Kuyish kasalligi davrlari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Alanga ta’siri hayotiyligini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Nafas yo‘llari, qizilo‘ngach va oshqozonda qurum bo‘lsa, alanga tirik paytda ta’sir qilgan.</a:t>
            </a:r>
          </a:p>
          <a:p>
            <a:pPr>
              <a:spcAft>
                <a:spcPts val="800"/>
              </a:spcAft>
            </a:pPr>
            <a:r>
              <a:rPr sz="1800">
                <a:solidFill>
                  <a:srgbClr val="1F2937"/>
                </a:solidFill>
                <a:latin typeface="Calibri"/>
              </a:rPr>
              <a:t>▸  Hayotiy ta’sirda karboksigemoglobin 60% gacha, o‘limdan keyingi ta’sirda esa 20% dan oshmaydi.</a:t>
            </a:r>
          </a:p>
          <a:p>
            <a:pPr>
              <a:spcAft>
                <a:spcPts val="800"/>
              </a:spcAft>
            </a:pPr>
            <a:r>
              <a:rPr sz="1800">
                <a:solidFill>
                  <a:srgbClr val="1F2937"/>
                </a:solidFill>
                <a:latin typeface="Calibri"/>
              </a:rPr>
              <a:t>▸  O‘limdan keyingi alanga ta’sirida ham yuza tomirlar qonida karboksigemoglobin topilishi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Hayotiy ta’sir belgilari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Karboksigemoglobin</a:t>
            </a:r>
          </a:p>
          <a:p>
            <a:pPr algn="l">
              <a:spcAft>
                <a:spcPts val="0"/>
              </a:spcAft>
            </a:pPr>
            <a:r>
              <a:rPr sz="1200" b="0">
                <a:solidFill>
                  <a:srgbClr val="1F2937"/>
                </a:solidFill>
                <a:latin typeface="Calibri"/>
              </a:rPr>
              <a:t>Yurak kameralari, chuqur tomirlar  ·  Hayotiyda 60% gacha</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Karboksimioglobin</a:t>
            </a:r>
          </a:p>
          <a:p>
            <a:pPr algn="l">
              <a:spcAft>
                <a:spcPts val="0"/>
              </a:spcAft>
            </a:pPr>
            <a:r>
              <a:rPr sz="1200" b="0">
                <a:solidFill>
                  <a:srgbClr val="1F2937"/>
                </a:solidFill>
                <a:latin typeface="Calibri"/>
              </a:rPr>
              <a:t>Chuqur joylashgan mushaklar</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Qurum</a:t>
            </a:r>
          </a:p>
          <a:p>
            <a:pPr algn="l">
              <a:spcAft>
                <a:spcPts val="0"/>
              </a:spcAft>
            </a:pPr>
            <a:r>
              <a:rPr sz="1200" b="0">
                <a:solidFill>
                  <a:srgbClr val="1F2937"/>
                </a:solidFill>
                <a:latin typeface="Calibri"/>
              </a:rPr>
              <a:t>Nafas yo‘li, qizilo‘ngach, oshqozon  ·  Bosh suyagi bo‘shliqlari, tomirlar</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Alanga hayotiyligi belgilari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Hayotiylikning boshqa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Hayotiy ta’sirda ko‘z olmalari odatda shikastlanmaydi. Qovoq terisi yoyilganda kuygan va kuymagan sohalar ketma-ket keladi (“g‘oz panjasi”).</a:t>
            </a:r>
          </a:p>
          <a:p>
            <a:pPr>
              <a:spcAft>
                <a:spcPts val="1200"/>
              </a:spcAft>
            </a:pPr>
            <a:r>
              <a:rPr sz="2200">
                <a:solidFill>
                  <a:srgbClr val="1F2937"/>
                </a:solidFill>
                <a:latin typeface="Calibri"/>
              </a:rPr>
              <a:t>▸  Nafas yo‘llarining kuyishi, yurak va tomirlarda ko‘p ivigan qon, arterial tromblar va o‘pka tomirlarining yog‘ emboliyasi tiriklikni ko‘rsatadi.</a:t>
            </a:r>
          </a:p>
          <a:p>
            <a:pPr>
              <a:spcAft>
                <a:spcPts val="1200"/>
              </a:spcAft>
            </a:pPr>
            <a:r>
              <a:rPr sz="2200">
                <a:solidFill>
                  <a:srgbClr val="1F2937"/>
                </a:solidFill>
                <a:latin typeface="Calibri"/>
              </a:rPr>
              <a:t>▸  Hayotiy kuyish pufaklarida oqsil miqdori o‘limdan keyin hosil bo‘lgan pufaklarga nisbatan ikki barobar ko‘p bo‘ladi.</a:t>
            </a:r>
          </a:p>
          <a:p>
            <a:pPr>
              <a:spcAft>
                <a:spcPts val="1200"/>
              </a:spcAft>
            </a:pPr>
            <a:r>
              <a:rPr sz="2200">
                <a:solidFill>
                  <a:srgbClr val="1F2937"/>
                </a:solidFill>
                <a:latin typeface="Calibri"/>
              </a:rPr>
              <a:t>▸  Travmadan hosil bo‘lgan epidural gematoma urchuqsimon va qattiq pardaga birikkan. O‘limdan keyingi alanga ta’siridagisi o‘roqsimon va birikmagan.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189, 190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Yongan murda: bokser pozasi va kuyish muddati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Alanga ta’sirida namlik bug‘lanib, oqsil ivishidan mushaklar zichlashadi va kaltalashadi. Qo‘l-oyoqlar bukilib, “bokser pozasi” hosil bo‘ladi.</a:t>
            </a:r>
          </a:p>
          <a:p>
            <a:pPr>
              <a:spcAft>
                <a:spcPts val="1200"/>
              </a:spcAft>
            </a:pPr>
            <a:r>
              <a:rPr sz="2200">
                <a:solidFill>
                  <a:srgbClr val="1F2937"/>
                </a:solidFill>
                <a:latin typeface="Calibri"/>
              </a:rPr>
              <a:t>▸  Teri qoplamlari ham zichlashadi. Tananing turli sohalariga ta’sir har xil maromda bo‘lsa, terida darz va yoriqlar hosil bo‘lishi mumkin.</a:t>
            </a:r>
          </a:p>
          <a:p>
            <a:pPr>
              <a:spcAft>
                <a:spcPts val="1200"/>
              </a:spcAft>
            </a:pPr>
            <a:r>
              <a:rPr sz="2200">
                <a:solidFill>
                  <a:srgbClr val="1F2937"/>
                </a:solidFill>
                <a:latin typeface="Calibri"/>
              </a:rPr>
              <a:t>▸  Go‘daklar murdasi 2-3 soatda yonib kulga aylanadi. Kattalarniki taxminan 20 soatga yaqin vaqt oladi, krematoriyda gazda esa bir soatdan kam.</a:t>
            </a:r>
          </a:p>
          <a:p>
            <a:pPr>
              <a:spcAft>
                <a:spcPts val="1200"/>
              </a:spcAft>
            </a:pPr>
            <a:r>
              <a:rPr sz="2200">
                <a:solidFill>
                  <a:srgbClr val="1F2937"/>
                </a:solidFill>
                <a:latin typeface="Calibri"/>
              </a:rPr>
              <a:t>▸  Tur mansublik, jins, yosh va boshqa masalalarni hal etish uchun yongan murdadan qolgan kul sud-tibbiy tekshirilishi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190, 191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yong‘indan keyin topilgan murda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yong‘indan keyin ko‘mirlangan murda topilgan, qo‘l-oyoqlari “bokser pozasi”da bukilgan. Savol: o‘lim alanga ta’siridan oldin sodir bo‘lganmi?</a:t>
            </a:r>
          </a:p>
          <a:p>
            <a:pPr>
              <a:spcAft>
                <a:spcPts val="1200"/>
              </a:spcAft>
            </a:pPr>
            <a:r>
              <a:rPr sz="2200">
                <a:solidFill>
                  <a:srgbClr val="1F2937"/>
                </a:solidFill>
                <a:latin typeface="Calibri"/>
              </a:rPr>
              <a:t>▸  Nafas yo‘llari, qizilo‘ngach va oshqozonda qurum bo‘lsa, alanga hayot paytida ta’sir qilgan. Qurum qon tomirlarda va jigar hujayralarida ham topilishi mumkin.</a:t>
            </a:r>
          </a:p>
          <a:p>
            <a:pPr>
              <a:spcAft>
                <a:spcPts val="1200"/>
              </a:spcAft>
            </a:pPr>
            <a:r>
              <a:rPr sz="2200">
                <a:solidFill>
                  <a:srgbClr val="1F2937"/>
                </a:solidFill>
                <a:latin typeface="Calibri"/>
              </a:rPr>
              <a:t>▸  O‘limdan keyingi alangada karboksigemoglobin 20% dan oshmaydi, hayotiy ta’sirda 60% gacha bo‘ladi. Qon yurak kameralari va chuqur tomirlardan olinadi.</a:t>
            </a:r>
          </a:p>
          <a:p>
            <a:pPr>
              <a:spcAft>
                <a:spcPts val="1200"/>
              </a:spcAft>
            </a:pPr>
            <a:r>
              <a:rPr sz="2200">
                <a:solidFill>
                  <a:srgbClr val="1F2937"/>
                </a:solidFill>
                <a:latin typeface="Calibri"/>
              </a:rPr>
              <a:t>▸  Diqqat: xato qilish xavfi! Travmatik epidural gematoma urchuqsimon va qattiq pardaga birikkan. O‘limdan keyingisi o‘roqsimon va birikmagan.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189-190, 189, 190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Past haroratning umumiy ta’siri: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Yuqori namlik, kuchli shamol, mavsumga mos bo‘lmagan kiyim, harakatsizlik va charchoq sovuq qotishga moyillik yaratadi.</a:t>
            </a:r>
          </a:p>
          <a:p>
            <a:pPr>
              <a:spcAft>
                <a:spcPts val="800"/>
              </a:spcAft>
            </a:pPr>
            <a:r>
              <a:rPr sz="1600">
                <a:solidFill>
                  <a:srgbClr val="1F2937"/>
                </a:solidFill>
                <a:latin typeface="Calibri"/>
              </a:rPr>
              <a:t>▸  Alkogol teri tomirlarini kengaytirib, issiqlik yo‘qotilishini kuchaytiradi. Mast odam vaziyatni to‘g‘ri baholamaydi va himoya choralarini ko‘rmaydi.</a:t>
            </a:r>
          </a:p>
          <a:p>
            <a:pPr>
              <a:spcAft>
                <a:spcPts val="800"/>
              </a:spcAft>
            </a:pPr>
            <a:r>
              <a:rPr sz="1600">
                <a:solidFill>
                  <a:srgbClr val="1F2937"/>
                </a:solidFill>
                <a:latin typeface="Calibri"/>
              </a:rPr>
              <a:t>▸  Yangi tug‘ilgan chaqaloqlar o‘ta sezgir: termoregulyasiya to‘liq shakllanmagan, tana yuzasi massasiga nisbatan katta.</a:t>
            </a:r>
          </a:p>
          <a:p>
            <a:pPr>
              <a:spcAft>
                <a:spcPts val="800"/>
              </a:spcAft>
            </a:pPr>
            <a:r>
              <a:rPr sz="1600">
                <a:solidFill>
                  <a:srgbClr val="1F2937"/>
                </a:solidFill>
                <a:latin typeface="Calibri"/>
              </a:rPr>
              <a:t>▸  Sovuq suvda o‘lim 1-1,5 soatda sodir bo‘lishi mumkin. Havo harorati +10°S gacha bo‘lganda ham uzoq qolish sovuq qotishga olib kelishi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Past harorat omillari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Muhit</a:t>
            </a:r>
          </a:p>
          <a:p>
            <a:pPr algn="l">
              <a:spcAft>
                <a:spcPts val="0"/>
              </a:spcAft>
            </a:pPr>
            <a:r>
              <a:rPr sz="1200" b="0">
                <a:solidFill>
                  <a:srgbClr val="1F2937"/>
                </a:solidFill>
                <a:latin typeface="Calibri"/>
              </a:rPr>
              <a:t>Yuqori namlik, kuchli shamol  ·  Sovuq suv: o‘lim 1-1,5 soatda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Kiyim va holat</a:t>
            </a:r>
          </a:p>
          <a:p>
            <a:pPr algn="l">
              <a:spcAft>
                <a:spcPts val="0"/>
              </a:spcAft>
            </a:pPr>
            <a:r>
              <a:rPr sz="1200" b="0">
                <a:solidFill>
                  <a:srgbClr val="1F2937"/>
                </a:solidFill>
                <a:latin typeface="Calibri"/>
              </a:rPr>
              <a:t>Mavsumga mos bo‘lmagan kiyim  ·  Harakatsizlik, charchoq</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Alkogol</a:t>
            </a:r>
          </a:p>
          <a:p>
            <a:pPr algn="l">
              <a:spcAft>
                <a:spcPts val="0"/>
              </a:spcAft>
            </a:pPr>
            <a:r>
              <a:rPr sz="1200" b="0">
                <a:solidFill>
                  <a:srgbClr val="1F2937"/>
                </a:solidFill>
                <a:latin typeface="Calibri"/>
              </a:rPr>
              <a:t>Tomirlar kengayadi  ·  Issiqlik yo‘qotish kuchayadi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Chaqaloqlar</a:t>
            </a:r>
          </a:p>
          <a:p>
            <a:pPr algn="l">
              <a:spcAft>
                <a:spcPts val="0"/>
              </a:spcAft>
            </a:pPr>
            <a:r>
              <a:rPr sz="1200" b="0">
                <a:solidFill>
                  <a:srgbClr val="1F2937"/>
                </a:solidFill>
                <a:latin typeface="Calibri"/>
              </a:rPr>
              <a:t>Termoregulyatsiya shakllanmagan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qotishga moyillik</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 patogenez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Dastlab modda almashinuvi kuchayadi, glikogen kamayadi, teri tomirlari torayadi va issiqlik ajralishi kamayadi.</a:t>
            </a:r>
          </a:p>
          <a:p>
            <a:pPr>
              <a:spcAft>
                <a:spcPts val="800"/>
              </a:spcAft>
            </a:pPr>
            <a:r>
              <a:rPr sz="1800">
                <a:solidFill>
                  <a:srgbClr val="1F2937"/>
                </a:solidFill>
                <a:latin typeface="Calibri"/>
              </a:rPr>
              <a:t>▸  Harorat 1°S pasaysa, to‘qimalarda biokimyoviy jarayonlar taxminan 2 barobar sekinlashadi.</a:t>
            </a:r>
          </a:p>
          <a:p>
            <a:pPr>
              <a:spcAft>
                <a:spcPts val="800"/>
              </a:spcAft>
            </a:pPr>
            <a:r>
              <a:rPr sz="1800">
                <a:solidFill>
                  <a:srgbClr val="1F2937"/>
                </a:solidFill>
                <a:latin typeface="Calibri"/>
              </a:rPr>
              <a:t>▸  O‘lim ko‘pincha nafas to‘xtashidan, ba’zan tomir kollapsi yoki qorinchalar fibrillyasiyasidan.</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Kompensatsiya</a:t>
            </a:r>
          </a:p>
          <a:p>
            <a:pPr algn="l">
              <a:spcAft>
                <a:spcPts val="200"/>
              </a:spcAft>
            </a:pPr>
            <a:r>
              <a:rPr sz="1400" b="0">
                <a:solidFill>
                  <a:srgbClr val="1F2937"/>
                </a:solidFill>
                <a:latin typeface="Calibri"/>
              </a:rPr>
              <a:t>Metabolizm ↑</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Dekompensatsiya</a:t>
            </a:r>
          </a:p>
          <a:p>
            <a:pPr algn="l">
              <a:spcAft>
                <a:spcPts val="200"/>
              </a:spcAft>
            </a:pPr>
            <a:r>
              <a:rPr sz="1400" b="0">
                <a:solidFill>
                  <a:srgbClr val="1F2937"/>
                </a:solidFill>
                <a:latin typeface="Calibri"/>
              </a:rPr>
              <a:t>Harorat ↓</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+30…+28°S</a:t>
            </a:r>
          </a:p>
          <a:p>
            <a:pPr algn="l">
              <a:spcAft>
                <a:spcPts val="200"/>
              </a:spcAft>
            </a:pPr>
            <a:r>
              <a:rPr sz="1400" b="0">
                <a:solidFill>
                  <a:srgbClr val="1F2937"/>
                </a:solidFill>
                <a:latin typeface="Calibri"/>
              </a:rPr>
              <a:t>Po‘stloq buziladi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+25…+22°S</a:t>
            </a:r>
          </a:p>
          <a:p>
            <a:pPr algn="l">
              <a:spcAft>
                <a:spcPts val="200"/>
              </a:spcAft>
            </a:pPr>
            <a:r>
              <a:rPr sz="1400" b="0">
                <a:solidFill>
                  <a:srgbClr val="1F2937"/>
                </a:solidFill>
                <a:latin typeface="Calibri"/>
              </a:rPr>
              <a:t>Yakuniy bosqich</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O‘lim</a:t>
            </a:r>
          </a:p>
          <a:p>
            <a:pPr algn="l">
              <a:spcAft>
                <a:spcPts val="200"/>
              </a:spcAft>
            </a:pPr>
            <a:r>
              <a:rPr sz="1400" b="0">
                <a:solidFill>
                  <a:srgbClr val="1F2937"/>
                </a:solidFill>
                <a:latin typeface="Calibri"/>
              </a:rPr>
              <a:t>Nafas to‘xtashi yoki kollaps</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qotish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191-192, 192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qotishda tashqi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Sovuq qotgan odam pozasida qo‘l ko‘krakka, oyoq qoringa bukilgan; issiqlik ajratuvchi yuza kamayadi.</a:t>
            </a:r>
          </a:p>
          <a:p>
            <a:pPr>
              <a:spcAft>
                <a:spcPts val="800"/>
              </a:spcAft>
            </a:pPr>
            <a:r>
              <a:rPr sz="1800">
                <a:solidFill>
                  <a:srgbClr val="1F2937"/>
                </a:solidFill>
                <a:latin typeface="Calibri"/>
              </a:rPr>
              <a:t>▸  Diqqat: kuchli mastlikda poza bo‘lmasligi mumkin; qor tagidagi muz qatlami esa spetsifik belgi emas.</a:t>
            </a:r>
          </a:p>
          <a:p>
            <a:pPr>
              <a:spcAft>
                <a:spcPts val="800"/>
              </a:spcAft>
            </a:pPr>
            <a:r>
              <a:rPr sz="1800">
                <a:solidFill>
                  <a:srgbClr val="1F2937"/>
                </a:solidFill>
                <a:latin typeface="Calibri"/>
              </a:rPr>
              <a:t>▸  Murda dog‘lari manfiy haroratda pushti-qizg‘ish, +10°S gacha musbatda ko‘kimtir-binafsha bo‘lishi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Tashqi belgilar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Poza</a:t>
            </a:r>
          </a:p>
          <a:p>
            <a:pPr algn="l">
              <a:spcAft>
                <a:spcPts val="0"/>
              </a:spcAft>
            </a:pPr>
            <a:r>
              <a:rPr sz="1200" b="0">
                <a:solidFill>
                  <a:srgbClr val="1F2937"/>
                </a:solidFill>
                <a:latin typeface="Calibri"/>
              </a:rPr>
              <a:t>Qo‘l ko‘krakda, oyoq qorinda bukilgan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Rayskiy belgisi</a:t>
            </a:r>
          </a:p>
          <a:p>
            <a:pPr algn="l">
              <a:spcAft>
                <a:spcPts val="0"/>
              </a:spcAft>
            </a:pPr>
            <a:r>
              <a:rPr sz="1200" b="0">
                <a:solidFill>
                  <a:srgbClr val="1F2937"/>
                </a:solidFill>
                <a:latin typeface="Calibri"/>
              </a:rPr>
              <a:t>Og‘iz-burun atrofida muz  ·  Qosh-kiprikda qirov</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Puparev belgisi</a:t>
            </a:r>
          </a:p>
          <a:p>
            <a:pPr algn="l">
              <a:spcAft>
                <a:spcPts val="0"/>
              </a:spcAft>
            </a:pPr>
            <a:r>
              <a:rPr sz="1200" b="0">
                <a:solidFill>
                  <a:srgbClr val="1F2937"/>
                </a:solidFill>
                <a:latin typeface="Calibri"/>
              </a:rPr>
              <a:t>Moyak qisqargan  ·  Yorg‘oq yuqoriga tortilgan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Murda dog‘lari</a:t>
            </a:r>
          </a:p>
          <a:p>
            <a:pPr algn="l">
              <a:spcAft>
                <a:spcPts val="0"/>
              </a:spcAft>
            </a:pPr>
            <a:r>
              <a:rPr sz="1200" b="0">
                <a:solidFill>
                  <a:srgbClr val="1F2937"/>
                </a:solidFill>
                <a:latin typeface="Calibri"/>
              </a:rPr>
              <a:t>Manfiy haroratda pushti-qizg‘ish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qotishda tashqi belgilar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 192-193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qotishda ichki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Ichki a’zolar to‘laqon, barcha to‘qimalar pushti-qizg‘ish tusda bo‘ladi.</a:t>
            </a:r>
          </a:p>
          <a:p>
            <a:pPr>
              <a:spcAft>
                <a:spcPts val="800"/>
              </a:spcAft>
            </a:pPr>
            <a:r>
              <a:rPr sz="1800">
                <a:solidFill>
                  <a:srgbClr val="1F2937"/>
                </a:solidFill>
                <a:latin typeface="Calibri"/>
              </a:rPr>
              <a:t>▸  O‘lim sekin kelgani uchun yurakning chap kameralari, aorta va yirik arteriyalarda laxtali qip-qizil qon topiladi.</a:t>
            </a:r>
          </a:p>
          <a:p>
            <a:pPr>
              <a:spcAft>
                <a:spcPts val="800"/>
              </a:spcAft>
            </a:pPr>
            <a:r>
              <a:rPr sz="1800">
                <a:solidFill>
                  <a:srgbClr val="1F2937"/>
                </a:solidFill>
                <a:latin typeface="Calibri"/>
              </a:rPr>
              <a:t>▸  Puxnarevich belgisi: oshqozon bo‘sh, o‘lchamlari ancha kichik bo‘ladi.</a:t>
            </a:r>
          </a:p>
          <a:p>
            <a:pPr>
              <a:spcAft>
                <a:spcPts val="800"/>
              </a:spcAft>
            </a:pPr>
            <a:r>
              <a:rPr sz="1800">
                <a:solidFill>
                  <a:srgbClr val="1F2937"/>
                </a:solidFill>
                <a:latin typeface="Calibri"/>
              </a:rPr>
              <a:t>▸  Fabrikantov belgisi: tomir devori o‘tkazuvchanligi oshgani uchun ichki a’zolarda, jumladan buyrak jomlari shilliq qavatida diapedez qon quyilishlar bo‘ladi.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Ichki belgilar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Umumiy</a:t>
            </a:r>
          </a:p>
          <a:p>
            <a:pPr algn="l">
              <a:spcAft>
                <a:spcPts val="0"/>
              </a:spcAft>
            </a:pPr>
            <a:r>
              <a:rPr sz="1200" b="0">
                <a:solidFill>
                  <a:srgbClr val="1F2937"/>
                </a:solidFill>
                <a:latin typeface="Calibri"/>
              </a:rPr>
              <a:t>A’zolar to‘laqon  ·  To‘qimalar pushti-qizg‘ish</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Qon</a:t>
            </a:r>
          </a:p>
          <a:p>
            <a:pPr algn="l">
              <a:spcAft>
                <a:spcPts val="0"/>
              </a:spcAft>
            </a:pPr>
            <a:r>
              <a:rPr sz="1200" b="0">
                <a:solidFill>
                  <a:srgbClr val="1F2937"/>
                </a:solidFill>
                <a:latin typeface="Calibri"/>
              </a:rPr>
              <a:t>Chap yurak, aortada laxtali qon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Puxnarevich</a:t>
            </a:r>
          </a:p>
          <a:p>
            <a:pPr algn="l">
              <a:spcAft>
                <a:spcPts val="0"/>
              </a:spcAft>
            </a:pPr>
            <a:r>
              <a:rPr sz="1200" b="0">
                <a:solidFill>
                  <a:srgbClr val="1F2937"/>
                </a:solidFill>
                <a:latin typeface="Calibri"/>
              </a:rPr>
              <a:t>Oshqozon bo‘sh, kichik</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Fabrikantov</a:t>
            </a:r>
          </a:p>
          <a:p>
            <a:pPr algn="l">
              <a:spcAft>
                <a:spcPts val="0"/>
              </a:spcAft>
            </a:pPr>
            <a:r>
              <a:rPr sz="1200" b="0">
                <a:solidFill>
                  <a:srgbClr val="1F2937"/>
                </a:solidFill>
                <a:latin typeface="Calibri"/>
              </a:rPr>
              <a:t>Diapedez qon quyilishlari  ·  Buyrak jomlari shilliq qavatida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qotishda ichki belgilar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Vishnevskiy dog‘lari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Oshqozon (ba’zan o‘n ikki barmoqli ichak) burmalari tepasida, 0,5 sm gacha; suv oqimi bilan olinadi.</a:t>
            </a:r>
          </a:p>
          <a:p>
            <a:pPr>
              <a:spcAft>
                <a:spcPts val="800"/>
              </a:spcAft>
            </a:pPr>
            <a:r>
              <a:rPr sz="1800">
                <a:solidFill>
                  <a:srgbClr val="1F2937"/>
                </a:solidFill>
                <a:latin typeface="Calibri"/>
              </a:rPr>
              <a:t>▸  Sovuq qotishdan o‘limlarning 80-90%ida bo‘ladi; tez o‘limda va ko‘pincha bolalarda kam yoki yo‘q.</a:t>
            </a:r>
          </a:p>
          <a:p>
            <a:pPr>
              <a:spcAft>
                <a:spcPts val="800"/>
              </a:spcAft>
            </a:pPr>
            <a:r>
              <a:rPr sz="1800">
                <a:solidFill>
                  <a:srgbClr val="1F2937"/>
                </a:solidFill>
                <a:latin typeface="Calibri"/>
              </a:rPr>
              <a:t>▸  Rangi qizildan jigar rangigacha: xlorid kislota gemoglobinni nordon gematinga aylantiradi.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Past harorat</a:t>
            </a:r>
          </a:p>
          <a:p>
            <a:pPr algn="l">
              <a:spcAft>
                <a:spcPts val="200"/>
              </a:spcAft>
            </a:pPr>
            <a:r>
              <a:rPr sz="1400" b="0">
                <a:solidFill>
                  <a:srgbClr val="1F2937"/>
                </a:solidFill>
                <a:latin typeface="Calibri"/>
              </a:rPr>
              <a:t>Ta’sir qiladi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Nerv</a:t>
            </a:r>
          </a:p>
          <a:p>
            <a:pPr algn="l">
              <a:spcAft>
                <a:spcPts val="200"/>
              </a:spcAft>
            </a:pPr>
            <a:r>
              <a:rPr sz="1400" b="0">
                <a:solidFill>
                  <a:srgbClr val="1F2937"/>
                </a:solidFill>
                <a:latin typeface="Calibri"/>
              </a:rPr>
              <a:t>Vegetativ nerv buzilishi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Spazm</a:t>
            </a:r>
          </a:p>
          <a:p>
            <a:pPr algn="l">
              <a:spcAft>
                <a:spcPts val="200"/>
              </a:spcAft>
            </a:pPr>
            <a:r>
              <a:rPr sz="1400" b="0">
                <a:solidFill>
                  <a:srgbClr val="1F2937"/>
                </a:solidFill>
                <a:latin typeface="Calibri"/>
              </a:rPr>
              <a:t>Eritrotsit diapedezi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Infarkt</a:t>
            </a:r>
          </a:p>
          <a:p>
            <a:pPr algn="l">
              <a:spcAft>
                <a:spcPts val="200"/>
              </a:spcAft>
            </a:pPr>
            <a:r>
              <a:rPr sz="1400" b="0">
                <a:solidFill>
                  <a:srgbClr val="1F2937"/>
                </a:solidFill>
                <a:latin typeface="Calibri"/>
              </a:rPr>
              <a:t>Gemorragik infarkt, nekroz</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Dog‘lar</a:t>
            </a:r>
          </a:p>
          <a:p>
            <a:pPr algn="l">
              <a:spcAft>
                <a:spcPts val="200"/>
              </a:spcAft>
            </a:pPr>
            <a:r>
              <a:rPr sz="1400" b="0">
                <a:solidFill>
                  <a:srgbClr val="1F2937"/>
                </a:solidFill>
                <a:latin typeface="Calibri"/>
              </a:rPr>
              <a:t>Xlorid kislota → nordon gematin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Vishnevskiy dog‘lari hosil bo‘lishi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193, 193-194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qotishning mikro va gistokimyoviy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Mikroskopda mikrotsirkulyator tizimda spazm, a’zolar stromasida shish va mayda qon quyilishlar ko‘rinadi.</a:t>
            </a:r>
          </a:p>
          <a:p>
            <a:pPr>
              <a:spcAft>
                <a:spcPts val="1200"/>
              </a:spcAft>
            </a:pPr>
            <a:r>
              <a:rPr sz="2200">
                <a:solidFill>
                  <a:srgbClr val="1F2937"/>
                </a:solidFill>
                <a:latin typeface="Calibri"/>
              </a:rPr>
              <a:t>▸  Gistokimyoda jigar, oshqozon osti bezi, yurak va miyada glikogen yo‘qoladi. Buyrak usti bezi po‘stlog‘ida lipoidlar kamayadi.</a:t>
            </a:r>
          </a:p>
          <a:p>
            <a:pPr>
              <a:spcAft>
                <a:spcPts val="1200"/>
              </a:spcAft>
            </a:pPr>
            <a:r>
              <a:rPr sz="2200">
                <a:solidFill>
                  <a:srgbClr val="1F2937"/>
                </a:solidFill>
                <a:latin typeface="Calibri"/>
              </a:rPr>
              <a:t>▸  Diqqat: o‘lim qisqa vaqtda sodir bo‘lsa (muzdek suv, shamol), qonda qand kamayadi yoki yo‘qoladi, lekin jigarda glikogen saqlanishi mumkin.</a:t>
            </a:r>
          </a:p>
          <a:p>
            <a:pPr>
              <a:spcAft>
                <a:spcPts val="1200"/>
              </a:spcAft>
            </a:pPr>
            <a:r>
              <a:rPr sz="2200">
                <a:solidFill>
                  <a:srgbClr val="1F2937"/>
                </a:solidFill>
                <a:latin typeface="Calibri"/>
              </a:rPr>
              <a:t>▸  Kuchli mastlikda sovuq ta’siridan so‘ng qonda alkogol past, siydikda esa baland bo‘lishi mumkin. Sababi organizmda alkogolning kuchli utilizatsiyasi.</a:t>
            </a:r>
          </a:p>
          <a:p>
            <a:pPr>
              <a:spcAft>
                <a:spcPts val="1200"/>
              </a:spcAft>
            </a:pPr>
            <a:r>
              <a:rPr sz="2200">
                <a:solidFill>
                  <a:srgbClr val="1F2937"/>
                </a:solidFill>
                <a:latin typeface="Calibri"/>
              </a:rPr>
              <a:t>▸  Buyrak to‘g‘ri naychalarida nekrobiotik o‘zgarishlar bo‘ladi (Kasyanov belgisi).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 muzlashi va eritish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O‘limdan so‘ng minus haroratda murda sababdan qat’i nazar muzlashi mumkin. Hosil bo‘lgan jarohatlarni hayotiy shikastlardan farqlash kerak.</a:t>
            </a:r>
          </a:p>
          <a:p>
            <a:pPr>
              <a:spcAft>
                <a:spcPts val="1200"/>
              </a:spcAft>
            </a:pPr>
            <a:r>
              <a:rPr sz="2000">
                <a:solidFill>
                  <a:srgbClr val="1F2937"/>
                </a:solidFill>
                <a:latin typeface="Calibri"/>
              </a:rPr>
              <a:t>▸  Muzlaganda miya va parenximatoz a’zolar hajmi kattalashadi. Kalla suyaklari sinishi, choklar ajralishi mumkin. Bu bo‘yin boshdan oldin muzlaganda kuzatiladi.</a:t>
            </a:r>
          </a:p>
          <a:p>
            <a:pPr>
              <a:spcAft>
                <a:spcPts val="1200"/>
              </a:spcAft>
            </a:pPr>
            <a:r>
              <a:rPr sz="2000">
                <a:solidFill>
                  <a:srgbClr val="1F2937"/>
                </a:solidFill>
                <a:latin typeface="Calibri"/>
              </a:rPr>
              <a:t>▸  Muzlagan murda odatda xona haroratida eritiladi, bu bir necha kun olishi mumkin. Muddatni qisqartirish uchun iliq havo yoki issiq suv (+50°S gacha) ishlatiladi.</a:t>
            </a:r>
          </a:p>
          <a:p>
            <a:pPr>
              <a:spcAft>
                <a:spcPts val="1200"/>
              </a:spcAft>
            </a:pPr>
            <a:r>
              <a:rPr sz="2000">
                <a:solidFill>
                  <a:srgbClr val="1F2937"/>
                </a:solidFill>
                <a:latin typeface="Calibri"/>
              </a:rPr>
              <a:t>▸  Eritishda eritrotsitlar gemolizga uchraydi.</a:t>
            </a:r>
          </a:p>
          <a:p>
            <a:pPr>
              <a:spcAft>
                <a:spcPts val="1200"/>
              </a:spcAft>
            </a:pPr>
            <a:r>
              <a:rPr sz="2000">
                <a:solidFill>
                  <a:srgbClr val="1F2937"/>
                </a:solidFill>
                <a:latin typeface="Calibri"/>
              </a:rPr>
              <a:t>▸  Eritish qanchalik tez bo‘lsa, qon gemolizi va to‘qimalarning o‘limdan keyingi imbibitsiyasi shunchalik kuchli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194, 195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qishda topilgan murda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42</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Taxminiy vaziyat: qishda, minus haroratda tashqarida murda topildi. Qo‘llar ko‘krakka, oyoqlar qoringa bukilgan, qosh va kipriklarda qirov bor.</a:t>
            </a:r>
          </a:p>
          <a:p>
            <a:pPr>
              <a:spcAft>
                <a:spcPts val="1200"/>
              </a:spcAft>
            </a:pPr>
            <a:r>
              <a:rPr sz="2200">
                <a:solidFill>
                  <a:srgbClr val="1F2937"/>
                </a:solidFill>
                <a:latin typeface="Calibri"/>
              </a:rPr>
              <a:t>▸  Ichki tekshiruvda oshqozon bo‘sh va kichraygan. Shilliq qavat burmalarining tepasida diametri 0,5 sm gacha mayda qon quyilishlar bor.</a:t>
            </a:r>
          </a:p>
          <a:p>
            <a:pPr>
              <a:spcAft>
                <a:spcPts val="1200"/>
              </a:spcAft>
            </a:pPr>
            <a:r>
              <a:rPr sz="2200">
                <a:solidFill>
                  <a:srgbClr val="1F2937"/>
                </a:solidFill>
                <a:latin typeface="Calibri"/>
              </a:rPr>
              <a:t>▸  Savol: bu belgilar qaysi muallif nomlari bilan ataladi va nega murda dog‘lari pushti-qizgish rangda bo‘ladi?</a:t>
            </a:r>
          </a:p>
          <a:p>
            <a:pPr>
              <a:spcAft>
                <a:spcPts val="1200"/>
              </a:spcAft>
            </a:pPr>
            <a:r>
              <a:rPr sz="2200">
                <a:solidFill>
                  <a:srgbClr val="1F2937"/>
                </a:solidFill>
                <a:latin typeface="Calibri"/>
              </a:rPr>
              <a:t>▸  Diqqat: qor tagidagi muz qatlami spetsifik belgi emas. Kuchli mastlikda poza bo‘lmasligi mumkin, qonda alkogol esa past, siydikda baland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192, 193, 192, 194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Past haroratning mahalliy ta’siri: sovuq urishi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Mahalliy sovuq urishda tana harorati umuman normal, faqat ayrim sohalarda pasayadi. Ko‘pincha baxtsiz hodisa: qo‘l-oyoq uchlari, quloq, burun, yonoqda.</a:t>
            </a:r>
          </a:p>
          <a:p>
            <a:pPr>
              <a:spcAft>
                <a:spcPts val="800"/>
              </a:spcAft>
            </a:pPr>
            <a:r>
              <a:rPr sz="1600">
                <a:solidFill>
                  <a:srgbClr val="1F2937"/>
                </a:solidFill>
                <a:latin typeface="Calibri"/>
              </a:rPr>
              <a:t>▸  Mexanizm: qon tomirlar spazmi, keyin falaji. Qon aylanishi sekinlashadi yoki to‘xtaydi, to‘qima oziqlanishi buziladi.</a:t>
            </a:r>
          </a:p>
          <a:p>
            <a:pPr>
              <a:spcAft>
                <a:spcPts val="800"/>
              </a:spcAft>
            </a:pPr>
            <a:r>
              <a:rPr sz="1600">
                <a:solidFill>
                  <a:srgbClr val="1F2937"/>
                </a:solidFill>
                <a:latin typeface="Calibri"/>
              </a:rPr>
              <a:t>▸  Yashirin davr — sovuq ta’sir paytidagi harorat pasayishi. Reaktiv davr — joy isigach boshlanadi; daraja shu davrda aniqlanadi.</a:t>
            </a:r>
          </a:p>
          <a:p>
            <a:pPr>
              <a:spcAft>
                <a:spcPts val="800"/>
              </a:spcAft>
            </a:pPr>
            <a:r>
              <a:rPr sz="1600">
                <a:solidFill>
                  <a:srgbClr val="1F2937"/>
                </a:solidFill>
                <a:latin typeface="Calibri"/>
              </a:rPr>
              <a:t>▸  Reperkussiya: bir qo‘lni sovuq ursa, qarama-qarshi qo‘lda ham o‘zgarish chiqishi mumkin.</a:t>
            </a:r>
          </a:p>
          <a:p>
            <a:pPr>
              <a:spcAft>
                <a:spcPts val="800"/>
              </a:spcAft>
            </a:pPr>
            <a:r>
              <a:rPr sz="1600">
                <a:solidFill>
                  <a:srgbClr val="1F2937"/>
                </a:solidFill>
                <a:latin typeface="Calibri"/>
              </a:rPr>
              <a:t>▸  Hayot uchun xavfli: 10% dan ortiq III-IV, 15% dan ortiq III, 20% dan ortiq II daraja.</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Yashirin davr</a:t>
            </a:r>
          </a:p>
          <a:p>
            <a:pPr algn="l">
              <a:spcAft>
                <a:spcPts val="200"/>
              </a:spcAft>
            </a:pPr>
            <a:r>
              <a:rPr sz="1400" b="0">
                <a:solidFill>
                  <a:srgbClr val="1F2937"/>
                </a:solidFill>
                <a:latin typeface="Calibri"/>
              </a:rPr>
              <a:t>Sovuq ta’sir paytida harorat pasayadi</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Reaktiv davr</a:t>
            </a:r>
          </a:p>
          <a:p>
            <a:pPr algn="l">
              <a:spcAft>
                <a:spcPts val="200"/>
              </a:spcAft>
            </a:pPr>
            <a:r>
              <a:rPr sz="1400" b="0">
                <a:solidFill>
                  <a:srgbClr val="1F2937"/>
                </a:solidFill>
                <a:latin typeface="Calibri"/>
              </a:rPr>
              <a:t>Joy isigach boshlanadi</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Daraja</a:t>
            </a:r>
          </a:p>
          <a:p>
            <a:pPr algn="l">
              <a:spcAft>
                <a:spcPts val="200"/>
              </a:spcAft>
            </a:pPr>
            <a:r>
              <a:rPr sz="1400" b="0">
                <a:solidFill>
                  <a:srgbClr val="1F2937"/>
                </a:solidFill>
                <a:latin typeface="Calibri"/>
              </a:rPr>
              <a:t>Reaktiv davrda aniqlanadi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urish davrlari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195, 196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Sovuq urish darajalari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I-II darajada chandiq qolmaydi, lekin joy uzoq vaqt sovuqqa o‘ta sezgir bo‘lib qoladi.</a:t>
            </a:r>
          </a:p>
          <a:p>
            <a:pPr>
              <a:spcAft>
                <a:spcPts val="800"/>
              </a:spcAft>
            </a:pPr>
            <a:r>
              <a:rPr sz="1800">
                <a:solidFill>
                  <a:srgbClr val="1F2937"/>
                </a:solidFill>
                <a:latin typeface="Calibri"/>
              </a:rPr>
              <a:t>▸  III darajada demarkatsion yallig‘lanish rivojlanadi, ko‘pincha yiringlash bilan kechadi.</a:t>
            </a:r>
          </a:p>
          <a:p>
            <a:pPr>
              <a:spcAft>
                <a:spcPts val="800"/>
              </a:spcAft>
            </a:pPr>
            <a:r>
              <a:rPr sz="1800">
                <a:solidFill>
                  <a:srgbClr val="1F2937"/>
                </a:solidFill>
                <a:latin typeface="Calibri"/>
              </a:rPr>
              <a:t>▸  IV darajada demarkatsion hoshiya ikkinchi hafta oxirida hosil bo‘ladi; ko‘pincha yiringli infeksiya asorat beradi.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a:t>
            </a:r>
          </a:p>
          <a:p>
            <a:pPr algn="l">
              <a:spcAft>
                <a:spcPts val="200"/>
              </a:spcAft>
            </a:pPr>
            <a:r>
              <a:rPr sz="1400" b="0">
                <a:solidFill>
                  <a:srgbClr val="1F2937"/>
                </a:solidFill>
                <a:latin typeface="Calibri"/>
              </a:rPr>
              <a:t>Qizg‘ish-ko‘kimtir; 3-7 kunda o‘tadi</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II</a:t>
            </a:r>
          </a:p>
          <a:p>
            <a:pPr algn="l">
              <a:spcAft>
                <a:spcPts val="200"/>
              </a:spcAft>
            </a:pPr>
            <a:r>
              <a:rPr sz="1400" b="0">
                <a:solidFill>
                  <a:srgbClr val="1F2937"/>
                </a:solidFill>
                <a:latin typeface="Calibri"/>
              </a:rPr>
              <a:t>Tiniq pufak; 10-20 kun</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III</a:t>
            </a:r>
          </a:p>
          <a:p>
            <a:pPr algn="l">
              <a:spcAft>
                <a:spcPts val="200"/>
              </a:spcAft>
            </a:pPr>
            <a:r>
              <a:rPr sz="1400" b="0">
                <a:solidFill>
                  <a:srgbClr val="1F2937"/>
                </a:solidFill>
                <a:latin typeface="Calibri"/>
              </a:rPr>
              <a:t>Teri nekrozi; 1-2 oy, chandiq</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IV</a:t>
            </a:r>
          </a:p>
          <a:p>
            <a:pPr algn="l">
              <a:spcAft>
                <a:spcPts val="200"/>
              </a:spcAft>
            </a:pPr>
            <a:r>
              <a:rPr sz="1400" b="0">
                <a:solidFill>
                  <a:srgbClr val="1F2937"/>
                </a:solidFill>
                <a:latin typeface="Calibri"/>
              </a:rPr>
              <a:t>Suyakkacha nekroz; haftalar, oylar</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Sovuq urish darajalari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195, 196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Elektr toki: xususiyatlari va omillar guruhlari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Elektrotravma barcha shikastlanishlarning 1-2,5% i, ammo nogironlik va o‘limda yetakchilardan biri.</a:t>
            </a:r>
          </a:p>
          <a:p>
            <a:pPr>
              <a:spcAft>
                <a:spcPts val="800"/>
              </a:spcAft>
            </a:pPr>
            <a:r>
              <a:rPr sz="1800">
                <a:solidFill>
                  <a:srgbClr val="1F2937"/>
                </a:solidFill>
                <a:latin typeface="Calibri"/>
              </a:rPr>
              <a:t>▸  Tokni asbobsiz aniqlab bo‘lmaydi; u kontakt, boshqa jism orqali yoki masofadan ta’sir qiladi.</a:t>
            </a:r>
          </a:p>
          <a:p>
            <a:pPr>
              <a:spcAft>
                <a:spcPts val="800"/>
              </a:spcAft>
            </a:pPr>
            <a:r>
              <a:rPr sz="1800">
                <a:solidFill>
                  <a:srgbClr val="1F2937"/>
                </a:solidFill>
                <a:latin typeface="Calibri"/>
              </a:rPr>
              <a:t>▸  Tok energiyasi issiqlik, kimyoviy, mexanik turga aylanadi; qisqa ta’sirda ham jarohat og‘ir bo‘lishi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Omillar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 Tok xususiyatlari</a:t>
            </a:r>
          </a:p>
          <a:p>
            <a:pPr algn="l">
              <a:spcAft>
                <a:spcPts val="0"/>
              </a:spcAft>
            </a:pPr>
            <a:r>
              <a:rPr sz="1200" b="0">
                <a:solidFill>
                  <a:srgbClr val="1F2937"/>
                </a:solidFill>
                <a:latin typeface="Calibri"/>
              </a:rPr>
              <a:t>Tipi, kuchlanishi  ·  Kuchi, chastotasi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II. Organizm</a:t>
            </a:r>
          </a:p>
          <a:p>
            <a:pPr algn="l">
              <a:spcAft>
                <a:spcPts val="0"/>
              </a:spcAft>
            </a:pPr>
            <a:r>
              <a:rPr sz="1200" b="0">
                <a:solidFill>
                  <a:srgbClr val="1F2937"/>
                </a:solidFill>
                <a:latin typeface="Calibri"/>
              </a:rPr>
              <a:t>Yosh, kasallik, mastlik  ·  Teri qarshiligi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III. O‘zaro ta’sir</a:t>
            </a:r>
          </a:p>
          <a:p>
            <a:pPr algn="l">
              <a:spcAft>
                <a:spcPts val="0"/>
              </a:spcAft>
            </a:pPr>
            <a:r>
              <a:rPr sz="1200" b="0">
                <a:solidFill>
                  <a:srgbClr val="1F2937"/>
                </a:solidFill>
                <a:latin typeface="Calibri"/>
              </a:rPr>
              <a:t>Davomiyligi, ulanishi  ·  Tok yo‘li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Elektr tokining omillar guruhlari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196, 197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Tok tipi, kuchlanishi, kuchi va chastotasi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500 voltgacha o‘zgaruvchan tok xavfliroq, 500 voltdan yuqorida esa o‘zgarmas tok xavfliroq.</a:t>
            </a:r>
          </a:p>
          <a:p>
            <a:pPr>
              <a:spcAft>
                <a:spcPts val="800"/>
              </a:spcAft>
            </a:pPr>
            <a:r>
              <a:rPr sz="1800">
                <a:solidFill>
                  <a:srgbClr val="1F2937"/>
                </a:solidFill>
                <a:latin typeface="Calibri"/>
              </a:rPr>
              <a:t>▸  Xavfsiz kuchlanish me’yori 24 volt. O‘limlarning ko‘pi 220–380 voltli tokdan sodir bo‘ladi.</a:t>
            </a:r>
          </a:p>
          <a:p>
            <a:pPr>
              <a:spcAft>
                <a:spcPts val="800"/>
              </a:spcAft>
            </a:pPr>
            <a:r>
              <a:rPr sz="1800">
                <a:solidFill>
                  <a:srgbClr val="1F2937"/>
                </a:solidFill>
                <a:latin typeface="Calibri"/>
              </a:rPr>
              <a:t>▸  Eng xavfli chastota 40–60 gers. 10000 gers va undan yuqori tok zarar bermaydi, fizioterapiyada ishlatiladi.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Xavfsiz kuchlanish</a:t>
            </a:r>
          </a:p>
          <a:p>
            <a:pPr algn="l">
              <a:spcAft>
                <a:spcPts val="100"/>
              </a:spcAft>
            </a:pPr>
            <a:r>
              <a:rPr sz="3000" b="1">
                <a:solidFill>
                  <a:srgbClr val="0B1F3A"/>
                </a:solidFill>
                <a:latin typeface="Calibri"/>
              </a:rPr>
              <a:t>24</a:t>
            </a:r>
            <a:r>
              <a:rPr sz="1500" b="0">
                <a:solidFill>
                  <a:srgbClr val="6B7280"/>
                </a:solidFill>
                <a:latin typeface="Calibri"/>
              </a:rPr>
              <a:t>  volt</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Hayotga tahdid</a:t>
            </a:r>
          </a:p>
          <a:p>
            <a:pPr algn="l">
              <a:spcAft>
                <a:spcPts val="100"/>
              </a:spcAft>
            </a:pPr>
            <a:r>
              <a:rPr sz="3000" b="1">
                <a:solidFill>
                  <a:srgbClr val="0B1F3A"/>
                </a:solidFill>
                <a:latin typeface="Calibri"/>
              </a:rPr>
              <a:t>50</a:t>
            </a:r>
            <a:r>
              <a:rPr sz="1500" b="0">
                <a:solidFill>
                  <a:srgbClr val="6B7280"/>
                </a:solidFill>
                <a:latin typeface="Calibri"/>
              </a:rPr>
              <a:t>  mA</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O‘lim ko‘p kuzatiladi</a:t>
            </a:r>
          </a:p>
          <a:p>
            <a:pPr algn="l">
              <a:spcAft>
                <a:spcPts val="100"/>
              </a:spcAft>
            </a:pPr>
            <a:r>
              <a:rPr sz="3000" b="1">
                <a:solidFill>
                  <a:srgbClr val="0B1F3A"/>
                </a:solidFill>
                <a:latin typeface="Calibri"/>
              </a:rPr>
              <a:t>100</a:t>
            </a:r>
            <a:r>
              <a:rPr sz="1500" b="0">
                <a:solidFill>
                  <a:srgbClr val="6B7280"/>
                </a:solidFill>
                <a:latin typeface="Calibri"/>
              </a:rPr>
              <a:t>  mA</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Eng xavfli chastota</a:t>
            </a:r>
          </a:p>
          <a:p>
            <a:pPr algn="l">
              <a:spcAft>
                <a:spcPts val="100"/>
              </a:spcAft>
            </a:pPr>
            <a:r>
              <a:rPr sz="3000" b="1">
                <a:solidFill>
                  <a:srgbClr val="0B1F3A"/>
                </a:solidFill>
                <a:latin typeface="Calibri"/>
              </a:rPr>
              <a:t>40-60</a:t>
            </a:r>
            <a:r>
              <a:rPr sz="1500" b="0">
                <a:solidFill>
                  <a:srgbClr val="6B7280"/>
                </a:solidFill>
                <a:latin typeface="Calibri"/>
              </a:rPr>
              <a:t>  Hz</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Zararsiz chastota</a:t>
            </a:r>
          </a:p>
          <a:p>
            <a:pPr algn="l">
              <a:spcAft>
                <a:spcPts val="100"/>
              </a:spcAft>
            </a:pPr>
            <a:r>
              <a:rPr sz="3000" b="1">
                <a:solidFill>
                  <a:srgbClr val="0B1F3A"/>
                </a:solidFill>
                <a:latin typeface="Calibri"/>
              </a:rPr>
              <a:t>10 000+</a:t>
            </a:r>
            <a:r>
              <a:rPr sz="1500" b="0">
                <a:solidFill>
                  <a:srgbClr val="6B7280"/>
                </a:solidFill>
                <a:latin typeface="Calibri"/>
              </a:rPr>
              <a:t>  Hz</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Elektr toki ko‘rsatkichlari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197, 197–198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Organizm va ulanish sharoitlari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Tok qarshiligi kichik to‘qimalardan (qon, shilliq qavat, jigar) o‘tadi. Qarshilik eng katta joy — suyak va teri, o‘zgarishlar ham shu yerda bo‘ladi.</a:t>
            </a:r>
          </a:p>
          <a:p>
            <a:pPr>
              <a:spcAft>
                <a:spcPts val="800"/>
              </a:spcAft>
            </a:pPr>
            <a:r>
              <a:rPr sz="1600">
                <a:solidFill>
                  <a:srgbClr val="1F2937"/>
                </a:solidFill>
                <a:latin typeface="Calibri"/>
              </a:rPr>
              <a:t>▸  Nam teri, terlash, nam kiyim va metall bezaklar qarshilikni kamaytiradi. Shu sabab o‘lim yozda ko‘proq uchraydi.</a:t>
            </a:r>
          </a:p>
          <a:p>
            <a:pPr>
              <a:spcAft>
                <a:spcPts val="800"/>
              </a:spcAft>
            </a:pPr>
            <a:r>
              <a:rPr sz="1600">
                <a:solidFill>
                  <a:srgbClr val="1F2937"/>
                </a:solidFill>
                <a:latin typeface="Calibri"/>
              </a:rPr>
              <a:t>▸  Davomiy ta’sirda: 10–15 milliamperda mushaklar ixtiyorsiz qisqaradi, 25 milliamperdan nafas talvasasi, 80 milliamperdan fibrillyasiya.</a:t>
            </a:r>
          </a:p>
          <a:p>
            <a:pPr>
              <a:spcAft>
                <a:spcPts val="800"/>
              </a:spcAft>
            </a:pPr>
            <a:r>
              <a:rPr sz="1600">
                <a:solidFill>
                  <a:srgbClr val="1F2937"/>
                </a:solidFill>
                <a:latin typeface="Calibri"/>
              </a:rPr>
              <a:t>▸  Tok yurak va miya orqali o‘tsa xavfli. Qadam kuchlanishi — 0,8 m qadam oralig‘idagi potensiallar farqi; uzilgan simga 10 m dan yaqin bormang.</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Mushak qisqarishi</a:t>
            </a:r>
          </a:p>
          <a:p>
            <a:pPr algn="l">
              <a:spcAft>
                <a:spcPts val="100"/>
              </a:spcAft>
            </a:pPr>
            <a:r>
              <a:rPr sz="3000" b="1">
                <a:solidFill>
                  <a:srgbClr val="0B1F3A"/>
                </a:solidFill>
                <a:latin typeface="Calibri"/>
              </a:rPr>
              <a:t>10-15</a:t>
            </a:r>
            <a:r>
              <a:rPr sz="1500" b="0">
                <a:solidFill>
                  <a:srgbClr val="6B7280"/>
                </a:solidFill>
                <a:latin typeface="Calibri"/>
              </a:rPr>
              <a:t>  mA</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Nafas talvasasi</a:t>
            </a:r>
          </a:p>
          <a:p>
            <a:pPr algn="l">
              <a:spcAft>
                <a:spcPts val="100"/>
              </a:spcAft>
            </a:pPr>
            <a:r>
              <a:rPr sz="3000" b="1">
                <a:solidFill>
                  <a:srgbClr val="0B1F3A"/>
                </a:solidFill>
                <a:latin typeface="Calibri"/>
              </a:rPr>
              <a:t>25</a:t>
            </a:r>
            <a:r>
              <a:rPr sz="1500" b="0">
                <a:solidFill>
                  <a:srgbClr val="6B7280"/>
                </a:solidFill>
                <a:latin typeface="Calibri"/>
              </a:rPr>
              <a:t>  mA</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Fibrillyasiya</a:t>
            </a:r>
          </a:p>
          <a:p>
            <a:pPr algn="l">
              <a:spcAft>
                <a:spcPts val="100"/>
              </a:spcAft>
            </a:pPr>
            <a:r>
              <a:rPr sz="3000" b="1">
                <a:solidFill>
                  <a:srgbClr val="0B1F3A"/>
                </a:solidFill>
                <a:latin typeface="Calibri"/>
              </a:rPr>
              <a:t>80</a:t>
            </a:r>
            <a:r>
              <a:rPr sz="1500" b="0">
                <a:solidFill>
                  <a:srgbClr val="6B7280"/>
                </a:solidFill>
                <a:latin typeface="Calibri"/>
              </a:rPr>
              <a:t>  mA</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Qadam oralig‘i</a:t>
            </a:r>
          </a:p>
          <a:p>
            <a:pPr algn="l">
              <a:spcAft>
                <a:spcPts val="100"/>
              </a:spcAft>
            </a:pPr>
            <a:r>
              <a:rPr sz="3000" b="1">
                <a:solidFill>
                  <a:srgbClr val="0B1F3A"/>
                </a:solidFill>
                <a:latin typeface="Calibri"/>
              </a:rPr>
              <a:t>0,8</a:t>
            </a:r>
            <a:r>
              <a:rPr sz="1500" b="0">
                <a:solidFill>
                  <a:srgbClr val="6B7280"/>
                </a:solidFill>
                <a:latin typeface="Calibri"/>
              </a:rPr>
              <a:t>  m</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Uzilgan simdan masofa</a:t>
            </a:r>
          </a:p>
          <a:p>
            <a:pPr algn="l">
              <a:spcAft>
                <a:spcPts val="100"/>
              </a:spcAft>
            </a:pPr>
            <a:r>
              <a:rPr sz="1900" b="1">
                <a:solidFill>
                  <a:srgbClr val="0B1F3A"/>
                </a:solidFill>
                <a:latin typeface="Calibri"/>
              </a:rPr>
              <a:t>10 dan yaqin emas</a:t>
            </a:r>
            <a:r>
              <a:rPr sz="1100" b="0">
                <a:solidFill>
                  <a:srgbClr val="6B7280"/>
                </a:solidFill>
                <a:latin typeface="Calibri"/>
              </a:rPr>
              <a:t>  m</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Tok kuchi ta’siri (davomiy)</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198, 199, 199–200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Elektr tokining spetsifik va nospetsifik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Umumiy ta’sirda hujayralarning elektr jarayonlari buziladi: yurak qorinchalari fibrillyasiyasi, nafas buzilishi va elektrogen shok rivojlanadi.</a:t>
            </a:r>
          </a:p>
          <a:p>
            <a:pPr>
              <a:spcAft>
                <a:spcPts val="800"/>
              </a:spcAft>
            </a:pPr>
            <a:r>
              <a:rPr sz="1600">
                <a:solidFill>
                  <a:srgbClr val="1F2937"/>
                </a:solidFill>
                <a:latin typeface="Calibri"/>
              </a:rPr>
              <a:t>▸  Elektrogen asfiksiya tok miya orqali o‘tganda, nafas mushaklarining klonik talvasasi va tovush yorig‘i spazmi tufayli yuz beradi.</a:t>
            </a:r>
          </a:p>
          <a:p>
            <a:pPr>
              <a:spcAft>
                <a:spcPts val="800"/>
              </a:spcAft>
            </a:pPr>
            <a:r>
              <a:rPr sz="1600">
                <a:solidFill>
                  <a:srgbClr val="1F2937"/>
                </a:solidFill>
                <a:latin typeface="Calibri"/>
              </a:rPr>
              <a:t>▸  Kimyoviy ta’sir: anodda koagulyatsion, katodda kolliqvatsion nekroz. Termik ta’sir: kuyish va suyakda 1–5 mm li “marvarid marjonlari”.</a:t>
            </a:r>
          </a:p>
          <a:p>
            <a:pPr>
              <a:spcAft>
                <a:spcPts val="800"/>
              </a:spcAft>
            </a:pPr>
            <a:r>
              <a:rPr sz="1600">
                <a:solidFill>
                  <a:srgbClr val="1F2937"/>
                </a:solidFill>
                <a:latin typeface="Calibri"/>
              </a:rPr>
              <a:t>▸  Mexanik ta’sir: bo‘g‘im chiqishi va suyak sinishi. Nospetsifik ta’sir: kiyim alangalanishi, ko‘z kuyishi, talvasadan yiqilish.</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Elektr toki ta’siri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Umumiy</a:t>
            </a:r>
          </a:p>
          <a:p>
            <a:pPr algn="l">
              <a:spcAft>
                <a:spcPts val="0"/>
              </a:spcAft>
            </a:pPr>
            <a:r>
              <a:rPr sz="1200" b="0">
                <a:solidFill>
                  <a:srgbClr val="1F2937"/>
                </a:solidFill>
                <a:latin typeface="Calibri"/>
              </a:rPr>
              <a:t>Qorinchalar fibrillyasiyasi  ·  Elektrogen shok, asfiksiya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Kimyoviy</a:t>
            </a:r>
          </a:p>
          <a:p>
            <a:pPr algn="l">
              <a:spcAft>
                <a:spcPts val="0"/>
              </a:spcAft>
            </a:pPr>
            <a:r>
              <a:rPr sz="1200" b="0">
                <a:solidFill>
                  <a:srgbClr val="1F2937"/>
                </a:solidFill>
                <a:latin typeface="Calibri"/>
              </a:rPr>
              <a:t>Anodda koagulyatsion nekroz  ·  Katodda kolliqvatsion nekroz</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Termik</a:t>
            </a:r>
          </a:p>
          <a:p>
            <a:pPr algn="l">
              <a:spcAft>
                <a:spcPts val="0"/>
              </a:spcAft>
            </a:pPr>
            <a:r>
              <a:rPr sz="1200" b="0">
                <a:solidFill>
                  <a:srgbClr val="1F2937"/>
                </a:solidFill>
                <a:latin typeface="Calibri"/>
              </a:rPr>
              <a:t>Kuyish  ·  Suyakda «marvarid marjonlari»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Mexanik va nospetsifik</a:t>
            </a:r>
          </a:p>
          <a:p>
            <a:pPr algn="l">
              <a:spcAft>
                <a:spcPts val="0"/>
              </a:spcAft>
            </a:pPr>
            <a:r>
              <a:rPr sz="1200" b="0">
                <a:solidFill>
                  <a:srgbClr val="1F2937"/>
                </a:solidFill>
                <a:latin typeface="Calibri"/>
              </a:rPr>
              <a:t>Bo‘g‘im chiqishi, suyak sinishi  ·  Kiyim alangalanishi, ko‘z kuyishi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Elektr toki ta’siri turlari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200, 201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Elektr tamg‘a va elektr kuyish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Elektr tamg‘a dumaloq yoki oval, ushlaganda zich bo‘ladi. Chekkasi ko‘tarilgan, markazi krater shaklida chuqurlashgan.</a:t>
            </a:r>
          </a:p>
          <a:p>
            <a:pPr>
              <a:spcAft>
                <a:spcPts val="800"/>
              </a:spcAft>
            </a:pPr>
            <a:r>
              <a:rPr sz="1800">
                <a:solidFill>
                  <a:srgbClr val="1F2937"/>
                </a:solidFill>
                <a:latin typeface="Calibri"/>
              </a:rPr>
              <a:t>▸  Metallizatsiya tus beradi: mis — havorang-yashil, temir — sariq-qora. O‘tkazgich metalli rentgen va spektrografiyada aniqlanadi.</a:t>
            </a:r>
          </a:p>
          <a:p>
            <a:pPr>
              <a:spcAft>
                <a:spcPts val="800"/>
              </a:spcAft>
            </a:pPr>
            <a:r>
              <a:rPr sz="1800">
                <a:solidFill>
                  <a:srgbClr val="1F2937"/>
                </a:solidFill>
                <a:latin typeface="Calibri"/>
              </a:rPr>
              <a:t>▸  Mikroskopda epidermisda bo‘shliqlar, cho‘tkasimon hujayralar ko‘rinadi. Asorati — elektrogen shishish va nekroz.</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Elektr tamg‘a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Harorat 120°S gacha</a:t>
            </a:r>
          </a:p>
          <a:p>
            <a:pPr algn="l">
              <a:spcAft>
                <a:spcPts val="700"/>
              </a:spcAft>
            </a:pPr>
            <a:r>
              <a:rPr sz="1500" b="1">
                <a:solidFill>
                  <a:srgbClr val="C9A227"/>
                </a:solidFill>
                <a:latin typeface="Calibri"/>
              </a:rPr>
              <a:t>●  </a:t>
            </a:r>
            <a:r>
              <a:rPr sz="1500" b="0">
                <a:solidFill>
                  <a:srgbClr val="1F2937"/>
                </a:solidFill>
                <a:latin typeface="Calibri"/>
              </a:rPr>
              <a:t>Termik ta’sir yetakchi</a:t>
            </a:r>
          </a:p>
          <a:p>
            <a:pPr algn="l">
              <a:spcAft>
                <a:spcPts val="700"/>
              </a:spcAft>
            </a:pPr>
            <a:r>
              <a:rPr sz="1500" b="1">
                <a:solidFill>
                  <a:srgbClr val="C9A227"/>
                </a:solidFill>
                <a:latin typeface="Calibri"/>
              </a:rPr>
              <a:t>●  </a:t>
            </a:r>
            <a:r>
              <a:rPr sz="1500" b="0">
                <a:solidFill>
                  <a:srgbClr val="1F2937"/>
                </a:solidFill>
                <a:latin typeface="Calibri"/>
              </a:rPr>
              <a:t>Kraterli zich dog‘</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Elektr kuyish</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Harorat 120°S dan yuqori</a:t>
            </a:r>
          </a:p>
          <a:p>
            <a:pPr algn="l">
              <a:spcAft>
                <a:spcPts val="700"/>
              </a:spcAft>
            </a:pPr>
            <a:r>
              <a:rPr sz="1500" b="1">
                <a:solidFill>
                  <a:srgbClr val="C9A227"/>
                </a:solidFill>
                <a:latin typeface="Calibri"/>
              </a:rPr>
              <a:t>●  </a:t>
            </a:r>
            <a:r>
              <a:rPr sz="1500" b="0">
                <a:solidFill>
                  <a:srgbClr val="1F2937"/>
                </a:solidFill>
                <a:latin typeface="Calibri"/>
              </a:rPr>
              <a:t>Termik va kimyoviy ta’sir</a:t>
            </a:r>
          </a:p>
          <a:p>
            <a:pPr algn="l">
              <a:spcAft>
                <a:spcPts val="700"/>
              </a:spcAft>
            </a:pPr>
            <a:r>
              <a:rPr sz="1500" b="1">
                <a:solidFill>
                  <a:srgbClr val="C9A227"/>
                </a:solidFill>
                <a:latin typeface="Calibri"/>
              </a:rPr>
              <a:t>●  </a:t>
            </a:r>
            <a:r>
              <a:rPr sz="1500" b="0">
                <a:solidFill>
                  <a:srgbClr val="1F2937"/>
                </a:solidFill>
                <a:latin typeface="Calibri"/>
              </a:rPr>
              <a:t>Barcha qavat nekrozi, ko‘mirlanish</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Elektr tamg‘a va elektr kuyish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202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Elektrotravmada o‘lim turlari va soxta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Tez o‘lim — yurak va nafasning birlamchi to‘xtashidan. Sekin o‘limda avval talvasa, qichqiriq kabi hayot alomatlari bo‘ladi.</a:t>
            </a:r>
          </a:p>
          <a:p>
            <a:pPr>
              <a:spcAft>
                <a:spcPts val="800"/>
              </a:spcAft>
            </a:pPr>
            <a:r>
              <a:rPr sz="1800">
                <a:solidFill>
                  <a:srgbClr val="1F2937"/>
                </a:solidFill>
                <a:latin typeface="Calibri"/>
              </a:rPr>
              <a:t>▸  Uzilgan o‘lim — ozod bo‘lib, o‘ziga kelgach sodir bo‘ladi. Kech o‘lim — soatlar-sutkadan so‘ng, erta asoratdan.</a:t>
            </a:r>
          </a:p>
          <a:p>
            <a:pPr>
              <a:spcAft>
                <a:spcPts val="800"/>
              </a:spcAft>
            </a:pPr>
            <a:r>
              <a:rPr sz="1800">
                <a:solidFill>
                  <a:srgbClr val="1F2937"/>
                </a:solidFill>
                <a:latin typeface="Calibri"/>
              </a:rPr>
              <a:t>▸  Soxta o‘lim (vita minima): hayotiy markazlar tormozlanadi. Murda dog‘i chiqquncha reanimatsiya o‘tkaziladi.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O‘lim turlari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 O‘ta tez</a:t>
            </a:r>
          </a:p>
          <a:p>
            <a:pPr algn="l">
              <a:spcAft>
                <a:spcPts val="0"/>
              </a:spcAft>
            </a:pPr>
            <a:r>
              <a:rPr sz="1200" b="0">
                <a:solidFill>
                  <a:srgbClr val="1F2937"/>
                </a:solidFill>
                <a:latin typeface="Calibri"/>
              </a:rPr>
              <a:t>Yurak, nafas birlamchi to‘xtashi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2. Sekin</a:t>
            </a:r>
          </a:p>
          <a:p>
            <a:pPr algn="l">
              <a:spcAft>
                <a:spcPts val="0"/>
              </a:spcAft>
            </a:pPr>
            <a:r>
              <a:rPr sz="1200" b="0">
                <a:solidFill>
                  <a:srgbClr val="1F2937"/>
                </a:solidFill>
                <a:latin typeface="Calibri"/>
              </a:rPr>
              <a:t>Avval talvasa, qichqiriq</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3. Uzilgan</a:t>
            </a:r>
          </a:p>
          <a:p>
            <a:pPr algn="l">
              <a:spcAft>
                <a:spcPts val="0"/>
              </a:spcAft>
            </a:pPr>
            <a:r>
              <a:rPr sz="1200" b="0">
                <a:solidFill>
                  <a:srgbClr val="1F2937"/>
                </a:solidFill>
                <a:latin typeface="Calibri"/>
              </a:rPr>
              <a:t>O‘ziga kelgach sodir bo‘ladi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4. Kech</a:t>
            </a:r>
          </a:p>
          <a:p>
            <a:pPr algn="l">
              <a:spcAft>
                <a:spcPts val="0"/>
              </a:spcAft>
            </a:pPr>
            <a:r>
              <a:rPr sz="1200" b="0">
                <a:solidFill>
                  <a:srgbClr val="1F2937"/>
                </a:solidFill>
                <a:latin typeface="Calibri"/>
              </a:rPr>
              <a:t>Soatlar-sutkadan so‘ng  ·  Erta asoratdan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Elektrotravmada o‘lim turlari (Avdeev)</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Yashin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Yashin — atmosferadagi gigant razryad: kuchlanish million volt, tok yuz ming amperga yetadi. Davomiyligi soniyaning o‘n mingdan qismlari.</a:t>
            </a:r>
          </a:p>
          <a:p>
            <a:pPr>
              <a:spcAft>
                <a:spcPts val="800"/>
              </a:spcAft>
            </a:pPr>
            <a:r>
              <a:rPr sz="1600">
                <a:solidFill>
                  <a:srgbClr val="1F2937"/>
                </a:solidFill>
                <a:latin typeface="Calibri"/>
              </a:rPr>
              <a:t>▸  Shikastlovchi omillar: elektr toki, yorug‘lik, tovush va zarb to‘lqini. Ta’sir bevosita yoki bilvosita (telefon, televizor, radio orqali) bo‘ladi.</a:t>
            </a:r>
          </a:p>
          <a:p>
            <a:pPr>
              <a:spcAft>
                <a:spcPts val="800"/>
              </a:spcAft>
            </a:pPr>
            <a:r>
              <a:rPr sz="1600">
                <a:solidFill>
                  <a:srgbClr val="1F2937"/>
                </a:solidFill>
                <a:latin typeface="Calibri"/>
              </a:rPr>
              <a:t>▸  Terida kuyish, elektr tamg‘aga o‘xshash izlar bo‘ladi. Tashqi kiyim butun bo‘lsa-da, ichki kiyim shikastlanishi mumkin; metall buyumlar eriydi.</a:t>
            </a:r>
          </a:p>
          <a:p>
            <a:pPr>
              <a:spcAft>
                <a:spcPts val="800"/>
              </a:spcAft>
            </a:pPr>
            <a:r>
              <a:rPr sz="1600">
                <a:solidFill>
                  <a:srgbClr val="1F2937"/>
                </a:solidFill>
                <a:latin typeface="Calibri"/>
              </a:rPr>
              <a:t>▸  “Yashin figurasi” — terida qizil-pushti daraxtsimon shakl. U soatlar yoki sutkadan so‘ng yo‘qoladi, shu sababli darhol suratga olinadi.</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Kuchlanish</a:t>
            </a:r>
          </a:p>
          <a:p>
            <a:pPr algn="l">
              <a:spcAft>
                <a:spcPts val="100"/>
              </a:spcAft>
            </a:pPr>
            <a:r>
              <a:rPr sz="2300" b="1">
                <a:solidFill>
                  <a:srgbClr val="0B1F3A"/>
                </a:solidFill>
                <a:latin typeface="Calibri"/>
              </a:rPr>
              <a:t>million</a:t>
            </a:r>
            <a:r>
              <a:rPr sz="1100" b="0">
                <a:solidFill>
                  <a:srgbClr val="6B7280"/>
                </a:solidFill>
                <a:latin typeface="Calibri"/>
              </a:rPr>
              <a:t>  volt</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Tok kuchi</a:t>
            </a:r>
          </a:p>
          <a:p>
            <a:pPr algn="l">
              <a:spcAft>
                <a:spcPts val="100"/>
              </a:spcAft>
            </a:pPr>
            <a:r>
              <a:rPr sz="2300" b="1">
                <a:solidFill>
                  <a:srgbClr val="0B1F3A"/>
                </a:solidFill>
                <a:latin typeface="Calibri"/>
              </a:rPr>
              <a:t>yuz ming gacha</a:t>
            </a:r>
            <a:r>
              <a:rPr sz="1100" b="0">
                <a:solidFill>
                  <a:srgbClr val="6B7280"/>
                </a:solidFill>
                <a:latin typeface="Calibri"/>
              </a:rPr>
              <a:t>  amper</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Davomiyligi</a:t>
            </a:r>
          </a:p>
          <a:p>
            <a:pPr algn="l">
              <a:spcAft>
                <a:spcPts val="100"/>
              </a:spcAft>
            </a:pPr>
            <a:r>
              <a:rPr sz="2300" b="1">
                <a:solidFill>
                  <a:srgbClr val="0B1F3A"/>
                </a:solidFill>
                <a:latin typeface="Calibri"/>
              </a:rPr>
              <a:t>1/10 000 s li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Yashin ko‘rsatkichlari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205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Barotravma: yuqori bosim ta’siri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Chuqurlik oshgani sari gidrostatik bosim ortadi: 10 m da atmosfera bosimidan 2 marta, 20 m da 3 marta katta.</a:t>
            </a:r>
          </a:p>
          <a:p>
            <a:pPr>
              <a:spcAft>
                <a:spcPts val="800"/>
              </a:spcAft>
            </a:pPr>
            <a:r>
              <a:rPr sz="1800">
                <a:solidFill>
                  <a:srgbClr val="1F2937"/>
                </a:solidFill>
                <a:latin typeface="Calibri"/>
              </a:rPr>
              <a:t>▸  O‘pkada bosim 80–100 mm Hg ustuniga keskin o‘zgarsa, barotravma: alveola yorilishi, pnevmotoraks, qon quyilish.</a:t>
            </a:r>
          </a:p>
          <a:p>
            <a:pPr>
              <a:spcAft>
                <a:spcPts val="800"/>
              </a:spcAft>
            </a:pPr>
            <a:r>
              <a:rPr sz="1800">
                <a:solidFill>
                  <a:srgbClr val="1F2937"/>
                </a:solidFill>
                <a:latin typeface="Calibri"/>
              </a:rPr>
              <a:t>▸  G‘avvosda tananing siqilishi: bosh kattalashadi, yuz ko‘karib shishadi, ko‘zda mayda qon quyilishlar bo‘ladi.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Ko‘tarilish</a:t>
            </a:r>
          </a:p>
          <a:p>
            <a:pPr algn="l">
              <a:spcAft>
                <a:spcPts val="200"/>
              </a:spcAft>
            </a:pPr>
            <a:r>
              <a:rPr sz="1400" b="0">
                <a:solidFill>
                  <a:srgbClr val="1F2937"/>
                </a:solidFill>
                <a:latin typeface="Calibri"/>
              </a:rPr>
              <a:t>Akvalangda tez ko‘tarilish</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Bosim</a:t>
            </a:r>
          </a:p>
          <a:p>
            <a:pPr algn="l">
              <a:spcAft>
                <a:spcPts val="200"/>
              </a:spcAft>
            </a:pPr>
            <a:r>
              <a:rPr sz="1400" b="0">
                <a:solidFill>
                  <a:srgbClr val="1F2937"/>
                </a:solidFill>
                <a:latin typeface="Calibri"/>
              </a:rPr>
              <a:t>O‘pka ichi bosimi keskin ortadi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Yorilish</a:t>
            </a:r>
          </a:p>
          <a:p>
            <a:pPr algn="l">
              <a:spcAft>
                <a:spcPts val="200"/>
              </a:spcAft>
            </a:pPr>
            <a:r>
              <a:rPr sz="1400" b="0">
                <a:solidFill>
                  <a:srgbClr val="1F2937"/>
                </a:solidFill>
                <a:latin typeface="Calibri"/>
              </a:rPr>
              <a:t>O‘pka to‘qimasi yoriladi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Havo</a:t>
            </a:r>
          </a:p>
          <a:p>
            <a:pPr algn="l">
              <a:spcAft>
                <a:spcPts val="200"/>
              </a:spcAft>
            </a:pPr>
            <a:r>
              <a:rPr sz="1400" b="0">
                <a:solidFill>
                  <a:srgbClr val="1F2937"/>
                </a:solidFill>
                <a:latin typeface="Calibri"/>
              </a:rPr>
              <a:t>Chap yurakka, qonga o‘tadi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Emboliya</a:t>
            </a:r>
          </a:p>
          <a:p>
            <a:pPr algn="l">
              <a:spcAft>
                <a:spcPts val="200"/>
              </a:spcAft>
            </a:pPr>
            <a:r>
              <a:rPr sz="1400" b="0">
                <a:solidFill>
                  <a:srgbClr val="1F2937"/>
                </a:solidFill>
                <a:latin typeface="Calibri"/>
              </a:rPr>
              <a:t>Miya arteriyalarida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O‘pka barotravmasi zanjiri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206, 207, 207-208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Gazlar bilan zaharlanish va dekompression kasallik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42</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Kislorod va karbonat angidridi zaharlanishida murdada o‘ziga xos morfologik o‘zgarish topilmaydi.</a:t>
            </a:r>
          </a:p>
          <a:p>
            <a:pPr>
              <a:spcAft>
                <a:spcPts val="800"/>
              </a:spcAft>
            </a:pPr>
            <a:r>
              <a:rPr sz="1800">
                <a:solidFill>
                  <a:srgbClr val="1F2937"/>
                </a:solidFill>
                <a:latin typeface="Calibri"/>
              </a:rPr>
              <a:t>▸  Tashxis o‘lim tafsiloti, klinika va boshqa o‘lim sabablarining yo‘qligiga asoslanadi.</a:t>
            </a:r>
          </a:p>
          <a:p>
            <a:pPr>
              <a:spcAft>
                <a:spcPts val="800"/>
              </a:spcAft>
            </a:pPr>
            <a:r>
              <a:rPr sz="1800">
                <a:solidFill>
                  <a:srgbClr val="1F2937"/>
                </a:solidFill>
                <a:latin typeface="Calibri"/>
              </a:rPr>
              <a:t>▸  Kesson kasalligida o‘ng yurak va venalarda gaz pufakli laxtalar, teri osti emfizemasi topiladi.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809750"/>
                <a:gridCol w="2015169"/>
                <a:gridCol w="1463055"/>
              </a:tblGrid>
              <a:tr h="614476">
                <a:tc>
                  <a:txBody>
                    <a:bodyPr/>
                    <a:lstStyle/>
                    <a:p>
                      <a:r>
                        <a:rPr sz="1600" b="1">
                          <a:solidFill>
                            <a:srgbClr val="FFFFFF"/>
                          </a:solidFill>
                        </a:rPr>
                        <a:t>Omil</a:t>
                      </a:r>
                    </a:p>
                  </a:txBody>
                  <a:tcPr marL="73152" marR="73152" marT="36576" marB="36576">
                    <a:solidFill>
                      <a:srgbClr val="0B1F3A"/>
                    </a:solidFill>
                  </a:tcPr>
                </a:tc>
                <a:tc>
                  <a:txBody>
                    <a:bodyPr/>
                    <a:lstStyle/>
                    <a:p>
                      <a:r>
                        <a:rPr sz="1600" b="1">
                          <a:solidFill>
                            <a:srgbClr val="FFFFFF"/>
                          </a:solidFill>
                        </a:rPr>
                        <a:t>Mexanizm</a:t>
                      </a:r>
                    </a:p>
                  </a:txBody>
                  <a:tcPr marL="73152" marR="73152" marT="36576" marB="36576">
                    <a:solidFill>
                      <a:srgbClr val="0B1F3A"/>
                    </a:solidFill>
                  </a:tcPr>
                </a:tc>
                <a:tc>
                  <a:txBody>
                    <a:bodyPr/>
                    <a:lstStyle/>
                    <a:p>
                      <a:r>
                        <a:rPr sz="1600" b="1">
                          <a:solidFill>
                            <a:srgbClr val="FFFFFF"/>
                          </a:solidFill>
                        </a:rPr>
                        <a:t>Belgi</a:t>
                      </a:r>
                    </a:p>
                  </a:txBody>
                  <a:tcPr marL="73152" marR="73152" marT="36576" marB="36576">
                    <a:solidFill>
                      <a:srgbClr val="0B1F3A"/>
                    </a:solidFill>
                  </a:tcPr>
                </a:tc>
              </a:tr>
              <a:tr h="614476">
                <a:tc>
                  <a:txBody>
                    <a:bodyPr/>
                    <a:lstStyle/>
                    <a:p>
                      <a:r>
                        <a:rPr sz="1500" b="0">
                          <a:solidFill>
                            <a:srgbClr val="1F2937"/>
                          </a:solidFill>
                        </a:rPr>
                        <a:t>Kislorod</a:t>
                      </a:r>
                    </a:p>
                  </a:txBody>
                  <a:tcPr marL="73152" marR="73152" marT="36576" marB="36576">
                    <a:solidFill>
                      <a:srgbClr val="E8EEF6"/>
                    </a:solidFill>
                  </a:tcPr>
                </a:tc>
                <a:tc>
                  <a:txBody>
                    <a:bodyPr/>
                    <a:lstStyle/>
                    <a:p>
                      <a:r>
                        <a:rPr sz="1500" b="0">
                          <a:solidFill>
                            <a:srgbClr val="1F2937"/>
                          </a:solidFill>
                        </a:rPr>
                        <a:t>Giperoksemiya, ferment inaktivatsiyasi</a:t>
                      </a:r>
                    </a:p>
                  </a:txBody>
                  <a:tcPr marL="73152" marR="73152" marT="36576" marB="36576">
                    <a:solidFill>
                      <a:srgbClr val="E8EEF6"/>
                    </a:solidFill>
                  </a:tcPr>
                </a:tc>
                <a:tc>
                  <a:txBody>
                    <a:bodyPr/>
                    <a:lstStyle/>
                    <a:p>
                      <a:r>
                        <a:rPr sz="1500" b="0">
                          <a:solidFill>
                            <a:srgbClr val="1F2937"/>
                          </a:solidFill>
                        </a:rPr>
                        <a:t>Neyrotoksik va o‘pka formalari</a:t>
                      </a:r>
                    </a:p>
                  </a:txBody>
                  <a:tcPr marL="73152" marR="73152" marT="36576" marB="36576">
                    <a:solidFill>
                      <a:srgbClr val="E8EEF6"/>
                    </a:solidFill>
                  </a:tcPr>
                </a:tc>
              </a:tr>
              <a:tr h="614476">
                <a:tc>
                  <a:txBody>
                    <a:bodyPr/>
                    <a:lstStyle/>
                    <a:p>
                      <a:r>
                        <a:rPr sz="1500" b="0">
                          <a:solidFill>
                            <a:srgbClr val="1F2937"/>
                          </a:solidFill>
                        </a:rPr>
                        <a:t>Karbonat angidridi</a:t>
                      </a:r>
                    </a:p>
                  </a:txBody>
                  <a:tcPr marL="73152" marR="73152" marT="36576" marB="36576">
                    <a:solidFill>
                      <a:srgbClr val="FFFFFF"/>
                    </a:solidFill>
                  </a:tcPr>
                </a:tc>
                <a:tc>
                  <a:txBody>
                    <a:bodyPr/>
                    <a:lstStyle/>
                    <a:p>
                      <a:r>
                        <a:rPr sz="1500" b="0">
                          <a:solidFill>
                            <a:srgbClr val="1F2937"/>
                          </a:solidFill>
                        </a:rPr>
                        <a:t>Konsentratsiya 3% va undan ortiq</a:t>
                      </a:r>
                    </a:p>
                  </a:txBody>
                  <a:tcPr marL="73152" marR="73152" marT="36576" marB="36576">
                    <a:solidFill>
                      <a:srgbClr val="FFFFFF"/>
                    </a:solidFill>
                  </a:tcPr>
                </a:tc>
                <a:tc>
                  <a:txBody>
                    <a:bodyPr/>
                    <a:lstStyle/>
                    <a:p>
                      <a:r>
                        <a:rPr sz="1500" b="0">
                          <a:solidFill>
                            <a:srgbClr val="1F2937"/>
                          </a:solidFill>
                        </a:rPr>
                        <a:t>Hansirash, bosh og‘rig‘i, terlash</a:t>
                      </a:r>
                    </a:p>
                  </a:txBody>
                  <a:tcPr marL="73152" marR="73152" marT="36576" marB="36576">
                    <a:solidFill>
                      <a:srgbClr val="FFFFFF"/>
                    </a:solidFill>
                  </a:tcPr>
                </a:tc>
              </a:tr>
              <a:tr h="614476">
                <a:tc>
                  <a:txBody>
                    <a:bodyPr/>
                    <a:lstStyle/>
                    <a:p>
                      <a:r>
                        <a:rPr sz="1500" b="0">
                          <a:solidFill>
                            <a:srgbClr val="1F2937"/>
                          </a:solidFill>
                        </a:rPr>
                        <a:t>Azot</a:t>
                      </a:r>
                    </a:p>
                  </a:txBody>
                  <a:tcPr marL="73152" marR="73152" marT="36576" marB="36576">
                    <a:solidFill>
                      <a:srgbClr val="E8EEF6"/>
                    </a:solidFill>
                  </a:tcPr>
                </a:tc>
                <a:tc>
                  <a:txBody>
                    <a:bodyPr/>
                    <a:lstStyle/>
                    <a:p>
                      <a:r>
                        <a:rPr sz="1500" b="0">
                          <a:solidFill>
                            <a:srgbClr val="1F2937"/>
                          </a:solidFill>
                        </a:rPr>
                        <a:t>Yog‘da yaxshi eriydi, miya sezgir</a:t>
                      </a:r>
                    </a:p>
                  </a:txBody>
                  <a:tcPr marL="73152" marR="73152" marT="36576" marB="36576">
                    <a:solidFill>
                      <a:srgbClr val="E8EEF6"/>
                    </a:solidFill>
                  </a:tcPr>
                </a:tc>
                <a:tc>
                  <a:txBody>
                    <a:bodyPr/>
                    <a:lstStyle/>
                    <a:p>
                      <a:r>
                        <a:rPr sz="1500" b="0">
                          <a:solidFill>
                            <a:srgbClr val="1F2937"/>
                          </a:solidFill>
                        </a:rPr>
                        <a:t>Alkogolga o‘xshash mastlik, eyforiya</a:t>
                      </a:r>
                    </a:p>
                  </a:txBody>
                  <a:tcPr marL="73152" marR="73152" marT="36576" marB="36576">
                    <a:solidFill>
                      <a:srgbClr val="E8EEF6"/>
                    </a:solidFill>
                  </a:tcPr>
                </a:tc>
              </a:tr>
              <a:tr h="614476">
                <a:tc>
                  <a:txBody>
                    <a:bodyPr/>
                    <a:lstStyle/>
                    <a:p>
                      <a:r>
                        <a:rPr sz="1500" b="0">
                          <a:solidFill>
                            <a:srgbClr val="1F2937"/>
                          </a:solidFill>
                        </a:rPr>
                        <a:t>Dekompressiya</a:t>
                      </a:r>
                    </a:p>
                  </a:txBody>
                  <a:tcPr marL="73152" marR="73152" marT="36576" marB="36576">
                    <a:solidFill>
                      <a:srgbClr val="FFFFFF"/>
                    </a:solidFill>
                  </a:tcPr>
                </a:tc>
                <a:tc>
                  <a:txBody>
                    <a:bodyPr/>
                    <a:lstStyle/>
                    <a:p>
                      <a:r>
                        <a:rPr sz="1500" b="0">
                          <a:solidFill>
                            <a:srgbClr val="1F2937"/>
                          </a:solidFill>
                        </a:rPr>
                        <a:t>Tez ko‘tarilganda azot pufakchalari</a:t>
                      </a:r>
                    </a:p>
                  </a:txBody>
                  <a:tcPr marL="73152" marR="73152" marT="36576" marB="36576">
                    <a:solidFill>
                      <a:srgbClr val="FFFFFF"/>
                    </a:solidFill>
                  </a:tcPr>
                </a:tc>
                <a:tc>
                  <a:txBody>
                    <a:bodyPr/>
                    <a:lstStyle/>
                    <a:p>
                      <a:r>
                        <a:rPr sz="1500" b="0">
                          <a:solidFill>
                            <a:srgbClr val="1F2937"/>
                          </a:solidFill>
                        </a:rPr>
                        <a:t>Gaz emboliyasi, kesson kasalligi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Gazlar ta’sirini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209, 210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Past bosim, radiatsiya va xulosa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42</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Balandlik kasalligida kislorod yetishmaydi, avvalo yurak-qon tomir va nafas tizimi buziladi; 18000 m da (6 kPa) to‘qima suyuqliklari “qaynab ketadi”.</a:t>
            </a:r>
          </a:p>
          <a:p>
            <a:pPr>
              <a:spcAft>
                <a:spcPts val="800"/>
              </a:spcAft>
            </a:pPr>
            <a:r>
              <a:rPr sz="1600">
                <a:solidFill>
                  <a:srgbClr val="1F2937"/>
                </a:solidFill>
                <a:latin typeface="Calibri"/>
              </a:rPr>
              <a:t>▸  Nur kasalligi formalari doza bo‘yicha: 10 greygacha suyak miya, 10–20 ichak, 20–80 toksemik, 80 dan yuqori serebral.</a:t>
            </a:r>
          </a:p>
          <a:p>
            <a:pPr>
              <a:spcAft>
                <a:spcPts val="800"/>
              </a:spcAft>
            </a:pPr>
            <a:r>
              <a:rPr sz="1600">
                <a:solidFill>
                  <a:srgbClr val="1F2937"/>
                </a:solidFill>
                <a:latin typeface="Calibri"/>
              </a:rPr>
              <a:t>▸  O‘tkir nur kasalligida birlamchi reaksiya, latent davr (2–4 hafta) va yaqqol klinik belgilar davri bo‘ladi. O‘lim ko‘pincha 4-hafta oxirida infeksion asoratdan.</a:t>
            </a:r>
          </a:p>
          <a:p>
            <a:pPr>
              <a:spcAft>
                <a:spcPts val="800"/>
              </a:spcAft>
            </a:pPr>
            <a:r>
              <a:rPr sz="1600">
                <a:solidFill>
                  <a:srgbClr val="1F2937"/>
                </a:solidFill>
                <a:latin typeface="Calibri"/>
              </a:rPr>
              <a:t>▸  Ekspertiza hal qiladi: shikastlovchi omil turi, manbaning fizik xususiyati, doza, ta’sir soni va vaqti hamda tan jarohatining og‘irligi.</a:t>
            </a:r>
          </a:p>
          <a:p>
            <a:pPr>
              <a:spcAft>
                <a:spcPts val="800"/>
              </a:spcAft>
            </a:pPr>
            <a:r>
              <a:rPr sz="1600">
                <a:solidFill>
                  <a:srgbClr val="1F2937"/>
                </a:solidFill>
                <a:latin typeface="Calibri"/>
              </a:rPr>
              <a:t>▸  Suyak miya formasi 6 greydan baland dozada o‘limga olib keladi.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Past bosim, radiatsiya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Balandlik kasalligi</a:t>
            </a:r>
          </a:p>
          <a:p>
            <a:pPr algn="l">
              <a:spcAft>
                <a:spcPts val="0"/>
              </a:spcAft>
            </a:pPr>
            <a:r>
              <a:rPr sz="1200" b="0">
                <a:solidFill>
                  <a:srgbClr val="1F2937"/>
                </a:solidFill>
                <a:latin typeface="Calibri"/>
              </a:rPr>
              <a:t>Kislorod yetishmaydi  ·  18000 m (6 kPa): suyuqliklar «qaynaydi»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Nur kasalligi: doza</a:t>
            </a:r>
          </a:p>
          <a:p>
            <a:pPr algn="l">
              <a:spcAft>
                <a:spcPts val="0"/>
              </a:spcAft>
            </a:pPr>
            <a:r>
              <a:rPr sz="1200" b="0">
                <a:solidFill>
                  <a:srgbClr val="1F2937"/>
                </a:solidFill>
                <a:latin typeface="Calibri"/>
              </a:rPr>
              <a:t>10 Gr gacha: suyak miya; 10–20: ichak  ·  20–80 Gr: toksemik  ·  80 Gr dan yuqori: serebral</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O‘tkir nur kasalligi</a:t>
            </a:r>
          </a:p>
          <a:p>
            <a:pPr algn="l">
              <a:spcAft>
                <a:spcPts val="0"/>
              </a:spcAft>
            </a:pPr>
            <a:r>
              <a:rPr sz="1200" b="0">
                <a:solidFill>
                  <a:srgbClr val="1F2937"/>
                </a:solidFill>
                <a:latin typeface="Calibri"/>
              </a:rPr>
              <a:t>Birlamchi reaksiya  ·  Latent davr 2–4 hafta  ·  Klinik belgilar davri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Past bosim va nur kasalligi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210-211, 212, 213, 214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usuli: Vishnevskiy dog‘lari — “80–90% va 6–9 oy”. Oshqozon shilliq qavatidagi mayda (0,5 sm gacha) qon quyilishlar sovuq qotishdan o‘limlarning 80–90%ida topiladi. Ular o‘limdan 6–9 oy keyin ham saqlanishi mumkin.</a:t>
            </a:r>
          </a:p>
          <a:p>
            <a:pPr>
              <a:spcAft>
                <a:spcPts val="1200"/>
              </a:spcAft>
            </a:pPr>
            <a:r>
              <a:rPr sz="1800">
                <a:solidFill>
                  <a:srgbClr val="1F2937"/>
                </a:solidFill>
                <a:latin typeface="Calibri"/>
              </a:rPr>
              <a:t>▸  Hodisa tahlili: yong‘indan keyin topilgan murdada qovoq terisi yoyilganda kuygan va kuymagan sohalar navbatlashadi (“g‘oz panjasi”). Bu alanga tiriklikda ta’sir qilganini ko‘rsatadi, chunki odam ko‘zini qisadi. Karboksigemoglobin o‘limdan keyin 20% dan oshmaydi, tiriklikda esa 60% gacha bo‘lishi mumkin.</a:t>
            </a:r>
          </a:p>
          <a:p>
            <a:pPr>
              <a:spcAft>
                <a:spcPts val="1200"/>
              </a:spcAft>
            </a:pPr>
            <a:r>
              <a:rPr sz="1800">
                <a:solidFill>
                  <a:srgbClr val="1F2937"/>
                </a:solidFill>
                <a:latin typeface="Calibri"/>
              </a:rPr>
              <a:t>▸  Qiziqarli fakt: go‘dakning murdasi 2–3 soatda yonib kulga aylanadi. Kattalarniki uchun bu muddat 20 soatga yaqin. Krematoriyda tabiiy gazda kattalar murdasini yoqishga bir soatdan kam vaqt ketadi.</a:t>
            </a:r>
          </a:p>
          <a:p>
            <a:pPr>
              <a:spcAft>
                <a:spcPts val="1200"/>
              </a:spcAft>
            </a:pPr>
            <a:r>
              <a:rPr sz="1800">
                <a:solidFill>
                  <a:srgbClr val="1F2937"/>
                </a:solidFill>
                <a:latin typeface="Calibri"/>
              </a:rPr>
              <a:t>▸  Eslab qolish usuli: tok turi bo‘yicha “120 = 42”. 120 voltli o‘zgarmas tokning ta’siri 42 voltli o‘zgaruvchan tok bilan barobar. 500 voltgacha o‘zgaruvchan tok xavfliroq, 500 voltda ikkalasi tenglashadi, undan yuqorida o‘zgarmas tok xavfliroq.</a:t>
            </a:r>
          </a:p>
          <a:p>
            <a:pPr>
              <a:spcAft>
                <a:spcPts val="1200"/>
              </a:spcAft>
            </a:pPr>
            <a:r>
              <a:rPr sz="1800">
                <a:solidFill>
                  <a:srgbClr val="1F2937"/>
                </a:solidFill>
                <a:latin typeface="Calibri"/>
              </a:rPr>
              <a:t>▸  Amaliy maslahat: “yashin figurasi” — terida qizil yoki pushti daraxtsimon shakl, yashin urishiga xos belgi. U beqaror: bir necha soatdan, ba’zan sutkadan keyin yo‘qoladi. Shuning uchun murda tanasida uni darhol suratga olish kerak.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42</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7. Fizik omillar ta'siri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