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Maqsad: talabalar mashg‘ulot rejasini (harorat, elektr toki, bosim, radiatsiya) bilib oladi. Muhokama: 1) Nega kam uchraydigan travmalarni ham bilish kerak? 2) Elektrotravma kam uchrasa-da, nega xavfli? Doskada: 4 ta kvadrat chizib, har biriga bir omil nomini yozing. Tipik xato: kam uchrashini ahamiyatsizlik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yo‘l issiqlikni eng ko‘p chiqaradi? 2) Nega 43-44°S va 22-25°S chegaralari muhim? Doskada: tana harorati shkalasini chizib, 36-37°S, 22-25°S va 43-44°S ni belgilang. Tipik xato: umumiy ta’sir (issiq urish, sovuq qotish) bilan mahalliy ta’sirni (kuyish, sovuq urish)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issiq sexda ishlovchi va sportchi xavf guruhiga kiradi? 2) Nega yosh chaqaloqlarda xavf yuqori? Doskada: ‘ko‘p ishlab chiqarish’ va ‘kam ajratish’ ikki ustunini chizib, sharoitlarni taqsimlang. Tipik xato: faqat tashqi issiqni sabab deb bilish; ichki moyillik omillarini (kasallik, semizlik, yosh) unutish.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qon quyuqlashishi gipertermiyani kuchaytiradi? Havo va namlik o‘tkazmaydigan kiyim qanday rol o‘ynaydi? Doskada: patogenez zanjirini strelkalar bilan chizdiring. Tipik xato: gipoksiyani faqat nafas yetishmovchiligi deb o‘ylash, aslida u qon aylanishi buzilishining natijasi.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holsizlik davri predagonal deyiladi? O‘tkir va uzaytirilgan shaklning asosiy farqi nimada? Doskada: uch davrni vaqt chizig‘i ko‘rinishida chizdiring. Tipik xato: qo‘zg‘alish davrini birinchi davr deb adashtirish; birinchi davr qisqa latent davr (MNT faoliyatining susayishi). MNT - markaziy nerv tizimi.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issiq urishi va quyosh urishi sabablari qanday farq qiladi? Murda tekshiruvida ularni ajratish mumkinmi (morfologik o‘zgarishlar o‘xshash, spetsifik emas)? Doskada: ikki holatni solishtirish jadvalini chizdiring (sabab, harorat, belgilar). Tipik xato: quyosh urishida ham yuqori isitma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belgilar issiq urishini aniq isbotlamaydi? 2) Murda qotishi va dog‘lari bu holatda qanday farq qiladi? Doskada chizish: ikki ustun (miya / ichki a’zolar / qon va o‘pka / murda qotishi va dog‘lari) bo‘yicha topilmalar ro‘yxati. Tipik xato: quyuq qon yoki to‘laqonlikni issiq urishga xos spetsifik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sharoitlar bu ishchida issiq urishga moyillik yaratgan? 2) Boshqa o‘lim sabablarini qanday chetlatish mumkin? Doskada chizish: xavf omillari → topilmalar → xulosa zanjiri. Tipik xato: faqat murda topilmalariga tayanib, voqea sharoitini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talabalarga navbat bilan bering. Muhokama: 1) Issiq urishi va quyosh urishi sabablari qanday farqlanadi? 2) Nega anamnez bu holatlarda hal qiluvchi? Doskada chizish: issiq urishi va quyosh urishini yonma-yon solishtiruvchi qisqa jadval (sabab, harorat, murda topilmasi). Tipik xato: quyosh urishida ham yuqori tana harorati xos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bir xil ta’sirda teri yupqa sohalarda kuyish chuqurroq bo‘ladi? 2) Kuyishning og‘irligini qaysi uch omil belgilaydi? Doskada: harorat chegarasi (45-50°S) va kuyish manbalari ro‘yxatini chizing. Tipik xato: kuyish og‘irligini faqat darajaga qarab baholash, maydonni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Murdada qaysi daraja ko‘pincha aniqlanmaydi va nima uchun? 2) II daraja pufak tubi kesilganda qon chiqmasligi nimani bildiradi? Doskada: 4 darajali jadvalni talabalar bilan birga to‘ldiring. Tipik xato: IV darajani suyuqlik yoki bug‘dan ham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Murdada kiyimi butun, kuyishi oqma shaklida bo‘lsa, qaysi manbani o‘ylaysiz? 2) Kuyish yarasining joylashuvi jabrlanganning holati haqida nimani aytadi? Doskada: oqma (pastga) va alanga tili (yuqoriga) yo‘nalishini strelkalar bilan chizing. Tipik xato: qurum izini suyuqlik kuyishiga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kuyish maydoni darajadan tashqari baholanadi? 2) Qaysi holatda kaft qoidasi qulay? Doskada: odam sxemasini chizib, hududlarga foizlarni yozdiring. Tipik xato: to‘qqizliklar qoidasidagi 9% va 18% qiymatlarini, shuningdek III-IV (10%), III (15%) va II (20%) chegaralarini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“30% (10%) / II-III” yozuvi nimani bildiradi? 2) Nega kichik yuzali kuyish ham xavfli bo‘lishi mumkin? Doskada: talabalar bir nechta kasr shaklidagi diagnozni yozib, suratni va mahrajni izohlasin. Tipik xato: kasrda suratga daraja, mahrajga yuza yozish; qavs ichidagi yuzani umumiy yuza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Toksemiya va septikotoksemiya farqi nimada? 2) Nega bolalarda kuyish kasalligi kichik maydonda ham rivojlanadi? Doskada: to‘rt davrni zanjir qilib chizing va har biriga asosiy belgini yozing. Tipik xato: toksemiyani (oqsil parchalanish mahsulotlarining so‘rilishi) septikotoksemiya (yiringlash) bilan aralashtirish. Qo‘shimcha: shok bir sutkagacha, ba’zan 2-3 sutkagacha cho‘ziladi; septikotoksemiya bir necha oygacha davom etishi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Yong‘in o‘chog‘idan topilgan murdada nega avval nafas yo‘llari qurumi tekshiriladi? 2) Nima uchun qon yuza tomirdan emas, yurak kameralari va chuqur tomirlardan olinadi? Doskada chizish: jadvalni daftarga ko‘chirtiring va har belgi yoniga namuna olish joyini yozdiring. Tipik xato: talaba yuza tomir qonidagi karboksigemoglobinni hayotiylik isboti deb hisoblaydi, holbuki u o‘limdan keyin ham 20% gacha bo‘lishi mumkin. Qo‘shimcha: qurum leykotsit sitoplazmasi va jigardagi Kupfer hujayralarida ham topilishi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“G‘oz panjasi” nima uchun hosil bo‘ladi (qovoq burmalari)? 2) Yong‘indan keyingi epidural gematomani travmadan qanday farqlaysiz? Doskada chizish: ikki gematoma shaklini (urchuqsimon va o‘roqsimon) yonma-yon chizdiring. Tipik xato: urchuqsimon va o‘roqsimon shakllarni, birikkan va birikmagan holatni adashtirish. Gistologik tekshiruv ham muhim ekanini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Bokser pozasi nima uchun hosil bo‘ladi? 2) Kul tekshiruvi qanday savollarga javob beradi? Doskada chizish: bokser pozasidagi tana holatini sxematik chizdiring. Tipik xato: bokser pozasini mushaklarning zichlashishi natijasi emas, balki hayotda yuz bergan harakat deb o‘ylash. Yoqish vaqtlarini (go‘dak, kattalar, krematoriy) taqqoslab yodlatish tavsiya etiladi.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Qurum va karboksigemoglobin nima uchun hayotiylikning ishonchli belgilari? 2) Qovoqdagi “g‘oz panjasi” belgisi nimani ko‘rsatadi? Doskaga chizish: urchuqsimon va o‘roqsimon epidural gematomaning kesim sxemasi. Tipik xato: bokser pozasi yoki ko‘mirlanishni hayotiylik belgisi deb hisoblash. Aslida bu mushaklarning zichlashishi natijasidir. Qurum va qondagi karboksigemoglobin hal qiluvchi.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alkogol sovuqda xavfli, garchi “isitgandek” tuyulsa? 2) Nega go‘daklar va keksalar xavf guruhida? Doskaga chizish: tashqi va ichki moyillik omillari ikki ustunli ro‘yxati. Tipik xato: sovuq qotish faqat manfiy haroratda bo‘ladi deb o‘ylash. Manbaga ko‘ra +10°S gacha ham mumkin.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Kompensatsiya nima uchun dekompensatsiyaga o‘tadi? 2) Harorat chegaralari klinik belgilar bilan qanday bog‘lanadi? Doskaga chizish: harorat o‘qi (+30…+22°S) va unga mos bosqichlar. Tipik xato: dekompensatsiyada ham modda almashinuvi kuchayadi deb o‘ylash. Aslida u pasayadi.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kuchli mast odamda poza bo‘lmasligi mumkin? Nega murda dog‘lari musbat va manfiy haroratda har xil rangda? Doskada: jadvaldagi to‘rt belgini muallif ismlari bilan chizdiring. Tipik xato: qor tagidagi muz qatlamini sovuq qotishning spetsifik belgisi deb hisoblash; bu belgi sovub ulgurmagan murdada ham paydo bo‘ladi. Puparev belgisi faqat erkaklarda.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sekin o‘limda qon laxtali va qip-qizil bo‘ladi? Puxnarevich va Fabrikantov belgilari qaysi a’zoda aniqlanadi? Doskada: ikki ustun chizing, chap tomonga Puxnarevich (oshqozon), o‘ng tomonga Fabrikantov (buyrak jomi) yozdiring. Tipik xato: Puxnarevich belgisini buyrak, Fabrikantov belgisini oshqozon bilan aralashtirish. Eslab qoling: P-U-X oshqozon (bo‘sh), F-A-B buyrak.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tez o‘limda dog‘lar kam yoki yo‘q bo‘ladi? Nega oshqozonning kirish qismida dog‘lar to‘q jigar rangda? Doskada: mexanizm zanjirini besh bosqichda chizdiring. Tipik xato: dog‘larni oshqozon yarasi yoki eroziya deb o‘ylash; ular burma tepasidagi mayda qon quyilish bo‘lib, oson olinadi. Eslatma: bu belgi tananing muzlashi bilan emas, hayotiy sovuq ta’siri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glikogenning bo‘lishi yoki yo‘qligi o‘lim tezligiga bog‘liq? 2) Qon va siydikda alkogol nisbati nimani ko‘rsatadi? Doskada: ‘mikro–gistokimyo–alkogol’ uch ustunli qisqa jadval chizdiring. Tipik xato: gistokimyoviy o‘zgarishlarni sovuq qotishning yagona isboti deb hisoblash; qisqa o‘limda glikogen saqlanishi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muzlash artefaktini hayotiy jarohatdan ajratish muhim? 2) Nega eritishni shoshiltirish ekspertiza sifatiga zarar qiladi? Doskada: ‘muzlash → hajm ortishi → kalla bo‘shlig‘ida shikast’ zanjirini chizdiring. Tipik xato: muzlash natijasidagi kalla suyaklari sinishini travma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Javob: Rayskiy (qirov), Puxnarevich (bo‘sh oshqozon), Vishnevskiy (shilliq qavatdagi qon quyilishlar). Dog‘lar kislorod ko‘pligidan pushti-qizgish. Muhokama: 1) Qaysi belgi eng ishonchli? 2) Mastlik bu tasvirni qanday o‘zgartiradi? Doskada: topilgan belgilarni ‘tashqi / ichki / laboratoriya’ ustunlariga ajratib yozing. Tipik xato: faqat bitta belgiga tayanib xulosa chiqarish, qorning tagidagi muzni spetsifik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sovuq urishda tana harorati normal bo‘lib, faqat soha sovuydi? Reperkussiya fenomeni nimani ko‘rsatadi? Doskada: yashirin va reaktiv davrlarning vaqt chizig‘ini chizdiring. Tipik xato: mahalliy sovuq urishni umumiy sovuq qotish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I-II va III-IV darajani pufak suyuqligi va chandiq bo‘yicha qanday farqlaysiz? Nega IV darajada sepsis xavfi katta? Doskada: to‘rt daraja bo‘yicha jadvalni talabalar bilan to‘ldiring. Tipik xato: II va III daraja pufak suyuqligini (tiniq va gemorragik)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elektrotravma kam uchrasa ham xavfli hisoblanadi? Tokning boshqa shikastlovchi omillardan farqi nimada? Doskada: uch guruh omillarning sxemasini chizdiring. Tipik xato: tok xususiyatlari bilan organizm omillarini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500 voltda ikki tok turining xavfi tenglashadi? Nega yuqori chastotali tok fizioterapiyada qo‘llanadi? Doskada jadvalni chizdirib, qiymatlarni to‘ldirtiring. Tipik xato: yuqori kuchlanishni har doim xavfliroq deb o‘ylash, aslida 3000 voltdan yuqorida o‘lim kam uchraydi.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professional elektromonterlarda elektrotravma kam uchraydi (diqqat omili)? Qadam kuchlanishida pastki sirtmoq o‘zi xavfli emas bo‘lsa, nega xavf tug‘iladi? Doskada tok sirtmoqlarini (yuqori, pastki, to‘liq) sxematik chizdirib, xavfli yo‘llarni belgilatng. Tipik xato: qadam kuchlanishida xavfni to‘g‘ridan-to‘g‘ri pastki sirtmoqqa bog‘lash; aslida yiqilish natijasida to‘liq sirtmoq paydo bo‘ladi.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spetsifik va nospetsifik ta’sirning farqi nimada? Anod va katodda nekroz turlari qanday farqlanadi? Doskada spetsifik ta’sirning to‘rt turi (umumiy, kimyoviy, termik, mexanik) sxemasini chizdiring. Tipik xato: tok ta’siridan balandlikdan yiqilishni spetsifik ta’sirga kiritish; u nospetsifik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elektr kuyish og‘riqsiz bo‘ladi? 2) Metallizatsiya ekspertga qanday ma’lumot beradi? Doskada: tamg‘a va kuyishning harorat hamda ko‘rinish jadvalini chizdiring. Tipik xato: talabalar tamg‘a har doim hosil bo‘ladi deb o‘ylaydi; yupqa yoki nam teridagi holatlar ham bor, ular 10-20% gacha.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tokdan ozod bo‘lgan jabrlanganni ham kuzatishda ushlash kerak? 2) Hodisa joyida soxta o‘limni qanday hisobga olasiz? Doskada: 4 turni vaqt chizig‘ida (zumda — kunlargacha) chizdiring. Tipik xato: uzilgan o‘limni sekin o‘lim bilan aralashtirish; uzilganda jabrlangan o‘ziga keladi, keyin o‘ladi.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yashin figurasini darhol suratga olish shart? 2) Yashin va yuqori kuchlanishli tok jarohatlari qanday o‘xshaydi? Doskada: yashinning to‘rt shikastlovchi omilini sxema qilib chizdiring. Tipik xato: kiyim butun bo‘lsa, yashin ta’siri bo‘lmagan deb xulosa qilish; bunday holat uchramasligi ham, tana jarohati bo‘lishi ham mumkin.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suv tagida olingan jarohat faqat yuzaga chiqqanda sezilishi mumkin? 2) Murdada o‘pka barotravmasi qanday tasdiqlanadi (o‘pka, yurak va tomirlarni bog‘lab suvga solib, havo yuborish; tomirlarda havo emboliyasi)? Doskada: zanjirni chizing va har bosqichga morfologik belgini yozing. Diqqat, tipik xato: niqob yoki naycha bilan sho‘ng‘iganda o‘pka barotravmasi bo‘lmaydi, akvalangda 10 m chuqurlikda nafas to‘xtatilsa bo‘ladi. Quloq va burun qo‘shimcha bo‘shliqlari barotravmasi o‘limga olib kelmaydi, odatda o‘pka barotravmasi bilan birga uchraydi.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kislorod bilan zaharlanishda bolalarda o‘tkir (neyrotoksik) forma bo‘lmaydi? 2) Tez ko‘tarilganda nima uchun azot gaz emboliyasi hosil qiladi? Doskada: jadvalni chizib, har gaz uchun bosim qiymati (2,5–3,0 MPa neyrotoksik, 1,0–1,5 MPa o‘pka forma) yozib qo‘ying. Tipik xato: kislorod va karbonat angidridi zaharlanishida murdada spetsifik belgilar bor deb o‘ylash, aslida tashxis tafsilot va klinikaga tayanadi. Azotning mast qiluvchi ta’siri parsial bosim pasayganda tez yo‘qoladi.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Tog‘li hududda topilgan murdada nega faqat balandlik kasalligini tashxis qilish yetarli emas (yurak kasalligi, yashin, quyosh urishi, yiqilish ehtimoli)? 2) Latent davrdagi yaxshilanish nima uchun xavfli? Doskada: nur dozasi (grey) bo‘yicha to‘rt formani shkala ko‘rinishida chizing. Tipik xato: 1 grey = 100 rad ekanini va suyak miya formasi 6 greydan yuqori dozada o‘lim keltirishini chalkashtirish. Yakuniy xulosa: bosimning keskin o‘zgarishi, gazlar va nurlanish ta’sirida tashxis voqea tafsiloti, hodisa joyi, makro- va mikroskopik hamda laboratoriya ma’lumotlari majmuiga tayanadi.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Fizik omillar ta’siridan o‘lim hollarida murdalar sud-tibbiy ekspertizasi.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fizik omillar va sud-tibbiy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Mavzuda fizik omillarning to‘rt guruhi ko‘riladi: yuqori va past harorat, elektr toki, bosimning o‘zgarishi hamda radiatsiya.</a:t>
            </a:r>
          </a:p>
          <a:p>
            <a:pPr>
              <a:spcAft>
                <a:spcPts val="1200"/>
              </a:spcAft>
            </a:pPr>
            <a:r>
              <a:rPr sz="2200">
                <a:solidFill>
                  <a:srgbClr val="1F2937"/>
                </a:solidFill>
                <a:latin typeface="Calibri"/>
              </a:rPr>
              <a:t>▸  Elektrotravma barcha shikastlanishlarning 1-2,5% ini tashkil etsa-da, nogironlik va o‘limga olib kelishi bo‘yicha etakchi o‘rinlardan birini egallaydi.</a:t>
            </a:r>
          </a:p>
          <a:p>
            <a:pPr>
              <a:spcAft>
                <a:spcPts val="1200"/>
              </a:spcAft>
            </a:pPr>
            <a:r>
              <a:rPr sz="2200">
                <a:solidFill>
                  <a:srgbClr val="1F2937"/>
                </a:solidFill>
                <a:latin typeface="Calibri"/>
              </a:rPr>
              <a:t>▸  Barotravma, ya’ni bosim o‘zgarishidan shikastlanish, sud-tibbiy ekspertiza amaliyotida kam uchraydi.</a:t>
            </a:r>
          </a:p>
          <a:p>
            <a:pPr>
              <a:spcAft>
                <a:spcPts val="1200"/>
              </a:spcAft>
            </a:pPr>
            <a:r>
              <a:rPr sz="2200">
                <a:solidFill>
                  <a:srgbClr val="1F2937"/>
                </a:solidFill>
                <a:latin typeface="Calibri"/>
              </a:rPr>
              <a:t>▸  Radiatsion travma ham nisbatan kam uchraydi. Yadro portlashlaridan tashqari barcha holatlarda u baxtsiz hodisa oqibatida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 196, 205, 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 harorati va issiqlik ajralish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Normal tana harorati 36-37°S; u issiqlik ishlab chiqarish va ajratish regulyatsiyasi bilan ta’minlanadi.</a:t>
            </a:r>
          </a:p>
          <a:p>
            <a:pPr>
              <a:spcAft>
                <a:spcPts val="800"/>
              </a:spcAft>
            </a:pPr>
            <a:r>
              <a:rPr sz="1800">
                <a:solidFill>
                  <a:srgbClr val="1F2937"/>
                </a:solidFill>
                <a:latin typeface="Calibri"/>
              </a:rPr>
              <a:t>▸  22-25°S dan past yoki 43-44°S dan baland harorat to‘qimalarda hayotga mos kelmaydigan o‘zgarish beradi.</a:t>
            </a:r>
          </a:p>
          <a:p>
            <a:pPr>
              <a:spcAft>
                <a:spcPts val="800"/>
              </a:spcAft>
            </a:pPr>
            <a:r>
              <a:rPr sz="1800">
                <a:solidFill>
                  <a:srgbClr val="1F2937"/>
                </a:solidFill>
                <a:latin typeface="Calibri"/>
              </a:rPr>
              <a:t>▸  Umumiy ta’sir issiq urish yoki sovuq qotishga, mahalliy ta’sir kuyish yoki sovuq urishiga olib keladi.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Yo‘l</a:t>
                      </a:r>
                    </a:p>
                  </a:txBody>
                  <a:tcPr marL="73152" marR="73152" marT="36576" marB="36576">
                    <a:solidFill>
                      <a:srgbClr val="0B1F3A"/>
                    </a:solidFill>
                  </a:tcPr>
                </a:tc>
                <a:tc>
                  <a:txBody>
                    <a:bodyPr/>
                    <a:lstStyle/>
                    <a:p>
                      <a:r>
                        <a:rPr sz="1400" b="1">
                          <a:solidFill>
                            <a:srgbClr val="FFFFFF"/>
                          </a:solidFill>
                        </a:rPr>
                        <a:t>Ulushi</a:t>
                      </a:r>
                    </a:p>
                  </a:txBody>
                  <a:tcPr marL="73152" marR="73152" marT="36576" marB="36576">
                    <a:solidFill>
                      <a:srgbClr val="0B1F3A"/>
                    </a:solidFill>
                  </a:tcPr>
                </a:tc>
              </a:tr>
              <a:tr h="411480">
                <a:tc>
                  <a:txBody>
                    <a:bodyPr/>
                    <a:lstStyle/>
                    <a:p>
                      <a:r>
                        <a:rPr sz="1300" b="0">
                          <a:solidFill>
                            <a:srgbClr val="1F2937"/>
                          </a:solidFill>
                        </a:rPr>
                        <a:t>Nurlanish</a:t>
                      </a:r>
                    </a:p>
                  </a:txBody>
                  <a:tcPr marL="73152" marR="73152" marT="36576" marB="36576">
                    <a:solidFill>
                      <a:srgbClr val="E8EEF6"/>
                    </a:solidFill>
                  </a:tcPr>
                </a:tc>
                <a:tc>
                  <a:txBody>
                    <a:bodyPr/>
                    <a:lstStyle/>
                    <a:p>
                      <a:r>
                        <a:rPr sz="1300" b="0">
                          <a:solidFill>
                            <a:srgbClr val="1F2937"/>
                          </a:solidFill>
                        </a:rPr>
                        <a:t>55%</a:t>
                      </a:r>
                    </a:p>
                  </a:txBody>
                  <a:tcPr marL="73152" marR="73152" marT="36576" marB="36576">
                    <a:solidFill>
                      <a:srgbClr val="E8EEF6"/>
                    </a:solidFill>
                  </a:tcPr>
                </a:tc>
              </a:tr>
              <a:tr h="411480">
                <a:tc>
                  <a:txBody>
                    <a:bodyPr/>
                    <a:lstStyle/>
                    <a:p>
                      <a:r>
                        <a:rPr sz="1300" b="0">
                          <a:solidFill>
                            <a:srgbClr val="1F2937"/>
                          </a:solidFill>
                        </a:rPr>
                        <a:t>Ter bilan</a:t>
                      </a:r>
                    </a:p>
                  </a:txBody>
                  <a:tcPr marL="73152" marR="73152" marT="36576" marB="36576">
                    <a:solidFill>
                      <a:srgbClr val="FFFFFF"/>
                    </a:solidFill>
                  </a:tcPr>
                </a:tc>
                <a:tc>
                  <a:txBody>
                    <a:bodyPr/>
                    <a:lstStyle/>
                    <a:p>
                      <a:r>
                        <a:rPr sz="1300" b="0">
                          <a:solidFill>
                            <a:srgbClr val="1F2937"/>
                          </a:solidFill>
                        </a:rPr>
                        <a:t>27%</a:t>
                      </a:r>
                    </a:p>
                  </a:txBody>
                  <a:tcPr marL="73152" marR="73152" marT="36576" marB="36576">
                    <a:solidFill>
                      <a:srgbClr val="FFFFFF"/>
                    </a:solidFill>
                  </a:tcPr>
                </a:tc>
              </a:tr>
              <a:tr h="411480">
                <a:tc>
                  <a:txBody>
                    <a:bodyPr/>
                    <a:lstStyle/>
                    <a:p>
                      <a:r>
                        <a:rPr sz="1300" b="0">
                          <a:solidFill>
                            <a:srgbClr val="1F2937"/>
                          </a:solidFill>
                        </a:rPr>
                        <a:t>O‘tkazish orqali</a:t>
                      </a:r>
                    </a:p>
                  </a:txBody>
                  <a:tcPr marL="73152" marR="73152" marT="36576" marB="36576">
                    <a:solidFill>
                      <a:srgbClr val="E8EEF6"/>
                    </a:solidFill>
                  </a:tcPr>
                </a:tc>
                <a:tc>
                  <a:txBody>
                    <a:bodyPr/>
                    <a:lstStyle/>
                    <a:p>
                      <a:r>
                        <a:rPr sz="1300" b="0">
                          <a:solidFill>
                            <a:srgbClr val="1F2937"/>
                          </a:solidFill>
                        </a:rPr>
                        <a:t>15%</a:t>
                      </a:r>
                    </a:p>
                  </a:txBody>
                  <a:tcPr marL="73152" marR="73152" marT="36576" marB="36576">
                    <a:solidFill>
                      <a:srgbClr val="E8EEF6"/>
                    </a:solidFill>
                  </a:tcPr>
                </a:tc>
              </a:tr>
              <a:tr h="411480">
                <a:tc>
                  <a:txBody>
                    <a:bodyPr/>
                    <a:lstStyle/>
                    <a:p>
                      <a:r>
                        <a:rPr sz="1300" b="0">
                          <a:solidFill>
                            <a:srgbClr val="1F2937"/>
                          </a:solidFill>
                        </a:rPr>
                        <a:t>Turli ajratmalar</a:t>
                      </a:r>
                    </a:p>
                  </a:txBody>
                  <a:tcPr marL="73152" marR="73152" marT="36576" marB="36576">
                    <a:solidFill>
                      <a:srgbClr val="FFFFFF"/>
                    </a:solidFill>
                  </a:tcPr>
                </a:tc>
                <a:tc>
                  <a:txBody>
                    <a:bodyPr/>
                    <a:lstStyle/>
                    <a:p>
                      <a:r>
                        <a:rPr sz="1300" b="0">
                          <a:solidFill>
                            <a:srgbClr val="1F2937"/>
                          </a:solidFill>
                        </a:rPr>
                        <a:t>3%</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Issiqlik ajralish yo‘llari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urishi: sharoit va moyillik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Issiq urishi organizmda issiqlik ko‘p ishlab chiqarilib, kam ajratilganda vujudga keladi.</a:t>
            </a:r>
          </a:p>
          <a:p>
            <a:pPr>
              <a:spcAft>
                <a:spcPts val="1200"/>
              </a:spcAft>
            </a:pPr>
            <a:r>
              <a:rPr sz="2200">
                <a:solidFill>
                  <a:srgbClr val="1F2937"/>
                </a:solidFill>
                <a:latin typeface="Calibri"/>
              </a:rPr>
              <a:t>▸  Sharoitlar: havo harorati va namligi baland, shamol yo‘q; issiq sexlar, og‘ir jismoniy ish, sportchilar va harbiylarning mashqi.</a:t>
            </a:r>
          </a:p>
          <a:p>
            <a:pPr>
              <a:spcAft>
                <a:spcPts val="1200"/>
              </a:spcAft>
            </a:pPr>
            <a:r>
              <a:rPr sz="2200">
                <a:solidFill>
                  <a:srgbClr val="1F2937"/>
                </a:solidFill>
                <a:latin typeface="Calibri"/>
              </a:rPr>
              <a:t>▸  Havo va namlik o‘tkazmaydigan kiyim, yurak-qon tomir kasalliklari, qalqonsimon bez giperfunksiyasi, semizlik va keksalik moyillikni oshiradi.</a:t>
            </a:r>
          </a:p>
          <a:p>
            <a:pPr>
              <a:spcAft>
                <a:spcPts val="1200"/>
              </a:spcAft>
            </a:pPr>
            <a:r>
              <a:rPr sz="2200">
                <a:solidFill>
                  <a:srgbClr val="1F2937"/>
                </a:solidFill>
                <a:latin typeface="Calibri"/>
              </a:rPr>
              <a:t>▸  Bir yoshgacha bolalarda termoregulyatsiya mexanizmlari to‘liq shakllanmagan, shuning uchun ular yuqori haroratga o‘ta sezgir.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urishi: rivojlanish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o‘rinni gemodinamikaning buzilishi egallaydi: qon quyuqlashadi, qon aylanishi sekinlashadi.</a:t>
            </a:r>
          </a:p>
          <a:p>
            <a:pPr>
              <a:spcAft>
                <a:spcPts val="800"/>
              </a:spcAft>
            </a:pPr>
            <a:r>
              <a:rPr sz="1800">
                <a:solidFill>
                  <a:srgbClr val="1F2937"/>
                </a:solidFill>
                <a:latin typeface="Calibri"/>
              </a:rPr>
              <a:t>▸  Bu holat to‘qima gipertermiyasini kuchaytiradi va to‘qima gipoksiyasiga olib keladi.</a:t>
            </a:r>
          </a:p>
          <a:p>
            <a:pPr>
              <a:spcAft>
                <a:spcPts val="800"/>
              </a:spcAft>
            </a:pPr>
            <a:r>
              <a:rPr sz="1800">
                <a:solidFill>
                  <a:srgbClr val="1F2937"/>
                </a:solidFill>
                <a:latin typeface="Calibri"/>
              </a:rPr>
              <a:t>▸  Stress reaksiyasida katexolaminlar va glyukokortikoidlar ajraladi, mikrotsirkulyatsiyada staz kuzatiladi.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Issiqlik ko‘p, ajralishi kam</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Gemodinamika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quyuqlashadi, oqim sekin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gipertermiyasi, gipoksiya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Staz, metabolik buzilish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Issiq urishi patogenezi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urishining o‘tkir va uzaytirilgan shakllari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O‘tkir shakl: birdan hush yo‘qoladi, koma, yurak va nafas buzilishidan qisqa vaqtda o‘lim.</a:t>
            </a:r>
          </a:p>
          <a:p>
            <a:pPr>
              <a:spcAft>
                <a:spcPts val="800"/>
              </a:spcAft>
            </a:pPr>
            <a:r>
              <a:rPr sz="1800">
                <a:solidFill>
                  <a:srgbClr val="1F2937"/>
                </a:solidFill>
                <a:latin typeface="Calibri"/>
              </a:rPr>
              <a:t>▸  Uzaytirilgan shakl sekin rivojlanadi va uch davrga bo‘linadi; holsizlik davri predagonal hisoblanadi.</a:t>
            </a:r>
          </a:p>
          <a:p>
            <a:pPr>
              <a:spcAft>
                <a:spcPts val="800"/>
              </a:spcAft>
            </a:pPr>
            <a:r>
              <a:rPr sz="1800">
                <a:solidFill>
                  <a:srgbClr val="1F2937"/>
                </a:solidFill>
                <a:latin typeface="Calibri"/>
              </a:rPr>
              <a:t>▸  Tana harorati 42-43°S dan oshganda o‘lim nafas olishning birlamchi to‘xtashidan sodir bo‘ladi.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Davr</a:t>
                      </a:r>
                    </a:p>
                  </a:txBody>
                  <a:tcPr marL="73152" marR="73152" marT="36576" marB="36576">
                    <a:solidFill>
                      <a:srgbClr val="0B1F3A"/>
                    </a:solidFill>
                  </a:tcPr>
                </a:tc>
                <a:tc>
                  <a:txBody>
                    <a:bodyPr/>
                    <a:lstStyle/>
                    <a:p>
                      <a:r>
                        <a:rPr sz="1400" b="1">
                          <a:solidFill>
                            <a:srgbClr val="FFFFFF"/>
                          </a:solidFill>
                        </a:rPr>
                        <a:t>Belgilar</a:t>
                      </a:r>
                    </a:p>
                  </a:txBody>
                  <a:tcPr marL="73152" marR="73152" marT="36576" marB="36576">
                    <a:solidFill>
                      <a:srgbClr val="0B1F3A"/>
                    </a:solidFill>
                  </a:tcPr>
                </a:tc>
              </a:tr>
              <a:tr h="411480">
                <a:tc>
                  <a:txBody>
                    <a:bodyPr/>
                    <a:lstStyle/>
                    <a:p>
                      <a:r>
                        <a:rPr sz="1300" b="0">
                          <a:solidFill>
                            <a:srgbClr val="1F2937"/>
                          </a:solidFill>
                        </a:rPr>
                        <a:t>Susayish</a:t>
                      </a:r>
                    </a:p>
                  </a:txBody>
                  <a:tcPr marL="73152" marR="73152" marT="36576" marB="36576">
                    <a:solidFill>
                      <a:srgbClr val="E8EEF6"/>
                    </a:solidFill>
                  </a:tcPr>
                </a:tc>
                <a:tc>
                  <a:txBody>
                    <a:bodyPr/>
                    <a:lstStyle/>
                    <a:p>
                      <a:r>
                        <a:rPr sz="1300" b="0">
                          <a:solidFill>
                            <a:srgbClr val="1F2937"/>
                          </a:solidFill>
                        </a:rPr>
                        <a:t>Markaziy nerv tizimi faoliyati susayadi</a:t>
                      </a:r>
                    </a:p>
                  </a:txBody>
                  <a:tcPr marL="73152" marR="73152" marT="36576" marB="36576">
                    <a:solidFill>
                      <a:srgbClr val="E8EEF6"/>
                    </a:solidFill>
                  </a:tcPr>
                </a:tc>
              </a:tr>
              <a:tr h="411480">
                <a:tc>
                  <a:txBody>
                    <a:bodyPr/>
                    <a:lstStyle/>
                    <a:p>
                      <a:r>
                        <a:rPr sz="1300" b="0">
                          <a:solidFill>
                            <a:srgbClr val="1F2937"/>
                          </a:solidFill>
                        </a:rPr>
                        <a:t>Qo‘zg‘alish</a:t>
                      </a:r>
                    </a:p>
                  </a:txBody>
                  <a:tcPr marL="73152" marR="73152" marT="36576" marB="36576">
                    <a:solidFill>
                      <a:srgbClr val="FFFFFF"/>
                    </a:solidFill>
                  </a:tcPr>
                </a:tc>
                <a:tc>
                  <a:txBody>
                    <a:bodyPr/>
                    <a:lstStyle/>
                    <a:p>
                      <a:r>
                        <a:rPr sz="1300" b="0">
                          <a:solidFill>
                            <a:srgbClr val="1F2937"/>
                          </a:solidFill>
                        </a:rPr>
                        <a:t>Bezovtalik, bosh og‘rig‘i, taxikardiya</a:t>
                      </a:r>
                    </a:p>
                  </a:txBody>
                  <a:tcPr marL="73152" marR="73152" marT="36576" marB="36576">
                    <a:solidFill>
                      <a:srgbClr val="FFFFFF"/>
                    </a:solidFill>
                  </a:tcPr>
                </a:tc>
              </a:tr>
              <a:tr h="411480">
                <a:tc>
                  <a:txBody>
                    <a:bodyPr/>
                    <a:lstStyle/>
                    <a:p>
                      <a:r>
                        <a:rPr sz="1300" b="0">
                          <a:solidFill>
                            <a:srgbClr val="1F2937"/>
                          </a:solidFill>
                        </a:rPr>
                        <a:t>Holsizlik</a:t>
                      </a:r>
                    </a:p>
                  </a:txBody>
                  <a:tcPr marL="73152" marR="73152" marT="36576" marB="36576">
                    <a:solidFill>
                      <a:srgbClr val="E8EEF6"/>
                    </a:solidFill>
                  </a:tcPr>
                </a:tc>
                <a:tc>
                  <a:txBody>
                    <a:bodyPr/>
                    <a:lstStyle/>
                    <a:p>
                      <a:r>
                        <a:rPr sz="1300" b="0">
                          <a:solidFill>
                            <a:srgbClr val="1F2937"/>
                          </a:solidFill>
                        </a:rPr>
                        <a:t>Harorat 41-42°S dan yuqori, koma, talvasa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Uzaytirilgan shakl davrlari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183-184, 184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Quyosh urishi (insolyasiya)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Quyosh urishi ochiq joyda, bosh kiyimsiz uzoq vaqt quyosh nurlari boshga ta’sir qilganda vujudga keladi.</a:t>
            </a:r>
          </a:p>
          <a:p>
            <a:pPr>
              <a:spcAft>
                <a:spcPts val="1200"/>
              </a:spcAft>
            </a:pPr>
            <a:r>
              <a:rPr sz="2200">
                <a:solidFill>
                  <a:srgbClr val="1F2937"/>
                </a:solidFill>
                <a:latin typeface="Calibri"/>
              </a:rPr>
              <a:t>▸  Boshning isishi markaziy nerv tizimi (MNT) faoliyatini buzadi: bosh og‘rig‘i, hushning xiralashuvi, qo‘zg‘alish, gallyusinatsiya, talvasa.</a:t>
            </a:r>
          </a:p>
          <a:p>
            <a:pPr>
              <a:spcAft>
                <a:spcPts val="1200"/>
              </a:spcAft>
            </a:pPr>
            <a:r>
              <a:rPr sz="2200">
                <a:solidFill>
                  <a:srgbClr val="1F2937"/>
                </a:solidFill>
                <a:latin typeface="Calibri"/>
              </a:rPr>
              <a:t>▸  Avval puls va nafas tezlashadi, keyin puls sekinlashadi. Patologik nafas va nafas markazi falaji bo‘lishi mumkin.</a:t>
            </a:r>
          </a:p>
          <a:p>
            <a:pPr>
              <a:spcAft>
                <a:spcPts val="1200"/>
              </a:spcAft>
            </a:pPr>
            <a:r>
              <a:rPr sz="2200">
                <a:solidFill>
                  <a:srgbClr val="1F2937"/>
                </a:solidFill>
                <a:latin typeface="Calibri"/>
              </a:rPr>
              <a:t>▸  Diqqat: issiq urishidan farqli, tana haroratining salmoqli ko‘tarilishi xos emas. Terida I darajali kuyish (eritema)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va quyosh urishida murda o‘zgarishlari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Issiq urishi va quyosh urishidan o‘lgan murdalarda morfologik o‘zgarishlar o‘xshash. Ikkalasida ham birorta spetsifik belgi yo‘q.</a:t>
            </a:r>
          </a:p>
          <a:p>
            <a:pPr>
              <a:spcAft>
                <a:spcPts val="1200"/>
              </a:spcAft>
            </a:pPr>
            <a:r>
              <a:rPr sz="2200">
                <a:solidFill>
                  <a:srgbClr val="1F2937"/>
                </a:solidFill>
                <a:latin typeface="Calibri"/>
              </a:rPr>
              <a:t>▸  Bosh miya va uning pardalari keskin to‘laqon va shishgan; miyada mayda perivaskulyar qon quyilishlar bor. Ichki a’zolar to‘laqon, seroz pardalar ostida mayda qon quyilishlar topiladi.</a:t>
            </a:r>
          </a:p>
          <a:p>
            <a:pPr>
              <a:spcAft>
                <a:spcPts val="1200"/>
              </a:spcAft>
            </a:pPr>
            <a:r>
              <a:rPr sz="2200">
                <a:solidFill>
                  <a:srgbClr val="1F2937"/>
                </a:solidFill>
                <a:latin typeface="Calibri"/>
              </a:rPr>
              <a:t>▸  Yurak kameralari va yirik tomirlarda quyuq qon bo‘ladi. Nafas yo‘llarida shilliq to‘planadi, o‘pka quyuq qon hisobiga qo‘ng‘ir tusga kiradi.</a:t>
            </a:r>
          </a:p>
          <a:p>
            <a:pPr>
              <a:spcAft>
                <a:spcPts val="1200"/>
              </a:spcAft>
            </a:pPr>
            <a:r>
              <a:rPr sz="2200">
                <a:solidFill>
                  <a:srgbClr val="1F2937"/>
                </a:solidFill>
                <a:latin typeface="Calibri"/>
              </a:rPr>
              <a:t>▸  Murda qotishi tez rivojlanadi va kuchli bo‘ladi. Murda dog‘lari esa kech paydo bo‘ladi va oz miqdorda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issiq sexda topilgan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issiq sexda og‘ir jismoniy ish qilgan, havo o‘tkazmaydigan kiyimdagi semiz ishchi o‘lgan. Bu sharoitlar issiq urishga moyillik yaratadi.</a:t>
            </a:r>
          </a:p>
          <a:p>
            <a:pPr>
              <a:spcAft>
                <a:spcPts val="1200"/>
              </a:spcAft>
            </a:pPr>
            <a:r>
              <a:rPr sz="2200">
                <a:solidFill>
                  <a:srgbClr val="1F2937"/>
                </a:solidFill>
                <a:latin typeface="Calibri"/>
              </a:rPr>
              <a:t>▸  Murdada miya to‘laqon va shishgan, yurakda quyuq qon, murda qotishi tez va kuchli, dog‘lar kech va oz. Bu topilmalar issiq urishiga mos keladi.</a:t>
            </a:r>
          </a:p>
          <a:p>
            <a:pPr>
              <a:spcAft>
                <a:spcPts val="1200"/>
              </a:spcAft>
            </a:pPr>
            <a:r>
              <a:rPr sz="2200">
                <a:solidFill>
                  <a:srgbClr val="1F2937"/>
                </a:solidFill>
                <a:latin typeface="Calibri"/>
              </a:rPr>
              <a:t>▸  Savol: faqat shu topilmalar bilan issiq urishni qat’iy isbotlash mumkinmi? Nega voqea tafsilotlarini (anamnez) o‘rganish zarur?</a:t>
            </a:r>
          </a:p>
          <a:p>
            <a:pPr>
              <a:spcAft>
                <a:spcPts val="1200"/>
              </a:spcAft>
            </a:pPr>
            <a:r>
              <a:rPr sz="2200">
                <a:solidFill>
                  <a:srgbClr val="1F2937"/>
                </a:solidFill>
                <a:latin typeface="Calibri"/>
              </a:rPr>
              <a:t>▸  Javob yo‘nalishi: morfologiya spetsifik emas, shuning uchun voqea tafsilotlari va sharoit baholanadi. Ularga e’tibor berilmasa, xato klinik diagnoz qo‘yilishi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 184, 185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issiq urish va quyosh urishi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quyosh urishida tana harorati salmoqli ko‘tariladimi? Javob: yo‘q, salmoqli harorat ko‘tarilishi bu holat uchun xos emas.</a:t>
            </a:r>
          </a:p>
          <a:p>
            <a:pPr>
              <a:spcAft>
                <a:spcPts val="1200"/>
              </a:spcAft>
            </a:pPr>
            <a:r>
              <a:rPr sz="2200">
                <a:solidFill>
                  <a:srgbClr val="1F2937"/>
                </a:solidFill>
                <a:latin typeface="Calibri"/>
              </a:rPr>
              <a:t>▸  Savol: issiq urishning uzaytirilgan shaklida qaysi uch davr bor? Javob: MNT (markaziy nerv tizimi) susayish, qo‘zg‘alish va holsizlik davrlari.</a:t>
            </a:r>
          </a:p>
          <a:p>
            <a:pPr>
              <a:spcAft>
                <a:spcPts val="1200"/>
              </a:spcAft>
            </a:pPr>
            <a:r>
              <a:rPr sz="2200">
                <a:solidFill>
                  <a:srgbClr val="1F2937"/>
                </a:solidFill>
                <a:latin typeface="Calibri"/>
              </a:rPr>
              <a:t>▸  Savol: tana harorati 42-43°S dan oshganda o‘lim nimadan sodir bo‘ladi? Javob: nafas olishning birlamchi to‘xtashidan.</a:t>
            </a:r>
          </a:p>
          <a:p>
            <a:pPr>
              <a:spcAft>
                <a:spcPts val="1200"/>
              </a:spcAft>
            </a:pPr>
            <a:r>
              <a:rPr sz="2200">
                <a:solidFill>
                  <a:srgbClr val="1F2937"/>
                </a:solidFill>
                <a:latin typeface="Calibri"/>
              </a:rPr>
              <a:t>▸  Diqqat: xato qilish xavfi. Spetsifik klinik belgilar yo‘qligi va anamnezga e’tibor berilmasligi sababli ba’zan xato klinik diagnoz qo‘yiladi.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184, 185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Termik kuyish: sabablari va maydoni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Mahalliy ta’sirda teri va uning ostidagi to‘qimalar harorati 45-50°S dan oshsa, termik kuyish yuzaga keladi.</a:t>
            </a:r>
          </a:p>
          <a:p>
            <a:pPr>
              <a:spcAft>
                <a:spcPts val="1200"/>
              </a:spcAft>
            </a:pPr>
            <a:r>
              <a:rPr sz="2200">
                <a:solidFill>
                  <a:srgbClr val="1F2937"/>
                </a:solidFill>
                <a:latin typeface="Calibri"/>
              </a:rPr>
              <a:t>▸  Kuyish xususiyati manba turiga, harorati va ta’sir davomiyligiga, shuningdek shikastlangan sohaga bog‘liq.</a:t>
            </a:r>
          </a:p>
          <a:p>
            <a:pPr>
              <a:spcAft>
                <a:spcPts val="1200"/>
              </a:spcAft>
            </a:pPr>
            <a:r>
              <a:rPr sz="2200">
                <a:solidFill>
                  <a:srgbClr val="1F2937"/>
                </a:solidFill>
                <a:latin typeface="Calibri"/>
              </a:rPr>
              <a:t>▸  Manbalar: alanga, smola, napalm, bitum, 60°S dan issiq suv, qaynoq bug‘, gazlar va qizdirilgan jism. Teri yupqa joyda kuyish chuqurroq bo‘ladi.</a:t>
            </a:r>
          </a:p>
          <a:p>
            <a:pPr>
              <a:spcAft>
                <a:spcPts val="1200"/>
              </a:spcAft>
            </a:pPr>
            <a:r>
              <a:rPr sz="2200">
                <a:solidFill>
                  <a:srgbClr val="1F2937"/>
                </a:solidFill>
                <a:latin typeface="Calibri"/>
              </a:rPr>
              <a:t>▸  Sud-tibbiy baholashda kuyish darajasidan tashqari, jarohat egallagan maydon ham muhim ahamiyatga ega.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185, 186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Termik kuyish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 va II daraja yuzaki, III va IV daraja chuqur kuyish hisoblanadi.</a:t>
            </a:r>
          </a:p>
          <a:p>
            <a:pPr>
              <a:spcAft>
                <a:spcPts val="800"/>
              </a:spcAft>
            </a:pPr>
            <a:r>
              <a:rPr sz="1800">
                <a:solidFill>
                  <a:srgbClr val="1F2937"/>
                </a:solidFill>
                <a:latin typeface="Calibri"/>
              </a:rPr>
              <a:t>▸  Aksariyat hollarda bir jarohatda turli darajalar birga uchraydi (masalan, II-III).</a:t>
            </a:r>
          </a:p>
          <a:p>
            <a:pPr>
              <a:spcAft>
                <a:spcPts val="800"/>
              </a:spcAft>
            </a:pPr>
            <a:r>
              <a:rPr sz="1800">
                <a:solidFill>
                  <a:srgbClr val="1F2937"/>
                </a:solidFill>
                <a:latin typeface="Calibri"/>
              </a:rPr>
              <a:t>▸  Diqqat: IV daraja faqat alanga ta’sirida bo‘ladi; I-III daraja esa har qanday manbadan paydo bo‘ladi.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09759"/>
                <a:gridCol w="2217537"/>
                <a:gridCol w="2160677"/>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Teri/to‘qima</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I</a:t>
                      </a:r>
                    </a:p>
                  </a:txBody>
                  <a:tcPr marL="73152" marR="73152" marT="36576" marB="36576">
                    <a:solidFill>
                      <a:srgbClr val="E8EEF6"/>
                    </a:solidFill>
                  </a:tcPr>
                </a:tc>
                <a:tc>
                  <a:txBody>
                    <a:bodyPr/>
                    <a:lstStyle/>
                    <a:p>
                      <a:r>
                        <a:rPr sz="1200" b="0">
                          <a:solidFill>
                            <a:srgbClr val="1F2937"/>
                          </a:solidFill>
                        </a:rPr>
                        <a:t>Qizarish, shish; 3-4 kunda izsiz o‘tadi</a:t>
                      </a:r>
                    </a:p>
                  </a:txBody>
                  <a:tcPr marL="73152" marR="73152" marT="36576" marB="36576">
                    <a:solidFill>
                      <a:srgbClr val="E8EEF6"/>
                    </a:solidFill>
                  </a:tcPr>
                </a:tc>
                <a:tc>
                  <a:txBody>
                    <a:bodyPr/>
                    <a:lstStyle/>
                    <a:p>
                      <a:r>
                        <a:rPr sz="1200" b="0">
                          <a:solidFill>
                            <a:srgbClr val="1F2937"/>
                          </a:solidFill>
                        </a:rPr>
                        <a:t>Murdada ko‘pincha aniqlanmaydi</a:t>
                      </a:r>
                    </a:p>
                  </a:txBody>
                  <a:tcPr marL="73152" marR="73152" marT="36576" marB="36576">
                    <a:solidFill>
                      <a:srgbClr val="E8EEF6"/>
                    </a:solidFill>
                  </a:tcPr>
                </a:tc>
              </a:tr>
              <a:tr h="411480">
                <a:tc>
                  <a:txBody>
                    <a:bodyPr/>
                    <a:lstStyle/>
                    <a:p>
                      <a:r>
                        <a:rPr sz="1200" b="0">
                          <a:solidFill>
                            <a:srgbClr val="1F2937"/>
                          </a:solidFill>
                        </a:rPr>
                        <a:t>II</a:t>
                      </a:r>
                    </a:p>
                  </a:txBody>
                  <a:tcPr marL="73152" marR="73152" marT="36576" marB="36576">
                    <a:solidFill>
                      <a:srgbClr val="FFFFFF"/>
                    </a:solidFill>
                  </a:tcPr>
                </a:tc>
                <a:tc>
                  <a:txBody>
                    <a:bodyPr/>
                    <a:lstStyle/>
                    <a:p>
                      <a:r>
                        <a:rPr sz="1200" b="0">
                          <a:solidFill>
                            <a:srgbClr val="1F2937"/>
                          </a:solidFill>
                        </a:rPr>
                        <a:t>Seroz pufaklar; 10-20 kunda chandiqsiz</a:t>
                      </a:r>
                    </a:p>
                  </a:txBody>
                  <a:tcPr marL="73152" marR="73152" marT="36576" marB="36576">
                    <a:solidFill>
                      <a:srgbClr val="FFFFFF"/>
                    </a:solidFill>
                  </a:tcPr>
                </a:tc>
                <a:tc>
                  <a:txBody>
                    <a:bodyPr/>
                    <a:lstStyle/>
                    <a:p>
                      <a:r>
                        <a:rPr sz="1200" b="0">
                          <a:solidFill>
                            <a:srgbClr val="1F2937"/>
                          </a:solidFill>
                        </a:rPr>
                        <a:t>Pufak tubi quruq, qo‘ng‘ir, qonsiz</a:t>
                      </a:r>
                    </a:p>
                  </a:txBody>
                  <a:tcPr marL="73152" marR="73152" marT="36576" marB="36576">
                    <a:solidFill>
                      <a:srgbClr val="FFFFFF"/>
                    </a:solidFill>
                  </a:tcPr>
                </a:tc>
              </a:tr>
              <a:tr h="411480">
                <a:tc>
                  <a:txBody>
                    <a:bodyPr/>
                    <a:lstStyle/>
                    <a:p>
                      <a:r>
                        <a:rPr sz="1200" b="0">
                          <a:solidFill>
                            <a:srgbClr val="1F2937"/>
                          </a:solidFill>
                        </a:rPr>
                        <a:t>III</a:t>
                      </a:r>
                    </a:p>
                  </a:txBody>
                  <a:tcPr marL="73152" marR="73152" marT="36576" marB="36576">
                    <a:solidFill>
                      <a:srgbClr val="E8EEF6"/>
                    </a:solidFill>
                  </a:tcPr>
                </a:tc>
                <a:tc>
                  <a:txBody>
                    <a:bodyPr/>
                    <a:lstStyle/>
                    <a:p>
                      <a:r>
                        <a:rPr sz="1200" b="0">
                          <a:solidFill>
                            <a:srgbClr val="1F2937"/>
                          </a:solidFill>
                        </a:rPr>
                        <a:t>Nekroz: III-A yuzaki, III-V to‘liq</a:t>
                      </a:r>
                    </a:p>
                  </a:txBody>
                  <a:tcPr marL="73152" marR="73152" marT="36576" marB="36576">
                    <a:solidFill>
                      <a:srgbClr val="E8EEF6"/>
                    </a:solidFill>
                  </a:tcPr>
                </a:tc>
                <a:tc>
                  <a:txBody>
                    <a:bodyPr/>
                    <a:lstStyle/>
                    <a:p>
                      <a:r>
                        <a:rPr sz="1200" b="0">
                          <a:solidFill>
                            <a:srgbClr val="1F2937"/>
                          </a:solidFill>
                        </a:rPr>
                        <a:t>Yuzasi strup; 2-3 haftada granulyasiya</a:t>
                      </a:r>
                    </a:p>
                  </a:txBody>
                  <a:tcPr marL="73152" marR="73152" marT="36576" marB="36576">
                    <a:solidFill>
                      <a:srgbClr val="E8EEF6"/>
                    </a:solidFill>
                  </a:tcPr>
                </a:tc>
              </a:tr>
              <a:tr h="411480">
                <a:tc>
                  <a:txBody>
                    <a:bodyPr/>
                    <a:lstStyle/>
                    <a:p>
                      <a:r>
                        <a:rPr sz="1200" b="0">
                          <a:solidFill>
                            <a:srgbClr val="1F2937"/>
                          </a:solidFill>
                        </a:rPr>
                        <a:t>IV</a:t>
                      </a:r>
                    </a:p>
                  </a:txBody>
                  <a:tcPr marL="73152" marR="73152" marT="36576" marB="36576">
                    <a:solidFill>
                      <a:srgbClr val="FFFFFF"/>
                    </a:solidFill>
                  </a:tcPr>
                </a:tc>
                <a:tc>
                  <a:txBody>
                    <a:bodyPr/>
                    <a:lstStyle/>
                    <a:p>
                      <a:r>
                        <a:rPr sz="1200" b="0">
                          <a:solidFill>
                            <a:srgbClr val="1F2937"/>
                          </a:solidFill>
                        </a:rPr>
                        <a:t>Mushak, boylam, suyak nekrozi</a:t>
                      </a:r>
                    </a:p>
                  </a:txBody>
                  <a:tcPr marL="73152" marR="73152" marT="36576" marB="36576">
                    <a:solidFill>
                      <a:srgbClr val="FFFFFF"/>
                    </a:solidFill>
                  </a:tcPr>
                </a:tc>
                <a:tc>
                  <a:txBody>
                    <a:bodyPr/>
                    <a:lstStyle/>
                    <a:p>
                      <a:r>
                        <a:rPr sz="1200" b="0">
                          <a:solidFill>
                            <a:srgbClr val="1F2937"/>
                          </a:solidFill>
                        </a:rPr>
                        <a:t>Faqat alanga ta’sirida; chuqur kuyish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Termik kuyish darajalari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185, 185-186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manbaini aniqlash: suyuqlik, alanga, qizigan jism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Kuyishning xususiyatlariga qarab yuqori harorat manbaining turini aniqlash mumkin.</a:t>
            </a:r>
          </a:p>
          <a:p>
            <a:pPr>
              <a:spcAft>
                <a:spcPts val="800"/>
              </a:spcAft>
            </a:pPr>
            <a:r>
              <a:rPr sz="1800">
                <a:solidFill>
                  <a:srgbClr val="1F2937"/>
                </a:solidFill>
                <a:latin typeface="Calibri"/>
              </a:rPr>
              <a:t>▸  Issiq suyuqlik kiyim va poyafzal ostiga oqib kirib, yopiq sohalarni ham kuydirishi mumkin.</a:t>
            </a:r>
          </a:p>
          <a:p>
            <a:pPr>
              <a:spcAft>
                <a:spcPts val="800"/>
              </a:spcAft>
            </a:pPr>
            <a:r>
              <a:rPr sz="1800">
                <a:solidFill>
                  <a:srgbClr val="1F2937"/>
                </a:solidFill>
                <a:latin typeface="Calibri"/>
              </a:rPr>
              <a:t>▸  Yaralar joyi hodisa paytidagi holatni ko‘rsatadi: oqmalar pastga, “alanga tillari” yuqoriga yo‘naladi.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Manba</a:t>
                      </a:r>
                    </a:p>
                  </a:txBody>
                  <a:tcPr marL="73152" marR="73152" marT="36576" marB="36576">
                    <a:solidFill>
                      <a:srgbClr val="0B1F3A"/>
                    </a:solidFill>
                  </a:tcPr>
                </a:tc>
                <a:tc>
                  <a:txBody>
                    <a:bodyPr/>
                    <a:lstStyle/>
                    <a:p>
                      <a:r>
                        <a:rPr sz="1300" b="1">
                          <a:solidFill>
                            <a:srgbClr val="FFFFFF"/>
                          </a:solidFill>
                        </a:rPr>
                        <a:t>Xususiyat</a:t>
                      </a:r>
                    </a:p>
                  </a:txBody>
                  <a:tcPr marL="73152" marR="73152" marT="36576" marB="36576">
                    <a:solidFill>
                      <a:srgbClr val="0B1F3A"/>
                    </a:solidFill>
                  </a:tcPr>
                </a:tc>
                <a:tc>
                  <a:txBody>
                    <a:bodyPr/>
                    <a:lstStyle/>
                    <a:p>
                      <a:r>
                        <a:rPr sz="1300" b="1">
                          <a:solidFill>
                            <a:srgbClr val="FFFFFF"/>
                          </a:solidFill>
                        </a:rPr>
                        <a:t>Qo‘shimcha</a:t>
                      </a:r>
                    </a:p>
                  </a:txBody>
                  <a:tcPr marL="73152" marR="73152" marT="36576" marB="36576">
                    <a:solidFill>
                      <a:srgbClr val="0B1F3A"/>
                    </a:solidFill>
                  </a:tcPr>
                </a:tc>
              </a:tr>
              <a:tr h="411480">
                <a:tc>
                  <a:txBody>
                    <a:bodyPr/>
                    <a:lstStyle/>
                    <a:p>
                      <a:r>
                        <a:rPr sz="1200" b="0">
                          <a:solidFill>
                            <a:srgbClr val="1F2937"/>
                          </a:solidFill>
                        </a:rPr>
                        <a:t>Issiq suyuqlik</a:t>
                      </a:r>
                    </a:p>
                  </a:txBody>
                  <a:tcPr marL="73152" marR="73152" marT="36576" marB="36576">
                    <a:solidFill>
                      <a:srgbClr val="E8EEF6"/>
                    </a:solidFill>
                  </a:tcPr>
                </a:tc>
                <a:tc>
                  <a:txBody>
                    <a:bodyPr/>
                    <a:lstStyle/>
                    <a:p>
                      <a:r>
                        <a:rPr sz="1200" b="0">
                          <a:solidFill>
                            <a:srgbClr val="1F2937"/>
                          </a:solidFill>
                        </a:rPr>
                        <a:t>Soch, kiyim zarar ko‘rmaydi; yuzaki, oqma</a:t>
                      </a:r>
                    </a:p>
                  </a:txBody>
                  <a:tcPr marL="73152" marR="73152" marT="36576" marB="36576">
                    <a:solidFill>
                      <a:srgbClr val="E8EEF6"/>
                    </a:solidFill>
                  </a:tcPr>
                </a:tc>
                <a:tc>
                  <a:txBody>
                    <a:bodyPr/>
                    <a:lstStyle/>
                    <a:p>
                      <a:r>
                        <a:rPr sz="1200" b="0">
                          <a:solidFill>
                            <a:srgbClr val="1F2937"/>
                          </a:solidFill>
                        </a:rPr>
                        <a:t>Oqmalar pastga yo‘nalgan</a:t>
                      </a:r>
                    </a:p>
                  </a:txBody>
                  <a:tcPr marL="73152" marR="73152" marT="36576" marB="36576">
                    <a:solidFill>
                      <a:srgbClr val="E8EEF6"/>
                    </a:solidFill>
                  </a:tcPr>
                </a:tc>
              </a:tr>
              <a:tr h="411480">
                <a:tc>
                  <a:txBody>
                    <a:bodyPr/>
                    <a:lstStyle/>
                    <a:p>
                      <a:r>
                        <a:rPr sz="1200" b="0">
                          <a:solidFill>
                            <a:srgbClr val="1F2937"/>
                          </a:solidFill>
                        </a:rPr>
                        <a:t>Alanga</a:t>
                      </a:r>
                    </a:p>
                  </a:txBody>
                  <a:tcPr marL="73152" marR="73152" marT="36576" marB="36576">
                    <a:solidFill>
                      <a:srgbClr val="FFFFFF"/>
                    </a:solidFill>
                  </a:tcPr>
                </a:tc>
                <a:tc>
                  <a:txBody>
                    <a:bodyPr/>
                    <a:lstStyle/>
                    <a:p>
                      <a:r>
                        <a:rPr sz="1200" b="0">
                          <a:solidFill>
                            <a:srgbClr val="1F2937"/>
                          </a:solidFill>
                        </a:rPr>
                        <a:t>Soch, kiyim shikastlanadi; tilsimon, chuqur</a:t>
                      </a:r>
                    </a:p>
                  </a:txBody>
                  <a:tcPr marL="73152" marR="73152" marT="36576" marB="36576">
                    <a:solidFill>
                      <a:srgbClr val="FFFFFF"/>
                    </a:solidFill>
                  </a:tcPr>
                </a:tc>
                <a:tc>
                  <a:txBody>
                    <a:bodyPr/>
                    <a:lstStyle/>
                    <a:p>
                      <a:r>
                        <a:rPr sz="1200" b="0">
                          <a:solidFill>
                            <a:srgbClr val="1F2937"/>
                          </a:solidFill>
                        </a:rPr>
                        <a:t>Qurum izi; “alanga tillari” yuqoriga</a:t>
                      </a:r>
                    </a:p>
                  </a:txBody>
                  <a:tcPr marL="73152" marR="73152" marT="36576" marB="36576">
                    <a:solidFill>
                      <a:srgbClr val="FFFFFF"/>
                    </a:solidFill>
                  </a:tcPr>
                </a:tc>
              </a:tr>
              <a:tr h="411480">
                <a:tc>
                  <a:txBody>
                    <a:bodyPr/>
                    <a:lstStyle/>
                    <a:p>
                      <a:r>
                        <a:rPr sz="1200" b="0">
                          <a:solidFill>
                            <a:srgbClr val="1F2937"/>
                          </a:solidFill>
                        </a:rPr>
                        <a:t>Qizigan jism</a:t>
                      </a:r>
                    </a:p>
                  </a:txBody>
                  <a:tcPr marL="73152" marR="73152" marT="36576" marB="36576">
                    <a:solidFill>
                      <a:srgbClr val="E8EEF6"/>
                    </a:solidFill>
                  </a:tcPr>
                </a:tc>
                <a:tc>
                  <a:txBody>
                    <a:bodyPr/>
                    <a:lstStyle/>
                    <a:p>
                      <a:r>
                        <a:rPr sz="1200" b="0">
                          <a:solidFill>
                            <a:srgbClr val="1F2937"/>
                          </a:solidFill>
                        </a:rPr>
                        <a:t>Chuqur, yuzasi cheklangan kuyish</a:t>
                      </a:r>
                    </a:p>
                  </a:txBody>
                  <a:tcPr marL="73152" marR="73152" marT="36576" marB="36576">
                    <a:solidFill>
                      <a:srgbClr val="E8EEF6"/>
                    </a:solidFill>
                  </a:tcPr>
                </a:tc>
                <a:tc>
                  <a:txBody>
                    <a:bodyPr/>
                    <a:lstStyle/>
                    <a:p>
                      <a:r>
                        <a:rPr sz="1200" b="0">
                          <a:solidFill>
                            <a:srgbClr val="1F2937"/>
                          </a:solidFill>
                        </a:rPr>
                        <a:t>Shakli kontakt yuzasiga mos (tamg‘asimon)</a:t>
                      </a:r>
                    </a:p>
                  </a:txBody>
                  <a:tcPr marL="73152" marR="73152" marT="36576" marB="36576">
                    <a:solidFill>
                      <a:srgbClr val="E8EEF6"/>
                    </a:solidFill>
                  </a:tcPr>
                </a:tc>
              </a:tr>
              <a:tr h="411480">
                <a:tc>
                  <a:txBody>
                    <a:bodyPr/>
                    <a:lstStyle/>
                    <a:p>
                      <a:r>
                        <a:rPr sz="1200" b="0">
                          <a:solidFill>
                            <a:srgbClr val="1F2937"/>
                          </a:solidFill>
                        </a:rPr>
                        <a:t>Bug‘, issiq gaz</a:t>
                      </a:r>
                    </a:p>
                  </a:txBody>
                  <a:tcPr marL="73152" marR="73152" marT="36576" marB="36576">
                    <a:solidFill>
                      <a:srgbClr val="FFFFFF"/>
                    </a:solidFill>
                  </a:tcPr>
                </a:tc>
                <a:tc>
                  <a:txBody>
                    <a:bodyPr/>
                    <a:lstStyle/>
                    <a:p>
                      <a:r>
                        <a:rPr sz="1200" b="0">
                          <a:solidFill>
                            <a:srgbClr val="1F2937"/>
                          </a:solidFill>
                        </a:rPr>
                        <a:t>Nafas yo‘llari kuyishi xos</a:t>
                      </a:r>
                    </a:p>
                  </a:txBody>
                  <a:tcPr marL="73152" marR="73152" marT="36576" marB="36576">
                    <a:solidFill>
                      <a:srgbClr val="FFFFFF"/>
                    </a:solidFill>
                  </a:tcPr>
                </a:tc>
                <a:tc>
                  <a:txBody>
                    <a:bodyPr/>
                    <a:lstStyle/>
                    <a:p>
                      <a:r>
                        <a:rPr sz="1200" b="0">
                          <a:solidFill>
                            <a:srgbClr val="1F2937"/>
                          </a:solidFill>
                        </a:rPr>
                        <a:t>Faqat shu ta’sirda xarakterli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Manbalarni farqlash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Kuyish yuzasini baholash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To‘qqizliklar qoidasi (A.Wallace, 1951) kuyish maydonini taxminan aniqlash imkonini beradi.</a:t>
            </a:r>
          </a:p>
          <a:p>
            <a:pPr>
              <a:spcAft>
                <a:spcPts val="800"/>
              </a:spcAft>
            </a:pPr>
            <a:r>
              <a:rPr sz="1800">
                <a:solidFill>
                  <a:srgbClr val="1F2937"/>
                </a:solidFill>
                <a:latin typeface="Calibri"/>
              </a:rPr>
              <a:t>▸  Kaft qoidasi: qo‘l kafti yuzasi tana umumiy yuzasining taxminan 1%ini tashkil etadi.</a:t>
            </a:r>
          </a:p>
          <a:p>
            <a:pPr>
              <a:spcAft>
                <a:spcPts val="800"/>
              </a:spcAft>
            </a:pPr>
            <a:r>
              <a:rPr sz="1800">
                <a:solidFill>
                  <a:srgbClr val="1F2937"/>
                </a:solidFill>
                <a:latin typeface="Calibri"/>
              </a:rPr>
              <a:t>▸  Hayot uchun xavfli: tananing 10%dan ortig‘i III-IV, 15%dan ortig‘i III, 20%dan ortig‘i II darajali kuyish.</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660905"/>
                <a:gridCol w="1627069"/>
              </a:tblGrid>
              <a:tr h="411480">
                <a:tc>
                  <a:txBody>
                    <a:bodyPr/>
                    <a:lstStyle/>
                    <a:p>
                      <a:r>
                        <a:rPr sz="1400" b="1">
                          <a:solidFill>
                            <a:srgbClr val="FFFFFF"/>
                          </a:solidFill>
                        </a:rPr>
                        <a:t>Soha</a:t>
                      </a:r>
                    </a:p>
                  </a:txBody>
                  <a:tcPr marL="73152" marR="73152" marT="36576" marB="36576">
                    <a:solidFill>
                      <a:srgbClr val="0B1F3A"/>
                    </a:solidFill>
                  </a:tcPr>
                </a:tc>
                <a:tc>
                  <a:txBody>
                    <a:bodyPr/>
                    <a:lstStyle/>
                    <a:p>
                      <a:r>
                        <a:rPr sz="1400" b="1">
                          <a:solidFill>
                            <a:srgbClr val="FFFFFF"/>
                          </a:solidFill>
                        </a:rPr>
                        <a:t>Ulushi</a:t>
                      </a:r>
                    </a:p>
                  </a:txBody>
                  <a:tcPr marL="73152" marR="73152" marT="36576" marB="36576">
                    <a:solidFill>
                      <a:srgbClr val="0B1F3A"/>
                    </a:solidFill>
                  </a:tcPr>
                </a:tc>
              </a:tr>
              <a:tr h="411480">
                <a:tc>
                  <a:txBody>
                    <a:bodyPr/>
                    <a:lstStyle/>
                    <a:p>
                      <a:r>
                        <a:rPr sz="1300" b="0">
                          <a:solidFill>
                            <a:srgbClr val="1F2937"/>
                          </a:solidFill>
                        </a:rPr>
                        <a:t>Bosh-bo‘yin, qo‘l, son, boldir-tovon</a:t>
                      </a:r>
                    </a:p>
                  </a:txBody>
                  <a:tcPr marL="73152" marR="73152" marT="36576" marB="36576">
                    <a:solidFill>
                      <a:srgbClr val="E8EEF6"/>
                    </a:solidFill>
                  </a:tcPr>
                </a:tc>
                <a:tc>
                  <a:txBody>
                    <a:bodyPr/>
                    <a:lstStyle/>
                    <a:p>
                      <a:r>
                        <a:rPr sz="1300" b="0">
                          <a:solidFill>
                            <a:srgbClr val="1F2937"/>
                          </a:solidFill>
                        </a:rPr>
                        <a:t>har biri 9%</a:t>
                      </a:r>
                    </a:p>
                  </a:txBody>
                  <a:tcPr marL="73152" marR="73152" marT="36576" marB="36576">
                    <a:solidFill>
                      <a:srgbClr val="E8EEF6"/>
                    </a:solidFill>
                  </a:tcPr>
                </a:tc>
              </a:tr>
              <a:tr h="411480">
                <a:tc>
                  <a:txBody>
                    <a:bodyPr/>
                    <a:lstStyle/>
                    <a:p>
                      <a:r>
                        <a:rPr sz="1300" b="0">
                          <a:solidFill>
                            <a:srgbClr val="1F2937"/>
                          </a:solidFill>
                        </a:rPr>
                        <a:t>Tananing old va orqa yuzasi</a:t>
                      </a:r>
                    </a:p>
                  </a:txBody>
                  <a:tcPr marL="73152" marR="73152" marT="36576" marB="36576">
                    <a:solidFill>
                      <a:srgbClr val="FFFFFF"/>
                    </a:solidFill>
                  </a:tcPr>
                </a:tc>
                <a:tc>
                  <a:txBody>
                    <a:bodyPr/>
                    <a:lstStyle/>
                    <a:p>
                      <a:r>
                        <a:rPr sz="1300" b="0">
                          <a:solidFill>
                            <a:srgbClr val="1F2937"/>
                          </a:solidFill>
                        </a:rPr>
                        <a:t>har biri 18%</a:t>
                      </a:r>
                    </a:p>
                  </a:txBody>
                  <a:tcPr marL="73152" marR="73152" marT="36576" marB="36576">
                    <a:solidFill>
                      <a:srgbClr val="FFFFFF"/>
                    </a:solidFill>
                  </a:tcPr>
                </a:tc>
              </a:tr>
              <a:tr h="411480">
                <a:tc>
                  <a:txBody>
                    <a:bodyPr/>
                    <a:lstStyle/>
                    <a:p>
                      <a:r>
                        <a:rPr sz="1300" b="0">
                          <a:solidFill>
                            <a:srgbClr val="1F2937"/>
                          </a:solidFill>
                        </a:rPr>
                        <a:t>Oraliq soha</a:t>
                      </a:r>
                    </a:p>
                  </a:txBody>
                  <a:tcPr marL="73152" marR="73152" marT="36576" marB="36576">
                    <a:solidFill>
                      <a:srgbClr val="E8EEF6"/>
                    </a:solidFill>
                  </a:tcPr>
                </a:tc>
                <a:tc>
                  <a:txBody>
                    <a:bodyPr/>
                    <a:lstStyle/>
                    <a:p>
                      <a:r>
                        <a:rPr sz="1300" b="0">
                          <a:solidFill>
                            <a:srgbClr val="1F2937"/>
                          </a:solidFill>
                        </a:rPr>
                        <a:t>1%</a:t>
                      </a:r>
                    </a:p>
                  </a:txBody>
                  <a:tcPr marL="73152" marR="73152" marT="36576" marB="36576">
                    <a:solidFill>
                      <a:srgbClr val="E8EEF6"/>
                    </a:solidFill>
                  </a:tcPr>
                </a:tc>
              </a:tr>
              <a:tr h="411480">
                <a:tc>
                  <a:txBody>
                    <a:bodyPr/>
                    <a:lstStyle/>
                    <a:p>
                      <a:r>
                        <a:rPr sz="1300" b="0">
                          <a:solidFill>
                            <a:srgbClr val="1F2937"/>
                          </a:solidFill>
                        </a:rPr>
                        <a:t>Qo‘l kafti (kaft qoidasi)</a:t>
                      </a:r>
                    </a:p>
                  </a:txBody>
                  <a:tcPr marL="73152" marR="73152" marT="36576" marB="36576">
                    <a:solidFill>
                      <a:srgbClr val="FFFFFF"/>
                    </a:solidFill>
                  </a:tcPr>
                </a:tc>
                <a:tc>
                  <a:txBody>
                    <a:bodyPr/>
                    <a:lstStyle/>
                    <a:p>
                      <a:r>
                        <a:rPr sz="1300" b="0">
                          <a:solidFill>
                            <a:srgbClr val="1F2937"/>
                          </a:solidFill>
                        </a:rPr>
                        <a:t>taxminan 1%</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To‘qqizliklar qoidasi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186-187, 187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Kuyish diagnozini yozish va hayot uchun xavf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Diagnozda kuyish kasr shaklida yoziladi: suratda kuyish yuzasi, mahrajda kuyish darajalari. Daraja va yuza imkon qadar to‘liq ko‘rsatiladi.</a:t>
            </a:r>
          </a:p>
          <a:p>
            <a:pPr>
              <a:spcAft>
                <a:spcPts val="1200"/>
              </a:spcAft>
            </a:pPr>
            <a:r>
              <a:rPr sz="2200">
                <a:solidFill>
                  <a:srgbClr val="1F2937"/>
                </a:solidFill>
                <a:latin typeface="Calibri"/>
              </a:rPr>
              <a:t>▸  Misollar: 10 % / II yoki 30% (10%) / II-III. Qavs ichida chuqurroq kuyish yuzasi ko‘rsatiladi.</a:t>
            </a:r>
          </a:p>
          <a:p>
            <a:pPr>
              <a:spcAft>
                <a:spcPts val="1200"/>
              </a:spcAft>
            </a:pPr>
            <a:r>
              <a:rPr sz="2200">
                <a:solidFill>
                  <a:srgbClr val="1F2937"/>
                </a:solidFill>
                <a:latin typeface="Calibri"/>
              </a:rPr>
              <a:t>▸  Nafas yo‘llarining shishi va ovoz yorig‘ining torayishi bilan kechgan nafas yo‘llari kuyishi hayot uchun xavfli hisoblanadi.</a:t>
            </a:r>
          </a:p>
          <a:p>
            <a:pPr>
              <a:spcAft>
                <a:spcPts val="1200"/>
              </a:spcAft>
            </a:pPr>
            <a:r>
              <a:rPr sz="2200">
                <a:solidFill>
                  <a:srgbClr val="1F2937"/>
                </a:solidFill>
                <a:latin typeface="Calibri"/>
              </a:rPr>
              <a:t>▸  Kuyish kasalligi rivojlansa, kichikroq yuzali termik kuyishlar ham hayotga tahdid soladi.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188, 187-188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Kuyish kasalligi va uning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yo‘li kuyishi va is gazi qo‘shilsa, o‘lim ehtimoli ikki va undan ko‘p marta ortadi.</a:t>
            </a:r>
          </a:p>
          <a:p>
            <a:pPr>
              <a:spcAft>
                <a:spcPts val="800"/>
              </a:spcAft>
            </a:pPr>
            <a:r>
              <a:rPr sz="1800">
                <a:solidFill>
                  <a:srgbClr val="1F2937"/>
                </a:solidFill>
                <a:latin typeface="Calibri"/>
              </a:rPr>
              <a:t>▸  Septikotoksemiyada yiringlash asoratlari: pnevmoniya, abssess, flegmona, pielonefrit, sepsis.</a:t>
            </a:r>
          </a:p>
          <a:p>
            <a:pPr>
              <a:spcAft>
                <a:spcPts val="800"/>
              </a:spcAft>
            </a:pPr>
            <a:r>
              <a:rPr sz="1800">
                <a:solidFill>
                  <a:srgbClr val="1F2937"/>
                </a:solidFill>
                <a:latin typeface="Calibri"/>
              </a:rPr>
              <a:t>▸  Bolalarda og‘irroq kechadi; keksalarda hamroh kasalliklar kasallikni og‘irlashtiradi.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Kuyish shoki: 1 sutkagacha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Toksemiya: 1-2 hafta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Septikotoksemiya: 2-3 hafta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Rekonvalessensiya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Kuyish kasalligi davrlari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Alanga ta’siri hayotiyligini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yo‘llari, qizilo‘ngach va oshqozonda qurum bo‘lsa, alanga tirik paytda ta’sir qilgan.</a:t>
            </a:r>
          </a:p>
          <a:p>
            <a:pPr>
              <a:spcAft>
                <a:spcPts val="800"/>
              </a:spcAft>
            </a:pPr>
            <a:r>
              <a:rPr sz="1800">
                <a:solidFill>
                  <a:srgbClr val="1F2937"/>
                </a:solidFill>
                <a:latin typeface="Calibri"/>
              </a:rPr>
              <a:t>▸  Hayotiy ta’sirda karboksigemoglobin 60% gacha, o‘limdan keyingi ta’sirda esa 20% dan oshmaydi.</a:t>
            </a:r>
          </a:p>
          <a:p>
            <a:pPr>
              <a:spcAft>
                <a:spcPts val="800"/>
              </a:spcAft>
            </a:pPr>
            <a:r>
              <a:rPr sz="1800">
                <a:solidFill>
                  <a:srgbClr val="1F2937"/>
                </a:solidFill>
                <a:latin typeface="Calibri"/>
              </a:rPr>
              <a:t>▸  O‘limdan keyingi alanga ta’sirida ham yuza tomirlar qonida karboksigemoglobin topilishi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89794"/>
                <a:gridCol w="2643987"/>
                <a:gridCol w="1454193"/>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Qayerda</a:t>
                      </a:r>
                    </a:p>
                  </a:txBody>
                  <a:tcPr marL="73152" marR="73152" marT="36576" marB="36576">
                    <a:solidFill>
                      <a:srgbClr val="0B1F3A"/>
                    </a:solidFill>
                  </a:tcPr>
                </a:tc>
                <a:tc>
                  <a:txBody>
                    <a:bodyPr/>
                    <a:lstStyle/>
                    <a:p>
                      <a:r>
                        <a:rPr sz="1300" b="1">
                          <a:solidFill>
                            <a:srgbClr val="FFFFFF"/>
                          </a:solidFill>
                        </a:rPr>
                        <a:t>Ahamiyati</a:t>
                      </a:r>
                    </a:p>
                  </a:txBody>
                  <a:tcPr marL="73152" marR="73152" marT="36576" marB="36576">
                    <a:solidFill>
                      <a:srgbClr val="0B1F3A"/>
                    </a:solidFill>
                  </a:tcPr>
                </a:tc>
              </a:tr>
              <a:tr h="411480">
                <a:tc>
                  <a:txBody>
                    <a:bodyPr/>
                    <a:lstStyle/>
                    <a:p>
                      <a:r>
                        <a:rPr sz="1200" b="0">
                          <a:solidFill>
                            <a:srgbClr val="1F2937"/>
                          </a:solidFill>
                        </a:rPr>
                        <a:t>Karboksigemoglobin</a:t>
                      </a:r>
                    </a:p>
                  </a:txBody>
                  <a:tcPr marL="73152" marR="73152" marT="36576" marB="36576">
                    <a:solidFill>
                      <a:srgbClr val="E8EEF6"/>
                    </a:solidFill>
                  </a:tcPr>
                </a:tc>
                <a:tc>
                  <a:txBody>
                    <a:bodyPr/>
                    <a:lstStyle/>
                    <a:p>
                      <a:r>
                        <a:rPr sz="1200" b="0">
                          <a:solidFill>
                            <a:srgbClr val="1F2937"/>
                          </a:solidFill>
                        </a:rPr>
                        <a:t>Yurak kameralari, chuqur tomirlar qoni</a:t>
                      </a:r>
                    </a:p>
                  </a:txBody>
                  <a:tcPr marL="73152" marR="73152" marT="36576" marB="36576">
                    <a:solidFill>
                      <a:srgbClr val="E8EEF6"/>
                    </a:solidFill>
                  </a:tcPr>
                </a:tc>
                <a:tc>
                  <a:txBody>
                    <a:bodyPr/>
                    <a:lstStyle/>
                    <a:p>
                      <a:r>
                        <a:rPr sz="1200" b="0">
                          <a:solidFill>
                            <a:srgbClr val="1F2937"/>
                          </a:solidFill>
                        </a:rPr>
                        <a:t>Hayotiy ta’sir belgisi</a:t>
                      </a:r>
                    </a:p>
                  </a:txBody>
                  <a:tcPr marL="73152" marR="73152" marT="36576" marB="36576">
                    <a:solidFill>
                      <a:srgbClr val="E8EEF6"/>
                    </a:solidFill>
                  </a:tcPr>
                </a:tc>
              </a:tr>
              <a:tr h="411480">
                <a:tc>
                  <a:txBody>
                    <a:bodyPr/>
                    <a:lstStyle/>
                    <a:p>
                      <a:r>
                        <a:rPr sz="1200" b="0">
                          <a:solidFill>
                            <a:srgbClr val="1F2937"/>
                          </a:solidFill>
                        </a:rPr>
                        <a:t>Karboksimioglobin</a:t>
                      </a:r>
                    </a:p>
                  </a:txBody>
                  <a:tcPr marL="73152" marR="73152" marT="36576" marB="36576">
                    <a:solidFill>
                      <a:srgbClr val="FFFFFF"/>
                    </a:solidFill>
                  </a:tcPr>
                </a:tc>
                <a:tc>
                  <a:txBody>
                    <a:bodyPr/>
                    <a:lstStyle/>
                    <a:p>
                      <a:r>
                        <a:rPr sz="1200" b="0">
                          <a:solidFill>
                            <a:srgbClr val="1F2937"/>
                          </a:solidFill>
                        </a:rPr>
                        <a:t>Chuqur joylashgan mushaklar</a:t>
                      </a:r>
                    </a:p>
                  </a:txBody>
                  <a:tcPr marL="73152" marR="73152" marT="36576" marB="36576">
                    <a:solidFill>
                      <a:srgbClr val="FFFFFF"/>
                    </a:solidFill>
                  </a:tcPr>
                </a:tc>
                <a:tc>
                  <a:txBody>
                    <a:bodyPr/>
                    <a:lstStyle/>
                    <a:p>
                      <a:r>
                        <a:rPr sz="1200" b="0">
                          <a:solidFill>
                            <a:srgbClr val="1F2937"/>
                          </a:solidFill>
                        </a:rPr>
                        <a:t>Hayotiy ta’sir belgisi</a:t>
                      </a:r>
                    </a:p>
                  </a:txBody>
                  <a:tcPr marL="73152" marR="73152" marT="36576" marB="36576">
                    <a:solidFill>
                      <a:srgbClr val="FFFFFF"/>
                    </a:solidFill>
                  </a:tcPr>
                </a:tc>
              </a:tr>
              <a:tr h="411480">
                <a:tc>
                  <a:txBody>
                    <a:bodyPr/>
                    <a:lstStyle/>
                    <a:p>
                      <a:r>
                        <a:rPr sz="1200" b="0">
                          <a:solidFill>
                            <a:srgbClr val="1F2937"/>
                          </a:solidFill>
                        </a:rPr>
                        <a:t>Qurum</a:t>
                      </a:r>
                    </a:p>
                  </a:txBody>
                  <a:tcPr marL="73152" marR="73152" marT="36576" marB="36576">
                    <a:solidFill>
                      <a:srgbClr val="E8EEF6"/>
                    </a:solidFill>
                  </a:tcPr>
                </a:tc>
                <a:tc>
                  <a:txBody>
                    <a:bodyPr/>
                    <a:lstStyle/>
                    <a:p>
                      <a:r>
                        <a:rPr sz="1200" b="0">
                          <a:solidFill>
                            <a:srgbClr val="1F2937"/>
                          </a:solidFill>
                        </a:rPr>
                        <a:t>Nafas yo‘li, qizilo‘ngach, oshqozon</a:t>
                      </a:r>
                    </a:p>
                  </a:txBody>
                  <a:tcPr marL="73152" marR="73152" marT="36576" marB="36576">
                    <a:solidFill>
                      <a:srgbClr val="E8EEF6"/>
                    </a:solidFill>
                  </a:tcPr>
                </a:tc>
                <a:tc>
                  <a:txBody>
                    <a:bodyPr/>
                    <a:lstStyle/>
                    <a:p>
                      <a:r>
                        <a:rPr sz="1200" b="0">
                          <a:solidFill>
                            <a:srgbClr val="1F2937"/>
                          </a:solidFill>
                        </a:rPr>
                        <a:t>Hayotiy ta’sir belgisi</a:t>
                      </a:r>
                    </a:p>
                  </a:txBody>
                  <a:tcPr marL="73152" marR="73152" marT="36576" marB="36576">
                    <a:solidFill>
                      <a:srgbClr val="E8EEF6"/>
                    </a:solidFill>
                  </a:tcPr>
                </a:tc>
              </a:tr>
              <a:tr h="411480">
                <a:tc>
                  <a:txBody>
                    <a:bodyPr/>
                    <a:lstStyle/>
                    <a:p>
                      <a:r>
                        <a:rPr sz="1200" b="0">
                          <a:solidFill>
                            <a:srgbClr val="1F2937"/>
                          </a:solidFill>
                        </a:rPr>
                        <a:t>Qurum (boshqa joy)</a:t>
                      </a:r>
                    </a:p>
                  </a:txBody>
                  <a:tcPr marL="73152" marR="73152" marT="36576" marB="36576">
                    <a:solidFill>
                      <a:srgbClr val="FFFFFF"/>
                    </a:solidFill>
                  </a:tcPr>
                </a:tc>
                <a:tc>
                  <a:txBody>
                    <a:bodyPr/>
                    <a:lstStyle/>
                    <a:p>
                      <a:r>
                        <a:rPr sz="1200" b="0">
                          <a:solidFill>
                            <a:srgbClr val="1F2937"/>
                          </a:solidFill>
                        </a:rPr>
                        <a:t>Peshona/asos suyagi bo‘shliqlari, tomirlar</a:t>
                      </a:r>
                    </a:p>
                  </a:txBody>
                  <a:tcPr marL="73152" marR="73152" marT="36576" marB="36576">
                    <a:solidFill>
                      <a:srgbClr val="FFFFFF"/>
                    </a:solidFill>
                  </a:tcPr>
                </a:tc>
                <a:tc>
                  <a:txBody>
                    <a:bodyPr/>
                    <a:lstStyle/>
                    <a:p>
                      <a:r>
                        <a:rPr sz="1200" b="0">
                          <a:solidFill>
                            <a:srgbClr val="1F2937"/>
                          </a:solidFill>
                        </a:rPr>
                        <a:t>Hayotiy ta’sir belgisi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Hayotiylik belgilari va namuna joyi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boshqa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Hayotiy ta’sirda ko‘z olmalari odatda shikastlanmaydi. Qovoq terisi yoyilganda kuygan va kuymagan sohalar ketma-ket keladi (“g‘oz panjasi”).</a:t>
            </a:r>
          </a:p>
          <a:p>
            <a:pPr>
              <a:spcAft>
                <a:spcPts val="1200"/>
              </a:spcAft>
            </a:pPr>
            <a:r>
              <a:rPr sz="2200">
                <a:solidFill>
                  <a:srgbClr val="1F2937"/>
                </a:solidFill>
                <a:latin typeface="Calibri"/>
              </a:rPr>
              <a:t>▸  Nafas yo‘llarining kuyishi, yurak va tomirlarda ko‘p ivigan qon, arterial tromblar va o‘pka tomirlarining yog‘ emboliyasi tiriklikni ko‘rsatadi.</a:t>
            </a:r>
          </a:p>
          <a:p>
            <a:pPr>
              <a:spcAft>
                <a:spcPts val="1200"/>
              </a:spcAft>
            </a:pPr>
            <a:r>
              <a:rPr sz="2200">
                <a:solidFill>
                  <a:srgbClr val="1F2937"/>
                </a:solidFill>
                <a:latin typeface="Calibri"/>
              </a:rPr>
              <a:t>▸  Hayotiy kuyish pufaklarida oqsil miqdori o‘limdan keyin hosil bo‘lgan pufaklarga nisbatan ikki barobar ko‘p bo‘ladi.</a:t>
            </a:r>
          </a:p>
          <a:p>
            <a:pPr>
              <a:spcAft>
                <a:spcPts val="1200"/>
              </a:spcAft>
            </a:pPr>
            <a:r>
              <a:rPr sz="2200">
                <a:solidFill>
                  <a:srgbClr val="1F2937"/>
                </a:solidFill>
                <a:latin typeface="Calibri"/>
              </a:rPr>
              <a:t>▸  Travmadan hosil bo‘lgan epidural gematoma urchuqsimon va qattiq pardaga birikkan. O‘limdan keyingi alanga ta’siridagisi o‘roqsimon va birikmagan.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189, 190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Yongan murda: bokser pozasi va kuyish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Alanga ta’sirida namlik bug‘lanib, oqsil ivishidan mushaklar zichlashadi va kaltalashadi. Qo‘l-oyoqlar bukilib, “bokser pozasi” hosil bo‘ladi.</a:t>
            </a:r>
          </a:p>
          <a:p>
            <a:pPr>
              <a:spcAft>
                <a:spcPts val="1200"/>
              </a:spcAft>
            </a:pPr>
            <a:r>
              <a:rPr sz="2200">
                <a:solidFill>
                  <a:srgbClr val="1F2937"/>
                </a:solidFill>
                <a:latin typeface="Calibri"/>
              </a:rPr>
              <a:t>▸  Teri qoplamlari ham zichlashadi. Tananing turli sohalariga ta’sir har xil maromda bo‘lsa, terida darz va yoriqlar hosil bo‘lishi mumkin.</a:t>
            </a:r>
          </a:p>
          <a:p>
            <a:pPr>
              <a:spcAft>
                <a:spcPts val="1200"/>
              </a:spcAft>
            </a:pPr>
            <a:r>
              <a:rPr sz="2200">
                <a:solidFill>
                  <a:srgbClr val="1F2937"/>
                </a:solidFill>
                <a:latin typeface="Calibri"/>
              </a:rPr>
              <a:t>▸  Go‘daklar murdasi 2-3 soatda yonib kulga aylanadi. Kattalarniki taxminan 20 soatga yaqin vaqt oladi, krematoriyda gazda esa bir soatdan kam.</a:t>
            </a:r>
          </a:p>
          <a:p>
            <a:pPr>
              <a:spcAft>
                <a:spcPts val="1200"/>
              </a:spcAft>
            </a:pPr>
            <a:r>
              <a:rPr sz="2200">
                <a:solidFill>
                  <a:srgbClr val="1F2937"/>
                </a:solidFill>
                <a:latin typeface="Calibri"/>
              </a:rPr>
              <a:t>▸  Tur mansublik, jins, yosh va boshqa masalalarni hal etish uchun yongan murdadan qolgan kul sud-tibbiy tekshirilishi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190, 191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yong‘indan keyin topilgan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yong‘indan keyin ko‘mirlangan murda topilgan, qo‘l-oyoqlari “bokser pozasi”da bukilgan. Savol: o‘lim alanga ta’siridan oldin sodir bo‘lganmi?</a:t>
            </a:r>
          </a:p>
          <a:p>
            <a:pPr>
              <a:spcAft>
                <a:spcPts val="1200"/>
              </a:spcAft>
            </a:pPr>
            <a:r>
              <a:rPr sz="2200">
                <a:solidFill>
                  <a:srgbClr val="1F2937"/>
                </a:solidFill>
                <a:latin typeface="Calibri"/>
              </a:rPr>
              <a:t>▸  Nafas yo‘llari, qizilo‘ngach va oshqozonda qurum bo‘lsa, alanga hayot paytida ta’sir qilgan. Qurum qon tomirlarda va jigar hujayralarida ham topilishi mumkin.</a:t>
            </a:r>
          </a:p>
          <a:p>
            <a:pPr>
              <a:spcAft>
                <a:spcPts val="1200"/>
              </a:spcAft>
            </a:pPr>
            <a:r>
              <a:rPr sz="2200">
                <a:solidFill>
                  <a:srgbClr val="1F2937"/>
                </a:solidFill>
                <a:latin typeface="Calibri"/>
              </a:rPr>
              <a:t>▸  O‘limdan keyingi alangada karboksigemoglobin 20% dan oshmaydi, hayotiy ta’sirda 60% gacha bo‘ladi. Qon yurak kameralari va chuqur tomirlardan olinadi.</a:t>
            </a:r>
          </a:p>
          <a:p>
            <a:pPr>
              <a:spcAft>
                <a:spcPts val="1200"/>
              </a:spcAft>
            </a:pPr>
            <a:r>
              <a:rPr sz="2200">
                <a:solidFill>
                  <a:srgbClr val="1F2937"/>
                </a:solidFill>
                <a:latin typeface="Calibri"/>
              </a:rPr>
              <a:t>▸  Diqqat: xato qilish xavfi! Travmatik epidural gematoma urchuqsimon va qattiq pardaga birikkan. O‘limdan keyingisi o‘roqsimon va birikmagan.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189-190, 189, 190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Past haroratning umumiy ta’siri: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Yuqori namlik, kuchli shamol, mavsumga mos bo‘lmagan kiyim, harakatsizlik va charchoq sovuq qotishga moyillik yaratadi.</a:t>
            </a:r>
          </a:p>
          <a:p>
            <a:pPr>
              <a:spcAft>
                <a:spcPts val="1200"/>
              </a:spcAft>
            </a:pPr>
            <a:r>
              <a:rPr sz="2200">
                <a:solidFill>
                  <a:srgbClr val="1F2937"/>
                </a:solidFill>
                <a:latin typeface="Calibri"/>
              </a:rPr>
              <a:t>▸  Alkogol teri tomirlarini kengaytirib, issiqlik yo‘qotilishini kuchaytiradi. Mast odam vaziyatni to‘g‘ri baholamaydi va himoya choralarini ko‘rmaydi.</a:t>
            </a:r>
          </a:p>
          <a:p>
            <a:pPr>
              <a:spcAft>
                <a:spcPts val="1200"/>
              </a:spcAft>
            </a:pPr>
            <a:r>
              <a:rPr sz="2200">
                <a:solidFill>
                  <a:srgbClr val="1F2937"/>
                </a:solidFill>
                <a:latin typeface="Calibri"/>
              </a:rPr>
              <a:t>▸  Yangi tug‘ilgan chaqaloqlar o‘ta sezgir: termoregulyasiya to‘liq shakllanmagan, tana yuzasi massasiga nisbatan katta.</a:t>
            </a:r>
          </a:p>
          <a:p>
            <a:pPr>
              <a:spcAft>
                <a:spcPts val="1200"/>
              </a:spcAft>
            </a:pPr>
            <a:r>
              <a:rPr sz="2200">
                <a:solidFill>
                  <a:srgbClr val="1F2937"/>
                </a:solidFill>
                <a:latin typeface="Calibri"/>
              </a:rPr>
              <a:t>▸  Sovuq suvda o‘lim 1-1,5 soatda sodir bo‘lishi mumkin. Havo harorati +10°S gacha bo‘lganda ham uzoq qolish sovuq qotishga olib kelishi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 patogenez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 modda almashinuvi kuchayadi, glikogen kamayadi, teri tomirlari torayadi va issiqlik ajralishi kamayadi.</a:t>
            </a:r>
          </a:p>
          <a:p>
            <a:pPr>
              <a:spcAft>
                <a:spcPts val="800"/>
              </a:spcAft>
            </a:pPr>
            <a:r>
              <a:rPr sz="1800">
                <a:solidFill>
                  <a:srgbClr val="1F2937"/>
                </a:solidFill>
                <a:latin typeface="Calibri"/>
              </a:rPr>
              <a:t>▸  Harorat 1°S pasaysa, to‘qimalarda biokimyoviy jarayonlar taxminan 2 barobar sekinlashadi.</a:t>
            </a:r>
          </a:p>
          <a:p>
            <a:pPr>
              <a:spcAft>
                <a:spcPts val="800"/>
              </a:spcAft>
            </a:pPr>
            <a:r>
              <a:rPr sz="1800">
                <a:solidFill>
                  <a:srgbClr val="1F2937"/>
                </a:solidFill>
                <a:latin typeface="Calibri"/>
              </a:rPr>
              <a:t>▸  O‘lim ko‘pincha nafas to‘xtashidan, ba’zan tomir kollapsi yoki qorinchalar fibrillyasiyasidan.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Kompensatsiya: metabolizm ↑</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Dekompensatsiya, harorat ↓</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+30…+28°S: po‘stloq buziladi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+25…+22°S: yakuniy bosqich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O‘lim: nafas to‘xtashi / kollaps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qotish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191-192, 192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qotishda tashqi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Sovuq qotgan odam pozasida qo‘l ko‘krakka, oyoq qoringa bukilgan; issiqlik ajratuvchi yuza kamayadi.</a:t>
            </a:r>
          </a:p>
          <a:p>
            <a:pPr>
              <a:spcAft>
                <a:spcPts val="800"/>
              </a:spcAft>
            </a:pPr>
            <a:r>
              <a:rPr sz="1800">
                <a:solidFill>
                  <a:srgbClr val="1F2937"/>
                </a:solidFill>
                <a:latin typeface="Calibri"/>
              </a:rPr>
              <a:t>▸  Diqqat: kuchli mastlikda poza bo‘lmasligi mumkin; qor tagidagi muz qatlami esa spetsifik belgi emas.</a:t>
            </a:r>
          </a:p>
          <a:p>
            <a:pPr>
              <a:spcAft>
                <a:spcPts val="800"/>
              </a:spcAft>
            </a:pPr>
            <a:r>
              <a:rPr sz="1800">
                <a:solidFill>
                  <a:srgbClr val="1F2937"/>
                </a:solidFill>
                <a:latin typeface="Calibri"/>
              </a:rPr>
              <a:t>▸  Murda dog‘lari manfiy haroratda pushti-qizg‘ish, +10°S gacha musbatda ko‘kimtir-binafsha bo‘lishi mumkin.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Ko‘rinishi</a:t>
                      </a:r>
                    </a:p>
                  </a:txBody>
                  <a:tcPr marL="73152" marR="73152" marT="36576" marB="36576">
                    <a:solidFill>
                      <a:srgbClr val="0B1F3A"/>
                    </a:solidFill>
                  </a:tcPr>
                </a:tc>
              </a:tr>
              <a:tr h="411480">
                <a:tc>
                  <a:txBody>
                    <a:bodyPr/>
                    <a:lstStyle/>
                    <a:p>
                      <a:r>
                        <a:rPr sz="1300" b="0">
                          <a:solidFill>
                            <a:srgbClr val="1F2937"/>
                          </a:solidFill>
                        </a:rPr>
                        <a:t>Poza</a:t>
                      </a:r>
                    </a:p>
                  </a:txBody>
                  <a:tcPr marL="73152" marR="73152" marT="36576" marB="36576">
                    <a:solidFill>
                      <a:srgbClr val="E8EEF6"/>
                    </a:solidFill>
                  </a:tcPr>
                </a:tc>
                <a:tc>
                  <a:txBody>
                    <a:bodyPr/>
                    <a:lstStyle/>
                    <a:p>
                      <a:r>
                        <a:rPr sz="1300" b="0">
                          <a:solidFill>
                            <a:srgbClr val="1F2937"/>
                          </a:solidFill>
                        </a:rPr>
                        <a:t>Qo‘l ko‘krakda, oyoq qorinda bukilgan</a:t>
                      </a:r>
                    </a:p>
                  </a:txBody>
                  <a:tcPr marL="73152" marR="73152" marT="36576" marB="36576">
                    <a:solidFill>
                      <a:srgbClr val="E8EEF6"/>
                    </a:solidFill>
                  </a:tcPr>
                </a:tc>
              </a:tr>
              <a:tr h="411480">
                <a:tc>
                  <a:txBody>
                    <a:bodyPr/>
                    <a:lstStyle/>
                    <a:p>
                      <a:r>
                        <a:rPr sz="1300" b="0">
                          <a:solidFill>
                            <a:srgbClr val="1F2937"/>
                          </a:solidFill>
                        </a:rPr>
                        <a:t>Rayskiy</a:t>
                      </a:r>
                    </a:p>
                  </a:txBody>
                  <a:tcPr marL="73152" marR="73152" marT="36576" marB="36576">
                    <a:solidFill>
                      <a:srgbClr val="FFFFFF"/>
                    </a:solidFill>
                  </a:tcPr>
                </a:tc>
                <a:tc>
                  <a:txBody>
                    <a:bodyPr/>
                    <a:lstStyle/>
                    <a:p>
                      <a:r>
                        <a:rPr sz="1300" b="0">
                          <a:solidFill>
                            <a:srgbClr val="1F2937"/>
                          </a:solidFill>
                        </a:rPr>
                        <a:t>Og‘iz-burun atrofida muz, qosh-kiprikda qirov</a:t>
                      </a:r>
                    </a:p>
                  </a:txBody>
                  <a:tcPr marL="73152" marR="73152" marT="36576" marB="36576">
                    <a:solidFill>
                      <a:srgbClr val="FFFFFF"/>
                    </a:solidFill>
                  </a:tcPr>
                </a:tc>
              </a:tr>
              <a:tr h="411480">
                <a:tc>
                  <a:txBody>
                    <a:bodyPr/>
                    <a:lstStyle/>
                    <a:p>
                      <a:r>
                        <a:rPr sz="1300" b="0">
                          <a:solidFill>
                            <a:srgbClr val="1F2937"/>
                          </a:solidFill>
                        </a:rPr>
                        <a:t>Puparev</a:t>
                      </a:r>
                    </a:p>
                  </a:txBody>
                  <a:tcPr marL="73152" marR="73152" marT="36576" marB="36576">
                    <a:solidFill>
                      <a:srgbClr val="E8EEF6"/>
                    </a:solidFill>
                  </a:tcPr>
                </a:tc>
                <a:tc>
                  <a:txBody>
                    <a:bodyPr/>
                    <a:lstStyle/>
                    <a:p>
                      <a:r>
                        <a:rPr sz="1300" b="0">
                          <a:solidFill>
                            <a:srgbClr val="1F2937"/>
                          </a:solidFill>
                        </a:rPr>
                        <a:t>Moyak qisqargan, yorg‘oq yuqoriga tortilgan</a:t>
                      </a:r>
                    </a:p>
                  </a:txBody>
                  <a:tcPr marL="73152" marR="73152" marT="36576" marB="36576">
                    <a:solidFill>
                      <a:srgbClr val="E8EEF6"/>
                    </a:solidFill>
                  </a:tcPr>
                </a:tc>
              </a:tr>
              <a:tr h="411480">
                <a:tc>
                  <a:txBody>
                    <a:bodyPr/>
                    <a:lstStyle/>
                    <a:p>
                      <a:r>
                        <a:rPr sz="1300" b="0">
                          <a:solidFill>
                            <a:srgbClr val="1F2937"/>
                          </a:solidFill>
                        </a:rPr>
                        <a:t>Murda dog‘lari</a:t>
                      </a:r>
                    </a:p>
                  </a:txBody>
                  <a:tcPr marL="73152" marR="73152" marT="36576" marB="36576">
                    <a:solidFill>
                      <a:srgbClr val="FFFFFF"/>
                    </a:solidFill>
                  </a:tcPr>
                </a:tc>
                <a:tc>
                  <a:txBody>
                    <a:bodyPr/>
                    <a:lstStyle/>
                    <a:p>
                      <a:r>
                        <a:rPr sz="1300" b="0">
                          <a:solidFill>
                            <a:srgbClr val="1F2937"/>
                          </a:solidFill>
                        </a:rPr>
                        <a:t>Manfiy haroratda pushti-qizg‘ish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Tashqi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 192-193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qotishda ichki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Ichki a’zolar to‘laqon, barcha to‘qimalar pushti-qizg‘ish tusda bo‘ladi.</a:t>
            </a:r>
          </a:p>
          <a:p>
            <a:pPr>
              <a:spcAft>
                <a:spcPts val="1200"/>
              </a:spcAft>
            </a:pPr>
            <a:r>
              <a:rPr sz="2200">
                <a:solidFill>
                  <a:srgbClr val="1F2937"/>
                </a:solidFill>
                <a:latin typeface="Calibri"/>
              </a:rPr>
              <a:t>▸  O‘lim sekin kelgani uchun yurakning chap kameralari, aorta va yirik arteriyalarda laxtali qip-qizil qon topiladi.</a:t>
            </a:r>
          </a:p>
          <a:p>
            <a:pPr>
              <a:spcAft>
                <a:spcPts val="1200"/>
              </a:spcAft>
            </a:pPr>
            <a:r>
              <a:rPr sz="2200">
                <a:solidFill>
                  <a:srgbClr val="1F2937"/>
                </a:solidFill>
                <a:latin typeface="Calibri"/>
              </a:rPr>
              <a:t>▸  Puxnarevich belgisi: oshqozon bo‘sh, o‘lchamlari ancha kichik bo‘ladi.</a:t>
            </a:r>
          </a:p>
          <a:p>
            <a:pPr>
              <a:spcAft>
                <a:spcPts val="1200"/>
              </a:spcAft>
            </a:pPr>
            <a:r>
              <a:rPr sz="2200">
                <a:solidFill>
                  <a:srgbClr val="1F2937"/>
                </a:solidFill>
                <a:latin typeface="Calibri"/>
              </a:rPr>
              <a:t>▸  Fabrikantov belgisi: tomir devori o‘tkazuvchanligi oshgani uchun ichki a’zolarda, jumladan buyrak jomlari shilliq qavatida diapedez qon quyilishlar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Vishnevskiy dog‘lari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Oshqozon (ba’zan o‘n ikki barmoqli ichak) burmalari tepasida, 0,5 sm gacha; suv oqimi bilan olinadi.</a:t>
            </a:r>
          </a:p>
          <a:p>
            <a:pPr>
              <a:spcAft>
                <a:spcPts val="800"/>
              </a:spcAft>
            </a:pPr>
            <a:r>
              <a:rPr sz="1800">
                <a:solidFill>
                  <a:srgbClr val="1F2937"/>
                </a:solidFill>
                <a:latin typeface="Calibri"/>
              </a:rPr>
              <a:t>▸  Sovuq qotishdan o‘limlarning 80-90%ida bo‘ladi; tez o‘limda va ko‘pincha bolalarda kam yoki yo‘q.</a:t>
            </a:r>
          </a:p>
          <a:p>
            <a:pPr>
              <a:spcAft>
                <a:spcPts val="800"/>
              </a:spcAft>
            </a:pPr>
            <a:r>
              <a:rPr sz="1800">
                <a:solidFill>
                  <a:srgbClr val="1F2937"/>
                </a:solidFill>
                <a:latin typeface="Calibri"/>
              </a:rPr>
              <a:t>▸  Rangi qizildan jigar rangigacha: xlorid kislota gemoglobinni nordon gematinga aylantiradi.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Past harorat ta’siri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Vegetativ nerv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Spazm va eritrotsit diapedezi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Gemorragik infarkt, nekroz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Vishnevskiy dog‘lari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Hosil bo‘lish mexanizmi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193, 193-194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qotishning mikro va gistokimyoviy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Mikroskopda mikrotsirkulyator tizimda spazm, a’zolar stromasida shish va mayda qon quyilishlar ko‘rinadi. Buyrak to‘g‘ri naychalarida nekrobiotik o‘zgarishlar bo‘ladi (Kasyanov belgisi).</a:t>
            </a:r>
          </a:p>
          <a:p>
            <a:pPr>
              <a:spcAft>
                <a:spcPts val="1200"/>
              </a:spcAft>
            </a:pPr>
            <a:r>
              <a:rPr sz="2200">
                <a:solidFill>
                  <a:srgbClr val="1F2937"/>
                </a:solidFill>
                <a:latin typeface="Calibri"/>
              </a:rPr>
              <a:t>▸  Gistokimyoda jigar, oshqozon osti bezi, yurak va miyada glikogen yo‘qoladi. Buyrak usti bezi po‘stlog‘ida lipoidlar kamayadi.</a:t>
            </a:r>
          </a:p>
          <a:p>
            <a:pPr>
              <a:spcAft>
                <a:spcPts val="1200"/>
              </a:spcAft>
            </a:pPr>
            <a:r>
              <a:rPr sz="2200">
                <a:solidFill>
                  <a:srgbClr val="1F2937"/>
                </a:solidFill>
                <a:latin typeface="Calibri"/>
              </a:rPr>
              <a:t>▸  Diqqat: o‘lim qisqa vaqtda sodir bo‘lsa (muzdek suv, shamol), qonda qand kamayadi yoki yo‘qoladi, lekin jigarda glikogen saqlanishi mumkin.</a:t>
            </a:r>
          </a:p>
          <a:p>
            <a:pPr>
              <a:spcAft>
                <a:spcPts val="1200"/>
              </a:spcAft>
            </a:pPr>
            <a:r>
              <a:rPr sz="2200">
                <a:solidFill>
                  <a:srgbClr val="1F2937"/>
                </a:solidFill>
                <a:latin typeface="Calibri"/>
              </a:rPr>
              <a:t>▸  Kuchli mastlikda sovuq ta’siridan so‘ng qonda alkogol past, siydikda esa baland bo‘lishi mumkin. Sababi organizmda alkogolning kuchli utilizatsiyasi.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muzlashi va eritish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O‘limdan so‘ng minus haroratda murda sababdan qat’i nazar muzlashi mumkin. Hosil bo‘lgan jarohatlarni hayotiy shikastlardan farqlash kerak. Mikroskopda mayda yoriqlar va epidermisning dermadan ajralishi topiladi.</a:t>
            </a:r>
          </a:p>
          <a:p>
            <a:pPr>
              <a:spcAft>
                <a:spcPts val="1200"/>
              </a:spcAft>
            </a:pPr>
            <a:r>
              <a:rPr sz="2000">
                <a:solidFill>
                  <a:srgbClr val="1F2937"/>
                </a:solidFill>
                <a:latin typeface="Calibri"/>
              </a:rPr>
              <a:t>▸  Muzlaganda miya va parenximatoz a’zolar hajmi kattalashadi. Kalla suyaklari sinishi, choklar ajralishi mumkin. Bu bo‘yin boshdan oldin muzlaganda kuzatiladi.</a:t>
            </a:r>
          </a:p>
          <a:p>
            <a:pPr>
              <a:spcAft>
                <a:spcPts val="1200"/>
              </a:spcAft>
            </a:pPr>
            <a:r>
              <a:rPr sz="2000">
                <a:solidFill>
                  <a:srgbClr val="1F2937"/>
                </a:solidFill>
                <a:latin typeface="Calibri"/>
              </a:rPr>
              <a:t>▸  Muzlagan murda odatda xona haroratida eritiladi, bu bir necha kun olishi mumkin. Muddatni qisqartirish uchun iliq havo yoki issiq suv (+50°S gacha) ishlatiladi.</a:t>
            </a:r>
          </a:p>
          <a:p>
            <a:pPr>
              <a:spcAft>
                <a:spcPts val="1200"/>
              </a:spcAft>
            </a:pPr>
            <a:r>
              <a:rPr sz="2000">
                <a:solidFill>
                  <a:srgbClr val="1F2937"/>
                </a:solidFill>
                <a:latin typeface="Calibri"/>
              </a:rPr>
              <a:t>▸  Eritishda eritrotsitlar gemolizga uchraydi. Eritish qanchalik tez bo‘lsa, qon gemolizi va to‘qimalarning o‘limdan keyingi imbibitsiyasi shunchalik kuchli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194, 195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qishda topilgan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Taxminiy vaziyat: qishda, minus haroratda tashqarida murda topildi. Qo‘llar ko‘krakka, oyoqlar qoringa bukilgan, qosh va kipriklarda qirov bor.</a:t>
            </a:r>
          </a:p>
          <a:p>
            <a:pPr>
              <a:spcAft>
                <a:spcPts val="1200"/>
              </a:spcAft>
            </a:pPr>
            <a:r>
              <a:rPr sz="2200">
                <a:solidFill>
                  <a:srgbClr val="1F2937"/>
                </a:solidFill>
                <a:latin typeface="Calibri"/>
              </a:rPr>
              <a:t>▸  Ichki tekshiruvda oshqozon bo‘sh va kichraygan. Shilliq qavat burmalarining tepasida diametri 0,5 sm gacha mayda qon quyilishlar bor.</a:t>
            </a:r>
          </a:p>
          <a:p>
            <a:pPr>
              <a:spcAft>
                <a:spcPts val="1200"/>
              </a:spcAft>
            </a:pPr>
            <a:r>
              <a:rPr sz="2200">
                <a:solidFill>
                  <a:srgbClr val="1F2937"/>
                </a:solidFill>
                <a:latin typeface="Calibri"/>
              </a:rPr>
              <a:t>▸  Savol: bu belgilar qaysi muallif nomlari bilan ataladi va nega murda dog‘lari pushti-qizgish rangda bo‘ladi?</a:t>
            </a:r>
          </a:p>
          <a:p>
            <a:pPr>
              <a:spcAft>
                <a:spcPts val="1200"/>
              </a:spcAft>
            </a:pPr>
            <a:r>
              <a:rPr sz="2200">
                <a:solidFill>
                  <a:srgbClr val="1F2937"/>
                </a:solidFill>
                <a:latin typeface="Calibri"/>
              </a:rPr>
              <a:t>▸  Diqqat: qor tagidagi muz qatlami spetsifik belgi emas. Kuchli mastlikda poza bo‘lmasligi mumkin, qonda alkogol esa past, siydikda baland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 193, 192, 194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Past haroratning mahalliy ta’siri: sovuq urishi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Mahalliy sovuq urishda tana harorati umuman normal, faqat ayrim sohalarda pasayadi. Ko‘pincha baxtsiz hodisa: qo‘l-oyoq uchlari, quloq, burun, yonoqda.</a:t>
            </a:r>
          </a:p>
          <a:p>
            <a:pPr>
              <a:spcAft>
                <a:spcPts val="1200"/>
              </a:spcAft>
            </a:pPr>
            <a:r>
              <a:rPr sz="2200">
                <a:solidFill>
                  <a:srgbClr val="1F2937"/>
                </a:solidFill>
                <a:latin typeface="Calibri"/>
              </a:rPr>
              <a:t>▸  Mexanizm: qon tomirlar spazmi, keyin falaji. Qon aylanishi sekinlashadi yoki to‘xtaydi, to‘qima oziqlanishi buziladi.</a:t>
            </a:r>
          </a:p>
          <a:p>
            <a:pPr>
              <a:spcAft>
                <a:spcPts val="1200"/>
              </a:spcAft>
            </a:pPr>
            <a:r>
              <a:rPr sz="2200">
                <a:solidFill>
                  <a:srgbClr val="1F2937"/>
                </a:solidFill>
                <a:latin typeface="Calibri"/>
              </a:rPr>
              <a:t>▸  Yashirin davr — sovuq ta’sir paytidagi harorat pasayishi. Reaktiv davr — joy isigach boshlanadi; daraja shu davrda aniqlanadi.</a:t>
            </a:r>
          </a:p>
          <a:p>
            <a:pPr>
              <a:spcAft>
                <a:spcPts val="1200"/>
              </a:spcAft>
            </a:pPr>
            <a:r>
              <a:rPr sz="2200">
                <a:solidFill>
                  <a:srgbClr val="1F2937"/>
                </a:solidFill>
                <a:latin typeface="Calibri"/>
              </a:rPr>
              <a:t>▸  Reperkussiya: bir qo‘lni sovuq ursa, qarama-qarshi qo‘lda ham o‘zgarish chiqishi mumkin. Hayot uchun xavfli: 10% dan ortiq III-IV, 15% dan ortiq III, 20% dan ortiq II daraja.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195, 196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urish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I-II darajada chandiq qolmaydi, lekin joy uzoq vaqt sovuqqa o‘ta sezgir bo‘lib qoladi.</a:t>
            </a:r>
          </a:p>
          <a:p>
            <a:pPr>
              <a:spcAft>
                <a:spcPts val="800"/>
              </a:spcAft>
            </a:pPr>
            <a:r>
              <a:rPr sz="1800">
                <a:solidFill>
                  <a:srgbClr val="1F2937"/>
                </a:solidFill>
                <a:latin typeface="Calibri"/>
              </a:rPr>
              <a:t>▸  III darajada demarkatsion yallig‘lanish rivojlanadi, ko‘pincha yiringlash bilan kechadi.</a:t>
            </a:r>
          </a:p>
          <a:p>
            <a:pPr>
              <a:spcAft>
                <a:spcPts val="800"/>
              </a:spcAft>
            </a:pPr>
            <a:r>
              <a:rPr sz="1800">
                <a:solidFill>
                  <a:srgbClr val="1F2937"/>
                </a:solidFill>
                <a:latin typeface="Calibri"/>
              </a:rPr>
              <a:t>▸  IV darajada demarkatsion hoshiya ikkinchi hafta oxirida hosil bo‘ladi; ko‘pincha yiringli infeksiya asorat beradi.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19368"/>
                <a:gridCol w="2484711"/>
                <a:gridCol w="1783895"/>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Belgisi</a:t>
                      </a:r>
                    </a:p>
                  </a:txBody>
                  <a:tcPr marL="73152" marR="73152" marT="36576" marB="36576">
                    <a:solidFill>
                      <a:srgbClr val="0B1F3A"/>
                    </a:solidFill>
                  </a:tcPr>
                </a:tc>
                <a:tc>
                  <a:txBody>
                    <a:bodyPr/>
                    <a:lstStyle/>
                    <a:p>
                      <a:r>
                        <a:rPr sz="1300" b="1">
                          <a:solidFill>
                            <a:srgbClr val="FFFFFF"/>
                          </a:solidFill>
                        </a:rPr>
                        <a:t>Tuzalishi</a:t>
                      </a:r>
                    </a:p>
                  </a:txBody>
                  <a:tcPr marL="73152" marR="73152" marT="36576" marB="36576">
                    <a:solidFill>
                      <a:srgbClr val="0B1F3A"/>
                    </a:solidFill>
                  </a:tcPr>
                </a:tc>
              </a:tr>
              <a:tr h="411480">
                <a:tc>
                  <a:txBody>
                    <a:bodyPr/>
                    <a:lstStyle/>
                    <a:p>
                      <a:r>
                        <a:rPr sz="1200" b="0">
                          <a:solidFill>
                            <a:srgbClr val="1F2937"/>
                          </a:solidFill>
                        </a:rPr>
                        <a:t>I</a:t>
                      </a:r>
                    </a:p>
                  </a:txBody>
                  <a:tcPr marL="73152" marR="73152" marT="36576" marB="36576">
                    <a:solidFill>
                      <a:srgbClr val="E8EEF6"/>
                    </a:solidFill>
                  </a:tcPr>
                </a:tc>
                <a:tc>
                  <a:txBody>
                    <a:bodyPr/>
                    <a:lstStyle/>
                    <a:p>
                      <a:r>
                        <a:rPr sz="1200" b="0">
                          <a:solidFill>
                            <a:srgbClr val="1F2937"/>
                          </a:solidFill>
                        </a:rPr>
                        <a:t>Qizg‘ish-ko‘kimtir, biroz shishgan teri</a:t>
                      </a:r>
                    </a:p>
                  </a:txBody>
                  <a:tcPr marL="73152" marR="73152" marT="36576" marB="36576">
                    <a:solidFill>
                      <a:srgbClr val="E8EEF6"/>
                    </a:solidFill>
                  </a:tcPr>
                </a:tc>
                <a:tc>
                  <a:txBody>
                    <a:bodyPr/>
                    <a:lstStyle/>
                    <a:p>
                      <a:r>
                        <a:rPr sz="1200" b="0">
                          <a:solidFill>
                            <a:srgbClr val="1F2937"/>
                          </a:solidFill>
                        </a:rPr>
                        <a:t>3-7 kunda o‘tadi</a:t>
                      </a:r>
                    </a:p>
                  </a:txBody>
                  <a:tcPr marL="73152" marR="73152" marT="36576" marB="36576">
                    <a:solidFill>
                      <a:srgbClr val="E8EEF6"/>
                    </a:solidFill>
                  </a:tcPr>
                </a:tc>
              </a:tr>
              <a:tr h="411480">
                <a:tc>
                  <a:txBody>
                    <a:bodyPr/>
                    <a:lstStyle/>
                    <a:p>
                      <a:r>
                        <a:rPr sz="1200" b="0">
                          <a:solidFill>
                            <a:srgbClr val="1F2937"/>
                          </a:solidFill>
                        </a:rPr>
                        <a:t>II</a:t>
                      </a:r>
                    </a:p>
                  </a:txBody>
                  <a:tcPr marL="73152" marR="73152" marT="36576" marB="36576">
                    <a:solidFill>
                      <a:srgbClr val="FFFFFF"/>
                    </a:solidFill>
                  </a:tcPr>
                </a:tc>
                <a:tc>
                  <a:txBody>
                    <a:bodyPr/>
                    <a:lstStyle/>
                    <a:p>
                      <a:r>
                        <a:rPr sz="1200" b="0">
                          <a:solidFill>
                            <a:srgbClr val="1F2937"/>
                          </a:solidFill>
                        </a:rPr>
                        <a:t>Tiniq suyuqlikli pufaklar</a:t>
                      </a:r>
                    </a:p>
                  </a:txBody>
                  <a:tcPr marL="73152" marR="73152" marT="36576" marB="36576">
                    <a:solidFill>
                      <a:srgbClr val="FFFFFF"/>
                    </a:solidFill>
                  </a:tcPr>
                </a:tc>
                <a:tc>
                  <a:txBody>
                    <a:bodyPr/>
                    <a:lstStyle/>
                    <a:p>
                      <a:r>
                        <a:rPr sz="1200" b="0">
                          <a:solidFill>
                            <a:srgbClr val="1F2937"/>
                          </a:solidFill>
                        </a:rPr>
                        <a:t>10-20 kun, chandiqsiz</a:t>
                      </a:r>
                    </a:p>
                  </a:txBody>
                  <a:tcPr marL="73152" marR="73152" marT="36576" marB="36576">
                    <a:solidFill>
                      <a:srgbClr val="FFFFFF"/>
                    </a:solidFill>
                  </a:tcPr>
                </a:tc>
              </a:tr>
              <a:tr h="411480">
                <a:tc>
                  <a:txBody>
                    <a:bodyPr/>
                    <a:lstStyle/>
                    <a:p>
                      <a:r>
                        <a:rPr sz="1200" b="0">
                          <a:solidFill>
                            <a:srgbClr val="1F2937"/>
                          </a:solidFill>
                        </a:rPr>
                        <a:t>III</a:t>
                      </a:r>
                    </a:p>
                  </a:txBody>
                  <a:tcPr marL="73152" marR="73152" marT="36576" marB="36576">
                    <a:solidFill>
                      <a:srgbClr val="E8EEF6"/>
                    </a:solidFill>
                  </a:tcPr>
                </a:tc>
                <a:tc>
                  <a:txBody>
                    <a:bodyPr/>
                    <a:lstStyle/>
                    <a:p>
                      <a:r>
                        <a:rPr sz="1200" b="0">
                          <a:solidFill>
                            <a:srgbClr val="1F2937"/>
                          </a:solidFill>
                        </a:rPr>
                        <a:t>Teri nekrozi, qonli suyuqlikli pufak</a:t>
                      </a:r>
                    </a:p>
                  </a:txBody>
                  <a:tcPr marL="73152" marR="73152" marT="36576" marB="36576">
                    <a:solidFill>
                      <a:srgbClr val="E8EEF6"/>
                    </a:solidFill>
                  </a:tcPr>
                </a:tc>
                <a:tc>
                  <a:txBody>
                    <a:bodyPr/>
                    <a:lstStyle/>
                    <a:p>
                      <a:r>
                        <a:rPr sz="1200" b="0">
                          <a:solidFill>
                            <a:srgbClr val="1F2937"/>
                          </a:solidFill>
                        </a:rPr>
                        <a:t>1-2 oy yoki ko‘proq, chandiq</a:t>
                      </a:r>
                    </a:p>
                  </a:txBody>
                  <a:tcPr marL="73152" marR="73152" marT="36576" marB="36576">
                    <a:solidFill>
                      <a:srgbClr val="E8EEF6"/>
                    </a:solidFill>
                  </a:tcPr>
                </a:tc>
              </a:tr>
              <a:tr h="411480">
                <a:tc>
                  <a:txBody>
                    <a:bodyPr/>
                    <a:lstStyle/>
                    <a:p>
                      <a:r>
                        <a:rPr sz="1200" b="0">
                          <a:solidFill>
                            <a:srgbClr val="1F2937"/>
                          </a:solidFill>
                        </a:rPr>
                        <a:t>IV</a:t>
                      </a:r>
                    </a:p>
                  </a:txBody>
                  <a:tcPr marL="73152" marR="73152" marT="36576" marB="36576">
                    <a:solidFill>
                      <a:srgbClr val="FFFFFF"/>
                    </a:solidFill>
                  </a:tcPr>
                </a:tc>
                <a:tc>
                  <a:txBody>
                    <a:bodyPr/>
                    <a:lstStyle/>
                    <a:p>
                      <a:r>
                        <a:rPr sz="1200" b="0">
                          <a:solidFill>
                            <a:srgbClr val="1F2937"/>
                          </a:solidFill>
                        </a:rPr>
                        <a:t>Suyakkacha barcha to‘qima nekrozi</a:t>
                      </a:r>
                    </a:p>
                  </a:txBody>
                  <a:tcPr marL="73152" marR="73152" marT="36576" marB="36576">
                    <a:solidFill>
                      <a:srgbClr val="FFFFFF"/>
                    </a:solidFill>
                  </a:tcPr>
                </a:tc>
                <a:tc>
                  <a:txBody>
                    <a:bodyPr/>
                    <a:lstStyle/>
                    <a:p>
                      <a:r>
                        <a:rPr sz="1200" b="0">
                          <a:solidFill>
                            <a:srgbClr val="1F2937"/>
                          </a:solidFill>
                        </a:rPr>
                        <a:t>Haftalar, oylar; chandiq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urish darajalari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195, 196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Elektr toki: xususiyatlari va omillar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Elektrotravma barcha shikastlanishlarning 1-2,5% i, ammo nogironlik va o‘limda yetakchilardan biri.</a:t>
            </a:r>
          </a:p>
          <a:p>
            <a:pPr>
              <a:spcAft>
                <a:spcPts val="800"/>
              </a:spcAft>
            </a:pPr>
            <a:r>
              <a:rPr sz="1800">
                <a:solidFill>
                  <a:srgbClr val="1F2937"/>
                </a:solidFill>
                <a:latin typeface="Calibri"/>
              </a:rPr>
              <a:t>▸  Tokni asbobsiz aniqlab bo‘lmaydi; u kontakt, boshqa jism orqali yoki masofadan ta’sir qiladi.</a:t>
            </a:r>
          </a:p>
          <a:p>
            <a:pPr>
              <a:spcAft>
                <a:spcPts val="800"/>
              </a:spcAft>
            </a:pPr>
            <a:r>
              <a:rPr sz="1800">
                <a:solidFill>
                  <a:srgbClr val="1F2937"/>
                </a:solidFill>
                <a:latin typeface="Calibri"/>
              </a:rPr>
              <a:t>▸  Tok energiyasi issiqlik, kimyoviy, mexanik turga aylanadi; qisqa ta’sirda ham jarohat og‘ir bo‘lishi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820450"/>
                <a:gridCol w="3467524"/>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Omillar</a:t>
                      </a:r>
                    </a:p>
                  </a:txBody>
                  <a:tcPr marL="73152" marR="73152" marT="36576" marB="36576">
                    <a:solidFill>
                      <a:srgbClr val="0B1F3A"/>
                    </a:solidFill>
                  </a:tcPr>
                </a:tc>
              </a:tr>
              <a:tr h="411480">
                <a:tc>
                  <a:txBody>
                    <a:bodyPr/>
                    <a:lstStyle/>
                    <a:p>
                      <a:r>
                        <a:rPr sz="1300" b="0">
                          <a:solidFill>
                            <a:srgbClr val="1F2937"/>
                          </a:solidFill>
                        </a:rPr>
                        <a:t>I. Tok xususiyatlari</a:t>
                      </a:r>
                    </a:p>
                  </a:txBody>
                  <a:tcPr marL="73152" marR="73152" marT="36576" marB="36576">
                    <a:solidFill>
                      <a:srgbClr val="E8EEF6"/>
                    </a:solidFill>
                  </a:tcPr>
                </a:tc>
                <a:tc>
                  <a:txBody>
                    <a:bodyPr/>
                    <a:lstStyle/>
                    <a:p>
                      <a:r>
                        <a:rPr sz="1300" b="0">
                          <a:solidFill>
                            <a:srgbClr val="1F2937"/>
                          </a:solidFill>
                        </a:rPr>
                        <a:t>Tipi, kuchlanishi, kuchi, chastotasi</a:t>
                      </a:r>
                    </a:p>
                  </a:txBody>
                  <a:tcPr marL="73152" marR="73152" marT="36576" marB="36576">
                    <a:solidFill>
                      <a:srgbClr val="E8EEF6"/>
                    </a:solidFill>
                  </a:tcPr>
                </a:tc>
              </a:tr>
              <a:tr h="411480">
                <a:tc>
                  <a:txBody>
                    <a:bodyPr/>
                    <a:lstStyle/>
                    <a:p>
                      <a:r>
                        <a:rPr sz="1300" b="0">
                          <a:solidFill>
                            <a:srgbClr val="1F2937"/>
                          </a:solidFill>
                        </a:rPr>
                        <a:t>II. Organizm omillari</a:t>
                      </a:r>
                    </a:p>
                  </a:txBody>
                  <a:tcPr marL="73152" marR="73152" marT="36576" marB="36576">
                    <a:solidFill>
                      <a:srgbClr val="FFFFFF"/>
                    </a:solidFill>
                  </a:tcPr>
                </a:tc>
                <a:tc>
                  <a:txBody>
                    <a:bodyPr/>
                    <a:lstStyle/>
                    <a:p>
                      <a:r>
                        <a:rPr sz="1300" b="0">
                          <a:solidFill>
                            <a:srgbClr val="1F2937"/>
                          </a:solidFill>
                        </a:rPr>
                        <a:t>Yosh, kasallik, mastlik, teri qarshiligi</a:t>
                      </a:r>
                    </a:p>
                  </a:txBody>
                  <a:tcPr marL="73152" marR="73152" marT="36576" marB="36576">
                    <a:solidFill>
                      <a:srgbClr val="FFFFFF"/>
                    </a:solidFill>
                  </a:tcPr>
                </a:tc>
              </a:tr>
              <a:tr h="411480">
                <a:tc>
                  <a:txBody>
                    <a:bodyPr/>
                    <a:lstStyle/>
                    <a:p>
                      <a:r>
                        <a:rPr sz="1300" b="0">
                          <a:solidFill>
                            <a:srgbClr val="1F2937"/>
                          </a:solidFill>
                        </a:rPr>
                        <a:t>III. O‘zaro ta’sir</a:t>
                      </a:r>
                    </a:p>
                  </a:txBody>
                  <a:tcPr marL="73152" marR="73152" marT="36576" marB="36576">
                    <a:solidFill>
                      <a:srgbClr val="E8EEF6"/>
                    </a:solidFill>
                  </a:tcPr>
                </a:tc>
                <a:tc>
                  <a:txBody>
                    <a:bodyPr/>
                    <a:lstStyle/>
                    <a:p>
                      <a:r>
                        <a:rPr sz="1300" b="0">
                          <a:solidFill>
                            <a:srgbClr val="1F2937"/>
                          </a:solidFill>
                        </a:rPr>
                        <a:t>Davomiyligi, ulanishi, tok yo‘li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guruh omillar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196, 197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 tipi, kuchlanishi, kuchi va chastotasi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500 voltgacha o‘zgaruvchan tok xavfliroq, 500 voltdan yuqorida esa o‘zgarmas tok xavfliroq.</a:t>
            </a:r>
          </a:p>
          <a:p>
            <a:pPr>
              <a:spcAft>
                <a:spcPts val="800"/>
              </a:spcAft>
            </a:pPr>
            <a:r>
              <a:rPr sz="1800">
                <a:solidFill>
                  <a:srgbClr val="1F2937"/>
                </a:solidFill>
                <a:latin typeface="Calibri"/>
              </a:rPr>
              <a:t>▸  Xavfsiz kuchlanish me’yori 24 volt. O‘limlarning ko‘pi 220–380 voltli tokdan sodir bo‘ladi.</a:t>
            </a:r>
          </a:p>
          <a:p>
            <a:pPr>
              <a:spcAft>
                <a:spcPts val="800"/>
              </a:spcAft>
            </a:pPr>
            <a:r>
              <a:rPr sz="1800">
                <a:solidFill>
                  <a:srgbClr val="1F2937"/>
                </a:solidFill>
                <a:latin typeface="Calibri"/>
              </a:rPr>
              <a:t>▸  Eng xavfli chastota 40–60 gers. 10000 gers va undan yuqori tok zarar bermaydi, fizioterapiyada ishlatiladi.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273508"/>
                <a:gridCol w="2014466"/>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Qiymat</a:t>
                      </a:r>
                    </a:p>
                  </a:txBody>
                  <a:tcPr marL="73152" marR="73152" marT="36576" marB="36576">
                    <a:solidFill>
                      <a:srgbClr val="0B1F3A"/>
                    </a:solidFill>
                  </a:tcPr>
                </a:tc>
              </a:tr>
              <a:tr h="411480">
                <a:tc>
                  <a:txBody>
                    <a:bodyPr/>
                    <a:lstStyle/>
                    <a:p>
                      <a:r>
                        <a:rPr sz="1300" b="0">
                          <a:solidFill>
                            <a:srgbClr val="1F2937"/>
                          </a:solidFill>
                        </a:rPr>
                        <a:t>Xavfsiz kuchlanish</a:t>
                      </a:r>
                    </a:p>
                  </a:txBody>
                  <a:tcPr marL="73152" marR="73152" marT="36576" marB="36576">
                    <a:solidFill>
                      <a:srgbClr val="E8EEF6"/>
                    </a:solidFill>
                  </a:tcPr>
                </a:tc>
                <a:tc>
                  <a:txBody>
                    <a:bodyPr/>
                    <a:lstStyle/>
                    <a:p>
                      <a:r>
                        <a:rPr sz="1300" b="0">
                          <a:solidFill>
                            <a:srgbClr val="1F2937"/>
                          </a:solidFill>
                        </a:rPr>
                        <a:t>24 volt</a:t>
                      </a:r>
                    </a:p>
                  </a:txBody>
                  <a:tcPr marL="73152" marR="73152" marT="36576" marB="36576">
                    <a:solidFill>
                      <a:srgbClr val="E8EEF6"/>
                    </a:solidFill>
                  </a:tcPr>
                </a:tc>
              </a:tr>
              <a:tr h="411480">
                <a:tc>
                  <a:txBody>
                    <a:bodyPr/>
                    <a:lstStyle/>
                    <a:p>
                      <a:r>
                        <a:rPr sz="1300" b="0">
                          <a:solidFill>
                            <a:srgbClr val="1F2937"/>
                          </a:solidFill>
                        </a:rPr>
                        <a:t>Hayotga tahdid (tok kuchi)</a:t>
                      </a:r>
                    </a:p>
                  </a:txBody>
                  <a:tcPr marL="73152" marR="73152" marT="36576" marB="36576">
                    <a:solidFill>
                      <a:srgbClr val="FFFFFF"/>
                    </a:solidFill>
                  </a:tcPr>
                </a:tc>
                <a:tc>
                  <a:txBody>
                    <a:bodyPr/>
                    <a:lstStyle/>
                    <a:p>
                      <a:r>
                        <a:rPr sz="1300" b="0">
                          <a:solidFill>
                            <a:srgbClr val="1F2937"/>
                          </a:solidFill>
                        </a:rPr>
                        <a:t>50 milliamper</a:t>
                      </a:r>
                    </a:p>
                  </a:txBody>
                  <a:tcPr marL="73152" marR="73152" marT="36576" marB="36576">
                    <a:solidFill>
                      <a:srgbClr val="FFFFFF"/>
                    </a:solidFill>
                  </a:tcPr>
                </a:tc>
              </a:tr>
              <a:tr h="411480">
                <a:tc>
                  <a:txBody>
                    <a:bodyPr/>
                    <a:lstStyle/>
                    <a:p>
                      <a:r>
                        <a:rPr sz="1300" b="0">
                          <a:solidFill>
                            <a:srgbClr val="1F2937"/>
                          </a:solidFill>
                        </a:rPr>
                        <a:t>O‘lim ko‘p kuzatiladi</a:t>
                      </a:r>
                    </a:p>
                  </a:txBody>
                  <a:tcPr marL="73152" marR="73152" marT="36576" marB="36576">
                    <a:solidFill>
                      <a:srgbClr val="E8EEF6"/>
                    </a:solidFill>
                  </a:tcPr>
                </a:tc>
                <a:tc>
                  <a:txBody>
                    <a:bodyPr/>
                    <a:lstStyle/>
                    <a:p>
                      <a:r>
                        <a:rPr sz="1300" b="0">
                          <a:solidFill>
                            <a:srgbClr val="1F2937"/>
                          </a:solidFill>
                        </a:rPr>
                        <a:t>100 milliamper</a:t>
                      </a:r>
                    </a:p>
                  </a:txBody>
                  <a:tcPr marL="73152" marR="73152" marT="36576" marB="36576">
                    <a:solidFill>
                      <a:srgbClr val="E8EEF6"/>
                    </a:solidFill>
                  </a:tcPr>
                </a:tc>
              </a:tr>
              <a:tr h="411480">
                <a:tc>
                  <a:txBody>
                    <a:bodyPr/>
                    <a:lstStyle/>
                    <a:p>
                      <a:r>
                        <a:rPr sz="1300" b="0">
                          <a:solidFill>
                            <a:srgbClr val="1F2937"/>
                          </a:solidFill>
                        </a:rPr>
                        <a:t>Eng xavfli chastota</a:t>
                      </a:r>
                    </a:p>
                  </a:txBody>
                  <a:tcPr marL="73152" marR="73152" marT="36576" marB="36576">
                    <a:solidFill>
                      <a:srgbClr val="FFFFFF"/>
                    </a:solidFill>
                  </a:tcPr>
                </a:tc>
                <a:tc>
                  <a:txBody>
                    <a:bodyPr/>
                    <a:lstStyle/>
                    <a:p>
                      <a:r>
                        <a:rPr sz="1300" b="0">
                          <a:solidFill>
                            <a:srgbClr val="1F2937"/>
                          </a:solidFill>
                        </a:rPr>
                        <a:t>40–60 gers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Elektr toki: asosiy ko‘rsatkichlar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197, 197–198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va ulanish sharoitlari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Tok qarshiligi kichik to‘qimalardan (qon, shilliq qavat, jigar) o‘tadi. Qarshilik eng katta joy — suyak va teri, o‘zgarishlar ham shu yerda bo‘ladi.</a:t>
            </a:r>
          </a:p>
          <a:p>
            <a:pPr>
              <a:spcAft>
                <a:spcPts val="1200"/>
              </a:spcAft>
            </a:pPr>
            <a:r>
              <a:rPr sz="2200">
                <a:solidFill>
                  <a:srgbClr val="1F2937"/>
                </a:solidFill>
                <a:latin typeface="Calibri"/>
              </a:rPr>
              <a:t>▸  Nam teri, terlash, nam kiyim va metall bezaklar qarshilikni kamaytiradi. Shu sabab o‘lim yozda ko‘proq uchraydi.</a:t>
            </a:r>
          </a:p>
          <a:p>
            <a:pPr>
              <a:spcAft>
                <a:spcPts val="1200"/>
              </a:spcAft>
            </a:pPr>
            <a:r>
              <a:rPr sz="2200">
                <a:solidFill>
                  <a:srgbClr val="1F2937"/>
                </a:solidFill>
                <a:latin typeface="Calibri"/>
              </a:rPr>
              <a:t>▸  Davomiy ta’sirda: 10–15 milliamperda mushaklar ixtiyorsiz qisqaradi, 25 milliamperdan nafas talvasasi, 80 milliamperdan fibrillyasiya.</a:t>
            </a:r>
          </a:p>
          <a:p>
            <a:pPr>
              <a:spcAft>
                <a:spcPts val="1200"/>
              </a:spcAft>
            </a:pPr>
            <a:r>
              <a:rPr sz="2200">
                <a:solidFill>
                  <a:srgbClr val="1F2937"/>
                </a:solidFill>
                <a:latin typeface="Calibri"/>
              </a:rPr>
              <a:t>▸  Tok yurak va miya orqali o‘tsa xavfli. Qadam kuchlanishi — 0,8 m qadam oralig‘idagi potensiallar farqi; uzilgan simga 10 m dan yaqin bormang.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198, 199, 199–200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Elektr tokining spetsifik va nospetsifik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Umumiy ta’sirda hujayralarning elektr jarayonlari buziladi: yurak qorinchalari fibrillyasiyasi, nafas buzilishi va elektrogen shok rivojlanadi.</a:t>
            </a:r>
          </a:p>
          <a:p>
            <a:pPr>
              <a:spcAft>
                <a:spcPts val="1200"/>
              </a:spcAft>
            </a:pPr>
            <a:r>
              <a:rPr sz="2200">
                <a:solidFill>
                  <a:srgbClr val="1F2937"/>
                </a:solidFill>
                <a:latin typeface="Calibri"/>
              </a:rPr>
              <a:t>▸  Elektrogen asfiksiya tok miya orqali o‘tganda, nafas mushaklarining klonik talvasasi va tovush yorig‘i spazmi tufayli yuz beradi.</a:t>
            </a:r>
          </a:p>
          <a:p>
            <a:pPr>
              <a:spcAft>
                <a:spcPts val="1200"/>
              </a:spcAft>
            </a:pPr>
            <a:r>
              <a:rPr sz="2200">
                <a:solidFill>
                  <a:srgbClr val="1F2937"/>
                </a:solidFill>
                <a:latin typeface="Calibri"/>
              </a:rPr>
              <a:t>▸  Kimyoviy ta’sir: anodda koagulyatsion, katodda kolliqvatsion nekroz. Termik ta’sir: kuyish va suyakda 1–5 mm li “marvarid marjonlari”.</a:t>
            </a:r>
          </a:p>
          <a:p>
            <a:pPr>
              <a:spcAft>
                <a:spcPts val="1200"/>
              </a:spcAft>
            </a:pPr>
            <a:r>
              <a:rPr sz="2200">
                <a:solidFill>
                  <a:srgbClr val="1F2937"/>
                </a:solidFill>
                <a:latin typeface="Calibri"/>
              </a:rPr>
              <a:t>▸  Mexanik ta’sir: bo‘g‘im chiqishi va suyak sinishi. Nospetsifik ta’sir: kiyim alangalanishi, ko‘z kuyishi, talvasadan yiqilish.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200, 201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Elektr tamg‘a va elektr kuyish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Elektr tamg‘a dumaloq yoki oval, ushlaganda zich bo‘ladi. Chekkasi ko‘tarilgan, markazi krater shaklida chuqurlashgan.</a:t>
            </a:r>
          </a:p>
          <a:p>
            <a:pPr>
              <a:spcAft>
                <a:spcPts val="800"/>
              </a:spcAft>
            </a:pPr>
            <a:r>
              <a:rPr sz="1800">
                <a:solidFill>
                  <a:srgbClr val="1F2937"/>
                </a:solidFill>
                <a:latin typeface="Calibri"/>
              </a:rPr>
              <a:t>▸  Metallizatsiya tus beradi: mis — havorang-yashil, temir — sariq-qora. O‘tkazgich metalli rentgen va spektrografiyada aniqlanadi.</a:t>
            </a:r>
          </a:p>
          <a:p>
            <a:pPr>
              <a:spcAft>
                <a:spcPts val="800"/>
              </a:spcAft>
            </a:pPr>
            <a:r>
              <a:rPr sz="1800">
                <a:solidFill>
                  <a:srgbClr val="1F2937"/>
                </a:solidFill>
                <a:latin typeface="Calibri"/>
              </a:rPr>
              <a:t>▸  Mikroskopda epidermisda bo‘shliqlar, cho‘tkasimon hujayralar ko‘rinadi. Asorati — elektrogen shishish va nekroz.</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75105"/>
                <a:gridCol w="1615770"/>
                <a:gridCol w="249709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Elektr tamg‘a</a:t>
                      </a:r>
                    </a:p>
                  </a:txBody>
                  <a:tcPr marL="73152" marR="73152" marT="36576" marB="36576">
                    <a:solidFill>
                      <a:srgbClr val="0B1F3A"/>
                    </a:solidFill>
                  </a:tcPr>
                </a:tc>
                <a:tc>
                  <a:txBody>
                    <a:bodyPr/>
                    <a:lstStyle/>
                    <a:p>
                      <a:r>
                        <a:rPr sz="1300" b="1">
                          <a:solidFill>
                            <a:srgbClr val="FFFFFF"/>
                          </a:solidFill>
                        </a:rPr>
                        <a:t>Elektr kuyish</a:t>
                      </a:r>
                    </a:p>
                  </a:txBody>
                  <a:tcPr marL="73152" marR="73152" marT="36576" marB="36576">
                    <a:solidFill>
                      <a:srgbClr val="0B1F3A"/>
                    </a:solidFill>
                  </a:tcPr>
                </a:tc>
              </a:tr>
              <a:tr h="411480">
                <a:tc>
                  <a:txBody>
                    <a:bodyPr/>
                    <a:lstStyle/>
                    <a:p>
                      <a:r>
                        <a:rPr sz="1200" b="0">
                          <a:solidFill>
                            <a:srgbClr val="1F2937"/>
                          </a:solidFill>
                        </a:rPr>
                        <a:t>Harorat</a:t>
                      </a:r>
                    </a:p>
                  </a:txBody>
                  <a:tcPr marL="73152" marR="73152" marT="36576" marB="36576">
                    <a:solidFill>
                      <a:srgbClr val="E8EEF6"/>
                    </a:solidFill>
                  </a:tcPr>
                </a:tc>
                <a:tc>
                  <a:txBody>
                    <a:bodyPr/>
                    <a:lstStyle/>
                    <a:p>
                      <a:r>
                        <a:rPr sz="1200" b="0">
                          <a:solidFill>
                            <a:srgbClr val="1F2937"/>
                          </a:solidFill>
                        </a:rPr>
                        <a:t>120°S gacha</a:t>
                      </a:r>
                    </a:p>
                  </a:txBody>
                  <a:tcPr marL="73152" marR="73152" marT="36576" marB="36576">
                    <a:solidFill>
                      <a:srgbClr val="E8EEF6"/>
                    </a:solidFill>
                  </a:tcPr>
                </a:tc>
                <a:tc>
                  <a:txBody>
                    <a:bodyPr/>
                    <a:lstStyle/>
                    <a:p>
                      <a:r>
                        <a:rPr sz="1200" b="0">
                          <a:solidFill>
                            <a:srgbClr val="1F2937"/>
                          </a:solidFill>
                        </a:rPr>
                        <a:t>120°S dan yuqori</a:t>
                      </a:r>
                    </a:p>
                  </a:txBody>
                  <a:tcPr marL="73152" marR="73152" marT="36576" marB="36576">
                    <a:solidFill>
                      <a:srgbClr val="E8EEF6"/>
                    </a:solidFill>
                  </a:tcPr>
                </a:tc>
              </a:tr>
              <a:tr h="411480">
                <a:tc>
                  <a:txBody>
                    <a:bodyPr/>
                    <a:lstStyle/>
                    <a:p>
                      <a:r>
                        <a:rPr sz="1200" b="0">
                          <a:solidFill>
                            <a:srgbClr val="1F2937"/>
                          </a:solidFill>
                        </a:rPr>
                        <a:t>Mexanizm</a:t>
                      </a:r>
                    </a:p>
                  </a:txBody>
                  <a:tcPr marL="73152" marR="73152" marT="36576" marB="36576">
                    <a:solidFill>
                      <a:srgbClr val="FFFFFF"/>
                    </a:solidFill>
                  </a:tcPr>
                </a:tc>
                <a:tc>
                  <a:txBody>
                    <a:bodyPr/>
                    <a:lstStyle/>
                    <a:p>
                      <a:r>
                        <a:rPr sz="1200" b="0">
                          <a:solidFill>
                            <a:srgbClr val="1F2937"/>
                          </a:solidFill>
                        </a:rPr>
                        <a:t>Termik ta’sir yetakchi</a:t>
                      </a:r>
                    </a:p>
                  </a:txBody>
                  <a:tcPr marL="73152" marR="73152" marT="36576" marB="36576">
                    <a:solidFill>
                      <a:srgbClr val="FFFFFF"/>
                    </a:solidFill>
                  </a:tcPr>
                </a:tc>
                <a:tc>
                  <a:txBody>
                    <a:bodyPr/>
                    <a:lstStyle/>
                    <a:p>
                      <a:r>
                        <a:rPr sz="1200" b="0">
                          <a:solidFill>
                            <a:srgbClr val="1F2937"/>
                          </a:solidFill>
                        </a:rPr>
                        <a:t>Termik va kimyoviy ta’sir</a:t>
                      </a:r>
                    </a:p>
                  </a:txBody>
                  <a:tcPr marL="73152" marR="73152" marT="36576" marB="36576">
                    <a:solidFill>
                      <a:srgbClr val="FFFFFF"/>
                    </a:solidFill>
                  </a:tcPr>
                </a:tc>
              </a:tr>
              <a:tr h="411480">
                <a:tc>
                  <a:txBody>
                    <a:bodyPr/>
                    <a:lstStyle/>
                    <a:p>
                      <a:r>
                        <a:rPr sz="1200" b="0">
                          <a:solidFill>
                            <a:srgbClr val="1F2937"/>
                          </a:solidFill>
                        </a:rPr>
                        <a:t>Ko‘rinishi</a:t>
                      </a:r>
                    </a:p>
                  </a:txBody>
                  <a:tcPr marL="73152" marR="73152" marT="36576" marB="36576">
                    <a:solidFill>
                      <a:srgbClr val="E8EEF6"/>
                    </a:solidFill>
                  </a:tcPr>
                </a:tc>
                <a:tc>
                  <a:txBody>
                    <a:bodyPr/>
                    <a:lstStyle/>
                    <a:p>
                      <a:r>
                        <a:rPr sz="1200" b="0">
                          <a:solidFill>
                            <a:srgbClr val="1F2937"/>
                          </a:solidFill>
                        </a:rPr>
                        <a:t>Kraterli zich dog‘</a:t>
                      </a:r>
                    </a:p>
                  </a:txBody>
                  <a:tcPr marL="73152" marR="73152" marT="36576" marB="36576">
                    <a:solidFill>
                      <a:srgbClr val="E8EEF6"/>
                    </a:solidFill>
                  </a:tcPr>
                </a:tc>
                <a:tc>
                  <a:txBody>
                    <a:bodyPr/>
                    <a:lstStyle/>
                    <a:p>
                      <a:r>
                        <a:rPr sz="1200" b="0">
                          <a:solidFill>
                            <a:srgbClr val="1F2937"/>
                          </a:solidFill>
                        </a:rPr>
                        <a:t>Barcha qavat nekrozi, ko‘mirlanish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Tamg‘a va kuyish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Elektrotravmada o‘lim turlari va soxta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Tez o‘lim — yurak va nafasning birlamchi to‘xtashidan. Sekin o‘limda avval talvasa, qichqiriq kabi hayot alomatlari bo‘ladi.</a:t>
            </a:r>
          </a:p>
          <a:p>
            <a:pPr>
              <a:spcAft>
                <a:spcPts val="800"/>
              </a:spcAft>
            </a:pPr>
            <a:r>
              <a:rPr sz="1800">
                <a:solidFill>
                  <a:srgbClr val="1F2937"/>
                </a:solidFill>
                <a:latin typeface="Calibri"/>
              </a:rPr>
              <a:t>▸  Uzilgan o‘lim — ozod bo‘lib, o‘ziga kelgach sodir bo‘ladi. Kech o‘lim — soatlar-sutkadan so‘ng, erta asoratdan.</a:t>
            </a:r>
          </a:p>
          <a:p>
            <a:pPr>
              <a:spcAft>
                <a:spcPts val="800"/>
              </a:spcAft>
            </a:pPr>
            <a:r>
              <a:rPr sz="1800">
                <a:solidFill>
                  <a:srgbClr val="1F2937"/>
                </a:solidFill>
                <a:latin typeface="Calibri"/>
              </a:rPr>
              <a:t>▸  Soxta o‘lim (vita minima): hayotiy markazlar tormozlanadi. Murda dog‘i chiqquncha reanimatsiya o‘tkaziladi.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O‘ta tez o‘lim</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Sekin o‘lim</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Uzilgan o‘lim</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Kech o‘lim</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Avdeev bo‘yicha 4 tur</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Yashin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Yashin — atmosferadagi gigant razryad: kuchlanish million volt, tok yuz ming amperga yetadi. Davomiyligi soniyaning o‘n mingdan qismlari.</a:t>
            </a:r>
          </a:p>
          <a:p>
            <a:pPr>
              <a:spcAft>
                <a:spcPts val="1200"/>
              </a:spcAft>
            </a:pPr>
            <a:r>
              <a:rPr sz="2200">
                <a:solidFill>
                  <a:srgbClr val="1F2937"/>
                </a:solidFill>
                <a:latin typeface="Calibri"/>
              </a:rPr>
              <a:t>▸  Shikastlovchi omillar: elektr toki, yorug‘lik, tovush va zarb to‘lqini. Ta’sir bevosita yoki bilvosita (telefon, televizor, radio orqali) bo‘ladi.</a:t>
            </a:r>
          </a:p>
          <a:p>
            <a:pPr>
              <a:spcAft>
                <a:spcPts val="1200"/>
              </a:spcAft>
            </a:pPr>
            <a:r>
              <a:rPr sz="2200">
                <a:solidFill>
                  <a:srgbClr val="1F2937"/>
                </a:solidFill>
                <a:latin typeface="Calibri"/>
              </a:rPr>
              <a:t>▸  Terida kuyish, elektr tamg‘aga o‘xshash izlar bo‘ladi. Tashqi kiyim butun bo‘lsa-da, ichki kiyim shikastlanishi mumkin; metall buyumlar eriydi.</a:t>
            </a:r>
          </a:p>
          <a:p>
            <a:pPr>
              <a:spcAft>
                <a:spcPts val="1200"/>
              </a:spcAft>
            </a:pPr>
            <a:r>
              <a:rPr sz="2200">
                <a:solidFill>
                  <a:srgbClr val="1F2937"/>
                </a:solidFill>
                <a:latin typeface="Calibri"/>
              </a:rPr>
              <a:t>▸  “Yashin figurasi” — terida qizil-pushti daraxtsimon shakl. U soatlar yoki sutkadan so‘ng yo‘qoladi, shu sababli darhol suratga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Barotravma: yuqori bosim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Chuqurlik oshgani sari gidrostatik bosim ortadi: 10 m da atmosfera bosimidan 2 marta, 20 m da 3 marta katta.</a:t>
            </a:r>
          </a:p>
          <a:p>
            <a:pPr>
              <a:spcAft>
                <a:spcPts val="800"/>
              </a:spcAft>
            </a:pPr>
            <a:r>
              <a:rPr sz="1800">
                <a:solidFill>
                  <a:srgbClr val="1F2937"/>
                </a:solidFill>
                <a:latin typeface="Calibri"/>
              </a:rPr>
              <a:t>▸  O‘pkada bosim 80–100 mm Hg ustuniga keskin o‘zgarsa, barotravma: alveola yorilishi, pnevmotoraks, qon quyilish.</a:t>
            </a:r>
          </a:p>
          <a:p>
            <a:pPr>
              <a:spcAft>
                <a:spcPts val="800"/>
              </a:spcAft>
            </a:pPr>
            <a:r>
              <a:rPr sz="1800">
                <a:solidFill>
                  <a:srgbClr val="1F2937"/>
                </a:solidFill>
                <a:latin typeface="Calibri"/>
              </a:rPr>
              <a:t>▸  G‘avvosda tananing siqilishi: bosh kattalashadi, yuz ko‘karib shishadi, ko‘zda mayda qon quyilishlar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Akvalangda tez ko‘tarilish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O‘pka ichi bosimi keskin ortadi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O‘pka to‘qimasi yoriladi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Havo chap yurakka, qonga o‘tadi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arteriyalarida emboliya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O‘pka barotravmasi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206, 207, 207-208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Gazlar bilan zaharlanish va dekompression kasallik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Kislorod va karbonat angidridi zaharlanishida murdada o‘ziga xos morfologik o‘zgarish topilmaydi.</a:t>
            </a:r>
          </a:p>
          <a:p>
            <a:pPr>
              <a:spcAft>
                <a:spcPts val="800"/>
              </a:spcAft>
            </a:pPr>
            <a:r>
              <a:rPr sz="1800">
                <a:solidFill>
                  <a:srgbClr val="1F2937"/>
                </a:solidFill>
                <a:latin typeface="Calibri"/>
              </a:rPr>
              <a:t>▸  Tashxis o‘lim tafsiloti, klinika va boshqa o‘lim sabablarining yo‘qligiga asoslanadi.</a:t>
            </a:r>
          </a:p>
          <a:p>
            <a:pPr>
              <a:spcAft>
                <a:spcPts val="800"/>
              </a:spcAft>
            </a:pPr>
            <a:r>
              <a:rPr sz="1800">
                <a:solidFill>
                  <a:srgbClr val="1F2937"/>
                </a:solidFill>
                <a:latin typeface="Calibri"/>
              </a:rPr>
              <a:t>▸  Kesson kasalligida o‘ng yurak va venalarda gaz pufakli laxtalar, teri osti emfizemasi topiladi.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12590"/>
                <a:gridCol w="2250202"/>
                <a:gridCol w="2025181"/>
              </a:tblGrid>
              <a:tr h="411480">
                <a:tc>
                  <a:txBody>
                    <a:bodyPr/>
                    <a:lstStyle/>
                    <a:p>
                      <a:r>
                        <a:rPr sz="1300" b="1">
                          <a:solidFill>
                            <a:srgbClr val="FFFFFF"/>
                          </a:solidFill>
                        </a:rPr>
                        <a:t>Omil</a:t>
                      </a:r>
                    </a:p>
                  </a:txBody>
                  <a:tcPr marL="73152" marR="73152" marT="36576" marB="36576">
                    <a:solidFill>
                      <a:srgbClr val="0B1F3A"/>
                    </a:solidFill>
                  </a:tcPr>
                </a:tc>
                <a:tc>
                  <a:txBody>
                    <a:bodyPr/>
                    <a:lstStyle/>
                    <a:p>
                      <a:r>
                        <a:rPr sz="1300" b="1">
                          <a:solidFill>
                            <a:srgbClr val="FFFFFF"/>
                          </a:solidFill>
                        </a:rPr>
                        <a:t>Mexanizm</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r>
              <a:tr h="411480">
                <a:tc>
                  <a:txBody>
                    <a:bodyPr/>
                    <a:lstStyle/>
                    <a:p>
                      <a:r>
                        <a:rPr sz="1200" b="0">
                          <a:solidFill>
                            <a:srgbClr val="1F2937"/>
                          </a:solidFill>
                        </a:rPr>
                        <a:t>Kislorod</a:t>
                      </a:r>
                    </a:p>
                  </a:txBody>
                  <a:tcPr marL="73152" marR="73152" marT="36576" marB="36576">
                    <a:solidFill>
                      <a:srgbClr val="E8EEF6"/>
                    </a:solidFill>
                  </a:tcPr>
                </a:tc>
                <a:tc>
                  <a:txBody>
                    <a:bodyPr/>
                    <a:lstStyle/>
                    <a:p>
                      <a:r>
                        <a:rPr sz="1200" b="0">
                          <a:solidFill>
                            <a:srgbClr val="1F2937"/>
                          </a:solidFill>
                        </a:rPr>
                        <a:t>Giperoksemiya, fermentlar inaktivatsiyasi</a:t>
                      </a:r>
                    </a:p>
                  </a:txBody>
                  <a:tcPr marL="73152" marR="73152" marT="36576" marB="36576">
                    <a:solidFill>
                      <a:srgbClr val="E8EEF6"/>
                    </a:solidFill>
                  </a:tcPr>
                </a:tc>
                <a:tc>
                  <a:txBody>
                    <a:bodyPr/>
                    <a:lstStyle/>
                    <a:p>
                      <a:r>
                        <a:rPr sz="1200" b="0">
                          <a:solidFill>
                            <a:srgbClr val="1F2937"/>
                          </a:solidFill>
                        </a:rPr>
                        <a:t>Neyrotoksik va o‘pka formalari</a:t>
                      </a:r>
                    </a:p>
                  </a:txBody>
                  <a:tcPr marL="73152" marR="73152" marT="36576" marB="36576">
                    <a:solidFill>
                      <a:srgbClr val="E8EEF6"/>
                    </a:solidFill>
                  </a:tcPr>
                </a:tc>
              </a:tr>
              <a:tr h="411480">
                <a:tc>
                  <a:txBody>
                    <a:bodyPr/>
                    <a:lstStyle/>
                    <a:p>
                      <a:r>
                        <a:rPr sz="1200" b="0">
                          <a:solidFill>
                            <a:srgbClr val="1F2937"/>
                          </a:solidFill>
                        </a:rPr>
                        <a:t>Karbonat angidridi</a:t>
                      </a:r>
                    </a:p>
                  </a:txBody>
                  <a:tcPr marL="73152" marR="73152" marT="36576" marB="36576">
                    <a:solidFill>
                      <a:srgbClr val="FFFFFF"/>
                    </a:solidFill>
                  </a:tcPr>
                </a:tc>
                <a:tc>
                  <a:txBody>
                    <a:bodyPr/>
                    <a:lstStyle/>
                    <a:p>
                      <a:r>
                        <a:rPr sz="1200" b="0">
                          <a:solidFill>
                            <a:srgbClr val="1F2937"/>
                          </a:solidFill>
                        </a:rPr>
                        <a:t>Konsentratsiya 3% va undan ortiq</a:t>
                      </a:r>
                    </a:p>
                  </a:txBody>
                  <a:tcPr marL="73152" marR="73152" marT="36576" marB="36576">
                    <a:solidFill>
                      <a:srgbClr val="FFFFFF"/>
                    </a:solidFill>
                  </a:tcPr>
                </a:tc>
                <a:tc>
                  <a:txBody>
                    <a:bodyPr/>
                    <a:lstStyle/>
                    <a:p>
                      <a:r>
                        <a:rPr sz="1200" b="0">
                          <a:solidFill>
                            <a:srgbClr val="1F2937"/>
                          </a:solidFill>
                        </a:rPr>
                        <a:t>Hansirash, bosh og‘rig‘i, terlash</a:t>
                      </a:r>
                    </a:p>
                  </a:txBody>
                  <a:tcPr marL="73152" marR="73152" marT="36576" marB="36576">
                    <a:solidFill>
                      <a:srgbClr val="FFFFFF"/>
                    </a:solidFill>
                  </a:tcPr>
                </a:tc>
              </a:tr>
              <a:tr h="411480">
                <a:tc>
                  <a:txBody>
                    <a:bodyPr/>
                    <a:lstStyle/>
                    <a:p>
                      <a:r>
                        <a:rPr sz="1200" b="0">
                          <a:solidFill>
                            <a:srgbClr val="1F2937"/>
                          </a:solidFill>
                        </a:rPr>
                        <a:t>Azot</a:t>
                      </a:r>
                    </a:p>
                  </a:txBody>
                  <a:tcPr marL="73152" marR="73152" marT="36576" marB="36576">
                    <a:solidFill>
                      <a:srgbClr val="E8EEF6"/>
                    </a:solidFill>
                  </a:tcPr>
                </a:tc>
                <a:tc>
                  <a:txBody>
                    <a:bodyPr/>
                    <a:lstStyle/>
                    <a:p>
                      <a:r>
                        <a:rPr sz="1200" b="0">
                          <a:solidFill>
                            <a:srgbClr val="1F2937"/>
                          </a:solidFill>
                        </a:rPr>
                        <a:t>Yog‘da yaxshi eriydi, miya sezgir</a:t>
                      </a:r>
                    </a:p>
                  </a:txBody>
                  <a:tcPr marL="73152" marR="73152" marT="36576" marB="36576">
                    <a:solidFill>
                      <a:srgbClr val="E8EEF6"/>
                    </a:solidFill>
                  </a:tcPr>
                </a:tc>
                <a:tc>
                  <a:txBody>
                    <a:bodyPr/>
                    <a:lstStyle/>
                    <a:p>
                      <a:r>
                        <a:rPr sz="1200" b="0">
                          <a:solidFill>
                            <a:srgbClr val="1F2937"/>
                          </a:solidFill>
                        </a:rPr>
                        <a:t>Alkogolga o‘xshash mastlik, eyforiya</a:t>
                      </a:r>
                    </a:p>
                  </a:txBody>
                  <a:tcPr marL="73152" marR="73152" marT="36576" marB="36576">
                    <a:solidFill>
                      <a:srgbClr val="E8EEF6"/>
                    </a:solidFill>
                  </a:tcPr>
                </a:tc>
              </a:tr>
              <a:tr h="411480">
                <a:tc>
                  <a:txBody>
                    <a:bodyPr/>
                    <a:lstStyle/>
                    <a:p>
                      <a:r>
                        <a:rPr sz="1200" b="0">
                          <a:solidFill>
                            <a:srgbClr val="1F2937"/>
                          </a:solidFill>
                        </a:rPr>
                        <a:t>Dekompressiya</a:t>
                      </a:r>
                    </a:p>
                  </a:txBody>
                  <a:tcPr marL="73152" marR="73152" marT="36576" marB="36576">
                    <a:solidFill>
                      <a:srgbClr val="FFFFFF"/>
                    </a:solidFill>
                  </a:tcPr>
                </a:tc>
                <a:tc>
                  <a:txBody>
                    <a:bodyPr/>
                    <a:lstStyle/>
                    <a:p>
                      <a:r>
                        <a:rPr sz="1200" b="0">
                          <a:solidFill>
                            <a:srgbClr val="1F2937"/>
                          </a:solidFill>
                        </a:rPr>
                        <a:t>Tez ko‘tarilganda azot pufakchalari</a:t>
                      </a:r>
                    </a:p>
                  </a:txBody>
                  <a:tcPr marL="73152" marR="73152" marT="36576" marB="36576">
                    <a:solidFill>
                      <a:srgbClr val="FFFFFF"/>
                    </a:solidFill>
                  </a:tcPr>
                </a:tc>
                <a:tc>
                  <a:txBody>
                    <a:bodyPr/>
                    <a:lstStyle/>
                    <a:p>
                      <a:r>
                        <a:rPr sz="1200" b="0">
                          <a:solidFill>
                            <a:srgbClr val="1F2937"/>
                          </a:solidFill>
                        </a:rPr>
                        <a:t>Gaz emboliyasi, kesson kasalligi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Gazlar ta’sirini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209, 210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Past bosim, radiatsiya va 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Balandlik kasalligida kislorod yetishmaydi, avvalo yurak-qon tomir va nafas tizimi buziladi; 18000 m da (6 kPa) to‘qima suyuqliklari “qaynab ketadi”.</a:t>
            </a:r>
          </a:p>
          <a:p>
            <a:pPr>
              <a:spcAft>
                <a:spcPts val="1200"/>
              </a:spcAft>
            </a:pPr>
            <a:r>
              <a:rPr sz="2000">
                <a:solidFill>
                  <a:srgbClr val="1F2937"/>
                </a:solidFill>
                <a:latin typeface="Calibri"/>
              </a:rPr>
              <a:t>▸  Nur kasalligi formalari doza bo‘yicha: 10 greygacha suyak miya, 10–20 ichak, 20–80 toksemik, 80 dan yuqori serebral. Suyak miya formasi 6 greydan baland dozada o‘limga olib keladi.</a:t>
            </a:r>
          </a:p>
          <a:p>
            <a:pPr>
              <a:spcAft>
                <a:spcPts val="1200"/>
              </a:spcAft>
            </a:pPr>
            <a:r>
              <a:rPr sz="2000">
                <a:solidFill>
                  <a:srgbClr val="1F2937"/>
                </a:solidFill>
                <a:latin typeface="Calibri"/>
              </a:rPr>
              <a:t>▸  O‘tkir nur kasalligida birlamchi reaksiya, latent davr (2–4 hafta) va yaqqol klinik belgilar davri bo‘ladi. O‘lim ko‘pincha 4-hafta oxirida infeksion asoratdan.</a:t>
            </a:r>
          </a:p>
          <a:p>
            <a:pPr>
              <a:spcAft>
                <a:spcPts val="1200"/>
              </a:spcAft>
            </a:pPr>
            <a:r>
              <a:rPr sz="2000">
                <a:solidFill>
                  <a:srgbClr val="1F2937"/>
                </a:solidFill>
                <a:latin typeface="Calibri"/>
              </a:rPr>
              <a:t>▸  Ekspertiza hal qiladi: shikastlovchi omil turi, manbaning fizik xususiyati, doza, ta’sir soni va vaqti hamda tan jarohatining og‘irligi.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210-211, 212, 213, 214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Vishnevskiy dog‘lari — “80–90% va 6–9 oy”. Oshqozon shilliq qavatidagi mayda (0,5 sm gacha) qon quyilishlar sovuq qotishdan o‘limlarning 80–90%ida topiladi. Ular o‘limdan 6–9 oy keyin ham saqlanishi mumkin.</a:t>
            </a:r>
          </a:p>
          <a:p>
            <a:pPr>
              <a:spcAft>
                <a:spcPts val="1200"/>
              </a:spcAft>
            </a:pPr>
            <a:r>
              <a:rPr sz="1800">
                <a:solidFill>
                  <a:srgbClr val="1F2937"/>
                </a:solidFill>
                <a:latin typeface="Calibri"/>
              </a:rPr>
              <a:t>▸  Hodisa tahlili: yong‘indan keyin topilgan murdada qovoq terisi yoyilganda kuygan va kuymagan sohalar navbatlashadi (“g‘oz panjasi”). Bu alanga tiriklikda ta’sir qilganini ko‘rsatadi, chunki odam ko‘zini qisadi. Karboksigemoglobin o‘limdan keyin 20% dan oshmaydi, tiriklikda esa 60% gacha bo‘lishi mumkin.</a:t>
            </a:r>
          </a:p>
          <a:p>
            <a:pPr>
              <a:spcAft>
                <a:spcPts val="1200"/>
              </a:spcAft>
            </a:pPr>
            <a:r>
              <a:rPr sz="1800">
                <a:solidFill>
                  <a:srgbClr val="1F2937"/>
                </a:solidFill>
                <a:latin typeface="Calibri"/>
              </a:rPr>
              <a:t>▸  Qiziqarli fakt: go‘dakning murdasi 2–3 soatda yonib kulga aylanadi. Kattalarniki uchun bu muddat 20 soatga yaqin. Krematoriyda tabiiy gazda kattalar murdasini yoqishga bir soatdan kam vaqt ketadi.</a:t>
            </a:r>
          </a:p>
          <a:p>
            <a:pPr>
              <a:spcAft>
                <a:spcPts val="1200"/>
              </a:spcAft>
            </a:pPr>
            <a:r>
              <a:rPr sz="1800">
                <a:solidFill>
                  <a:srgbClr val="1F2937"/>
                </a:solidFill>
                <a:latin typeface="Calibri"/>
              </a:rPr>
              <a:t>▸  Eslab qolish usuli: tok turi bo‘yicha “120 = 42”. 120 voltli o‘zgarmas tokning ta’siri 42 voltli o‘zgaruvchan tok bilan barobar. 500 voltgacha o‘zgaruvchan tok xavfliroq, 500 voltda ikkalasi tenglashadi, undan yuqorida o‘zgarmas tok xavfliroq.</a:t>
            </a:r>
          </a:p>
          <a:p>
            <a:pPr>
              <a:spcAft>
                <a:spcPts val="1200"/>
              </a:spcAft>
            </a:pPr>
            <a:r>
              <a:rPr sz="1800">
                <a:solidFill>
                  <a:srgbClr val="1F2937"/>
                </a:solidFill>
                <a:latin typeface="Calibri"/>
              </a:rPr>
              <a:t>▸  Amaliy maslahat: “yashin figurasi” — terida qizil yoki pushti daraxtsimon shakl, yashin urishiga xos belgi. U beqaror: bir necha soatdan, ba’zan sutkadan keyin yo‘qoladi. Shuning uchun murda tanasida uni darhol suratga olish kerak.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Organizmdagi ortiqcha issiqlik energiyasining eng katta qismi qaysi yo‘l bilan tanadan ajratiladi?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Ter bezlari orqali ajratish yo‘li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O‘tkazish orqali ajratish yo‘li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Nurlanish orqali ajratish yo‘li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Ajratmalar bilan chiqarish yo‘li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Issiq sexda og‘ir ishlagan, issiqqa o‘rganmagan ishchi birdan hushini yo‘qotib, komaga tushdi va qisqa vaqtda vafot etdi. Bu issiq urishning qaysi shakliga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Issiq urishning o‘tkir shakliga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Issiq urishning uzaytirilgan shakliga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Quyosh urishi (insolyasiya) shakliga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Surunkali termik zararlanishga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Issiq urishning uzaytirilgan shaklida bemorda bezovtalik, ta’sirchanlik, bosh og‘rig‘i, taxikardiya, qon bosimining ko‘tarilishi va hansirash kuzatilmoqda. Bu qaysi davrga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Markaziy nerv tizimi faoliyatining susayish davriga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Holsizlik (predagonal) davriga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yashirin (latent) davrga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Qo‘zg‘alish davriga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Quyosh urishi (insolyasiya) qaysi sharoitda rivojlanadi?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Havo o‘tkazmaydigan kiyim bilan og‘ir mehnat qilishda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Ochiq joyda bosh kiyimsiz uzoq vaqt quyosh nurida bo‘lishda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Qalqonsimon bez giperfunksiyasi fonida issiq sexda ishlashda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Sovuq suvga to‘satdan tushib, uzoq qolib ketishda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Issiq sexda topilgan ishchi murdasini ko‘zdan kechirishda, issiq urishdan o‘lim holatiga xos qaysi o‘zgarish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qotishi tez va kuchli, dog‘lar kech va kam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Murda qotishi kech va sust, dog‘lar erta va ko‘p</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qotishi tez va kuchli, dog‘lar erta va ko‘p</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Murda qotishi kech va sust, dog‘lar kech va kam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kuyish sohasida yorilgan pufaklar qurigan, tubi qo‘ng‘ir, zich, shilinmaga o‘xshash va kesilganda qon chiqmaydi. Bu qaysi darajali termik kuyish?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 darajali termik kuyish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II darajali termik kuyish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III-A darajali termik kuyish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IV darajali termik kuyish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Jabrlanganda soch va kiyim shikastlanmagan, kuyish yuzaki va oqmalar shaklida; oqmalar tananing past joylashgan sohalariga yo‘nalgan. Kuyishni qanday manba keltirib chiqargan?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Ochiq alanga ta’siri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Qizdirilgan jism ta’siri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Issiq suyuqlik ta’siri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Qaynoq gaz ta’siri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Jabrlanganda tananing old yuzasi va bitta qo‘li to‘liq kuygan. To‘qqizliklar qoidasi bo‘yicha kuyish maydoni qancha?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 yuzasining 27 foizi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Tana yuzasining 36 foizi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Tana yuzasining 18 foizi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Tana yuzasining 45 foizi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Yong‘indan keyin topilgan murdada sirtqi tomirlardagi qonda karboksigemoglobin aniqlandi. Alanga o‘limdan keyin ta’sir qilgan bo‘lsa, uning konsentratsiyasi eng ko‘pi bilan qancha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10 foizgacha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40 foizgacha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Taxminan 60 foizgacha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20 foizgacha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Yong‘indan topilgan murdaning qo‘l-oyoqlari bukilgan, “bokser pozasi” kuzatiladi. Bu pozaning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Mushaklarga qon quyilishi va ularning bo‘shashishi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Namlik bug‘lanishi, oqsil ivishidan mushaklar kaltalashishi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Tana haroratining pasayishi va muskullarning muzlashi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Mushaklarda karboksimioglobin to‘planishi va tarang bo‘lishi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Yong‘indan keyin topilgan murdaning nafas yo‘llari, qizilo‘ngachi va oshqozonida qurum aniqlandi. Bu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yong‘indan keyin boshqa joydan keltirilganidan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Alanga ta’siri hayot paytida, tiriklikda bo‘lganidan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Alanga ta’siri faqat o‘limdan keyin bo‘lganidan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O‘lim sovuq qotishdan sodir bo‘lganidan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Qishda mast holda ko‘chada uzoq qolgan kishida sovuq qotish rivojlandi. Alkogol bunga qanday sabab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Teri qon tomirlarini toraytirib issiqlik ishlab chiqarishni oshiradi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Modda almashinuvini kuchaytirib glikogen zaxirasini ko‘paytiradi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Teri tomirlarini kengaytirib, issiqlik ajralishini kuchaytiradi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Tana yuzasini kamaytiradigan maxsus pozani yuzaga keltiradi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Tashqi ko‘rikda murdaning og‘iz va burun teshiklari atrofida muz sumalaklari, qosh va kipriklarida qirov topildi. Bu qaysi belgilar?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M.I.Rayskiy belgilari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K.V.Puparev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P.A.Fabrikantov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M.I.Kasyanov belgisi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Sovuq qotishdan o‘lim tez sodir bo‘lganda S.M.Vishnevskiy dog‘lari qanday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Juda ko‘p bo‘lib, oshqozonning butun yuzasini qoplaydi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ichak shilliq qavatida bo‘lib, oshqozonda bo‘lmaydi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Doim bir xil sonda bo‘lib, o‘lim tezligiga bog‘liq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Juda kam yoki umuman bo‘lmasligi mumkin, ayniqsa bolalarda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Minus haroratda muzlagan murdada kalla suyaklarining sinishi va suyaklararo choklarning ajralishi topildi. Bu nima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Hayot paytida yetkazilgan o‘tmas travma natijasi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 miya muzlaganda uning hajmi kattalashishi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Murdani eritishda issiq suv ishlatilgani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 gemolizi va to‘qimalar imbibitsiyasi kuchayishi bilan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Sanoat korxonasida jabrlangan 300 voltli kuchlanishdagi tokdan shikastlandi. Shu kuchlanishda qaysi tok turi organizm uchun xavfliroq?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O‘zgarmas tok xavfliroq</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O‘zgaruvchan tok xavfliroq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Ikkalasi baravar xavfli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Ikkalasi ham xavfsiz</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o‘ng qo‘lini sovuq urdi. Keyinchalik sovuq ta’sir etmagan chap qo‘lda ham xuddi shunday o‘zgarishlar rivojlandi. Bu holat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Reaktiv davr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Yashirin davr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Reperkussiya fenomeni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Demarkatsion hoshiya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elektr tamg‘ada metallizatsiya natijasida havorang-yashil tus aniqladi. Elektr o‘tkazgich qaysi metalldan tayyorlangan bo‘lishi ehtimoli katta?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Temir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Qalay</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Qo‘rg‘oshin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Mis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Yashin urgan shaxs murdasida terida qizil yoki pushti rangdagi daraxtsimon shakl topildi. Bu belgi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“Yashin figurasi”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“G‘oz panjasi”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“Marvarid marjonlari”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“Bokser pozasi”</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Sovuq urishning qaysi darajasida teri bilan birga suyaklar ham nekrozga uchraydi?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III-darajali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IV-darajali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II-darajali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I-darajali</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Nurlanish orqali ajratish yo‘li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Issiqlikning 55% nurlanish orqali chiqariladi. Ter bilan 27%, o‘tkazish orqali 15%, ajratmalar bilan 3% ajraladi.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183-bet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Issiq urishning o‘tkir shakliga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O‘rganmagan organizmga o‘ta baland harorat ta’sir etganda o‘tkir shakl rivojlanadi. Unda hush birdan yo‘qoladi, koma bo‘ladi, yurak-qon tomir va nafas tizimlari keskin buziladi, o‘lim qisqa muddatda sodir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183-184-bet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Qo‘zg‘alish davriga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Bezovtalik, bosh og‘rig‘i, bosh aylanishi, taxikardiya, qon bosimining ko‘tarilishi va hansirash qo‘zg‘alish davrining belgilaridir. Holsizlik davrida esa koma, talvasa va qon bosimining pasayishi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184-bet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Ochiq joyda bosh kiyimsiz uzoq vaqt quyosh nurida bo‘lishda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Quyosh urishi quyosh nurlarining boshga uzoq ta’siridan boshning isib ketishi natijasida kelib chiqadi. Bunda markaziy nerv tizimi faoliyati jiddiy buziladi.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184-bet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Murda qotishi tez va kuchli, dog‘lar kech va kam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Issiq va quyosh urishidan o‘lgan murdada murda qotishi tez rivojlanib kuchli bo‘ladi. Murda dog‘lari esa kech paydo bo‘lib, oz miqdorda bo‘ladi. Bu o‘zgarishlar spetsifik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184-bet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II darajali termik kuyish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II darajali kuyishda epidermis ko‘chib, seroz suyuqlikli pufaklar hosil bo‘ladi. Murdada yorilgan pufaklar quriydi, tubi qo‘ng‘ir, zich bo‘ladi va kesganda qon chiqmaydi.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185-bet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Issiq suyuqlik ta’siri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Issiq suyuqlikdan kuyganda soch va kiyim zararlanmaydi, kuyish yuzaki, oqmasimon bo‘ladi. Oqmalar tananing pastki sohalariga qarab yo‘naladi. Alangada esa soch va kiyim shikastlanadi, qurum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186-bet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Tana yuzasining 27 foizi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Qoidaga ko‘ra tananing old yuzasi 18 foiz, bitta qo‘l 9 foiz. Ularning yig‘indisi 27 foizni tashkil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187-bet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Taxminan 20 foizgacha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Alanganing o‘limdan keyingi ta’sirida ham karboksigemoglobin topilishi mumkin, ammo uning miqdori 20 foizdan oshmaydi. Hayotiy ta’sirda esa 60 foizgacha yetishi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189-bet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Namlik bug‘lanishi, oqsil ivishidan mushaklar kaltalashishi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Alanga ta’sirida namlik bug‘lanadi, oqsillar ivib, mushaklar zichlashadi va kaltalashadi. Natijada qo‘l-oyoqlar bukilib, “bokser pozasi”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190-bet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Alanga ta’siri hayot paytida, tiriklikda bo‘lganidan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 qizilo‘ngach va oshqozonda qurumning bo‘lishi alanga hayot paytida ta’sir qilganini ko‘rsatadi. Qurum nafas olinishi va yutilishi bilan tushadi. O‘limdan keyin bunday holat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189-bet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Teri tomirlarini kengaytirib, issiqlik ajralishini kuchaytiradi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Alkogol teri qon tomirlarini kengaytiradi va issiqlik ajralishi yanada kuchayadi. Mastlikda vaziyat to‘g‘ri baholanmaydi va himoya choralari ko‘rilmaydi. Ko‘p alkogol termoregulyasiya markazlari faoliyatini ham buzadi.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191-bet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M.I.Rayskiy belgilari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Og‘iz, burun atrofidagi muz sumalaklari va qosh, kipriklardagi qirov M.I.Rayskiy belgilaridir. Puparev belgisi moyak va yorg‘oqning tortilishi. Fabrikantov belgisi buyrak jomlaridagi qon quyilishlar, Kasyanov belgisi buyrak naychalaridagi o‘zgarishlar.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Juda kam yoki umuman bo‘lmasligi mumkin, ayniqsa bolalarda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O‘lim tez sodir bo‘lsa Vishnevskiy dog‘lari juda kam yoki umuman bo‘lmasligi mumkin, shu sababli bolalarda ko‘pincha uchramaydi. O‘lim bir necha soatdan keyin sodir bo‘lsa, shilliq qavatda ko‘plab qon quyilishlar topiladi.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Bosh miya muzlaganda uning hajmi kattalashishi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Muzlaganda bosh miya va parenximatoz a’zolar hajmi kattalashadi. Kalla bo‘shlig‘ida bu suyaklar sinishi, choklar ajralishi va yumshoq to‘qimalarning ichkaridan yorilishiga olib keladi. Bunday jarohatlarni hayotiy shikastlardan farqlash zarur.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194-bet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O‘zgaruvchan tok xavfliroq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Kuchlanish 500 voltgacha bo‘lganda o‘zgaruvchan tok o‘zgarmasga nisbatan xavfliroq. 500 voltda ikki tokning xavfi tenglashadi, undan yuqorida esa o‘zgarmas tok xavfliroq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197-bet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Reperkussiya fenomeni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 qo‘l yoki oyoqni sovuq urganda qarama-qarshi tomondagi, sovuq ta’sir etmagan a’zoda ham o‘zgarishlar rivojlanishi reperkussiya fenomeni deyiladi.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196-bet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Mis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Mis o‘tkazgichdan elektr tamg‘aga havorang, yashil yoki sarg‘ish-jigarrang tus beradi. Temirdan sariq, jigarrang, qora, qalaydan kulrang-jigarrang, qo‘rg‘oshindan kulrang-qoramtir tus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202-bet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“Yashin figurasi”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Terining yuza qon tomirlari kengayishi natijasida hosil bo‘lgan daraxtsimon shakl “yashin figurasi” deyiladi va yashin travmasi uchun spetsifik. U bir necha soatdan sutkagacha yo‘qolishi mumkin, shuning uchun darhol suratga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205-bet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IV-darajali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IV-darajali sovuq urishda suyaklarni qo‘shgan holda barcha to‘qimalar nekrozi kuzatiladi. III-darajada esa teri, ba’zan teri osti yog‘ to‘qimasi nekrozi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196-bet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83</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7. Fizik omillar ta'siri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