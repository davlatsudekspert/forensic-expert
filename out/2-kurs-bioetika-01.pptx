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bioetika aynan tibbiyot talabasiga kerak? 2) «Fanlararo» so‘zi nimani anglatadi? Doskada: markazda «Bioetika», atrofida fanlar (tibbiyot, biologiya, huquq, falsafa) strelkalar bilan. Tipik xato: bioetikani faqat vrach va bemor munosabati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Tibbiyot kuchayishi nega axloqiy savollarni ko‘paytiradi? 2) Mehr-shafqat va zarar yetkazmaslik qadriyatlari yangi sharoitda qanday yangi ma’no oladi? Doskada: zanjirni o‘zlari chizsin va har bo‘g‘inga misol keltirsin. Tipik xato: Gippokrat qasamyodi butunlay bekor qilingan deb o‘ylash (manbada: to‘liq bekor qilmaydi, asosiy qoidalarini o‘zgartiradi).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Tamoyil va buyruq o‘rtasida qanday farq bor? 2) Hayot chegaralari haqidagi savollarga nega yagona javob yo‘q? Doskada: ikki ustun — «Ko‘rsatma» va «Yechim uchun asos», bioetika qaysi ustunda ekanini belgilatish. Tipik xato (diqqat): tamoyillar ≠ aniq ko‘rsatma; bioetikani faqat vrach huquqlari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tor va keng ma’no farq qiladi? 2) Yar ta’rifi boshqa ta’riflardan nimasi bilan ajraladi? Doskada: ikki doira (tor: shifokor-bemor; keng: barcha tirik organizmlar va ekotizim) chizdiring. Tipik xato: talabalar bioetikani faqat shifokor etikasi deb qabul qiladi.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Hayotni sun’iy saqlash qachon bemor manfaatiga zid bo‘lishi mumkin? 2) Shaxs manfaati jamiyat manfaatidan ustun bo‘lsa, qanday cheklashlar qonun bilan belgilanadi? Doskada: ikki ustun (bemor manfaati / jamiyat manfaati) chizib, dalillarni yozdiring. Tipik xato: texnik imkoniyat borligini uni qo‘llash majburiyati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2-3 talabadan javob oling. Muhokama: nega tamoyillar ko‘rsatma emas, asos deyiladi? Doskada: JSST nomining to‘liq yozilishini (Jahon sog‘liqni saqlash tashkiloti) yozing. Tipik xato: tamoyillarni vrach uchun tayyor buyruq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Axloq va etikaning farqi nimada? 2) Rahmdillik va adolat tibbiyotda qanday namoyon bo‘ladi? Doskada: «axloq (xulq-atvor) — etika (fan)» juftligini chizing. Tipik xato: talabalar axloq va etikani bir xil tushuncha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Normativ etika qaysi savolga javob beradi? 2) Amaliy etika undan nimasi bilan farq qiladi? Doskada: uch yo‘nalishni «nazariya → norma → amaliyot» zanjiri shaklida chizing. Tipik xato: normativ etikani amaliy etika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Texnologiya qanday yangi axloqiy savollar tug‘diradi? 2) Nega bioetika amaliy etikaning bir turi hisoblanadi? Doskada: sabab-oqibat zanjirini va amaliy etika turlarini «daraxt» shaklida chizing. Tipik xato: kazuistikani butun amaliy etika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savol sizga ko‘proq yangi tuyuldi va nega? 2) Texnologiya o‘sishi bilan yangi savollar paydo bo‘lishiga yana qanday misol keltira olasiz? Doskada: ikki ustun chizing, «Genetikadan oldin» va «Genetikadan keyin», va har biriga savollarni yozing. Tipik xato: talabalar bu savollar avval ham bo‘lgan deb o‘ylaydi. Manbada ular ilgari hech qachon tug‘ilmagan, deyilgan.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Burch etikasi shifokor uchun nimani anglatadi? 2) Qaysi yo‘nalish adolat va hamdardlikka yaqinroq? Doskada: jadvalni ko‘chirib, har qatorga bittadan hayotiy misol yozdiring. Tipik xato: evdemonizm (baxt) bilan gedonizmni (huzur-halovat)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«Imperativ» so‘zini o‘z so‘zingiz bilan tushuntiring. 2) Falsafiy etika diniy targ‘ibotdan nimasi bilan farq qiladi? Doskada: «Qadriyat → imperativ → ideal/norma» zanjirini chizing. Tipik xato: normativ etikani nasihat yoki targ‘ibot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Axloqni boshqa sohalardan mustaqil deb bilish qanday oqibat beradi? 2) Madaniyatga qarab o‘zgaruvchi axloq tibbiyotda qanday muammo tug‘diradi? Doskada: ikki ustunli jadvalni o‘quvchilar bilan birga to‘ldiring. Tipik xato: absolyutizmni diniy targ‘ibot bilan adashtirish; matnda axloq «boshqa sohalarga asos» deb tushuntirilgan.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Inson «idealizatsiyasi» tibbiyotda qanday xavf tug‘diradi? 2) Chiroyli so‘zlar ortida egoistik niyat bo‘lishi mumkinmi? Doskada: «aql» va «iroda» ni ikki o‘q bilan ko‘rsating. Tipik xato: Shopengauerni Kant bilan aralashtirish; Kant axloqni oliy qadriyat deydi, Shopengauer esa irodani axloqdan tashqarida deb biladi.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og‘zaki so‘rang, talabalarga 20 soniya o‘ylash vaqti bering. Muhokama: normativ etika va diniy targ‘ibot farqi nimada? Doskada: uch savolning javobini bir so‘z bilan yozing (norma, absolyutizm, aql/fazilat). Tipik xato: normativlikni «axloq o‘rgatish»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ongsiz jihatlarga e’tibor axloq psixologiyasini yaratdi? 2) Veber asarida axloq iqtisodiyotga qanday bog‘langan? Doskada: Shopengauer → Nitsshe, Freyd → axloq psixologiyasi; Veber → axloq sotsiologiyasi sxemasini chizing. Tipik xato: Veberni psixologiya yo‘nalishiga qo‘shib yuborish; Veber asari «Protestantlar etikasi va kapitalizm ruhi».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metaetikani amaliy hayotdan uzoq deyishadi? 2) Tasvirlash bilan qoida belgilash qanday farq qiladi? Doskada: normativ — metaetika — deskriptiv uch ustunli taqqoslash jadvalini chizing. Diqqat: metaetika ≠ deskriptiv etika; metaetika tilni tahlil qiladi, deskriptiv etika odatlarni tasvirlaydi. Tipik xato: normativlikni axloq o‘rgatish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Madaniyat odatiga tayanish qaysi yo‘nalishga xos? 2) Kant nuqtai nazaridan odat axloqning asosi bo‘la oladimi? Doskada: ikki ustun — absolyutizm va relyativizm, har birining axloq manbasini yozdiring. Tipik xato: relyativizmni axloqsizlik bilan tenglashtirish; u axloqning manbasi haqidagi qarash. Misol o‘qituvchi tomonidan tuzilgan, manbada yo‘q.</a:t>
            </a:r>
          </a:p>
          <a:p/>
          <a:p>
            <a:r>
              <a:t>Tekshirish kerak (manbada noaniq):</a:t>
            </a:r>
          </a:p>
          <a:p>
            <a:r>
              <a:t>- O‘quv misoli: ikki talaba bir xil xatti-harakatni baholaydi. Biri uni madaniyat odatiga ko‘ra oqlaydi, ikkinchisi umumiy talabga ko‘ra rad etadi.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aynan 1947-yil burilish nuqtasi bo‘ldi? 2) 1970-yillardagi texnologik o‘zgarishlar bioetikani qanday shakllantirdi? Doskada: vaqt chizig‘ini chizib, har bosqichga bir so‘z bilan izoh yozdiring. Tipik xato: «bioetika» atamasini birinchi bo‘lib Potter ishlatgan deb o‘ylash; manbada 1927-yilda Yar ishlatgani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Madaniyat qonunlari va tabiat qonunlari nimasi bilan farq qiladi? 2) Yar imperativi Kant imperatividan qaysi jihatdan kengroq? Doskada: ikki ustun chizing (Kant imperativi va Yar imperativi) va hurmat kimga qaratilganini yozdiring. Tipik xato: Yarni Potter bilan adashtirish; Yar 1927-yilda, Potter 1969-yilda ishlatgan.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kodeks majburiy emas, axloq normasi sifatida qabul qilindi deb o‘ylaysiz? 2) Tajriba o‘tkazishda tadqiqotchining ijtimoiy mas’uliyati nimada? Doskada: «jinoyat → tribunal → kodeks (10 qoida)» zanjirini chizdiring. Tipik xato: kodeksni qonuniy majburiy hujjat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daqiqa. Muhokama: 1) Nega Potter fan va gumanitar bilimni ‘‘ko‘prik’’ bilan bog‘ladi? 2) Atama sanasi (1969 yoki 1971) haqida manbalar nimaga e’tibor berishi kerak? Doskada: ikki qirg‘oq (‘‘Fan’’ va ‘‘Gumanitar bilim’’) va ularni bog‘lovchi ko‘prik ‘‘Bioetika’’ni chizing. Tipik xato: 1971-yilni atamaning ‘‘paydo bo‘lgan yili’’ deb yozish. Diqqat: manbalarda 1969 va 1971 farqi bor, shuning uchun sanani ehtiyotkor ayting.</a:t>
            </a:r>
          </a:p>
          <a:p/>
          <a:p>
            <a:r>
              <a:t>Tekshirish kerak (manbada noaniq):</a:t>
            </a:r>
          </a:p>
          <a:p>
            <a:r>
              <a:t>- Darslikda atama 1969-yilga bog‘lanadi; ‘‘Bioetika – kelajakka ko‘prik’’ kitobi esa 1971-yilda chiqqan (Muhamedova). Yillar farqini aniqlang.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tur sifatida omon qolish etika bilan bog‘lanadi? 2) Tibbiyot etikasi va ekoetika bir-biridan nimasi bilan farq qiladi? Doskada: uchta doira (tibbiyot etikasi, bioetika, ekoetika) va ularni o‘rab turuvchi katta doira ‘‘global bioetika’’ ni chizing. Tipik xato: global bioetikani faqat tibbiyot etikasi deb tushunish. Diqqat: global bioetika ≠ bioetika; global bioetika kengroq tizim bo‘lib, bioetikani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Ob’ektiv va subyektiv sababning farqi nima? 2) Nega faqat texnologiya sababi yetarli emas? Doskada ikki ustun chizing.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qo‘mitalar bir necha darajada (markaziy, mintaqaviy, kasalxona) tuziladi? 2) Sizning klinikangizda qanday qo‘mita bo‘lishi mumkin? Doskada: ‘‘xalqaro — milliy — mintaqaviy — kasalxona’’ pog‘onali zanjirini chizing. Tipik xato: SSV qoshidagi qo‘mita bilan Ibn Sino jamg‘armasi qoshidagi milliy qo‘mitani bir narsa deb o‘ylash. Diqqat: ular ikki alohida qo‘mita.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 bizning klinikada shunday qo‘mita bormi? Tipik xato: qo‘mitani jazolovchi organ deb o‘ylash; u maslahat va nazorat organi.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«Etik nol» nimani anglatadi? (2) Majburiy bo‘lmagan qoidalar olimlar mas’uliyatiga qanday ta’sir qiladi? Doskada «jinoyat → Hukm → Ilova (Nyurnberg kodeksi)» zanjirini chizdiring. Tipik xato: kodeksni majburiy qonun deb hisoblash. Eslatma: manbada kodeksning majburiy bo‘lmaganligi sababi aniq yozilmagan, shuning uchun 4-band savol sifatida muhokamaga qo‘yiladi. Kodeks «Hukm»ga ilova bo‘lgani va olimlar mas’uliyati masalasini umumbashariy darajaga ko‘targani manbada bor.</a:t>
            </a:r>
          </a:p>
          <a:p/>
          <a:p>
            <a:r>
              <a:t>Tekshirish kerak (manbada noaniq):</a:t>
            </a:r>
          </a:p>
          <a:p>
            <a:r>
              <a:t>- Savol: kodeks majburiy qonun emas, axloq normasi sifatida qabul qilindi. Nega shunday bo‘ldi va bu olimlar mas’uliyatiga qanday ta’sir qildi?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Javoblar: 1) Fritz Yar (Jahr), nemis pastori, kitobda «Fritz Yar» deb yozilgan; 2) 10 ta qoida; 3) «Bioetika — kelajakka ko‘prik», 1971. Muhokama: nega Potterni «asoschi» deb hisoblashadi, Yar esa kamroq tilga olinadi? Doskada vaqt chizig‘i chizdiring: 1927 → 1947 → 1969 → 1971. Tipik xato: Potter atamani birinchi bo‘lib ishlatgan deb o‘ylash va Nyurnberg yilini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Iste‘molchilik munosabati bugun qanday ko‘rinishda uchraydi? (2) Nega Ksenofont falsafasi mashhur bo‘lgan? Doskada Meyer bo‘yicha to‘rt dunyoqarashni yozing: sotsiotsentrizm, patotsentrizm, antropotsentrizm, biotsentrizm. Tipik xato: antropotsentrizmni biotsentrizm bilan aralashtirish. Birinchisida faqat inson, ikkinchisida barcha tirik mavjudot diqqat markazida turadi.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«Hamma narsa inson uchun» qaysi dunyoqarashga xos? 2) Patotsentrizm bilan biotsentrizm farqi nimada? Doskada to‘rt pog‘onali «burch doirasi» sxemasini kichikdan kattaga chizdiring. Tipik xato: patotsentrizmni biotsentrizm bilan aralashtirish. Patotsentrizmda faqat aqlli mavjudotlar himoyalanadi, biotsentrizmda barcha tiriklik himoyalanadi. Tipologiya J.R. Meyerning «Bioetika va ta’lim» kitobidan olingan.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Ahimsa so‘z, niyat va ish darajasida qanday namoyon bo‘ladi? 2) Iste’molchi sifatida biotsentrizmni qanday qo‘llash mumkin? Doskada ikki ustunli solishtirish jadvalini chizdiring: antropotsentrizm va biotsentrizm, «kim qimmatli?» va «tabiatga munosabat». Tipik xato: ahimsa faqat vegetarianlik deb o‘ylash. U zarar yetkazmaslikning umumiy prinsipi, vegetarianlik esa uning natijasi.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Shvaytser mehr va hamdardlikni hayotni hurmat qilish tarkibiga kiritadi? 2) «Cheksiz mas’uliyat» amalda qanday qiyinchilik tug‘diradi? Doskada zanjirni chizdiring: Umumiy → Universal → Cheksiz, har biriga bittadan misol yozdiring. Tipik xato: universallikni faqat odamlarga tatbiq etish. Shvaytser odam, hayvon, hasharot va o‘simlikni qamrab oladi.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hamdardlik faqat odamlar bilan cheklanib qolmadi? 2) Altruizm bilan egoizm farqini bemor-shifokor misolida ayting. Doskada: «Altruizm ↔ Egoizm» qarama-qarshi ikki ustun chizing. Tipik xato: altruizmni faqat moddiy yordam bilan tenglashtirish; manbada u mas‘uliyat hissi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Vaziyat antropotsentrizmga qanday mos keladi? 2) Biotsentrik yondashuv qaror qabul qilishni nimaga o‘zgartiradi? Doskada: ikki ustunli «Antropotsentrizm / Biotsentrizm» — kim uchun javobgarmiz? Tipik xato: biotsentrizmni inson manfaatini butunlay inkor etish deb tushunish; manbada ahimsa ortiqcha fanatizmsiz bajarilishi kerakligi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model shifokorga, qaysi biri bemorga ko‘proq urg‘u beradi? 2) Nega «zarar yetkazma» to‘rtinchi modelda saqlanib qolgan? Doskada: to‘rt modelni vaqt chizig‘ida joylashtiring. Tipik xato: deontologik modelni biotibbiyot modeli bilan aralashtirish; birinchisi shifokor xulqi, ikkinchisi bemor huquqlariga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bioetika bitta fan chegarasiga sig‘maydi? 2) Sizning mutaxassisligingizga qaysi bo‘lim yaqin? Doskada: tuzilma jadvalini chizdiring va ostiga muammolarni yozdiring (bemor huquqlari himoyasi, sog‘liqni saqlashda adolat, abort va yangi reproduktiv texnologiyalar, odam va hayvonda tajriba, o‘lim mezonlari, transplantologiya, genetika, ildiz hujayralar, klonlash, hospis va palliativ yordam, o‘z joniga qasd va evtanaziya). Tipik xato: biotibbiyot etikasini butun bioetika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Har muammo keyingi mavzularga bog‘lanadi: 4–5-mavzu reproduktiv, 7-mavzu hayot oxiri. Talabalar o‘z qiziqishi bo‘yicha bittasini tanlab, savol beradi.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Savol: nega bioetika kasbiy tibbiy etikaning shunchaki yangi bo‘limi emas? (16-bet: u yanada kengroq).</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shaxs manfaati fan manfaatidan ustun qo‘yiladi? 2) Xabardor rozilik avtonomiyadan qanday kelib chiqadi? Doskada: besh tamoyilni ‘bemor’ markazi atrofida chizing. Eslatma: 2005 yilgi hujjat UNESKO tayyorlagan uchinchi me’yoriy hujjat. Tipik xato: hujjatlar yillarini aralashtirish (1997, 2003, 2005).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Tipik xato: tamoyil tayyor buyruq deb o‘ylanadi; ular qaror chiqarish uchun asos, bir-biriga zid kelganda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Yakuniy savollar: 1) Amaliy etika anʼanaviy etikadan nimasi bilan farq qiladi? 2) Potter, Shvaytser va Nyurnberg kodeksining bioetikadagi o‘rni nima? 3) To‘rt modelni tartib bilan sanang. 4) UNESKO bo‘yicha bioetika tuzilmasi nimalardan iborat? Mustaqil ish: 1-2 betlik yozma ish — bitta klinik vaziyatni tanlab, unga besh tamoyilni qo‘llab tahlil qiling; ixtiyoriy ravishda UNESKO deklaratsiyalaridan birini ham keltiring. Tipik xato: tamoyillarni model bilan, modellarni tuzilma bo‘limlari bilan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Kirish. Biotibbiy etikaning sotsiomadaniy va nazariy asoslari: rivojlanish bosqichlari, modellari, umumjahon etika, bioetikaning tuzilishi, tamoyillari va qoidalari (M1; A1)</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nima uchun bioetika kerak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Bioetika biomeditsina yutuqlari va sog‘liqni saqlash amaliyotida paydo bo‘layotgan axloqiy muammolarni anglash, muhokama qilish va hal etishga qaratilgan soha.</a:t>
            </a:r>
          </a:p>
          <a:p>
            <a:pPr>
              <a:spcAft>
                <a:spcPts val="1200"/>
              </a:spcAft>
            </a:pPr>
            <a:r>
              <a:rPr sz="2200">
                <a:solidFill>
                  <a:srgbClr val="1F2937"/>
                </a:solidFill>
                <a:latin typeface="Calibri"/>
              </a:rPr>
              <a:t>▸  Bu fanlararo tadqiqotlar, ochiq munozaralar va siyosiy qarorlar sohasidir.</a:t>
            </a:r>
          </a:p>
          <a:p>
            <a:pPr>
              <a:spcAft>
                <a:spcPts val="1200"/>
              </a:spcAft>
            </a:pPr>
            <a:r>
              <a:rPr sz="2200">
                <a:solidFill>
                  <a:srgbClr val="1F2937"/>
                </a:solidFill>
                <a:latin typeface="Calibri"/>
              </a:rPr>
              <a:t>▸  Jahon sog‘liqni saqlash tashkiloti 1994-yilda barcha tibbiyot maktablarida bioetika kursini joriy etishni tavsiya qilgan.</a:t>
            </a:r>
          </a:p>
          <a:p>
            <a:pPr>
              <a:spcAft>
                <a:spcPts val="1200"/>
              </a:spcAft>
            </a:pPr>
            <a:r>
              <a:rPr sz="2200">
                <a:solidFill>
                  <a:srgbClr val="1F2937"/>
                </a:solidFill>
                <a:latin typeface="Calibri"/>
              </a:rPr>
              <a:t>▸  Asosiy tushuncha: etika axloqni o‘rganuvchi fan, bioetika esa amaliy etikaning bir bo‘limidir.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Kirish; Muhamedova Z.M., Bioetika, betlar: Muqaddima, Muqaddima; I bob,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Tibbiyotdagi o‘zgarishlar va yangi muammolar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Fundamental fanlar jadal rivojlanmoqda; ko‘p yangi texnologiyalar oqibati noaniq yoki xavfli.</a:t>
            </a:r>
          </a:p>
          <a:p>
            <a:pPr>
              <a:spcAft>
                <a:spcPts val="800"/>
              </a:spcAft>
            </a:pPr>
            <a:r>
              <a:rPr sz="1800">
                <a:solidFill>
                  <a:srgbClr val="1F2937"/>
                </a:solidFill>
                <a:latin typeface="Calibri"/>
              </a:rPr>
              <a:t>▸  Amaliy tibbiyot inson tanasi, nasl, ruhiyat va o‘lim jarayoniga ta’sir imkoniyatlarini kengaytirmoqda.</a:t>
            </a:r>
          </a:p>
          <a:p>
            <a:pPr>
              <a:spcAft>
                <a:spcPts val="800"/>
              </a:spcAft>
            </a:pPr>
            <a:r>
              <a:rPr sz="1800">
                <a:solidFill>
                  <a:srgbClr val="1F2937"/>
                </a:solidFill>
                <a:latin typeface="Calibri"/>
              </a:rPr>
              <a:t>▸  Gippokrat qasamyodi bekor bo‘lmaydi, ammo uning asosiy qoidalari tubdan o‘zgaradi.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Fundamental fanlar rivoji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texnologiyalar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Oqibatlari noaniq yoki xavfli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Axloqiy va huquqiy savollar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Gippokrat qoidalari o‘zgaradi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Muammolar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Muqaddima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 bemorlar etikasi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Bioetika tamoyillari vrachga bevosita ko‘rsatma emas; ular keyinchalik aniq yechimlar olish mumkin bo‘lgan asoslardir.</a:t>
            </a:r>
          </a:p>
          <a:p>
            <a:pPr>
              <a:spcAft>
                <a:spcPts val="1200"/>
              </a:spcAft>
            </a:pPr>
            <a:r>
              <a:rPr sz="2200">
                <a:solidFill>
                  <a:srgbClr val="1F2937"/>
                </a:solidFill>
                <a:latin typeface="Calibri"/>
              </a:rPr>
              <a:t>▸  Bu tamoyillar vrachlarning huquq va majburiyatlaridan ko‘ra ko‘proq bemorlarning huquq va majburiyatlarini belgilaydi.</a:t>
            </a:r>
          </a:p>
          <a:p>
            <a:pPr>
              <a:spcAft>
                <a:spcPts val="1200"/>
              </a:spcAft>
            </a:pPr>
            <a:r>
              <a:rPr sz="2200">
                <a:solidFill>
                  <a:srgbClr val="1F2937"/>
                </a:solidFill>
                <a:latin typeface="Calibri"/>
              </a:rPr>
              <a:t>▸  Shu bois bioetika — bemorlar etikasi: bemor holatidagi har bir odamning manfaatini hisobga oluvchi va himoya qiluvchi qoidalar.</a:t>
            </a:r>
          </a:p>
          <a:p>
            <a:pPr>
              <a:spcAft>
                <a:spcPts val="1200"/>
              </a:spcAft>
            </a:pPr>
            <a:r>
              <a:rPr sz="2200">
                <a:solidFill>
                  <a:srgbClr val="1F2937"/>
                </a:solidFill>
                <a:latin typeface="Calibri"/>
              </a:rPr>
              <a:t>▸  Bahsli savollar: hayot qachon boshlanadi va tugaydi? O‘lar darajadagi og‘ir bemor hayotini quvvatlashning chegarasi bormi?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Muqaddima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ta‘riflari: tor va keng ma‘no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Tor ma’noda bioetika shifokor va bemor munosabatidagi barcha doiradagi etik muammolarni bildiradi.</a:t>
            </a:r>
          </a:p>
          <a:p>
            <a:pPr>
              <a:spcAft>
                <a:spcPts val="800"/>
              </a:spcAft>
            </a:pPr>
            <a:r>
              <a:rPr sz="1800">
                <a:solidFill>
                  <a:srgbClr val="1F2937"/>
                </a:solidFill>
                <a:latin typeface="Calibri"/>
              </a:rPr>
              <a:t>▸  Keng ma’noda u inson va barcha tirik organizmlarga oid ijtimoiy, ekologik, tibbiy muammolarni o‘rganadi.</a:t>
            </a:r>
          </a:p>
          <a:p>
            <a:pPr>
              <a:spcAft>
                <a:spcPts val="800"/>
              </a:spcAft>
            </a:pPr>
            <a:r>
              <a:rPr sz="1800">
                <a:solidFill>
                  <a:srgbClr val="1F2937"/>
                </a:solidFill>
                <a:latin typeface="Calibri"/>
              </a:rPr>
              <a:t>▸  Diqqat: tor ma’no ≠ keng ma’no. Tor ma’no faqat shifokor va bemor munosabatini qamraydi.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2148332"/>
                <a:gridCol w="3139643"/>
              </a:tblGrid>
              <a:tr h="768096">
                <a:tc>
                  <a:txBody>
                    <a:bodyPr/>
                    <a:lstStyle/>
                    <a:p>
                      <a:r>
                        <a:rPr sz="1800" b="1">
                          <a:solidFill>
                            <a:srgbClr val="FFFFFF"/>
                          </a:solidFill>
                        </a:rPr>
                        <a:t>Manba</a:t>
                      </a:r>
                    </a:p>
                  </a:txBody>
                  <a:tcPr marL="73152" marR="73152" marT="36576" marB="36576">
                    <a:solidFill>
                      <a:srgbClr val="0B1F3A"/>
                    </a:solidFill>
                  </a:tcPr>
                </a:tc>
                <a:tc>
                  <a:txBody>
                    <a:bodyPr/>
                    <a:lstStyle/>
                    <a:p>
                      <a:r>
                        <a:rPr sz="1800" b="1">
                          <a:solidFill>
                            <a:srgbClr val="FFFFFF"/>
                          </a:solidFill>
                        </a:rPr>
                        <a:t>Ta’rif</a:t>
                      </a:r>
                    </a:p>
                  </a:txBody>
                  <a:tcPr marL="73152" marR="73152" marT="36576" marB="36576">
                    <a:solidFill>
                      <a:srgbClr val="0B1F3A"/>
                    </a:solidFill>
                  </a:tcPr>
                </a:tc>
              </a:tr>
              <a:tr h="768096">
                <a:tc>
                  <a:txBody>
                    <a:bodyPr/>
                    <a:lstStyle/>
                    <a:p>
                      <a:r>
                        <a:rPr sz="1700" b="0">
                          <a:solidFill>
                            <a:srgbClr val="1F2937"/>
                          </a:solidFill>
                        </a:rPr>
                        <a:t>Yar (1927)</a:t>
                      </a:r>
                    </a:p>
                  </a:txBody>
                  <a:tcPr marL="73152" marR="73152" marT="36576" marB="36576">
                    <a:solidFill>
                      <a:srgbClr val="E8EEF6"/>
                    </a:solidFill>
                  </a:tcPr>
                </a:tc>
                <a:tc>
                  <a:txBody>
                    <a:bodyPr/>
                    <a:lstStyle/>
                    <a:p>
                      <a:r>
                        <a:rPr sz="1700" b="0">
                          <a:solidFill>
                            <a:srgbClr val="1F2937"/>
                          </a:solidFill>
                        </a:rPr>
                        <a:t>Hayvon va o‘simlikka ham hurmat talabi</a:t>
                      </a:r>
                    </a:p>
                  </a:txBody>
                  <a:tcPr marL="73152" marR="73152" marT="36576" marB="36576">
                    <a:solidFill>
                      <a:srgbClr val="E8EEF6"/>
                    </a:solidFill>
                  </a:tcPr>
                </a:tc>
              </a:tr>
              <a:tr h="768096">
                <a:tc>
                  <a:txBody>
                    <a:bodyPr/>
                    <a:lstStyle/>
                    <a:p>
                      <a:r>
                        <a:rPr sz="1700" b="0">
                          <a:solidFill>
                            <a:srgbClr val="1F2937"/>
                          </a:solidFill>
                        </a:rPr>
                        <a:t>Entsiklopediya</a:t>
                      </a:r>
                    </a:p>
                  </a:txBody>
                  <a:tcPr marL="73152" marR="73152" marT="36576" marB="36576">
                    <a:solidFill>
                      <a:srgbClr val="FFFFFF"/>
                    </a:solidFill>
                  </a:tcPr>
                </a:tc>
                <a:tc>
                  <a:txBody>
                    <a:bodyPr/>
                    <a:lstStyle/>
                    <a:p>
                      <a:r>
                        <a:rPr sz="1700" b="0">
                          <a:solidFill>
                            <a:srgbClr val="1F2937"/>
                          </a:solidFill>
                        </a:rPr>
                        <a:t>Axloqiy parametrlarni muntazam o‘rganish</a:t>
                      </a:r>
                    </a:p>
                  </a:txBody>
                  <a:tcPr marL="73152" marR="73152" marT="36576" marB="36576">
                    <a:solidFill>
                      <a:srgbClr val="FFFFFF"/>
                    </a:solidFill>
                  </a:tcPr>
                </a:tc>
              </a:tr>
              <a:tr h="768096">
                <a:tc>
                  <a:txBody>
                    <a:bodyPr/>
                    <a:lstStyle/>
                    <a:p>
                      <a:r>
                        <a:rPr sz="1700" b="0">
                          <a:solidFill>
                            <a:srgbClr val="1F2937"/>
                          </a:solidFill>
                        </a:rPr>
                        <a:t>Oksford lug‘ati</a:t>
                      </a:r>
                    </a:p>
                  </a:txBody>
                  <a:tcPr marL="73152" marR="73152" marT="36576" marB="36576">
                    <a:solidFill>
                      <a:srgbClr val="E8EEF6"/>
                    </a:solidFill>
                  </a:tcPr>
                </a:tc>
                <a:tc>
                  <a:txBody>
                    <a:bodyPr/>
                    <a:lstStyle/>
                    <a:p>
                      <a:r>
                        <a:rPr sz="1700" b="0">
                          <a:solidFill>
                            <a:srgbClr val="1F2937"/>
                          </a:solidFill>
                        </a:rPr>
                        <a:t>Tibbiyot-biologiyadagi etik muammolar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Bioetika ta’riflari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8-14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yangi texnologiya va axloqiy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tibbiyot texnikasi avval o‘lishi muqarrar bo‘lgan bemorning hayotini sun’iy ravishda saqlab tura oladi.</a:t>
            </a:r>
          </a:p>
          <a:p>
            <a:pPr>
              <a:spcAft>
                <a:spcPts val="1200"/>
              </a:spcAft>
            </a:pPr>
            <a:r>
              <a:rPr sz="2200">
                <a:solidFill>
                  <a:srgbClr val="1F2937"/>
                </a:solidFill>
                <a:latin typeface="Calibri"/>
              </a:rPr>
              <a:t>▸  Shu bilan birga sun’iy urug‘lantirish, klonlash, transplantologiya kabi yangi imkoniyatlar ham paydo bo‘lgan.</a:t>
            </a:r>
          </a:p>
          <a:p>
            <a:pPr>
              <a:spcAft>
                <a:spcPts val="1200"/>
              </a:spcAft>
            </a:pPr>
            <a:r>
              <a:rPr sz="2200">
                <a:solidFill>
                  <a:srgbClr val="1F2937"/>
                </a:solidFill>
                <a:latin typeface="Calibri"/>
              </a:rPr>
              <a:t>▸  Manbadagi savol: o‘ladigan darajada og‘ir bemor hayotini qo‘llab-quvvatlashning chegarasi mavjudmi?</a:t>
            </a:r>
          </a:p>
          <a:p>
            <a:pPr>
              <a:spcAft>
                <a:spcPts val="1200"/>
              </a:spcAft>
            </a:pPr>
            <a:r>
              <a:rPr sz="2200">
                <a:solidFill>
                  <a:srgbClr val="1F2937"/>
                </a:solidFill>
                <a:latin typeface="Calibri"/>
              </a:rPr>
              <a:t>▸  Savol: bunday holatda bemor va jamiyat manfaati qanday muvozanatlanadi? YUNESKO deklaratsiyasida shaxs manfaati fan yoki jamiyat manfaatidan ustun qo‘yiladi.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 Muqaddima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bioetika kimning manfaatlarini himoya qiladi? Javob: bemor holatidagi har bir insonning manfaatlarini, shuning uchun u bemorlar etikasi deyiladi.</a:t>
            </a:r>
          </a:p>
          <a:p>
            <a:pPr>
              <a:spcAft>
                <a:spcPts val="1200"/>
              </a:spcAft>
            </a:pPr>
            <a:r>
              <a:rPr sz="2200">
                <a:solidFill>
                  <a:srgbClr val="1F2937"/>
                </a:solidFill>
                <a:latin typeface="Calibri"/>
              </a:rPr>
              <a:t>▸  Savol 2: JSST 1994-yilda nimani tavsiya qilgan? Javob: Yer yuzidagi barcha tibbiyot maktablarida bioetika kursini joriy etishni.</a:t>
            </a:r>
          </a:p>
          <a:p>
            <a:pPr>
              <a:spcAft>
                <a:spcPts val="1200"/>
              </a:spcAft>
            </a:pPr>
            <a:r>
              <a:rPr sz="2200">
                <a:solidFill>
                  <a:srgbClr val="1F2937"/>
                </a:solidFill>
                <a:latin typeface="Calibri"/>
              </a:rPr>
              <a:t>▸  Savol 3: bioetika tamoyillari qanday xarakterga ega? Javob: ular vrachga bevosita ko‘rsatma emas, balki muayyan yechimlarni olish mumkin bo‘lgan asoslardir.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Muqaddima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 axloq va Aristotel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Axloq insonning xulq-atvorini va odamlar o‘rtasidagi munosabatlarni tartibga soluvchi dastlabki mexanizmlardan biridir.</a:t>
            </a:r>
          </a:p>
          <a:p>
            <a:pPr>
              <a:spcAft>
                <a:spcPts val="1200"/>
              </a:spcAft>
            </a:pPr>
            <a:r>
              <a:rPr sz="2200">
                <a:solidFill>
                  <a:srgbClr val="1F2937"/>
                </a:solidFill>
                <a:latin typeface="Calibri"/>
              </a:rPr>
              <a:t>▸  Axloqni alohida fan — etika o‘rganadi. Bu fanga yunon faylasufi Aristotel asos solgan.</a:t>
            </a:r>
          </a:p>
          <a:p>
            <a:pPr>
              <a:spcAft>
                <a:spcPts val="1200"/>
              </a:spcAft>
            </a:pPr>
            <a:r>
              <a:rPr sz="2200">
                <a:solidFill>
                  <a:srgbClr val="1F2937"/>
                </a:solidFill>
                <a:latin typeface="Calibri"/>
              </a:rPr>
              <a:t>▸  Etika (yunon. ethos — «xulq, odat») odob va axloqni o‘rganuvchi falsafiy fan hisoblanadi.</a:t>
            </a:r>
          </a:p>
          <a:p>
            <a:pPr>
              <a:spcAft>
                <a:spcPts val="1200"/>
              </a:spcAft>
            </a:pPr>
            <a:r>
              <a:rPr sz="2200">
                <a:solidFill>
                  <a:srgbClr val="1F2937"/>
                </a:solidFill>
                <a:latin typeface="Calibri"/>
              </a:rPr>
              <a:t>▸  Diqqat: axloq ≠ etika. Rahmdillik, adolat, do‘stlik va birdamlik kabi tushunchalar insoniyat rivojlanishining axloqiy asosidir.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 Yuldashev N.M., Saydalixodjayeva O.Z., Saidov A.B., Bioetika, betlar: I qism, 1-bob, 1.1 (8-14-betlar)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Etikaning yo‘nalishlari: nazariy va normativ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Etika ikki yo‘nalishga bo‘linadi: nazariy va normativ.</a:t>
            </a:r>
          </a:p>
          <a:p>
            <a:pPr>
              <a:spcAft>
                <a:spcPts val="800"/>
              </a:spcAft>
            </a:pPr>
            <a:r>
              <a:rPr sz="1800">
                <a:solidFill>
                  <a:srgbClr val="1F2937"/>
                </a:solidFill>
                <a:latin typeface="Calibri"/>
              </a:rPr>
              <a:t>▸  Amaliy etika normativ etikada shakllangan g‘oyalarni axloqiy tanlovning aniq vaziyatlarida qo‘llaydi.</a:t>
            </a:r>
          </a:p>
          <a:p>
            <a:pPr>
              <a:spcAft>
                <a:spcPts val="800"/>
              </a:spcAft>
            </a:pPr>
            <a:r>
              <a:rPr sz="1800">
                <a:solidFill>
                  <a:srgbClr val="1F2937"/>
                </a:solidFill>
                <a:latin typeface="Calibri"/>
              </a:rPr>
              <a:t>▸  Diqqat: nazariy etika tushuntiradi, normativ etika esa yo‘l ko‘rsatadi.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Etika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Nazariy etika</a:t>
            </a:r>
          </a:p>
          <a:p>
            <a:pPr algn="l">
              <a:spcAft>
                <a:spcPts val="0"/>
              </a:spcAft>
            </a:pPr>
            <a:r>
              <a:rPr sz="1200" b="0">
                <a:solidFill>
                  <a:srgbClr val="1F2937"/>
                </a:solidFill>
                <a:latin typeface="Calibri"/>
              </a:rPr>
              <a:t>Axloq kelib chiqishi va qonuniyatlari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Normativ etika</a:t>
            </a:r>
          </a:p>
          <a:p>
            <a:pPr algn="l">
              <a:spcAft>
                <a:spcPts val="0"/>
              </a:spcAft>
            </a:pPr>
            <a:r>
              <a:rPr sz="1200" b="0">
                <a:solidFill>
                  <a:srgbClr val="1F2937"/>
                </a:solidFill>
                <a:latin typeface="Calibri"/>
              </a:rPr>
              <a:t>Xulqni yo‘naltiruvchi mezonlar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Amaliy etika</a:t>
            </a:r>
          </a:p>
          <a:p>
            <a:pPr algn="l">
              <a:spcAft>
                <a:spcPts val="0"/>
              </a:spcAft>
            </a:pPr>
            <a:r>
              <a:rPr sz="1200" b="0">
                <a:solidFill>
                  <a:srgbClr val="1F2937"/>
                </a:solidFill>
                <a:latin typeface="Calibri"/>
              </a:rPr>
              <a:t>G‘oyalarni aniq vaziyatlarda qo‘llaydi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Etikaning uch yo‘nalishi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(8-14-betlar)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Amaliy etika: paydo bo‘lish sabablari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Turlari: siyosiy etika, jurnalist etikasi, biznes etikasi, ekoetika va bioetika.</a:t>
            </a:r>
          </a:p>
          <a:p>
            <a:pPr>
              <a:spcAft>
                <a:spcPts val="800"/>
              </a:spcAft>
            </a:pPr>
            <a:r>
              <a:rPr sz="1800">
                <a:solidFill>
                  <a:srgbClr val="1F2937"/>
                </a:solidFill>
                <a:latin typeface="Calibri"/>
              </a:rPr>
              <a:t>▸  Kazuistika (casus — tasodif): ko‘plab holat va pretsedentlarni ko‘rib chiqish. Amaliy etikaga shunday ham qaraladi.</a:t>
            </a:r>
          </a:p>
          <a:p>
            <a:pPr>
              <a:spcAft>
                <a:spcPts val="800"/>
              </a:spcAft>
            </a:pPr>
            <a:r>
              <a:rPr sz="1800">
                <a:solidFill>
                  <a:srgbClr val="1F2937"/>
                </a:solidFill>
                <a:latin typeface="Calibri"/>
              </a:rPr>
              <a:t>▸  Misol: genetika paydo bo‘lgach, sun’iy usulda tug‘ish maqsadga muvofiqmi, degan yangi savollar yuzaga keldi.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Texnologik imkoniyatlar o‘sdi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Tabiatga aralashuv, global xavf</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muammolar, yangicha echim</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Amaliy etika turlari paydo bo‘ldi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Amaliy etika qanday paydo bo‘ldi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genetika va yangi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Genetika paydo bo‘lgach, insoniyat oldida ilgari hech qachon turmagan savollar tug‘ildi.</a:t>
            </a:r>
          </a:p>
          <a:p>
            <a:pPr>
              <a:spcAft>
                <a:spcPts val="1200"/>
              </a:spcAft>
            </a:pPr>
            <a:r>
              <a:rPr sz="2200">
                <a:solidFill>
                  <a:srgbClr val="1F2937"/>
                </a:solidFill>
                <a:latin typeface="Calibri"/>
              </a:rPr>
              <a:t>▸  Birinchi savol: sun’iy yo‘l bilan tug‘ish ma’qulmi?</a:t>
            </a:r>
          </a:p>
          <a:p>
            <a:pPr>
              <a:spcAft>
                <a:spcPts val="1200"/>
              </a:spcAft>
            </a:pPr>
            <a:r>
              <a:rPr sz="2200">
                <a:solidFill>
                  <a:srgbClr val="1F2937"/>
                </a:solidFill>
                <a:latin typeface="Calibri"/>
              </a:rPr>
              <a:t>▸  Ikkinchi savol: jamiyat irsiy muhandislik vositalari bilan hayvonlar va odamlarni yaratishga urinishi kerakmi?</a:t>
            </a:r>
          </a:p>
          <a:p>
            <a:pPr>
              <a:spcAft>
                <a:spcPts val="1200"/>
              </a:spcAft>
            </a:pPr>
            <a:r>
              <a:rPr sz="2200">
                <a:solidFill>
                  <a:srgbClr val="1F2937"/>
                </a:solidFill>
                <a:latin typeface="Calibri"/>
              </a:rPr>
              <a:t>▸  Muhokama: nega an’anaviy etika bunga tayyor emas edi? Texnologiya o‘sishi yangi muammo va yangi ko‘lam keltiradi, ular yangicha yechim talab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An’anaviy etika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Yo‘nalish yetakchi tushunchaga qarab ajratiladi: baxt, ezgulik, burch, muhabbat, hamdardlik, adolat.</a:t>
            </a:r>
          </a:p>
          <a:p>
            <a:pPr>
              <a:spcAft>
                <a:spcPts val="800"/>
              </a:spcAft>
            </a:pPr>
            <a:r>
              <a:rPr sz="1800">
                <a:solidFill>
                  <a:srgbClr val="1F2937"/>
                </a:solidFill>
                <a:latin typeface="Calibri"/>
              </a:rPr>
              <a:t>▸  Baxt etikasi felisitologiya deb ham ataladi; ezgulik etikasi — aretologiya (arete — ezgulik).</a:t>
            </a:r>
          </a:p>
          <a:p>
            <a:pPr>
              <a:spcAft>
                <a:spcPts val="800"/>
              </a:spcAft>
            </a:pPr>
            <a:r>
              <a:rPr sz="1800">
                <a:solidFill>
                  <a:srgbClr val="1F2937"/>
                </a:solidFill>
                <a:latin typeface="Calibri"/>
              </a:rPr>
              <a:t>▸  Gedonizm va kinizm ham alohida etika turi sifatida sanaladi.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Yetakchi tushuncha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Baxt (evdemonizm)</a:t>
            </a:r>
          </a:p>
          <a:p>
            <a:pPr algn="l">
              <a:spcAft>
                <a:spcPts val="0"/>
              </a:spcAft>
            </a:pPr>
            <a:r>
              <a:rPr sz="1200" b="0">
                <a:solidFill>
                  <a:srgbClr val="1F2937"/>
                </a:solidFill>
                <a:latin typeface="Calibri"/>
              </a:rPr>
              <a:t>Felisitologiya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Ezgulik (arete)</a:t>
            </a:r>
          </a:p>
          <a:p>
            <a:pPr algn="l">
              <a:spcAft>
                <a:spcPts val="0"/>
              </a:spcAft>
            </a:pPr>
            <a:r>
              <a:rPr sz="1200" b="0">
                <a:solidFill>
                  <a:srgbClr val="1F2937"/>
                </a:solidFill>
                <a:latin typeface="Calibri"/>
              </a:rPr>
              <a:t>Aretologiya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Burch</a:t>
            </a:r>
          </a:p>
          <a:p>
            <a:pPr algn="l">
              <a:spcAft>
                <a:spcPts val="0"/>
              </a:spcAft>
            </a:pPr>
            <a:r>
              <a:rPr sz="1200" b="0">
                <a:solidFill>
                  <a:srgbClr val="1F2937"/>
                </a:solidFill>
                <a:latin typeface="Calibri"/>
              </a:rPr>
              <a:t>Deontologiya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Gedonizm / kinizm</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An’anaviy etika yo‘nalishlari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An’anaviy etikaning normativligi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An’anaviy etika normativ: u qadriyatlarni ro‘yobga chiqarishga, ularni xulq-atvor normasiga aylantirishga intilgan.</a:t>
            </a:r>
          </a:p>
          <a:p>
            <a:pPr>
              <a:spcAft>
                <a:spcPts val="1200"/>
              </a:spcAft>
            </a:pPr>
            <a:r>
              <a:rPr sz="2200">
                <a:solidFill>
                  <a:srgbClr val="1F2937"/>
                </a:solidFill>
                <a:latin typeface="Calibri"/>
              </a:rPr>
              <a:t>▸  Qadriyat imperativ (axloqiy talab), ideal va norma bo‘lib xizmat qiladi. Adolatning qiymati — uni ro‘yobga chiqarishda.</a:t>
            </a:r>
          </a:p>
          <a:p>
            <a:pPr>
              <a:spcAft>
                <a:spcPts val="1200"/>
              </a:spcAft>
            </a:pPr>
            <a:r>
              <a:rPr sz="2200">
                <a:solidFill>
                  <a:srgbClr val="1F2937"/>
                </a:solidFill>
                <a:latin typeface="Calibri"/>
              </a:rPr>
              <a:t>▸  Diqqat: normativlik ≠ axloq o‘rgatish yoki axloqni targ‘ib qilish. Bu ikkisini adashtirmaslik kerak.</a:t>
            </a:r>
          </a:p>
          <a:p>
            <a:pPr>
              <a:spcAft>
                <a:spcPts val="1200"/>
              </a:spcAft>
            </a:pPr>
            <a:r>
              <a:rPr sz="2200">
                <a:solidFill>
                  <a:srgbClr val="1F2937"/>
                </a:solidFill>
                <a:latin typeface="Calibri"/>
              </a:rPr>
              <a:t>▸  Normativ dasturlar tajriba va mantiqqa tayanadi. Shu jihatdan falsafiy etika diniy targ‘ibotdan keskin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Absolyutizm va relyativizm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Kant absolyutizm vakili: axloq o‘ziga to‘q, boshqa sohadan kelib chiqmaydigan oliy qadriyat.</a:t>
            </a:r>
          </a:p>
          <a:p>
            <a:pPr>
              <a:spcAft>
                <a:spcPts val="800"/>
              </a:spcAft>
            </a:pPr>
            <a:r>
              <a:rPr sz="1800">
                <a:solidFill>
                  <a:srgbClr val="1F2937"/>
                </a:solidFill>
                <a:latin typeface="Calibri"/>
              </a:rPr>
              <a:t>▸  Kantcha axloq huquq, din, san’at va siyosat uchun asos bo‘ladi.</a:t>
            </a:r>
          </a:p>
          <a:p>
            <a:pPr>
              <a:spcAft>
                <a:spcPts val="800"/>
              </a:spcAft>
            </a:pPr>
            <a:r>
              <a:rPr sz="1800">
                <a:solidFill>
                  <a:srgbClr val="1F2937"/>
                </a:solidFill>
                <a:latin typeface="Calibri"/>
              </a:rPr>
              <a:t>▸  Relyativizm axloqni tabiat, jamiyat, madaniyat, irsiy moyillik kabilardan chiqarishga urinadi.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Absolyutizm</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Axloq o‘ziga to‘q, asos talab qilmaydi</a:t>
            </a:r>
          </a:p>
          <a:p>
            <a:pPr algn="l">
              <a:spcAft>
                <a:spcPts val="700"/>
              </a:spcAft>
            </a:pPr>
            <a:r>
              <a:rPr sz="1500" b="1">
                <a:solidFill>
                  <a:srgbClr val="C9A227"/>
                </a:solidFill>
                <a:latin typeface="Calibri"/>
              </a:rPr>
              <a:t>●  </a:t>
            </a:r>
            <a:r>
              <a:rPr sz="1500" b="0">
                <a:solidFill>
                  <a:srgbClr val="1F2937"/>
                </a:solidFill>
                <a:latin typeface="Calibri"/>
              </a:rPr>
              <a:t>Boshqa sohadan kelib chiqmaydi</a:t>
            </a:r>
          </a:p>
          <a:p>
            <a:pPr algn="l">
              <a:spcAft>
                <a:spcPts val="700"/>
              </a:spcAft>
            </a:pPr>
            <a:r>
              <a:rPr sz="1500" b="1">
                <a:solidFill>
                  <a:srgbClr val="C9A227"/>
                </a:solidFill>
                <a:latin typeface="Calibri"/>
              </a:rPr>
              <a:t>●  </a:t>
            </a:r>
            <a:r>
              <a:rPr sz="1500" b="0">
                <a:solidFill>
                  <a:srgbClr val="1F2937"/>
                </a:solidFill>
                <a:latin typeface="Calibri"/>
              </a:rPr>
              <a:t>Vakili: I. Kant</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Relyativizm</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Axloq boshqa sohalardan chiqariladi</a:t>
            </a:r>
          </a:p>
          <a:p>
            <a:pPr algn="l">
              <a:spcAft>
                <a:spcPts val="700"/>
              </a:spcAft>
            </a:pPr>
            <a:r>
              <a:rPr sz="1500" b="1">
                <a:solidFill>
                  <a:srgbClr val="C9A227"/>
                </a:solidFill>
                <a:latin typeface="Calibri"/>
              </a:rPr>
              <a:t>●  </a:t>
            </a:r>
            <a:r>
              <a:rPr sz="1500" b="0">
                <a:solidFill>
                  <a:srgbClr val="1F2937"/>
                </a:solidFill>
                <a:latin typeface="Calibri"/>
              </a:rPr>
              <a:t>Tabiat, jamiyat, madaniyat, irsiyat</a:t>
            </a:r>
          </a:p>
          <a:p>
            <a:pPr algn="l">
              <a:spcAft>
                <a:spcPts val="700"/>
              </a:spcAft>
            </a:pPr>
            <a:r>
              <a:rPr sz="1500" b="1">
                <a:solidFill>
                  <a:srgbClr val="C9A227"/>
                </a:solidFill>
                <a:latin typeface="Calibri"/>
              </a:rPr>
              <a:t>●  </a:t>
            </a:r>
            <a:r>
              <a:rPr sz="1500" b="0">
                <a:solidFill>
                  <a:srgbClr val="1F2937"/>
                </a:solidFill>
                <a:latin typeface="Calibri"/>
              </a:rPr>
              <a:t>Matnda vakil nomi ko‘rsatilmagan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yondashuv solishtirmasi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Shopengauer va irratsionalizm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Shopengauer 19-asr boshida klassik tasavvurlarni va an’anaviy etikaning asosiy g‘oyalarini tanqid qilib, irratsionalistik yo‘nalishga asos soldi.</a:t>
            </a:r>
          </a:p>
          <a:p>
            <a:pPr>
              <a:spcAft>
                <a:spcPts val="1200"/>
              </a:spcAft>
            </a:pPr>
            <a:r>
              <a:rPr sz="2200">
                <a:solidFill>
                  <a:srgbClr val="1F2937"/>
                </a:solidFill>
                <a:latin typeface="Calibri"/>
              </a:rPr>
              <a:t>▸  U ikki g‘oyani inkor etdi: inson oqilona va o‘zini nazorat qila oladi; inson boshqalar farovonligiga intiladi.</a:t>
            </a:r>
          </a:p>
          <a:p>
            <a:pPr>
              <a:spcAft>
                <a:spcPts val="1200"/>
              </a:spcAft>
            </a:pPr>
            <a:r>
              <a:rPr sz="2200">
                <a:solidFill>
                  <a:srgbClr val="1F2937"/>
                </a:solidFill>
                <a:latin typeface="Calibri"/>
              </a:rPr>
              <a:t>▸  Uning fikricha, dunyoni aql emas, ongsiz «iroda» boshqaradi. Iroda «yovuz», «egoistik» va «buzuq» deb ta’riflanadi.</a:t>
            </a:r>
          </a:p>
          <a:p>
            <a:pPr>
              <a:spcAft>
                <a:spcPts val="1200"/>
              </a:spcAft>
            </a:pPr>
            <a:r>
              <a:rPr sz="2200">
                <a:solidFill>
                  <a:srgbClr val="1F2937"/>
                </a:solidFill>
                <a:latin typeface="Calibri"/>
              </a:rPr>
              <a:t>▸  Yondashuv: insonni idealizatsiya qilmaslik, o‘zgartirishga urinmaslik, uni qanday bo‘lsa shunday qabul qilish.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normativ etika nima? Javob: qadriyatni xulq-atvor normasiga aylantirishga, hayotda qo‘llanadigan ideal izlashga yo‘nalgan etika.</a:t>
            </a:r>
          </a:p>
          <a:p>
            <a:pPr>
              <a:spcAft>
                <a:spcPts val="1200"/>
              </a:spcAft>
            </a:pPr>
            <a:r>
              <a:rPr sz="2200">
                <a:solidFill>
                  <a:srgbClr val="1F2937"/>
                </a:solidFill>
                <a:latin typeface="Calibri"/>
              </a:rPr>
              <a:t>▸  2-savol: Kant qaysi yo‘nalish vakili? Javob: absolyutizm, chunki u axloqni o‘ziga to‘q va boshqa sohalarga asos deb bilgan.</a:t>
            </a:r>
          </a:p>
          <a:p>
            <a:pPr>
              <a:spcAft>
                <a:spcPts val="1200"/>
              </a:spcAft>
            </a:pPr>
            <a:r>
              <a:rPr sz="2200">
                <a:solidFill>
                  <a:srgbClr val="1F2937"/>
                </a:solidFill>
                <a:latin typeface="Calibri"/>
              </a:rPr>
              <a:t>▸  3-savol: Shopengauer qaysi ikki g‘oyaga qarshi chiqdi? Javob: inson oqilonaligi va uning yaxshi fazilatliligi g‘oyasiga.</a:t>
            </a:r>
          </a:p>
          <a:p>
            <a:pPr>
              <a:spcAft>
                <a:spcPts val="1200"/>
              </a:spcAft>
            </a:pPr>
            <a:r>
              <a:rPr sz="2200">
                <a:solidFill>
                  <a:srgbClr val="1F2937"/>
                </a:solidFill>
                <a:latin typeface="Calibri"/>
              </a:rPr>
              <a:t>▸  Diqqat: normativlikni axloq o‘rgatish yoki diniy targ‘ibot bilan adashtirmang; normativ dasturlar tajriba va mantiqqa tayanadi.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Axloq psixologiyasi va sotsiologiyasi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Nitsshe va Freyd Shopengauer kontseptsiyasini batafsil rivojlantirdi.</a:t>
            </a:r>
          </a:p>
          <a:p>
            <a:pPr>
              <a:spcAft>
                <a:spcPts val="800"/>
              </a:spcAft>
            </a:pPr>
            <a:r>
              <a:rPr sz="1800">
                <a:solidFill>
                  <a:srgbClr val="1F2937"/>
                </a:solidFill>
                <a:latin typeface="Calibri"/>
              </a:rPr>
              <a:t>▸  Ular xulq-atvorning yashirin, ongsiz jihatlariga e’tibor qaratdi. Bu axloq psixologiyasiga olib keldi.</a:t>
            </a:r>
          </a:p>
          <a:p>
            <a:pPr>
              <a:spcAft>
                <a:spcPts val="800"/>
              </a:spcAft>
            </a:pPr>
            <a:r>
              <a:rPr sz="1800">
                <a:solidFill>
                  <a:srgbClr val="1F2937"/>
                </a:solidFill>
                <a:latin typeface="Calibri"/>
              </a:rPr>
              <a:t>▸  An’anaviy tasavvurlardan chiqish axloq sotsiologiyasida ifodalandi. Uning vakili Veber.</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Axloq psixologiyasi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Vakillari: Nitsshe, Freyd</a:t>
            </a:r>
          </a:p>
          <a:p>
            <a:pPr algn="l">
              <a:spcAft>
                <a:spcPts val="700"/>
              </a:spcAft>
            </a:pPr>
            <a:r>
              <a:rPr sz="1500" b="1">
                <a:solidFill>
                  <a:srgbClr val="C9A227"/>
                </a:solidFill>
                <a:latin typeface="Calibri"/>
              </a:rPr>
              <a:t>●  </a:t>
            </a:r>
            <a:r>
              <a:rPr sz="1500" b="0">
                <a:solidFill>
                  <a:srgbClr val="1F2937"/>
                </a:solidFill>
                <a:latin typeface="Calibri"/>
              </a:rPr>
              <a:t>Xulq-atvorning ongsiz jihatlari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Axloq sotsiologiyasi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Vakili: Veber</a:t>
            </a:r>
          </a:p>
          <a:p>
            <a:pPr algn="l">
              <a:spcAft>
                <a:spcPts val="700"/>
              </a:spcAft>
            </a:pPr>
            <a:r>
              <a:rPr sz="1500" b="1">
                <a:solidFill>
                  <a:srgbClr val="C9A227"/>
                </a:solidFill>
                <a:latin typeface="Calibri"/>
              </a:rPr>
              <a:t>●  </a:t>
            </a:r>
            <a:r>
              <a:rPr sz="1500" b="0">
                <a:solidFill>
                  <a:srgbClr val="1F2937"/>
                </a:solidFill>
                <a:latin typeface="Calibri"/>
              </a:rPr>
              <a:t>Protestant xo‘jalik etikasining roli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yangi yo‘nalish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Metaetika va deskriptiv 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Mur nazariy etikani normativ etikadan ajratdi: axloqiy mulohaza faktlardan kelib chiqmaydi.</a:t>
            </a:r>
          </a:p>
          <a:p>
            <a:pPr>
              <a:spcAft>
                <a:spcPts val="800"/>
              </a:spcAft>
            </a:pPr>
            <a:r>
              <a:rPr sz="1800">
                <a:solidFill>
                  <a:srgbClr val="1F2937"/>
                </a:solidFill>
                <a:latin typeface="Calibri"/>
              </a:rPr>
              <a:t>▸  Metaetika normativ vazifadan, javobgarlikdan va amaliy hayot ehtiyojlaridan voz kechdi.</a:t>
            </a:r>
          </a:p>
          <a:p>
            <a:pPr>
              <a:spcAft>
                <a:spcPts val="800"/>
              </a:spcAft>
            </a:pPr>
            <a:r>
              <a:rPr sz="1800">
                <a:solidFill>
                  <a:srgbClr val="1F2937"/>
                </a:solidFill>
                <a:latin typeface="Calibri"/>
              </a:rPr>
              <a:t>▸  Deskriptiv etika (inglizcha describe — tasvirlash) xulq-atvorni qoida belgilamay tasvirlaydi.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Metaetika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Axloq tilini mantiqiy tahlil qiladi</a:t>
            </a:r>
          </a:p>
          <a:p>
            <a:pPr algn="l">
              <a:spcAft>
                <a:spcPts val="700"/>
              </a:spcAft>
            </a:pPr>
            <a:r>
              <a:rPr sz="1500" b="1">
                <a:solidFill>
                  <a:srgbClr val="C9A227"/>
                </a:solidFill>
                <a:latin typeface="Calibri"/>
              </a:rPr>
              <a:t>●  </a:t>
            </a:r>
            <a:r>
              <a:rPr sz="1500" b="0">
                <a:solidFill>
                  <a:srgbClr val="1F2937"/>
                </a:solidFill>
                <a:latin typeface="Calibri"/>
              </a:rPr>
              <a:t>Normativ funksiyadan voz kechgan</a:t>
            </a:r>
          </a:p>
          <a:p>
            <a:pPr algn="l">
              <a:spcAft>
                <a:spcPts val="700"/>
              </a:spcAft>
            </a:pPr>
            <a:r>
              <a:rPr sz="1500" b="1">
                <a:solidFill>
                  <a:srgbClr val="C9A227"/>
                </a:solidFill>
                <a:latin typeface="Calibri"/>
              </a:rPr>
              <a:t>●  </a:t>
            </a:r>
            <a:r>
              <a:rPr sz="1500" b="0">
                <a:solidFill>
                  <a:srgbClr val="1F2937"/>
                </a:solidFill>
                <a:latin typeface="Calibri"/>
              </a:rPr>
              <a:t>XX asr boshi, asoschisi D. Mur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Deskriptiv etika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Xulq-atvorni empirik tavsiflaydi</a:t>
            </a:r>
          </a:p>
          <a:p>
            <a:pPr algn="l">
              <a:spcAft>
                <a:spcPts val="700"/>
              </a:spcAft>
            </a:pPr>
            <a:r>
              <a:rPr sz="1500" b="1">
                <a:solidFill>
                  <a:srgbClr val="C9A227"/>
                </a:solidFill>
                <a:latin typeface="Calibri"/>
              </a:rPr>
              <a:t>●  </a:t>
            </a:r>
            <a:r>
              <a:rPr sz="1500" b="0">
                <a:solidFill>
                  <a:srgbClr val="1F2937"/>
                </a:solidFill>
                <a:latin typeface="Calibri"/>
              </a:rPr>
              <a:t>Hech qanday qoida belgilamaydi</a:t>
            </a:r>
          </a:p>
          <a:p>
            <a:pPr algn="l">
              <a:spcAft>
                <a:spcPts val="700"/>
              </a:spcAft>
            </a:pPr>
            <a:r>
              <a:rPr sz="1500" b="1">
                <a:solidFill>
                  <a:srgbClr val="C9A227"/>
                </a:solidFill>
                <a:latin typeface="Calibri"/>
              </a:rPr>
              <a:t>●  </a:t>
            </a:r>
            <a:r>
              <a:rPr sz="1500" b="0">
                <a:solidFill>
                  <a:srgbClr val="1F2937"/>
                </a:solidFill>
                <a:latin typeface="Calibri"/>
              </a:rPr>
              <a:t>Turli davr va madaniyat odatlari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Metaetika va deskriptiv etika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yo‘nalishlarni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O‘quv misoli: ikki talaba bir xil xatti-harakatni baholaydi. Biri uni madaniyat odatiga ko‘ra oqlaydi, ikkinchisi umumiy talabga ko‘ra rad etadi.</a:t>
            </a:r>
          </a:p>
          <a:p>
            <a:pPr>
              <a:spcAft>
                <a:spcPts val="1200"/>
              </a:spcAft>
            </a:pPr>
            <a:r>
              <a:rPr sz="2200">
                <a:solidFill>
                  <a:srgbClr val="1F2937"/>
                </a:solidFill>
                <a:latin typeface="Calibri"/>
              </a:rPr>
              <a:t>▸  Absolyutizm (Kant): axloq o‘ziga to‘q qadriyat, boshqa sohadan kelib chiqmaydi, huquq, din, san’at va siyosatga asos bo‘ladi.</a:t>
            </a:r>
          </a:p>
          <a:p>
            <a:pPr>
              <a:spcAft>
                <a:spcPts val="1200"/>
              </a:spcAft>
            </a:pPr>
            <a:r>
              <a:rPr sz="2200">
                <a:solidFill>
                  <a:srgbClr val="1F2937"/>
                </a:solidFill>
                <a:latin typeface="Calibri"/>
              </a:rPr>
              <a:t>▸  Relyativizm axloqni tabiat, ijtimoiy voqelik, nufuzli manbalar, irsiy moyillik va madaniyatdan chiqarishga harakat qiladi.</a:t>
            </a:r>
          </a:p>
          <a:p>
            <a:pPr>
              <a:spcAft>
                <a:spcPts val="1200"/>
              </a:spcAft>
            </a:pPr>
            <a:r>
              <a:rPr sz="2200">
                <a:solidFill>
                  <a:srgbClr val="1F2937"/>
                </a:solidFill>
                <a:latin typeface="Calibri"/>
              </a:rPr>
              <a:t>▸  Savol: har bir talaba qaysi yo‘nalish pozitsiyasida turibdi va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1.2 «An’anaviy etika muammolari»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etika va bioetika rivojlanish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XX asr 70-yillarida transplantologiya va gen injeneriyasi yangi axloqiy muammolarni keltirib chiqardi.</a:t>
            </a:r>
          </a:p>
          <a:p>
            <a:pPr>
              <a:spcAft>
                <a:spcPts val="800"/>
              </a:spcAft>
            </a:pPr>
            <a:r>
              <a:rPr sz="1800">
                <a:solidFill>
                  <a:srgbClr val="1F2937"/>
                </a:solidFill>
                <a:latin typeface="Calibri"/>
              </a:rPr>
              <a:t>▸  Natsist shifokorlar jinoyatlari ochilgach, 1947-yilda Nyurnberg kodeksi qabul qilindi.</a:t>
            </a:r>
          </a:p>
          <a:p>
            <a:pPr>
              <a:spcAft>
                <a:spcPts val="800"/>
              </a:spcAft>
            </a:pPr>
            <a:r>
              <a:rPr sz="1800">
                <a:solidFill>
                  <a:srgbClr val="1F2937"/>
                </a:solidFill>
                <a:latin typeface="Calibri"/>
              </a:rPr>
              <a:t>▸  Potter 1969-yilda «bioetika» atamasini ilmiy muomalaga kiritgan va asoschi hisoblanadi.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 V asr: sofistlar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1927: Yar, bioetik imperativ</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1947: Nyurnberg kodeksi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1969–1971: Potter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1978: Bioetika entsiklopediyasi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Bioetika tarixi: vaqt chizig‘i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(8–14-betlar)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Sofistlar va Fritz Yarning bioetik imperativi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Miloddan avvalgi V asrda sofistlar madaniyat qonunlari tabiat qonunlaridan jiddiy farq qilishini kashf etdi.</a:t>
            </a:r>
          </a:p>
          <a:p>
            <a:pPr>
              <a:spcAft>
                <a:spcPts val="1200"/>
              </a:spcAft>
            </a:pPr>
            <a:r>
              <a:rPr sz="2200">
                <a:solidFill>
                  <a:srgbClr val="1F2937"/>
                </a:solidFill>
                <a:latin typeface="Calibri"/>
              </a:rPr>
              <a:t>▸  Tabiiy ehtiyojlar hamma joyda bir xil, ammo odat, qonun va xulqlar xilma-xil va o‘zgaruvchan ekani ta’kidlandi.</a:t>
            </a:r>
          </a:p>
          <a:p>
            <a:pPr>
              <a:spcAft>
                <a:spcPts val="1200"/>
              </a:spcAft>
            </a:pPr>
            <a:r>
              <a:rPr sz="2200">
                <a:solidFill>
                  <a:srgbClr val="1F2937"/>
                </a:solidFill>
                <a:latin typeface="Calibri"/>
              </a:rPr>
              <a:t>▸  Shu sababli turli qonun va urf-odatlarni solishtirib, eng yaxshisini aniqlash muammosi paydo bo‘ldi.</a:t>
            </a:r>
          </a:p>
          <a:p>
            <a:pPr>
              <a:spcAft>
                <a:spcPts val="1200"/>
              </a:spcAft>
            </a:pPr>
            <a:r>
              <a:rPr sz="2200">
                <a:solidFill>
                  <a:srgbClr val="1F2937"/>
                </a:solidFill>
                <a:latin typeface="Calibri"/>
              </a:rPr>
              <a:t>▸  Nemis pastori Fritz Yar 1927-yilda Kantning qat’iy imperativiga qarshi bioetik imperativni bayon etdi: hayvon va o‘simliklarga ham hurmat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(8–14-betlar)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Nyurnberg kodeksi (1947)</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Natsist jinoyatlari ochildi: yarim millionga yaqin odam sterilizatsiya qilindi, 100 mingdan ortiq ruhiy bemor zo‘rlik bilan evtanaziya qilindi.</a:t>
            </a:r>
          </a:p>
          <a:p>
            <a:pPr>
              <a:spcAft>
                <a:spcPts val="800"/>
              </a:spcAft>
            </a:pPr>
            <a:r>
              <a:rPr sz="1600">
                <a:solidFill>
                  <a:srgbClr val="1F2937"/>
                </a:solidFill>
                <a:latin typeface="Calibri"/>
              </a:rPr>
              <a:t>▸  Bu 1947-yilda odamlarda tibbiy tajriba o‘tkazishning 10 ta axloqiy qoidasi sifatida qabul qilindi va bioetika bo‘yicha birinchi xalqaro hujjat bo‘ldi.</a:t>
            </a:r>
          </a:p>
          <a:p>
            <a:pPr>
              <a:spcAft>
                <a:spcPts val="800"/>
              </a:spcAft>
            </a:pPr>
            <a:r>
              <a:rPr sz="1600">
                <a:solidFill>
                  <a:srgbClr val="1F2937"/>
                </a:solidFill>
                <a:latin typeface="Calibri"/>
              </a:rPr>
              <a:t>▸  Kodeks Xalqaro harbiy tribunal materiallariga asoslangan va natsist shifokorlariga chiqarilgan hukmga ilova bo‘lgan.</a:t>
            </a:r>
          </a:p>
          <a:p>
            <a:pPr>
              <a:spcAft>
                <a:spcPts val="800"/>
              </a:spcAft>
            </a:pPr>
            <a:r>
              <a:rPr sz="1600">
                <a:solidFill>
                  <a:srgbClr val="1F2937"/>
                </a:solidFill>
                <a:latin typeface="Calibri"/>
              </a:rPr>
              <a:t>▸  Kodeksdagi tamoyillar qonun talabi emas, axloq normalari edi va majburiy hisoblanmagan.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Kodeks qabul qilindi</a:t>
            </a:r>
          </a:p>
          <a:p>
            <a:pPr algn="l">
              <a:spcAft>
                <a:spcPts val="100"/>
              </a:spcAft>
            </a:pPr>
            <a:r>
              <a:rPr sz="3000" b="1">
                <a:solidFill>
                  <a:srgbClr val="0B1F3A"/>
                </a:solidFill>
                <a:latin typeface="Calibri"/>
              </a:rPr>
              <a:t>1947</a:t>
            </a:r>
            <a:r>
              <a:rPr sz="1500" b="0">
                <a:solidFill>
                  <a:srgbClr val="6B7280"/>
                </a:solidFill>
                <a:latin typeface="Calibri"/>
              </a:rPr>
              <a:t>  yil</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Axloqiy qoidalar</a:t>
            </a:r>
          </a:p>
          <a:p>
            <a:pPr algn="l">
              <a:spcAft>
                <a:spcPts val="100"/>
              </a:spcAft>
            </a:pPr>
            <a:r>
              <a:rPr sz="3000" b="1">
                <a:solidFill>
                  <a:srgbClr val="0B1F3A"/>
                </a:solidFill>
                <a:latin typeface="Calibri"/>
              </a:rPr>
              <a:t>10</a:t>
            </a:r>
            <a:r>
              <a:rPr sz="1500" b="0">
                <a:solidFill>
                  <a:srgbClr val="6B7280"/>
                </a:solidFill>
                <a:latin typeface="Calibri"/>
              </a:rPr>
              <a:t>  ta</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Sterilizatsiya qilingan</a:t>
            </a:r>
          </a:p>
          <a:p>
            <a:pPr algn="l">
              <a:spcAft>
                <a:spcPts val="100"/>
              </a:spcAft>
            </a:pPr>
            <a:r>
              <a:rPr sz="2900" b="1">
                <a:solidFill>
                  <a:srgbClr val="0B1F3A"/>
                </a:solidFill>
                <a:latin typeface="Calibri"/>
              </a:rPr>
              <a:t>~0,5 mln</a:t>
            </a:r>
            <a:r>
              <a:rPr sz="1400" b="0">
                <a:solidFill>
                  <a:srgbClr val="6B7280"/>
                </a:solidFill>
                <a:latin typeface="Calibri"/>
              </a:rPr>
              <a:t>  odam</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Ruhiy bemorlar (evtan.)</a:t>
            </a:r>
          </a:p>
          <a:p>
            <a:pPr algn="l">
              <a:spcAft>
                <a:spcPts val="100"/>
              </a:spcAft>
            </a:pPr>
            <a:r>
              <a:rPr sz="2900" b="1">
                <a:solidFill>
                  <a:srgbClr val="0B1F3A"/>
                </a:solidFill>
                <a:latin typeface="Calibri"/>
              </a:rPr>
              <a:t>100 000+</a:t>
            </a:r>
            <a:r>
              <a:rPr sz="1400" b="0">
                <a:solidFill>
                  <a:srgbClr val="6B7280"/>
                </a:solidFill>
                <a:latin typeface="Calibri"/>
              </a:rPr>
              <a:t>  odam</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Nyurnberg kodeksi raqamlarda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(8–14-betlar)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Van Ranselaer Potter va ‘‘Kelajakka ko‘prik’’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Amerikalik onkolog Van Ranselaer Potter (1911–2001) ‘‘bioetika’’ atamasini ilmiy muomalaga kiritgan; u insonparvar olim sifatida ham tanilgan.</a:t>
            </a:r>
          </a:p>
          <a:p>
            <a:pPr>
              <a:spcAft>
                <a:spcPts val="1200"/>
              </a:spcAft>
            </a:pPr>
            <a:r>
              <a:rPr sz="2200">
                <a:solidFill>
                  <a:srgbClr val="1F2937"/>
                </a:solidFill>
                <a:latin typeface="Calibri"/>
              </a:rPr>
              <a:t>▸  Darslikda atama 1969-yilga bog‘lanadi; ‘‘Bioetika – kelajakka ko‘prik’’ kitobi esa 1971-yilda chiqqan (Muhamedova). Yillar farqini aniqlang.</a:t>
            </a:r>
          </a:p>
          <a:p>
            <a:pPr>
              <a:spcAft>
                <a:spcPts val="1200"/>
              </a:spcAft>
            </a:pPr>
            <a:r>
              <a:rPr sz="2200">
                <a:solidFill>
                  <a:srgbClr val="1F2937"/>
                </a:solidFill>
                <a:latin typeface="Calibri"/>
              </a:rPr>
              <a:t>▸  Maqsad: ‘‘ikki madaniyat’’ — fan va gumanitar bilim — o‘rtasida ko‘prik bo‘ladigan yangi fanni shakllantirish.</a:t>
            </a:r>
          </a:p>
          <a:p>
            <a:pPr>
              <a:spcAft>
                <a:spcPts val="1200"/>
              </a:spcAft>
            </a:pPr>
            <a:r>
              <a:rPr sz="2200">
                <a:solidFill>
                  <a:srgbClr val="1F2937"/>
                </a:solidFill>
                <a:latin typeface="Calibri"/>
              </a:rPr>
              <a:t>▸  Potterning g‘oyasi: Yer yuzida hayotni saqlash uchun gumanitar fanlar va biologiya birlashsin, taraqqiyotning uzoq oqibatlari hisobga olinsin.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 Yuldashev N.M., Saydalixodjayeva O.Z., Saidov A.B., Bioetika, betlar: I qism, 1-bob, 1.1 (8–14-betlar)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Global bioetika: Potter g‘oyasi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Potter bu normalar tizimini global bioetika deb atadi; unda uch yo‘nalish birlashadi.</a:t>
            </a:r>
          </a:p>
          <a:p>
            <a:pPr>
              <a:spcAft>
                <a:spcPts val="800"/>
              </a:spcAft>
            </a:pPr>
            <a:r>
              <a:rPr sz="1800">
                <a:solidFill>
                  <a:srgbClr val="1F2937"/>
                </a:solidFill>
                <a:latin typeface="Calibri"/>
              </a:rPr>
              <a:t>▸  Maqsad — insoniyat tur sifatida uzoq muddat omon qolishi uchun etik normalarni rivojlantirish.</a:t>
            </a:r>
          </a:p>
          <a:p>
            <a:pPr>
              <a:spcAft>
                <a:spcPts val="800"/>
              </a:spcAft>
            </a:pPr>
            <a:r>
              <a:rPr sz="1800">
                <a:solidFill>
                  <a:srgbClr val="1F2937"/>
                </a:solidFill>
                <a:latin typeface="Calibri"/>
              </a:rPr>
              <a:t>▸  Bioetika tibbiyot etikasi va ekoetikani jahon miqyosida bog‘lovchi ko‘prik bo‘lishi lozim.</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Tibbiyot etikasi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Bioetika (ko‘prik)</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Atrof-muhit etikasi (ekoetika)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Global bioetika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Global bioetikaning tarkibi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shakllanish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Bioetika tez ilmiy-texnik taraqqiyot tahdidlariga javoban, asosiy axloqiy qadriyatlarni himoya qilish uchun paydo bo‘lgan yangi madaniy hodisadir.</a:t>
            </a:r>
          </a:p>
          <a:p>
            <a:pPr>
              <a:spcAft>
                <a:spcPts val="800"/>
              </a:spcAft>
            </a:pPr>
            <a:r>
              <a:rPr sz="1600">
                <a:solidFill>
                  <a:srgbClr val="1F2937"/>
                </a:solidFill>
                <a:latin typeface="Calibri"/>
              </a:rPr>
              <a:t>▸  Ob’ektiv sabablar: biologik va tibbiy tadqiqotlar taraqqiyoti, ilmiy-texnik rivojlanish, kompyuter-axborot bumi.</a:t>
            </a:r>
          </a:p>
          <a:p>
            <a:pPr>
              <a:spcAft>
                <a:spcPts val="800"/>
              </a:spcAft>
            </a:pPr>
            <a:r>
              <a:rPr sz="1600">
                <a:solidFill>
                  <a:srgbClr val="1F2937"/>
                </a:solidFill>
                <a:latin typeface="Calibri"/>
              </a:rPr>
              <a:t>▸  Subyektiv sabablar: inson huquqlari va axloqiy mas’uliyatining o‘sishi hamda jahon jarayonlari globallashuvi.</a:t>
            </a:r>
          </a:p>
          <a:p>
            <a:pPr>
              <a:spcAft>
                <a:spcPts val="800"/>
              </a:spcAft>
            </a:pPr>
            <a:r>
              <a:rPr sz="1600">
                <a:solidFill>
                  <a:srgbClr val="1F2937"/>
                </a:solidFill>
                <a:latin typeface="Calibri"/>
              </a:rPr>
              <a:t>▸  Natija: tibbiyotning texnologik qayta jihozlanishi, an’anaviy etikaning o‘zgarishi, shifokor–bemor munosabatini yangicha tushunish.</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Ob’ektiv sabablar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Biologiya va tibbiyotdagi taraqqiyot</a:t>
            </a:r>
          </a:p>
          <a:p>
            <a:pPr algn="l">
              <a:spcAft>
                <a:spcPts val="700"/>
              </a:spcAft>
            </a:pPr>
            <a:r>
              <a:rPr sz="1500" b="1">
                <a:solidFill>
                  <a:srgbClr val="C9A227"/>
                </a:solidFill>
                <a:latin typeface="Calibri"/>
              </a:rPr>
              <a:t>●  </a:t>
            </a:r>
            <a:r>
              <a:rPr sz="1500" b="0">
                <a:solidFill>
                  <a:srgbClr val="1F2937"/>
                </a:solidFill>
                <a:latin typeface="Calibri"/>
              </a:rPr>
              <a:t>Ilmiy-texnik rivojlanish, unifikatsiya</a:t>
            </a:r>
          </a:p>
          <a:p>
            <a:pPr algn="l">
              <a:spcAft>
                <a:spcPts val="700"/>
              </a:spcAft>
            </a:pPr>
            <a:r>
              <a:rPr sz="1500" b="1">
                <a:solidFill>
                  <a:srgbClr val="C9A227"/>
                </a:solidFill>
                <a:latin typeface="Calibri"/>
              </a:rPr>
              <a:t>●  </a:t>
            </a:r>
            <a:r>
              <a:rPr sz="1500" b="0">
                <a:solidFill>
                  <a:srgbClr val="1F2937"/>
                </a:solidFill>
                <a:latin typeface="Calibri"/>
              </a:rPr>
              <a:t>Kompyuter-axborot bumi</a:t>
            </a:r>
          </a:p>
          <a:p>
            <a:pPr algn="l">
              <a:spcAft>
                <a:spcPts val="700"/>
              </a:spcAft>
            </a:pPr>
            <a:r>
              <a:rPr sz="1500" b="1">
                <a:solidFill>
                  <a:srgbClr val="C9A227"/>
                </a:solidFill>
                <a:latin typeface="Calibri"/>
              </a:rPr>
              <a:t>●  </a:t>
            </a:r>
            <a:r>
              <a:rPr sz="1500" b="0">
                <a:solidFill>
                  <a:srgbClr val="1F2937"/>
                </a:solidFill>
                <a:latin typeface="Calibri"/>
              </a:rPr>
              <a:t>Moddiy bazaning texnologik yangilanishi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Subyektiv sabablar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Inson huquqlari kengayishi</a:t>
            </a:r>
          </a:p>
          <a:p>
            <a:pPr algn="l">
              <a:spcAft>
                <a:spcPts val="700"/>
              </a:spcAft>
            </a:pPr>
            <a:r>
              <a:rPr sz="1500" b="1">
                <a:solidFill>
                  <a:srgbClr val="C9A227"/>
                </a:solidFill>
                <a:latin typeface="Calibri"/>
              </a:rPr>
              <a:t>●  </a:t>
            </a:r>
            <a:r>
              <a:rPr sz="1500" b="0">
                <a:solidFill>
                  <a:srgbClr val="1F2937"/>
                </a:solidFill>
                <a:latin typeface="Calibri"/>
              </a:rPr>
              <a:t>Shaxsning axloqiy mas’uliyati oshishi</a:t>
            </a:r>
          </a:p>
          <a:p>
            <a:pPr algn="l">
              <a:spcAft>
                <a:spcPts val="700"/>
              </a:spcAft>
            </a:pPr>
            <a:r>
              <a:rPr sz="1500" b="1">
                <a:solidFill>
                  <a:srgbClr val="C9A227"/>
                </a:solidFill>
                <a:latin typeface="Calibri"/>
              </a:rPr>
              <a:t>●  </a:t>
            </a:r>
            <a:r>
              <a:rPr sz="1500" b="0">
                <a:solidFill>
                  <a:srgbClr val="1F2937"/>
                </a:solidFill>
                <a:latin typeface="Calibri"/>
              </a:rPr>
              <a:t>Madaniyat va kasblar muloqoti kengayishi</a:t>
            </a:r>
          </a:p>
          <a:p>
            <a:pPr algn="l">
              <a:spcAft>
                <a:spcPts val="700"/>
              </a:spcAft>
            </a:pPr>
            <a:r>
              <a:rPr sz="1500" b="1">
                <a:solidFill>
                  <a:srgbClr val="C9A227"/>
                </a:solidFill>
                <a:latin typeface="Calibri"/>
              </a:rPr>
              <a:t>●  </a:t>
            </a:r>
            <a:r>
              <a:rPr sz="1500" b="0">
                <a:solidFill>
                  <a:srgbClr val="1F2937"/>
                </a:solidFill>
                <a:latin typeface="Calibri"/>
              </a:rPr>
              <a:t>Jahon jarayonlarining globallashuvi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Bioetika nima uchun paydo bo‘ldi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10, 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qo‘mitalari va O‘zbekistonda bioetika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Bu muammolar bilan doimiy shug‘ullanuvchi qo‘mitalar UNESKO, JSST, Jahon tibbiyot uyushmasi va Yevropa Kengashi tarkibida bor.</a:t>
            </a:r>
          </a:p>
          <a:p>
            <a:pPr>
              <a:spcAft>
                <a:spcPts val="1200"/>
              </a:spcAft>
            </a:pPr>
            <a:r>
              <a:rPr sz="2200">
                <a:solidFill>
                  <a:srgbClr val="1F2937"/>
                </a:solidFill>
                <a:latin typeface="Calibri"/>
              </a:rPr>
              <a:t>▸  Ko‘p mamlakatlarda bioetika qo‘mitalari bir necha pog‘onada ishlaydi: markaziy, mintaqaviy va mahalliy (kasalxona yoki institutdagi) qo‘mitalar.</a:t>
            </a:r>
          </a:p>
          <a:p>
            <a:pPr>
              <a:spcAft>
                <a:spcPts val="1200"/>
              </a:spcAft>
            </a:pPr>
            <a:r>
              <a:rPr sz="2200">
                <a:solidFill>
                  <a:srgbClr val="1F2937"/>
                </a:solidFill>
                <a:latin typeface="Calibri"/>
              </a:rPr>
              <a:t>▸  O‘zbekiston Respublikasi Sog‘liqni saqlash vazirligi (SSV) qoshida ham bioetika qo‘mitasi tuzilgan.</a:t>
            </a:r>
          </a:p>
          <a:p>
            <a:pPr>
              <a:spcAft>
                <a:spcPts val="1200"/>
              </a:spcAft>
            </a:pPr>
            <a:r>
              <a:rPr sz="2200">
                <a:solidFill>
                  <a:srgbClr val="1F2937"/>
                </a:solidFill>
                <a:latin typeface="Calibri"/>
              </a:rPr>
              <a:t>▸  Ibn Sino xalqaro jamg‘armasi qoshida O‘zbekiston Respublikasining bioetika milliy qo‘mitasi tashkil etilgan.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Muqaddima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 qo‘mitalarning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Qo‘mitalar shifokorlar, bemorlar va qarindoshlarning o‘zaro ta’sirini ta’minlaydi; murakkab holatlarda faylasuf, ruhoniy, huquqshunos ishtirok etadi.</a:t>
            </a:r>
          </a:p>
          <a:p>
            <a:pPr>
              <a:spcAft>
                <a:spcPts val="800"/>
              </a:spcAft>
            </a:pPr>
            <a:r>
              <a:rPr sz="1600">
                <a:solidFill>
                  <a:srgbClr val="1F2937"/>
                </a:solidFill>
                <a:latin typeface="Calibri"/>
              </a:rPr>
              <a:t>▸  Qo‘mitalar tuzish pretsedenti AQShga tegishli: dori tadqiqotidagi axloqiy buzilishlarga norozilik sabab bo‘lgan.</a:t>
            </a:r>
          </a:p>
          <a:p>
            <a:pPr>
              <a:spcAft>
                <a:spcPts val="800"/>
              </a:spcAft>
            </a:pPr>
            <a:r>
              <a:rPr sz="1600">
                <a:solidFill>
                  <a:srgbClr val="1F2937"/>
                </a:solidFill>
                <a:latin typeface="Calibri"/>
              </a:rPr>
              <a:t>▸  O‘zbekistonda birinchi milliy etika qo‘mitasi SSV huzurida 2000-yilda tashkil etilgan; rahbari akademik M.S. Abdullaxodjayeva.</a:t>
            </a:r>
          </a:p>
          <a:p>
            <a:pPr>
              <a:spcAft>
                <a:spcPts val="800"/>
              </a:spcAft>
            </a:pPr>
            <a:r>
              <a:rPr sz="1600">
                <a:solidFill>
                  <a:srgbClr val="1F2937"/>
                </a:solidFill>
                <a:latin typeface="Calibri"/>
              </a:rPr>
              <a:t>▸  Hozir AQSh va Yevropada har qanday klinik yoki tibbiy tadqiqot faqat qo‘mita tasdig‘idan keyin o‘tkazilishi mumkin.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Muhokama</a:t>
            </a:r>
          </a:p>
          <a:p>
            <a:pPr algn="l">
              <a:spcAft>
                <a:spcPts val="200"/>
              </a:spcAft>
            </a:pPr>
            <a:r>
              <a:rPr sz="1400" b="0">
                <a:solidFill>
                  <a:srgbClr val="1F2937"/>
                </a:solidFill>
                <a:latin typeface="Calibri"/>
              </a:rPr>
              <a:t>Inson tanasiga noan’anaviy aralashuvning axloqiy muammolari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Nazorat</a:t>
            </a:r>
          </a:p>
          <a:p>
            <a:pPr algn="l">
              <a:spcAft>
                <a:spcPts val="200"/>
              </a:spcAft>
            </a:pPr>
            <a:r>
              <a:rPr sz="1400" b="0">
                <a:solidFill>
                  <a:srgbClr val="1F2937"/>
                </a:solidFill>
                <a:latin typeface="Calibri"/>
              </a:rPr>
              <a:t>Bemor avtonomiyasi va huquqlariga rioya etilishi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Maslahat</a:t>
            </a:r>
          </a:p>
          <a:p>
            <a:pPr algn="l">
              <a:spcAft>
                <a:spcPts val="200"/>
              </a:spcAft>
            </a:pPr>
            <a:r>
              <a:rPr sz="1400" b="0">
                <a:solidFill>
                  <a:srgbClr val="1F2937"/>
                </a:solidFill>
                <a:latin typeface="Calibri"/>
              </a:rPr>
              <a:t>Evtanaziya, abort, transplantologiya, surrogatlik, klinik sinovlar</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Ta’lim</a:t>
            </a:r>
          </a:p>
          <a:p>
            <a:pPr algn="l">
              <a:spcAft>
                <a:spcPts val="200"/>
              </a:spcAft>
            </a:pPr>
            <a:r>
              <a:rPr sz="1400" b="0">
                <a:solidFill>
                  <a:srgbClr val="1F2937"/>
                </a:solidFill>
                <a:latin typeface="Calibri"/>
              </a:rPr>
              <a:t>Tibbiy xodimlarning huquqiy ta’limi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Siyosat</a:t>
            </a:r>
          </a:p>
          <a:p>
            <a:pPr algn="l">
              <a:spcAft>
                <a:spcPts val="200"/>
              </a:spcAft>
            </a:pPr>
            <a:r>
              <a:rPr sz="1400" b="0">
                <a:solidFill>
                  <a:srgbClr val="1F2937"/>
                </a:solidFill>
                <a:latin typeface="Calibri"/>
              </a:rPr>
              <a:t>Shifoxonada bioetika siyosatini shakllantirish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Qo‘mitalarning 5 vazifasi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19, 20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Nyurnberg saboqlari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Natsist jinoyatlari ochildi: yarim millionga yaqin odam sterilizatsiya, 100 mingdan ortiq davolab bo‘lmaydigan ruhiy bemor zo‘rlik bilan evtanaziya qilingan.</a:t>
            </a:r>
          </a:p>
          <a:p>
            <a:pPr>
              <a:spcAft>
                <a:spcPts val="1200"/>
              </a:spcAft>
            </a:pPr>
            <a:r>
              <a:rPr sz="2200">
                <a:solidFill>
                  <a:srgbClr val="1F2937"/>
                </a:solidFill>
                <a:latin typeface="Calibri"/>
              </a:rPr>
              <a:t>▸  Konsentratsion lager mahbuslarida o‘ta xavfli tibbiy tajribalar o‘tkazilgan; tibbiyot amaliyoti «etik nol» darajasiga tushib qolgan.</a:t>
            </a:r>
          </a:p>
          <a:p>
            <a:pPr>
              <a:spcAft>
                <a:spcPts val="1200"/>
              </a:spcAft>
            </a:pPr>
            <a:r>
              <a:rPr sz="2200">
                <a:solidFill>
                  <a:srgbClr val="1F2937"/>
                </a:solidFill>
                <a:latin typeface="Calibri"/>
              </a:rPr>
              <a:t>▸  Javob sifatida 1947-yilda Nyurnberg kodeksi (10 ta axloqiy qoida) qabul qilingan; u birinchi xalqaro hujjat bo‘ldi, lekin qonun emas, axloq normasi edi.</a:t>
            </a:r>
          </a:p>
          <a:p>
            <a:pPr>
              <a:spcAft>
                <a:spcPts val="1200"/>
              </a:spcAft>
            </a:pPr>
            <a:r>
              <a:rPr sz="2200">
                <a:solidFill>
                  <a:srgbClr val="1F2937"/>
                </a:solidFill>
                <a:latin typeface="Calibri"/>
              </a:rPr>
              <a:t>▸  Savol: kodeks majburiy qonun emas, axloq normasi sifatida qabul qilindi. Nega shunday bo‘ldi va bu olimlar mas’uliyatiga qanday ta’sir qildi?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«Bioetika» mavzusi (8-14-betlar); Muhamedova Z.M., Bioetika, betlar: I bob, 1.3 «Bioetika — yangicha dunyoqarash, rahmdillik haqidagi yangi fan»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«Bioetika» atamasi 1927-yilda ilk bor kim tomonidan ishlatilgan?</a:t>
            </a:r>
          </a:p>
          <a:p>
            <a:pPr>
              <a:spcAft>
                <a:spcPts val="1200"/>
              </a:spcAft>
            </a:pPr>
            <a:r>
              <a:rPr sz="2200">
                <a:solidFill>
                  <a:srgbClr val="1F2937"/>
                </a:solidFill>
                <a:latin typeface="Calibri"/>
              </a:rPr>
              <a:t>▸  Savol 2: Nyurnberg kodeksi (1947) odamlarda tibbiy tajriba o‘tkazishning nechta axloqiy qoidasidan iborat?</a:t>
            </a:r>
          </a:p>
          <a:p>
            <a:pPr>
              <a:spcAft>
                <a:spcPts val="1200"/>
              </a:spcAft>
            </a:pPr>
            <a:r>
              <a:rPr sz="2200">
                <a:solidFill>
                  <a:srgbClr val="1F2937"/>
                </a:solidFill>
                <a:latin typeface="Calibri"/>
              </a:rPr>
              <a:t>▸  Savol 3: Potter «bioetika» atamasini qaysi kitobida birinchi marta qo‘llagan va u qachon chop etilgan?</a:t>
            </a:r>
          </a:p>
          <a:p>
            <a:pPr>
              <a:spcAft>
                <a:spcPts val="1200"/>
              </a:spcAft>
            </a:pPr>
            <a:r>
              <a:rPr sz="2200">
                <a:solidFill>
                  <a:srgbClr val="1F2937"/>
                </a:solidFill>
                <a:latin typeface="Calibri"/>
              </a:rPr>
              <a:t>▸  Diqqat: Yar (1927) ≠ Potter. Yar atamani birinchi qo‘llagan; Potter 1969-yilda uni ilmiy muomalaga kiritgan, kitobi esa 1971-yilda chiqqan.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I qism, 1-bob, 1.1 «Bioetika» mavzusi (8-14-betlar); Muhamedova Z.M., Bioetika, betlar: I bob, 1.1 «Bioetika amaliy etika sifatida»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Antropotsentrizm dunyoqarashi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Faqat inson qimmatli, qolgan mavjudotlar mustaqil qiymatga ega emas: «hamma narsa inson uchun».</a:t>
            </a:r>
          </a:p>
          <a:p>
            <a:pPr>
              <a:spcAft>
                <a:spcPts val="800"/>
              </a:spcAft>
            </a:pPr>
            <a:r>
              <a:rPr sz="1800">
                <a:solidFill>
                  <a:srgbClr val="1F2937"/>
                </a:solidFill>
                <a:latin typeface="Calibri"/>
              </a:rPr>
              <a:t>▸  Aristotel maktabi hayvonlarni inson uchun yaratilgan deb bilgan; izdoshi Ksenofont buni soddalashtirgan.</a:t>
            </a:r>
          </a:p>
          <a:p>
            <a:pPr>
              <a:spcAft>
                <a:spcPts val="800"/>
              </a:spcAft>
            </a:pPr>
            <a:r>
              <a:rPr sz="1800">
                <a:solidFill>
                  <a:srgbClr val="1F2937"/>
                </a:solidFill>
                <a:latin typeface="Calibri"/>
              </a:rPr>
              <a:t>▸  Eqotsentrizm, irqchilik va millatchilikka yaqin; tabiatga «ombor» deb qarashga o‘rgatgan.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Hamma narsa inson uchun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Tabiat — inson ombori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Atrof muhit ifloslanishi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Global ekologik halokat xavfi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Biotsentrizm zarurati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Antropotsentrizm oqibati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 «Bioetika — yangicha dunyoqarash, rahmdillik haqidagi yangi fan»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Meyer tipologiyasi: dunyoqarash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J.R. Meyer dunyoqarashni axloqiy burch kimga qaratilganiga qarab turlarga ajratadi.</a:t>
            </a:r>
          </a:p>
          <a:p>
            <a:pPr>
              <a:spcAft>
                <a:spcPts val="800"/>
              </a:spcAft>
            </a:pPr>
            <a:r>
              <a:rPr sz="1800">
                <a:solidFill>
                  <a:srgbClr val="1F2937"/>
                </a:solidFill>
                <a:latin typeface="Calibri"/>
              </a:rPr>
              <a:t>▸  Antropotsentrizmda faqat inson qimmatli, biotsentrizmda esa «bios» (hayot) diqqat markazida turadi.</a:t>
            </a:r>
          </a:p>
          <a:p>
            <a:pPr>
              <a:spcAft>
                <a:spcPts val="800"/>
              </a:spcAft>
            </a:pPr>
            <a:r>
              <a:rPr sz="1800">
                <a:solidFill>
                  <a:srgbClr val="1F2937"/>
                </a:solidFill>
                <a:latin typeface="Calibri"/>
              </a:rPr>
              <a:t>▸  Diqqat: antropotsentrizm ≠ biotsentrizm. Biotsentrizmda burch doirasi odamlar bilan cheklanmaydi.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Sotsiotsentrizm</a:t>
            </a:r>
          </a:p>
          <a:p>
            <a:pPr algn="l">
              <a:spcAft>
                <a:spcPts val="200"/>
              </a:spcAft>
            </a:pPr>
            <a:r>
              <a:rPr sz="1400" b="0">
                <a:solidFill>
                  <a:srgbClr val="1F2937"/>
                </a:solidFill>
                <a:latin typeface="Calibri"/>
              </a:rPr>
              <a:t>Burch guruhning barcha a’zolariga</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Patotsentrizm</a:t>
            </a:r>
          </a:p>
          <a:p>
            <a:pPr algn="l">
              <a:spcAft>
                <a:spcPts val="200"/>
              </a:spcAft>
            </a:pPr>
            <a:r>
              <a:rPr sz="1400" b="0">
                <a:solidFill>
                  <a:srgbClr val="1F2937"/>
                </a:solidFill>
                <a:latin typeface="Calibri"/>
              </a:rPr>
              <a:t>Burch barcha aqlli mavjudotlarga</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Antropotsentrizm</a:t>
            </a:r>
          </a:p>
          <a:p>
            <a:pPr algn="l">
              <a:spcAft>
                <a:spcPts val="200"/>
              </a:spcAft>
            </a:pPr>
            <a:r>
              <a:rPr sz="1400" b="0">
                <a:solidFill>
                  <a:srgbClr val="1F2937"/>
                </a:solidFill>
                <a:latin typeface="Calibri"/>
              </a:rPr>
              <a:t>Burch faqat odamlarga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Biotsentrizm</a:t>
            </a:r>
          </a:p>
          <a:p>
            <a:pPr algn="l">
              <a:spcAft>
                <a:spcPts val="200"/>
              </a:spcAft>
            </a:pPr>
            <a:r>
              <a:rPr sz="1400" b="0">
                <a:solidFill>
                  <a:srgbClr val="1F2937"/>
                </a:solidFill>
                <a:latin typeface="Calibri"/>
              </a:rPr>
              <a:t>Burch barcha tirik mavjudotlarga (bios)</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Axloqiy burch doirasi kengayib boradi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1.3-bo‘lim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Biotsentrizm va ahimsa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Biotsentrizmda yashash huquqi barcha jonzotlarda bor, diqqat markazida faqat inson emas, butun bios turadi. Bios huquqlari qonun bilan himoya qilinishi kerak.</a:t>
            </a:r>
          </a:p>
          <a:p>
            <a:pPr>
              <a:spcAft>
                <a:spcPts val="1200"/>
              </a:spcAft>
            </a:pPr>
            <a:r>
              <a:rPr sz="2200">
                <a:solidFill>
                  <a:srgbClr val="1F2937"/>
                </a:solidFill>
                <a:latin typeface="Calibri"/>
              </a:rPr>
              <a:t>▸  Ahimsa — zo‘rlik ishlatmaslik va butun tiriklikka zarar yetkazmaslik prinsipi; biotsentrizmning falsafiy negizi, yogadagi yamaning asosiy qoidasi.</a:t>
            </a:r>
          </a:p>
          <a:p>
            <a:pPr>
              <a:spcAft>
                <a:spcPts val="1200"/>
              </a:spcAft>
            </a:pPr>
            <a:r>
              <a:rPr sz="2200">
                <a:solidFill>
                  <a:srgbClr val="1F2937"/>
                </a:solidFill>
                <a:latin typeface="Calibri"/>
              </a:rPr>
              <a:t>▸  Diqqat: antropotsentrizm ≠ biotsentrizm. Antropotsentrizm «hamma narsa inson uchun» deydi va tabiatni insonning omboriga o‘xshatadi.</a:t>
            </a:r>
          </a:p>
          <a:p>
            <a:pPr>
              <a:spcAft>
                <a:spcPts val="1200"/>
              </a:spcAft>
            </a:pPr>
            <a:r>
              <a:rPr sz="2200">
                <a:solidFill>
                  <a:srgbClr val="1F2937"/>
                </a:solidFill>
                <a:latin typeface="Calibri"/>
              </a:rPr>
              <a:t>▸  Biotsentrizmni amalda qo‘llash iste’molga munosabatni o‘zgartirishni talab qiladi: hayvonlar yashash joyini saqlash va o‘rmonlarni kesishga chek qo‘yish.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1.3-bo‘lim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Albert Shvaytserning universal etikasi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Shvaytser «Madaniyat va etika» (1924) kitobida «hayotni hurmat qilish etikasi»ni asosladi.</a:t>
            </a:r>
          </a:p>
          <a:p>
            <a:pPr>
              <a:spcAft>
                <a:spcPts val="800"/>
              </a:spcAft>
            </a:pPr>
            <a:r>
              <a:rPr sz="1800">
                <a:solidFill>
                  <a:srgbClr val="1F2937"/>
                </a:solidFill>
                <a:latin typeface="Calibri"/>
              </a:rPr>
              <a:t>▸  Axloqli odam gulni behuda uzmaydi, ko‘lmakka tushgan hasharotni barg yoki cho‘p bilan qutqaradi.</a:t>
            </a:r>
          </a:p>
          <a:p>
            <a:pPr>
              <a:spcAft>
                <a:spcPts val="800"/>
              </a:spcAft>
            </a:pPr>
            <a:r>
              <a:rPr sz="1800">
                <a:solidFill>
                  <a:srgbClr val="1F2937"/>
                </a:solidFill>
                <a:latin typeface="Calibri"/>
              </a:rPr>
              <a:t>▸  Eslab qoling: Umumiy–Universal–Cheksiz. «Etika — barcha tirik mavjudotlar oldida cheksiz mas’uliyat».</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Hayotni hurmat qilish (1924)</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a:t>
            </a:r>
          </a:p>
          <a:p>
            <a:pPr algn="l">
              <a:spcAft>
                <a:spcPts val="0"/>
              </a:spcAft>
            </a:pPr>
            <a:r>
              <a:rPr sz="1200" b="0">
                <a:solidFill>
                  <a:srgbClr val="1F2937"/>
                </a:solidFill>
                <a:latin typeface="Calibri"/>
              </a:rPr>
              <a:t>Axloqning yagona asosi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Universal</a:t>
            </a:r>
          </a:p>
          <a:p>
            <a:pPr algn="l">
              <a:spcAft>
                <a:spcPts val="0"/>
              </a:spcAft>
            </a:pPr>
            <a:r>
              <a:rPr sz="1200" b="0">
                <a:solidFill>
                  <a:srgbClr val="1F2937"/>
                </a:solidFill>
                <a:latin typeface="Calibri"/>
              </a:rPr>
              <a:t>Barcha hayot shakllariga taalluqli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Cheksiz</a:t>
            </a:r>
          </a:p>
          <a:p>
            <a:pPr algn="l">
              <a:spcAft>
                <a:spcPts val="0"/>
              </a:spcAft>
            </a:pPr>
            <a:r>
              <a:rPr sz="1200" b="0">
                <a:solidFill>
                  <a:srgbClr val="1F2937"/>
                </a:solidFill>
                <a:latin typeface="Calibri"/>
              </a:rPr>
              <a:t>Mas’uliyat doirasi cheklanmaydi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«Umumiy–Universal–Cheksiz»</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1.3-bo‘lim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Hamdardlik, altruizm va rahmdillik fani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Altruizm — boshqa odamlar uchun mas‘uliyatni his qilish. Diqqat: altruizm ≠ egoizm, egoizmda shaxsiy manfaat birinchi o‘ringa qo‘yiladi.</a:t>
            </a:r>
          </a:p>
          <a:p>
            <a:pPr>
              <a:spcAft>
                <a:spcPts val="1200"/>
              </a:spcAft>
            </a:pPr>
            <a:r>
              <a:rPr sz="2200">
                <a:solidFill>
                  <a:srgbClr val="1F2937"/>
                </a:solidFill>
                <a:latin typeface="Calibri"/>
              </a:rPr>
              <a:t>▸  Hamdardlik — inson tadrijiy rivojlanishida o‘zlashtirgan oliy qadriyat. U rahmdillik, xayrixohlik, mehribonlik fazilatlarini shakllantirishni taqozo etadi.</a:t>
            </a:r>
          </a:p>
          <a:p>
            <a:pPr>
              <a:spcAft>
                <a:spcPts val="1200"/>
              </a:spcAft>
            </a:pPr>
            <a:r>
              <a:rPr sz="2200">
                <a:solidFill>
                  <a:srgbClr val="1F2937"/>
                </a:solidFill>
                <a:latin typeface="Calibri"/>
              </a:rPr>
              <a:t>▸  Bu qobiliyat rivojlanib, inson og‘riq va azobni his qila oladigan barcha jonzotlarga hamdard bo‘lishni o‘rgandi. Dunyoni idrok etish biyoetik tus oldi.</a:t>
            </a:r>
          </a:p>
          <a:p>
            <a:pPr>
              <a:spcAft>
                <a:spcPts val="1200"/>
              </a:spcAft>
            </a:pPr>
            <a:r>
              <a:rPr sz="2200">
                <a:solidFill>
                  <a:srgbClr val="1F2937"/>
                </a:solidFill>
                <a:latin typeface="Calibri"/>
              </a:rPr>
              <a:t>▸  Bioetika amaliy etikaning eng rivojlangan qismi bo‘lib, rahmdillik haqidagi yangi fan va yangi dunyoqarash sifatida ham talqin etiladi.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dunyoqarash tanlovi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ilmiy maqsadga erishish uchun odam yoki hayvon manfaati chetga surilmoqda, ular faqat ta’sir ob’ekti sifatida qaralmoqda.</a:t>
            </a:r>
          </a:p>
          <a:p>
            <a:pPr>
              <a:spcAft>
                <a:spcPts val="1200"/>
              </a:spcAft>
            </a:pPr>
            <a:r>
              <a:rPr sz="2200">
                <a:solidFill>
                  <a:srgbClr val="1F2937"/>
                </a:solidFill>
                <a:latin typeface="Calibri"/>
              </a:rPr>
              <a:t>▸  Antropotsentrizmda faqat inson manfaati muhim, boshqa mavjudotlar mustaqil qimmatga ega emas: «hamma narsa inson uchun».</a:t>
            </a:r>
          </a:p>
          <a:p>
            <a:pPr>
              <a:spcAft>
                <a:spcPts val="1200"/>
              </a:spcAft>
            </a:pPr>
            <a:r>
              <a:rPr sz="2200">
                <a:solidFill>
                  <a:srgbClr val="1F2937"/>
                </a:solidFill>
                <a:latin typeface="Calibri"/>
              </a:rPr>
              <a:t>▸  Biotsentrizmda inson barcha tirik mavjudotlar oldida axloqiy burchli; diqqat markazida «bios», ya’ni hayot turadi.</a:t>
            </a:r>
          </a:p>
          <a:p>
            <a:pPr>
              <a:spcAft>
                <a:spcPts val="1200"/>
              </a:spcAft>
            </a:pPr>
            <a:r>
              <a:rPr sz="2200">
                <a:solidFill>
                  <a:srgbClr val="1F2937"/>
                </a:solidFill>
                <a:latin typeface="Calibri"/>
              </a:rPr>
              <a:t>▸  Savol: bu holat qaysi dunyoqarashga mos va nega xavfli? Tarixda hayot va salomatlikni «fan va jamiyat uchun» qurbon qilish xavfni tasdiqlagan.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etikaning to‘rt tarixiy modeli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Tarixan tibbiy etikaning to‘rtta asosiy modeli ajratiladi; ular shifokor-bemor munosabatiga turlicha talab qo‘yadi.</a:t>
            </a:r>
          </a:p>
          <a:p>
            <a:pPr>
              <a:spcAft>
                <a:spcPts val="800"/>
              </a:spcAft>
            </a:pPr>
            <a:r>
              <a:rPr sz="1800">
                <a:solidFill>
                  <a:srgbClr val="1F2937"/>
                </a:solidFill>
                <a:latin typeface="Calibri"/>
              </a:rPr>
              <a:t>▸  Diqqat: «zarar yetkazma» talabi Gippokrat modelida ham, biotibbiyot modelining bosh tamoyillari orasida ham uchraydi.</a:t>
            </a:r>
          </a:p>
          <a:p>
            <a:pPr>
              <a:spcAft>
                <a:spcPts val="800"/>
              </a:spcAft>
            </a:pPr>
            <a:r>
              <a:rPr sz="1800">
                <a:solidFill>
                  <a:srgbClr val="1F2937"/>
                </a:solidFill>
                <a:latin typeface="Calibri"/>
              </a:rPr>
              <a:t>▸  Gippokrat qasamyodi asrlar davomida vrach axloqiy ongining etaloni bo‘lgan; yangi tibbiyot uning asosiy qoidalarini tubdan o‘zgartiradi.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612244"/>
                <a:gridCol w="2102200"/>
              </a:tblGrid>
              <a:tr h="614476">
                <a:tc>
                  <a:txBody>
                    <a:bodyPr/>
                    <a:lstStyle/>
                    <a:p>
                      <a:r>
                        <a:rPr sz="1600" b="1">
                          <a:solidFill>
                            <a:srgbClr val="FFFFFF"/>
                          </a:solidFill>
                        </a:rPr>
                        <a:t>Model</a:t>
                      </a:r>
                    </a:p>
                  </a:txBody>
                  <a:tcPr marL="73152" marR="73152" marT="36576" marB="36576">
                    <a:solidFill>
                      <a:srgbClr val="0B1F3A"/>
                    </a:solidFill>
                  </a:tcPr>
                </a:tc>
                <a:tc>
                  <a:txBody>
                    <a:bodyPr/>
                    <a:lstStyle/>
                    <a:p>
                      <a:r>
                        <a:rPr sz="1600" b="1">
                          <a:solidFill>
                            <a:srgbClr val="FFFFFF"/>
                          </a:solidFill>
                        </a:rPr>
                        <a:t>Asosiy talab</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Gippokrat</a:t>
                      </a:r>
                    </a:p>
                  </a:txBody>
                  <a:tcPr marL="73152" marR="73152" marT="36576" marB="36576">
                    <a:solidFill>
                      <a:srgbClr val="E8EEF6"/>
                    </a:solidFill>
                  </a:tcPr>
                </a:tc>
                <a:tc>
                  <a:txBody>
                    <a:bodyPr/>
                    <a:lstStyle/>
                    <a:p>
                      <a:r>
                        <a:rPr sz="1500" b="0">
                          <a:solidFill>
                            <a:srgbClr val="1F2937"/>
                          </a:solidFill>
                        </a:rPr>
                        <a:t>“Zarar yetkazma”</a:t>
                      </a:r>
                    </a:p>
                  </a:txBody>
                  <a:tcPr marL="73152" marR="73152" marT="36576" marB="36576">
                    <a:solidFill>
                      <a:srgbClr val="E8EEF6"/>
                    </a:solidFill>
                  </a:tcPr>
                </a:tc>
                <a:tc>
                  <a:txBody>
                    <a:bodyPr/>
                    <a:lstStyle/>
                    <a:p>
                      <a:r>
                        <a:rPr sz="1500" b="0">
                          <a:solidFill>
                            <a:srgbClr val="1F2937"/>
                          </a:solidFill>
                        </a:rPr>
                        <a:t>Inson hayotini himoya qilish kafolati</a:t>
                      </a:r>
                    </a:p>
                  </a:txBody>
                  <a:tcPr marL="73152" marR="73152" marT="36576" marB="36576">
                    <a:solidFill>
                      <a:srgbClr val="E8EEF6"/>
                    </a:solidFill>
                  </a:tcPr>
                </a:tc>
              </a:tr>
              <a:tr h="614476">
                <a:tc>
                  <a:txBody>
                    <a:bodyPr/>
                    <a:lstStyle/>
                    <a:p>
                      <a:r>
                        <a:rPr sz="1500" b="0">
                          <a:solidFill>
                            <a:srgbClr val="1F2937"/>
                          </a:solidFill>
                        </a:rPr>
                        <a:t>Paratsels</a:t>
                      </a:r>
                    </a:p>
                  </a:txBody>
                  <a:tcPr marL="73152" marR="73152" marT="36576" marB="36576">
                    <a:solidFill>
                      <a:srgbClr val="FFFFFF"/>
                    </a:solidFill>
                  </a:tcPr>
                </a:tc>
                <a:tc>
                  <a:txBody>
                    <a:bodyPr/>
                    <a:lstStyle/>
                    <a:p>
                      <a:r>
                        <a:rPr sz="1500" b="0">
                          <a:solidFill>
                            <a:srgbClr val="1F2937"/>
                          </a:solidFill>
                        </a:rPr>
                        <a:t>“Yaxshilik qil”</a:t>
                      </a:r>
                    </a:p>
                  </a:txBody>
                  <a:tcPr marL="73152" marR="73152" marT="36576" marB="36576">
                    <a:solidFill>
                      <a:srgbClr val="FFFFFF"/>
                    </a:solidFill>
                  </a:tcPr>
                </a:tc>
                <a:tc>
                  <a:txBody>
                    <a:bodyPr/>
                    <a:lstStyle/>
                    <a:p>
                      <a:r>
                        <a:rPr sz="1500" b="0">
                          <a:solidFill>
                            <a:srgbClr val="1F2937"/>
                          </a:solidFill>
                        </a:rPr>
                        <a:t>Insonparvarlik, rahmdillik, muruvvat</a:t>
                      </a:r>
                    </a:p>
                  </a:txBody>
                  <a:tcPr marL="73152" marR="73152" marT="36576" marB="36576">
                    <a:solidFill>
                      <a:srgbClr val="FFFFFF"/>
                    </a:solidFill>
                  </a:tcPr>
                </a:tc>
              </a:tr>
              <a:tr h="614476">
                <a:tc>
                  <a:txBody>
                    <a:bodyPr/>
                    <a:lstStyle/>
                    <a:p>
                      <a:r>
                        <a:rPr sz="1500" b="0">
                          <a:solidFill>
                            <a:srgbClr val="1F2937"/>
                          </a:solidFill>
                        </a:rPr>
                        <a:t>Deontologik</a:t>
                      </a:r>
                    </a:p>
                  </a:txBody>
                  <a:tcPr marL="73152" marR="73152" marT="36576" marB="36576">
                    <a:solidFill>
                      <a:srgbClr val="E8EEF6"/>
                    </a:solidFill>
                  </a:tcPr>
                </a:tc>
                <a:tc>
                  <a:txBody>
                    <a:bodyPr/>
                    <a:lstStyle/>
                    <a:p>
                      <a:r>
                        <a:rPr sz="1500" b="0">
                          <a:solidFill>
                            <a:srgbClr val="1F2937"/>
                          </a:solidFill>
                        </a:rPr>
                        <a:t>Axloqiy benuqsonlik</a:t>
                      </a:r>
                    </a:p>
                  </a:txBody>
                  <a:tcPr marL="73152" marR="73152" marT="36576" marB="36576">
                    <a:solidFill>
                      <a:srgbClr val="E8EEF6"/>
                    </a:solidFill>
                  </a:tcPr>
                </a:tc>
                <a:tc>
                  <a:txBody>
                    <a:bodyPr/>
                    <a:lstStyle/>
                    <a:p>
                      <a:r>
                        <a:rPr sz="1500" b="0">
                          <a:solidFill>
                            <a:srgbClr val="1F2937"/>
                          </a:solidFill>
                        </a:rPr>
                        <a:t>XVIII–XIX asr, shifokor xulqi</a:t>
                      </a:r>
                    </a:p>
                  </a:txBody>
                  <a:tcPr marL="73152" marR="73152" marT="36576" marB="36576">
                    <a:solidFill>
                      <a:srgbClr val="E8EEF6"/>
                    </a:solidFill>
                  </a:tcPr>
                </a:tc>
              </a:tr>
              <a:tr h="614476">
                <a:tc>
                  <a:txBody>
                    <a:bodyPr/>
                    <a:lstStyle/>
                    <a:p>
                      <a:r>
                        <a:rPr sz="1500" b="0">
                          <a:solidFill>
                            <a:srgbClr val="1F2937"/>
                          </a:solidFill>
                        </a:rPr>
                        <a:t>Biotibbiyot</a:t>
                      </a:r>
                    </a:p>
                  </a:txBody>
                  <a:tcPr marL="73152" marR="73152" marT="36576" marB="36576">
                    <a:solidFill>
                      <a:srgbClr val="FFFFFF"/>
                    </a:solidFill>
                  </a:tcPr>
                </a:tc>
                <a:tc>
                  <a:txBody>
                    <a:bodyPr/>
                    <a:lstStyle/>
                    <a:p>
                      <a:r>
                        <a:rPr sz="1500" b="0">
                          <a:solidFill>
                            <a:srgbClr val="1F2937"/>
                          </a:solidFill>
                        </a:rPr>
                        <a:t>Huquq va qadr-qimmat hurmati</a:t>
                      </a:r>
                    </a:p>
                  </a:txBody>
                  <a:tcPr marL="73152" marR="73152" marT="36576" marB="36576">
                    <a:solidFill>
                      <a:srgbClr val="FFFFFF"/>
                    </a:solidFill>
                  </a:tcPr>
                </a:tc>
                <a:tc>
                  <a:txBody>
                    <a:bodyPr/>
                    <a:lstStyle/>
                    <a:p>
                      <a:r>
                        <a:rPr sz="1500" b="0">
                          <a:solidFill>
                            <a:srgbClr val="1F2937"/>
                          </a:solidFill>
                        </a:rPr>
                        <a:t>Avtonomiya, rozilik, sir, haqqoniylik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model taqqosi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Kirish, Muqaddima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tuzilishi va asosiy muammolari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UNESKO — Birlashgan Millatlar Tashkilotining ta’lim, fan va madaniyat bo‘yicha tashkiloti.</a:t>
            </a:r>
          </a:p>
          <a:p>
            <a:pPr>
              <a:spcAft>
                <a:spcPts val="800"/>
              </a:spcAft>
            </a:pPr>
            <a:r>
              <a:rPr sz="1800">
                <a:solidFill>
                  <a:srgbClr val="1F2937"/>
                </a:solidFill>
                <a:latin typeface="Calibri"/>
              </a:rPr>
              <a:t>▸  Ustavga ko‘ra bioetika to‘rt qismdan iborat; muammolar doirasi bemor huquqlaridan evtanaziyagacha keng.</a:t>
            </a:r>
          </a:p>
          <a:p>
            <a:pPr>
              <a:spcAft>
                <a:spcPts val="800"/>
              </a:spcAft>
            </a:pPr>
            <a:r>
              <a:rPr sz="1800">
                <a:solidFill>
                  <a:srgbClr val="1F2937"/>
                </a:solidFill>
                <a:latin typeface="Calibri"/>
              </a:rPr>
              <a:t>▸  Diqqat: biotibbiyot etikasi — bioetikaning bir qismi, ikkisi bir xil tushuncha emas.</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416047"/>
                <a:gridCol w="2871928"/>
              </a:tblGrid>
              <a:tr h="614476">
                <a:tc>
                  <a:txBody>
                    <a:bodyPr/>
                    <a:lstStyle/>
                    <a:p>
                      <a:r>
                        <a:rPr sz="1800" b="1">
                          <a:solidFill>
                            <a:srgbClr val="FFFFFF"/>
                          </a:solidFill>
                        </a:rPr>
                        <a:t>Bo‘lim</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Nazariy-falsafiy bioetika</a:t>
                      </a:r>
                    </a:p>
                  </a:txBody>
                  <a:tcPr marL="73152" marR="73152" marT="36576" marB="36576">
                    <a:solidFill>
                      <a:srgbClr val="E8EEF6"/>
                    </a:solidFill>
                  </a:tcPr>
                </a:tc>
                <a:tc>
                  <a:txBody>
                    <a:bodyPr/>
                    <a:lstStyle/>
                    <a:p>
                      <a:r>
                        <a:rPr sz="1700" b="0">
                          <a:solidFill>
                            <a:srgbClr val="1F2937"/>
                          </a:solidFill>
                        </a:rPr>
                        <a:t>Falsafa, madaniyat konteksti, tarix</a:t>
                      </a:r>
                    </a:p>
                  </a:txBody>
                  <a:tcPr marL="73152" marR="73152" marT="36576" marB="36576">
                    <a:solidFill>
                      <a:srgbClr val="E8EEF6"/>
                    </a:solidFill>
                  </a:tcPr>
                </a:tc>
              </a:tr>
              <a:tr h="614476">
                <a:tc>
                  <a:txBody>
                    <a:bodyPr/>
                    <a:lstStyle/>
                    <a:p>
                      <a:r>
                        <a:rPr sz="1700" b="0">
                          <a:solidFill>
                            <a:srgbClr val="1F2937"/>
                          </a:solidFill>
                        </a:rPr>
                        <a:t>Biotibbiyot etikasi</a:t>
                      </a:r>
                    </a:p>
                  </a:txBody>
                  <a:tcPr marL="73152" marR="73152" marT="36576" marB="36576">
                    <a:solidFill>
                      <a:srgbClr val="FFFFFF"/>
                    </a:solidFill>
                  </a:tcPr>
                </a:tc>
                <a:tc>
                  <a:txBody>
                    <a:bodyPr/>
                    <a:lstStyle/>
                    <a:p>
                      <a:r>
                        <a:rPr sz="1700" b="0">
                          <a:solidFill>
                            <a:srgbClr val="1F2937"/>
                          </a:solidFill>
                        </a:rPr>
                        <a:t>Klinik bioetika</a:t>
                      </a:r>
                    </a:p>
                  </a:txBody>
                  <a:tcPr marL="73152" marR="73152" marT="36576" marB="36576">
                    <a:solidFill>
                      <a:srgbClr val="FFFFFF"/>
                    </a:solidFill>
                  </a:tcPr>
                </a:tc>
              </a:tr>
              <a:tr h="614476">
                <a:tc>
                  <a:txBody>
                    <a:bodyPr/>
                    <a:lstStyle/>
                    <a:p>
                      <a:r>
                        <a:rPr sz="1700" b="0">
                          <a:solidFill>
                            <a:srgbClr val="1F2937"/>
                          </a:solidFill>
                        </a:rPr>
                        <a:t>Farmatsevtik bioetika</a:t>
                      </a:r>
                    </a:p>
                  </a:txBody>
                  <a:tcPr marL="73152" marR="73152" marT="36576" marB="36576">
                    <a:solidFill>
                      <a:srgbClr val="E8EEF6"/>
                    </a:solidFill>
                  </a:tcPr>
                </a:tc>
                <a:tc>
                  <a:txBody>
                    <a:bodyPr/>
                    <a:lstStyle/>
                    <a:p>
                      <a:r>
                        <a:rPr sz="1700" b="0">
                          <a:solidFill>
                            <a:srgbClr val="1F2937"/>
                          </a:solidFill>
                        </a:rPr>
                        <a:t>Farmatsevtika sohasi masalalari</a:t>
                      </a:r>
                    </a:p>
                  </a:txBody>
                  <a:tcPr marL="73152" marR="73152" marT="36576" marB="36576">
                    <a:solidFill>
                      <a:srgbClr val="E8EEF6"/>
                    </a:solidFill>
                  </a:tcPr>
                </a:tc>
              </a:tr>
              <a:tr h="614476">
                <a:tc>
                  <a:txBody>
                    <a:bodyPr/>
                    <a:lstStyle/>
                    <a:p>
                      <a:r>
                        <a:rPr sz="1700" b="0">
                          <a:solidFill>
                            <a:srgbClr val="1F2937"/>
                          </a:solidFill>
                        </a:rPr>
                        <a:t>Dori yaratish va sinovi</a:t>
                      </a:r>
                    </a:p>
                  </a:txBody>
                  <a:tcPr marL="73152" marR="73152" marT="36576" marB="36576">
                    <a:solidFill>
                      <a:srgbClr val="FFFFFF"/>
                    </a:solidFill>
                  </a:tcPr>
                </a:tc>
                <a:tc>
                  <a:txBody>
                    <a:bodyPr/>
                    <a:lstStyle/>
                    <a:p>
                      <a:r>
                        <a:rPr sz="1700" b="0">
                          <a:solidFill>
                            <a:srgbClr val="1F2937"/>
                          </a:solidFill>
                        </a:rPr>
                        <a:t>Klinik sinovlar etikasi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Bioetika tuzilmasi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Kirish; I qism, 1-bob 1.1 (8–14-betlar)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asosiy muammolari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Asosiy muammolar: bemorlar huquqlarini himoya qilish (OIV bilan kasallangan, ruhiy bemorlar, bolalar) va sog‘liqni saqlashda tenglik.</a:t>
            </a:r>
          </a:p>
          <a:p>
            <a:pPr>
              <a:spcAft>
                <a:spcPts val="800"/>
              </a:spcAft>
            </a:pPr>
            <a:r>
              <a:rPr sz="1600">
                <a:solidFill>
                  <a:srgbClr val="1F2937"/>
                </a:solidFill>
                <a:latin typeface="Calibri"/>
              </a:rPr>
              <a:t>▸  Reproduktiv sohada: abort, kontratseptsiya, sun’iy urug‘lantirish, ekstrakorporal urug‘lantirish va surrogat onalik.</a:t>
            </a:r>
          </a:p>
          <a:p>
            <a:pPr>
              <a:spcAft>
                <a:spcPts val="800"/>
              </a:spcAft>
            </a:pPr>
            <a:r>
              <a:rPr sz="1600">
                <a:solidFill>
                  <a:srgbClr val="1F2937"/>
                </a:solidFill>
                <a:latin typeface="Calibri"/>
              </a:rPr>
              <a:t>▸  Genetika va hujayra texnologiyalari: gen diagnostikasi, gen terapiyasi, muhandislik, ildiz hujayralar, terapevtik va reproduktiv klonlash.</a:t>
            </a:r>
          </a:p>
          <a:p>
            <a:pPr>
              <a:spcAft>
                <a:spcPts val="800"/>
              </a:spcAft>
            </a:pPr>
            <a:r>
              <a:rPr sz="1600">
                <a:solidFill>
                  <a:srgbClr val="1F2937"/>
                </a:solidFill>
                <a:latin typeface="Calibri"/>
              </a:rPr>
              <a:t>▸  Hayot oxiri: og‘ir bemorlarga yordam (hospis, palliativ), o‘z joniga qasd qilish va evtanaziya (passiv yoki faol).</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Bioetika muammolari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22120"/>
            <a:ext cx="0" cy="341376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2212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Bemor huquqlari</a:t>
            </a:r>
          </a:p>
          <a:p>
            <a:pPr algn="l">
              <a:spcAft>
                <a:spcPts val="0"/>
              </a:spcAft>
            </a:pPr>
            <a:r>
              <a:rPr sz="1200" b="0">
                <a:solidFill>
                  <a:srgbClr val="1F2937"/>
                </a:solidFill>
                <a:latin typeface="Calibri"/>
              </a:rPr>
              <a:t>OIV, ruhiy bemorlar, bolalar</a:t>
            </a:r>
          </a:p>
        </p:txBody>
      </p:sp>
      <p:cxnSp>
        <p:nvCxnSpPr>
          <p:cNvPr id="15" name="Connector 14"/>
          <p:cNvCxnSpPr/>
          <p:nvPr/>
        </p:nvCxnSpPr>
        <p:spPr>
          <a:xfrm>
            <a:off x="7612380" y="240487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100072"/>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00072"/>
            <a:ext cx="3779215" cy="60960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Sog‘liqda tenglik</a:t>
            </a:r>
          </a:p>
        </p:txBody>
      </p:sp>
      <p:cxnSp>
        <p:nvCxnSpPr>
          <p:cNvPr id="18" name="Connector 17"/>
          <p:cNvCxnSpPr/>
          <p:nvPr/>
        </p:nvCxnSpPr>
        <p:spPr>
          <a:xfrm>
            <a:off x="7612380" y="308762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2782824"/>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782824"/>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Reproduktiv texnologiya</a:t>
            </a:r>
          </a:p>
          <a:p>
            <a:pPr algn="l">
              <a:spcAft>
                <a:spcPts val="0"/>
              </a:spcAft>
            </a:pPr>
            <a:r>
              <a:rPr sz="1200" b="0">
                <a:solidFill>
                  <a:srgbClr val="1F2937"/>
                </a:solidFill>
                <a:latin typeface="Calibri"/>
              </a:rPr>
              <a:t>Abort, IVF, surrogat onalik</a:t>
            </a:r>
          </a:p>
        </p:txBody>
      </p:sp>
      <p:cxnSp>
        <p:nvCxnSpPr>
          <p:cNvPr id="21" name="Connector 20"/>
          <p:cNvCxnSpPr/>
          <p:nvPr/>
        </p:nvCxnSpPr>
        <p:spPr>
          <a:xfrm>
            <a:off x="7612380" y="377037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465576"/>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465576"/>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Genetika</a:t>
            </a:r>
          </a:p>
          <a:p>
            <a:pPr algn="l">
              <a:spcAft>
                <a:spcPts val="0"/>
              </a:spcAft>
            </a:pPr>
            <a:r>
              <a:rPr sz="1200" b="0">
                <a:solidFill>
                  <a:srgbClr val="1F2937"/>
                </a:solidFill>
                <a:latin typeface="Calibri"/>
              </a:rPr>
              <a:t>Gen diagnostikasi, terapiyasi</a:t>
            </a:r>
          </a:p>
        </p:txBody>
      </p:sp>
      <p:cxnSp>
        <p:nvCxnSpPr>
          <p:cNvPr id="24" name="Connector 23"/>
          <p:cNvCxnSpPr/>
          <p:nvPr/>
        </p:nvCxnSpPr>
        <p:spPr>
          <a:xfrm>
            <a:off x="7612380" y="445312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148328"/>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148328"/>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Hujayra va klonlash</a:t>
            </a:r>
          </a:p>
          <a:p>
            <a:pPr algn="l">
              <a:spcAft>
                <a:spcPts val="0"/>
              </a:spcAft>
            </a:pPr>
            <a:r>
              <a:rPr sz="1200" b="0">
                <a:solidFill>
                  <a:srgbClr val="1F2937"/>
                </a:solidFill>
                <a:latin typeface="Calibri"/>
              </a:rPr>
              <a:t>Ildiz hujayra, klonlash turlari</a:t>
            </a:r>
          </a:p>
        </p:txBody>
      </p:sp>
      <p:cxnSp>
        <p:nvCxnSpPr>
          <p:cNvPr id="27" name="Connector 26"/>
          <p:cNvCxnSpPr/>
          <p:nvPr/>
        </p:nvCxnSpPr>
        <p:spPr>
          <a:xfrm>
            <a:off x="7612380" y="513588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772400" y="4831080"/>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4831080"/>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Hayot oxiri</a:t>
            </a:r>
          </a:p>
          <a:p>
            <a:pPr algn="l">
              <a:spcAft>
                <a:spcPts val="0"/>
              </a:spcAft>
            </a:pPr>
            <a:r>
              <a:rPr sz="1200" b="0">
                <a:solidFill>
                  <a:srgbClr val="1F2937"/>
                </a:solidFill>
                <a:latin typeface="Calibri"/>
              </a:rPr>
              <a:t>Hospis, palliativ, evtanaziya</a:t>
            </a:r>
          </a:p>
        </p:txBody>
      </p:sp>
      <p:sp>
        <p:nvSpPr>
          <p:cNvPr id="30" name="TextBox 29"/>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Muammolar doirasi (Muxamedova, 16-bet)</a:t>
            </a:r>
          </a:p>
        </p:txBody>
      </p:sp>
      <p:sp>
        <p:nvSpPr>
          <p:cNvPr id="31" name="TextBox 3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uch yuzi, maqsadi va vazifasi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Birinchidan, bioetika — biomeditsinadagi taraqqiyot oqibatlarini o‘rganuvchi multidistsiplinar soha: shifokor, biolog, faylasuf, huquqshunos birga ishlaydi.</a:t>
            </a:r>
          </a:p>
          <a:p>
            <a:pPr>
              <a:spcAft>
                <a:spcPts val="800"/>
              </a:spcAft>
            </a:pPr>
            <a:r>
              <a:rPr sz="1600">
                <a:solidFill>
                  <a:srgbClr val="1F2937"/>
                </a:solidFill>
                <a:latin typeface="Calibri"/>
              </a:rPr>
              <a:t>▸  Ikkinchidan, u akademik va ta’lim faoliyati sohasi; uchinchidan, tez rivojlanayotgan ijtimoiy institut (xalqaro, milliy, mahalliy qo‘mitalar).</a:t>
            </a:r>
          </a:p>
          <a:p>
            <a:pPr>
              <a:spcAft>
                <a:spcPts val="800"/>
              </a:spcAft>
            </a:pPr>
            <a:r>
              <a:rPr sz="1600">
                <a:solidFill>
                  <a:srgbClr val="1F2937"/>
                </a:solidFill>
                <a:latin typeface="Calibri"/>
              </a:rPr>
              <a:t>▸  Maqsadi: hayot boshlanishi, tugashi va aralashuv bilan bog‘liq noan’anaviy vaziyatlarning axloqiy va huquqiy yechimini izlash.</a:t>
            </a:r>
          </a:p>
          <a:p>
            <a:pPr>
              <a:spcAft>
                <a:spcPts val="800"/>
              </a:spcAft>
            </a:pPr>
            <a:r>
              <a:rPr sz="1600">
                <a:solidFill>
                  <a:srgbClr val="1F2937"/>
                </a:solidFill>
                <a:latin typeface="Calibri"/>
              </a:rPr>
              <a:t>▸  Vazifasi: shaxsni huquqiy himoya qilish nazariyasini ishlab chiqish va amaliyotga tatbiq etish.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Bioetika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Tadqiqot sohasi</a:t>
            </a:r>
          </a:p>
          <a:p>
            <a:pPr algn="l">
              <a:spcAft>
                <a:spcPts val="0"/>
              </a:spcAft>
            </a:pPr>
            <a:r>
              <a:rPr sz="1200" b="0">
                <a:solidFill>
                  <a:srgbClr val="1F2937"/>
                </a:solidFill>
                <a:latin typeface="Calibri"/>
              </a:rPr>
              <a:t>Multidistsiplinar yondashuv</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Ta’lim faoliyati</a:t>
            </a:r>
          </a:p>
          <a:p>
            <a:pPr algn="l">
              <a:spcAft>
                <a:spcPts val="0"/>
              </a:spcAft>
            </a:pPr>
            <a:r>
              <a:rPr sz="1200" b="0">
                <a:solidFill>
                  <a:srgbClr val="1F2937"/>
                </a:solidFill>
                <a:latin typeface="Calibri"/>
              </a:rPr>
              <a:t>Akademik soha</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Ijtimoiy institut</a:t>
            </a:r>
          </a:p>
          <a:p>
            <a:pPr algn="l">
              <a:spcAft>
                <a:spcPts val="0"/>
              </a:spcAft>
            </a:pPr>
            <a:r>
              <a:rPr sz="1200" b="0">
                <a:solidFill>
                  <a:srgbClr val="1F2937"/>
                </a:solidFill>
                <a:latin typeface="Calibri"/>
              </a:rPr>
              <a:t>Xalqaro, milliy, mahalliy qo‘mitalar</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Maqsadi</a:t>
            </a:r>
          </a:p>
          <a:p>
            <a:pPr algn="l">
              <a:spcAft>
                <a:spcPts val="0"/>
              </a:spcAft>
            </a:pPr>
            <a:r>
              <a:rPr sz="1200" b="0">
                <a:solidFill>
                  <a:srgbClr val="1F2937"/>
                </a:solidFill>
                <a:latin typeface="Calibri"/>
              </a:rPr>
              <a:t>Axloqiy-huquqiy yechim izlash</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Vazifasi</a:t>
            </a:r>
          </a:p>
          <a:p>
            <a:pPr algn="l">
              <a:spcAft>
                <a:spcPts val="0"/>
              </a:spcAft>
            </a:pPr>
            <a:r>
              <a:rPr sz="1200" b="0">
                <a:solidFill>
                  <a:srgbClr val="1F2937"/>
                </a:solidFill>
                <a:latin typeface="Calibri"/>
              </a:rPr>
              <a:t>Shaxsni huquqiy himoya qilish</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Bioetikaning uch yuzi va maqsadi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15, 16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Tamoyillar, qoidalar va UNESKO hujjatlari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Biotibbiyot modeli tamoyillari: avtonomiya, xabardor rozilik, zarar yetkazmaslik, maxfiylik, haqqoniylik.</a:t>
            </a:r>
          </a:p>
          <a:p>
            <a:pPr>
              <a:spcAft>
                <a:spcPts val="800"/>
              </a:spcAft>
            </a:pPr>
            <a:r>
              <a:rPr sz="1800">
                <a:solidFill>
                  <a:srgbClr val="1F2937"/>
                </a:solidFill>
                <a:latin typeface="Calibri"/>
              </a:rPr>
              <a:t>▸  2005 yilgi deklaratsiyada shaxs manfaati fan va jamiyat manfaatidan ustun qo‘yilgan.</a:t>
            </a:r>
          </a:p>
          <a:p>
            <a:pPr>
              <a:spcAft>
                <a:spcPts val="800"/>
              </a:spcAft>
            </a:pPr>
            <a:r>
              <a:rPr sz="1800">
                <a:solidFill>
                  <a:srgbClr val="1F2937"/>
                </a:solidFill>
                <a:latin typeface="Calibri"/>
              </a:rPr>
              <a:t>▸  Diqqat: tamoyillar vrachga tayyor buyruq emas, balki aniq qaror chiqarish uchun asos.</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Inson genomi dekl.</a:t>
            </a:r>
          </a:p>
          <a:p>
            <a:pPr algn="l">
              <a:spcAft>
                <a:spcPts val="100"/>
              </a:spcAft>
            </a:pPr>
            <a:r>
              <a:rPr sz="3000" b="1">
                <a:solidFill>
                  <a:srgbClr val="0B1F3A"/>
                </a:solidFill>
                <a:latin typeface="Calibri"/>
              </a:rPr>
              <a:t>1997</a:t>
            </a:r>
            <a:r>
              <a:rPr sz="1500" b="0">
                <a:solidFill>
                  <a:srgbClr val="6B7280"/>
                </a:solidFill>
                <a:latin typeface="Calibri"/>
              </a:rPr>
              <a:t>  yil</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Genetik ma’lumotlar</a:t>
            </a:r>
          </a:p>
          <a:p>
            <a:pPr algn="l">
              <a:spcAft>
                <a:spcPts val="100"/>
              </a:spcAft>
            </a:pPr>
            <a:r>
              <a:rPr sz="3000" b="1">
                <a:solidFill>
                  <a:srgbClr val="0B1F3A"/>
                </a:solidFill>
                <a:latin typeface="Calibri"/>
              </a:rPr>
              <a:t>2003</a:t>
            </a:r>
            <a:r>
              <a:rPr sz="1500" b="0">
                <a:solidFill>
                  <a:srgbClr val="6B7280"/>
                </a:solidFill>
                <a:latin typeface="Calibri"/>
              </a:rPr>
              <a:t>  yil</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Bioetika va huquqlar</a:t>
            </a:r>
          </a:p>
          <a:p>
            <a:pPr algn="l">
              <a:spcAft>
                <a:spcPts val="100"/>
              </a:spcAft>
            </a:pPr>
            <a:r>
              <a:rPr sz="3000" b="1">
                <a:solidFill>
                  <a:srgbClr val="0B1F3A"/>
                </a:solidFill>
                <a:latin typeface="Calibri"/>
              </a:rPr>
              <a:t>2005</a:t>
            </a:r>
            <a:r>
              <a:rPr sz="1500" b="0">
                <a:solidFill>
                  <a:srgbClr val="6B7280"/>
                </a:solidFill>
                <a:latin typeface="Calibri"/>
              </a:rPr>
              <a:t>  yil</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Biotibbiyot tamoyillari</a:t>
            </a:r>
          </a:p>
          <a:p>
            <a:pPr algn="l">
              <a:spcAft>
                <a:spcPts val="100"/>
              </a:spcAft>
            </a:pPr>
            <a:r>
              <a:rPr sz="3000" b="1">
                <a:solidFill>
                  <a:srgbClr val="0B1F3A"/>
                </a:solidFill>
                <a:latin typeface="Calibri"/>
              </a:rPr>
              <a:t>5</a:t>
            </a:r>
            <a:r>
              <a:rPr sz="1500" b="0">
                <a:solidFill>
                  <a:srgbClr val="6B7280"/>
                </a:solidFill>
                <a:latin typeface="Calibri"/>
              </a:rPr>
              <a:t>  ta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UNESKO hujjatlari va tamoyillar soni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Kirish; I qism, 1-bob 1.1 (8–14-betlar); Muhamedova Z.M., Bioetika, betlar: Muqaddima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Bichamp va Childres: to‘rt tamoyil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Bichamp va Childres to‘rt asosiy tamoyilni ilgari suradi: avtonomiyani hurmat qilish, zarar bermaslik, yaxshilik qilish va adolat.</a:t>
            </a:r>
          </a:p>
          <a:p>
            <a:pPr>
              <a:spcAft>
                <a:spcPts val="800"/>
              </a:spcAft>
            </a:pPr>
            <a:r>
              <a:rPr sz="1800">
                <a:solidFill>
                  <a:srgbClr val="1F2937"/>
                </a:solidFill>
                <a:latin typeface="Calibri"/>
              </a:rPr>
              <a:t>▸  Tamoyillar ierarxik tartibga ega emas, ular teng hisoblanadi.</a:t>
            </a:r>
          </a:p>
          <a:p>
            <a:pPr>
              <a:spcAft>
                <a:spcPts val="800"/>
              </a:spcAft>
            </a:pPr>
            <a:r>
              <a:rPr sz="1800">
                <a:solidFill>
                  <a:srgbClr val="1F2937"/>
                </a:solidFill>
                <a:latin typeface="Calibri"/>
              </a:rPr>
              <a:t>▸  «Zarar qilma» — lotincha «Primum non nocere» («hammasidan avval zarar qilma»); Gippokrat axloqiga borib taqaladi.</a:t>
            </a:r>
          </a:p>
          <a:p>
            <a:pPr>
              <a:spcAft>
                <a:spcPts val="800"/>
              </a:spcAft>
            </a:pPr>
            <a:r>
              <a:rPr sz="1800">
                <a:solidFill>
                  <a:srgbClr val="1F2937"/>
                </a:solidFill>
                <a:latin typeface="Calibri"/>
              </a:rPr>
              <a:t>▸  Adolat: yordam jinsi, yoshi, irqi, millati, ijtimoiy ahvoli va e’tiqodidan qat’i nazar ko‘rsatiladi.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To‘rt tamoyil</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Avtonomiya</a:t>
            </a:r>
          </a:p>
          <a:p>
            <a:pPr algn="l">
              <a:spcAft>
                <a:spcPts val="0"/>
              </a:spcAft>
            </a:pPr>
            <a:r>
              <a:rPr sz="1200" b="0">
                <a:solidFill>
                  <a:srgbClr val="1F2937"/>
                </a:solidFill>
                <a:latin typeface="Calibri"/>
              </a:rPr>
              <a:t>Erkin tanlov: rozilik yoki rad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Zarar bermaslik</a:t>
            </a:r>
          </a:p>
          <a:p>
            <a:pPr algn="l">
              <a:spcAft>
                <a:spcPts val="0"/>
              </a:spcAft>
            </a:pPr>
            <a:r>
              <a:rPr sz="1200" b="0">
                <a:solidFill>
                  <a:srgbClr val="1F2937"/>
                </a:solidFill>
                <a:latin typeface="Calibri"/>
              </a:rPr>
              <a:t>Primum non nocere</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Yaxshilik qilish</a:t>
            </a:r>
          </a:p>
          <a:p>
            <a:pPr algn="l">
              <a:spcAft>
                <a:spcPts val="0"/>
              </a:spcAft>
            </a:pPr>
            <a:r>
              <a:rPr sz="1200" b="0">
                <a:solidFill>
                  <a:srgbClr val="1F2937"/>
                </a:solidFill>
                <a:latin typeface="Calibri"/>
              </a:rPr>
              <a:t>Hayotni saqlash, azobni yengillatish</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Adolat</a:t>
            </a:r>
          </a:p>
          <a:p>
            <a:pPr algn="l">
              <a:spcAft>
                <a:spcPts val="0"/>
              </a:spcAft>
            </a:pPr>
            <a:r>
              <a:rPr sz="1200" b="0">
                <a:solidFill>
                  <a:srgbClr val="1F2937"/>
                </a:solidFill>
                <a:latin typeface="Calibri"/>
              </a:rPr>
              <a:t>Yordamda tenglik, resurs taqsimoti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Bichamp–Childres tamoyillari (Muxamedova, 41–43-betlar)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41, 42,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Etikaga Aristotel asos solgan; amaliy etika uni aniq vaziyatlarga tatbiq etadi, bioetika XX asr ikkinchi yarmida shu yo‘ldan paydo bo‘ldi.</a:t>
            </a:r>
          </a:p>
          <a:p>
            <a:pPr>
              <a:spcAft>
                <a:spcPts val="1200"/>
              </a:spcAft>
            </a:pPr>
            <a:r>
              <a:rPr sz="2200">
                <a:solidFill>
                  <a:srgbClr val="1F2937"/>
                </a:solidFill>
                <a:latin typeface="Calibri"/>
              </a:rPr>
              <a:t>▸  Potter «bioetika» atamasini kiritdi, Shvaytser «hayotga hurmat» etikasini asosladi, Nyurnberg kodeksi (1947) olimlar mas’uliyatini xalqaro masalaga aylantirdi.</a:t>
            </a:r>
          </a:p>
          <a:p>
            <a:pPr>
              <a:spcAft>
                <a:spcPts val="1200"/>
              </a:spcAft>
            </a:pPr>
            <a:r>
              <a:rPr sz="2200">
                <a:solidFill>
                  <a:srgbClr val="1F2937"/>
                </a:solidFill>
                <a:latin typeface="Calibri"/>
              </a:rPr>
              <a:t>▸  Tibbiyot etikasining to‘rt modeli bor: Gippokrat, Paratsels, deontologik va biotibbiyot modeli; bioetika tuzilmasi ham to‘rt qismli.</a:t>
            </a:r>
          </a:p>
          <a:p>
            <a:pPr>
              <a:spcAft>
                <a:spcPts val="1200"/>
              </a:spcAft>
            </a:pPr>
            <a:r>
              <a:rPr sz="2200">
                <a:solidFill>
                  <a:srgbClr val="1F2937"/>
                </a:solidFill>
                <a:latin typeface="Calibri"/>
              </a:rPr>
              <a:t>▸  Biotibbiyot modelining tamoyillari: avtonomiya, xabardor rozilik, zarar yetkazmaslik, maxfiylik va haqqoniylik.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Muhamedova Z.M., Bioetika, betlar: I bob 1.1, I bob 1.1, 1.3; Yuldashev N.M., Saydalixodjayeva O.Z., Saidov A.B., Bioetika, betlar: Kirish; I qism, 1-bob 1.1 (8–14-betlar)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44</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Mayer sxemasi doira kabi kengayadi. Sotsiosentrizmda burch guruh a’zolariga, patosentrizmda aqlli mavjudotlarga, antroposentrizmda faqat odamlarga qaratiladi. Biosentrizmda esa butun tirik olamga qaratiladi. Oxirgi so‘z «bios» (hayot) sizga biosentrizmni eslatadi.</a:t>
            </a:r>
          </a:p>
          <a:p>
            <a:pPr>
              <a:spcAft>
                <a:spcPts val="1200"/>
              </a:spcAft>
            </a:pPr>
            <a:r>
              <a:rPr sz="1800">
                <a:solidFill>
                  <a:srgbClr val="1F2937"/>
                </a:solidFill>
                <a:latin typeface="Calibri"/>
              </a:rPr>
              <a:t>▸  Hodisa tahlili: Nyurnberg kodeksi (1947) fashist shifokorlari ustidan chiqarilgan hukmga ilova bo‘lgan. Unda odamlarda tibbiy tajriba o‘tkazishning 10 ta axloqiy qoidasi yozilgan. Bu bioetika bo‘yicha birinchi xalqaro hujjat bo‘ldi, lekin qoidalari majburiy emas, axloq normasi sifatida berilgan.</a:t>
            </a:r>
          </a:p>
          <a:p>
            <a:pPr>
              <a:spcAft>
                <a:spcPts val="1200"/>
              </a:spcAft>
            </a:pPr>
            <a:r>
              <a:rPr sz="1800">
                <a:solidFill>
                  <a:srgbClr val="1F2937"/>
                </a:solidFill>
                <a:latin typeface="Calibri"/>
              </a:rPr>
              <a:t>▸  Qiziqarli fakt: «bioetika» atamasi ikki xil sanada tilga olinadi. Darslikka ko‘ra, nemis pastori Fritts Yar uni 1927-yilda ishlatgan va Kantning qat’iy imperativiga qarshi «bioetik imperativ»ni ta’riflagan. Ammo atamani ilmiy muomalaga Potter kiritgan. Uni kiritgan yil manbalarda farq qiladi: darslikda 1969, qo‘llanmada 1971 («Biologiya – kelajakka ko‘prik» kitobi) ko‘rsatilgan.</a:t>
            </a:r>
          </a:p>
          <a:p>
            <a:pPr>
              <a:spcAft>
                <a:spcPts val="1200"/>
              </a:spcAft>
            </a:pPr>
            <a:r>
              <a:rPr sz="1800">
                <a:solidFill>
                  <a:srgbClr val="1F2937"/>
                </a:solidFill>
                <a:latin typeface="Calibri"/>
              </a:rPr>
              <a:t>▸  Eslab qolish usuli: tibbiyot etikasining 4 modeli shior bilan eslab qolinadi. Gippokrat modeli: «zarar yetkazma». Paratsels modeli: «yaxshilik qil». Deontologik model: shifokorning benuqson axloqi. Biotibbiyot modeli: bemor avtonomiyasi, xabardor rozilik, maxfiylik va haqqoniylik.</a:t>
            </a:r>
          </a:p>
          <a:p>
            <a:pPr>
              <a:spcAft>
                <a:spcPts val="1200"/>
              </a:spcAft>
            </a:pPr>
            <a:r>
              <a:rPr sz="1800">
                <a:solidFill>
                  <a:srgbClr val="1F2937"/>
                </a:solidFill>
                <a:latin typeface="Calibri"/>
              </a:rPr>
              <a:t>▸  Hodisa tahlili: Shveytser tasvirlagan axloqli odam yomg‘irdan keyin yo‘ldagi chuvalchanglarni quriyman deb qo‘rqib, o‘tga ko‘chirib qo‘yadi. Shu misol «hayotga hurmat» tamoyilining uch belgisini ko‘rsatadi: u umumiy, universal va cheksiz. Odamlar kulishidan qo‘rqmaslik ham shu axloqning bir qismi.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Kirish. Biotibbiy etikaning sotsiomadaniy va nazariy asoslari: rivojlanish bosqichlari, mo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44</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Muhamedova Z.M. Bioetika (o‘quv qo‘llanma, falsafa fakulteti), Toshkent, 2006. 2006. Muqaddima; I bob 1.1 «Bioetika amaliy etika sifatida», 1.2 «An’anaviy etika muammolari», 1.3 «Bioetika — yangicha dunyoqarash, rahmdillik haqidagi yangi fan»</a:t>
            </a:r>
          </a:p>
          <a:p>
            <a:pPr>
              <a:spcAft>
                <a:spcPts val="800"/>
              </a:spcAft>
            </a:pPr>
            <a:r>
              <a:rPr sz="2000">
                <a:solidFill>
                  <a:srgbClr val="1F2937"/>
                </a:solidFill>
                <a:latin typeface="Calibri"/>
              </a:rPr>
              <a:t>▸  Yuldashev N.M., Saydalixodjayeva O.Z., Saidov A.B. Bioetika (tibbiyot OTM talabalari uchun darslik), Toshkent tibbiyot akademiyasi, Toshkent, 2019 (titul betida 2018). 2019. Kirish; I qism, 1-bob 1.1 «Bioetika» mavzusi (kitob beti 8-14)</a:t>
            </a:r>
          </a:p>
          <a:p>
            <a:pPr>
              <a:spcAft>
                <a:spcPts val="800"/>
              </a:spcAft>
            </a:pPr>
            <a:r>
              <a:rPr sz="2000">
                <a:solidFill>
                  <a:srgbClr val="1F2937"/>
                </a:solidFill>
                <a:latin typeface="Calibri"/>
              </a:rPr>
              <a:t>▸  Muxamedova Z.M. Bioetika (darslik), Toshkent. 2021. I bob (5–20-betlar); III bob boshi (41–46-betlar)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