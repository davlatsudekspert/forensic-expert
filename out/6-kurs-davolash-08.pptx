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Vrach xatosi uchun qanday javobgarlik turlari bo‘lishi mumkin? 2) Ular bir-birini istisno qiladimi? Doskada: uch ustunli sxema (intizomiy, ma’muriy, fuqarolik) chizdiring. Tipik xato: talaba bitta javobgarlik boshqasini bekor qiladi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Konstitutsiyadagi mehnat huquqlari vrach uchun nimani anglatadi? 2) Mehnat kodeksi nimalarni tartibga soladi? Doskada: Konstitutsiya → Mehnat kodeksi → mehnat shartnomasi zanjirini yozdiring. Tipik xato: Konstitutsiyaning 37-moddasini Mehnat kodeksi moddasi bilan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Vrach mehnati nega haq to‘lanadigan munosabat hisoblanadi? 2) Qaysi hollarda ishga majburlash majburiy mehnat sanalmaydi? Doskada: A, B, V, G belgilarini jadval qilib chizdiring va har biriga vrach misoli yozdiring. Tipik xato: majburiy mehnat istisnolarini umuman yo‘q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Vrach sifatida qaysi huquqlaringizni bilasiz? 2) Ish beruvchi huquqlari nima uchun xodimnikidan qisqa berilgan? Doskada: ikki ustunli jadval chizdirib, xodim va ish beruvchi huquqlarini yozdiring. Tipik xato: MK 16-moddani (xodim huquqlari) 17-modda (ish beruvchi huquqlari) bilan almashtirish. Ijtimoiy ta’minot, kasaba uyushmasiga a’zolik, malaka oshirish kabi huquqlarni ham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Navbatchi vrachdan vazifasiga kirmaydigan ish talab qilinsa nima qilinadi? 2) Xodim majburiyatlari ichki tartib qoidalarida qanday mustahkamlanadi? Doskada: 176- va 177-moddalarni ikki ustunda yozdiring, ustiga ish beruvchi taqiqlari ro‘yxatini qo‘shdiring. Tipik xato: majburiyatni (176, 177) huquq (16, 17)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Muddatli shartnoma qancha muddatga tuziladi (besh yildan oshmaydi) va nomuayyan shartnomani xodim roziligisiz muddatliga o‘zgartirish mumkinmi? 2) Sinov nima uchun kerak? Doskada: ishga qabul zanjirini (hujjat, shartnoma, sinov, natija) chizdirib, sinovda har tomon bekor qilish huquqini belgilating. Tipik xato: sinov muddatini uch oydan ortiq deb hisoblash yoki barcha ayollarga sinov belgilanadi deb o‘ylash. Shartnoma tuzish chog‘ida xodim huquqlari kafolatlari pasaytirilmasligini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Jamoa shartnomasi individual mehnat shartnomasidan nimasi bilan farq qiladi? 2) Nega ixtiyoriylik va javobgarlikning muqarrarligi birga tilga olinadi? Doskada: tomonlar sxemasini chizing (kasaba uyushmasi ↔ ish beruvchi) va yetti tamoyilni ro‘yxatlang. Tipik xato: jamoa shartnomasini xodim bilan tuziladigan individual mehnat shartnomasi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tezkor so‘rang; javobni talaba aytgach, slaydni oching. Muhokama: 1) Sinov muddati nima uchun kerak? 2) Xodim huquqlari shartnomada qonundagidan pasaytirilishi mumkinmi? (bet 81: yo‘q). Doskada: shartnomaning uch muddat turini (nomuayyan, muayyan, muayyan ish) yozdiring. Tipik xato: sinov muddatini uch oy o‘rniga uch hafta yoki olti oy deb aytish; ogohlantirish muddatlarini (3 kun va 2 hafta)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Ichki va tashqi o‘rindoshlik farqi nimada? 2) Bir necha kasbda ishlash qaysi shart bilan mumkin? Doskada: to‘rt qatorli jadvalni talabalar bilan to‘ldiring va har qatorga o‘zlari misol topsin. Tipik xato: o‘rindoshlikni bir necha kasb bilan aralashtirish (o‘rindoshlikda bo‘sh vaqtda, ichki yoki tashqi muassasada ishlanadi); o‘rinbosarlikda lavozim egasi saqlanib qolishini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daqiqa. Muhokama: 1) Nega tibbiy xodimlarning ish vaqti 36 soatgacha qisqartirilgan (his-hayajon, aqliy zo‘riqish, asab tarangligi)? 2) Ko‘rikni rad etish oqibati nima (xodim ishdan chetlatiladi)? Doskada: ish vaqti bo‘yicha 40 va 36 soatni solishtiruvchi ustunli sxema chizdiring. Tipik xato: tibbiy xodimlar uchun ish vaqtining aniq ro‘yxatini Hukumat belgilashini unutish va ko‘rik xarajatini xodim to‘laydi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Qaysi holatda ish beruvchi shartnomani xodim so‘ragan muddatda bekor qilishi shart (o‘quv yurtiga qabul, pensiya, saylanish va h.k.)? 2) Taraflar kelishsa, ikki hafta o‘tmasdan bekor qilish mumkinmi? Doskada: flow sxemani tuzing va har bosqichda ariza qaytarib olish imkonini belgilang. Tipik xato: ogohlantirish muddati tugagach ish beruvchi hech narsa qilmasa ham ariza amal qiladi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daqiqa. Muhokama: 1) Qilmish qo‘pol yoki qo‘pol emasligi qanday hal etiladi (oqibatiga qarab)? 2) Kompensatsiya ogohlantirish o‘rnini qachon bosadi (taraflar kelishuvi bilan, birinchi ikki sabab bo‘yicha)? Doskada: MK 100-moddadagi oltita sababni ro‘yxat qilib, jadvalga bog‘lang (o‘rindosh ishchining qabul qilinishi va mulkdor o‘zgarishi ham sabab). Tipik xato: muntazam va bir marta qo‘pol buzishni aralashtirish hamda ogohlantirish muddatlarini (ikki oy, ikki hafta, uch kun) chalkashtirish.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jazodan oldin tushuntirish xati so‘raladi? 2) Jazo amal qilish muddati tugasa, xodimning holati qanday o‘zgaradi? Doskada: jazo qo‘llash muddatlarini vaqt chizig‘i shaklida chizdiring (aniqlash – 1 oy – 6 oy – 2 yil). Tipik xato: jazoni qo‘llash muddati (1 oy) bilan jazoning amal qilish muddatini (1 yil) aralashtirish. Qo‘shimcha: jarima miqdorini 50% gacha belgilash faqat ichki tartibda alohida qilmishlarga mumkin (90-bet).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Talabalar 3-4 kishilik guruhda vaziyatni yechadi. Muhokama: 1) Xodim tushuntirish xatini bermasa nima bo‘ladi? 2) Qanday qilmish «qo‘pol buzish» sanaladi (oqibatiga qarab hal etiladi)? Doskada: qaror qabul qilish sxemasi (qilmish – tushuntirish xati – jazo – buyruq). Tipik xato: tushuntirish xatisiz jazo berish mumkin deb o‘ylash yoki ta’til vaqtini bir oylik muddatga qo‘shib hisoblash. Tezkor savol: bitta qilmishga nechta jazo qo‘llanadi? (Bitta.)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huquq bilan birga majburiyat tengligi ta’kidlanadi? 2) Ma’muriy huquqbuzarlik jinoyatdan qaysi belgisi bilan farqlanadi? Doskada: ikki ustunli solishtirish (ma’muriy huquqbuzarlik va jinoyat) chizing. Tipik xato: ma’muriy huquqbuzarlikni jinoyat bilan bir xil deb hisoblash; aslida oqibati og‘ir bo‘lsa yoki takror sodir etilsa, ayrim huquqbuzarliklar jinoyat sifatida baholanishi mumkin (93-bet). Eslab qoling: ma’muriy ≠ jinoiy.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Vrach asoratni ko‘rgan, lekin ‘o‘tib ketadi’ deb o‘ylagan holat qaysi shaklga kiradi? 2) Oqibatga ‘ongli yo‘l qo‘yish’ nimani bildiradi? Doskada: ikki ustunli jadvalni talabalar bilan birga to‘ldiring. Tipik xato: yengiltaklikni qasddan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ayni bir qoidabuzarlik ba’zan jinoyat, ba’zan ma’muriy bo‘ladi? 2) Epidemiyaga qarshi qoidabuzarlikda qaysi omillar baholanadi? Doskada: ‘xavf darajasi’ shkalasini chizib, ma’muriy va jinoiy chegarani belgilang. Tipik xato: ‘ma’muriy ≠ jinoyat’ farqini faqat qilmish nomiga qarab belgilash; asosiy mezon ijtimoiy xavf va oqibat.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Oxirgi zarurat shartlari nima? Ikkala shart bir vaqtda kerakmi? 2) Ma’muriy javobgarlikdan ozod bo‘lgan shaxs zararni qoplashi shartmi? Doskada: oxirgi zarurat uchun ikki shartli ‘tekshiruv ro‘yxati’ chizing. Tipik xato: oxirgi zarurat ma’muriy javobgarlikni ham, fuqaroviy zararni qoplashni ham istisno qiladi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navbat bilan bering, javobni ular kitobsiz aytsin. Muhokama: oqibatning og‘irligi va soni ma’muriy qilmishni jinoyatga aylantirishi mumkinmi? Doskaga qasd va ehtiyotsizlikni ikki ustunda yozdiring. Tipik xato: ma’muriy huquqbuzarlikni jinoyat bilan aralashtirish va ehtiyotsizlikni aybsizlik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tibbiy xodimlarning kasb huquqbuzarliklarida aksariyat hollarda jarima belgilanadi (manbada shunday deyilgan, 94-bet)? Haqi to‘lanib olib qo‘yish va musodara xususiy tibbiy yoki farmatsevtika amaliyotida qo‘llanishi mumkin (95-bet). Doskaga beshta jazoni yozib, olib qo‘yish bilan musodara farqini o‘zlari chizsin. Tipik xato: olib qo‘yish va musodarani bir xil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mansabdor shaxs uchun chegaralar yuqoriroq? Doskada jadvalni talabalar o‘zlari qayta chizsin va raqamlarni yodlashga urinsin. Tipik xato: fuqaro bilan mansabdor shaxs ustunlarini almashtirish yoki mahalliy qaror chegarasini umumiy chegara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Olib qo‘yish va musodarada pul kimga tegadi? 2) Nega bu choralar xususiy klinika va dorixonada ko‘proq uchraydi? Doskada: ikki ustunli solishtirish (olib qo‘yish ≠ musodara). Tipik xato: ikkalasini bir narsa deb o‘ylash. Diqqat: musodarada haq to‘lanmaydi. Ikki oylik muddat bojxona musodarasiga tatbiq etilmaydi.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Bayonnomada nimalar ko‘rsatiladi? 2) Huquqbuzar imzolamasa nima bo‘ladi? Doskada: bayonnoma tuzish zanjirini chizing. Tipik xato: bayonnoma tuzgan organ bilan ishni hal qiluvchi organni aralashtirish. Moddiy zarar yetkazilgan bo‘lsa, bu ham bayonnomada ko‘rsatiladi.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jazo turlarida shaxsning qatnashishi majburiy? 2) Ekspertiza qachon tayinlanadi? Doskada: shaxsning huquqlari ro‘yxatini chizing. Tipik xato: ishtirok har doim shart deb o‘ylash; shartlar faqat ayrim jazolarda. Keyin bo‘lim bo‘yicha Voqea tahlili o‘tkazing.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bu moddalar ko‘proq rahbarlarga tegishli? 2) Tuhmat va haqorat bemorga nisbatan qanday ko‘rinishda bo‘lishi mumkin? Doskada chizish: 6 ta moddani raqami bilan ustun qilib yozdiring. Tipik xato: talabalar barcha moddalarni oddiy shifokorga tegishli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59-modda (xavfsizlik yetarli ta’minlanmasligi) tibbiy xodimga qanday tegishli? 2) Xususiy klinikada qaysi qilmishlar uchrashi mumkin? Doskada chizish: to‘rt guruhli jadvalni daftarga ko‘chirtiring. Eslatma: tez yordamni aldab chaqirishda subyekt fuqaro, hisobotni buzishda esa sog‘liqni saqlash mansabdor shaxslari. Tipik xato: 199-modda subyektini tibbiy xodim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Kim bayonnoma tuzadi, kim ishni ko‘radi? 2) Qaysi holatda qilmish jinoyat sifatida baholanishi mumkin? Doskada chizish: zanjir — qoidabuzarlik, bayonnoma, ko‘rib chiqish, jazo. Javob: mansabdor shaxsga jarima kamida eng kam ish haqining 1/10 qismi, ko‘pi bilan 10 baravari (istisnolarda ko‘proq). Tipik xato: ma’muriy javobgarlik fuqarolik javobgarligidan ozod etadi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bemor va muassasa orasida shartnoma kamdan-kam bo‘ladi, bu javobgarlik turiga qanday ta’sir qiladi? 2) Haqiqiy zarar va boy berilgan foydaga bittadan misol keltiring. Doskada: delikt va shartnomaviy javobgarlikni ikki ustunli jadvalga chizing. Tipik xato: talabalar huquq layoqati va muomala layoqatini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Harakatsizlik ham g‘ayriqonuniy harakat bo‘la oladimi, misol keltiring. 2) Qasddan va ehtiyotsizlik shaklini vrach faoliyatidan misol bilan farqlang. Doskada: to‘rt shartli zanjirni chizib, bitta shart tushib qolsa nima bo‘lishini ko‘rsating. Tipik xato: sababiy bog‘liqlikni zarar fakti bilan bir narsa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ma’lumotli rozilik olish aybsizlik isboti uchun muhim? 2) Kasallik tarixidagi qanday kamchiliklar vrachga zarar yetkazadi? Doskada: uch aybsizlik holatini ro‘yxat qilib yozing, har biriga bitta tibbiy misol toping. Tipik xato: jabrlanuvchi aybni isbotlashi kerak deb o‘ylash, aslida teskari.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delikt, chunki bemor bilan shartnoma kam tuziladi; 2) ayb prezumpsiyasi bor, aybsizligini zarar etkazuvchi (vrach, muassasa) isbotlaydi; 3) zarar fakti, g‘ayriqonuniy harakat, sababiy bog‘liqlik va ayb; 4) yo‘q, ozod qilmaydi. Muhokama: nega vrach uchun tibbiy hujjatlarni to‘g‘ri yuritish muhim? Doskada to‘rt shartni zanjir ko‘rinishida chizdiring. Tipik xato: talabalar jabrlanuvchi vrachning aybini isbotlashi kerak deb o‘ylaydi, aslida teskari.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muassasalar regress da’vosini kamdan-kam beradi? Sug‘urta bo‘lsa vrach va muassasa qanday himoyalanadi? Doskada ketma-ketlikni chizing: vrach xatosi, muassasa to‘laydi, regress. Tipik xato: oxirgi zarurat hamma javobgarlikdan ozod qiladi deb o‘ylash; fuqarolik qonunida bunday emas. Da’vo muddati huquqbuzarlik kunidan emas, huquqi buzilganini bilgan kundan boshlanishini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xususiy klinikada bemor bilan yozma shartnoma qanday himoya beradi? Ijrochi shartnomani qachon bekor qila oladi? Javob: buyurtmachiga etkazilgan zararni to‘liq to‘lasa, buyurtmachi aybi bilan bekor bo‘lgan hollar bundan mustasno (FK 707-modda). Doskada jadvalni o‘zlari to‘ldirsin. Tipik xato: ijrochi javobgarligi chegarasiz deb o‘ylash; bu yerda chegara xizmat bahosining ikki baravari.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daqiqa. Muhokama: 1) Bemorga qo‘pollik yoki shifokor sirini oshkor qilish ma’naviy zararga asos bo‘ladimi? 2) Bemorni iste’molchi deb hisoblash xodimga qanday talablar qo‘yadi? Doskada: bemor – ijrochi – iste’molchi huquqlari sxemasini chizdiring. Tipik xato: ma’naviy zarar faqat mulkiy zarar bo‘lsagina to‘lanadi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Savollar: kim javob beradi, ayb kimga isbotlanadi, ma’naviy zarar qanday aniqlanadi? Muhokama: qaysi hollarda xodim aybsiz topiladi (engib bo‘lmas kuch, bemor roziligi, bemorning qo‘pol ehtiyotsizligi)? Doskada: zarar – g‘ayriqonuniylik – sababiy bog‘liqlik – ayb zanjirini chizdiring. Tipik xato: ayb isboti bemorga yuklanadi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bitta xatti-harakat uchun xodim bir vaqtda uch turdagi javobgarlikka tortilishi mumkinmi? Nazorat: ma’muriy huquqbuzarlik jinoyatdan nimasi bilan farq qiladi? Ma’muriy jazo turlarini sanang. Doskada: uch javobgarlik turini jadvalga (kim qo‘llaydi, jazo, muddat) joylashtiring. Tipik xato: bir turdagi javobgarlik boshqasini istisno qiladi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Tibbiy xodimlarning ma’muriy javobgarligi.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Mehnat intizomini buzish intizomiy qilmish hisoblanadi. Buning uchun ish beruvchi xodimni intizomiy jazoga tortishi mumkin.</a:t>
            </a:r>
          </a:p>
          <a:p>
            <a:pPr>
              <a:spcAft>
                <a:spcPts val="1200"/>
              </a:spcAft>
            </a:pPr>
            <a:r>
              <a:rPr sz="2200">
                <a:solidFill>
                  <a:srgbClr val="1F2937"/>
                </a:solidFill>
                <a:latin typeface="Calibri"/>
              </a:rPr>
              <a:t>▸  Ma’muriy huquqbuzarlik uchun ma’muriy javobgarlik yuzaga keladi. Tibbiy xodimlarning kasbiy huquqbuzarliklarida ko‘pincha jarima qo‘llanadi.</a:t>
            </a:r>
          </a:p>
          <a:p>
            <a:pPr>
              <a:spcAft>
                <a:spcPts val="1200"/>
              </a:spcAft>
            </a:pPr>
            <a:r>
              <a:rPr sz="2200">
                <a:solidFill>
                  <a:srgbClr val="1F2937"/>
                </a:solidFill>
                <a:latin typeface="Calibri"/>
              </a:rPr>
              <a:t>▸  Fuqarolik-huquqiy javobgarlik etkazilgan zararni qoplashni anglatadi. Boshqa javobgarlikka tortilish zararni qoplashdan ozod etmaydi.</a:t>
            </a:r>
          </a:p>
          <a:p>
            <a:pPr>
              <a:spcAft>
                <a:spcPts val="1200"/>
              </a:spcAft>
            </a:pPr>
            <a:r>
              <a:rPr sz="2200">
                <a:solidFill>
                  <a:srgbClr val="1F2937"/>
                </a:solidFill>
                <a:latin typeface="Calibri"/>
              </a:rPr>
              <a:t>▸  Reja: avval mehnat qonunchiligi va intizomiy jazolar, so‘ng ma’muriy javobgarlik, oxirida zararni qoplash masalalari ko‘rib chiqiladi.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90, 94, 104, 78-114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qonunchiligining asosiy mazmuni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Konstitutsiyaning 37-moddasi bo‘yicha fuqaro mehnat qilish, erkin ish tanlash, haqqoniy shartlarda ishlash va ishsizlikdan himoyalanish huquqiga ega.</a:t>
            </a:r>
          </a:p>
          <a:p>
            <a:pPr>
              <a:spcAft>
                <a:spcPts val="1200"/>
              </a:spcAft>
            </a:pPr>
            <a:r>
              <a:rPr sz="2200">
                <a:solidFill>
                  <a:srgbClr val="1F2937"/>
                </a:solidFill>
                <a:latin typeface="Calibri"/>
              </a:rPr>
              <a:t>▸  Mehnat munosabatlarini bozor iqtisodiyoti tamoyillariga mos tartibga solishda asosiy manba — Mehnat kodeksi.</a:t>
            </a:r>
          </a:p>
          <a:p>
            <a:pPr>
              <a:spcAft>
                <a:spcPts val="1200"/>
              </a:spcAft>
            </a:pPr>
            <a:r>
              <a:rPr sz="2200">
                <a:solidFill>
                  <a:srgbClr val="1F2937"/>
                </a:solidFill>
                <a:latin typeface="Calibri"/>
              </a:rPr>
              <a:t>▸  Mehnat huquqi xodim va ish beruvchi o‘rtasidagi mehnat shartnomasi asosida ularning munosabatlarini tartibga soladi.</a:t>
            </a:r>
          </a:p>
          <a:p>
            <a:pPr>
              <a:spcAft>
                <a:spcPts val="1200"/>
              </a:spcAft>
            </a:pPr>
            <a:r>
              <a:rPr sz="2200">
                <a:solidFill>
                  <a:srgbClr val="1F2937"/>
                </a:solidFill>
                <a:latin typeface="Calibri"/>
              </a:rPr>
              <a:t>▸  Qonun munosabatlarni o‘rnatish, o‘zgartirish, to‘xtatish tartibini, ish hajmi, ish haqi, ichki tartib, intizom, mehnat himoyasi va nizolarni belgilaydi.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munosabatlarining o‘ziga xosligi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Mehnat munosabatlari to‘rt belgisi (A, B, V, G) bilan boshqa huquqiy munosabatlardan, masalan fuqarolik huquqidan, ajraladi.</a:t>
            </a:r>
          </a:p>
          <a:p>
            <a:pPr>
              <a:spcAft>
                <a:spcPts val="800"/>
              </a:spcAft>
            </a:pPr>
            <a:r>
              <a:rPr sz="1800">
                <a:solidFill>
                  <a:srgbClr val="1F2937"/>
                </a:solidFill>
                <a:latin typeface="Calibri"/>
              </a:rPr>
              <a:t>▸  Majburiy mehnat, ya’ni jazo bilan tahdid qilib ishga majburlash, taqiqlanadi.</a:t>
            </a:r>
          </a:p>
          <a:p>
            <a:pPr>
              <a:spcAft>
                <a:spcPts val="800"/>
              </a:spcAft>
            </a:pPr>
            <a:r>
              <a:rPr sz="1800">
                <a:solidFill>
                  <a:srgbClr val="1F2937"/>
                </a:solidFill>
                <a:latin typeface="Calibri"/>
              </a:rPr>
              <a:t>▸  Harbiy yoki muqobil xizmat, favqulodda holat, sud hukmi kabi hollarda ayrim ishlar majburiy mehnat sanalmaydi.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A</a:t>
                      </a:r>
                    </a:p>
                  </a:txBody>
                  <a:tcPr marL="73152" marR="73152" marT="36576" marB="36576">
                    <a:solidFill>
                      <a:srgbClr val="E8EEF6"/>
                    </a:solidFill>
                  </a:tcPr>
                </a:tc>
                <a:tc>
                  <a:txBody>
                    <a:bodyPr/>
                    <a:lstStyle/>
                    <a:p>
                      <a:r>
                        <a:rPr sz="1300" b="0">
                          <a:solidFill>
                            <a:srgbClr val="1F2937"/>
                          </a:solidFill>
                        </a:rPr>
                        <a:t>Ishlab chiqarish jarayonida vujudga keladi</a:t>
                      </a:r>
                    </a:p>
                  </a:txBody>
                  <a:tcPr marL="73152" marR="73152" marT="36576" marB="36576">
                    <a:solidFill>
                      <a:srgbClr val="E8EEF6"/>
                    </a:solidFill>
                  </a:tcPr>
                </a:tc>
              </a:tr>
              <a:tr h="411480">
                <a:tc>
                  <a:txBody>
                    <a:bodyPr/>
                    <a:lstStyle/>
                    <a:p>
                      <a:r>
                        <a:rPr sz="1300" b="0">
                          <a:solidFill>
                            <a:srgbClr val="1F2937"/>
                          </a:solidFill>
                        </a:rPr>
                        <a:t>B</a:t>
                      </a:r>
                    </a:p>
                  </a:txBody>
                  <a:tcPr marL="73152" marR="73152" marT="36576" marB="36576">
                    <a:solidFill>
                      <a:srgbClr val="FFFFFF"/>
                    </a:solidFill>
                  </a:tcPr>
                </a:tc>
                <a:tc>
                  <a:txBody>
                    <a:bodyPr/>
                    <a:lstStyle/>
                    <a:p>
                      <a:r>
                        <a:rPr sz="1300" b="0">
                          <a:solidFill>
                            <a:srgbClr val="1F2937"/>
                          </a:solidFill>
                        </a:rPr>
                        <a:t>Xodim jamoa a’zosi: huquq va majburiyat bor</a:t>
                      </a:r>
                    </a:p>
                  </a:txBody>
                  <a:tcPr marL="73152" marR="73152" marT="36576" marB="36576">
                    <a:solidFill>
                      <a:srgbClr val="FFFFFF"/>
                    </a:solidFill>
                  </a:tcPr>
                </a:tc>
              </a:tr>
              <a:tr h="411480">
                <a:tc>
                  <a:txBody>
                    <a:bodyPr/>
                    <a:lstStyle/>
                    <a:p>
                      <a:r>
                        <a:rPr sz="1300" b="0">
                          <a:solidFill>
                            <a:srgbClr val="1F2937"/>
                          </a:solidFill>
                        </a:rPr>
                        <a:t>V</a:t>
                      </a:r>
                    </a:p>
                  </a:txBody>
                  <a:tcPr marL="73152" marR="73152" marT="36576" marB="36576">
                    <a:solidFill>
                      <a:srgbClr val="E8EEF6"/>
                    </a:solidFill>
                  </a:tcPr>
                </a:tc>
                <a:tc>
                  <a:txBody>
                    <a:bodyPr/>
                    <a:lstStyle/>
                    <a:p>
                      <a:r>
                        <a:rPr sz="1300" b="0">
                          <a:solidFill>
                            <a:srgbClr val="1F2937"/>
                          </a:solidFill>
                        </a:rPr>
                        <a:t>Mehnat haq to‘lanadigan munosabat</a:t>
                      </a:r>
                    </a:p>
                  </a:txBody>
                  <a:tcPr marL="73152" marR="73152" marT="36576" marB="36576">
                    <a:solidFill>
                      <a:srgbClr val="E8EEF6"/>
                    </a:solidFill>
                  </a:tcPr>
                </a:tc>
              </a:tr>
              <a:tr h="411480">
                <a:tc>
                  <a:txBody>
                    <a:bodyPr/>
                    <a:lstStyle/>
                    <a:p>
                      <a:r>
                        <a:rPr sz="1300" b="0">
                          <a:solidFill>
                            <a:srgbClr val="1F2937"/>
                          </a:solidFill>
                        </a:rPr>
                        <a:t>G</a:t>
                      </a:r>
                    </a:p>
                  </a:txBody>
                  <a:tcPr marL="73152" marR="73152" marT="36576" marB="36576">
                    <a:solidFill>
                      <a:srgbClr val="FFFFFF"/>
                    </a:solidFill>
                  </a:tcPr>
                </a:tc>
                <a:tc>
                  <a:txBody>
                    <a:bodyPr/>
                    <a:lstStyle/>
                    <a:p>
                      <a:r>
                        <a:rPr sz="1300" b="0">
                          <a:solidFill>
                            <a:srgbClr val="1F2937"/>
                          </a:solidFill>
                        </a:rPr>
                        <a:t>Shaxsiy mehnat, aniq kasb yoki lavozim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Mehnat munosabatining to‘rt belgisi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78-79, 79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Xodim va ish beruvchining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Xodim huquqlari Mehnat kodeksi (MK) 16-moddada berilgan: ish haqi, dam olish, xavfsiz sharoit.</a:t>
            </a:r>
          </a:p>
          <a:p>
            <a:pPr>
              <a:spcAft>
                <a:spcPts val="800"/>
              </a:spcAft>
            </a:pPr>
            <a:r>
              <a:rPr sz="1800">
                <a:solidFill>
                  <a:srgbClr val="1F2937"/>
                </a:solidFill>
                <a:latin typeface="Calibri"/>
              </a:rPr>
              <a:t>▸  Ish beruvchi shartnomalarni tuzadi va bekor qiladi, ishni to‘laqonli bajarishni talab etadi (MK 17-modda).</a:t>
            </a:r>
          </a:p>
          <a:p>
            <a:pPr>
              <a:spcAft>
                <a:spcPts val="800"/>
              </a:spcAft>
            </a:pPr>
            <a:r>
              <a:rPr sz="1800">
                <a:solidFill>
                  <a:srgbClr val="1F2937"/>
                </a:solidFill>
                <a:latin typeface="Calibri"/>
              </a:rPr>
              <a:t>▸  Xodim o‘z huquqlarini sud orqali himoya qilishi va malakali yuridik yordam olishi mumkin.</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09759"/>
                <a:gridCol w="2160677"/>
                <a:gridCol w="2217537"/>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Xodim</a:t>
                      </a:r>
                    </a:p>
                  </a:txBody>
                  <a:tcPr marL="73152" marR="73152" marT="36576" marB="36576">
                    <a:solidFill>
                      <a:srgbClr val="0B1F3A"/>
                    </a:solidFill>
                  </a:tcPr>
                </a:tc>
                <a:tc>
                  <a:txBody>
                    <a:bodyPr/>
                    <a:lstStyle/>
                    <a:p>
                      <a:r>
                        <a:rPr sz="1300" b="1">
                          <a:solidFill>
                            <a:srgbClr val="FFFFFF"/>
                          </a:solidFill>
                        </a:rPr>
                        <a:t>Ish beruvchi</a:t>
                      </a:r>
                    </a:p>
                  </a:txBody>
                  <a:tcPr marL="73152" marR="73152" marT="36576" marB="36576">
                    <a:solidFill>
                      <a:srgbClr val="0B1F3A"/>
                    </a:solidFill>
                  </a:tcPr>
                </a:tc>
              </a:tr>
              <a:tr h="411480">
                <a:tc>
                  <a:txBody>
                    <a:bodyPr/>
                    <a:lstStyle/>
                    <a:p>
                      <a:r>
                        <a:rPr sz="1200" b="0">
                          <a:solidFill>
                            <a:srgbClr val="1F2937"/>
                          </a:solidFill>
                        </a:rPr>
                        <a:t>Asosiy huquq</a:t>
                      </a:r>
                    </a:p>
                  </a:txBody>
                  <a:tcPr marL="73152" marR="73152" marT="36576" marB="36576">
                    <a:solidFill>
                      <a:srgbClr val="E8EEF6"/>
                    </a:solidFill>
                  </a:tcPr>
                </a:tc>
                <a:tc>
                  <a:txBody>
                    <a:bodyPr/>
                    <a:lstStyle/>
                    <a:p>
                      <a:r>
                        <a:rPr sz="1200" b="0">
                          <a:solidFill>
                            <a:srgbClr val="1F2937"/>
                          </a:solidFill>
                        </a:rPr>
                        <a:t>Ish haqi, dam olish, xavfsiz sharoit</a:t>
                      </a:r>
                    </a:p>
                  </a:txBody>
                  <a:tcPr marL="73152" marR="73152" marT="36576" marB="36576">
                    <a:solidFill>
                      <a:srgbClr val="E8EEF6"/>
                    </a:solidFill>
                  </a:tcPr>
                </a:tc>
                <a:tc>
                  <a:txBody>
                    <a:bodyPr/>
                    <a:lstStyle/>
                    <a:p>
                      <a:r>
                        <a:rPr sz="1200" b="0">
                          <a:solidFill>
                            <a:srgbClr val="1F2937"/>
                          </a:solidFill>
                        </a:rPr>
                        <a:t>Ishni to‘laqonli bajarishni talab etish</a:t>
                      </a:r>
                    </a:p>
                  </a:txBody>
                  <a:tcPr marL="73152" marR="73152" marT="36576" marB="36576">
                    <a:solidFill>
                      <a:srgbClr val="E8EEF6"/>
                    </a:solidFill>
                  </a:tcPr>
                </a:tc>
              </a:tr>
              <a:tr h="411480">
                <a:tc>
                  <a:txBody>
                    <a:bodyPr/>
                    <a:lstStyle/>
                    <a:p>
                      <a:r>
                        <a:rPr sz="1200" b="0">
                          <a:solidFill>
                            <a:srgbClr val="1F2937"/>
                          </a:solidFill>
                        </a:rPr>
                        <a:t>Shartnoma</a:t>
                      </a:r>
                    </a:p>
                  </a:txBody>
                  <a:tcPr marL="73152" marR="73152" marT="36576" marB="36576">
                    <a:solidFill>
                      <a:srgbClr val="FFFFFF"/>
                    </a:solidFill>
                  </a:tcPr>
                </a:tc>
                <a:tc>
                  <a:txBody>
                    <a:bodyPr/>
                    <a:lstStyle/>
                    <a:p>
                      <a:r>
                        <a:rPr sz="1200" b="0">
                          <a:solidFill>
                            <a:srgbClr val="1F2937"/>
                          </a:solidFill>
                        </a:rPr>
                        <a:t>Mehnat huquqlari kafolatlanadi</a:t>
                      </a:r>
                    </a:p>
                  </a:txBody>
                  <a:tcPr marL="73152" marR="73152" marT="36576" marB="36576">
                    <a:solidFill>
                      <a:srgbClr val="FFFFFF"/>
                    </a:solidFill>
                  </a:tcPr>
                </a:tc>
                <a:tc>
                  <a:txBody>
                    <a:bodyPr/>
                    <a:lstStyle/>
                    <a:p>
                      <a:r>
                        <a:rPr sz="1200" b="0">
                          <a:solidFill>
                            <a:srgbClr val="1F2937"/>
                          </a:solidFill>
                        </a:rPr>
                        <a:t>Shartnomalarni tuzish va bekor qilish</a:t>
                      </a:r>
                    </a:p>
                  </a:txBody>
                  <a:tcPr marL="73152" marR="73152" marT="36576" marB="36576">
                    <a:solidFill>
                      <a:srgbClr val="FFFFFF"/>
                    </a:solidFill>
                  </a:tcPr>
                </a:tc>
              </a:tr>
              <a:tr h="411480">
                <a:tc>
                  <a:txBody>
                    <a:bodyPr/>
                    <a:lstStyle/>
                    <a:p>
                      <a:r>
                        <a:rPr sz="1200" b="0">
                          <a:solidFill>
                            <a:srgbClr val="1F2937"/>
                          </a:solidFill>
                        </a:rPr>
                        <a:t>Zarar</a:t>
                      </a:r>
                    </a:p>
                  </a:txBody>
                  <a:tcPr marL="73152" marR="73152" marT="36576" marB="36576">
                    <a:solidFill>
                      <a:srgbClr val="E8EEF6"/>
                    </a:solidFill>
                  </a:tcPr>
                </a:tc>
                <a:tc>
                  <a:txBody>
                    <a:bodyPr/>
                    <a:lstStyle/>
                    <a:p>
                      <a:r>
                        <a:rPr sz="1200" b="0">
                          <a:solidFill>
                            <a:srgbClr val="1F2937"/>
                          </a:solidFill>
                        </a:rPr>
                        <a:t>Sog‘lig‘iga etkazilgan zararni qoplash</a:t>
                      </a:r>
                    </a:p>
                  </a:txBody>
                  <a:tcPr marL="73152" marR="73152" marT="36576" marB="36576">
                    <a:solidFill>
                      <a:srgbClr val="E8EEF6"/>
                    </a:solidFill>
                  </a:tcPr>
                </a:tc>
                <a:tc>
                  <a:txBody>
                    <a:bodyPr/>
                    <a:lstStyle/>
                    <a:p>
                      <a:r>
                        <a:rPr sz="1200" b="0">
                          <a:solidFill>
                            <a:srgbClr val="1F2937"/>
                          </a:solidFill>
                        </a:rPr>
                        <a:t>Manbada ko‘rsatilmagan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Huquqlar yonma-yon</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79-80, 80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Xodim va ish beruvchining majburiyatlari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Xodim vazifani halol bajaradi, intizom va texnika xavfsizligiga rioya qiladi, mol-mulkni asraydi.</a:t>
            </a:r>
          </a:p>
          <a:p>
            <a:pPr>
              <a:spcAft>
                <a:spcPts val="800"/>
              </a:spcAft>
            </a:pPr>
            <a:r>
              <a:rPr sz="1800">
                <a:solidFill>
                  <a:srgbClr val="1F2937"/>
                </a:solidFill>
                <a:latin typeface="Calibri"/>
              </a:rPr>
              <a:t>▸  Ish beruvchi mehnatni tashkil etadi, shartnomadagi sharoitni yaratadi, mehnat muhofazasiga rioya qiladi.</a:t>
            </a:r>
          </a:p>
          <a:p>
            <a:pPr>
              <a:spcAft>
                <a:spcPts val="800"/>
              </a:spcAft>
            </a:pPr>
            <a:r>
              <a:rPr sz="1800">
                <a:solidFill>
                  <a:srgbClr val="1F2937"/>
                </a:solidFill>
                <a:latin typeface="Calibri"/>
              </a:rPr>
              <a:t>▸  Ish beruvchi vazifaga kirmaydigan yoki hayot va sha’nga zarar soladigan ishni talab qila olmaydi.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75105"/>
                <a:gridCol w="2937763"/>
                <a:gridCol w="1175105"/>
              </a:tblGrid>
              <a:tr h="411480">
                <a:tc>
                  <a:txBody>
                    <a:bodyPr/>
                    <a:lstStyle/>
                    <a:p>
                      <a:r>
                        <a:rPr sz="1300" b="1">
                          <a:solidFill>
                            <a:srgbClr val="FFFFFF"/>
                          </a:solidFill>
                        </a:rPr>
                        <a:t>Tomon</a:t>
                      </a:r>
                    </a:p>
                  </a:txBody>
                  <a:tcPr marL="73152" marR="73152" marT="36576" marB="36576">
                    <a:solidFill>
                      <a:srgbClr val="0B1F3A"/>
                    </a:solidFill>
                  </a:tcPr>
                </a:tc>
                <a:tc>
                  <a:txBody>
                    <a:bodyPr/>
                    <a:lstStyle/>
                    <a:p>
                      <a:r>
                        <a:rPr sz="1300" b="1">
                          <a:solidFill>
                            <a:srgbClr val="FFFFFF"/>
                          </a:solidFill>
                        </a:rPr>
                        <a:t>Majburiyat</a:t>
                      </a:r>
                    </a:p>
                  </a:txBody>
                  <a:tcPr marL="73152" marR="73152" marT="36576" marB="36576">
                    <a:solidFill>
                      <a:srgbClr val="0B1F3A"/>
                    </a:solidFill>
                  </a:tcPr>
                </a:tc>
                <a:tc>
                  <a:txBody>
                    <a:bodyPr/>
                    <a:lstStyle/>
                    <a:p>
                      <a:r>
                        <a:rPr sz="1300" b="1">
                          <a:solidFill>
                            <a:srgbClr val="FFFFFF"/>
                          </a:solidFill>
                        </a:rPr>
                        <a:t>Modda</a:t>
                      </a:r>
                    </a:p>
                  </a:txBody>
                  <a:tcPr marL="73152" marR="73152" marT="36576" marB="36576">
                    <a:solidFill>
                      <a:srgbClr val="0B1F3A"/>
                    </a:solidFill>
                  </a:tcPr>
                </a:tc>
              </a:tr>
              <a:tr h="411480">
                <a:tc>
                  <a:txBody>
                    <a:bodyPr/>
                    <a:lstStyle/>
                    <a:p>
                      <a:r>
                        <a:rPr sz="1200" b="0">
                          <a:solidFill>
                            <a:srgbClr val="1F2937"/>
                          </a:solidFill>
                        </a:rPr>
                        <a:t>Xodim</a:t>
                      </a:r>
                    </a:p>
                  </a:txBody>
                  <a:tcPr marL="73152" marR="73152" marT="36576" marB="36576">
                    <a:solidFill>
                      <a:srgbClr val="E8EEF6"/>
                    </a:solidFill>
                  </a:tcPr>
                </a:tc>
                <a:tc>
                  <a:txBody>
                    <a:bodyPr/>
                    <a:lstStyle/>
                    <a:p>
                      <a:r>
                        <a:rPr sz="1200" b="0">
                          <a:solidFill>
                            <a:srgbClr val="1F2937"/>
                          </a:solidFill>
                        </a:rPr>
                        <a:t>Halol mehnat, intizom, mol-mulkni asrash</a:t>
                      </a:r>
                    </a:p>
                  </a:txBody>
                  <a:tcPr marL="73152" marR="73152" marT="36576" marB="36576">
                    <a:solidFill>
                      <a:srgbClr val="E8EEF6"/>
                    </a:solidFill>
                  </a:tcPr>
                </a:tc>
                <a:tc>
                  <a:txBody>
                    <a:bodyPr/>
                    <a:lstStyle/>
                    <a:p>
                      <a:r>
                        <a:rPr sz="1200" b="0">
                          <a:solidFill>
                            <a:srgbClr val="1F2937"/>
                          </a:solidFill>
                        </a:rPr>
                        <a:t>MK 176</a:t>
                      </a:r>
                    </a:p>
                  </a:txBody>
                  <a:tcPr marL="73152" marR="73152" marT="36576" marB="36576">
                    <a:solidFill>
                      <a:srgbClr val="E8EEF6"/>
                    </a:solidFill>
                  </a:tcPr>
                </a:tc>
              </a:tr>
              <a:tr h="411480">
                <a:tc>
                  <a:txBody>
                    <a:bodyPr/>
                    <a:lstStyle/>
                    <a:p>
                      <a:r>
                        <a:rPr sz="1200" b="0">
                          <a:solidFill>
                            <a:srgbClr val="1F2937"/>
                          </a:solidFill>
                        </a:rPr>
                        <a:t>Ish beruvchi</a:t>
                      </a:r>
                    </a:p>
                  </a:txBody>
                  <a:tcPr marL="73152" marR="73152" marT="36576" marB="36576">
                    <a:solidFill>
                      <a:srgbClr val="FFFFFF"/>
                    </a:solidFill>
                  </a:tcPr>
                </a:tc>
                <a:tc>
                  <a:txBody>
                    <a:bodyPr/>
                    <a:lstStyle/>
                    <a:p>
                      <a:r>
                        <a:rPr sz="1200" b="0">
                          <a:solidFill>
                            <a:srgbClr val="1F2937"/>
                          </a:solidFill>
                        </a:rPr>
                        <a:t>Mehnatni tashkil etish, sharoit yaratish</a:t>
                      </a:r>
                    </a:p>
                  </a:txBody>
                  <a:tcPr marL="73152" marR="73152" marT="36576" marB="36576">
                    <a:solidFill>
                      <a:srgbClr val="FFFFFF"/>
                    </a:solidFill>
                  </a:tcPr>
                </a:tc>
                <a:tc>
                  <a:txBody>
                    <a:bodyPr/>
                    <a:lstStyle/>
                    <a:p>
                      <a:r>
                        <a:rPr sz="1200" b="0">
                          <a:solidFill>
                            <a:srgbClr val="1F2937"/>
                          </a:solidFill>
                        </a:rPr>
                        <a:t>MK 177</a:t>
                      </a:r>
                    </a:p>
                  </a:txBody>
                  <a:tcPr marL="73152" marR="73152" marT="36576" marB="36576">
                    <a:solidFill>
                      <a:srgbClr val="FFFFFF"/>
                    </a:solidFill>
                  </a:tcPr>
                </a:tc>
              </a:tr>
              <a:tr h="411480">
                <a:tc>
                  <a:txBody>
                    <a:bodyPr/>
                    <a:lstStyle/>
                    <a:p>
                      <a:r>
                        <a:rPr sz="1200" b="0">
                          <a:solidFill>
                            <a:srgbClr val="1F2937"/>
                          </a:solidFill>
                        </a:rPr>
                        <a:t>Ish beruvchi</a:t>
                      </a:r>
                    </a:p>
                  </a:txBody>
                  <a:tcPr marL="73152" marR="73152" marT="36576" marB="36576">
                    <a:solidFill>
                      <a:srgbClr val="E8EEF6"/>
                    </a:solidFill>
                  </a:tcPr>
                </a:tc>
                <a:tc>
                  <a:txBody>
                    <a:bodyPr/>
                    <a:lstStyle/>
                    <a:p>
                      <a:r>
                        <a:rPr sz="1200" b="0">
                          <a:solidFill>
                            <a:srgbClr val="1F2937"/>
                          </a:solidFill>
                        </a:rPr>
                        <a:t>Intizom va mehnat muhofazasini ta’minlash</a:t>
                      </a:r>
                    </a:p>
                  </a:txBody>
                  <a:tcPr marL="73152" marR="73152" marT="36576" marB="36576">
                    <a:solidFill>
                      <a:srgbClr val="E8EEF6"/>
                    </a:solidFill>
                  </a:tcPr>
                </a:tc>
                <a:tc>
                  <a:txBody>
                    <a:bodyPr/>
                    <a:lstStyle/>
                    <a:p>
                      <a:r>
                        <a:rPr sz="1200" b="0">
                          <a:solidFill>
                            <a:srgbClr val="1F2937"/>
                          </a:solidFill>
                        </a:rPr>
                        <a:t>MK 177</a:t>
                      </a:r>
                    </a:p>
                  </a:txBody>
                  <a:tcPr marL="73152" marR="73152" marT="36576" marB="36576">
                    <a:solidFill>
                      <a:srgbClr val="E8EEF6"/>
                    </a:solidFill>
                  </a:tcPr>
                </a:tc>
              </a:tr>
              <a:tr h="411480">
                <a:tc>
                  <a:txBody>
                    <a:bodyPr/>
                    <a:lstStyle/>
                    <a:p>
                      <a:r>
                        <a:rPr sz="1200" b="0">
                          <a:solidFill>
                            <a:srgbClr val="1F2937"/>
                          </a:solidFill>
                        </a:rPr>
                        <a:t>Taqiq</a:t>
                      </a:r>
                    </a:p>
                  </a:txBody>
                  <a:tcPr marL="73152" marR="73152" marT="36576" marB="36576">
                    <a:solidFill>
                      <a:srgbClr val="FFFFFF"/>
                    </a:solidFill>
                  </a:tcPr>
                </a:tc>
                <a:tc>
                  <a:txBody>
                    <a:bodyPr/>
                    <a:lstStyle/>
                    <a:p>
                      <a:r>
                        <a:rPr sz="1200" b="0">
                          <a:solidFill>
                            <a:srgbClr val="1F2937"/>
                          </a:solidFill>
                        </a:rPr>
                        <a:t>Vazifadan tashqari yoki qonunga xilof ish</a:t>
                      </a:r>
                    </a:p>
                  </a:txBody>
                  <a:tcPr marL="73152" marR="73152" marT="36576" marB="36576">
                    <a:solidFill>
                      <a:srgbClr val="FFFFFF"/>
                    </a:solidFill>
                  </a:tcPr>
                </a:tc>
                <a:tc>
                  <a:txBody>
                    <a:bodyPr/>
                    <a:lstStyle/>
                    <a:p>
                      <a:r>
                        <a:rPr sz="1200" b="0">
                          <a:solidFill>
                            <a:srgbClr val="1F2937"/>
                          </a:solidFill>
                        </a:rPr>
                        <a:t>Ish beruvchiga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Majburiyatlar va taqiq</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shartnomasi va ishga qabul 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Shartnomada ish joyi, vazifa, boshlanish vaqti, haq ko‘rsatiladi; muddat yozilmasa, nomuayyan hisoblanadi.</a:t>
            </a:r>
          </a:p>
          <a:p>
            <a:pPr>
              <a:spcAft>
                <a:spcPts val="800"/>
              </a:spcAft>
            </a:pPr>
            <a:r>
              <a:rPr sz="1800">
                <a:solidFill>
                  <a:srgbClr val="1F2937"/>
                </a:solidFill>
                <a:latin typeface="Calibri"/>
              </a:rPr>
              <a:t>▸  Ishga qabulda pasport, mehnat daftarchasi, harbiy hujjat, diplom; o‘rindoshlar ma’lumotnoma beradi.</a:t>
            </a:r>
          </a:p>
          <a:p>
            <a:pPr>
              <a:spcAft>
                <a:spcPts val="800"/>
              </a:spcAft>
            </a:pPr>
            <a:r>
              <a:rPr sz="1800">
                <a:solidFill>
                  <a:srgbClr val="1F2937"/>
                </a:solidFill>
                <a:latin typeface="Calibri"/>
              </a:rPr>
              <a:t>▸  Dastlabki sinov uch oydan oshmaydi; homilador va uch yoshgacha bolali ayollarga belgilanmaydi.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Pasport, daftarcha, diplom va b.</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Mehnat shartnomasi tuziladi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Dastlabki sinov (3 oygacha)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Bekor qilish: 3 kun oldin yozma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Shartnoma amalda davom etadi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Ishga qabul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81, 81-82, 82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Jamoa shartnomasi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Jamoa shartnomasi — korxonada ish beruvchi va xodimlar o‘rtasidagi mehnat, ijtimoiy-iqtisodiy va kasbiy munosabatlarni tartibga soluvchi normativ hujjat.</a:t>
            </a:r>
          </a:p>
          <a:p>
            <a:pPr>
              <a:spcAft>
                <a:spcPts val="1200"/>
              </a:spcAft>
            </a:pPr>
            <a:r>
              <a:rPr sz="2000">
                <a:solidFill>
                  <a:srgbClr val="1F2937"/>
                </a:solidFill>
                <a:latin typeface="Calibri"/>
              </a:rPr>
              <a:t>▸  Tuzish tamoyillari: qonunga rioya, vakolatlilik, tanlash va muhokama erkinligi, ixtiyoriylik, bajarilishini ta’minlash, muntazam tekshiruv, javobgarlikning muqarrarligi.</a:t>
            </a:r>
          </a:p>
          <a:p>
            <a:pPr>
              <a:spcAft>
                <a:spcPts val="1200"/>
              </a:spcAft>
            </a:pPr>
            <a:r>
              <a:rPr sz="2000">
                <a:solidFill>
                  <a:srgbClr val="1F2937"/>
                </a:solidFill>
                <a:latin typeface="Calibri"/>
              </a:rPr>
              <a:t>▸  Tomonlar: kasaba uyushmasi (yoki vakolatli organ) va ish beruvchi. Qonundagidan imtiyozliroq shartlar, masalan qo‘shimcha ta’til, kiritilishi mumkin.</a:t>
            </a:r>
          </a:p>
          <a:p>
            <a:pPr>
              <a:spcAft>
                <a:spcPts val="1200"/>
              </a:spcAft>
            </a:pPr>
            <a:r>
              <a:rPr sz="2000">
                <a:solidFill>
                  <a:srgbClr val="1F2937"/>
                </a:solidFill>
                <a:latin typeface="Calibri"/>
              </a:rPr>
              <a:t>▸  Loyiha avval xodimlar bilan muhokama qilinadi, so‘ng umumiy yig‘ilishga qo‘yiladi. Muddatini tomonlar belgilaydi; tugagach yangisigacha amal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82, 82-83, 83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mehnat shartnomasi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shartnomada muddat ko‘rsatilmasa-chi? Javob: nomuayyan muddatga tuzilgan hisoblanadi. Uni xodim roziligisiz muayyan muddatga qayta tuzib bo‘lmaydi.</a:t>
            </a:r>
          </a:p>
          <a:p>
            <a:pPr>
              <a:spcAft>
                <a:spcPts val="1200"/>
              </a:spcAft>
            </a:pPr>
            <a:r>
              <a:rPr sz="2200">
                <a:solidFill>
                  <a:srgbClr val="1F2937"/>
                </a:solidFill>
                <a:latin typeface="Calibri"/>
              </a:rPr>
              <a:t>▸  Savol: dastlabki sinov qancha davom etadi? Javob: uch oydan oshmaydi. Homilador ayol va uch yoshgacha bolasi bor ayolga belgilanmaydi.</a:t>
            </a:r>
          </a:p>
          <a:p>
            <a:pPr>
              <a:spcAft>
                <a:spcPts val="1200"/>
              </a:spcAft>
            </a:pPr>
            <a:r>
              <a:rPr sz="2200">
                <a:solidFill>
                  <a:srgbClr val="1F2937"/>
                </a:solidFill>
                <a:latin typeface="Calibri"/>
              </a:rPr>
              <a:t>▸  Savol: sinov davomida shartnomani bekor qilish uchun nechta kun oldin ogohlantiriladi? Javob: uch kun oldin, yozma ravishda.</a:t>
            </a:r>
          </a:p>
          <a:p>
            <a:pPr>
              <a:spcAft>
                <a:spcPts val="1200"/>
              </a:spcAft>
            </a:pPr>
            <a:r>
              <a:rPr sz="2200">
                <a:solidFill>
                  <a:srgbClr val="1F2937"/>
                </a:solidFill>
                <a:latin typeface="Calibri"/>
              </a:rPr>
              <a:t>▸  Savol: ish beruvchi vazifasiga kirmaydigan ishni talab qila oladimi? Javob: yo‘q; qonunga xilof yoki hayot va sog‘liqqa xavfli ishni ham talab qila 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81, 82, 80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O‘rindoshlik, bir necha kasb va o‘rinbosarlik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 necha kasbda ishlash faqat asosiy ish o‘rnida va vaqtida belgilangan ish hajmi bajarilganda mumkin.</a:t>
            </a:r>
          </a:p>
          <a:p>
            <a:pPr>
              <a:spcAft>
                <a:spcPts val="800"/>
              </a:spcAft>
            </a:pPr>
            <a:r>
              <a:rPr sz="1800">
                <a:solidFill>
                  <a:srgbClr val="1F2937"/>
                </a:solidFill>
                <a:latin typeface="Calibri"/>
              </a:rPr>
              <a:t>▸  Diqqat: o‘rindoshlik ≠ bir necha kasb ≠ o‘rinbosarlik; ularni ish joyi va vaqtiga qarab farqlang.</a:t>
            </a:r>
          </a:p>
          <a:p>
            <a:pPr>
              <a:spcAft>
                <a:spcPts val="800"/>
              </a:spcAft>
            </a:pPr>
            <a:r>
              <a:rPr sz="1800">
                <a:solidFill>
                  <a:srgbClr val="1F2937"/>
                </a:solidFill>
                <a:latin typeface="Calibri"/>
              </a:rPr>
              <a:t>▸  Rahbarga vrach lavozimida, vrachga o‘rta tibbiy xodim vazifasida ishlashga ruxsat beriladi.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25219"/>
                <a:gridCol w="2158357"/>
                <a:gridCol w="2104398"/>
              </a:tblGrid>
              <a:tr h="411480">
                <a:tc>
                  <a:txBody>
                    <a:bodyPr/>
                    <a:lstStyle/>
                    <a:p>
                      <a:r>
                        <a:rPr sz="1300" b="1">
                          <a:solidFill>
                            <a:srgbClr val="FFFFFF"/>
                          </a:solidFill>
                        </a:rPr>
                        <a:t>Tushuncha</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c>
                  <a:txBody>
                    <a:bodyPr/>
                    <a:lstStyle/>
                    <a:p>
                      <a:r>
                        <a:rPr sz="1300" b="1">
                          <a:solidFill>
                            <a:srgbClr val="FFFFFF"/>
                          </a:solidFill>
                        </a:rPr>
                        <a:t>Tibbiy misol</a:t>
                      </a:r>
                    </a:p>
                  </a:txBody>
                  <a:tcPr marL="73152" marR="73152" marT="36576" marB="36576">
                    <a:solidFill>
                      <a:srgbClr val="0B1F3A"/>
                    </a:solidFill>
                  </a:tcPr>
                </a:tc>
              </a:tr>
              <a:tr h="411480">
                <a:tc>
                  <a:txBody>
                    <a:bodyPr/>
                    <a:lstStyle/>
                    <a:p>
                      <a:r>
                        <a:rPr sz="1200" b="0">
                          <a:solidFill>
                            <a:srgbClr val="1F2937"/>
                          </a:solidFill>
                        </a:rPr>
                        <a:t>Ichki o‘rindoshlik</a:t>
                      </a:r>
                    </a:p>
                  </a:txBody>
                  <a:tcPr marL="73152" marR="73152" marT="36576" marB="36576">
                    <a:solidFill>
                      <a:srgbClr val="E8EEF6"/>
                    </a:solidFill>
                  </a:tcPr>
                </a:tc>
                <a:tc>
                  <a:txBody>
                    <a:bodyPr/>
                    <a:lstStyle/>
                    <a:p>
                      <a:r>
                        <a:rPr sz="1200" b="0">
                          <a:solidFill>
                            <a:srgbClr val="1F2937"/>
                          </a:solidFill>
                        </a:rPr>
                        <a:t>Bo‘sh vaqtda o‘z muassasada, haq evaziga</a:t>
                      </a:r>
                    </a:p>
                  </a:txBody>
                  <a:tcPr marL="73152" marR="73152" marT="36576" marB="36576">
                    <a:solidFill>
                      <a:srgbClr val="E8EEF6"/>
                    </a:solidFill>
                  </a:tcPr>
                </a:tc>
                <a:tc>
                  <a:txBody>
                    <a:bodyPr/>
                    <a:lstStyle/>
                    <a:p>
                      <a:r>
                        <a:rPr sz="1200" b="0">
                          <a:solidFill>
                            <a:srgbClr val="1F2937"/>
                          </a:solidFill>
                        </a:rPr>
                        <a:t>O‘z shifoxonasida qo‘shimcha ish</a:t>
                      </a:r>
                    </a:p>
                  </a:txBody>
                  <a:tcPr marL="73152" marR="73152" marT="36576" marB="36576">
                    <a:solidFill>
                      <a:srgbClr val="E8EEF6"/>
                    </a:solidFill>
                  </a:tcPr>
                </a:tc>
              </a:tr>
              <a:tr h="411480">
                <a:tc>
                  <a:txBody>
                    <a:bodyPr/>
                    <a:lstStyle/>
                    <a:p>
                      <a:r>
                        <a:rPr sz="1200" b="0">
                          <a:solidFill>
                            <a:srgbClr val="1F2937"/>
                          </a:solidFill>
                        </a:rPr>
                        <a:t>Tashqi o‘rindoshlik</a:t>
                      </a:r>
                    </a:p>
                  </a:txBody>
                  <a:tcPr marL="73152" marR="73152" marT="36576" marB="36576">
                    <a:solidFill>
                      <a:srgbClr val="FFFFFF"/>
                    </a:solidFill>
                  </a:tcPr>
                </a:tc>
                <a:tc>
                  <a:txBody>
                    <a:bodyPr/>
                    <a:lstStyle/>
                    <a:p>
                      <a:r>
                        <a:rPr sz="1200" b="0">
                          <a:solidFill>
                            <a:srgbClr val="1F2937"/>
                          </a:solidFill>
                        </a:rPr>
                        <a:t>Bo‘sh vaqtda boshqa muassasada, haq evaziga</a:t>
                      </a:r>
                    </a:p>
                  </a:txBody>
                  <a:tcPr marL="73152" marR="73152" marT="36576" marB="36576">
                    <a:solidFill>
                      <a:srgbClr val="FFFFFF"/>
                    </a:solidFill>
                  </a:tcPr>
                </a:tc>
                <a:tc>
                  <a:txBody>
                    <a:bodyPr/>
                    <a:lstStyle/>
                    <a:p>
                      <a:r>
                        <a:rPr sz="1200" b="0">
                          <a:solidFill>
                            <a:srgbClr val="1F2937"/>
                          </a:solidFill>
                        </a:rPr>
                        <a:t>Boshqa shifoxonada bo‘sh vaqtda ishlash</a:t>
                      </a:r>
                    </a:p>
                  </a:txBody>
                  <a:tcPr marL="73152" marR="73152" marT="36576" marB="36576">
                    <a:solidFill>
                      <a:srgbClr val="FFFFFF"/>
                    </a:solidFill>
                  </a:tcPr>
                </a:tc>
              </a:tr>
              <a:tr h="411480">
                <a:tc>
                  <a:txBody>
                    <a:bodyPr/>
                    <a:lstStyle/>
                    <a:p>
                      <a:r>
                        <a:rPr sz="1200" b="0">
                          <a:solidFill>
                            <a:srgbClr val="1F2937"/>
                          </a:solidFill>
                        </a:rPr>
                        <a:t>Bir necha kasb</a:t>
                      </a:r>
                    </a:p>
                  </a:txBody>
                  <a:tcPr marL="73152" marR="73152" marT="36576" marB="36576">
                    <a:solidFill>
                      <a:srgbClr val="E8EEF6"/>
                    </a:solidFill>
                  </a:tcPr>
                </a:tc>
                <a:tc>
                  <a:txBody>
                    <a:bodyPr/>
                    <a:lstStyle/>
                    <a:p>
                      <a:r>
                        <a:rPr sz="1200" b="0">
                          <a:solidFill>
                            <a:srgbClr val="1F2937"/>
                          </a:solidFill>
                        </a:rPr>
                        <a:t>Shu muassasada qo‘shimcha boshqa lavozim</a:t>
                      </a:r>
                    </a:p>
                  </a:txBody>
                  <a:tcPr marL="73152" marR="73152" marT="36576" marB="36576">
                    <a:solidFill>
                      <a:srgbClr val="E8EEF6"/>
                    </a:solidFill>
                  </a:tcPr>
                </a:tc>
                <a:tc>
                  <a:txBody>
                    <a:bodyPr/>
                    <a:lstStyle/>
                    <a:p>
                      <a:r>
                        <a:rPr sz="1200" b="0">
                          <a:solidFill>
                            <a:srgbClr val="1F2937"/>
                          </a:solidFill>
                        </a:rPr>
                        <a:t>Rahbar vrach lavozimida ishlaydi</a:t>
                      </a:r>
                    </a:p>
                  </a:txBody>
                  <a:tcPr marL="73152" marR="73152" marT="36576" marB="36576">
                    <a:solidFill>
                      <a:srgbClr val="E8EEF6"/>
                    </a:solidFill>
                  </a:tcPr>
                </a:tc>
              </a:tr>
              <a:tr h="411480">
                <a:tc>
                  <a:txBody>
                    <a:bodyPr/>
                    <a:lstStyle/>
                    <a:p>
                      <a:r>
                        <a:rPr sz="1200" b="0">
                          <a:solidFill>
                            <a:srgbClr val="1F2937"/>
                          </a:solidFill>
                        </a:rPr>
                        <a:t>O‘rinbosarlik</a:t>
                      </a:r>
                    </a:p>
                  </a:txBody>
                  <a:tcPr marL="73152" marR="73152" marT="36576" marB="36576">
                    <a:solidFill>
                      <a:srgbClr val="FFFFFF"/>
                    </a:solidFill>
                  </a:tcPr>
                </a:tc>
                <a:tc>
                  <a:txBody>
                    <a:bodyPr/>
                    <a:lstStyle/>
                    <a:p>
                      <a:r>
                        <a:rPr sz="1200" b="0">
                          <a:solidFill>
                            <a:srgbClr val="1F2937"/>
                          </a:solidFill>
                        </a:rPr>
                        <a:t>Vaqtincha yo‘q xodim ishini ham bajarish</a:t>
                      </a:r>
                    </a:p>
                  </a:txBody>
                  <a:tcPr marL="73152" marR="73152" marT="36576" marB="36576">
                    <a:solidFill>
                      <a:srgbClr val="FFFFFF"/>
                    </a:solidFill>
                  </a:tcPr>
                </a:tc>
                <a:tc>
                  <a:txBody>
                    <a:bodyPr/>
                    <a:lstStyle/>
                    <a:p>
                      <a:r>
                        <a:rPr sz="1200" b="0">
                          <a:solidFill>
                            <a:srgbClr val="1F2937"/>
                          </a:solidFill>
                        </a:rPr>
                        <a:t>Ta’tildagi hamkasb ishini bajarish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tushunchani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 vaqti va mehnatni muhofaza 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Normal ish vaqti haftasiga 40 soatdan oshmaydi; tibbiy xodimlar uchun u 36 soatgacha qisqartiriladi.</a:t>
            </a:r>
          </a:p>
          <a:p>
            <a:pPr>
              <a:spcAft>
                <a:spcPts val="800"/>
              </a:spcAft>
            </a:pPr>
            <a:r>
              <a:rPr sz="1800">
                <a:solidFill>
                  <a:srgbClr val="1F2937"/>
                </a:solidFill>
                <a:latin typeface="Calibri"/>
              </a:rPr>
              <a:t>▸  Ish beruvchi dastlabki va davriy tibbiy ko‘riklarni tashkil etadi; xodim ko‘rikni rad eta olmaydi.</a:t>
            </a:r>
          </a:p>
          <a:p>
            <a:pPr>
              <a:spcAft>
                <a:spcPts val="800"/>
              </a:spcAft>
            </a:pPr>
            <a:r>
              <a:rPr sz="1800">
                <a:solidFill>
                  <a:srgbClr val="1F2937"/>
                </a:solidFill>
                <a:latin typeface="Calibri"/>
              </a:rPr>
              <a:t>▸  Ko‘rik xarajatini xodim to‘lamaydi; sog‘lig‘i yomonlashsa, navbatdan tashqari ko‘rik so‘rashi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Mavzu</a:t>
                      </a:r>
                    </a:p>
                  </a:txBody>
                  <a:tcPr marL="73152" marR="73152" marT="36576" marB="36576">
                    <a:solidFill>
                      <a:srgbClr val="0B1F3A"/>
                    </a:solidFill>
                  </a:tcPr>
                </a:tc>
                <a:tc>
                  <a:txBody>
                    <a:bodyPr/>
                    <a:lstStyle/>
                    <a:p>
                      <a:r>
                        <a:rPr sz="1300" b="1">
                          <a:solidFill>
                            <a:srgbClr val="FFFFFF"/>
                          </a:solidFill>
                        </a:rPr>
                        <a:t>Ish beruvchi</a:t>
                      </a:r>
                    </a:p>
                  </a:txBody>
                  <a:tcPr marL="73152" marR="73152" marT="36576" marB="36576">
                    <a:solidFill>
                      <a:srgbClr val="0B1F3A"/>
                    </a:solidFill>
                  </a:tcPr>
                </a:tc>
                <a:tc>
                  <a:txBody>
                    <a:bodyPr/>
                    <a:lstStyle/>
                    <a:p>
                      <a:r>
                        <a:rPr sz="1300" b="1">
                          <a:solidFill>
                            <a:srgbClr val="FFFFFF"/>
                          </a:solidFill>
                        </a:rPr>
                        <a:t>Xodim</a:t>
                      </a:r>
                    </a:p>
                  </a:txBody>
                  <a:tcPr marL="73152" marR="73152" marT="36576" marB="36576">
                    <a:solidFill>
                      <a:srgbClr val="0B1F3A"/>
                    </a:solidFill>
                  </a:tcPr>
                </a:tc>
              </a:tr>
              <a:tr h="411480">
                <a:tc>
                  <a:txBody>
                    <a:bodyPr/>
                    <a:lstStyle/>
                    <a:p>
                      <a:r>
                        <a:rPr sz="1200" b="0">
                          <a:solidFill>
                            <a:srgbClr val="1F2937"/>
                          </a:solidFill>
                        </a:rPr>
                        <a:t>Sharoit</a:t>
                      </a:r>
                    </a:p>
                  </a:txBody>
                  <a:tcPr marL="73152" marR="73152" marT="36576" marB="36576">
                    <a:solidFill>
                      <a:srgbClr val="E8EEF6"/>
                    </a:solidFill>
                  </a:tcPr>
                </a:tc>
                <a:tc>
                  <a:txBody>
                    <a:bodyPr/>
                    <a:lstStyle/>
                    <a:p>
                      <a:r>
                        <a:rPr sz="1200" b="0">
                          <a:solidFill>
                            <a:srgbClr val="1F2937"/>
                          </a:solidFill>
                        </a:rPr>
                        <a:t>Xavfsiz va gigienik sharoit yaratadi</a:t>
                      </a:r>
                    </a:p>
                  </a:txBody>
                  <a:tcPr marL="73152" marR="73152" marT="36576" marB="36576">
                    <a:solidFill>
                      <a:srgbClr val="E8EEF6"/>
                    </a:solidFill>
                  </a:tcPr>
                </a:tc>
                <a:tc>
                  <a:txBody>
                    <a:bodyPr/>
                    <a:lstStyle/>
                    <a:p>
                      <a:r>
                        <a:rPr sz="1200" b="0">
                          <a:solidFill>
                            <a:srgbClr val="1F2937"/>
                          </a:solidFill>
                        </a:rPr>
                        <a:t>Talab va farmoyishlarga rioya qiladi</a:t>
                      </a:r>
                    </a:p>
                  </a:txBody>
                  <a:tcPr marL="73152" marR="73152" marT="36576" marB="36576">
                    <a:solidFill>
                      <a:srgbClr val="E8EEF6"/>
                    </a:solidFill>
                  </a:tcPr>
                </a:tc>
              </a:tr>
              <a:tr h="411480">
                <a:tc>
                  <a:txBody>
                    <a:bodyPr/>
                    <a:lstStyle/>
                    <a:p>
                      <a:r>
                        <a:rPr sz="1200" b="0">
                          <a:solidFill>
                            <a:srgbClr val="1F2937"/>
                          </a:solidFill>
                        </a:rPr>
                        <a:t>Himoya</a:t>
                      </a:r>
                    </a:p>
                  </a:txBody>
                  <a:tcPr marL="73152" marR="73152" marT="36576" marB="36576">
                    <a:solidFill>
                      <a:srgbClr val="FFFFFF"/>
                    </a:solidFill>
                  </a:tcPr>
                </a:tc>
                <a:tc>
                  <a:txBody>
                    <a:bodyPr/>
                    <a:lstStyle/>
                    <a:p>
                      <a:r>
                        <a:rPr sz="1200" b="0">
                          <a:solidFill>
                            <a:srgbClr val="1F2937"/>
                          </a:solidFill>
                        </a:rPr>
                        <a:t>Xavf va himoya vositalari haqida xabar beradi</a:t>
                      </a:r>
                    </a:p>
                  </a:txBody>
                  <a:tcPr marL="73152" marR="73152" marT="36576" marB="36576">
                    <a:solidFill>
                      <a:srgbClr val="FFFFFF"/>
                    </a:solidFill>
                  </a:tcPr>
                </a:tc>
                <a:tc>
                  <a:txBody>
                    <a:bodyPr/>
                    <a:lstStyle/>
                    <a:p>
                      <a:r>
                        <a:rPr sz="1200" b="0">
                          <a:solidFill>
                            <a:srgbClr val="1F2937"/>
                          </a:solidFill>
                        </a:rPr>
                        <a:t>Shaxsiy himoya vositalaridan foydalanadi</a:t>
                      </a:r>
                    </a:p>
                  </a:txBody>
                  <a:tcPr marL="73152" marR="73152" marT="36576" marB="36576">
                    <a:solidFill>
                      <a:srgbClr val="FFFFFF"/>
                    </a:solidFill>
                  </a:tcPr>
                </a:tc>
              </a:tr>
              <a:tr h="411480">
                <a:tc>
                  <a:txBody>
                    <a:bodyPr/>
                    <a:lstStyle/>
                    <a:p>
                      <a:r>
                        <a:rPr sz="1200" b="0">
                          <a:solidFill>
                            <a:srgbClr val="1F2937"/>
                          </a:solidFill>
                        </a:rPr>
                        <a:t>Ko‘rik</a:t>
                      </a:r>
                    </a:p>
                  </a:txBody>
                  <a:tcPr marL="73152" marR="73152" marT="36576" marB="36576">
                    <a:solidFill>
                      <a:srgbClr val="E8EEF6"/>
                    </a:solidFill>
                  </a:tcPr>
                </a:tc>
                <a:tc>
                  <a:txBody>
                    <a:bodyPr/>
                    <a:lstStyle/>
                    <a:p>
                      <a:r>
                        <a:rPr sz="1200" b="0">
                          <a:solidFill>
                            <a:srgbClr val="1F2937"/>
                          </a:solidFill>
                        </a:rPr>
                        <a:t>Dastlabki va davriy ko‘rikni tashkil etadi</a:t>
                      </a:r>
                    </a:p>
                  </a:txBody>
                  <a:tcPr marL="73152" marR="73152" marT="36576" marB="36576">
                    <a:solidFill>
                      <a:srgbClr val="E8EEF6"/>
                    </a:solidFill>
                  </a:tcPr>
                </a:tc>
                <a:tc>
                  <a:txBody>
                    <a:bodyPr/>
                    <a:lstStyle/>
                    <a:p>
                      <a:r>
                        <a:rPr sz="1200" b="0">
                          <a:solidFill>
                            <a:srgbClr val="1F2937"/>
                          </a:solidFill>
                        </a:rPr>
                        <a:t>Ko‘rikdan o‘tadi, rad eta olmaydi</a:t>
                      </a:r>
                    </a:p>
                  </a:txBody>
                  <a:tcPr marL="73152" marR="73152" marT="36576" marB="36576">
                    <a:solidFill>
                      <a:srgbClr val="E8EEF6"/>
                    </a:solidFill>
                  </a:tcPr>
                </a:tc>
              </a:tr>
              <a:tr h="411480">
                <a:tc>
                  <a:txBody>
                    <a:bodyPr/>
                    <a:lstStyle/>
                    <a:p>
                      <a:r>
                        <a:rPr sz="1200" b="0">
                          <a:solidFill>
                            <a:srgbClr val="1F2937"/>
                          </a:solidFill>
                        </a:rPr>
                        <a:t>Javobgarlik</a:t>
                      </a:r>
                    </a:p>
                  </a:txBody>
                  <a:tcPr marL="73152" marR="73152" marT="36576" marB="36576">
                    <a:solidFill>
                      <a:srgbClr val="FFFFFF"/>
                    </a:solidFill>
                  </a:tcPr>
                </a:tc>
                <a:tc>
                  <a:txBody>
                    <a:bodyPr/>
                    <a:lstStyle/>
                    <a:p>
                      <a:r>
                        <a:rPr sz="1200" b="0">
                          <a:solidFill>
                            <a:srgbClr val="1F2937"/>
                          </a:solidFill>
                        </a:rPr>
                        <a:t>Mehnat muhofazasiga qonun oldida javobgar</a:t>
                      </a:r>
                    </a:p>
                  </a:txBody>
                  <a:tcPr marL="73152" marR="73152" marT="36576" marB="36576">
                    <a:solidFill>
                      <a:srgbClr val="FFFFFF"/>
                    </a:solidFill>
                  </a:tcPr>
                </a:tc>
                <a:tc>
                  <a:txBody>
                    <a:bodyPr/>
                    <a:lstStyle/>
                    <a:p>
                      <a:r>
                        <a:rPr sz="1200" b="0">
                          <a:solidFill>
                            <a:srgbClr val="1F2937"/>
                          </a:solidFill>
                        </a:rPr>
                        <a:t>Xavf va hodisani shoshilinch xabar qiladi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Mehnat muhofazasi: tomonlar majburiyati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84-85, 86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shartnomasini bekor qilish: xodim tashabbusi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Umumiy asoslar: kelishuv, bir taraf tashabbusi, muddat tugashi, taraflar ixtiyoridan tashqari holatlar.</a:t>
            </a:r>
          </a:p>
          <a:p>
            <a:pPr>
              <a:spcAft>
                <a:spcPts val="800"/>
              </a:spcAft>
            </a:pPr>
            <a:r>
              <a:rPr sz="1800">
                <a:solidFill>
                  <a:srgbClr val="1F2937"/>
                </a:solidFill>
                <a:latin typeface="Calibri"/>
              </a:rPr>
              <a:t>▸  Xodim muddatsiz va muddatli shartnomani ikki hafta oldin yozma ogohlantirib bekor qila oladi.</a:t>
            </a:r>
          </a:p>
          <a:p>
            <a:pPr>
              <a:spcAft>
                <a:spcPts val="800"/>
              </a:spcAft>
            </a:pPr>
            <a:r>
              <a:rPr sz="1800">
                <a:solidFill>
                  <a:srgbClr val="1F2937"/>
                </a:solidFill>
                <a:latin typeface="Calibri"/>
              </a:rPr>
              <a:t>▸  Ogohlantirish muddati tugagach ham shartnoma bekor qilinmasa, ariza o‘z kuchini yo‘qotadi.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Yozma ariza beradi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Ikki hafta oldin ogohlantiradi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Ariza qaytarib olinishi mumkin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Muddat o‘tgach ishni to‘xtatadi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Daftarcha, hisob-kitob beriladi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Xodim tashabbusi: bosqichlar</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86-87, 87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 beruvchi tashabbusi: sabablar va ogohlantirish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Ikki shart: Kodeksdagi sabab va barcha rasmiy talablarga (ogohlantirish, boshqa ish taklifi) rioya qilish.</a:t>
            </a:r>
          </a:p>
          <a:p>
            <a:pPr>
              <a:spcAft>
                <a:spcPts val="800"/>
              </a:spcAft>
            </a:pPr>
            <a:r>
              <a:rPr sz="1800">
                <a:solidFill>
                  <a:srgbClr val="1F2937"/>
                </a:solidFill>
                <a:latin typeface="Calibri"/>
              </a:rPr>
              <a:t>▸  Muntazam buzish: oldingi jazodan keyin bir yil ichida takror nojo‘ya harakat sodir etilishi.</a:t>
            </a:r>
          </a:p>
          <a:p>
            <a:pPr>
              <a:spcAft>
                <a:spcPts val="800"/>
              </a:spcAft>
            </a:pPr>
            <a:r>
              <a:rPr sz="1800">
                <a:solidFill>
                  <a:srgbClr val="1F2937"/>
                </a:solidFill>
                <a:latin typeface="Calibri"/>
              </a:rPr>
              <a:t>▸  Vaqtincha mehnatga layoqatsizlik yoki ta’tilda bekor qilib bo‘lmaydi; korxona tugatilsa — istisno.</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835580"/>
                <a:gridCol w="2452394"/>
              </a:tblGrid>
              <a:tr h="411480">
                <a:tc>
                  <a:txBody>
                    <a:bodyPr/>
                    <a:lstStyle/>
                    <a:p>
                      <a:r>
                        <a:rPr sz="1400" b="1">
                          <a:solidFill>
                            <a:srgbClr val="FFFFFF"/>
                          </a:solidFill>
                        </a:rPr>
                        <a:t>Sabab</a:t>
                      </a:r>
                    </a:p>
                  </a:txBody>
                  <a:tcPr marL="73152" marR="73152" marT="36576" marB="36576">
                    <a:solidFill>
                      <a:srgbClr val="0B1F3A"/>
                    </a:solidFill>
                  </a:tcPr>
                </a:tc>
                <a:tc>
                  <a:txBody>
                    <a:bodyPr/>
                    <a:lstStyle/>
                    <a:p>
                      <a:r>
                        <a:rPr sz="1400" b="1">
                          <a:solidFill>
                            <a:srgbClr val="FFFFFF"/>
                          </a:solidFill>
                        </a:rPr>
                        <a:t>Ogohlantirish</a:t>
                      </a:r>
                    </a:p>
                  </a:txBody>
                  <a:tcPr marL="73152" marR="73152" marT="36576" marB="36576">
                    <a:solidFill>
                      <a:srgbClr val="0B1F3A"/>
                    </a:solidFill>
                  </a:tcPr>
                </a:tc>
              </a:tr>
              <a:tr h="411480">
                <a:tc>
                  <a:txBody>
                    <a:bodyPr/>
                    <a:lstStyle/>
                    <a:p>
                      <a:r>
                        <a:rPr sz="1300" b="0">
                          <a:solidFill>
                            <a:srgbClr val="1F2937"/>
                          </a:solidFill>
                        </a:rPr>
                        <a:t>Shtat qisqarishi, korxona tugatilishi</a:t>
                      </a:r>
                    </a:p>
                  </a:txBody>
                  <a:tcPr marL="73152" marR="73152" marT="36576" marB="36576">
                    <a:solidFill>
                      <a:srgbClr val="E8EEF6"/>
                    </a:solidFill>
                  </a:tcPr>
                </a:tc>
                <a:tc>
                  <a:txBody>
                    <a:bodyPr/>
                    <a:lstStyle/>
                    <a:p>
                      <a:r>
                        <a:rPr sz="1300" b="0">
                          <a:solidFill>
                            <a:srgbClr val="1F2937"/>
                          </a:solidFill>
                        </a:rPr>
                        <a:t>Kamida ikki oy oldin</a:t>
                      </a:r>
                    </a:p>
                  </a:txBody>
                  <a:tcPr marL="73152" marR="73152" marT="36576" marB="36576">
                    <a:solidFill>
                      <a:srgbClr val="E8EEF6"/>
                    </a:solidFill>
                  </a:tcPr>
                </a:tc>
              </a:tr>
              <a:tr h="411480">
                <a:tc>
                  <a:txBody>
                    <a:bodyPr/>
                    <a:lstStyle/>
                    <a:p>
                      <a:r>
                        <a:rPr sz="1300" b="0">
                          <a:solidFill>
                            <a:srgbClr val="1F2937"/>
                          </a:solidFill>
                        </a:rPr>
                        <a:t>Malaka yetarli emas yoki sog‘liq</a:t>
                      </a:r>
                    </a:p>
                  </a:txBody>
                  <a:tcPr marL="73152" marR="73152" marT="36576" marB="36576">
                    <a:solidFill>
                      <a:srgbClr val="FFFFFF"/>
                    </a:solidFill>
                  </a:tcPr>
                </a:tc>
                <a:tc>
                  <a:txBody>
                    <a:bodyPr/>
                    <a:lstStyle/>
                    <a:p>
                      <a:r>
                        <a:rPr sz="1300" b="0">
                          <a:solidFill>
                            <a:srgbClr val="1F2937"/>
                          </a:solidFill>
                        </a:rPr>
                        <a:t>Kamida ikki hafta oldin</a:t>
                      </a:r>
                    </a:p>
                  </a:txBody>
                  <a:tcPr marL="73152" marR="73152" marT="36576" marB="36576">
                    <a:solidFill>
                      <a:srgbClr val="FFFFFF"/>
                    </a:solidFill>
                  </a:tcPr>
                </a:tc>
              </a:tr>
              <a:tr h="411480">
                <a:tc>
                  <a:txBody>
                    <a:bodyPr/>
                    <a:lstStyle/>
                    <a:p>
                      <a:r>
                        <a:rPr sz="1300" b="0">
                          <a:solidFill>
                            <a:srgbClr val="1F2937"/>
                          </a:solidFill>
                        </a:rPr>
                        <a:t>Muntazam buzish</a:t>
                      </a:r>
                    </a:p>
                  </a:txBody>
                  <a:tcPr marL="73152" marR="73152" marT="36576" marB="36576">
                    <a:solidFill>
                      <a:srgbClr val="E8EEF6"/>
                    </a:solidFill>
                  </a:tcPr>
                </a:tc>
                <a:tc>
                  <a:txBody>
                    <a:bodyPr/>
                    <a:lstStyle/>
                    <a:p>
                      <a:r>
                        <a:rPr sz="1300" b="0">
                          <a:solidFill>
                            <a:srgbClr val="1F2937"/>
                          </a:solidFill>
                        </a:rPr>
                        <a:t>Uch kun oldin yoki kompensatsiya</a:t>
                      </a:r>
                    </a:p>
                  </a:txBody>
                  <a:tcPr marL="73152" marR="73152" marT="36576" marB="36576">
                    <a:solidFill>
                      <a:srgbClr val="E8EEF6"/>
                    </a:solidFill>
                  </a:tcPr>
                </a:tc>
              </a:tr>
              <a:tr h="411480">
                <a:tc>
                  <a:txBody>
                    <a:bodyPr/>
                    <a:lstStyle/>
                    <a:p>
                      <a:r>
                        <a:rPr sz="1300" b="0">
                          <a:solidFill>
                            <a:srgbClr val="1F2937"/>
                          </a:solidFill>
                        </a:rPr>
                        <a:t>Bir marta qo‘pol buzish</a:t>
                      </a:r>
                    </a:p>
                  </a:txBody>
                  <a:tcPr marL="73152" marR="73152" marT="36576" marB="36576">
                    <a:solidFill>
                      <a:srgbClr val="FFFFFF"/>
                    </a:solidFill>
                  </a:tcPr>
                </a:tc>
                <a:tc>
                  <a:txBody>
                    <a:bodyPr/>
                    <a:lstStyle/>
                    <a:p>
                      <a:r>
                        <a:rPr sz="1300" b="0">
                          <a:solidFill>
                            <a:srgbClr val="1F2937"/>
                          </a:solidFill>
                        </a:rPr>
                        <a:t>Uch kun oldin yoki kompensatsiya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Sabab va ogohlantirish muddati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87-88, 88, 89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Intizomiy jazolar va ularni qo‘llash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Jazo turlari: hayfsan, o‘rtacha oylik ish haqining 30% gacha jarima, mehnat shartnomasini bekor qilish.</a:t>
            </a:r>
          </a:p>
          <a:p>
            <a:pPr>
              <a:spcAft>
                <a:spcPts val="800"/>
              </a:spcAft>
            </a:pPr>
            <a:r>
              <a:rPr sz="1800">
                <a:solidFill>
                  <a:srgbClr val="1F2937"/>
                </a:solidFill>
                <a:latin typeface="Calibri"/>
              </a:rPr>
              <a:t>▸  Jazodan oldin yozma tushuntirish xati so‘raladi. Xodim rad etsa ham, jazo qo‘llash mumkin.</a:t>
            </a:r>
          </a:p>
          <a:p>
            <a:pPr>
              <a:spcAft>
                <a:spcPts val="800"/>
              </a:spcAft>
            </a:pPr>
            <a:r>
              <a:rPr sz="1800">
                <a:solidFill>
                  <a:srgbClr val="1F2937"/>
                </a:solidFill>
                <a:latin typeface="Calibri"/>
              </a:rPr>
              <a:t>▸  Har bir huquqbuzarlikka bitta jazo beriladi va u buyruq bilan e’lon qilinadi.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77115"/>
                <a:gridCol w="3710859"/>
              </a:tblGrid>
              <a:tr h="411480">
                <a:tc>
                  <a:txBody>
                    <a:bodyPr/>
                    <a:lstStyle/>
                    <a:p>
                      <a:r>
                        <a:rPr sz="1400" b="1">
                          <a:solidFill>
                            <a:srgbClr val="FFFFFF"/>
                          </a:solidFill>
                        </a:rPr>
                        <a:t>Masala</a:t>
                      </a:r>
                    </a:p>
                  </a:txBody>
                  <a:tcPr marL="73152" marR="73152" marT="36576" marB="36576">
                    <a:solidFill>
                      <a:srgbClr val="0B1F3A"/>
                    </a:solidFill>
                  </a:tcPr>
                </a:tc>
                <a:tc>
                  <a:txBody>
                    <a:bodyPr/>
                    <a:lstStyle/>
                    <a:p>
                      <a:r>
                        <a:rPr sz="1400" b="1">
                          <a:solidFill>
                            <a:srgbClr val="FFFFFF"/>
                          </a:solidFill>
                        </a:rPr>
                        <a:t>Qoida</a:t>
                      </a:r>
                    </a:p>
                  </a:txBody>
                  <a:tcPr marL="73152" marR="73152" marT="36576" marB="36576">
                    <a:solidFill>
                      <a:srgbClr val="0B1F3A"/>
                    </a:solidFill>
                  </a:tcPr>
                </a:tc>
              </a:tr>
              <a:tr h="411480">
                <a:tc>
                  <a:txBody>
                    <a:bodyPr/>
                    <a:lstStyle/>
                    <a:p>
                      <a:r>
                        <a:rPr sz="1300" b="0">
                          <a:solidFill>
                            <a:srgbClr val="1F2937"/>
                          </a:solidFill>
                        </a:rPr>
                        <a:t>Qo‘llash</a:t>
                      </a:r>
                    </a:p>
                  </a:txBody>
                  <a:tcPr marL="73152" marR="73152" marT="36576" marB="36576">
                    <a:solidFill>
                      <a:srgbClr val="E8EEF6"/>
                    </a:solidFill>
                  </a:tcPr>
                </a:tc>
                <a:tc>
                  <a:txBody>
                    <a:bodyPr/>
                    <a:lstStyle/>
                    <a:p>
                      <a:r>
                        <a:rPr sz="1300" b="0">
                          <a:solidFill>
                            <a:srgbClr val="1F2937"/>
                          </a:solidFill>
                        </a:rPr>
                        <a:t>Aniqlangandan 1 oy ichida; kasallik kirmaydi</a:t>
                      </a:r>
                    </a:p>
                  </a:txBody>
                  <a:tcPr marL="73152" marR="73152" marT="36576" marB="36576">
                    <a:solidFill>
                      <a:srgbClr val="E8EEF6"/>
                    </a:solidFill>
                  </a:tcPr>
                </a:tc>
              </a:tr>
              <a:tr h="411480">
                <a:tc>
                  <a:txBody>
                    <a:bodyPr/>
                    <a:lstStyle/>
                    <a:p>
                      <a:r>
                        <a:rPr sz="1300" b="0">
                          <a:solidFill>
                            <a:srgbClr val="1F2937"/>
                          </a:solidFill>
                        </a:rPr>
                        <a:t>Eng chekka muddat</a:t>
                      </a:r>
                    </a:p>
                  </a:txBody>
                  <a:tcPr marL="73152" marR="73152" marT="36576" marB="36576">
                    <a:solidFill>
                      <a:srgbClr val="FFFFFF"/>
                    </a:solidFill>
                  </a:tcPr>
                </a:tc>
                <a:tc>
                  <a:txBody>
                    <a:bodyPr/>
                    <a:lstStyle/>
                    <a:p>
                      <a:r>
                        <a:rPr sz="1300" b="0">
                          <a:solidFill>
                            <a:srgbClr val="1F2937"/>
                          </a:solidFill>
                        </a:rPr>
                        <a:t>6 oy; taftishda 2 yil</a:t>
                      </a:r>
                    </a:p>
                  </a:txBody>
                  <a:tcPr marL="73152" marR="73152" marT="36576" marB="36576">
                    <a:solidFill>
                      <a:srgbClr val="FFFFFF"/>
                    </a:solidFill>
                  </a:tcPr>
                </a:tc>
              </a:tr>
              <a:tr h="411480">
                <a:tc>
                  <a:txBody>
                    <a:bodyPr/>
                    <a:lstStyle/>
                    <a:p>
                      <a:r>
                        <a:rPr sz="1300" b="0">
                          <a:solidFill>
                            <a:srgbClr val="1F2937"/>
                          </a:solidFill>
                        </a:rPr>
                        <a:t>Amal qilishi</a:t>
                      </a:r>
                    </a:p>
                  </a:txBody>
                  <a:tcPr marL="73152" marR="73152" marT="36576" marB="36576">
                    <a:solidFill>
                      <a:srgbClr val="E8EEF6"/>
                    </a:solidFill>
                  </a:tcPr>
                </a:tc>
                <a:tc>
                  <a:txBody>
                    <a:bodyPr/>
                    <a:lstStyle/>
                    <a:p>
                      <a:r>
                        <a:rPr sz="1300" b="0">
                          <a:solidFill>
                            <a:srgbClr val="1F2937"/>
                          </a:solidFill>
                        </a:rPr>
                        <a:t>Jazo kunidan 1 yil</a:t>
                      </a:r>
                    </a:p>
                  </a:txBody>
                  <a:tcPr marL="73152" marR="73152" marT="36576" marB="36576">
                    <a:solidFill>
                      <a:srgbClr val="E8EEF6"/>
                    </a:solidFill>
                  </a:tcPr>
                </a:tc>
              </a:tr>
              <a:tr h="411480">
                <a:tc>
                  <a:txBody>
                    <a:bodyPr/>
                    <a:lstStyle/>
                    <a:p>
                      <a:r>
                        <a:rPr sz="1300" b="0">
                          <a:solidFill>
                            <a:srgbClr val="1F2937"/>
                          </a:solidFill>
                        </a:rPr>
                        <a:t>Muddatidan oldin</a:t>
                      </a:r>
                    </a:p>
                  </a:txBody>
                  <a:tcPr marL="73152" marR="73152" marT="36576" marB="36576">
                    <a:solidFill>
                      <a:srgbClr val="FFFFFF"/>
                    </a:solidFill>
                  </a:tcPr>
                </a:tc>
                <a:tc>
                  <a:txBody>
                    <a:bodyPr/>
                    <a:lstStyle/>
                    <a:p>
                      <a:r>
                        <a:rPr sz="1300" b="0">
                          <a:solidFill>
                            <a:srgbClr val="1F2937"/>
                          </a:solidFill>
                        </a:rPr>
                        <a:t>Ish beruvchi bekor qilishi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Intizomiy jazo muddatlari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intizomiy jazo va ishdan bo‘shatish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vrach navbatchilikda ichki mehnat tartibini buzdi, rahbar buni aniqladi. Keyin xodim mehnat ta’tiliga chiqdi. Savol: jazo qancha muddatda qo‘llanadi?</a:t>
            </a:r>
          </a:p>
          <a:p>
            <a:pPr>
              <a:spcAft>
                <a:spcPts val="1200"/>
              </a:spcAft>
            </a:pPr>
            <a:r>
              <a:rPr sz="2200">
                <a:solidFill>
                  <a:srgbClr val="1F2937"/>
                </a:solidFill>
                <a:latin typeface="Calibri"/>
              </a:rPr>
              <a:t>▸  Javob: qilmish aniqlangandan bir oy ichida. Xodimning ta’tilda yoki kasallikda bo‘lgan vaqti bu muddatga kirmaydi. Xodimdan yozma tushuntirish xati talab qilinadi.</a:t>
            </a:r>
          </a:p>
          <a:p>
            <a:pPr>
              <a:spcAft>
                <a:spcPts val="1200"/>
              </a:spcAft>
            </a:pPr>
            <a:r>
              <a:rPr sz="2200">
                <a:solidFill>
                  <a:srgbClr val="1F2937"/>
                </a:solidFill>
                <a:latin typeface="Calibri"/>
              </a:rPr>
              <a:t>▸  Shartnomani bekor qilish uchun muntazam buzish kerak: oldingi jazodan keyin bir yil ichida takror nojo‘ya harakat. Bir marta qo‘pol buzish ham asos bo‘ladi.</a:t>
            </a:r>
          </a:p>
          <a:p>
            <a:pPr>
              <a:spcAft>
                <a:spcPts val="1200"/>
              </a:spcAft>
            </a:pPr>
            <a:r>
              <a:rPr sz="2200">
                <a:solidFill>
                  <a:srgbClr val="1F2937"/>
                </a:solidFill>
                <a:latin typeface="Calibri"/>
              </a:rPr>
              <a:t>▸  Diqqat: xato qilish xavfi! Jazoni qo‘llash muddati (1 oy) ≠ jazoning amal qilish muddati (1 yil). Ularni aralashtirmang.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90, 88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Ma’muriy qonunchilik va huquqbuzarlik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Ma’muriy qonunchilik davlat boshqaruvi va boshqa sohalarda jamoat munosabatlarini tartibga soluvchi huquqiy hujjatlar majmuasidir.</a:t>
            </a:r>
          </a:p>
          <a:p>
            <a:pPr>
              <a:spcAft>
                <a:spcPts val="1200"/>
              </a:spcAft>
            </a:pPr>
            <a:r>
              <a:rPr sz="2200">
                <a:solidFill>
                  <a:srgbClr val="1F2937"/>
                </a:solidFill>
                <a:latin typeface="Calibri"/>
              </a:rPr>
              <a:t>▸  U sanitariya, litsenziyalash kabi qoidalarni belgilaydi. Buzganlik uchun javobgarlikni va jazo qo‘llash tartibini ko‘zda tutadi.</a:t>
            </a:r>
          </a:p>
          <a:p>
            <a:pPr>
              <a:spcAft>
                <a:spcPts val="1200"/>
              </a:spcAft>
            </a:pPr>
            <a:r>
              <a:rPr sz="2200">
                <a:solidFill>
                  <a:srgbClr val="1F2937"/>
                </a:solidFill>
                <a:latin typeface="Calibri"/>
              </a:rPr>
              <a:t>▸  Konstitutsiya fuqarolarning huquqlari bilan birga majburiyatlari tengligini ham belgilaydi. Majburiyatni bajarmaslik qonuniy chora ko‘rishga sabab bo‘ladi.</a:t>
            </a:r>
          </a:p>
          <a:p>
            <a:pPr>
              <a:spcAft>
                <a:spcPts val="1200"/>
              </a:spcAft>
            </a:pPr>
            <a:r>
              <a:rPr sz="2200">
                <a:solidFill>
                  <a:srgbClr val="1F2937"/>
                </a:solidFill>
                <a:latin typeface="Calibri"/>
              </a:rPr>
              <a:t>▸  Ma’muriy huquqbuzarlik: huquq va erkinliklarga, mulkka, jamoat tartibiga, tabiiy muhitga tajovuz qiluvchi aybli harakat yoki harakatsizlik. Jinoyatdagi kabi ijtimoiy xavf alomati yo‘q.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92, 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Ayb shakllari: qasddan va ehtiyotsizlik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Qasddan: shaxs harakati g‘ayrihuquqiy ekanini biladi, oqibatni istaydi yoki unga ongli ravishda yo‘l qo‘yadi.</a:t>
            </a:r>
          </a:p>
          <a:p>
            <a:pPr>
              <a:spcAft>
                <a:spcPts val="800"/>
              </a:spcAft>
            </a:pPr>
            <a:r>
              <a:rPr sz="1800">
                <a:solidFill>
                  <a:srgbClr val="1F2937"/>
                </a:solidFill>
                <a:latin typeface="Calibri"/>
              </a:rPr>
              <a:t>▸  Ehtiyotsizlik: oqibatni oldindan ko‘rgan, lekin yengiltaklik bilan oldini olaman deb o‘ylagan.</a:t>
            </a:r>
          </a:p>
          <a:p>
            <a:pPr>
              <a:spcAft>
                <a:spcPts val="800"/>
              </a:spcAft>
            </a:pPr>
            <a:r>
              <a:rPr sz="1800">
                <a:solidFill>
                  <a:srgbClr val="1F2937"/>
                </a:solidFill>
                <a:latin typeface="Calibri"/>
              </a:rPr>
              <a:t>▸  Yoki oqibatni ko‘rishi lozim va mumkin edi, lekin oldindan ko‘ra bilmagan.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296072"/>
                <a:gridCol w="2073715"/>
                <a:gridCol w="191818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Qasddan</a:t>
                      </a:r>
                    </a:p>
                  </a:txBody>
                  <a:tcPr marL="73152" marR="73152" marT="36576" marB="36576">
                    <a:solidFill>
                      <a:srgbClr val="0B1F3A"/>
                    </a:solidFill>
                  </a:tcPr>
                </a:tc>
                <a:tc>
                  <a:txBody>
                    <a:bodyPr/>
                    <a:lstStyle/>
                    <a:p>
                      <a:r>
                        <a:rPr sz="1300" b="1">
                          <a:solidFill>
                            <a:srgbClr val="FFFFFF"/>
                          </a:solidFill>
                        </a:rPr>
                        <a:t>Ehtiyotsizlik</a:t>
                      </a:r>
                    </a:p>
                  </a:txBody>
                  <a:tcPr marL="73152" marR="73152" marT="36576" marB="36576">
                    <a:solidFill>
                      <a:srgbClr val="0B1F3A"/>
                    </a:solidFill>
                  </a:tcPr>
                </a:tc>
              </a:tr>
              <a:tr h="411480">
                <a:tc>
                  <a:txBody>
                    <a:bodyPr/>
                    <a:lstStyle/>
                    <a:p>
                      <a:r>
                        <a:rPr sz="1200" b="0">
                          <a:solidFill>
                            <a:srgbClr val="1F2937"/>
                          </a:solidFill>
                        </a:rPr>
                        <a:t>Oqibatga munosabat</a:t>
                      </a:r>
                    </a:p>
                  </a:txBody>
                  <a:tcPr marL="73152" marR="73152" marT="36576" marB="36576">
                    <a:solidFill>
                      <a:srgbClr val="E8EEF6"/>
                    </a:solidFill>
                  </a:tcPr>
                </a:tc>
                <a:tc>
                  <a:txBody>
                    <a:bodyPr/>
                    <a:lstStyle/>
                    <a:p>
                      <a:r>
                        <a:rPr sz="1200" b="0">
                          <a:solidFill>
                            <a:srgbClr val="1F2937"/>
                          </a:solidFill>
                        </a:rPr>
                        <a:t>Oqibatni istaydi yoki ongli yo‘l qo‘yadi</a:t>
                      </a:r>
                    </a:p>
                  </a:txBody>
                  <a:tcPr marL="73152" marR="73152" marT="36576" marB="36576">
                    <a:solidFill>
                      <a:srgbClr val="E8EEF6"/>
                    </a:solidFill>
                  </a:tcPr>
                </a:tc>
                <a:tc>
                  <a:txBody>
                    <a:bodyPr/>
                    <a:lstStyle/>
                    <a:p>
                      <a:r>
                        <a:rPr sz="1200" b="0">
                          <a:solidFill>
                            <a:srgbClr val="1F2937"/>
                          </a:solidFill>
                        </a:rPr>
                        <a:t>Oqibatning oldini olaman deb o‘ylaydi</a:t>
                      </a:r>
                    </a:p>
                  </a:txBody>
                  <a:tcPr marL="73152" marR="73152" marT="36576" marB="36576">
                    <a:solidFill>
                      <a:srgbClr val="E8EEF6"/>
                    </a:solidFill>
                  </a:tcPr>
                </a:tc>
              </a:tr>
              <a:tr h="411480">
                <a:tc>
                  <a:txBody>
                    <a:bodyPr/>
                    <a:lstStyle/>
                    <a:p>
                      <a:r>
                        <a:rPr sz="1200" b="0">
                          <a:solidFill>
                            <a:srgbClr val="1F2937"/>
                          </a:solidFill>
                        </a:rPr>
                        <a:t>Oldindan ko‘rish</a:t>
                      </a:r>
                    </a:p>
                  </a:txBody>
                  <a:tcPr marL="73152" marR="73152" marT="36576" marB="36576">
                    <a:solidFill>
                      <a:srgbClr val="FFFFFF"/>
                    </a:solidFill>
                  </a:tcPr>
                </a:tc>
                <a:tc>
                  <a:txBody>
                    <a:bodyPr/>
                    <a:lstStyle/>
                    <a:p>
                      <a:r>
                        <a:rPr sz="1200" b="0">
                          <a:solidFill>
                            <a:srgbClr val="1F2937"/>
                          </a:solidFill>
                        </a:rPr>
                        <a:t>Zararli oqibatni oldindan ko‘radi</a:t>
                      </a:r>
                    </a:p>
                  </a:txBody>
                  <a:tcPr marL="73152" marR="73152" marT="36576" marB="36576">
                    <a:solidFill>
                      <a:srgbClr val="FFFFFF"/>
                    </a:solidFill>
                  </a:tcPr>
                </a:tc>
                <a:tc>
                  <a:txBody>
                    <a:bodyPr/>
                    <a:lstStyle/>
                    <a:p>
                      <a:r>
                        <a:rPr sz="1200" b="0">
                          <a:solidFill>
                            <a:srgbClr val="1F2937"/>
                          </a:solidFill>
                        </a:rPr>
                        <a:t>Ko‘rgan yoki ko‘rishi lozim bo‘lgan</a:t>
                      </a:r>
                    </a:p>
                  </a:txBody>
                  <a:tcPr marL="73152" marR="73152" marT="36576" marB="36576">
                    <a:solidFill>
                      <a:srgbClr val="FFFFFF"/>
                    </a:solidFill>
                  </a:tcPr>
                </a:tc>
              </a:tr>
              <a:tr h="411480">
                <a:tc>
                  <a:txBody>
                    <a:bodyPr/>
                    <a:lstStyle/>
                    <a:p>
                      <a:r>
                        <a:rPr sz="1200" b="0">
                          <a:solidFill>
                            <a:srgbClr val="1F2937"/>
                          </a:solidFill>
                        </a:rPr>
                        <a:t>G‘ayrihuquqiylikni bilish</a:t>
                      </a:r>
                    </a:p>
                  </a:txBody>
                  <a:tcPr marL="73152" marR="73152" marT="36576" marB="36576">
                    <a:solidFill>
                      <a:srgbClr val="E8EEF6"/>
                    </a:solidFill>
                  </a:tcPr>
                </a:tc>
                <a:tc>
                  <a:txBody>
                    <a:bodyPr/>
                    <a:lstStyle/>
                    <a:p>
                      <a:r>
                        <a:rPr sz="1200" b="0">
                          <a:solidFill>
                            <a:srgbClr val="1F2937"/>
                          </a:solidFill>
                        </a:rPr>
                        <a:t>Harakat g‘ayrihuquqiy ekanini biladi</a:t>
                      </a:r>
                    </a:p>
                  </a:txBody>
                  <a:tcPr marL="73152" marR="73152" marT="36576" marB="36576">
                    <a:solidFill>
                      <a:srgbClr val="E8EEF6"/>
                    </a:solidFill>
                  </a:tcPr>
                </a:tc>
                <a:tc>
                  <a:txBody>
                    <a:bodyPr/>
                    <a:lstStyle/>
                    <a:p>
                      <a:r>
                        <a:rPr sz="1200" b="0">
                          <a:solidFill>
                            <a:srgbClr val="1F2937"/>
                          </a:solidFill>
                        </a:rPr>
                        <a:t>Oqibatni xohlamaydi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Ayb shakllarini taqqoslash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Ma’muriy huquqbuzarlik va jinoyat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Ma’muriy huquqbuzarlik jamiyat uchun xavf alomatlarini tutmaydi, shuning uchun jinoiy javobgarlik kelmaydi.</a:t>
            </a:r>
          </a:p>
          <a:p>
            <a:pPr>
              <a:spcAft>
                <a:spcPts val="800"/>
              </a:spcAft>
            </a:pPr>
            <a:r>
              <a:rPr sz="1800">
                <a:solidFill>
                  <a:srgbClr val="1F2937"/>
                </a:solidFill>
                <a:latin typeface="Calibri"/>
              </a:rPr>
              <a:t>▸  Ahamiyati, oqibati og‘irligi va sodir etilish soniga qarab ayrimlari jinoyat deb baholanishi mumkin.</a:t>
            </a:r>
          </a:p>
          <a:p>
            <a:pPr>
              <a:spcAft>
                <a:spcPts val="800"/>
              </a:spcAft>
            </a:pPr>
            <a:r>
              <a:rPr sz="1800">
                <a:solidFill>
                  <a:srgbClr val="1F2937"/>
                </a:solidFill>
                <a:latin typeface="Calibri"/>
              </a:rPr>
              <a:t>▸  Diqqat: sanitariya yoki epidemiyaga qarshi qoidalarni buzish jinoyatga aylanishi mumkin.</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143345"/>
                <a:gridCol w="2143773"/>
                <a:gridCol w="200085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Ma’muriy</a:t>
                      </a:r>
                    </a:p>
                  </a:txBody>
                  <a:tcPr marL="73152" marR="73152" marT="36576" marB="36576">
                    <a:solidFill>
                      <a:srgbClr val="0B1F3A"/>
                    </a:solidFill>
                  </a:tcPr>
                </a:tc>
                <a:tc>
                  <a:txBody>
                    <a:bodyPr/>
                    <a:lstStyle/>
                    <a:p>
                      <a:r>
                        <a:rPr sz="1300" b="1">
                          <a:solidFill>
                            <a:srgbClr val="FFFFFF"/>
                          </a:solidFill>
                        </a:rPr>
                        <a:t>Jinoyat</a:t>
                      </a:r>
                    </a:p>
                  </a:txBody>
                  <a:tcPr marL="73152" marR="73152" marT="36576" marB="36576">
                    <a:solidFill>
                      <a:srgbClr val="0B1F3A"/>
                    </a:solidFill>
                  </a:tcPr>
                </a:tc>
              </a:tr>
              <a:tr h="411480">
                <a:tc>
                  <a:txBody>
                    <a:bodyPr/>
                    <a:lstStyle/>
                    <a:p>
                      <a:r>
                        <a:rPr sz="1200" b="0">
                          <a:solidFill>
                            <a:srgbClr val="1F2937"/>
                          </a:solidFill>
                        </a:rPr>
                        <a:t>Ijtimoiy xavf</a:t>
                      </a:r>
                    </a:p>
                  </a:txBody>
                  <a:tcPr marL="73152" marR="73152" marT="36576" marB="36576">
                    <a:solidFill>
                      <a:srgbClr val="E8EEF6"/>
                    </a:solidFill>
                  </a:tcPr>
                </a:tc>
                <a:tc>
                  <a:txBody>
                    <a:bodyPr/>
                    <a:lstStyle/>
                    <a:p>
                      <a:r>
                        <a:rPr sz="1200" b="0">
                          <a:solidFill>
                            <a:srgbClr val="1F2937"/>
                          </a:solidFill>
                        </a:rPr>
                        <a:t>Xavf alomatlarini tutmaydi</a:t>
                      </a:r>
                    </a:p>
                  </a:txBody>
                  <a:tcPr marL="73152" marR="73152" marT="36576" marB="36576">
                    <a:solidFill>
                      <a:srgbClr val="E8EEF6"/>
                    </a:solidFill>
                  </a:tcPr>
                </a:tc>
                <a:tc>
                  <a:txBody>
                    <a:bodyPr/>
                    <a:lstStyle/>
                    <a:p>
                      <a:r>
                        <a:rPr sz="1200" b="0">
                          <a:solidFill>
                            <a:srgbClr val="1F2937"/>
                          </a:solidFill>
                        </a:rPr>
                        <a:t>Ijtimoiy xavf alomatlari bor</a:t>
                      </a:r>
                    </a:p>
                  </a:txBody>
                  <a:tcPr marL="73152" marR="73152" marT="36576" marB="36576">
                    <a:solidFill>
                      <a:srgbClr val="E8EEF6"/>
                    </a:solidFill>
                  </a:tcPr>
                </a:tc>
              </a:tr>
              <a:tr h="411480">
                <a:tc>
                  <a:txBody>
                    <a:bodyPr/>
                    <a:lstStyle/>
                    <a:p>
                      <a:r>
                        <a:rPr sz="1200" b="0">
                          <a:solidFill>
                            <a:srgbClr val="1F2937"/>
                          </a:solidFill>
                        </a:rPr>
                        <a:t>Javobgarlik</a:t>
                      </a:r>
                    </a:p>
                  </a:txBody>
                  <a:tcPr marL="73152" marR="73152" marT="36576" marB="36576">
                    <a:solidFill>
                      <a:srgbClr val="FFFFFF"/>
                    </a:solidFill>
                  </a:tcPr>
                </a:tc>
                <a:tc>
                  <a:txBody>
                    <a:bodyPr/>
                    <a:lstStyle/>
                    <a:p>
                      <a:r>
                        <a:rPr sz="1200" b="0">
                          <a:solidFill>
                            <a:srgbClr val="1F2937"/>
                          </a:solidFill>
                        </a:rPr>
                        <a:t>Ma’muriy javobgarlik</a:t>
                      </a:r>
                    </a:p>
                  </a:txBody>
                  <a:tcPr marL="73152" marR="73152" marT="36576" marB="36576">
                    <a:solidFill>
                      <a:srgbClr val="FFFFFF"/>
                    </a:solidFill>
                  </a:tcPr>
                </a:tc>
                <a:tc>
                  <a:txBody>
                    <a:bodyPr/>
                    <a:lstStyle/>
                    <a:p>
                      <a:r>
                        <a:rPr sz="1200" b="0">
                          <a:solidFill>
                            <a:srgbClr val="1F2937"/>
                          </a:solidFill>
                        </a:rPr>
                        <a:t>Jinoiy javobgarlik</a:t>
                      </a:r>
                    </a:p>
                  </a:txBody>
                  <a:tcPr marL="73152" marR="73152" marT="36576" marB="36576">
                    <a:solidFill>
                      <a:srgbClr val="FFFFFF"/>
                    </a:solidFill>
                  </a:tcPr>
                </a:tc>
              </a:tr>
              <a:tr h="411480">
                <a:tc>
                  <a:txBody>
                    <a:bodyPr/>
                    <a:lstStyle/>
                    <a:p>
                      <a:r>
                        <a:rPr sz="1200" b="0">
                          <a:solidFill>
                            <a:srgbClr val="1F2937"/>
                          </a:solidFill>
                        </a:rPr>
                        <a:t>Umumiy belgi</a:t>
                      </a:r>
                    </a:p>
                  </a:txBody>
                  <a:tcPr marL="73152" marR="73152" marT="36576" marB="36576">
                    <a:solidFill>
                      <a:srgbClr val="E8EEF6"/>
                    </a:solidFill>
                  </a:tcPr>
                </a:tc>
                <a:tc>
                  <a:txBody>
                    <a:bodyPr/>
                    <a:lstStyle/>
                    <a:p>
                      <a:r>
                        <a:rPr sz="1200" b="0">
                          <a:solidFill>
                            <a:srgbClr val="1F2937"/>
                          </a:solidFill>
                        </a:rPr>
                        <a:t>G‘ayrihuquqiy va aybli qilmish</a:t>
                      </a:r>
                    </a:p>
                  </a:txBody>
                  <a:tcPr marL="73152" marR="73152" marT="36576" marB="36576">
                    <a:solidFill>
                      <a:srgbClr val="E8EEF6"/>
                    </a:solidFill>
                  </a:tcPr>
                </a:tc>
                <a:tc>
                  <a:txBody>
                    <a:bodyPr/>
                    <a:lstStyle/>
                    <a:p>
                      <a:r>
                        <a:rPr sz="1200" b="0">
                          <a:solidFill>
                            <a:srgbClr val="1F2937"/>
                          </a:solidFill>
                        </a:rPr>
                        <a:t>Xos belgilar o‘xshash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Ma’muriy qilmish va jinoyat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Javobgarlikni istisno etuvchi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Oxirgi zarurat: xavfni boshqacha choralar bilan bartaraf etib bo‘lmasa va etkazilgan zarar oldi olingan zarardan kam bo‘lsa, harakat huquqbuzarlik emas.</a:t>
            </a:r>
          </a:p>
          <a:p>
            <a:pPr>
              <a:spcAft>
                <a:spcPts val="1200"/>
              </a:spcAft>
            </a:pPr>
            <a:r>
              <a:rPr sz="2200">
                <a:solidFill>
                  <a:srgbClr val="1F2937"/>
                </a:solidFill>
                <a:latin typeface="Calibri"/>
              </a:rPr>
              <a:t>▸  Huquqbuzarlik sodir etilgan paytda o‘n olti yoshga to‘lmagan shaxslar ma’muriy javobgarlikka tortilmaydi.</a:t>
            </a:r>
          </a:p>
          <a:p>
            <a:pPr>
              <a:spcAft>
                <a:spcPts val="1200"/>
              </a:spcAft>
            </a:pPr>
            <a:r>
              <a:rPr sz="2200">
                <a:solidFill>
                  <a:srgbClr val="1F2937"/>
                </a:solidFill>
                <a:latin typeface="Calibri"/>
              </a:rPr>
              <a:t>▸  Huquqbuzarlik kam ahamiyatli bo‘lsa, ishni ko‘ruvchi organ (mansabdor shaxs) shaxsni javobgarlikdan ozod etib, ogohlantirish bilan cheklanishi mumkin.</a:t>
            </a:r>
          </a:p>
          <a:p>
            <a:pPr>
              <a:spcAft>
                <a:spcPts val="1200"/>
              </a:spcAft>
            </a:pPr>
            <a:r>
              <a:rPr sz="2200">
                <a:solidFill>
                  <a:srgbClr val="1F2937"/>
                </a:solidFill>
                <a:latin typeface="Calibri"/>
              </a:rPr>
              <a:t>▸  Diqqat: fuqarolik qonunchiligida oxirgi zarurat zararni qoplashdan avtomatik ozod etmaydi; zarar odatda zarar etkazgan shaxs tomonidan to‘lanadi.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93-94, 94, 106-107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ma’muriy huquqbuzarlik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ma’muriy huquqbuzarlik nima? Javob: g‘ayrihuquqiy, aybli (qasddan yoki ehtiyotsizlik orqasidan) harakat yoki harakatsizlik.</a:t>
            </a:r>
          </a:p>
          <a:p>
            <a:pPr>
              <a:spcAft>
                <a:spcPts val="1200"/>
              </a:spcAft>
            </a:pPr>
            <a:r>
              <a:rPr sz="2200">
                <a:solidFill>
                  <a:srgbClr val="1F2937"/>
                </a:solidFill>
                <a:latin typeface="Calibri"/>
              </a:rPr>
              <a:t>▸  2-savol: qasd bilan ehtiyotsizlik nimasi bilan farq qiladi? Javob: qasdda shaxs zararli oqibatni istaydi yoki ongli ravishda yo‘l qo‘yadi.</a:t>
            </a:r>
          </a:p>
          <a:p>
            <a:pPr>
              <a:spcAft>
                <a:spcPts val="1200"/>
              </a:spcAft>
            </a:pPr>
            <a:r>
              <a:rPr sz="2200">
                <a:solidFill>
                  <a:srgbClr val="1F2937"/>
                </a:solidFill>
                <a:latin typeface="Calibri"/>
              </a:rPr>
              <a:t>▸  3-savol (Diqqat: ma’muriy huquqbuzarlik ≠ jinoyat): ular nimasi bilan farq qiladi? Javob: ma’muriy qilmishda jamiyat uchun xavf alomatlari bo‘lmaydi.</a:t>
            </a:r>
          </a:p>
          <a:p>
            <a:pPr>
              <a:spcAft>
                <a:spcPts val="1200"/>
              </a:spcAft>
            </a:pPr>
            <a:r>
              <a:rPr sz="2200">
                <a:solidFill>
                  <a:srgbClr val="1F2937"/>
                </a:solidFill>
                <a:latin typeface="Calibri"/>
              </a:rPr>
              <a:t>▸  4-savol: javobgarlik qaysi yoshdan boshlanadi? Javob: sodir etilgan paytda 16 yoshga to‘lmagan shaxslar ma’muriy javobgarlikka tortilmaydi.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93, 94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Ma’muriy jazo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Ma’muriy javobgarlik kodeksining (MJhK) 23-moddasida beshta jazo chorasi sanalgan.</a:t>
            </a:r>
          </a:p>
          <a:p>
            <a:pPr>
              <a:spcAft>
                <a:spcPts val="800"/>
              </a:spcAft>
            </a:pPr>
            <a:r>
              <a:rPr sz="1800">
                <a:solidFill>
                  <a:srgbClr val="1F2937"/>
                </a:solidFill>
                <a:latin typeface="Calibri"/>
              </a:rPr>
              <a:t>▸  Jazo asosiy yoki asosiy va qo‘shimcha bo‘ladi; olib qo‘yish va musodara ikkala shaklda ham qo‘llanadi.</a:t>
            </a:r>
          </a:p>
          <a:p>
            <a:pPr>
              <a:spcAft>
                <a:spcPts val="800"/>
              </a:spcAft>
            </a:pPr>
            <a:r>
              <a:rPr sz="1800">
                <a:solidFill>
                  <a:srgbClr val="1F2937"/>
                </a:solidFill>
                <a:latin typeface="Calibri"/>
              </a:rPr>
              <a:t>▸  Diqqat: olib qo‘yishda ashyo sotilib, puli egasiga qaytadi; musodarada haq to‘lanmaydi.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Jarima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Haqi to‘lanib olib qo‘yish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Musodara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Maxsus huquqdan mahrum qilish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Ma’muriy qamoq</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MJhK dagi jazo choralari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94, 95-96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Jarima miqdorlari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Jarima eng kam oylik ish haqidan hisoblanadi; davomli huquqbuzarlikda aniqlangan vaqtdagi miqdor asos.</a:t>
            </a:r>
          </a:p>
          <a:p>
            <a:pPr>
              <a:spcAft>
                <a:spcPts val="800"/>
              </a:spcAft>
            </a:pPr>
            <a:r>
              <a:rPr sz="1800">
                <a:solidFill>
                  <a:srgbClr val="1F2937"/>
                </a:solidFill>
                <a:latin typeface="Calibri"/>
              </a:rPr>
              <a:t>▸  Jarima davlat hisobiga pul undirishdir; fuqaro va mansabdor shaxs uchun miqdori farqlanadi.</a:t>
            </a:r>
          </a:p>
          <a:p>
            <a:pPr>
              <a:spcAft>
                <a:spcPts val="800"/>
              </a:spcAft>
            </a:pPr>
            <a:r>
              <a:rPr sz="1800">
                <a:solidFill>
                  <a:srgbClr val="1F2937"/>
                </a:solidFill>
                <a:latin typeface="Calibri"/>
              </a:rPr>
              <a:t>▸  Mahalliy hokimiyat qarorlari jamoat tartibi, tabiiy ofat va epidemiyaga qarshi kurashda jarima belgilaydi.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364638"/>
                <a:gridCol w="1961668"/>
                <a:gridCol w="1961668"/>
              </a:tblGrid>
              <a:tr h="411480">
                <a:tc>
                  <a:txBody>
                    <a:bodyPr/>
                    <a:lstStyle/>
                    <a:p>
                      <a:r>
                        <a:rPr sz="1300" b="1">
                          <a:solidFill>
                            <a:srgbClr val="FFFFFF"/>
                          </a:solidFill>
                        </a:rPr>
                        <a:t>Holat</a:t>
                      </a:r>
                    </a:p>
                  </a:txBody>
                  <a:tcPr marL="73152" marR="73152" marT="36576" marB="36576">
                    <a:solidFill>
                      <a:srgbClr val="0B1F3A"/>
                    </a:solidFill>
                  </a:tcPr>
                </a:tc>
                <a:tc>
                  <a:txBody>
                    <a:bodyPr/>
                    <a:lstStyle/>
                    <a:p>
                      <a:r>
                        <a:rPr sz="1300" b="1">
                          <a:solidFill>
                            <a:srgbClr val="FFFFFF"/>
                          </a:solidFill>
                        </a:rPr>
                        <a:t>Fuqaro</a:t>
                      </a:r>
                    </a:p>
                  </a:txBody>
                  <a:tcPr marL="73152" marR="73152" marT="36576" marB="36576">
                    <a:solidFill>
                      <a:srgbClr val="0B1F3A"/>
                    </a:solidFill>
                  </a:tcPr>
                </a:tc>
                <a:tc>
                  <a:txBody>
                    <a:bodyPr/>
                    <a:lstStyle/>
                    <a:p>
                      <a:r>
                        <a:rPr sz="1300" b="1">
                          <a:solidFill>
                            <a:srgbClr val="FFFFFF"/>
                          </a:solidFill>
                        </a:rPr>
                        <a:t>Mansabdor shaxs</a:t>
                      </a:r>
                    </a:p>
                  </a:txBody>
                  <a:tcPr marL="73152" marR="73152" marT="36576" marB="36576">
                    <a:solidFill>
                      <a:srgbClr val="0B1F3A"/>
                    </a:solidFill>
                  </a:tcPr>
                </a:tc>
              </a:tr>
              <a:tr h="411480">
                <a:tc>
                  <a:txBody>
                    <a:bodyPr/>
                    <a:lstStyle/>
                    <a:p>
                      <a:r>
                        <a:rPr sz="1200" b="0">
                          <a:solidFill>
                            <a:srgbClr val="1F2937"/>
                          </a:solidFill>
                        </a:rPr>
                        <a:t>Eng kam miqdor</a:t>
                      </a:r>
                    </a:p>
                  </a:txBody>
                  <a:tcPr marL="73152" marR="73152" marT="36576" marB="36576">
                    <a:solidFill>
                      <a:srgbClr val="E8EEF6"/>
                    </a:solidFill>
                  </a:tcPr>
                </a:tc>
                <a:tc>
                  <a:txBody>
                    <a:bodyPr/>
                    <a:lstStyle/>
                    <a:p>
                      <a:r>
                        <a:rPr sz="1200" b="0">
                          <a:solidFill>
                            <a:srgbClr val="1F2937"/>
                          </a:solidFill>
                        </a:rPr>
                        <a:t>ish haqining 1/50 qismi</a:t>
                      </a:r>
                    </a:p>
                  </a:txBody>
                  <a:tcPr marL="73152" marR="73152" marT="36576" marB="36576">
                    <a:solidFill>
                      <a:srgbClr val="E8EEF6"/>
                    </a:solidFill>
                  </a:tcPr>
                </a:tc>
                <a:tc>
                  <a:txBody>
                    <a:bodyPr/>
                    <a:lstStyle/>
                    <a:p>
                      <a:r>
                        <a:rPr sz="1200" b="0">
                          <a:solidFill>
                            <a:srgbClr val="1F2937"/>
                          </a:solidFill>
                        </a:rPr>
                        <a:t>ish haqining 1/10 qismi</a:t>
                      </a:r>
                    </a:p>
                  </a:txBody>
                  <a:tcPr marL="73152" marR="73152" marT="36576" marB="36576">
                    <a:solidFill>
                      <a:srgbClr val="E8EEF6"/>
                    </a:solidFill>
                  </a:tcPr>
                </a:tc>
              </a:tr>
              <a:tr h="411480">
                <a:tc>
                  <a:txBody>
                    <a:bodyPr/>
                    <a:lstStyle/>
                    <a:p>
                      <a:r>
                        <a:rPr sz="1200" b="0">
                          <a:solidFill>
                            <a:srgbClr val="1F2937"/>
                          </a:solidFill>
                        </a:rPr>
                        <a:t>Eng ko‘p miqdor</a:t>
                      </a:r>
                    </a:p>
                  </a:txBody>
                  <a:tcPr marL="73152" marR="73152" marT="36576" marB="36576">
                    <a:solidFill>
                      <a:srgbClr val="FFFFFF"/>
                    </a:solidFill>
                  </a:tcPr>
                </a:tc>
                <a:tc>
                  <a:txBody>
                    <a:bodyPr/>
                    <a:lstStyle/>
                    <a:p>
                      <a:r>
                        <a:rPr sz="1200" b="0">
                          <a:solidFill>
                            <a:srgbClr val="1F2937"/>
                          </a:solidFill>
                        </a:rPr>
                        <a:t>5 baravar</a:t>
                      </a:r>
                    </a:p>
                  </a:txBody>
                  <a:tcPr marL="73152" marR="73152" marT="36576" marB="36576">
                    <a:solidFill>
                      <a:srgbClr val="FFFFFF"/>
                    </a:solidFill>
                  </a:tcPr>
                </a:tc>
                <a:tc>
                  <a:txBody>
                    <a:bodyPr/>
                    <a:lstStyle/>
                    <a:p>
                      <a:r>
                        <a:rPr sz="1200" b="0">
                          <a:solidFill>
                            <a:srgbClr val="1F2937"/>
                          </a:solidFill>
                        </a:rPr>
                        <a:t>10 baravar</a:t>
                      </a:r>
                    </a:p>
                  </a:txBody>
                  <a:tcPr marL="73152" marR="73152" marT="36576" marB="36576">
                    <a:solidFill>
                      <a:srgbClr val="FFFFFF"/>
                    </a:solidFill>
                  </a:tcPr>
                </a:tc>
              </a:tr>
              <a:tr h="411480">
                <a:tc>
                  <a:txBody>
                    <a:bodyPr/>
                    <a:lstStyle/>
                    <a:p>
                      <a:r>
                        <a:rPr sz="1200" b="0">
                          <a:solidFill>
                            <a:srgbClr val="1F2937"/>
                          </a:solidFill>
                        </a:rPr>
                        <a:t>Istisno holat</a:t>
                      </a:r>
                    </a:p>
                  </a:txBody>
                  <a:tcPr marL="73152" marR="73152" marT="36576" marB="36576">
                    <a:solidFill>
                      <a:srgbClr val="E8EEF6"/>
                    </a:solidFill>
                  </a:tcPr>
                </a:tc>
                <a:tc>
                  <a:txBody>
                    <a:bodyPr/>
                    <a:lstStyle/>
                    <a:p>
                      <a:r>
                        <a:rPr sz="1200" b="0">
                          <a:solidFill>
                            <a:srgbClr val="1F2937"/>
                          </a:solidFill>
                        </a:rPr>
                        <a:t>100 baravargacha</a:t>
                      </a:r>
                    </a:p>
                  </a:txBody>
                  <a:tcPr marL="73152" marR="73152" marT="36576" marB="36576">
                    <a:solidFill>
                      <a:srgbClr val="E8EEF6"/>
                    </a:solidFill>
                  </a:tcPr>
                </a:tc>
                <a:tc>
                  <a:txBody>
                    <a:bodyPr/>
                    <a:lstStyle/>
                    <a:p>
                      <a:r>
                        <a:rPr sz="1200" b="0">
                          <a:solidFill>
                            <a:srgbClr val="1F2937"/>
                          </a:solidFill>
                        </a:rPr>
                        <a:t>150 baravargacha</a:t>
                      </a:r>
                    </a:p>
                  </a:txBody>
                  <a:tcPr marL="73152" marR="73152" marT="36576" marB="36576">
                    <a:solidFill>
                      <a:srgbClr val="E8EEF6"/>
                    </a:solidFill>
                  </a:tcPr>
                </a:tc>
              </a:tr>
              <a:tr h="411480">
                <a:tc>
                  <a:txBody>
                    <a:bodyPr/>
                    <a:lstStyle/>
                    <a:p>
                      <a:r>
                        <a:rPr sz="1200" b="0">
                          <a:solidFill>
                            <a:srgbClr val="1F2937"/>
                          </a:solidFill>
                        </a:rPr>
                        <a:t>Mahalliy qaror</a:t>
                      </a:r>
                    </a:p>
                  </a:txBody>
                  <a:tcPr marL="73152" marR="73152" marT="36576" marB="36576">
                    <a:solidFill>
                      <a:srgbClr val="FFFFFF"/>
                    </a:solidFill>
                  </a:tcPr>
                </a:tc>
                <a:tc>
                  <a:txBody>
                    <a:bodyPr/>
                    <a:lstStyle/>
                    <a:p>
                      <a:r>
                        <a:rPr sz="1200" b="0">
                          <a:solidFill>
                            <a:srgbClr val="1F2937"/>
                          </a:solidFill>
                        </a:rPr>
                        <a:t>3 baravargacha</a:t>
                      </a:r>
                    </a:p>
                  </a:txBody>
                  <a:tcPr marL="73152" marR="73152" marT="36576" marB="36576">
                    <a:solidFill>
                      <a:srgbClr val="FFFFFF"/>
                    </a:solidFill>
                  </a:tcPr>
                </a:tc>
                <a:tc>
                  <a:txBody>
                    <a:bodyPr/>
                    <a:lstStyle/>
                    <a:p>
                      <a:r>
                        <a:rPr sz="1200" b="0">
                          <a:solidFill>
                            <a:srgbClr val="1F2937"/>
                          </a:solidFill>
                        </a:rPr>
                        <a:t>5 baravargacha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Jarima chegaralari (eng kam oylik ish haqidan)</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Olib qo‘yish, musodara va jazo muddatlari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Haqi to‘lanib olib qo‘yish: huquqbuzarlik quroli yoki predmeti bo‘lgan ashyo majburan olinib sotiladi, tushum xarajatlar chegirilib sobiq egasiga beriladi.</a:t>
            </a:r>
          </a:p>
          <a:p>
            <a:pPr>
              <a:spcAft>
                <a:spcPts val="1200"/>
              </a:spcAft>
            </a:pPr>
            <a:r>
              <a:rPr sz="2200">
                <a:solidFill>
                  <a:srgbClr val="1F2937"/>
                </a:solidFill>
                <a:latin typeface="Calibri"/>
              </a:rPr>
              <a:t>▸  Musodara: ashyo haqi to‘lanmasdan davlat mulkiga o‘tkaziladi. Qarorni tuman (shahar) sudining ma’muriy ishlar sudyasi, soliq va bojxona idoralari chiqaradi.</a:t>
            </a:r>
          </a:p>
          <a:p>
            <a:pPr>
              <a:spcAft>
                <a:spcPts val="1200"/>
              </a:spcAft>
            </a:pPr>
            <a:r>
              <a:rPr sz="2200">
                <a:solidFill>
                  <a:srgbClr val="1F2937"/>
                </a:solidFill>
                <a:latin typeface="Calibri"/>
              </a:rPr>
              <a:t>▸  Ikkala chora asosiy yoki qo‘shimcha jazo bo‘lishi mumkin va xususiy tibbiy yoki farmatsevtika amaliyotida qo‘llanishi mumkin.</a:t>
            </a:r>
          </a:p>
          <a:p>
            <a:pPr>
              <a:spcAft>
                <a:spcPts val="1200"/>
              </a:spcAft>
            </a:pPr>
            <a:r>
              <a:rPr sz="2200">
                <a:solidFill>
                  <a:srgbClr val="1F2937"/>
                </a:solidFill>
                <a:latin typeface="Calibri"/>
              </a:rPr>
              <a:t>▸  Jazo sodir etilgan (davom etsa, aniqlangan) kundan ikki oydan kech qo‘llanmaydi. Jinoyat ishi rad etilsa yoki to‘xtatilsa, qaror kunidan bir oy.</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95-96, 96, 94-95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Ishni ko‘rib chiqish organlari va bayonnoma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Ishni sudya, xo‘jalik sudi, ma’muriy komissiyalar, ichki ishlar va inspeksiya organlari ko‘radi.</a:t>
            </a:r>
          </a:p>
          <a:p>
            <a:pPr>
              <a:spcAft>
                <a:spcPts val="800"/>
              </a:spcAft>
            </a:pPr>
            <a:r>
              <a:rPr sz="1800">
                <a:solidFill>
                  <a:srgbClr val="1F2937"/>
                </a:solidFill>
                <a:latin typeface="Calibri"/>
              </a:rPr>
              <a:t>▸  Bayonnomada sana, joy, huquqbuzarlik mohiyati, me’yoriy hujjat, guvohlar va tushuntirish xati yoziladi.</a:t>
            </a:r>
          </a:p>
          <a:p>
            <a:pPr>
              <a:spcAft>
                <a:spcPts val="800"/>
              </a:spcAft>
            </a:pPr>
            <a:r>
              <a:rPr sz="1800">
                <a:solidFill>
                  <a:srgbClr val="1F2937"/>
                </a:solidFill>
                <a:latin typeface="Calibri"/>
              </a:rPr>
              <a:t>▸  Bayonnomani tuzuvchi, huquqbuzar, guvoh va jabrlanuvchi imzolaydi; bosh tortilsa, shu yoziladi.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Qoidalar buzilishi tekshiriladi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Bayonnoma tuziladi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Huquqbuzar va guvohlar imzolaydi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Imzodan bosh tortilsa, yoziladi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Ish ko‘rib chiqiladi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Bayonnoma tartibi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96-97, 97, 97-98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Javobgarlikka tortilayotgan shaxsning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MJhK 294-moddaga ko‘ra shaxs materiallar bilan tanishadi, izoh beradi, dalil keltiradi, iltimos bildiradi. Bu huquqlar bayonnoma tuzishda tushuntirilishi shart.</a:t>
            </a:r>
          </a:p>
          <a:p>
            <a:pPr>
              <a:spcAft>
                <a:spcPts val="1200"/>
              </a:spcAft>
            </a:pPr>
            <a:r>
              <a:rPr sz="2200">
                <a:solidFill>
                  <a:srgbClr val="1F2937"/>
                </a:solidFill>
                <a:latin typeface="Calibri"/>
              </a:rPr>
              <a:t>▸  Shuningdek advokat yordami, ona tilida so‘zlash, tarjimon xizmati va qaror ustidan shikoyat berish huquqiga ega.</a:t>
            </a:r>
          </a:p>
          <a:p>
            <a:pPr>
              <a:spcAft>
                <a:spcPts val="1200"/>
              </a:spcAft>
            </a:pPr>
            <a:r>
              <a:rPr sz="2200">
                <a:solidFill>
                  <a:srgbClr val="1F2937"/>
                </a:solidFill>
                <a:latin typeface="Calibri"/>
              </a:rPr>
              <a:t>▸  Ish odatda shaxs ishtirokida ko‘riladi. Xabar qilingan va kechiktirish iltimosi bo‘lmasa, ishtirokisiz mumkin. Qamoq, musodara yoki olib qo‘yishda qatnashish shart.</a:t>
            </a:r>
          </a:p>
          <a:p>
            <a:pPr>
              <a:spcAft>
                <a:spcPts val="1200"/>
              </a:spcAft>
            </a:pPr>
            <a:r>
              <a:rPr sz="2200">
                <a:solidFill>
                  <a:srgbClr val="1F2937"/>
                </a:solidFill>
                <a:latin typeface="Calibri"/>
              </a:rPr>
              <a:t>▸  Zarar ko‘rgan shaxs jabrlanuvchi bo‘lib, ayblanuvchi kabi huquqlarga ega. Maxsus bilim kerak bo‘lsa, ekspertiza tayinlanadi.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98, 98-99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Fuqarolar huquqlariga tajovuz qiluvchi huquqbuzarliklar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Ma’muriy javobgarlik to‘g‘risidagi kodeksda (MJhK) fuqarolarning huquq va erkinliklariga tajovuz qiluvchi qilmishlar alohida sanab o‘tilgan.</a:t>
            </a:r>
          </a:p>
          <a:p>
            <a:pPr>
              <a:spcAft>
                <a:spcPts val="1200"/>
              </a:spcAft>
            </a:pPr>
            <a:r>
              <a:rPr sz="2200">
                <a:solidFill>
                  <a:srgbClr val="1F2937"/>
                </a:solidFill>
                <a:latin typeface="Calibri"/>
              </a:rPr>
              <a:t>▸  Ular: tuhmat (40-modda), haqorat (41), davlat tili (42), fuqarolar murojaatlari (43), mehnat haqidagi qonun buzilishi (49), mehnatga ma’muriy majburlash (51).</a:t>
            </a:r>
          </a:p>
          <a:p>
            <a:pPr>
              <a:spcAft>
                <a:spcPts val="1200"/>
              </a:spcAft>
            </a:pPr>
            <a:r>
              <a:rPr sz="2200">
                <a:solidFill>
                  <a:srgbClr val="1F2937"/>
                </a:solidFill>
                <a:latin typeface="Calibri"/>
              </a:rPr>
              <a:t>▸  Bu huquqbuzarliklar ko‘proq tibbiy xodimlarning emas, tibbiyot muassasalari rahbarlarining faoliyatiga taalluqli.</a:t>
            </a:r>
          </a:p>
          <a:p>
            <a:pPr>
              <a:spcAft>
                <a:spcPts val="1200"/>
              </a:spcAft>
            </a:pPr>
            <a:r>
              <a:rPr sz="2200">
                <a:solidFill>
                  <a:srgbClr val="1F2937"/>
                </a:solidFill>
                <a:latin typeface="Calibri"/>
              </a:rPr>
              <a:t>▸  Diqqat: xato qilish xavfi — oddiy tibbiy xodim ≠ muassasa rahbari. Bu moddalarda subyekt ko‘pincha rahbar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Sog‘liqni saqlash sohasidagi huquqbuzarliklar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Aholi salomatligi huquqbuzarliklari MJhK ning VI bobida keltirilgan; subyekt tibbiy xodim ham bo‘lishi mumkin.</a:t>
            </a:r>
          </a:p>
          <a:p>
            <a:pPr>
              <a:spcAft>
                <a:spcPts val="800"/>
              </a:spcAft>
            </a:pPr>
            <a:r>
              <a:rPr sz="1800">
                <a:solidFill>
                  <a:srgbClr val="1F2937"/>
                </a:solidFill>
                <a:latin typeface="Calibri"/>
              </a:rPr>
              <a:t>▸  OITS (immun tanqisligi sindromi) va tanosil kasalliklari bilan bog‘liq: manbani yashirish, tekshiruvni rad etish.</a:t>
            </a:r>
          </a:p>
          <a:p>
            <a:pPr>
              <a:spcAft>
                <a:spcPts val="800"/>
              </a:spcAft>
            </a:pPr>
            <a:r>
              <a:rPr sz="1800">
                <a:solidFill>
                  <a:srgbClr val="1F2937"/>
                </a:solidFill>
                <a:latin typeface="Calibri"/>
              </a:rPr>
              <a:t>▸  Pullik xizmat va xo‘jalik hisobida ishlovchi davlat tibbiy xodimlari ham javobgarlikka tortilishi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231446"/>
                <a:gridCol w="1159008"/>
                <a:gridCol w="2897520"/>
              </a:tblGrid>
              <a:tr h="411480">
                <a:tc>
                  <a:txBody>
                    <a:bodyPr/>
                    <a:lstStyle/>
                    <a:p>
                      <a:r>
                        <a:rPr sz="1300" b="1">
                          <a:solidFill>
                            <a:srgbClr val="FFFFFF"/>
                          </a:solidFill>
                        </a:rPr>
                        <a:t>Yo‘nalish</a:t>
                      </a:r>
                    </a:p>
                  </a:txBody>
                  <a:tcPr marL="73152" marR="73152" marT="36576" marB="36576">
                    <a:solidFill>
                      <a:srgbClr val="0B1F3A"/>
                    </a:solidFill>
                  </a:tcPr>
                </a:tc>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Qilmish</a:t>
                      </a:r>
                    </a:p>
                  </a:txBody>
                  <a:tcPr marL="73152" marR="73152" marT="36576" marB="36576">
                    <a:solidFill>
                      <a:srgbClr val="0B1F3A"/>
                    </a:solidFill>
                  </a:tcPr>
                </a:tc>
              </a:tr>
              <a:tr h="411480">
                <a:tc>
                  <a:txBody>
                    <a:bodyPr/>
                    <a:lstStyle/>
                    <a:p>
                      <a:r>
                        <a:rPr sz="1200" b="0">
                          <a:solidFill>
                            <a:srgbClr val="1F2937"/>
                          </a:solidFill>
                        </a:rPr>
                        <a:t>Salomatlik</a:t>
                      </a:r>
                    </a:p>
                  </a:txBody>
                  <a:tcPr marL="73152" marR="73152" marT="36576" marB="36576">
                    <a:solidFill>
                      <a:srgbClr val="E8EEF6"/>
                    </a:solidFill>
                  </a:tcPr>
                </a:tc>
                <a:tc>
                  <a:txBody>
                    <a:bodyPr/>
                    <a:lstStyle/>
                    <a:p>
                      <a:r>
                        <a:rPr sz="1200" b="0">
                          <a:solidFill>
                            <a:srgbClr val="1F2937"/>
                          </a:solidFill>
                        </a:rPr>
                        <a:t>52–56</a:t>
                      </a:r>
                    </a:p>
                  </a:txBody>
                  <a:tcPr marL="73152" marR="73152" marT="36576" marB="36576">
                    <a:solidFill>
                      <a:srgbClr val="E8EEF6"/>
                    </a:solidFill>
                  </a:tcPr>
                </a:tc>
                <a:tc>
                  <a:txBody>
                    <a:bodyPr/>
                    <a:lstStyle/>
                    <a:p>
                      <a:r>
                        <a:rPr sz="1200" b="0">
                          <a:solidFill>
                            <a:srgbClr val="1F2937"/>
                          </a:solidFill>
                        </a:rPr>
                        <a:t>Jarohat, sanitariya, epidemiya, radiatsiya</a:t>
                      </a:r>
                    </a:p>
                  </a:txBody>
                  <a:tcPr marL="73152" marR="73152" marT="36576" marB="36576">
                    <a:solidFill>
                      <a:srgbClr val="E8EEF6"/>
                    </a:solidFill>
                  </a:tcPr>
                </a:tc>
              </a:tr>
              <a:tr h="411480">
                <a:tc>
                  <a:txBody>
                    <a:bodyPr/>
                    <a:lstStyle/>
                    <a:p>
                      <a:r>
                        <a:rPr sz="1200" b="0">
                          <a:solidFill>
                            <a:srgbClr val="1F2937"/>
                          </a:solidFill>
                        </a:rPr>
                        <a:t>Tanosil/OITS</a:t>
                      </a:r>
                    </a:p>
                  </a:txBody>
                  <a:tcPr marL="73152" marR="73152" marT="36576" marB="36576">
                    <a:solidFill>
                      <a:srgbClr val="FFFFFF"/>
                    </a:solidFill>
                  </a:tcPr>
                </a:tc>
                <a:tc>
                  <a:txBody>
                    <a:bodyPr/>
                    <a:lstStyle/>
                    <a:p>
                      <a:r>
                        <a:rPr sz="1200" b="0">
                          <a:solidFill>
                            <a:srgbClr val="1F2937"/>
                          </a:solidFill>
                        </a:rPr>
                        <a:t>57–59</a:t>
                      </a:r>
                    </a:p>
                  </a:txBody>
                  <a:tcPr marL="73152" marR="73152" marT="36576" marB="36576">
                    <a:solidFill>
                      <a:srgbClr val="FFFFFF"/>
                    </a:solidFill>
                  </a:tcPr>
                </a:tc>
                <a:tc>
                  <a:txBody>
                    <a:bodyPr/>
                    <a:lstStyle/>
                    <a:p>
                      <a:r>
                        <a:rPr sz="1200" b="0">
                          <a:solidFill>
                            <a:srgbClr val="1F2937"/>
                          </a:solidFill>
                        </a:rPr>
                        <a:t>Manbani yashirish, rad etish, xavfsizlik</a:t>
                      </a:r>
                    </a:p>
                  </a:txBody>
                  <a:tcPr marL="73152" marR="73152" marT="36576" marB="36576">
                    <a:solidFill>
                      <a:srgbClr val="FFFFFF"/>
                    </a:solidFill>
                  </a:tcPr>
                </a:tc>
              </a:tr>
              <a:tr h="411480">
                <a:tc>
                  <a:txBody>
                    <a:bodyPr/>
                    <a:lstStyle/>
                    <a:p>
                      <a:r>
                        <a:rPr sz="1200" b="0">
                          <a:solidFill>
                            <a:srgbClr val="1F2937"/>
                          </a:solidFill>
                        </a:rPr>
                        <a:t>Xususiy amaliyot</a:t>
                      </a:r>
                    </a:p>
                  </a:txBody>
                  <a:tcPr marL="73152" marR="73152" marT="36576" marB="36576">
                    <a:solidFill>
                      <a:srgbClr val="E8EEF6"/>
                    </a:solidFill>
                  </a:tcPr>
                </a:tc>
                <a:tc>
                  <a:txBody>
                    <a:bodyPr/>
                    <a:lstStyle/>
                    <a:p>
                      <a:r>
                        <a:rPr sz="1200" b="0">
                          <a:solidFill>
                            <a:srgbClr val="1F2937"/>
                          </a:solidFill>
                        </a:rPr>
                        <a:t>164, 176 va h.k.</a:t>
                      </a:r>
                    </a:p>
                  </a:txBody>
                  <a:tcPr marL="73152" marR="73152" marT="36576" marB="36576">
                    <a:solidFill>
                      <a:srgbClr val="E8EEF6"/>
                    </a:solidFill>
                  </a:tcPr>
                </a:tc>
                <a:tc>
                  <a:txBody>
                    <a:bodyPr/>
                    <a:lstStyle/>
                    <a:p>
                      <a:r>
                        <a:rPr sz="1200" b="0">
                          <a:solidFill>
                            <a:srgbClr val="1F2937"/>
                          </a:solidFill>
                        </a:rPr>
                        <a:t>Savdo/xizmat qoidasi, shartnoma intizomi</a:t>
                      </a:r>
                    </a:p>
                  </a:txBody>
                  <a:tcPr marL="73152" marR="73152" marT="36576" marB="36576">
                    <a:solidFill>
                      <a:srgbClr val="E8EEF6"/>
                    </a:solidFill>
                  </a:tcPr>
                </a:tc>
              </a:tr>
              <a:tr h="411480">
                <a:tc>
                  <a:txBody>
                    <a:bodyPr/>
                    <a:lstStyle/>
                    <a:p>
                      <a:r>
                        <a:rPr sz="1200" b="0">
                          <a:solidFill>
                            <a:srgbClr val="1F2937"/>
                          </a:solidFill>
                        </a:rPr>
                        <a:t>Boshqaruv tartibi</a:t>
                      </a:r>
                    </a:p>
                  </a:txBody>
                  <a:tcPr marL="73152" marR="73152" marT="36576" marB="36576">
                    <a:solidFill>
                      <a:srgbClr val="FFFFFF"/>
                    </a:solidFill>
                  </a:tcPr>
                </a:tc>
                <a:tc>
                  <a:txBody>
                    <a:bodyPr/>
                    <a:lstStyle/>
                    <a:p>
                      <a:r>
                        <a:rPr sz="1200" b="0">
                          <a:solidFill>
                            <a:srgbClr val="1F2937"/>
                          </a:solidFill>
                        </a:rPr>
                        <a:t>199, 215</a:t>
                      </a:r>
                    </a:p>
                  </a:txBody>
                  <a:tcPr marL="73152" marR="73152" marT="36576" marB="36576">
                    <a:solidFill>
                      <a:srgbClr val="FFFFFF"/>
                    </a:solidFill>
                  </a:tcPr>
                </a:tc>
                <a:tc>
                  <a:txBody>
                    <a:bodyPr/>
                    <a:lstStyle/>
                    <a:p>
                      <a:r>
                        <a:rPr sz="1200" b="0">
                          <a:solidFill>
                            <a:srgbClr val="1F2937"/>
                          </a:solidFill>
                        </a:rPr>
                        <a:t>Tez yordamni aldab chaqirish, hisobot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MJhK bo‘yicha guruhlar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99-100, 100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tibbiy xodim va ma’muriy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davolash muassasasida epidemiyaga qarshi kurash qoidalari buzildi (MJhK 54-modda). Vakolatli mansabdor shaxs bayonnoma tuzdi.</a:t>
            </a:r>
          </a:p>
          <a:p>
            <a:pPr>
              <a:spcAft>
                <a:spcPts val="1200"/>
              </a:spcAft>
            </a:pPr>
            <a:r>
              <a:rPr sz="2200">
                <a:solidFill>
                  <a:srgbClr val="1F2937"/>
                </a:solidFill>
                <a:latin typeface="Calibri"/>
              </a:rPr>
              <a:t>▸  Bayonnomada sana, joy, huquqbuzarlik mohiyati, me’yoriy hujjat va huquqbuzarning tushuntirish xati ko‘rsatiladi. Shaxsga huquqlari tushuntiriladi.</a:t>
            </a:r>
          </a:p>
          <a:p>
            <a:pPr>
              <a:spcAft>
                <a:spcPts val="1200"/>
              </a:spcAft>
            </a:pPr>
            <a:r>
              <a:rPr sz="2200">
                <a:solidFill>
                  <a:srgbClr val="1F2937"/>
                </a:solidFill>
                <a:latin typeface="Calibri"/>
              </a:rPr>
              <a:t>▸  Ishni ko‘rishga davlat sanitariya nazorati organlari kabi vakolatli organlar haqli. Asosiy jazo odatda jarima; fuqaroga eng kam ish haqining 1/50 dan 5 baravarigacha.</a:t>
            </a:r>
          </a:p>
          <a:p>
            <a:pPr>
              <a:spcAft>
                <a:spcPts val="1200"/>
              </a:spcAft>
            </a:pPr>
            <a:r>
              <a:rPr sz="2200">
                <a:solidFill>
                  <a:srgbClr val="1F2937"/>
                </a:solidFill>
                <a:latin typeface="Calibri"/>
              </a:rPr>
              <a:t>▸  Savol: jarima miqdori mansabdor shaxs uchun fuqaroga nisbatan qanday farq qiladi? Oqibati og‘ir bo‘lsa, qilmish qanday baholanishi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97, 99, 97-98, 94-97, 93, 95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Fuqarolik huquqi va delikt javobgarligi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Fuqarolik huquqi fuqarolar va tashkilotlarning mulkiy hamda u bilan bog‘liq nomulkiy munosabatlarini tartibga soladi. Subyekt: jismoniy shaxs, yuridik shaxs, davlat.</a:t>
            </a:r>
          </a:p>
          <a:p>
            <a:pPr>
              <a:spcAft>
                <a:spcPts val="1200"/>
              </a:spcAft>
            </a:pPr>
            <a:r>
              <a:rPr sz="2000">
                <a:solidFill>
                  <a:srgbClr val="1F2937"/>
                </a:solidFill>
                <a:latin typeface="Calibri"/>
              </a:rPr>
              <a:t>▸  Subyekt bo‘lish uchun huquq layoqati (huquq va burchga ega bo‘lish) va muomala layoqati (o‘z harakati bilan huquq yaratish, javob berish) kerak.</a:t>
            </a:r>
          </a:p>
          <a:p>
            <a:pPr>
              <a:spcAft>
                <a:spcPts val="1200"/>
              </a:spcAft>
            </a:pPr>
            <a:r>
              <a:rPr sz="2000">
                <a:solidFill>
                  <a:srgbClr val="1F2937"/>
                </a:solidFill>
                <a:latin typeface="Calibri"/>
              </a:rPr>
              <a:t>▸  Diqqat: delikt ≠ shartnomaviy javobgarlik. Deliktda umumiy obyektiv mezonlar, shartnomaviyda faqat shartnoma talabini buzish. Vrachlarda ko‘proq delikt uchraydi.</a:t>
            </a:r>
          </a:p>
          <a:p>
            <a:pPr>
              <a:spcAft>
                <a:spcPts val="1200"/>
              </a:spcAft>
            </a:pPr>
            <a:r>
              <a:rPr sz="2000">
                <a:solidFill>
                  <a:srgbClr val="1F2937"/>
                </a:solidFill>
                <a:latin typeface="Calibri"/>
              </a:rPr>
              <a:t>▸  Zarar ikki xil: haqiqiy zarar (davolanish, dori-darmon xarajatlari) va boy berilgan foyda (bemor ololmay qolgan ish haqi yoki daromad).</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102, 103, 104-105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Zarar uchun javobgarlik vujudga kelish shartlari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Javobgarlik uchun to‘rt shart kerak: zarar, g‘ayriqonuniy harakat, sababiy bog‘liqlik, ayb.</a:t>
            </a:r>
          </a:p>
          <a:p>
            <a:pPr>
              <a:spcAft>
                <a:spcPts val="800"/>
              </a:spcAft>
            </a:pPr>
            <a:r>
              <a:rPr sz="1800">
                <a:solidFill>
                  <a:srgbClr val="1F2937"/>
                </a:solidFill>
                <a:latin typeface="Calibri"/>
              </a:rPr>
              <a:t>▸  Ayb ikki shaklda: qasddan yoki ehtiyotsizlik orqasidan (beparvolik, o‘ziga o‘ta ishonish).</a:t>
            </a:r>
          </a:p>
          <a:p>
            <a:pPr>
              <a:spcAft>
                <a:spcPts val="800"/>
              </a:spcAft>
            </a:pPr>
            <a:r>
              <a:rPr sz="1800">
                <a:solidFill>
                  <a:srgbClr val="1F2937"/>
                </a:solidFill>
                <a:latin typeface="Calibri"/>
              </a:rPr>
              <a:t>▸  Standart, shartnoma yoki odatiy talabga mos kelmagan yordam lozim darajada bo‘lmagan tibbiy yordam hisoblanadi.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Zarar etkazilganlik fakti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G‘ayriqonuniy harakat</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Sababiy bog‘liqlik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Zarar etkazuvchining aybi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Javobgarlik yuzaga keladi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Javobgarlik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105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Aybsizlik holatlari va ayb prezumpsiyasi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Ayb faraz qilinadi: jabrlanuvchi aybni va harakat g‘ayriqonuniyligini isbotlashi shart emas. Aybsizligini zarar etkazuvchi isbotlaydi.</a:t>
            </a:r>
          </a:p>
          <a:p>
            <a:pPr>
              <a:spcAft>
                <a:spcPts val="1200"/>
              </a:spcAft>
            </a:pPr>
            <a:r>
              <a:rPr sz="2200">
                <a:solidFill>
                  <a:srgbClr val="1F2937"/>
                </a:solidFill>
                <a:latin typeface="Calibri"/>
              </a:rPr>
              <a:t>▸  Bemor vrachni ayblasa, vrach harakati qonuniy va aybsiz ekanini isbotlamaguncha aybdor hisoblanadi.</a:t>
            </a:r>
          </a:p>
          <a:p>
            <a:pPr>
              <a:spcAft>
                <a:spcPts val="1200"/>
              </a:spcAft>
            </a:pPr>
            <a:r>
              <a:rPr sz="2200">
                <a:solidFill>
                  <a:srgbClr val="1F2937"/>
                </a:solidFill>
                <a:latin typeface="Calibri"/>
              </a:rPr>
              <a:t>▸  Odatda uch holatda xodim aybsiz topiladi: engib bo‘lmas kuch; zarar bemor iltimosi yoki roziligi bilan etkazilgani; bemorning qo‘pol ehtiyotsizligi.</a:t>
            </a:r>
          </a:p>
          <a:p>
            <a:pPr>
              <a:spcAft>
                <a:spcPts val="1200"/>
              </a:spcAft>
            </a:pPr>
            <a:r>
              <a:rPr sz="2200">
                <a:solidFill>
                  <a:srgbClr val="1F2937"/>
                </a:solidFill>
                <a:latin typeface="Calibri"/>
              </a:rPr>
              <a:t>▸  Bunday bahsda tibbiy hujjatlar alohida ahamiyatli: asl nusxa, kundaliklar to‘laligi, to‘g‘rilashlarning yo‘qligi.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104, 105-106, 106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fuqarolik javobgarligi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Tibbiy xodimning kasb huquqbuzarligida ko‘proq qaysi javobgarlik yuzaga keladi: delikt yoki shartnomaviy?</a:t>
            </a:r>
          </a:p>
          <a:p>
            <a:pPr>
              <a:spcAft>
                <a:spcPts val="1200"/>
              </a:spcAft>
            </a:pPr>
            <a:r>
              <a:rPr sz="2200">
                <a:solidFill>
                  <a:srgbClr val="1F2937"/>
                </a:solidFill>
                <a:latin typeface="Calibri"/>
              </a:rPr>
              <a:t>▸  Bemor vrachni ayblaydi. Vrachning aybsizligini kim isbotlashi kerak va nima uchun?</a:t>
            </a:r>
          </a:p>
          <a:p>
            <a:pPr>
              <a:spcAft>
                <a:spcPts val="1200"/>
              </a:spcAft>
            </a:pPr>
            <a:r>
              <a:rPr sz="2200">
                <a:solidFill>
                  <a:srgbClr val="1F2937"/>
                </a:solidFill>
                <a:latin typeface="Calibri"/>
              </a:rPr>
              <a:t>▸  Zarar uchun javobgarlik qaysi to‘rt shart birga mavjud bo‘lganda yuzaga keladi?</a:t>
            </a:r>
          </a:p>
          <a:p>
            <a:pPr>
              <a:spcAft>
                <a:spcPts val="1200"/>
              </a:spcAft>
            </a:pPr>
            <a:r>
              <a:rPr sz="2200">
                <a:solidFill>
                  <a:srgbClr val="1F2937"/>
                </a:solidFill>
                <a:latin typeface="Calibri"/>
              </a:rPr>
              <a:t>▸  Vrach intizomiy, ma’muriy yoki jinoiy javobgarlikka tortilgan. Bu uni zararni qoplashdan ozod qiladimi?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103, 104, 105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Zararni qoplash: regress, sug‘urta, da’vo muddati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Muassasa xodimi xizmat vazifasini bajarganda etkazgan zararni qoplaydi. To‘lagan muassasa regress tartibida mablag‘ni xodimdan talab qilishi mumkin, amalda bu kam uchraydi.</a:t>
            </a:r>
          </a:p>
          <a:p>
            <a:pPr>
              <a:spcAft>
                <a:spcPts val="1200"/>
              </a:spcAft>
            </a:pPr>
            <a:r>
              <a:rPr sz="2200">
                <a:solidFill>
                  <a:srgbClr val="1F2937"/>
                </a:solidFill>
                <a:latin typeface="Calibri"/>
              </a:rPr>
              <a:t>▸  Javobgarlik sug‘urtalangan bo‘lsa, sug‘urta puli zararni to‘liq yopmaganda, farqni sug‘urtalangan shaxs o‘zi to‘laydi.</a:t>
            </a:r>
          </a:p>
          <a:p>
            <a:pPr>
              <a:spcAft>
                <a:spcPts val="1200"/>
              </a:spcAft>
            </a:pPr>
            <a:r>
              <a:rPr sz="2200">
                <a:solidFill>
                  <a:srgbClr val="1F2937"/>
                </a:solidFill>
                <a:latin typeface="Calibri"/>
              </a:rPr>
              <a:t>▸  Diqqat: jinoiy qonunchilikda oxirgi zarurat javobgarlikni yo‘qotadi, lekin fuqarolik qonunida zararni qoplashdan ozod qilmaydi.</a:t>
            </a:r>
          </a:p>
          <a:p>
            <a:pPr>
              <a:spcAft>
                <a:spcPts val="1200"/>
              </a:spcAft>
            </a:pPr>
            <a:r>
              <a:rPr sz="2200">
                <a:solidFill>
                  <a:srgbClr val="1F2937"/>
                </a:solidFill>
                <a:latin typeface="Calibri"/>
              </a:rPr>
              <a:t>▸  Umumiy da’vo muddati uch yil. U shaxs huquqi buzilganini bilgan yoki bilishi lozim bo‘lgan kundan boshlanadi.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107, 106-107, 109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Shartnoma asosida tibbiy xizmat ko‘rsatish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Shartnoma — huquq va burchlarni vujudga keltirish, o‘zgartirish yoki bekor qilish haqidagi kelishuv.</a:t>
            </a:r>
          </a:p>
          <a:p>
            <a:pPr>
              <a:spcAft>
                <a:spcPts val="800"/>
              </a:spcAft>
            </a:pPr>
            <a:r>
              <a:rPr sz="1800">
                <a:solidFill>
                  <a:srgbClr val="1F2937"/>
                </a:solidFill>
                <a:latin typeface="Calibri"/>
              </a:rPr>
              <a:t>▸  Tibbiy xizmatda haq evaziga shartnoma tuziladi: ijrochi xizmat ko‘rsatadi, buyurtmachi haq to‘laydi.</a:t>
            </a:r>
          </a:p>
          <a:p>
            <a:pPr>
              <a:spcAft>
                <a:spcPts val="800"/>
              </a:spcAft>
            </a:pPr>
            <a:r>
              <a:rPr sz="1800">
                <a:solidFill>
                  <a:srgbClr val="1F2937"/>
                </a:solidFill>
                <a:latin typeface="Calibri"/>
              </a:rPr>
              <a:t>▸  Ijrochi to‘g‘ri bajarmasa, zararni to‘liq qoplaydi, lekin xizmat bahosining ikki baravaridan oshmaydi.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462892"/>
                <a:gridCol w="2825082"/>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Oqibat</a:t>
                      </a:r>
                    </a:p>
                  </a:txBody>
                  <a:tcPr marL="73152" marR="73152" marT="36576" marB="36576">
                    <a:solidFill>
                      <a:srgbClr val="0B1F3A"/>
                    </a:solidFill>
                  </a:tcPr>
                </a:tc>
              </a:tr>
              <a:tr h="411480">
                <a:tc>
                  <a:txBody>
                    <a:bodyPr/>
                    <a:lstStyle/>
                    <a:p>
                      <a:r>
                        <a:rPr sz="1300" b="0">
                          <a:solidFill>
                            <a:srgbClr val="1F2937"/>
                          </a:solidFill>
                        </a:rPr>
                        <a:t>Ijrochi to‘g‘ri bajarmadi</a:t>
                      </a:r>
                    </a:p>
                  </a:txBody>
                  <a:tcPr marL="73152" marR="73152" marT="36576" marB="36576">
                    <a:solidFill>
                      <a:srgbClr val="E8EEF6"/>
                    </a:solidFill>
                  </a:tcPr>
                </a:tc>
                <a:tc>
                  <a:txBody>
                    <a:bodyPr/>
                    <a:lstStyle/>
                    <a:p>
                      <a:r>
                        <a:rPr sz="1300" b="0">
                          <a:solidFill>
                            <a:srgbClr val="1F2937"/>
                          </a:solidFill>
                        </a:rPr>
                        <a:t>Zarar to‘liq, bahoning 2 baravarigacha</a:t>
                      </a:r>
                    </a:p>
                  </a:txBody>
                  <a:tcPr marL="73152" marR="73152" marT="36576" marB="36576">
                    <a:solidFill>
                      <a:srgbClr val="E8EEF6"/>
                    </a:solidFill>
                  </a:tcPr>
                </a:tc>
              </a:tr>
              <a:tr h="411480">
                <a:tc>
                  <a:txBody>
                    <a:bodyPr/>
                    <a:lstStyle/>
                    <a:p>
                      <a:r>
                        <a:rPr sz="1300" b="0">
                          <a:solidFill>
                            <a:srgbClr val="1F2937"/>
                          </a:solidFill>
                        </a:rPr>
                        <a:t>Buyurtmachi aybi bilan bajarilmadi</a:t>
                      </a:r>
                    </a:p>
                  </a:txBody>
                  <a:tcPr marL="73152" marR="73152" marT="36576" marB="36576">
                    <a:solidFill>
                      <a:srgbClr val="FFFFFF"/>
                    </a:solidFill>
                  </a:tcPr>
                </a:tc>
                <a:tc>
                  <a:txBody>
                    <a:bodyPr/>
                    <a:lstStyle/>
                    <a:p>
                      <a:r>
                        <a:rPr sz="1300" b="0">
                          <a:solidFill>
                            <a:srgbClr val="1F2937"/>
                          </a:solidFill>
                        </a:rPr>
                        <a:t>Xizmat bahosi to‘liq to‘lanadi</a:t>
                      </a:r>
                    </a:p>
                  </a:txBody>
                  <a:tcPr marL="73152" marR="73152" marT="36576" marB="36576">
                    <a:solidFill>
                      <a:srgbClr val="FFFFFF"/>
                    </a:solidFill>
                  </a:tcPr>
                </a:tc>
              </a:tr>
              <a:tr h="411480">
                <a:tc>
                  <a:txBody>
                    <a:bodyPr/>
                    <a:lstStyle/>
                    <a:p>
                      <a:r>
                        <a:rPr sz="1300" b="0">
                          <a:solidFill>
                            <a:srgbClr val="1F2937"/>
                          </a:solidFill>
                        </a:rPr>
                        <a:t>Ikkalasi ham aybsiz, bajarilmadi</a:t>
                      </a:r>
                    </a:p>
                  </a:txBody>
                  <a:tcPr marL="73152" marR="73152" marT="36576" marB="36576">
                    <a:solidFill>
                      <a:srgbClr val="E8EEF6"/>
                    </a:solidFill>
                  </a:tcPr>
                </a:tc>
                <a:tc>
                  <a:txBody>
                    <a:bodyPr/>
                    <a:lstStyle/>
                    <a:p>
                      <a:r>
                        <a:rPr sz="1300" b="0">
                          <a:solidFill>
                            <a:srgbClr val="1F2937"/>
                          </a:solidFill>
                        </a:rPr>
                        <a:t>Buyurtmachi ijrochi xarajatini to‘laydi</a:t>
                      </a:r>
                    </a:p>
                  </a:txBody>
                  <a:tcPr marL="73152" marR="73152" marT="36576" marB="36576">
                    <a:solidFill>
                      <a:srgbClr val="E8EEF6"/>
                    </a:solidFill>
                  </a:tcPr>
                </a:tc>
              </a:tr>
              <a:tr h="411480">
                <a:tc>
                  <a:txBody>
                    <a:bodyPr/>
                    <a:lstStyle/>
                    <a:p>
                      <a:r>
                        <a:rPr sz="1300" b="0">
                          <a:solidFill>
                            <a:srgbClr val="1F2937"/>
                          </a:solidFill>
                        </a:rPr>
                        <a:t>Buyurtmachi bekor qiladi</a:t>
                      </a:r>
                    </a:p>
                  </a:txBody>
                  <a:tcPr marL="73152" marR="73152" marT="36576" marB="36576">
                    <a:solidFill>
                      <a:srgbClr val="FFFFFF"/>
                    </a:solidFill>
                  </a:tcPr>
                </a:tc>
                <a:tc>
                  <a:txBody>
                    <a:bodyPr/>
                    <a:lstStyle/>
                    <a:p>
                      <a:r>
                        <a:rPr sz="1300" b="0">
                          <a:solidFill>
                            <a:srgbClr val="1F2937"/>
                          </a:solidFill>
                        </a:rPr>
                        <a:t>Bahoni to‘liq to‘lash sharti bilan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Xizmat shartnomasi oqibatlari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109, 109-110, 110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Ma’naviy zarar va iste’molchilar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Ma’naviy zarar — shaxsiy nomulkiy huquqlarga tajovuz natijasidagi jismoniy va ma’naviy azob.</a:t>
            </a:r>
          </a:p>
          <a:p>
            <a:pPr>
              <a:spcAft>
                <a:spcPts val="800"/>
              </a:spcAft>
            </a:pPr>
            <a:r>
              <a:rPr sz="1800">
                <a:solidFill>
                  <a:srgbClr val="1F2937"/>
                </a:solidFill>
                <a:latin typeface="Calibri"/>
              </a:rPr>
              <a:t>▸  Miqdorini sud belgilaydi, oqilonalik va adolatlilik hisobga olinadi; mulkiy zarardan mustaqil to‘lanadi.</a:t>
            </a:r>
          </a:p>
          <a:p>
            <a:pPr>
              <a:spcAft>
                <a:spcPts val="800"/>
              </a:spcAft>
            </a:pPr>
            <a:r>
              <a:rPr sz="1800">
                <a:solidFill>
                  <a:srgbClr val="1F2937"/>
                </a:solidFill>
                <a:latin typeface="Calibri"/>
              </a:rPr>
              <a:t>▸  Bemor — iste’molchi, tibbiy xodim va muassasa — ijrochi. Statsionardagi vasiyatnomani bosh vrach tasdiqlaydi.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41095"/>
                <a:gridCol w="3646879"/>
              </a:tblGrid>
              <a:tr h="411480">
                <a:tc>
                  <a:txBody>
                    <a:bodyPr/>
                    <a:lstStyle/>
                    <a:p>
                      <a:r>
                        <a:rPr sz="1400" b="1">
                          <a:solidFill>
                            <a:srgbClr val="FFFFFF"/>
                          </a:solidFill>
                        </a:rPr>
                        <a:t>Tushuncha</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Ma’naviy zarar</a:t>
                      </a:r>
                    </a:p>
                  </a:txBody>
                  <a:tcPr marL="73152" marR="73152" marT="36576" marB="36576">
                    <a:solidFill>
                      <a:srgbClr val="E8EEF6"/>
                    </a:solidFill>
                  </a:tcPr>
                </a:tc>
                <a:tc>
                  <a:txBody>
                    <a:bodyPr/>
                    <a:lstStyle/>
                    <a:p>
                      <a:r>
                        <a:rPr sz="1300" b="0">
                          <a:solidFill>
                            <a:srgbClr val="1F2937"/>
                          </a:solidFill>
                        </a:rPr>
                        <a:t>Jismoniy va ma’naviy azob; pul bilan</a:t>
                      </a:r>
                    </a:p>
                  </a:txBody>
                  <a:tcPr marL="73152" marR="73152" marT="36576" marB="36576">
                    <a:solidFill>
                      <a:srgbClr val="E8EEF6"/>
                    </a:solidFill>
                  </a:tcPr>
                </a:tc>
              </a:tr>
              <a:tr h="411480">
                <a:tc>
                  <a:txBody>
                    <a:bodyPr/>
                    <a:lstStyle/>
                    <a:p>
                      <a:r>
                        <a:rPr sz="1300" b="0">
                          <a:solidFill>
                            <a:srgbClr val="1F2937"/>
                          </a:solidFill>
                        </a:rPr>
                        <a:t>Iste’molchi huquqi</a:t>
                      </a:r>
                    </a:p>
                  </a:txBody>
                  <a:tcPr marL="73152" marR="73152" marT="36576" marB="36576">
                    <a:solidFill>
                      <a:srgbClr val="FFFFFF"/>
                    </a:solidFill>
                  </a:tcPr>
                </a:tc>
                <a:tc>
                  <a:txBody>
                    <a:bodyPr/>
                    <a:lstStyle/>
                    <a:p>
                      <a:r>
                        <a:rPr sz="1300" b="0">
                          <a:solidFill>
                            <a:srgbClr val="1F2937"/>
                          </a:solidFill>
                        </a:rPr>
                        <a:t>Ma’lumot, erkin tanlov, xavfsizlik, tovon</a:t>
                      </a:r>
                    </a:p>
                  </a:txBody>
                  <a:tcPr marL="73152" marR="73152" marT="36576" marB="36576">
                    <a:solidFill>
                      <a:srgbClr val="FFFFFF"/>
                    </a:solidFill>
                  </a:tcPr>
                </a:tc>
              </a:tr>
              <a:tr h="411480">
                <a:tc>
                  <a:txBody>
                    <a:bodyPr/>
                    <a:lstStyle/>
                    <a:p>
                      <a:r>
                        <a:rPr sz="1300" b="0">
                          <a:solidFill>
                            <a:srgbClr val="1F2937"/>
                          </a:solidFill>
                        </a:rPr>
                        <a:t>Qonun 22-modda</a:t>
                      </a:r>
                    </a:p>
                  </a:txBody>
                  <a:tcPr marL="73152" marR="73152" marT="36576" marB="36576">
                    <a:solidFill>
                      <a:srgbClr val="E8EEF6"/>
                    </a:solidFill>
                  </a:tcPr>
                </a:tc>
                <a:tc>
                  <a:txBody>
                    <a:bodyPr/>
                    <a:lstStyle/>
                    <a:p>
                      <a:r>
                        <a:rPr sz="1300" b="0">
                          <a:solidFill>
                            <a:srgbClr val="1F2937"/>
                          </a:solidFill>
                        </a:rPr>
                        <a:t>Ma’naviy zarar to‘lovini sud aniqlaydi</a:t>
                      </a:r>
                    </a:p>
                  </a:txBody>
                  <a:tcPr marL="73152" marR="73152" marT="36576" marB="36576">
                    <a:solidFill>
                      <a:srgbClr val="E8EEF6"/>
                    </a:solidFill>
                  </a:tcPr>
                </a:tc>
              </a:tr>
              <a:tr h="411480">
                <a:tc>
                  <a:txBody>
                    <a:bodyPr/>
                    <a:lstStyle/>
                    <a:p>
                      <a:r>
                        <a:rPr sz="1300" b="0">
                          <a:solidFill>
                            <a:srgbClr val="1F2937"/>
                          </a:solidFill>
                        </a:rPr>
                        <a:t>FK 1126-modda</a:t>
                      </a:r>
                    </a:p>
                  </a:txBody>
                  <a:tcPr marL="73152" marR="73152" marT="36576" marB="36576">
                    <a:solidFill>
                      <a:srgbClr val="FFFFFF"/>
                    </a:solidFill>
                  </a:tcPr>
                </a:tc>
                <a:tc>
                  <a:txBody>
                    <a:bodyPr/>
                    <a:lstStyle/>
                    <a:p>
                      <a:r>
                        <a:rPr sz="1300" b="0">
                          <a:solidFill>
                            <a:srgbClr val="1F2937"/>
                          </a:solidFill>
                        </a:rPr>
                        <a:t>Vasiyatnoma: bosh vrach tasdig‘i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qoidalar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111, 112-113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bemorga zarar va qoplash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(o‘quv misoli): bemorga yordam lozim darajada ko‘rsatilmagan, sog‘lig‘iga zarar yetgan. U davolanish xarajatlari va ma’naviy tovonni talab qilmoqda.</a:t>
            </a:r>
          </a:p>
          <a:p>
            <a:pPr>
              <a:spcAft>
                <a:spcPts val="1200"/>
              </a:spcAft>
            </a:pPr>
            <a:r>
              <a:rPr sz="2200">
                <a:solidFill>
                  <a:srgbClr val="1F2937"/>
                </a:solidFill>
                <a:latin typeface="Calibri"/>
              </a:rPr>
              <a:t>▸  Xodim xizmat vazifasida zarar yetkazgan bo‘lsa, muassasa qoplaydi. Keyin muassasa to‘langan summani xodimdan qaytarib talab qilishi mumkin (regress).</a:t>
            </a:r>
          </a:p>
          <a:p>
            <a:pPr>
              <a:spcAft>
                <a:spcPts val="1200"/>
              </a:spcAft>
            </a:pPr>
            <a:r>
              <a:rPr sz="2200">
                <a:solidFill>
                  <a:srgbClr val="1F2937"/>
                </a:solidFill>
                <a:latin typeface="Calibri"/>
              </a:rPr>
              <a:t>▸  Ayb taxmin qilinadi: bemor aybni isbotlashi shart emas. Aybsizligini xodim yoki muassasa isbotlaydi, masalan hujjatlar to‘laqonligi bilan.</a:t>
            </a:r>
          </a:p>
          <a:p>
            <a:pPr>
              <a:spcAft>
                <a:spcPts val="1200"/>
              </a:spcAft>
            </a:pPr>
            <a:r>
              <a:rPr sz="2200">
                <a:solidFill>
                  <a:srgbClr val="1F2937"/>
                </a:solidFill>
                <a:latin typeface="Calibri"/>
              </a:rPr>
              <a:t>▸  Ma’naviy zarar miqdorini sud azob xarakteri va ayb darajasiga qarab aniqlaydi. U mulkiy zarardan qat’iy nazar to‘lanadi.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105, 107, 104-106, 111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Intizomiy javobgarlik: hayfsan, o‘rtacha oylik ish haqining 30 foizigacha jarima yoki shartnomani bekor qilish. Jazo bir yil amal qiladi.</a:t>
            </a:r>
          </a:p>
          <a:p>
            <a:pPr>
              <a:spcAft>
                <a:spcPts val="1200"/>
              </a:spcAft>
            </a:pPr>
            <a:r>
              <a:rPr sz="2200">
                <a:solidFill>
                  <a:srgbClr val="1F2937"/>
                </a:solidFill>
                <a:latin typeface="Calibri"/>
              </a:rPr>
              <a:t>▸  Ma’muriy javobgarlik: ko‘pincha jarima. 16 yoshga to‘lmaganlar javobgar emas, jazo odatda ikki oy ichida qo‘llanadi.</a:t>
            </a:r>
          </a:p>
          <a:p>
            <a:pPr>
              <a:spcAft>
                <a:spcPts val="1200"/>
              </a:spcAft>
            </a:pPr>
            <a:r>
              <a:rPr sz="2200">
                <a:solidFill>
                  <a:srgbClr val="1F2937"/>
                </a:solidFill>
                <a:latin typeface="Calibri"/>
              </a:rPr>
              <a:t>▸  Fuqarolik javobgarlik — zararni qoplash. Boshqa javobgarlikka tortilish zararni qoplashdan ozod etmaydi.</a:t>
            </a:r>
          </a:p>
          <a:p>
            <a:pPr>
              <a:spcAft>
                <a:spcPts val="1200"/>
              </a:spcAft>
            </a:pPr>
            <a:r>
              <a:rPr sz="2200">
                <a:solidFill>
                  <a:srgbClr val="1F2937"/>
                </a:solidFill>
                <a:latin typeface="Calibri"/>
              </a:rPr>
              <a:t>▸  Diqqat: ma’muriy jarima davlat hisobiga undiriladi, zararni qoplash esa jabrlanuvchi huquqini tiklaydi. Ular bir-birini almashtirmaydi.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90, 94-96, 104, 95, 104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Ma’muriy huquqbuzarlik jamiyat uchun xavfli deb sanalmaydi, shuning uchun jinoiy javobgarlik yuzaga kelmaydi. Ammo ahamiyati, oqibatining og‘irligi va takrorlanishiga qarab, ayrim qoidabuzarliklar (masalan, epidemiyaga qarshi kurash qoidalari) jinoyat sifatida baholanishi mumkin.</a:t>
            </a:r>
          </a:p>
          <a:p>
            <a:pPr>
              <a:spcAft>
                <a:spcPts val="1200"/>
              </a:spcAft>
            </a:pPr>
            <a:r>
              <a:rPr sz="1800">
                <a:solidFill>
                  <a:srgbClr val="1F2937"/>
                </a:solidFill>
                <a:latin typeface="Calibri"/>
              </a:rPr>
              <a:t>▸  Eslab qolish usuli (jarima chegarasi): mansabdor shaxs uchun chegara har doim yuqoriroq. Fuqaroga eng kam ish haqining 5 baravarigacha, mansabdorga 10 baravarigacha jarima solinadi. Istisno holatlarda bu 100 va 150 baravar. Mahalliy hokimiyat qarorlarida esa 3 va 5 baravar.</a:t>
            </a:r>
          </a:p>
          <a:p>
            <a:pPr>
              <a:spcAft>
                <a:spcPts val="1200"/>
              </a:spcAft>
            </a:pPr>
            <a:r>
              <a:rPr sz="1800">
                <a:solidFill>
                  <a:srgbClr val="1F2937"/>
                </a:solidFill>
                <a:latin typeface="Calibri"/>
              </a:rPr>
              <a:t>▸  Diqqat, muddatlarni adashtirmang: ma’muriy jazo huquqbuzarlik sodir etilgan (davom etayotgan bo‘lsa, aniqlangan) kundan boshlab ikki oydan kechiktirmay qo‘llanadi. Intizomiy jazo esa qilmish aniqlangandan keyin bir oy ichida qo‘llanadi va bir yil amal qiladi. Ma’muriy ≠ intizomiy.</a:t>
            </a:r>
          </a:p>
          <a:p>
            <a:pPr>
              <a:spcAft>
                <a:spcPts val="1200"/>
              </a:spcAft>
            </a:pPr>
            <a:r>
              <a:rPr sz="1800">
                <a:solidFill>
                  <a:srgbClr val="1F2937"/>
                </a:solidFill>
                <a:latin typeface="Calibri"/>
              </a:rPr>
              <a:t>▸  Hodisa tahlili: shifokor bemorni xavfdan qutqarish uchun boshqa yo‘l bo‘lmagani sababli zarar etkazdi. Ma’muriy qonunchilikda oxirgi zarurat huquqbuzarlik sanalmaydi. Fuqarolik qonunchiligida esa bu zararni qoplashdan ozod qilish uchun asos emas. Sud to‘lov majburiyatini zarar manfaati uchun etkazilgan uchinchi shaxsga yuklashi yoki ikkalasini ham qisman yoki to‘liq ozod qilishi mumkin.</a:t>
            </a:r>
          </a:p>
          <a:p>
            <a:pPr>
              <a:spcAft>
                <a:spcPts val="1200"/>
              </a:spcAft>
            </a:pPr>
            <a:r>
              <a:rPr sz="1800">
                <a:solidFill>
                  <a:srgbClr val="1F2937"/>
                </a:solidFill>
                <a:latin typeface="Calibri"/>
              </a:rPr>
              <a:t>▸  Fuqarolik huquqida ayb taxmin qilinadi: jabrlanuvchi vrachning aybini isbotlashi shart emas. Vrachning o‘zi aybsizligini isbotlaydi. Odatda tibbiy xodim aybsiz topiladigan uch holat bor: engib bo‘lmas kuch, bemorning iltimosi yoki roziligi, bemorning qo‘pol ehtiyotsizligi. Shuning uchun tibbiy hujjatlar aniq yuritilishi muhim.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Yosh vrach hayotida birinchi marta ishga kirmoqda. Ishga qabul qilishda qaysi hujjatni taqdim etishi shart emas?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Pasport yoki uning o‘rnini bosuvchi hujjat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Mehnat daftarchasi (ish joylari haqida)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Oliy ma’lumot haqidagi diplom nusxasi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Harbiy hisobda turganlik guvohnomasi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Poliklinika yangi qabul qilinayotgan vrachga dastlabki sinov belgilamoqchi. Sinov muddati ko‘pi bilan qancha bo‘lishi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Ko‘pi bilan bir oy muddatga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Ko‘pi bilan ikki oy muddatga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Ko‘pi bilan uch oy muddatga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Ko‘pi bilan olti oy muddatga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Kasalxona homilador ayol shifokorni ishga qabul qilmoqda. Unga dastlabki sinov haqida qaysi fikr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Dastlabki sinov belgilanmaydi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Sinov faqat bir oyga belgilanadi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Sinov uch oyga majburan belgilanadi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Sinov faqat rahbar xohlasa o‘tadi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Vrach bilan tuzilgan mehnat shartnomasida amal qilish muddati ko‘rsatilmagan. Bu shartnoma qanday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 yil muddatga tuzilgan hisoblanadi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Besh yil muddatga tuzilgan hisoblanadi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Sinov davriga tuzilgan hisoblanadi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Nomuayyan muddatga tuzilgan hisoblanadi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Vrach asosiy ishidan bo‘sh vaqtida boshqa klinikada shartnoma asosida haq evaziga ishlamoqda. Bu qanday nomlanadi?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Ichki o‘rindoshlik asosida ishlash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Tashqi o‘rindoshlik asosida ishlash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O‘rinbosarlik asosida ishlash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Bir necha kasbda ishlash deyiladi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Tibbiy xodim ish vaqti qisqartirilgan toifaga kiradi. Qonunchilikka ko‘ra, uning ish vaqti haftasiga necha soatdan oshmaydigan qilib belgilanadi?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Haftasiga 24 soatdan oshmaydi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Haftasiga 36 soatdan oshmaydi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Haftasiga 40 soatdan oshmaydi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Haftasiga 48 soatdan oshmaydi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Hamshira muddatsiz mehnat shartnomasi bo‘yicha o‘z tashabbusi bilan ishdan ketmoqchi. U ish beruvchini qancha muddat oldin yozma ogohlantirishi shart?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Uch kun oldin yozma ravishda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Bir oy oldin yozma ravishda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Ikki oy oldin yozma ravishda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Ikki hafta oldin yozma ravishda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Klinikada shtat qisqarishi sababli shifokor bilan shartnoma ish beruvchi tashabbusi bilan bekor qilinmoqda. Xodim kamida qancha muddat oldin yozma ogohlantirilishi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Kamida ikki oy oldin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Kamida ikki hafta oldin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Kamida uch kun oldin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Kamida bir oy oldin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Bosh vrach navbatchi vrachning intizomiy qilmishini aniqladi. U intizomiy jazoni qilmish aniqlangandan boshlab qaysi muddat ichida qo‘llashi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 hafta ichida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Olti oy ichida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Bir oy ichida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Ikki yil ichida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Vrach o‘z harakati zararli oqibatga olib kelishi mumkinligini oldindan ko‘rgan, ammo yengiltaklik bilan uni oldini olaman deb o‘ylagan. Huquqbuzarlik ayb shakliga ko‘ra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Qasddan sodir etilgan huquqbuzarlik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Ehtiyotsizlik orqasida sodir etilgan huquqbuzarlik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Oxirgi zarurat holatidagi harakat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Kam ahamiyatli huquqbuzarlik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Davlat poliklinikasi bosh shifokori (mansabdor shaxs) ma’muriy huquqbuzarlik sodir etdi. Istisno holat yo‘q. Unga solinadigan jarimaning eng ko‘p chegarasi qanday?</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Eng kam oylik ish haqining besh baravaridan oshmasligi kerak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Eng kam oylik ish haqining yuz baravaridan oshmasligi kerak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Eng kam oylik ish haqining o‘n baravaridan oshmasligi kerak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Eng kam oylik ish haqining uch baravaridan oshmasligi kerak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Quyidagilardan qaysi biri ma’muriy jazo turi hisoblanmaydi?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Ma’muriy qamoqqa olish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Ashyoni musodara qilish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Maxsus huquqdan mahrum qilish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Mehnat shartnomasini bekor qilish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sanitariya qoidasini bir marta buzdi va bu harakat tugagan. Ma’muriy jazo qo‘llash muddati qanday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Sodir etilgan kundan ikki oydan kechiktirmay</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Sodir etilgan kundan bir oydan kechiktirmay</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Sodir etilgan kundan olti oydan kechiktirmay</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Sodir etilgan kundan bir yildan kechiktirmay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Epidemiyaga qarshi qoida buzilgani uchun bayonnoma tuzilmoqda. Shifokor bayonnomani imzolashdan bosh tortdi. Qanday yo‘l tutiladi?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Bayonnoma bekor qilinadi va ish yuritish to‘xtatiladi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Bayonnomaga bu haqda yozib qo‘yiladi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Bayonnoma faqat guvohlar imzosi bilan haqiqiy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Shifokorga avtomatik ma’muriy qamoq belgilanadi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Quyidagilardan qaysi biri aholi sog‘lig‘ini saqlash sohasidagi ma’muriy huquqbuzarlik sifatida keltirilgan?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Tuhmat qilish, ya’ni fuqaroni yolg‘on ma’lumot bilan ayblash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Davlat tili haqidagi qonun talablarini buzish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Epidemiyaga qarshi kurash qoidalarini buzish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Mehnatga ma’muriy majburlash holatiga yo‘l qo‘yish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vrachni kasb vazifasini lozim darajada bajarmaganlikda ayblab, zararni qoplash da‘vosi bilan sudga murojaat qildi. Fuqarolik qonuniga ko‘ra kim aybdor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 vrach aybini isbotlamaguncha vrach aybsiz hisoblanadi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Sud-tibbiy ekspertiza xulosasigacha hech kim aybdor hisoblanmaydi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Vrach o‘z aybsizligini isbotlamaguncha aybdor hisoblanadi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Muassasa rahbari aybsizligini isbotlamaguncha aybdor hisoblanadi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Bemorga zarar etkazilgan, vrachning harakati g‘ayriqonuniy va unda ayb bor. Ammo zarar boshqa sababdan kelib chiqqani aniqlandi. Zarar uchun javobgarlikning qaysi sharti yetishmaydi?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Harakat bilan zarar o‘rtasida sababiy bog‘liqlik mavjud emas</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Zarar etkazilganlik fakti mavjud emas</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Zarar etkazgan shaxsning harakati g‘ayriqonuniy emas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Zarar etkazgan shaxsning aybi mavjud emas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Fuqarolik kodeksiga ko‘ra, zararni qoplash bo‘yicha umumiy da‘vo muddati qancha?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 yil</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Uch yil</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Ikki yil</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Besh yil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Xususiy klinika bemor bilan haq evaziga xizmat ko‘rsatish shartnomasini tuzgan, lekin xizmatni tegishli darajada bajarmadi. Buyurtmachiga to‘lanadigan zarar miqdori qanday chegaraga ega?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Xizmat bahosining yarmidan ortiq bo‘lishi mumkin emas</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Xizmat bahosining o‘ziga teng miqdordan oshmasligi shart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Xizmat bahosining uch baravaridan oshmasligi lozim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Xizmat bahosining ikki baravaridan oshmasligi lozim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Klinika xodimi bemorning shifokor sirini oshkor etdi, lekin bemorga moddiy zarar etkazilmadi. Bu holatda ma‘naviy zararni qoplash mumkinmi?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 ma‘naviy zarar mulkiy zarardan qat‘iy nazar qoplanadi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Yo‘q, ma‘naviy zarar faqat moddiy zarar bo‘lsa qoplanadi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Yo‘q, sir oshkor etilishi faqat intizomiy javobgarlik asosidir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 lekin faqat bemor sud ekspertizasidan o‘tgandan so‘ng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Mehnat daftarchasi (ish joylari haqida)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Ishga qabul qilishda pasport, mehnat daftarchasi, harbiy hujjat va ma’lumot haqidagi diplom talab qilinadi. Birinchi marta ishga kirayotganlar mehnat daftarchasini taqdim etmaydi.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81-82-bet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Ko‘pi bilan uch oy muddatga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Dastlabki sinov uch oydan ortiq bo‘lmagan muddatga belgilanadi (O‘zR MK 85-modda).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82-bet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Dastlabki sinov belgilanmaydi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Homilador ayollar va uch yoshga to‘lmagan bolasi bor ayollar ishga qabul qilinganda dastlabki sinov belgilanmaydi (O‘zR MK 84-modda).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82-bet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Nomuayyan muddatga tuzilgan hisoblanadi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Shartnomada muddat ko‘rsatilmagan bo‘lsa, u nomuayyan muddatga tuzilgan deb hisoblanadi (O‘zR MK 75-modda).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81-bet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Tashqi o‘rindoshlik asosida ishlash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Asosiy ishdan bo‘sh vaqtda boshqa muassasada haq to‘lanadigan ish tashqi o‘rindoshlik hisoblanadi. O‘z muassasasida bo‘lsa, ichki o‘rindoshlik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84-bet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Haftasiga 36 soatdan oshmaydi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Ish vaqtining normal muddati haftasiga 40 soatdan oshmaydi. Yuqori his-hayajon, aqliy zo‘riqish va asab tarangligi bilan bog‘liq ishlarda ish vaqti haftasiga 36 soatdan oshmaydi. Tibbiy xodimlar ham shu toifaga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85-bet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Ikki hafta oldin yozma ravishda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Xodim ish beruvchini ikki hafta oldin yozma ogohlantirib, muddatsiz va muddatli shartnomalarni bekor qilishi mumkin. Ogohlantirish muddati o‘tgach ish beruvchi mehnat daftarchasini berib, hisob-kitob qilishi shart.</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87-bet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Kamida ikki oy oldin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Texnologiya yoki mehnat tashkilotidagi o‘zgarish, shtat yoki ish hajmining qisqarishi, korxona tugatilishi holatida ish beruvchi xodimni kamida ikki oy oldin imzo chektirib ogohlantiradi. Kelishuv bo‘lsa, ogohlantirish pullik kompensatsiya bilan almashtirilishi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89-bet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Bir oy ichida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Intizomiy jazo qilmish aniqlangandan bir oy ichida qo‘llanadi. Bu muddatga xodimning bemor yoki mehnat ta’tilida bo‘lgan vaqti kirmaydi. Olti oy va ikki yil – qilmish sodir bo‘lgandan keyingi eng so‘nggi chegaralar.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90-bet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Ehtiyotsizlik orqasida sodir etilgan huquqbuzarlik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Zararli oqibatni oldindan ko‘rib, yengiltaklik bilan uni oldini olish mumkin deb o‘ylash ehtiyotsizlik hisoblanadi. Qasdda shaxs oqibatni istaydi yoki unga ongli ravishda yo‘l qo‘yadi.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93-bet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Eng kam oylik ish haqining o‘n baravaridan oshmasligi kerak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Mansabdor shaxsga solinadigan jarimaning eng ko‘p miqdori eng kam oylik ish haqining o‘n baravaridan oshmasligi kerak. Besh baravar fuqarolar uchun belgilangan chegara. Yuz baravar faqat fuqarolar uchun istisno holatlarda qo‘llanadi. Uch baravar fuqarolarga mahalliy hokimiyat qarori bilan solinadigan jarimaning chegarasi.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95-bet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Mehnat shartnomasini bekor qilish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Ma’muriy jazolar: jarima, ashyoni haqini to‘lab olib qo‘yish, musodara, maxsus huquqdan mahrum qilish va ma’muriy qamoq. Mehnat shartnomasini bekor qilish esa intizomiy jazo turi.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94-bet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Sodir etilgan kundan ikki oydan kechiktirmay</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Ma’muriy jazo huquqbuzarlik sodir etilgan kundan ikki oydan kechiktirmay qo‘llanadi. Bir oylik muddat esa jinoyat ishini qo‘zg‘atishni rad etish yoki to‘xtatish qarori chiqqan holatlarga tegishli.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96-bet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Bayonnomaga bu haqda yozib qo‘yiladi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Huquqbuzar imzolashdan bosh tortsa, bayonnomaga bu haqda yozib qo‘yiladi. U o‘z tushuntirish va mulohazalarini ilova qilishi, imzodan bosh tortish sabablarini bayon etishi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98-bet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Epidemiyaga qarshi kurash qoidalarini buzish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Epidemiyaga qarshi kurash qoidalarini buzish sog‘liqni saqlash sohasidagi huquqbuzarliklar qatorida (54-modda). Tuhmat, davlat tili va mehnatga majburlash fuqarolar huquq va erkinliklariga tajovuz qiluvchi huquqbuzarliklar guruhiga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99-bet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Vrach o‘z aybsizligini isbotlamaguncha aybdor hisoblanadi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Fuqarolik qonuni zarar etkazuvchi aybini nazarda tutadi (ayb prezumpsiyasi). Jabrlanuvchi ayb va g‘ayriqonuniylikni isbotlashi shart emas. Vrach o‘z harakatlari qonuniy va aybi yo‘qligini isbotlaguncha aybdor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104-bet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Harakat bilan zarar o‘rtasida sababiy bog‘liqlik mavjud emas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Javobgarlik to‘rt shart birga bo‘lganda vujudga keladi: zarar fakti, g‘ayriqonuniy harakat, harakat va zarar o‘rtasidagi sababiy bog‘liqlik hamda ayb. Bu vaziyatda zarar fakti, g‘ayriqonuniylik va ayb bor, sababiy bog‘liqlik esa yo‘q.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105-bet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Uch yil</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Umumiy da‘vo muddati uch yil (FK 150-modda). U shaxs o‘z huquqi buzilganini bilgan yoki bilishi lozim bo‘lgan kundan boshlab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109-bet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Xizmat bahosining ikki baravaridan oshmasligi lozim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Ijrochi xizmatni umuman yoki tegishli darajada bajarmasa, zararni batamom to‘lashi shart. Lekin to‘lov shartnomadagi xizmat bahosining ikki baravaridan ortiq bo‘lishi mumkin emas (FK 706-modda).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110-bet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Ha, ma‘naviy zarar mulkiy zarardan qat‘iy nazar qoplanadi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Shifokor sirini oshkor etish, bemorga qo‘pollik qilish moddiy zarardan qat‘iy nazar ma‘naviy zararni qoplash uchun asos bo‘lishi mumkin. Ma‘naviy zarar to‘lanishi lozim bo‘lgan mulkiy zarardan qat‘iy nazar qoplanadi (FK 1022-modda).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111-112-bet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Vrach faoliyatining huquqiy asoslari: darslik, Toshkent: Tafakkur-Bo‘stoni (egasi taqdim etgan; yopiq foydalanish). 2012. 6-bob. Mehnat qonunchiligi va tibbiy xodimlar; bet 78-91</a:t>
            </a:r>
          </a:p>
          <a:p>
            <a:pPr>
              <a:spcAft>
                <a:spcPts val="1200"/>
              </a:spcAft>
            </a:pPr>
            <a:r>
              <a:rPr sz="2000">
                <a:solidFill>
                  <a:srgbClr val="1F2937"/>
                </a:solidFill>
                <a:latin typeface="Calibri"/>
              </a:rPr>
              <a:t>▸  G‘iyosov Z.A. Vrach faoliyatining huquqiy asoslari: darslik, Toshkent: Tafakkur-Bo‘stoni (egasi taqdim etgan; yopiq foydalanish). 2012. 7-bob. Tibbiy xodimlarning ma’muriy javobgarligi; bet 92-101</a:t>
            </a:r>
          </a:p>
          <a:p>
            <a:pPr>
              <a:spcAft>
                <a:spcPts val="1200"/>
              </a:spcAft>
            </a:pPr>
            <a:r>
              <a:rPr sz="2000">
                <a:solidFill>
                  <a:srgbClr val="1F2937"/>
                </a:solidFill>
                <a:latin typeface="Calibri"/>
              </a:rPr>
              <a:t>▸  G‘iyosov Z.A. Vrach faoliyatining huquqiy asoslari: darslik, Toshkent: Tafakkur-Bo‘stoni (egasi taqdim etgan; yopiq foydalanish). 2012. 8-bob. Tibbiy xodimlarning fuqarolik-huquqiy javobgarligi; bet 102-114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