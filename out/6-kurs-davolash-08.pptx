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Vrach xatosi uchun qanday javobgarlik turlari bo‘lishi mumkin? 2) Ular bir-birini istisno qiladimi? Doskada: uch ustunli sxema (intizomiy, ma’muriy, fuqarolik) chizdiring. Tipik xato: talaba bitta javobgarlik boshqasini bekor qiladi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Konstitutsiyadagi mehnat huquqlari vrach uchun nimani anglatadi? 2) Mehnat kodeksi nimalarni tartibga soladi? Doskada: Konstitutsiya → Mehnat kodeksi → mehnat shartnomasi zanjirini yozdiring. Tipik xato: Konstitutsiyaning 37-moddasini Mehnat kodeksi moddasi bilan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Vrach mehnati nega haq to‘lanadigan munosabat hisoblanadi? 2) Qaysi hollarda ishga majburlash majburiy mehnat sanalmaydi? Doskada: A, B, V, G belgilarini jadval qilib chizdiring va har biriga vrach misoli yozdiring. Tipik xato: majburiy mehnat istisnolarini umuman yo‘q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Vrach sifatida qaysi huquqlaringizni bilasiz? 2) Ish beruvchi huquqlari nima uchun xodimnikidan qisqa berilgan? Doskada: ikki ustunli jadval chizdirib, xodim va ish beruvchi huquqlarini yozdiring. Tipik xato: MK 16-moddani (xodim huquqlari) 17-modda (ish beruvchi huquqlari) bilan almashtirish. Ijtimoiy ta’minot, kasaba uyushmasiga a’zolik, malaka oshirish kabi huquqlarni ham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Navbatchi vrachdan vazifasiga kirmaydigan ish talab qilinsa nima qilinadi? 2) Xodim majburiyatlari ichki tartib qoidalarida qanday mustahkamlanadi? Doskada: 176- va 177-moddalarni ikki ustunda yozdiring, ustiga ish beruvchi taqiqlari ro‘yxatini qo‘shdiring. Tipik xato: majburiyatni (176, 177) huquq (16, 17)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Muddatli shartnoma qancha muddatga tuziladi (besh yildan oshmaydi) va nomuayyan shartnomani xodim roziligisiz muddatliga o‘zgartirish mumkinmi? 2) Sinov nima uchun kerak? Doskada: ishga qabul zanjirini (hujjat, shartnoma, sinov, natija) chizdirib, sinovda har tomon bekor qilish huquqini belgilating. Tipik xato: sinov muddatini uch oydan ortiq deb hisoblash yoki barcha ayollarga sinov belgilanadi deb o‘ylash. Shartnoma tuzish chog‘ida xodim huquqlari kafolatlari pasaytirilmasligini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Jamoa shartnomasi individual mehnat shartnomasidan nimasi bilan farq qiladi? 2) Nega ixtiyoriylik va javobgarlikning muqarrarligi birga tilga olinadi? Doskada: tomonlar sxemasini chizing (kasaba uyushmasi ↔ ish beruvchi) va yetti tamoyilni ro‘yxatlang. Tipik xato: jamoa shartnomasini xodim bilan tuziladigan individual mehnat shartnomasi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tezkor so‘rang; javobni talaba aytgach, slaydni oching. Muhokama: 1) Sinov muddati nima uchun kerak? 2) Xodim huquqlari shartnomada qonundagidan pasaytirilishi mumkinmi? (bet 81: yo‘q). Doskada: shartnomaning uch muddat turini (nomuayyan, muayyan, muayyan ish) yozdiring. Tipik xato: sinov muddatini uch oy o‘rniga uch hafta yoki olti oy deb aytish; ogohlantirish muddatlarini (3 kun va 2 hafta)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Ichki va tashqi o‘rindoshlik farqi nimada? 2) Bir necha kasbda ishlash qaysi shart bilan mumkin? Doskada: to‘rt qatorli jadvalni talabalar bilan to‘ldiring va har qatorga o‘zlari misol topsin. Tipik xato: o‘rindoshlikni bir necha kasb bilan aralashtirish (o‘rindoshlikda bo‘sh vaqtda, ichki yoki tashqi muassasada ishlanadi); o‘rinbosarlikda lavozim egasi saqlanib qolishini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Muhokama: 1) Nega tibbiy xodimlarning ish vaqti 36 soatgacha qisqartirilgan (his-hayajon, aqliy zo‘riqish, asab tarangligi)? 2) Ko‘rikni rad etish oqibati nima (xodim ishdan chetlatiladi)? Doskada: ish vaqti bo‘yicha 40 va 36 soatni solishtiruvchi ustunli sxema chizdiring. Tipik xato: tibbiy xodimlar uchun ish vaqtining aniq ro‘yxatini Hukumat belgilashini unutish va ko‘rik xarajatini xodim to‘laydi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Qaysi holatda ish beruvchi shartnomani xodim so‘ragan muddatda bekor qilishi shart (o‘quv yurtiga qabul, pensiya, saylanish va h.k.)? 2) Taraflar kelishsa, ikki hafta o‘tmasdan bekor qilish mumkinmi? Doskada: flow sxemani tuzing va har bosqichda ariza qaytarib olish imkonini belgilang. Tipik xato: ogohlantirish muddati tugagach ish beruvchi hech narsa qilmasa ham ariza amal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Muhokama: 1) Qilmish qo‘pol yoki qo‘pol emasligi qanday hal etiladi (oqibatiga qarab)? 2) Kompensatsiya ogohlantirish o‘rnini qachon bosadi (taraflar kelishuvi bilan, birinchi ikki sabab bo‘yicha)? Doskada: MK 100-moddadagi oltita sababni ro‘yxat qilib, jadvalga bog‘lang (o‘rindosh ishchining qabul qilinishi va mulkdor o‘zgarishi ham sabab). Tipik xato: muntazam va bir marta qo‘pol buzishni aralashtirish hamda ogohlantirish muddatlarini (ikki oy, ikki hafta, uch kun) chalkashtirish.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jazodan oldin tushuntirish xati so‘raladi? 2) Jazo amal qilish muddati tugasa, xodimning holati qanday o‘zgaradi? Doskada: jazo qo‘llash muddatlarini vaqt chizig‘i shaklida chizdiring (aniqlash – 1 oy – 6 oy – 2 yil). Tipik xato: jazoni qo‘llash muddati (1 oy) bilan jazoning amal qilish muddatini (1 yil) aralashtirish. Qo‘shimcha: jarima miqdorini 50% gacha belgilash faqat ichki tartibda alohida qilmishlarga mumkin (90-bet).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Talabalar 3-4 kishilik guruhda vaziyatni yechadi. Muhokama: 1) Xodim tushuntirish xatini bermasa nima bo‘ladi? 2) Qanday qilmish «qo‘pol buzish» sanaladi (oqibatiga qarab hal etiladi)? Doskada: qaror qabul qilish sxemasi (qilmish – tushuntirish xati – jazo – buyruq). Tipik xato: tushuntirish xatisiz jazo berish mumkin deb o‘ylash yoki ta’til vaqtini bir oylik muddatga qo‘shib hisoblash. Tezkor savol: bitta qilmishga nechta jazo qo‘llanadi? (Bitta.)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huquq bilan birga majburiyat tengligi ta’kidlanadi? 2) Ma’muriy huquqbuzarlik jinoyatdan qaysi belgisi bilan farqlanadi? Doskada: ikki ustunli solishtirish (ma’muriy huquqbuzarlik va jinoyat) chizing. Tipik xato: ma’muriy huquqbuzarlikni jinoyat bilan bir xil deb hisoblash; aslida oqibati og‘ir bo‘lsa yoki takror sodir etilsa, ayrim huquqbuzarliklar jinoyat sifatida baholanishi mumkin (93-bet). Eslab qoling: ma’muriy ≠ jinoiy.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Vrach asoratni ko‘rgan, lekin ‘o‘tib ketadi’ deb o‘ylagan holat qaysi shaklga kiradi? 2) Oqibatga ‘ongli yo‘l qo‘yish’ nimani bildiradi? Doskada: ikki ustunli jadvalni talabalar bilan birga to‘ldiring. Tipik xato: yengiltaklikni qasddan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ayni bir qoidabuzarlik ba’zan jinoyat, ba’zan ma’muriy bo‘ladi? 2) Epidemiyaga qarshi qoidabuzarlikda qaysi omillar baholanadi? Doskada: ‘xavf darajasi’ shkalasini chizib, ma’muriy va jinoiy chegarani belgilang. Tipik xato: ‘ma’muriy ≠ jinoyat’ farqini faqat qilmish nomiga qarab belgilash; asosiy mezon ijtimoiy xavf va oqibat.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Oxirgi zarurat shartlari nima? Ikkala shart bir vaqtda kerakmi? 2) Ma’muriy javobgarlikdan ozod bo‘lgan shaxs zararni qoplashi shartmi? Doskada: oxirgi zarurat uchun ikki shartli ‘tekshiruv ro‘yxati’ chizing. Tipik xato: oxirgi zarurat ma’muriy javobgarlikni ham, fuqaroviy zararni qoplashni ham istisno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navbat bilan bering, javobni ular kitobsiz aytsin. Muhokama: oqibatning og‘irligi va soni ma’muriy qilmishni jinoyatga aylantirishi mumkinmi? Doskaga qasd va ehtiyotsizlikni ikki ustunda yozdiring. Tipik xato: ma’muriy huquqbuzarlikni jinoyat bilan aralashtirish va ehtiyotsizlikni aybsizlik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tibbiy xodimlarning kasb huquqbuzarliklarida aksariyat hollarda jarima belgilanadi (manbada shunday deyilgan, 94-bet)? Haqi to‘lanib olib qo‘yish va musodara xususiy tibbiy yoki farmatsevtika amaliyotida qo‘llanishi mumkin (95-bet). Doskaga beshta jazoni yozib, olib qo‘yish bilan musodara farqini o‘zlari chizsin. Tipik xato: olib qo‘yish va musodarani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mansabdor shaxs uchun chegaralar yuqoriroq? Doskada jadvalni talabalar o‘zlari qayta chizsin va raqamlarni yodlashga urinsin. Tipik xato: fuqaro bilan mansabdor shaxs ustunlarini almashtirish yoki mahalliy qaror chegarasini umumiy chegara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Olib qo‘yish va musodarada pul kimga tegadi? 2) Nega bu choralar xususiy klinika va dorixonada ko‘proq uchraydi? Doskada: ikki ustunli solishtirish (olib qo‘yish ≠ musodara). Tipik xato: ikkalasini bir narsa deb o‘ylash. Diqqat: musodarada haq to‘lanmaydi. Ikki oylik muddat bojxona musodarasiga tatbiq etilmaydi.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Bayonnomada nimalar ko‘rsatiladi? 2) Huquqbuzar imzolamasa nima bo‘ladi? Doskada: bayonnoma tuzish zanjirini chizing. Tipik xato: bayonnoma tuzgan organ bilan ishni hal qiluvchi organni aralashtirish. Moddiy zarar yetkazilgan bo‘lsa, bu ham bayonnomada ko‘rsatiladi.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jazo turlarida shaxsning qatnashishi majburiy? 2) Ekspertiza qachon tayinlanadi? Doskada: shaxsning huquqlari ro‘yxatini chizing. Tipik xato: ishtirok har doim shart deb o‘ylash; shartlar faqat ayrim jazolarda. Keyin bo‘lim bo‘yicha Voqea tahlili o‘tkazing.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 moddalar ko‘proq rahbarlarga tegishli? 2) Tuhmat va haqorat bemorga nisbatan qanday ko‘rinishda bo‘lishi mumkin? Doskada chizish: 6 ta moddani raqami bilan ustun qilib yozdiring. Tipik xato: talabalar barcha moddalarni oddiy shifokorga tegishli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59-modda (xavfsizlik yetarli ta’minlanmasligi) tibbiy xodimga qanday tegishli? 2) Xususiy klinikada qaysi qilmishlar uchrashi mumkin? Doskada chizish: to‘rt guruhli jadvalni daftarga ko‘chirtiring. Eslatma: tez yordamni aldab chaqirishda subyekt fuqaro, hisobotni buzishda esa sog‘liqni saqlash mansabdor shaxslari. Tipik xato: 199-modda subyektini tibbiy xodim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Kim bayonnoma tuzadi, kim ishni ko‘radi? 2) Qaysi holatda qilmish jinoyat sifatida baholanishi mumkin? Doskada chizish: zanjir — qoidabuzarlik, bayonnoma, ko‘rib chiqish, jazo. Javob: mansabdor shaxsga jarima kamida eng kam ish haqining 1/10 qismi, ko‘pi bilan 10 baravari (istisnolarda ko‘proq). Tipik xato: ma’muriy javobgarlik fuqarolik javobgarligidan ozod etadi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bemor va muassasa orasida shartnoma kamdan-kam bo‘ladi, bu javobgarlik turiga qanday ta’sir qiladi? 2) Haqiqiy zarar va boy berilgan foydaga bittadan misol keltiring. Doskada: delikt va shartnomaviy javobgarlikni ikki ustunli jadvalga chizing. Tipik xato: talabalar huquq layoqati va muomala layoqatini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Harakatsizlik ham g‘ayriqonuniy harakat bo‘la oladimi, misol keltiring. 2) Qasddan va ehtiyotsizlik shaklini vrach faoliyatidan misol bilan farqlang. Doskada: to‘rt shartli zanjirni chizib, bitta shart tushib qolsa nima bo‘lishini ko‘rsating. Tipik xato: sababiy bog‘liqlikni zarar fakti bilan bir narsa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shifokor sirini oshkor etish qaysi nomulkiy huquqqa tajovuz? Doskada: ro‘yxatni yozing. Tipik xato: deliktni faqat mulkiy zarar bilan bog‘lash.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dori nuqsoni va vrach xizmati nuqsoni zarari kim tomonidan qoplanadi? Doskada: uch ustunni chizing. Tipik xato: zararni qoplash faqat shartnoma bo‘lsa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ma’lumotli rozilik olish aybsizlik isboti uchun muhim? 2) Kasallik tarixidagi qanday kamchiliklar vrachga zarar yetkazadi? Doskada: uch aybsizlik holatini ro‘yxat qilib yozing, har biriga bitta tibbiy misol toping. Tipik xato: jabrlanuvchi aybni isbotlashi kerak deb o‘ylash, aslida teskari.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delikt, chunki bemor bilan shartnoma kam tuziladi; 2) ayb prezumpsiyasi bor, aybsizligini zarar etkazuvchi (vrach, muassasa) isbotlaydi; 3) zarar fakti, g‘ayriqonuniy harakat, sababiy bog‘liqlik va ayb; 4) yo‘q, ozod qilmaydi. Muhokama: nega vrach uchun tibbiy hujjatlarni to‘g‘ri yuritish muhim? Doskada to‘rt shartni zanjir ko‘rinishida chizdiring. Tipik xato: talabalar jabrlanuvchi vrachning aybini isbotlashi kerak deb o‘ylaydi, aslida teskari.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muassasalar regress da’vosini kamdan-kam beradi? Sug‘urta bo‘lsa vrach va muassasa qanday himoyalanadi? Doskada ketma-ketlikni chizing: vrach xatosi, muassasa to‘laydi, regress. Tipik xato: oxirgi zarurat hamma javobgarlikdan ozod qiladi deb o‘ylash; fuqarolik qonunida bunday emas. Da’vo muddati huquqbuzarlik kunidan emas, huquqi buzilganini bilgan kundan boshlanishini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xususiy klinikada bemor bilan yozma shartnoma qanday himoya beradi? Ijrochi shartnomani qachon bekor qila oladi? Javob: buyurtmachiga etkazilgan zararni to‘liq to‘lasa, buyurtmachi aybi bilan bekor bo‘lgan hollar bundan mustasno (FK 707-modda). Doskada jadvalni o‘zlari to‘ldirsin. Tipik xato: ijrochi javobgarligi chegarasiz deb o‘ylash; bu yerda chegara xizmat bahosining ikki baravari.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Muhokama: 1) Bemorga qo‘pollik yoki shifokor sirini oshkor qilish ma’naviy zararga asos bo‘ladimi? 2) Bemorni iste’molchi deb hisoblash xodimga qanday talablar qo‘yadi? Doskada: bemor – ijrochi – iste’molchi huquqlari sxemasini chizdiring. Tipik xato: ma’naviy zarar faqat mulkiy zarar bo‘lsagina to‘lanadi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navbatchi vrach vasiyatnomani qachon tasdiqlashi mumkin? Doskada: zanjirni chizing. Tipik xato: har qanday vrach tasdiqlay oladi deb o‘ylash — qonunda aniq ro‘yxat bor.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bemorga qo‘pol munosabat qachon ma’naviy zarar asosi bo‘ladi? Doskada: besh qadamni yozing. Tipik xato: ma’naviy zararni faqat mulkiy zarar bo‘lsa to‘lanadi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Savollar: kim javob beradi, ayb kimga isbotlanadi, ma’naviy zarar qanday aniqlanadi? Muhokama: qaysi hollarda xodim aybsiz topiladi (engib bo‘lmas kuch, bemor roziligi, bemorning qo‘pol ehtiyotsizligi)? Doskada: zarar – g‘ayriqonuniylik – sababiy bog‘liqlik – ayb zanjirini chizdiring. Tipik xato: ayb isboti bemorga yuklanadi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bitta xatti-harakat uchun xodim bir vaqtda uch turdagi javobgarlikka tortilishi mumkinmi? Nazorat: ma’muriy huquqbuzarlik jinoyatdan nimasi bilan farq qiladi? Ma’muriy jazo turlarini sanang. Doskada: uch javobgarlik turini jadvalga (kim qo‘llaydi, jazo, muddat) joylashtiring. Tipik xato: bir turdagi javobgarlik boshqasini istisno qiladi deb o‘ylash.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Tibbiy xodimlarning ma’muriy javobgarligi.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Mehnat intizomini buzish intizomiy qilmish hisoblanadi. Buning uchun ish beruvchi xodimni intizomiy jazoga tortishi mumkin.</a:t>
            </a:r>
          </a:p>
          <a:p>
            <a:pPr>
              <a:spcAft>
                <a:spcPts val="800"/>
              </a:spcAft>
            </a:pPr>
            <a:r>
              <a:rPr sz="1600">
                <a:solidFill>
                  <a:srgbClr val="1F2937"/>
                </a:solidFill>
                <a:latin typeface="Calibri"/>
              </a:rPr>
              <a:t>▸  Ma’muriy huquqbuzarlik uchun ma’muriy javobgarlik yuzaga keladi. Tibbiy xodimlarning kasbiy huquqbuzarliklarida ko‘pincha jarima qo‘llanadi.</a:t>
            </a:r>
          </a:p>
          <a:p>
            <a:pPr>
              <a:spcAft>
                <a:spcPts val="800"/>
              </a:spcAft>
            </a:pPr>
            <a:r>
              <a:rPr sz="1600">
                <a:solidFill>
                  <a:srgbClr val="1F2937"/>
                </a:solidFill>
                <a:latin typeface="Calibri"/>
              </a:rPr>
              <a:t>▸  Fuqarolik-huquqiy javobgarlik etkazilgan zararni qoplashni anglatadi. Boshqa javobgarlikka tortilish zararni qoplashdan ozod etmaydi.</a:t>
            </a:r>
          </a:p>
          <a:p>
            <a:pPr>
              <a:spcAft>
                <a:spcPts val="800"/>
              </a:spcAft>
            </a:pPr>
            <a:r>
              <a:rPr sz="1600">
                <a:solidFill>
                  <a:srgbClr val="1F2937"/>
                </a:solidFill>
                <a:latin typeface="Calibri"/>
              </a:rPr>
              <a:t>▸  Reja: avval mehnat qonunchiligi va intizomiy jazolar, so‘ng ma’muriy javobgarlik, oxirida zararni qoplash masalalari ko‘rib chiqiladi.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Uch javobgarlik</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Intizomiy</a:t>
            </a:r>
          </a:p>
          <a:p>
            <a:pPr algn="l">
              <a:spcAft>
                <a:spcPts val="0"/>
              </a:spcAft>
            </a:pPr>
            <a:r>
              <a:rPr sz="1200" b="0">
                <a:solidFill>
                  <a:srgbClr val="1F2937"/>
                </a:solidFill>
                <a:latin typeface="Calibri"/>
              </a:rPr>
              <a:t>Mehnat intizomi buzilishi  ·  Ish beruvchi jazolaydi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Ma’muriy</a:t>
            </a:r>
          </a:p>
          <a:p>
            <a:pPr algn="l">
              <a:spcAft>
                <a:spcPts val="0"/>
              </a:spcAft>
            </a:pPr>
            <a:r>
              <a:rPr sz="1200" b="0">
                <a:solidFill>
                  <a:srgbClr val="1F2937"/>
                </a:solidFill>
                <a:latin typeface="Calibri"/>
              </a:rPr>
              <a:t>Huquqbuzarlik uchun  ·  Ko‘pincha jarima</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Fuqarolik-huquqiy</a:t>
            </a:r>
          </a:p>
          <a:p>
            <a:pPr algn="l">
              <a:spcAft>
                <a:spcPts val="0"/>
              </a:spcAft>
            </a:pPr>
            <a:r>
              <a:rPr sz="1200" b="0">
                <a:solidFill>
                  <a:srgbClr val="1F2937"/>
                </a:solidFill>
                <a:latin typeface="Calibri"/>
              </a:rPr>
              <a:t>Zararni qoplash  ·  Boshqa javobgarlikdan ozod etmaydi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Mashg‘ulotdagi uch javobgarlik</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90, 94, 104, 78-114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qonunchiligining asosiy mazmuni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Konstitutsiyaning 37-moddasi bo‘yicha fuqaro mehnat qilish, erkin ish tanlash, haqqoniy shartlarda ishlash va ishsizlikdan himoyalanish huquqiga ega.</a:t>
            </a:r>
          </a:p>
          <a:p>
            <a:pPr>
              <a:spcAft>
                <a:spcPts val="800"/>
              </a:spcAft>
            </a:pPr>
            <a:r>
              <a:rPr sz="1600">
                <a:solidFill>
                  <a:srgbClr val="1F2937"/>
                </a:solidFill>
                <a:latin typeface="Calibri"/>
              </a:rPr>
              <a:t>▸  Mehnat munosabatlarini bozor iqtisodiyoti tamoyillariga mos tartibga solishda asosiy manba — Mehnat kodeksi.</a:t>
            </a:r>
          </a:p>
          <a:p>
            <a:pPr>
              <a:spcAft>
                <a:spcPts val="800"/>
              </a:spcAft>
            </a:pPr>
            <a:r>
              <a:rPr sz="1600">
                <a:solidFill>
                  <a:srgbClr val="1F2937"/>
                </a:solidFill>
                <a:latin typeface="Calibri"/>
              </a:rPr>
              <a:t>▸  Mehnat huquqi xodim va ish beruvchi o‘rtasidagi mehnat shartnomasi asosida ularning munosabatlarini tartibga soladi.</a:t>
            </a:r>
          </a:p>
          <a:p>
            <a:pPr>
              <a:spcAft>
                <a:spcPts val="800"/>
              </a:spcAft>
            </a:pPr>
            <a:r>
              <a:rPr sz="1600">
                <a:solidFill>
                  <a:srgbClr val="1F2937"/>
                </a:solidFill>
                <a:latin typeface="Calibri"/>
              </a:rPr>
              <a:t>▸  Qonun munosabatlarni o‘rnatish, o‘zgartirish, to‘xtatish tartibini, ish hajmi, ish haqi, ichki tartib, intizom, mehnat himoyasi va nizolarni belgilaydi.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Mehnat qonunchiligi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Konstitutsiya 37-modda</a:t>
            </a:r>
          </a:p>
          <a:p>
            <a:pPr algn="l">
              <a:spcAft>
                <a:spcPts val="0"/>
              </a:spcAft>
            </a:pPr>
            <a:r>
              <a:rPr sz="1200" b="0">
                <a:solidFill>
                  <a:srgbClr val="1F2937"/>
                </a:solidFill>
                <a:latin typeface="Calibri"/>
              </a:rPr>
              <a:t>Mehnat, erkin ish tanlash  ·  Ishsizlikdan himoya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Mehnat kodeksi</a:t>
            </a:r>
          </a:p>
          <a:p>
            <a:pPr algn="l">
              <a:spcAft>
                <a:spcPts val="0"/>
              </a:spcAft>
            </a:pPr>
            <a:r>
              <a:rPr sz="1200" b="0">
                <a:solidFill>
                  <a:srgbClr val="1F2937"/>
                </a:solidFill>
                <a:latin typeface="Calibri"/>
              </a:rPr>
              <a:t>Asosiy manba  ·  Bozor tamoyillariga mos</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Mehnat shartnomasi</a:t>
            </a:r>
          </a:p>
          <a:p>
            <a:pPr algn="l">
              <a:spcAft>
                <a:spcPts val="0"/>
              </a:spcAft>
            </a:pPr>
            <a:r>
              <a:rPr sz="1200" b="0">
                <a:solidFill>
                  <a:srgbClr val="1F2937"/>
                </a:solidFill>
                <a:latin typeface="Calibri"/>
              </a:rPr>
              <a:t>Munosabatni o‘rnatish, o‘zgartirish  ·  To‘xtatish tartibi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Qonun belgilaydi</a:t>
            </a:r>
          </a:p>
          <a:p>
            <a:pPr algn="l">
              <a:spcAft>
                <a:spcPts val="0"/>
              </a:spcAft>
            </a:pPr>
            <a:r>
              <a:rPr sz="1200" b="0">
                <a:solidFill>
                  <a:srgbClr val="1F2937"/>
                </a:solidFill>
                <a:latin typeface="Calibri"/>
              </a:rPr>
              <a:t>Ish hajmi, ish haqi  ·  Ichki tartib, intizom, himoya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Mehnat huquqining mazmuni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munosabatlarining o‘ziga xosligi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Mehnat munosabatlari to‘rt belgisi (A, B, V, G) bilan boshqa huquqiy munosabatlardan, masalan fuqarolik huquqidan, ajraladi.</a:t>
            </a:r>
          </a:p>
          <a:p>
            <a:pPr>
              <a:spcAft>
                <a:spcPts val="800"/>
              </a:spcAft>
            </a:pPr>
            <a:r>
              <a:rPr sz="1800">
                <a:solidFill>
                  <a:srgbClr val="1F2937"/>
                </a:solidFill>
                <a:latin typeface="Calibri"/>
              </a:rPr>
              <a:t>▸  Majburiy mehnat, ya’ni jazo bilan tahdid qilib ishga majburlash, taqiqlanadi.</a:t>
            </a:r>
          </a:p>
          <a:p>
            <a:pPr>
              <a:spcAft>
                <a:spcPts val="800"/>
              </a:spcAft>
            </a:pPr>
            <a:r>
              <a:rPr sz="1800">
                <a:solidFill>
                  <a:srgbClr val="1F2937"/>
                </a:solidFill>
                <a:latin typeface="Calibri"/>
              </a:rPr>
              <a:t>▸  Harbiy yoki muqobil xizmat, favqulodda holat, sud hukmi kabi hollarda ayrim ishlar majburiy mehnat sanalmaydi.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66807"/>
                <a:gridCol w="3721167"/>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A</a:t>
                      </a:r>
                    </a:p>
                  </a:txBody>
                  <a:tcPr marL="73152" marR="73152" marT="36576" marB="36576">
                    <a:solidFill>
                      <a:srgbClr val="E8EEF6"/>
                    </a:solidFill>
                  </a:tcPr>
                </a:tc>
                <a:tc>
                  <a:txBody>
                    <a:bodyPr/>
                    <a:lstStyle/>
                    <a:p>
                      <a:r>
                        <a:rPr sz="1700" b="0">
                          <a:solidFill>
                            <a:srgbClr val="1F2937"/>
                          </a:solidFill>
                        </a:rPr>
                        <a:t>Ishlab chiqarishda vujudga keladi</a:t>
                      </a:r>
                    </a:p>
                  </a:txBody>
                  <a:tcPr marL="73152" marR="73152" marT="36576" marB="36576">
                    <a:solidFill>
                      <a:srgbClr val="E8EEF6"/>
                    </a:solidFill>
                  </a:tcPr>
                </a:tc>
              </a:tr>
              <a:tr h="614476">
                <a:tc>
                  <a:txBody>
                    <a:bodyPr/>
                    <a:lstStyle/>
                    <a:p>
                      <a:r>
                        <a:rPr sz="1700" b="0">
                          <a:solidFill>
                            <a:srgbClr val="1F2937"/>
                          </a:solidFill>
                        </a:rPr>
                        <a:t>B</a:t>
                      </a:r>
                    </a:p>
                  </a:txBody>
                  <a:tcPr marL="73152" marR="73152" marT="36576" marB="36576">
                    <a:solidFill>
                      <a:srgbClr val="FFFFFF"/>
                    </a:solidFill>
                  </a:tcPr>
                </a:tc>
                <a:tc>
                  <a:txBody>
                    <a:bodyPr/>
                    <a:lstStyle/>
                    <a:p>
                      <a:r>
                        <a:rPr sz="1700" b="0">
                          <a:solidFill>
                            <a:srgbClr val="1F2937"/>
                          </a:solidFill>
                        </a:rPr>
                        <a:t>Jamoa a’zosi: huquq va majburiyat</a:t>
                      </a:r>
                    </a:p>
                  </a:txBody>
                  <a:tcPr marL="73152" marR="73152" marT="36576" marB="36576">
                    <a:solidFill>
                      <a:srgbClr val="FFFFFF"/>
                    </a:solidFill>
                  </a:tcPr>
                </a:tc>
              </a:tr>
              <a:tr h="614476">
                <a:tc>
                  <a:txBody>
                    <a:bodyPr/>
                    <a:lstStyle/>
                    <a:p>
                      <a:r>
                        <a:rPr sz="1700" b="0">
                          <a:solidFill>
                            <a:srgbClr val="1F2937"/>
                          </a:solidFill>
                        </a:rPr>
                        <a:t>V</a:t>
                      </a:r>
                    </a:p>
                  </a:txBody>
                  <a:tcPr marL="73152" marR="73152" marT="36576" marB="36576">
                    <a:solidFill>
                      <a:srgbClr val="E8EEF6"/>
                    </a:solidFill>
                  </a:tcPr>
                </a:tc>
                <a:tc>
                  <a:txBody>
                    <a:bodyPr/>
                    <a:lstStyle/>
                    <a:p>
                      <a:r>
                        <a:rPr sz="1700" b="0">
                          <a:solidFill>
                            <a:srgbClr val="1F2937"/>
                          </a:solidFill>
                        </a:rPr>
                        <a:t>Mehnat haq to‘lanadigan munosabat</a:t>
                      </a:r>
                    </a:p>
                  </a:txBody>
                  <a:tcPr marL="73152" marR="73152" marT="36576" marB="36576">
                    <a:solidFill>
                      <a:srgbClr val="E8EEF6"/>
                    </a:solidFill>
                  </a:tcPr>
                </a:tc>
              </a:tr>
              <a:tr h="614476">
                <a:tc>
                  <a:txBody>
                    <a:bodyPr/>
                    <a:lstStyle/>
                    <a:p>
                      <a:r>
                        <a:rPr sz="1700" b="0">
                          <a:solidFill>
                            <a:srgbClr val="1F2937"/>
                          </a:solidFill>
                        </a:rPr>
                        <a:t>G</a:t>
                      </a:r>
                    </a:p>
                  </a:txBody>
                  <a:tcPr marL="73152" marR="73152" marT="36576" marB="36576">
                    <a:solidFill>
                      <a:srgbClr val="FFFFFF"/>
                    </a:solidFill>
                  </a:tcPr>
                </a:tc>
                <a:tc>
                  <a:txBody>
                    <a:bodyPr/>
                    <a:lstStyle/>
                    <a:p>
                      <a:r>
                        <a:rPr sz="1700" b="0">
                          <a:solidFill>
                            <a:srgbClr val="1F2937"/>
                          </a:solidFill>
                        </a:rPr>
                        <a:t>Shaxsiy mehnat, aniq kasb yoki lavozim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Mehnat munosabatining to‘rt belgisi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78-79, 79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 va ish beruvchining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Xodim huquqlari Mehnat kodeksi (MK) 16-moddada berilgan: ish haqi, dam olish, xavfsiz sharoit.</a:t>
            </a:r>
          </a:p>
          <a:p>
            <a:pPr>
              <a:spcAft>
                <a:spcPts val="800"/>
              </a:spcAft>
            </a:pPr>
            <a:r>
              <a:rPr sz="1800">
                <a:solidFill>
                  <a:srgbClr val="1F2937"/>
                </a:solidFill>
                <a:latin typeface="Calibri"/>
              </a:rPr>
              <a:t>▸  Ish beruvchi shartnomalarni tuzadi va bekor qiladi, ishni to‘laqonli bajarishni talab etadi (MK 17-modda).</a:t>
            </a:r>
          </a:p>
          <a:p>
            <a:pPr>
              <a:spcAft>
                <a:spcPts val="800"/>
              </a:spcAft>
            </a:pPr>
            <a:r>
              <a:rPr sz="1800">
                <a:solidFill>
                  <a:srgbClr val="1F2937"/>
                </a:solidFill>
                <a:latin typeface="Calibri"/>
              </a:rPr>
              <a:t>▸  Xodim o‘z huquqlarini sud orqali himoya qilishi va malakali yuridik yordam olishi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Xodim (MK 16)</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Ish haqi, dam olish</a:t>
            </a:r>
          </a:p>
          <a:p>
            <a:pPr algn="l">
              <a:spcAft>
                <a:spcPts val="700"/>
              </a:spcAft>
            </a:pPr>
            <a:r>
              <a:rPr sz="1500" b="1">
                <a:solidFill>
                  <a:srgbClr val="C9A227"/>
                </a:solidFill>
                <a:latin typeface="Calibri"/>
              </a:rPr>
              <a:t>●  </a:t>
            </a:r>
            <a:r>
              <a:rPr sz="1500" b="0">
                <a:solidFill>
                  <a:srgbClr val="1F2937"/>
                </a:solidFill>
                <a:latin typeface="Calibri"/>
              </a:rPr>
              <a:t>Xavfsiz sharoit</a:t>
            </a:r>
          </a:p>
          <a:p>
            <a:pPr algn="l">
              <a:spcAft>
                <a:spcPts val="700"/>
              </a:spcAft>
            </a:pPr>
            <a:r>
              <a:rPr sz="1500" b="1">
                <a:solidFill>
                  <a:srgbClr val="C9A227"/>
                </a:solidFill>
                <a:latin typeface="Calibri"/>
              </a:rPr>
              <a:t>●  </a:t>
            </a:r>
            <a:r>
              <a:rPr sz="1500" b="0">
                <a:solidFill>
                  <a:srgbClr val="1F2937"/>
                </a:solidFill>
                <a:latin typeface="Calibri"/>
              </a:rPr>
              <a:t>Sud himoyasi, yuridik yordam</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Ish beruvchi (MK 17)</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Shartnomani tuzadi va bekor qiladi</a:t>
            </a:r>
          </a:p>
          <a:p>
            <a:pPr algn="l">
              <a:spcAft>
                <a:spcPts val="700"/>
              </a:spcAft>
            </a:pPr>
            <a:r>
              <a:rPr sz="1500" b="1">
                <a:solidFill>
                  <a:srgbClr val="C9A227"/>
                </a:solidFill>
                <a:latin typeface="Calibri"/>
              </a:rPr>
              <a:t>●  </a:t>
            </a:r>
            <a:r>
              <a:rPr sz="1500" b="0">
                <a:solidFill>
                  <a:srgbClr val="1F2937"/>
                </a:solidFill>
                <a:latin typeface="Calibri"/>
              </a:rPr>
              <a:t>Ishni to‘laqonli bajarishni talab etadi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Huquqlar yonma-yon</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79-80, 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 va ish beruvchining majburiyatlari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Xodim vazifani halol bajaradi, intizom va texnika xavfsizligiga rioya qiladi, mol-mulkni asraydi.</a:t>
            </a:r>
          </a:p>
          <a:p>
            <a:pPr>
              <a:spcAft>
                <a:spcPts val="800"/>
              </a:spcAft>
            </a:pPr>
            <a:r>
              <a:rPr sz="1800">
                <a:solidFill>
                  <a:srgbClr val="1F2937"/>
                </a:solidFill>
                <a:latin typeface="Calibri"/>
              </a:rPr>
              <a:t>▸  Ish beruvchi mehnatni tashkil etadi, shartnomadagi sharoitni yaratadi, mehnat muhofazasiga rioya qiladi.</a:t>
            </a:r>
          </a:p>
          <a:p>
            <a:pPr>
              <a:spcAft>
                <a:spcPts val="800"/>
              </a:spcAft>
            </a:pPr>
            <a:r>
              <a:rPr sz="1800">
                <a:solidFill>
                  <a:srgbClr val="1F2937"/>
                </a:solidFill>
                <a:latin typeface="Calibri"/>
              </a:rPr>
              <a:t>▸  Ish beruvchi vazifaga kirmaydigan yoki hayot va sha’nga zarar soladigan ishni talab qila olmaydi.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Xodim (MK 176)</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Vazifani halol bajarish</a:t>
            </a:r>
          </a:p>
          <a:p>
            <a:pPr algn="l">
              <a:spcAft>
                <a:spcPts val="700"/>
              </a:spcAft>
            </a:pPr>
            <a:r>
              <a:rPr sz="1500" b="1">
                <a:solidFill>
                  <a:srgbClr val="C9A227"/>
                </a:solidFill>
                <a:latin typeface="Calibri"/>
              </a:rPr>
              <a:t>●  </a:t>
            </a:r>
            <a:r>
              <a:rPr sz="1500" b="0">
                <a:solidFill>
                  <a:srgbClr val="1F2937"/>
                </a:solidFill>
                <a:latin typeface="Calibri"/>
              </a:rPr>
              <a:t>Intizom, texnika xavfsizligi</a:t>
            </a:r>
          </a:p>
          <a:p>
            <a:pPr algn="l">
              <a:spcAft>
                <a:spcPts val="700"/>
              </a:spcAft>
            </a:pPr>
            <a:r>
              <a:rPr sz="1500" b="1">
                <a:solidFill>
                  <a:srgbClr val="C9A227"/>
                </a:solidFill>
                <a:latin typeface="Calibri"/>
              </a:rPr>
              <a:t>●  </a:t>
            </a:r>
            <a:r>
              <a:rPr sz="1500" b="0">
                <a:solidFill>
                  <a:srgbClr val="1F2937"/>
                </a:solidFill>
                <a:latin typeface="Calibri"/>
              </a:rPr>
              <a:t>Mol-mulkni asrash</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Ish beruvchi (MK 177)</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Mehnatni tashkil etish</a:t>
            </a:r>
          </a:p>
          <a:p>
            <a:pPr algn="l">
              <a:spcAft>
                <a:spcPts val="700"/>
              </a:spcAft>
            </a:pPr>
            <a:r>
              <a:rPr sz="1500" b="1">
                <a:solidFill>
                  <a:srgbClr val="C9A227"/>
                </a:solidFill>
                <a:latin typeface="Calibri"/>
              </a:rPr>
              <a:t>●  </a:t>
            </a:r>
            <a:r>
              <a:rPr sz="1500" b="0">
                <a:solidFill>
                  <a:srgbClr val="1F2937"/>
                </a:solidFill>
                <a:latin typeface="Calibri"/>
              </a:rPr>
              <a:t>Shartnomadagi sharoitni yaratish</a:t>
            </a:r>
          </a:p>
          <a:p>
            <a:pPr algn="l">
              <a:spcAft>
                <a:spcPts val="700"/>
              </a:spcAft>
            </a:pPr>
            <a:r>
              <a:rPr sz="1500" b="1">
                <a:solidFill>
                  <a:srgbClr val="C9A227"/>
                </a:solidFill>
                <a:latin typeface="Calibri"/>
              </a:rPr>
              <a:t>●  </a:t>
            </a:r>
            <a:r>
              <a:rPr sz="1500" b="0">
                <a:solidFill>
                  <a:srgbClr val="1F2937"/>
                </a:solidFill>
                <a:latin typeface="Calibri"/>
              </a:rPr>
              <a:t>Mehnat muhofazasiga rioya</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Taqiq</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Vazifaga kirmaydigan ish</a:t>
            </a:r>
          </a:p>
          <a:p>
            <a:pPr algn="l">
              <a:spcAft>
                <a:spcPts val="700"/>
              </a:spcAft>
            </a:pPr>
            <a:r>
              <a:rPr sz="1500" b="1">
                <a:solidFill>
                  <a:srgbClr val="C9A227"/>
                </a:solidFill>
                <a:latin typeface="Calibri"/>
              </a:rPr>
              <a:t>●  </a:t>
            </a:r>
            <a:r>
              <a:rPr sz="1500" b="0">
                <a:solidFill>
                  <a:srgbClr val="1F2937"/>
                </a:solidFill>
                <a:latin typeface="Calibri"/>
              </a:rPr>
              <a:t>Hayot, sha’nga zarar soluvchi ish</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Majburiyatlar va taqiq</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shartnomasi va ishga qabul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Shartnomada ish joyi, vazifa, boshlanish vaqti, haq ko‘rsatiladi; muddat yozilmasa, nomuayyan hisoblanadi.</a:t>
            </a:r>
          </a:p>
          <a:p>
            <a:pPr>
              <a:spcAft>
                <a:spcPts val="800"/>
              </a:spcAft>
            </a:pPr>
            <a:r>
              <a:rPr sz="1800">
                <a:solidFill>
                  <a:srgbClr val="1F2937"/>
                </a:solidFill>
                <a:latin typeface="Calibri"/>
              </a:rPr>
              <a:t>▸  Ishga qabulda pasport, mehnat daftarchasi, harbiy hujjat, diplom; o‘rindoshlar ma’lumotnoma beradi.</a:t>
            </a:r>
          </a:p>
          <a:p>
            <a:pPr>
              <a:spcAft>
                <a:spcPts val="800"/>
              </a:spcAft>
            </a:pPr>
            <a:r>
              <a:rPr sz="1800">
                <a:solidFill>
                  <a:srgbClr val="1F2937"/>
                </a:solidFill>
                <a:latin typeface="Calibri"/>
              </a:rPr>
              <a:t>▸  Dastlabki sinov uch oydan oshmaydi; homilador va uch yoshgacha bolali ayollarga belgilanmaydi.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Hujjatlar</a:t>
            </a:r>
          </a:p>
          <a:p>
            <a:pPr algn="l">
              <a:spcAft>
                <a:spcPts val="200"/>
              </a:spcAft>
            </a:pPr>
            <a:r>
              <a:rPr sz="1400" b="0">
                <a:solidFill>
                  <a:srgbClr val="1F2937"/>
                </a:solidFill>
                <a:latin typeface="Calibri"/>
              </a:rPr>
              <a:t>Pasport, daftarcha, harbiy hujjat, diplom</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Shartnoma</a:t>
            </a:r>
          </a:p>
          <a:p>
            <a:pPr algn="l">
              <a:spcAft>
                <a:spcPts val="200"/>
              </a:spcAft>
            </a:pPr>
            <a:r>
              <a:rPr sz="1400" b="0">
                <a:solidFill>
                  <a:srgbClr val="1F2937"/>
                </a:solidFill>
                <a:latin typeface="Calibri"/>
              </a:rPr>
              <a:t>Ish joyi, vazifa, boshlanish, haq</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Sinov</a:t>
            </a:r>
          </a:p>
          <a:p>
            <a:pPr algn="l">
              <a:spcAft>
                <a:spcPts val="200"/>
              </a:spcAft>
            </a:pPr>
            <a:r>
              <a:rPr sz="1400" b="0">
                <a:solidFill>
                  <a:srgbClr val="1F2937"/>
                </a:solidFill>
                <a:latin typeface="Calibri"/>
              </a:rPr>
              <a:t>3 oygacha; homilador va 3 yoshgacha bolalilarga yo‘q</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Bekor qilish</a:t>
            </a:r>
          </a:p>
          <a:p>
            <a:pPr algn="l">
              <a:spcAft>
                <a:spcPts val="200"/>
              </a:spcAft>
            </a:pPr>
            <a:r>
              <a:rPr sz="1400" b="0">
                <a:solidFill>
                  <a:srgbClr val="1F2937"/>
                </a:solidFill>
                <a:latin typeface="Calibri"/>
              </a:rPr>
              <a:t>Sinovda 3 kun oldin yozma</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Davom etish</a:t>
            </a:r>
          </a:p>
          <a:p>
            <a:pPr algn="l">
              <a:spcAft>
                <a:spcPts val="200"/>
              </a:spcAft>
            </a:pPr>
            <a:r>
              <a:rPr sz="1400" b="0">
                <a:solidFill>
                  <a:srgbClr val="1F2937"/>
                </a:solidFill>
                <a:latin typeface="Calibri"/>
              </a:rPr>
              <a:t>Muddat o‘tsa shartnoma amalda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Ishga qabul bosqichlari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81, 81-82, 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Jamoa shartnomasi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Jamoa shartnomasi — korxonada ish beruvchi va xodimlar o‘rtasidagi mehnat, ijtimoiy-iqtisodiy va kasbiy munosabatlarni tartibga soluvchi normativ hujjat.</a:t>
            </a:r>
          </a:p>
          <a:p>
            <a:pPr>
              <a:spcAft>
                <a:spcPts val="800"/>
              </a:spcAft>
            </a:pPr>
            <a:r>
              <a:rPr sz="1600">
                <a:solidFill>
                  <a:srgbClr val="1F2937"/>
                </a:solidFill>
                <a:latin typeface="Calibri"/>
              </a:rPr>
              <a:t>▸  Tamoyillar: qonunga rioya, vakolatlilik, tanlash va muhokama erkinligi, ixtiyoriylik, bajarilishini ta’minlash, tekshiruv, muqarrar javobgarlik.</a:t>
            </a:r>
          </a:p>
          <a:p>
            <a:pPr>
              <a:spcAft>
                <a:spcPts val="800"/>
              </a:spcAft>
            </a:pPr>
            <a:r>
              <a:rPr sz="1600">
                <a:solidFill>
                  <a:srgbClr val="1F2937"/>
                </a:solidFill>
                <a:latin typeface="Calibri"/>
              </a:rPr>
              <a:t>▸  Tomonlar: kasaba uyushmasi (yoki vakolatli organ) va ish beruvchi. Qonundagidan imtiyozliroq shartlar, masalan qo‘shimcha ta’til, kiritilishi mumkin.</a:t>
            </a:r>
          </a:p>
          <a:p>
            <a:pPr>
              <a:spcAft>
                <a:spcPts val="800"/>
              </a:spcAft>
            </a:pPr>
            <a:r>
              <a:rPr sz="1600">
                <a:solidFill>
                  <a:srgbClr val="1F2937"/>
                </a:solidFill>
                <a:latin typeface="Calibri"/>
              </a:rPr>
              <a:t>▸  Loyiha avval xodimlar bilan muhokama qilinadi, so‘ng umumiy yig‘ilishga qo‘yiladi. Muddatini tomonlar belgilaydi; tugagach yangisigacha amal qiladi.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Jamoa shartnomasi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Tomonlar</a:t>
            </a:r>
          </a:p>
          <a:p>
            <a:pPr algn="l">
              <a:spcAft>
                <a:spcPts val="0"/>
              </a:spcAft>
            </a:pPr>
            <a:r>
              <a:rPr sz="1200" b="0">
                <a:solidFill>
                  <a:srgbClr val="1F2937"/>
                </a:solidFill>
                <a:latin typeface="Calibri"/>
              </a:rPr>
              <a:t>Kasaba uyushmasi/vakolatli organ  ·  Ish beruvchi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Tamoyillar</a:t>
            </a:r>
          </a:p>
          <a:p>
            <a:pPr algn="l">
              <a:spcAft>
                <a:spcPts val="0"/>
              </a:spcAft>
            </a:pPr>
            <a:r>
              <a:rPr sz="1200" b="0">
                <a:solidFill>
                  <a:srgbClr val="1F2937"/>
                </a:solidFill>
                <a:latin typeface="Calibri"/>
              </a:rPr>
              <a:t>Qonunga rioya, vakolatlilik  ·  Erkinlik, ixtiyoriylik  ·  Nazorat, muqarrar javobgarlik</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Shartlar</a:t>
            </a:r>
          </a:p>
          <a:p>
            <a:pPr algn="l">
              <a:spcAft>
                <a:spcPts val="0"/>
              </a:spcAft>
            </a:pPr>
            <a:r>
              <a:rPr sz="1200" b="0">
                <a:solidFill>
                  <a:srgbClr val="1F2937"/>
                </a:solidFill>
                <a:latin typeface="Calibri"/>
              </a:rPr>
              <a:t>Qonundagidan imtiyozliroq mumkin</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Tartib</a:t>
            </a:r>
          </a:p>
          <a:p>
            <a:pPr algn="l">
              <a:spcAft>
                <a:spcPts val="0"/>
              </a:spcAft>
            </a:pPr>
            <a:r>
              <a:rPr sz="1200" b="0">
                <a:solidFill>
                  <a:srgbClr val="1F2937"/>
                </a:solidFill>
                <a:latin typeface="Calibri"/>
              </a:rPr>
              <a:t>Xodimlar muhokamasi  ·  Umumiy yig‘ilish  ·  Tugagach yangisigacha amalda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Jamoa shartnomasi: tomonlar va tartib</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82, 82-83, 83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mehnat shartnomasi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shartnomada muddat ko‘rsatilmasa-chi? Javob: nomuayyan muddatga tuzilgan hisoblanadi. Uni xodim roziligisiz muayyan muddatga qayta tuzib bo‘lmaydi.</a:t>
            </a:r>
          </a:p>
          <a:p>
            <a:pPr>
              <a:spcAft>
                <a:spcPts val="1200"/>
              </a:spcAft>
            </a:pPr>
            <a:r>
              <a:rPr sz="2200">
                <a:solidFill>
                  <a:srgbClr val="1F2937"/>
                </a:solidFill>
                <a:latin typeface="Calibri"/>
              </a:rPr>
              <a:t>▸  Savol: dastlabki sinov qancha davom etadi? Javob: uch oydan oshmaydi. Homilador ayol va uch yoshgacha bolasi bor ayolga belgilanmaydi.</a:t>
            </a:r>
          </a:p>
          <a:p>
            <a:pPr>
              <a:spcAft>
                <a:spcPts val="1200"/>
              </a:spcAft>
            </a:pPr>
            <a:r>
              <a:rPr sz="2200">
                <a:solidFill>
                  <a:srgbClr val="1F2937"/>
                </a:solidFill>
                <a:latin typeface="Calibri"/>
              </a:rPr>
              <a:t>▸  Savol: sinov davomida shartnomani bekor qilish uchun nechta kun oldin ogohlantiriladi? Javob: uch kun oldin, yozma ravishda.</a:t>
            </a:r>
          </a:p>
          <a:p>
            <a:pPr>
              <a:spcAft>
                <a:spcPts val="1200"/>
              </a:spcAft>
            </a:pPr>
            <a:r>
              <a:rPr sz="2200">
                <a:solidFill>
                  <a:srgbClr val="1F2937"/>
                </a:solidFill>
                <a:latin typeface="Calibri"/>
              </a:rPr>
              <a:t>▸  Savol: ish beruvchi vazifasiga kirmaydigan ishni talab qila oladimi? Javob: yo‘q; qonunga xilof yoki hayot va sog‘liqqa xavfli ishni ham talab qila olmaydi.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81, 82, 80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O‘rindoshlik, bir necha kasb va o‘rinbosarlik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 necha kasbda ishlash faqat asosiy ish o‘rnida va vaqtida belgilangan ish hajmi bajarilganda mumkin.</a:t>
            </a:r>
          </a:p>
          <a:p>
            <a:pPr>
              <a:spcAft>
                <a:spcPts val="800"/>
              </a:spcAft>
            </a:pPr>
            <a:r>
              <a:rPr sz="1800">
                <a:solidFill>
                  <a:srgbClr val="1F2937"/>
                </a:solidFill>
                <a:latin typeface="Calibri"/>
              </a:rPr>
              <a:t>▸  Diqqat: o‘rindoshlik ≠ bir necha kasb ≠ o‘rinbosarlik; ularni ish joyi va vaqtiga qarab farqlang.</a:t>
            </a:r>
          </a:p>
          <a:p>
            <a:pPr>
              <a:spcAft>
                <a:spcPts val="800"/>
              </a:spcAft>
            </a:pPr>
            <a:r>
              <a:rPr sz="1800">
                <a:solidFill>
                  <a:srgbClr val="1F2937"/>
                </a:solidFill>
                <a:latin typeface="Calibri"/>
              </a:rPr>
              <a:t>▸  Rahbarga vrach lavozimida, vrachga o‘rta tibbiy xodim vazifasida ishlashga ruxsat beriladi.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9750"/>
                <a:gridCol w="1636665"/>
                <a:gridCol w="1841559"/>
              </a:tblGrid>
              <a:tr h="614476">
                <a:tc>
                  <a:txBody>
                    <a:bodyPr/>
                    <a:lstStyle/>
                    <a:p>
                      <a:r>
                        <a:rPr sz="1600" b="1">
                          <a:solidFill>
                            <a:srgbClr val="FFFFFF"/>
                          </a:solidFill>
                        </a:rPr>
                        <a:t>Tushuncha</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Tibbiy misol</a:t>
                      </a:r>
                    </a:p>
                  </a:txBody>
                  <a:tcPr marL="73152" marR="73152" marT="36576" marB="36576">
                    <a:solidFill>
                      <a:srgbClr val="0B1F3A"/>
                    </a:solidFill>
                  </a:tcPr>
                </a:tc>
              </a:tr>
              <a:tr h="614476">
                <a:tc>
                  <a:txBody>
                    <a:bodyPr/>
                    <a:lstStyle/>
                    <a:p>
                      <a:r>
                        <a:rPr sz="1500" b="0">
                          <a:solidFill>
                            <a:srgbClr val="1F2937"/>
                          </a:solidFill>
                        </a:rPr>
                        <a:t>Ichki o‘rindoshlik</a:t>
                      </a:r>
                    </a:p>
                  </a:txBody>
                  <a:tcPr marL="73152" marR="73152" marT="36576" marB="36576">
                    <a:solidFill>
                      <a:srgbClr val="E8EEF6"/>
                    </a:solidFill>
                  </a:tcPr>
                </a:tc>
                <a:tc>
                  <a:txBody>
                    <a:bodyPr/>
                    <a:lstStyle/>
                    <a:p>
                      <a:r>
                        <a:rPr sz="1500" b="0">
                          <a:solidFill>
                            <a:srgbClr val="1F2937"/>
                          </a:solidFill>
                        </a:rPr>
                        <a:t>Bo‘sh vaqtda o‘z muassasada, haq evaziga</a:t>
                      </a:r>
                    </a:p>
                  </a:txBody>
                  <a:tcPr marL="73152" marR="73152" marT="36576" marB="36576">
                    <a:solidFill>
                      <a:srgbClr val="E8EEF6"/>
                    </a:solidFill>
                  </a:tcPr>
                </a:tc>
                <a:tc>
                  <a:txBody>
                    <a:bodyPr/>
                    <a:lstStyle/>
                    <a:p>
                      <a:r>
                        <a:rPr sz="1500" b="0">
                          <a:solidFill>
                            <a:srgbClr val="1F2937"/>
                          </a:solidFill>
                        </a:rPr>
                        <a:t>O‘z shifoxonasida qo‘shimcha ish</a:t>
                      </a:r>
                    </a:p>
                  </a:txBody>
                  <a:tcPr marL="73152" marR="73152" marT="36576" marB="36576">
                    <a:solidFill>
                      <a:srgbClr val="E8EEF6"/>
                    </a:solidFill>
                  </a:tcPr>
                </a:tc>
              </a:tr>
              <a:tr h="614476">
                <a:tc>
                  <a:txBody>
                    <a:bodyPr/>
                    <a:lstStyle/>
                    <a:p>
                      <a:r>
                        <a:rPr sz="1500" b="0">
                          <a:solidFill>
                            <a:srgbClr val="1F2937"/>
                          </a:solidFill>
                        </a:rPr>
                        <a:t>Tashqi o‘rindoshlik</a:t>
                      </a:r>
                    </a:p>
                  </a:txBody>
                  <a:tcPr marL="73152" marR="73152" marT="36576" marB="36576">
                    <a:solidFill>
                      <a:srgbClr val="FFFFFF"/>
                    </a:solidFill>
                  </a:tcPr>
                </a:tc>
                <a:tc>
                  <a:txBody>
                    <a:bodyPr/>
                    <a:lstStyle/>
                    <a:p>
                      <a:r>
                        <a:rPr sz="1500" b="0">
                          <a:solidFill>
                            <a:srgbClr val="1F2937"/>
                          </a:solidFill>
                        </a:rPr>
                        <a:t>Bo‘sh vaqtda boshqa muassasada</a:t>
                      </a:r>
                    </a:p>
                  </a:txBody>
                  <a:tcPr marL="73152" marR="73152" marT="36576" marB="36576">
                    <a:solidFill>
                      <a:srgbClr val="FFFFFF"/>
                    </a:solidFill>
                  </a:tcPr>
                </a:tc>
                <a:tc>
                  <a:txBody>
                    <a:bodyPr/>
                    <a:lstStyle/>
                    <a:p>
                      <a:r>
                        <a:rPr sz="1500" b="0">
                          <a:solidFill>
                            <a:srgbClr val="1F2937"/>
                          </a:solidFill>
                        </a:rPr>
                        <a:t>Boshqa shifoxonada bo‘sh vaqtda ishlash</a:t>
                      </a:r>
                    </a:p>
                  </a:txBody>
                  <a:tcPr marL="73152" marR="73152" marT="36576" marB="36576">
                    <a:solidFill>
                      <a:srgbClr val="FFFFFF"/>
                    </a:solidFill>
                  </a:tcPr>
                </a:tc>
              </a:tr>
              <a:tr h="614476">
                <a:tc>
                  <a:txBody>
                    <a:bodyPr/>
                    <a:lstStyle/>
                    <a:p>
                      <a:r>
                        <a:rPr sz="1500" b="0">
                          <a:solidFill>
                            <a:srgbClr val="1F2937"/>
                          </a:solidFill>
                        </a:rPr>
                        <a:t>Bir necha kasb</a:t>
                      </a:r>
                    </a:p>
                  </a:txBody>
                  <a:tcPr marL="73152" marR="73152" marT="36576" marB="36576">
                    <a:solidFill>
                      <a:srgbClr val="E8EEF6"/>
                    </a:solidFill>
                  </a:tcPr>
                </a:tc>
                <a:tc>
                  <a:txBody>
                    <a:bodyPr/>
                    <a:lstStyle/>
                    <a:p>
                      <a:r>
                        <a:rPr sz="1500" b="0">
                          <a:solidFill>
                            <a:srgbClr val="1F2937"/>
                          </a:solidFill>
                        </a:rPr>
                        <a:t>Shu muassasada qo‘shimcha boshqa lavozim</a:t>
                      </a:r>
                    </a:p>
                  </a:txBody>
                  <a:tcPr marL="73152" marR="73152" marT="36576" marB="36576">
                    <a:solidFill>
                      <a:srgbClr val="E8EEF6"/>
                    </a:solidFill>
                  </a:tcPr>
                </a:tc>
                <a:tc>
                  <a:txBody>
                    <a:bodyPr/>
                    <a:lstStyle/>
                    <a:p>
                      <a:r>
                        <a:rPr sz="1500" b="0">
                          <a:solidFill>
                            <a:srgbClr val="1F2937"/>
                          </a:solidFill>
                        </a:rPr>
                        <a:t>Rahbar vrach lavozimida ishlaydi</a:t>
                      </a:r>
                    </a:p>
                  </a:txBody>
                  <a:tcPr marL="73152" marR="73152" marT="36576" marB="36576">
                    <a:solidFill>
                      <a:srgbClr val="E8EEF6"/>
                    </a:solidFill>
                  </a:tcPr>
                </a:tc>
              </a:tr>
              <a:tr h="614476">
                <a:tc>
                  <a:txBody>
                    <a:bodyPr/>
                    <a:lstStyle/>
                    <a:p>
                      <a:r>
                        <a:rPr sz="1500" b="0">
                          <a:solidFill>
                            <a:srgbClr val="1F2937"/>
                          </a:solidFill>
                        </a:rPr>
                        <a:t>O‘rinbosarlik</a:t>
                      </a:r>
                    </a:p>
                  </a:txBody>
                  <a:tcPr marL="73152" marR="73152" marT="36576" marB="36576">
                    <a:solidFill>
                      <a:srgbClr val="FFFFFF"/>
                    </a:solidFill>
                  </a:tcPr>
                </a:tc>
                <a:tc>
                  <a:txBody>
                    <a:bodyPr/>
                    <a:lstStyle/>
                    <a:p>
                      <a:r>
                        <a:rPr sz="1500" b="0">
                          <a:solidFill>
                            <a:srgbClr val="1F2937"/>
                          </a:solidFill>
                        </a:rPr>
                        <a:t>Vaqtincha yo‘q xodim ishini ham bajarish</a:t>
                      </a:r>
                    </a:p>
                  </a:txBody>
                  <a:tcPr marL="73152" marR="73152" marT="36576" marB="36576">
                    <a:solidFill>
                      <a:srgbClr val="FFFFFF"/>
                    </a:solidFill>
                  </a:tcPr>
                </a:tc>
                <a:tc>
                  <a:txBody>
                    <a:bodyPr/>
                    <a:lstStyle/>
                    <a:p>
                      <a:r>
                        <a:rPr sz="1500" b="0">
                          <a:solidFill>
                            <a:srgbClr val="1F2937"/>
                          </a:solidFill>
                        </a:rPr>
                        <a:t>Ta’tildagi hamkasb ishini bajarish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tushunchani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vaqti va mehnatni muhofaza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Normal ish vaqti haftasiga 40 soatdan oshmaydi; tibbiy xodimlar uchun u 36 soatgacha qisqartiriladi.</a:t>
            </a:r>
          </a:p>
          <a:p>
            <a:pPr>
              <a:spcAft>
                <a:spcPts val="800"/>
              </a:spcAft>
            </a:pPr>
            <a:r>
              <a:rPr sz="1800">
                <a:solidFill>
                  <a:srgbClr val="1F2937"/>
                </a:solidFill>
                <a:latin typeface="Calibri"/>
              </a:rPr>
              <a:t>▸  Ish beruvchi dastlabki va davriy tibbiy ko‘riklarni tashkil etadi; xodim ko‘rikni rad eta olmaydi.</a:t>
            </a:r>
          </a:p>
          <a:p>
            <a:pPr>
              <a:spcAft>
                <a:spcPts val="800"/>
              </a:spcAft>
            </a:pPr>
            <a:r>
              <a:rPr sz="1800">
                <a:solidFill>
                  <a:srgbClr val="1F2937"/>
                </a:solidFill>
                <a:latin typeface="Calibri"/>
              </a:rPr>
              <a:t>▸  Ko‘rik xarajatini xodim to‘lamaydi; sog‘lig‘i yomonlashsa, navbatdan tashqari ko‘rik so‘rashi mumkin.</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Normal ish vaqti</a:t>
            </a:r>
          </a:p>
          <a:p>
            <a:pPr algn="l">
              <a:spcAft>
                <a:spcPts val="100"/>
              </a:spcAft>
            </a:pPr>
            <a:r>
              <a:rPr sz="2900" b="1">
                <a:solidFill>
                  <a:srgbClr val="0B1F3A"/>
                </a:solidFill>
                <a:latin typeface="Calibri"/>
              </a:rPr>
              <a:t>40</a:t>
            </a:r>
            <a:r>
              <a:rPr sz="1400" b="0">
                <a:solidFill>
                  <a:srgbClr val="6B7280"/>
                </a:solidFill>
                <a:latin typeface="Calibri"/>
              </a:rPr>
              <a:t>  soat/hafta</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Tibbiy xodimlar</a:t>
            </a:r>
          </a:p>
          <a:p>
            <a:pPr algn="l">
              <a:spcAft>
                <a:spcPts val="100"/>
              </a:spcAft>
            </a:pPr>
            <a:r>
              <a:rPr sz="3000" b="1">
                <a:solidFill>
                  <a:srgbClr val="0B1F3A"/>
                </a:solidFill>
                <a:latin typeface="Calibri"/>
              </a:rPr>
              <a:t>36</a:t>
            </a:r>
            <a:r>
              <a:rPr sz="1500" b="0">
                <a:solidFill>
                  <a:srgbClr val="6B7280"/>
                </a:solidFill>
                <a:latin typeface="Calibri"/>
              </a:rPr>
              <a:t>  soatgacha</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Ko‘rik xarajati</a:t>
            </a:r>
          </a:p>
          <a:p>
            <a:pPr algn="l">
              <a:spcAft>
                <a:spcPts val="100"/>
              </a:spcAft>
            </a:pPr>
            <a:r>
              <a:rPr sz="2300" b="1">
                <a:solidFill>
                  <a:srgbClr val="0B1F3A"/>
                </a:solidFill>
                <a:latin typeface="Calibri"/>
              </a:rPr>
              <a:t>xodim to‘lamaydi</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Xodim ko‘rikni</a:t>
            </a:r>
          </a:p>
          <a:p>
            <a:pPr algn="l">
              <a:spcAft>
                <a:spcPts val="100"/>
              </a:spcAft>
            </a:pPr>
            <a:r>
              <a:rPr sz="2500" b="1">
                <a:solidFill>
                  <a:srgbClr val="0B1F3A"/>
                </a:solidFill>
                <a:latin typeface="Calibri"/>
              </a:rPr>
              <a:t>rad eta olmaydi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Ish vaqti va ko‘riklar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84-85, 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shartnomasini bekor qilish: xodim tashabbusi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Umumiy asoslar: kelishuv, bir taraf tashabbusi, muddat tugashi, taraflar ixtiyoridan tashqari holatlar.</a:t>
            </a:r>
          </a:p>
          <a:p>
            <a:pPr>
              <a:spcAft>
                <a:spcPts val="800"/>
              </a:spcAft>
            </a:pPr>
            <a:r>
              <a:rPr sz="1800">
                <a:solidFill>
                  <a:srgbClr val="1F2937"/>
                </a:solidFill>
                <a:latin typeface="Calibri"/>
              </a:rPr>
              <a:t>▸  Xodim muddatsiz va muddatli shartnomani ikki hafta oldin yozma ogohlantirib bekor qila oladi.</a:t>
            </a:r>
          </a:p>
          <a:p>
            <a:pPr>
              <a:spcAft>
                <a:spcPts val="800"/>
              </a:spcAft>
            </a:pPr>
            <a:r>
              <a:rPr sz="1800">
                <a:solidFill>
                  <a:srgbClr val="1F2937"/>
                </a:solidFill>
                <a:latin typeface="Calibri"/>
              </a:rPr>
              <a:t>▸  Ogohlantirish muddati tugagach ham shartnoma bekor qilinmasa, ariza o‘z kuchini yo‘qotadi.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 Ariza</a:t>
            </a:r>
          </a:p>
          <a:p>
            <a:pPr algn="l">
              <a:spcAft>
                <a:spcPts val="200"/>
              </a:spcAft>
            </a:pPr>
            <a:r>
              <a:rPr sz="1400" b="0">
                <a:solidFill>
                  <a:srgbClr val="1F2937"/>
                </a:solidFill>
                <a:latin typeface="Calibri"/>
              </a:rPr>
              <a:t>Yozma ariza beradi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 Ogohlantirish</a:t>
            </a:r>
          </a:p>
          <a:p>
            <a:pPr algn="l">
              <a:spcAft>
                <a:spcPts val="200"/>
              </a:spcAft>
            </a:pPr>
            <a:r>
              <a:rPr sz="1400" b="0">
                <a:solidFill>
                  <a:srgbClr val="1F2937"/>
                </a:solidFill>
                <a:latin typeface="Calibri"/>
              </a:rPr>
              <a:t>Ikki hafta oldin</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3: Qaytarib olish</a:t>
            </a:r>
          </a:p>
          <a:p>
            <a:pPr algn="l">
              <a:spcAft>
                <a:spcPts val="200"/>
              </a:spcAft>
            </a:pPr>
            <a:r>
              <a:rPr sz="1400" b="0">
                <a:solidFill>
                  <a:srgbClr val="1F2937"/>
                </a:solidFill>
                <a:latin typeface="Calibri"/>
              </a:rPr>
              <a:t>Muddat tugamaguncha mumkin</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4: Ketish</a:t>
            </a:r>
          </a:p>
          <a:p>
            <a:pPr algn="l">
              <a:spcAft>
                <a:spcPts val="200"/>
              </a:spcAft>
            </a:pPr>
            <a:r>
              <a:rPr sz="1400" b="0">
                <a:solidFill>
                  <a:srgbClr val="1F2937"/>
                </a:solidFill>
                <a:latin typeface="Calibri"/>
              </a:rPr>
              <a:t>Muddat o‘tgach ishni to‘xtatadi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5: Hisob-kitob</a:t>
            </a:r>
          </a:p>
          <a:p>
            <a:pPr algn="l">
              <a:spcAft>
                <a:spcPts val="200"/>
              </a:spcAft>
            </a:pPr>
            <a:r>
              <a:rPr sz="1400" b="0">
                <a:solidFill>
                  <a:srgbClr val="1F2937"/>
                </a:solidFill>
                <a:latin typeface="Calibri"/>
              </a:rPr>
              <a:t>Daftarcha va hisob-kitob beriladi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Xodim tashabbusi: bosqichlar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86-87, 87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beruvchi tashabbusi: sabablar va ogohlantirish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Ikki shart: Kodeksdagi sabab va barcha rasmiy talablarga (ogohlantirish, boshqa ish taklifi) rioya qilish.</a:t>
            </a:r>
          </a:p>
          <a:p>
            <a:pPr>
              <a:spcAft>
                <a:spcPts val="800"/>
              </a:spcAft>
            </a:pPr>
            <a:r>
              <a:rPr sz="1800">
                <a:solidFill>
                  <a:srgbClr val="1F2937"/>
                </a:solidFill>
                <a:latin typeface="Calibri"/>
              </a:rPr>
              <a:t>▸  Muntazam buzish: oldingi jazodan keyin bir yil ichida takror nojo‘ya harakat sodir etilishi.</a:t>
            </a:r>
          </a:p>
          <a:p>
            <a:pPr>
              <a:spcAft>
                <a:spcPts val="800"/>
              </a:spcAft>
            </a:pPr>
            <a:r>
              <a:rPr sz="1800">
                <a:solidFill>
                  <a:srgbClr val="1F2937"/>
                </a:solidFill>
                <a:latin typeface="Calibri"/>
              </a:rPr>
              <a:t>▸  Vaqtincha mehnatga layoqatsizlik yoki ta’tilda bekor qilib bo‘lmaydi; korxona tugatilsa — istisno.</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835580"/>
                <a:gridCol w="2452394"/>
              </a:tblGrid>
              <a:tr h="614476">
                <a:tc>
                  <a:txBody>
                    <a:bodyPr/>
                    <a:lstStyle/>
                    <a:p>
                      <a:r>
                        <a:rPr sz="1800" b="1">
                          <a:solidFill>
                            <a:srgbClr val="FFFFFF"/>
                          </a:solidFill>
                        </a:rPr>
                        <a:t>Sabab</a:t>
                      </a:r>
                    </a:p>
                  </a:txBody>
                  <a:tcPr marL="73152" marR="73152" marT="36576" marB="36576">
                    <a:solidFill>
                      <a:srgbClr val="0B1F3A"/>
                    </a:solidFill>
                  </a:tcPr>
                </a:tc>
                <a:tc>
                  <a:txBody>
                    <a:bodyPr/>
                    <a:lstStyle/>
                    <a:p>
                      <a:r>
                        <a:rPr sz="1800" b="1">
                          <a:solidFill>
                            <a:srgbClr val="FFFFFF"/>
                          </a:solidFill>
                        </a:rPr>
                        <a:t>Ogohlantirish</a:t>
                      </a:r>
                    </a:p>
                  </a:txBody>
                  <a:tcPr marL="73152" marR="73152" marT="36576" marB="36576">
                    <a:solidFill>
                      <a:srgbClr val="0B1F3A"/>
                    </a:solidFill>
                  </a:tcPr>
                </a:tc>
              </a:tr>
              <a:tr h="614476">
                <a:tc>
                  <a:txBody>
                    <a:bodyPr/>
                    <a:lstStyle/>
                    <a:p>
                      <a:r>
                        <a:rPr sz="1700" b="0">
                          <a:solidFill>
                            <a:srgbClr val="1F2937"/>
                          </a:solidFill>
                        </a:rPr>
                        <a:t>Shtat qisqarishi, korxona tugatilishi</a:t>
                      </a:r>
                    </a:p>
                  </a:txBody>
                  <a:tcPr marL="73152" marR="73152" marT="36576" marB="36576">
                    <a:solidFill>
                      <a:srgbClr val="E8EEF6"/>
                    </a:solidFill>
                  </a:tcPr>
                </a:tc>
                <a:tc>
                  <a:txBody>
                    <a:bodyPr/>
                    <a:lstStyle/>
                    <a:p>
                      <a:r>
                        <a:rPr sz="1700" b="0">
                          <a:solidFill>
                            <a:srgbClr val="1F2937"/>
                          </a:solidFill>
                        </a:rPr>
                        <a:t>Kamida ikki oy oldin</a:t>
                      </a:r>
                    </a:p>
                  </a:txBody>
                  <a:tcPr marL="73152" marR="73152" marT="36576" marB="36576">
                    <a:solidFill>
                      <a:srgbClr val="E8EEF6"/>
                    </a:solidFill>
                  </a:tcPr>
                </a:tc>
              </a:tr>
              <a:tr h="614476">
                <a:tc>
                  <a:txBody>
                    <a:bodyPr/>
                    <a:lstStyle/>
                    <a:p>
                      <a:r>
                        <a:rPr sz="1700" b="0">
                          <a:solidFill>
                            <a:srgbClr val="1F2937"/>
                          </a:solidFill>
                        </a:rPr>
                        <a:t>Malaka yetarli emas yoki sog‘liq</a:t>
                      </a:r>
                    </a:p>
                  </a:txBody>
                  <a:tcPr marL="73152" marR="73152" marT="36576" marB="36576">
                    <a:solidFill>
                      <a:srgbClr val="FFFFFF"/>
                    </a:solidFill>
                  </a:tcPr>
                </a:tc>
                <a:tc>
                  <a:txBody>
                    <a:bodyPr/>
                    <a:lstStyle/>
                    <a:p>
                      <a:r>
                        <a:rPr sz="1700" b="0">
                          <a:solidFill>
                            <a:srgbClr val="1F2937"/>
                          </a:solidFill>
                        </a:rPr>
                        <a:t>Kamida ikki hafta oldin</a:t>
                      </a:r>
                    </a:p>
                  </a:txBody>
                  <a:tcPr marL="73152" marR="73152" marT="36576" marB="36576">
                    <a:solidFill>
                      <a:srgbClr val="FFFFFF"/>
                    </a:solidFill>
                  </a:tcPr>
                </a:tc>
              </a:tr>
              <a:tr h="614476">
                <a:tc>
                  <a:txBody>
                    <a:bodyPr/>
                    <a:lstStyle/>
                    <a:p>
                      <a:r>
                        <a:rPr sz="1700" b="0">
                          <a:solidFill>
                            <a:srgbClr val="1F2937"/>
                          </a:solidFill>
                        </a:rPr>
                        <a:t>Muntazam buzish</a:t>
                      </a:r>
                    </a:p>
                  </a:txBody>
                  <a:tcPr marL="73152" marR="73152" marT="36576" marB="36576">
                    <a:solidFill>
                      <a:srgbClr val="E8EEF6"/>
                    </a:solidFill>
                  </a:tcPr>
                </a:tc>
                <a:tc>
                  <a:txBody>
                    <a:bodyPr/>
                    <a:lstStyle/>
                    <a:p>
                      <a:r>
                        <a:rPr sz="1700" b="0">
                          <a:solidFill>
                            <a:srgbClr val="1F2937"/>
                          </a:solidFill>
                        </a:rPr>
                        <a:t>Uch kun oldin yoki kompensatsiya</a:t>
                      </a:r>
                    </a:p>
                  </a:txBody>
                  <a:tcPr marL="73152" marR="73152" marT="36576" marB="36576">
                    <a:solidFill>
                      <a:srgbClr val="E8EEF6"/>
                    </a:solidFill>
                  </a:tcPr>
                </a:tc>
              </a:tr>
              <a:tr h="614476">
                <a:tc>
                  <a:txBody>
                    <a:bodyPr/>
                    <a:lstStyle/>
                    <a:p>
                      <a:r>
                        <a:rPr sz="1700" b="0">
                          <a:solidFill>
                            <a:srgbClr val="1F2937"/>
                          </a:solidFill>
                        </a:rPr>
                        <a:t>Bir marta qo‘pol buzish</a:t>
                      </a:r>
                    </a:p>
                  </a:txBody>
                  <a:tcPr marL="73152" marR="73152" marT="36576" marB="36576">
                    <a:solidFill>
                      <a:srgbClr val="FFFFFF"/>
                    </a:solidFill>
                  </a:tcPr>
                </a:tc>
                <a:tc>
                  <a:txBody>
                    <a:bodyPr/>
                    <a:lstStyle/>
                    <a:p>
                      <a:r>
                        <a:rPr sz="1700" b="0">
                          <a:solidFill>
                            <a:srgbClr val="1F2937"/>
                          </a:solidFill>
                        </a:rPr>
                        <a:t>Uch kun oldin yoki kompensatsiya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Sabab va ogohlantirish muddati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87-88, 88, 89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Intizomiy jazolar va ularni qo‘llash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Jazo turlari: hayfsan, o‘rtacha oylik ish haqining 30% gacha jarima, mehnat shartnomasini bekor qilish.</a:t>
            </a:r>
          </a:p>
          <a:p>
            <a:pPr>
              <a:spcAft>
                <a:spcPts val="800"/>
              </a:spcAft>
            </a:pPr>
            <a:r>
              <a:rPr sz="1800">
                <a:solidFill>
                  <a:srgbClr val="1F2937"/>
                </a:solidFill>
                <a:latin typeface="Calibri"/>
              </a:rPr>
              <a:t>▸  Jazodan oldin yozma tushuntirish xati so‘raladi. Xodim rad etsa ham, jazo qo‘llash mumkin.</a:t>
            </a:r>
          </a:p>
          <a:p>
            <a:pPr>
              <a:spcAft>
                <a:spcPts val="800"/>
              </a:spcAft>
            </a:pPr>
            <a:r>
              <a:rPr sz="1800">
                <a:solidFill>
                  <a:srgbClr val="1F2937"/>
                </a:solidFill>
                <a:latin typeface="Calibri"/>
              </a:rPr>
              <a:t>▸  Har bir huquqbuzarlikka bitta jazo beriladi va u buyruq bilan e’lon qilinadi.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Jarima (odatda)</a:t>
            </a:r>
          </a:p>
          <a:p>
            <a:pPr algn="l">
              <a:spcAft>
                <a:spcPts val="100"/>
              </a:spcAft>
            </a:pPr>
            <a:r>
              <a:rPr sz="3000" b="1">
                <a:solidFill>
                  <a:srgbClr val="0B1F3A"/>
                </a:solidFill>
                <a:latin typeface="Calibri"/>
              </a:rPr>
              <a:t>30</a:t>
            </a:r>
            <a:r>
              <a:rPr sz="1500" b="0">
                <a:solidFill>
                  <a:srgbClr val="6B7280"/>
                </a:solidFill>
                <a:latin typeface="Calibri"/>
              </a:rPr>
              <a:t>  % gacha</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Qo‘llash muddati</a:t>
            </a:r>
          </a:p>
          <a:p>
            <a:pPr algn="l">
              <a:spcAft>
                <a:spcPts val="100"/>
              </a:spcAft>
            </a:pPr>
            <a:r>
              <a:rPr sz="3000" b="1">
                <a:solidFill>
                  <a:srgbClr val="0B1F3A"/>
                </a:solidFill>
                <a:latin typeface="Calibri"/>
              </a:rPr>
              <a:t>1 oy</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Eng chekka muddat</a:t>
            </a:r>
          </a:p>
          <a:p>
            <a:pPr algn="l">
              <a:spcAft>
                <a:spcPts val="100"/>
              </a:spcAft>
            </a:pPr>
            <a:r>
              <a:rPr sz="3000" b="1">
                <a:solidFill>
                  <a:srgbClr val="0B1F3A"/>
                </a:solidFill>
                <a:latin typeface="Calibri"/>
              </a:rPr>
              <a:t>6 oy</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Taftishda</a:t>
            </a:r>
          </a:p>
          <a:p>
            <a:pPr algn="l">
              <a:spcAft>
                <a:spcPts val="100"/>
              </a:spcAft>
            </a:pPr>
            <a:r>
              <a:rPr sz="3000" b="1">
                <a:solidFill>
                  <a:srgbClr val="0B1F3A"/>
                </a:solidFill>
                <a:latin typeface="Calibri"/>
              </a:rPr>
              <a:t>2 yil</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Jazoning amal qilishi</a:t>
            </a:r>
          </a:p>
          <a:p>
            <a:pPr algn="l">
              <a:spcAft>
                <a:spcPts val="100"/>
              </a:spcAft>
            </a:pPr>
            <a:r>
              <a:rPr sz="3000" b="1">
                <a:solidFill>
                  <a:srgbClr val="0B1F3A"/>
                </a:solidFill>
                <a:latin typeface="Calibri"/>
              </a:rPr>
              <a:t>1 yil</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Intizomiy jazo: chegaralar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intizomiy jazo va ishdan bo‘shatish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vrach navbatchilikda ichki mehnat tartibini buzdi, rahbar buni aniqladi. Keyin xodim mehnat ta’tiliga chiqdi. Savol: jazo qancha muddatda qo‘llanadi?</a:t>
            </a:r>
          </a:p>
          <a:p>
            <a:pPr>
              <a:spcAft>
                <a:spcPts val="1200"/>
              </a:spcAft>
            </a:pPr>
            <a:r>
              <a:rPr sz="2200">
                <a:solidFill>
                  <a:srgbClr val="1F2937"/>
                </a:solidFill>
                <a:latin typeface="Calibri"/>
              </a:rPr>
              <a:t>▸  Javob: qilmish aniqlangandan bir oy ichida. Ta’til yoki kasallik vaqti bu muddatga kirmaydi. Xodimdan yozma tushuntirish xati talab qilinadi.</a:t>
            </a:r>
          </a:p>
          <a:p>
            <a:pPr>
              <a:spcAft>
                <a:spcPts val="1200"/>
              </a:spcAft>
            </a:pPr>
            <a:r>
              <a:rPr sz="2200">
                <a:solidFill>
                  <a:srgbClr val="1F2937"/>
                </a:solidFill>
                <a:latin typeface="Calibri"/>
              </a:rPr>
              <a:t>▸  Shartnomani bekor qilish uchun muntazam buzish kerak: oldingi jazodan keyin bir yil ichida takror nojo‘ya harakat. Bir marta qo‘pol buzish ham asos bo‘ladi.</a:t>
            </a:r>
          </a:p>
          <a:p>
            <a:pPr>
              <a:spcAft>
                <a:spcPts val="1200"/>
              </a:spcAft>
            </a:pPr>
            <a:r>
              <a:rPr sz="2200">
                <a:solidFill>
                  <a:srgbClr val="1F2937"/>
                </a:solidFill>
                <a:latin typeface="Calibri"/>
              </a:rPr>
              <a:t>▸  Diqqat: xato qilish xavfi! Jazoni qo‘llash muddati (1 oy) ≠ jazoning amal qilish muddati (1 yil). Ularni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90, 88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qonunchilik va huquqbuzarlik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Ma’muriy qonunchilik davlat boshqaruvi va boshqa sohalarda jamoat munosabatlarini tartibga soluvchi huquqiy hujjatlar majmuasidir.</a:t>
            </a:r>
          </a:p>
          <a:p>
            <a:pPr>
              <a:spcAft>
                <a:spcPts val="800"/>
              </a:spcAft>
            </a:pPr>
            <a:r>
              <a:rPr sz="1600">
                <a:solidFill>
                  <a:srgbClr val="1F2937"/>
                </a:solidFill>
                <a:latin typeface="Calibri"/>
              </a:rPr>
              <a:t>▸  U sanitariya, litsenziyalash kabi qoidalarni belgilaydi. Buzganlik uchun javobgarlikni va jazo qo‘llash tartibini ko‘zda tutadi.</a:t>
            </a:r>
          </a:p>
          <a:p>
            <a:pPr>
              <a:spcAft>
                <a:spcPts val="800"/>
              </a:spcAft>
            </a:pPr>
            <a:r>
              <a:rPr sz="1600">
                <a:solidFill>
                  <a:srgbClr val="1F2937"/>
                </a:solidFill>
                <a:latin typeface="Calibri"/>
              </a:rPr>
              <a:t>▸  Konstitutsiya fuqarolarning huquqlari bilan birga majburiyatlari tengligini ham belgilaydi. Majburiyatni bajarmaslik qonuniy chora ko‘rishga sabab bo‘ladi.</a:t>
            </a:r>
          </a:p>
          <a:p>
            <a:pPr>
              <a:spcAft>
                <a:spcPts val="800"/>
              </a:spcAft>
            </a:pPr>
            <a:r>
              <a:rPr sz="1600">
                <a:solidFill>
                  <a:srgbClr val="1F2937"/>
                </a:solidFill>
                <a:latin typeface="Calibri"/>
              </a:rPr>
              <a:t>▸  Ma’muriy huquqbuzarlik: huquq, mulk, jamoat tartibi, tabiiy muhitga tajovuz qiluvchi aybli harakat yoki harakatsizlik. Ijtimoiy xavf alomati yo‘q.</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Ma’muriy qonunchilik</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Boshqaruv va jamoat munosabatlari</a:t>
            </a:r>
          </a:p>
          <a:p>
            <a:pPr algn="l">
              <a:spcAft>
                <a:spcPts val="700"/>
              </a:spcAft>
            </a:pPr>
            <a:r>
              <a:rPr sz="1500" b="1">
                <a:solidFill>
                  <a:srgbClr val="C9A227"/>
                </a:solidFill>
                <a:latin typeface="Calibri"/>
              </a:rPr>
              <a:t>●  </a:t>
            </a:r>
            <a:r>
              <a:rPr sz="1500" b="0">
                <a:solidFill>
                  <a:srgbClr val="1F2937"/>
                </a:solidFill>
                <a:latin typeface="Calibri"/>
              </a:rPr>
              <a:t>Sanitariya, litsenziyalash qoidalari</a:t>
            </a:r>
          </a:p>
          <a:p>
            <a:pPr algn="l">
              <a:spcAft>
                <a:spcPts val="700"/>
              </a:spcAft>
            </a:pPr>
            <a:r>
              <a:rPr sz="1500" b="1">
                <a:solidFill>
                  <a:srgbClr val="C9A227"/>
                </a:solidFill>
                <a:latin typeface="Calibri"/>
              </a:rPr>
              <a:t>●  </a:t>
            </a:r>
            <a:r>
              <a:rPr sz="1500" b="0">
                <a:solidFill>
                  <a:srgbClr val="1F2937"/>
                </a:solidFill>
                <a:latin typeface="Calibri"/>
              </a:rPr>
              <a:t>Javobgarlik va jazo tartibi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Ma’muriy huquqbuzarlik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Huquq, mulk, tartibga tajovuz</a:t>
            </a:r>
          </a:p>
          <a:p>
            <a:pPr algn="l">
              <a:spcAft>
                <a:spcPts val="700"/>
              </a:spcAft>
            </a:pPr>
            <a:r>
              <a:rPr sz="1500" b="1">
                <a:solidFill>
                  <a:srgbClr val="C9A227"/>
                </a:solidFill>
                <a:latin typeface="Calibri"/>
              </a:rPr>
              <a:t>●  </a:t>
            </a:r>
            <a:r>
              <a:rPr sz="1500" b="0">
                <a:solidFill>
                  <a:srgbClr val="1F2937"/>
                </a:solidFill>
                <a:latin typeface="Calibri"/>
              </a:rPr>
              <a:t>Aybli harakat yoki harakatsizlik</a:t>
            </a:r>
          </a:p>
          <a:p>
            <a:pPr algn="l">
              <a:spcAft>
                <a:spcPts val="700"/>
              </a:spcAft>
            </a:pPr>
            <a:r>
              <a:rPr sz="1500" b="1">
                <a:solidFill>
                  <a:srgbClr val="C9A227"/>
                </a:solidFill>
                <a:latin typeface="Calibri"/>
              </a:rPr>
              <a:t>●  </a:t>
            </a:r>
            <a:r>
              <a:rPr sz="1500" b="0">
                <a:solidFill>
                  <a:srgbClr val="1F2937"/>
                </a:solidFill>
                <a:latin typeface="Calibri"/>
              </a:rPr>
              <a:t>Ijtimoiy xavf alomati yo‘q</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Qonunchilik va huquqbuzarlik</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92, 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Ayb shakllari: qasddan va ehtiyotsizlik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Qasddan: shaxs harakati g‘ayrihuquqiy ekanini biladi, oqibatni istaydi yoki unga ongli ravishda yo‘l qo‘yadi.</a:t>
            </a:r>
          </a:p>
          <a:p>
            <a:pPr>
              <a:spcAft>
                <a:spcPts val="800"/>
              </a:spcAft>
            </a:pPr>
            <a:r>
              <a:rPr sz="1800">
                <a:solidFill>
                  <a:srgbClr val="1F2937"/>
                </a:solidFill>
                <a:latin typeface="Calibri"/>
              </a:rPr>
              <a:t>▸  Ehtiyotsizlik: oqibatni oldindan ko‘rgan, lekin yengiltaklik bilan oldini olaman deb o‘ylagan.</a:t>
            </a:r>
          </a:p>
          <a:p>
            <a:pPr>
              <a:spcAft>
                <a:spcPts val="800"/>
              </a:spcAft>
            </a:pPr>
            <a:r>
              <a:rPr sz="1800">
                <a:solidFill>
                  <a:srgbClr val="1F2937"/>
                </a:solidFill>
                <a:latin typeface="Calibri"/>
              </a:rPr>
              <a:t>▸  Yoki oqibatni ko‘rishi lozim va mumkin edi, lekin oldindan ko‘ra bilmagan.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Qasddan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G‘ayrihuquqiyligini biladi</a:t>
            </a:r>
          </a:p>
          <a:p>
            <a:pPr algn="l">
              <a:spcAft>
                <a:spcPts val="700"/>
              </a:spcAft>
            </a:pPr>
            <a:r>
              <a:rPr sz="1500" b="1">
                <a:solidFill>
                  <a:srgbClr val="C9A227"/>
                </a:solidFill>
                <a:latin typeface="Calibri"/>
              </a:rPr>
              <a:t>●  </a:t>
            </a:r>
            <a:r>
              <a:rPr sz="1500" b="0">
                <a:solidFill>
                  <a:srgbClr val="1F2937"/>
                </a:solidFill>
                <a:latin typeface="Calibri"/>
              </a:rPr>
              <a:t>Oqibatni oldindan ko‘radi</a:t>
            </a:r>
          </a:p>
          <a:p>
            <a:pPr algn="l">
              <a:spcAft>
                <a:spcPts val="700"/>
              </a:spcAft>
            </a:pPr>
            <a:r>
              <a:rPr sz="1500" b="1">
                <a:solidFill>
                  <a:srgbClr val="C9A227"/>
                </a:solidFill>
                <a:latin typeface="Calibri"/>
              </a:rPr>
              <a:t>●  </a:t>
            </a:r>
            <a:r>
              <a:rPr sz="1500" b="0">
                <a:solidFill>
                  <a:srgbClr val="1F2937"/>
                </a:solidFill>
                <a:latin typeface="Calibri"/>
              </a:rPr>
              <a:t>Istaydi yoki ongli yo‘l qo‘yadi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Ehtiyotsizlik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Oqibatni xohlamaydi</a:t>
            </a:r>
          </a:p>
          <a:p>
            <a:pPr algn="l">
              <a:spcAft>
                <a:spcPts val="700"/>
              </a:spcAft>
            </a:pPr>
            <a:r>
              <a:rPr sz="1500" b="1">
                <a:solidFill>
                  <a:srgbClr val="C9A227"/>
                </a:solidFill>
                <a:latin typeface="Calibri"/>
              </a:rPr>
              <a:t>●  </a:t>
            </a:r>
            <a:r>
              <a:rPr sz="1500" b="0">
                <a:solidFill>
                  <a:srgbClr val="1F2937"/>
                </a:solidFill>
                <a:latin typeface="Calibri"/>
              </a:rPr>
              <a:t>Yengiltaklik: oldini olaman deydi</a:t>
            </a:r>
          </a:p>
          <a:p>
            <a:pPr algn="l">
              <a:spcAft>
                <a:spcPts val="700"/>
              </a:spcAft>
            </a:pPr>
            <a:r>
              <a:rPr sz="1500" b="1">
                <a:solidFill>
                  <a:srgbClr val="C9A227"/>
                </a:solidFill>
                <a:latin typeface="Calibri"/>
              </a:rPr>
              <a:t>●  </a:t>
            </a:r>
            <a:r>
              <a:rPr sz="1500" b="0">
                <a:solidFill>
                  <a:srgbClr val="1F2937"/>
                </a:solidFill>
                <a:latin typeface="Calibri"/>
              </a:rPr>
              <a:t>Yoki ko‘rishi lozim edi, ko‘rmadi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Ayb shakllari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huquqbuzarlik va jinoyat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Ma’muriy huquqbuzarlik jamiyat uchun xavf alomatlarini tutmaydi, shuning uchun jinoiy javobgarlik kelmaydi.</a:t>
            </a:r>
          </a:p>
          <a:p>
            <a:pPr>
              <a:spcAft>
                <a:spcPts val="800"/>
              </a:spcAft>
            </a:pPr>
            <a:r>
              <a:rPr sz="1800">
                <a:solidFill>
                  <a:srgbClr val="1F2937"/>
                </a:solidFill>
                <a:latin typeface="Calibri"/>
              </a:rPr>
              <a:t>▸  Ahamiyati, oqibati og‘irligi va sodir etilish soniga qarab ayrimlari jinoyat deb baholanishi mumkin.</a:t>
            </a:r>
          </a:p>
          <a:p>
            <a:pPr>
              <a:spcAft>
                <a:spcPts val="800"/>
              </a:spcAft>
            </a:pPr>
            <a:r>
              <a:rPr sz="1800">
                <a:solidFill>
                  <a:srgbClr val="1F2937"/>
                </a:solidFill>
                <a:latin typeface="Calibri"/>
              </a:rPr>
              <a:t>▸  Diqqat: sanitariya yoki epidemiyaga qarshi qoidalarni buzish jinoyatga aylanishi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Ma’muriy</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Xavf alomatlari yo‘q</a:t>
            </a:r>
          </a:p>
          <a:p>
            <a:pPr algn="l">
              <a:spcAft>
                <a:spcPts val="700"/>
              </a:spcAft>
            </a:pPr>
            <a:r>
              <a:rPr sz="1500" b="1">
                <a:solidFill>
                  <a:srgbClr val="C9A227"/>
                </a:solidFill>
                <a:latin typeface="Calibri"/>
              </a:rPr>
              <a:t>●  </a:t>
            </a:r>
            <a:r>
              <a:rPr sz="1500" b="0">
                <a:solidFill>
                  <a:srgbClr val="1F2937"/>
                </a:solidFill>
                <a:latin typeface="Calibri"/>
              </a:rPr>
              <a:t>Ma’muriy javobgarlik</a:t>
            </a:r>
          </a:p>
          <a:p>
            <a:pPr algn="l">
              <a:spcAft>
                <a:spcPts val="700"/>
              </a:spcAft>
            </a:pPr>
            <a:r>
              <a:rPr sz="1500" b="1">
                <a:solidFill>
                  <a:srgbClr val="C9A227"/>
                </a:solidFill>
                <a:latin typeface="Calibri"/>
              </a:rPr>
              <a:t>●  </a:t>
            </a:r>
            <a:r>
              <a:rPr sz="1500" b="0">
                <a:solidFill>
                  <a:srgbClr val="1F2937"/>
                </a:solidFill>
                <a:latin typeface="Calibri"/>
              </a:rPr>
              <a:t>G‘ayrihuquqiy, aybli qilmish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Jinoyat</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Ijtimoiy xavf alomatlari bor</a:t>
            </a:r>
          </a:p>
          <a:p>
            <a:pPr algn="l">
              <a:spcAft>
                <a:spcPts val="700"/>
              </a:spcAft>
            </a:pPr>
            <a:r>
              <a:rPr sz="1500" b="1">
                <a:solidFill>
                  <a:srgbClr val="C9A227"/>
                </a:solidFill>
                <a:latin typeface="Calibri"/>
              </a:rPr>
              <a:t>●  </a:t>
            </a:r>
            <a:r>
              <a:rPr sz="1500" b="0">
                <a:solidFill>
                  <a:srgbClr val="1F2937"/>
                </a:solidFill>
                <a:latin typeface="Calibri"/>
              </a:rPr>
              <a:t>Jinoiy javobgarlik</a:t>
            </a:r>
          </a:p>
          <a:p>
            <a:pPr algn="l">
              <a:spcAft>
                <a:spcPts val="700"/>
              </a:spcAft>
            </a:pPr>
            <a:r>
              <a:rPr sz="1500" b="1">
                <a:solidFill>
                  <a:srgbClr val="C9A227"/>
                </a:solidFill>
                <a:latin typeface="Calibri"/>
              </a:rPr>
              <a:t>●  </a:t>
            </a:r>
            <a:r>
              <a:rPr sz="1500" b="0">
                <a:solidFill>
                  <a:srgbClr val="1F2937"/>
                </a:solidFill>
                <a:latin typeface="Calibri"/>
              </a:rPr>
              <a:t>Og‘ir oqibatda jinoyatga aylanishi mumkin</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Ma’muriy huquqbuzarlik va jinoyat</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Javobgarlikni istisno etuvchi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Oxirgi zarurat: xavfni boshqacha choralar bilan bartaraf etib bo‘lmasa va etkazilgan zarar oldi olingan zarardan kam bo‘lsa, harakat huquqbuzarlik emas.</a:t>
            </a:r>
          </a:p>
          <a:p>
            <a:pPr>
              <a:spcAft>
                <a:spcPts val="800"/>
              </a:spcAft>
            </a:pPr>
            <a:r>
              <a:rPr sz="1600">
                <a:solidFill>
                  <a:srgbClr val="1F2937"/>
                </a:solidFill>
                <a:latin typeface="Calibri"/>
              </a:rPr>
              <a:t>▸  Huquqbuzarlik sodir etilgan paytda o‘n olti yoshga to‘lmagan shaxslar ma’muriy javobgarlikka tortilmaydi.</a:t>
            </a:r>
          </a:p>
          <a:p>
            <a:pPr>
              <a:spcAft>
                <a:spcPts val="800"/>
              </a:spcAft>
            </a:pPr>
            <a:r>
              <a:rPr sz="1600">
                <a:solidFill>
                  <a:srgbClr val="1F2937"/>
                </a:solidFill>
                <a:latin typeface="Calibri"/>
              </a:rPr>
              <a:t>▸  Huquqbuzarlik kam ahamiyatli bo‘lsa, ishni ko‘ruvchi organ (mansabdor shaxs) shaxsni javobgarlikdan ozod etib, ogohlantirish bilan cheklanishi mumkin.</a:t>
            </a:r>
          </a:p>
          <a:p>
            <a:pPr>
              <a:spcAft>
                <a:spcPts val="800"/>
              </a:spcAft>
            </a:pPr>
            <a:r>
              <a:rPr sz="1600">
                <a:solidFill>
                  <a:srgbClr val="1F2937"/>
                </a:solidFill>
                <a:latin typeface="Calibri"/>
              </a:rPr>
              <a:t>▸  Diqqat: fuqarolik qonunchiligida oxirgi zarurat zararni qoplashdan avtomatik ozod etmaydi; zarar odatda zarar etkazgan shaxs tomonidan to‘lanadi.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Ma’muriy javobgarlikdan ozod</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Oxirgi zarurat</a:t>
            </a:r>
          </a:p>
          <a:p>
            <a:pPr algn="l">
              <a:spcAft>
                <a:spcPts val="0"/>
              </a:spcAft>
            </a:pPr>
            <a:r>
              <a:rPr sz="1200" b="0">
                <a:solidFill>
                  <a:srgbClr val="1F2937"/>
                </a:solidFill>
                <a:latin typeface="Calibri"/>
              </a:rPr>
              <a:t>Xavfni boshqacha bartaraf etib bo‘lmaydi  ·  Zarar oldi olingandan kam</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16 yoshgacha</a:t>
            </a:r>
          </a:p>
          <a:p>
            <a:pPr algn="l">
              <a:spcAft>
                <a:spcPts val="0"/>
              </a:spcAft>
            </a:pPr>
            <a:r>
              <a:rPr sz="1200" b="0">
                <a:solidFill>
                  <a:srgbClr val="1F2937"/>
                </a:solidFill>
                <a:latin typeface="Calibri"/>
              </a:rPr>
              <a:t>Javobgarlikka tortilmaydi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Kam ahamiyatli</a:t>
            </a:r>
          </a:p>
          <a:p>
            <a:pPr algn="l">
              <a:spcAft>
                <a:spcPts val="0"/>
              </a:spcAft>
            </a:pPr>
            <a:r>
              <a:rPr sz="1200" b="0">
                <a:solidFill>
                  <a:srgbClr val="1F2937"/>
                </a:solidFill>
                <a:latin typeface="Calibri"/>
              </a:rPr>
              <a:t>Ogohlantirish bilan cheklanadi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Fuqarolik qonunida</a:t>
            </a:r>
          </a:p>
          <a:p>
            <a:pPr algn="l">
              <a:spcAft>
                <a:spcPts val="0"/>
              </a:spcAft>
            </a:pPr>
            <a:r>
              <a:rPr sz="1200" b="0">
                <a:solidFill>
                  <a:srgbClr val="1F2937"/>
                </a:solidFill>
                <a:latin typeface="Calibri"/>
              </a:rPr>
              <a:t>Oxirgi zarurat qoplashdan ozod etmaydi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Javobgarlikni istisno etuvchi holatlar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93-94, 94, 106-107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ma’muriy huquqbuzarlik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ma’muriy huquqbuzarlik nima? Javob: g‘ayrihuquqiy, aybli (qasddan yoki ehtiyotsizlik orqasidan) harakat yoki harakatsizlik.</a:t>
            </a:r>
          </a:p>
          <a:p>
            <a:pPr>
              <a:spcAft>
                <a:spcPts val="1200"/>
              </a:spcAft>
            </a:pPr>
            <a:r>
              <a:rPr sz="2200">
                <a:solidFill>
                  <a:srgbClr val="1F2937"/>
                </a:solidFill>
                <a:latin typeface="Calibri"/>
              </a:rPr>
              <a:t>▸  2-savol: qasd bilan ehtiyotsizlik nimasi bilan farq qiladi? Javob: qasdda shaxs zararli oqibatni istaydi yoki ongli ravishda yo‘l qo‘yadi.</a:t>
            </a:r>
          </a:p>
          <a:p>
            <a:pPr>
              <a:spcAft>
                <a:spcPts val="1200"/>
              </a:spcAft>
            </a:pPr>
            <a:r>
              <a:rPr sz="2200">
                <a:solidFill>
                  <a:srgbClr val="1F2937"/>
                </a:solidFill>
                <a:latin typeface="Calibri"/>
              </a:rPr>
              <a:t>▸  3-savol (Diqqat: ma’muriy huquqbuzarlik ≠ jinoyat): ular nimasi bilan farq qiladi? Javob: ma’muriy qilmishda jamiyat uchun xavf alomatlari bo‘lmaydi.</a:t>
            </a:r>
          </a:p>
          <a:p>
            <a:pPr>
              <a:spcAft>
                <a:spcPts val="1200"/>
              </a:spcAft>
            </a:pPr>
            <a:r>
              <a:rPr sz="2200">
                <a:solidFill>
                  <a:srgbClr val="1F2937"/>
                </a:solidFill>
                <a:latin typeface="Calibri"/>
              </a:rPr>
              <a:t>▸  4-savol: javobgarlik qaysi yoshdan boshlanadi? Javob: sodir etilgan paytda 16 yoshga to‘lmagan shaxslar ma’muriy javobgarlikka tortilmaydi.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93, 94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jazo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Ma’muriy javobgarlik kodeksining (MJhK) 23-moddasida beshta jazo chorasi sanalgan.</a:t>
            </a:r>
          </a:p>
          <a:p>
            <a:pPr>
              <a:spcAft>
                <a:spcPts val="800"/>
              </a:spcAft>
            </a:pPr>
            <a:r>
              <a:rPr sz="1800">
                <a:solidFill>
                  <a:srgbClr val="1F2937"/>
                </a:solidFill>
                <a:latin typeface="Calibri"/>
              </a:rPr>
              <a:t>▸  Jazo asosiy yoki asosiy va qo‘shimcha bo‘ladi; olib qo‘yish va musodara ikkala shaklda ham qo‘llanadi.</a:t>
            </a:r>
          </a:p>
          <a:p>
            <a:pPr>
              <a:spcAft>
                <a:spcPts val="800"/>
              </a:spcAft>
            </a:pPr>
            <a:r>
              <a:rPr sz="1800">
                <a:solidFill>
                  <a:srgbClr val="1F2937"/>
                </a:solidFill>
                <a:latin typeface="Calibri"/>
              </a:rPr>
              <a:t>▸  Diqqat: olib qo‘yishda ashyo sotilib, puli egasiga qaytadi; musodarada haq to‘lanmaydi.</a:t>
            </a:r>
          </a:p>
        </p:txBody>
      </p:sp>
      <p:cxnSp>
        <p:nvCxnSpPr>
          <p:cNvPr id="9" name="Connector 8"/>
          <p:cNvCxnSpPr/>
          <p:nvPr/>
        </p:nvCxnSpPr>
        <p:spPr>
          <a:xfrm>
            <a:off x="9318287" y="2295144"/>
            <a:ext cx="305031" cy="173023"/>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9894969" y="3400855"/>
            <a:ext cx="356409" cy="856389"/>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8352110" y="4723588"/>
            <a:ext cx="288074" cy="0"/>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6740916" y="3400855"/>
            <a:ext cx="356409" cy="856389"/>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368976" y="2295144"/>
            <a:ext cx="305031" cy="173023"/>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90307" y="1417320"/>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Jarima</a:t>
            </a:r>
          </a:p>
        </p:txBody>
      </p:sp>
      <p:sp>
        <p:nvSpPr>
          <p:cNvPr id="15" name="Rounded Rectangle 14"/>
          <p:cNvSpPr/>
          <p:nvPr/>
        </p:nvSpPr>
        <p:spPr>
          <a:xfrm>
            <a:off x="9439619" y="2523031"/>
            <a:ext cx="2011680" cy="82296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Haqi to‘lanib olib qo‘yish</a:t>
            </a:r>
          </a:p>
        </p:txBody>
      </p:sp>
      <p:sp>
        <p:nvSpPr>
          <p:cNvPr id="16" name="Rounded Rectangle 15"/>
          <p:cNvSpPr/>
          <p:nvPr/>
        </p:nvSpPr>
        <p:spPr>
          <a:xfrm>
            <a:off x="8695048" y="4312108"/>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Musodara</a:t>
            </a:r>
          </a:p>
        </p:txBody>
      </p:sp>
      <p:sp>
        <p:nvSpPr>
          <p:cNvPr id="17" name="Rounded Rectangle 16"/>
          <p:cNvSpPr/>
          <p:nvPr/>
        </p:nvSpPr>
        <p:spPr>
          <a:xfrm>
            <a:off x="6285566" y="4312108"/>
            <a:ext cx="2011680" cy="82296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Maxsus huquqdan mahrum</a:t>
            </a:r>
          </a:p>
        </p:txBody>
      </p:sp>
      <p:sp>
        <p:nvSpPr>
          <p:cNvPr id="18" name="Rounded Rectangle 17"/>
          <p:cNvSpPr/>
          <p:nvPr/>
        </p:nvSpPr>
        <p:spPr>
          <a:xfrm>
            <a:off x="5540995" y="2523031"/>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Ma’muriy qamoq</a:t>
            </a:r>
          </a:p>
        </p:txBody>
      </p:sp>
      <p:sp>
        <p:nvSpPr>
          <p:cNvPr id="19" name="TextBox 18"/>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MJhK 23-modda: 5 jazo chorasi</a:t>
            </a:r>
          </a:p>
        </p:txBody>
      </p:sp>
      <p:sp>
        <p:nvSpPr>
          <p:cNvPr id="20" name="TextBox 19"/>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94, 95-96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Jarima miqdorlari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Jarima eng kam oylik ish haqidan hisoblanadi; davomli huquqbuzarlikda aniqlangan vaqtdagi miqdor asos.</a:t>
            </a:r>
          </a:p>
          <a:p>
            <a:pPr>
              <a:spcAft>
                <a:spcPts val="800"/>
              </a:spcAft>
            </a:pPr>
            <a:r>
              <a:rPr sz="1800">
                <a:solidFill>
                  <a:srgbClr val="1F2937"/>
                </a:solidFill>
                <a:latin typeface="Calibri"/>
              </a:rPr>
              <a:t>▸  Jarima davlat hisobiga pul undirishdir; fuqaro va mansabdor shaxs uchun miqdori farqlanadi.</a:t>
            </a:r>
          </a:p>
          <a:p>
            <a:pPr>
              <a:spcAft>
                <a:spcPts val="800"/>
              </a:spcAft>
            </a:pPr>
            <a:r>
              <a:rPr sz="1800">
                <a:solidFill>
                  <a:srgbClr val="1F2937"/>
                </a:solidFill>
                <a:latin typeface="Calibri"/>
              </a:rPr>
              <a:t>▸  Mahalliy hokimiyat qarorlari jamoat tartibi, tabiiy ofat va epidemiyaga qarshi kurashda jarima belgilaydi.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Fuqaro</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Eng kam: ish haqining 1/50</a:t>
            </a:r>
          </a:p>
          <a:p>
            <a:pPr algn="l">
              <a:spcAft>
                <a:spcPts val="700"/>
              </a:spcAft>
            </a:pPr>
            <a:r>
              <a:rPr sz="1500" b="1">
                <a:solidFill>
                  <a:srgbClr val="C9A227"/>
                </a:solidFill>
                <a:latin typeface="Calibri"/>
              </a:rPr>
              <a:t>●  </a:t>
            </a:r>
            <a:r>
              <a:rPr sz="1500" b="0">
                <a:solidFill>
                  <a:srgbClr val="1F2937"/>
                </a:solidFill>
                <a:latin typeface="Calibri"/>
              </a:rPr>
              <a:t>Eng ko‘p: 5 baravar</a:t>
            </a:r>
          </a:p>
          <a:p>
            <a:pPr algn="l">
              <a:spcAft>
                <a:spcPts val="700"/>
              </a:spcAft>
            </a:pPr>
            <a:r>
              <a:rPr sz="1500" b="1">
                <a:solidFill>
                  <a:srgbClr val="C9A227"/>
                </a:solidFill>
                <a:latin typeface="Calibri"/>
              </a:rPr>
              <a:t>●  </a:t>
            </a:r>
            <a:r>
              <a:rPr sz="1500" b="0">
                <a:solidFill>
                  <a:srgbClr val="1F2937"/>
                </a:solidFill>
                <a:latin typeface="Calibri"/>
              </a:rPr>
              <a:t>Istisno: 100 baravargacha</a:t>
            </a:r>
          </a:p>
          <a:p>
            <a:pPr algn="l">
              <a:spcAft>
                <a:spcPts val="700"/>
              </a:spcAft>
            </a:pPr>
            <a:r>
              <a:rPr sz="1500" b="1">
                <a:solidFill>
                  <a:srgbClr val="C9A227"/>
                </a:solidFill>
                <a:latin typeface="Calibri"/>
              </a:rPr>
              <a:t>●  </a:t>
            </a:r>
            <a:r>
              <a:rPr sz="1500" b="0">
                <a:solidFill>
                  <a:srgbClr val="1F2937"/>
                </a:solidFill>
                <a:latin typeface="Calibri"/>
              </a:rPr>
              <a:t>Mahalliy qaror: 3 baravargacha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Mansabdor shaxs</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Eng kam: ish haqining 1/10</a:t>
            </a:r>
          </a:p>
          <a:p>
            <a:pPr algn="l">
              <a:spcAft>
                <a:spcPts val="700"/>
              </a:spcAft>
            </a:pPr>
            <a:r>
              <a:rPr sz="1500" b="1">
                <a:solidFill>
                  <a:srgbClr val="C9A227"/>
                </a:solidFill>
                <a:latin typeface="Calibri"/>
              </a:rPr>
              <a:t>●  </a:t>
            </a:r>
            <a:r>
              <a:rPr sz="1500" b="0">
                <a:solidFill>
                  <a:srgbClr val="1F2937"/>
                </a:solidFill>
                <a:latin typeface="Calibri"/>
              </a:rPr>
              <a:t>Eng ko‘p: 10 baravar</a:t>
            </a:r>
          </a:p>
          <a:p>
            <a:pPr algn="l">
              <a:spcAft>
                <a:spcPts val="700"/>
              </a:spcAft>
            </a:pPr>
            <a:r>
              <a:rPr sz="1500" b="1">
                <a:solidFill>
                  <a:srgbClr val="C9A227"/>
                </a:solidFill>
                <a:latin typeface="Calibri"/>
              </a:rPr>
              <a:t>●  </a:t>
            </a:r>
            <a:r>
              <a:rPr sz="1500" b="0">
                <a:solidFill>
                  <a:srgbClr val="1F2937"/>
                </a:solidFill>
                <a:latin typeface="Calibri"/>
              </a:rPr>
              <a:t>Istisno: 150 baravargacha</a:t>
            </a:r>
          </a:p>
          <a:p>
            <a:pPr algn="l">
              <a:spcAft>
                <a:spcPts val="700"/>
              </a:spcAft>
            </a:pPr>
            <a:r>
              <a:rPr sz="1500" b="1">
                <a:solidFill>
                  <a:srgbClr val="C9A227"/>
                </a:solidFill>
                <a:latin typeface="Calibri"/>
              </a:rPr>
              <a:t>●  </a:t>
            </a:r>
            <a:r>
              <a:rPr sz="1500" b="0">
                <a:solidFill>
                  <a:srgbClr val="1F2937"/>
                </a:solidFill>
                <a:latin typeface="Calibri"/>
              </a:rPr>
              <a:t>Mahalliy qaror: 5 baravargacha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Jarima chegaralari (eng kam oylik ish haqidan)</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Olib qo‘yish, musodara va jazo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Haqi to‘lanib olib qo‘yish: huquqbuzarlik quroli yoki predmeti bo‘lgan ashyo majburan olinib sotiladi, tushum xarajatlar chegirilib sobiq egasiga beriladi.</a:t>
            </a:r>
          </a:p>
          <a:p>
            <a:pPr>
              <a:spcAft>
                <a:spcPts val="800"/>
              </a:spcAft>
            </a:pPr>
            <a:r>
              <a:rPr sz="1600">
                <a:solidFill>
                  <a:srgbClr val="1F2937"/>
                </a:solidFill>
                <a:latin typeface="Calibri"/>
              </a:rPr>
              <a:t>▸  Musodara: ashyo haqi to‘lanmasdan davlat mulkiga o‘tkaziladi. Qarorni tuman (shahar) sudining ma’muriy ishlar sudyasi, soliq va bojxona idoralari chiqaradi.</a:t>
            </a:r>
          </a:p>
          <a:p>
            <a:pPr>
              <a:spcAft>
                <a:spcPts val="800"/>
              </a:spcAft>
            </a:pPr>
            <a:r>
              <a:rPr sz="1600">
                <a:solidFill>
                  <a:srgbClr val="1F2937"/>
                </a:solidFill>
                <a:latin typeface="Calibri"/>
              </a:rPr>
              <a:t>▸  Ikkala chora asosiy yoki qo‘shimcha jazo bo‘lishi mumkin va xususiy tibbiy yoki farmatsevtika amaliyotida qo‘llanishi mumkin.</a:t>
            </a:r>
          </a:p>
          <a:p>
            <a:pPr>
              <a:spcAft>
                <a:spcPts val="800"/>
              </a:spcAft>
            </a:pPr>
            <a:r>
              <a:rPr sz="1600">
                <a:solidFill>
                  <a:srgbClr val="1F2937"/>
                </a:solidFill>
                <a:latin typeface="Calibri"/>
              </a:rPr>
              <a:t>▸  Jazo sodir etilgan (davom etsa, aniqlangan) kundan ikki oydan kech qo‘llanmaydi. Jinoyat ishi rad etilsa yoki to‘xtatilsa, qaror kunidan bir oy.</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Haq to‘lab olib qo‘yish</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Ashyo majburan olinib sotiladi</a:t>
            </a:r>
          </a:p>
          <a:p>
            <a:pPr algn="l">
              <a:spcAft>
                <a:spcPts val="700"/>
              </a:spcAft>
            </a:pPr>
            <a:r>
              <a:rPr sz="1500" b="1">
                <a:solidFill>
                  <a:srgbClr val="C9A227"/>
                </a:solidFill>
                <a:latin typeface="Calibri"/>
              </a:rPr>
              <a:t>●  </a:t>
            </a:r>
            <a:r>
              <a:rPr sz="1500" b="0">
                <a:solidFill>
                  <a:srgbClr val="1F2937"/>
                </a:solidFill>
                <a:latin typeface="Calibri"/>
              </a:rPr>
              <a:t>Tushum sobiq egasiga beriladi</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Musodara</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Haq to‘lanmaydi</a:t>
            </a:r>
          </a:p>
          <a:p>
            <a:pPr algn="l">
              <a:spcAft>
                <a:spcPts val="700"/>
              </a:spcAft>
            </a:pPr>
            <a:r>
              <a:rPr sz="1500" b="1">
                <a:solidFill>
                  <a:srgbClr val="C9A227"/>
                </a:solidFill>
                <a:latin typeface="Calibri"/>
              </a:rPr>
              <a:t>●  </a:t>
            </a:r>
            <a:r>
              <a:rPr sz="1500" b="0">
                <a:solidFill>
                  <a:srgbClr val="1F2937"/>
                </a:solidFill>
                <a:latin typeface="Calibri"/>
              </a:rPr>
              <a:t>Davlat mulkiga o‘tadi</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Jazo muddati</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Sodir etilgan kundan 2 oygacha</a:t>
            </a:r>
          </a:p>
          <a:p>
            <a:pPr algn="l">
              <a:spcAft>
                <a:spcPts val="700"/>
              </a:spcAft>
            </a:pPr>
            <a:r>
              <a:rPr sz="1500" b="1">
                <a:solidFill>
                  <a:srgbClr val="C9A227"/>
                </a:solidFill>
                <a:latin typeface="Calibri"/>
              </a:rPr>
              <a:t>●  </a:t>
            </a:r>
            <a:r>
              <a:rPr sz="1500" b="0">
                <a:solidFill>
                  <a:srgbClr val="1F2937"/>
                </a:solidFill>
                <a:latin typeface="Calibri"/>
              </a:rPr>
              <a:t>Jinoyat ishi rad etilsa: 1 oy</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Olib qo‘yish va musodara farqi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95-96, 96, 94-95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Ishni ko‘rib chiqish organlari va bayonnoma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Ishni sudya, xo‘jalik sudi, ma’muriy komissiyalar, ichki ishlar va inspeksiya organlari ko‘radi.</a:t>
            </a:r>
          </a:p>
          <a:p>
            <a:pPr>
              <a:spcAft>
                <a:spcPts val="800"/>
              </a:spcAft>
            </a:pPr>
            <a:r>
              <a:rPr sz="1800">
                <a:solidFill>
                  <a:srgbClr val="1F2937"/>
                </a:solidFill>
                <a:latin typeface="Calibri"/>
              </a:rPr>
              <a:t>▸  Bayonnomada sana, joy, huquqbuzarlik mohiyati, me’yoriy hujjat, guvohlar va tushuntirish xati yoziladi.</a:t>
            </a:r>
          </a:p>
          <a:p>
            <a:pPr>
              <a:spcAft>
                <a:spcPts val="800"/>
              </a:spcAft>
            </a:pPr>
            <a:r>
              <a:rPr sz="1800">
                <a:solidFill>
                  <a:srgbClr val="1F2937"/>
                </a:solidFill>
                <a:latin typeface="Calibri"/>
              </a:rPr>
              <a:t>▸  Bayonnomani tuzuvchi, huquqbuzar, guvoh va jabrlanuvchi imzolaydi; bosh tortilsa, shu yoziladi.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Tekshiruv</a:t>
            </a:r>
          </a:p>
          <a:p>
            <a:pPr algn="l">
              <a:spcAft>
                <a:spcPts val="200"/>
              </a:spcAft>
            </a:pPr>
            <a:r>
              <a:rPr sz="1400" b="0">
                <a:solidFill>
                  <a:srgbClr val="1F2937"/>
                </a:solidFill>
                <a:latin typeface="Calibri"/>
              </a:rPr>
              <a:t>Qoidalar buzilishi aniqlanadi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Bayonnoma</a:t>
            </a:r>
          </a:p>
          <a:p>
            <a:pPr algn="l">
              <a:spcAft>
                <a:spcPts val="200"/>
              </a:spcAft>
            </a:pPr>
            <a:r>
              <a:rPr sz="1400" b="0">
                <a:solidFill>
                  <a:srgbClr val="1F2937"/>
                </a:solidFill>
                <a:latin typeface="Calibri"/>
              </a:rPr>
              <a:t>Sana, joy, mohiyat, me’yor, guvohlar</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Imzo</a:t>
            </a:r>
          </a:p>
          <a:p>
            <a:pPr algn="l">
              <a:spcAft>
                <a:spcPts val="200"/>
              </a:spcAft>
            </a:pPr>
            <a:r>
              <a:rPr sz="1400" b="0">
                <a:solidFill>
                  <a:srgbClr val="1F2937"/>
                </a:solidFill>
                <a:latin typeface="Calibri"/>
              </a:rPr>
              <a:t>Tuzuvchi, huquqbuzar, guvoh, jabrlanuvchi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Bosh tortsa</a:t>
            </a:r>
          </a:p>
          <a:p>
            <a:pPr algn="l">
              <a:spcAft>
                <a:spcPts val="200"/>
              </a:spcAft>
            </a:pPr>
            <a:r>
              <a:rPr sz="1400" b="0">
                <a:solidFill>
                  <a:srgbClr val="1F2937"/>
                </a:solidFill>
                <a:latin typeface="Calibri"/>
              </a:rPr>
              <a:t>Shu bayonnomaga yoziladi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Ko‘rib chiqish</a:t>
            </a:r>
          </a:p>
          <a:p>
            <a:pPr algn="l">
              <a:spcAft>
                <a:spcPts val="200"/>
              </a:spcAft>
            </a:pPr>
            <a:r>
              <a:rPr sz="1400" b="0">
                <a:solidFill>
                  <a:srgbClr val="1F2937"/>
                </a:solidFill>
                <a:latin typeface="Calibri"/>
              </a:rPr>
              <a:t>Sudya, komissiya, inspeksiya organi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Bayonnoma tartibi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96-97, 97, 97-98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Javobgarlikka tortilayotgan shaxsning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MJhK 294-moddaga ko‘ra shaxs materiallar bilan tanishadi, izoh beradi, dalil keltiradi, iltimos bildiradi. Bu huquqlar bayonnoma tuzishda tushuntirilishi shart.</a:t>
            </a:r>
          </a:p>
          <a:p>
            <a:pPr>
              <a:spcAft>
                <a:spcPts val="800"/>
              </a:spcAft>
            </a:pPr>
            <a:r>
              <a:rPr sz="1600">
                <a:solidFill>
                  <a:srgbClr val="1F2937"/>
                </a:solidFill>
                <a:latin typeface="Calibri"/>
              </a:rPr>
              <a:t>▸  Shuningdek advokat yordami, ona tilida so‘zlash, tarjimon xizmati va qaror ustidan shikoyat berish huquqiga ega.</a:t>
            </a:r>
          </a:p>
          <a:p>
            <a:pPr>
              <a:spcAft>
                <a:spcPts val="800"/>
              </a:spcAft>
            </a:pPr>
            <a:r>
              <a:rPr sz="1600">
                <a:solidFill>
                  <a:srgbClr val="1F2937"/>
                </a:solidFill>
                <a:latin typeface="Calibri"/>
              </a:rPr>
              <a:t>▸  Ish odatda shaxs ishtirokida ko‘riladi; xabar qilingan va kechiktirish iltimosi bo‘lmasa, ishtirokisiz ham. Qamoq, musodara, olib qo‘yishda qatnashish shart.</a:t>
            </a:r>
          </a:p>
          <a:p>
            <a:pPr>
              <a:spcAft>
                <a:spcPts val="800"/>
              </a:spcAft>
            </a:pPr>
            <a:r>
              <a:rPr sz="1600">
                <a:solidFill>
                  <a:srgbClr val="1F2937"/>
                </a:solidFill>
                <a:latin typeface="Calibri"/>
              </a:rPr>
              <a:t>▸  Zarar ko‘rgan shaxs jabrlanuvchi bo‘lib, ayblanuvchi kabi huquqlarga ega. Maxsus bilim kerak bo‘lsa, ekspertiza tayinlanadi.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MJhK 294: shaxs huquqlari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Ish materiallari</a:t>
            </a:r>
          </a:p>
          <a:p>
            <a:pPr algn="l">
              <a:spcAft>
                <a:spcPts val="0"/>
              </a:spcAft>
            </a:pPr>
            <a:r>
              <a:rPr sz="1200" b="0">
                <a:solidFill>
                  <a:srgbClr val="1F2937"/>
                </a:solidFill>
                <a:latin typeface="Calibri"/>
              </a:rPr>
              <a:t>Bilan tanishish  ·  Izoh, dalil, iltimos</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Himoya</a:t>
            </a:r>
          </a:p>
          <a:p>
            <a:pPr algn="l">
              <a:spcAft>
                <a:spcPts val="0"/>
              </a:spcAft>
            </a:pPr>
            <a:r>
              <a:rPr sz="1200" b="0">
                <a:solidFill>
                  <a:srgbClr val="1F2937"/>
                </a:solidFill>
                <a:latin typeface="Calibri"/>
              </a:rPr>
              <a:t>Advokat yordami  ·  Tarjimon, ona tilida so‘zlash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Shikoyat</a:t>
            </a:r>
          </a:p>
          <a:p>
            <a:pPr algn="l">
              <a:spcAft>
                <a:spcPts val="0"/>
              </a:spcAft>
            </a:pPr>
            <a:r>
              <a:rPr sz="1200" b="0">
                <a:solidFill>
                  <a:srgbClr val="1F2937"/>
                </a:solidFill>
                <a:latin typeface="Calibri"/>
              </a:rPr>
              <a:t>Qaror ustidan berish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Jabrlanuvchi</a:t>
            </a:r>
          </a:p>
          <a:p>
            <a:pPr algn="l">
              <a:spcAft>
                <a:spcPts val="0"/>
              </a:spcAft>
            </a:pPr>
            <a:r>
              <a:rPr sz="1200" b="0">
                <a:solidFill>
                  <a:srgbClr val="1F2937"/>
                </a:solidFill>
                <a:latin typeface="Calibri"/>
              </a:rPr>
              <a:t>Ayblanuvchi kabi huquqlar  ·  Ekspertiza tayinlanishi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Javobgarlikka tortilayotgan shaxs huquqlari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98, 98-99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Fuqarolar huquqlariga tajovuz qiluvchi huquqbuzarliklar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Ma’muriy javobgarlik to‘g‘risidagi kodeksda (MJhK) fuqarolarning huquq va erkinliklariga tajovuz qiluvchi qilmishlar alohida sanab o‘tilgan.</a:t>
            </a:r>
          </a:p>
          <a:p>
            <a:pPr>
              <a:spcAft>
                <a:spcPts val="800"/>
              </a:spcAft>
            </a:pPr>
            <a:r>
              <a:rPr sz="1600">
                <a:solidFill>
                  <a:srgbClr val="1F2937"/>
                </a:solidFill>
                <a:latin typeface="Calibri"/>
              </a:rPr>
              <a:t>▸  Ular: tuhmat (40-modda), haqorat (41), davlat tili (42), fuqarolar murojaatlari (43), mehnat haqidagi qonun buzilishi (49), mehnatga ma’muriy majburlash (51).</a:t>
            </a:r>
          </a:p>
          <a:p>
            <a:pPr>
              <a:spcAft>
                <a:spcPts val="800"/>
              </a:spcAft>
            </a:pPr>
            <a:r>
              <a:rPr sz="1600">
                <a:solidFill>
                  <a:srgbClr val="1F2937"/>
                </a:solidFill>
                <a:latin typeface="Calibri"/>
              </a:rPr>
              <a:t>▸  Bu huquqbuzarliklar ko‘proq tibbiy xodimlarning emas, tibbiyot muassasalari rahbarlarining faoliyatiga taalluqli.</a:t>
            </a:r>
          </a:p>
          <a:p>
            <a:pPr>
              <a:spcAft>
                <a:spcPts val="800"/>
              </a:spcAft>
            </a:pPr>
            <a:r>
              <a:rPr sz="1600">
                <a:solidFill>
                  <a:srgbClr val="1F2937"/>
                </a:solidFill>
                <a:latin typeface="Calibri"/>
              </a:rPr>
              <a:t>▸  Diqqat: xato qilish xavfi — oddiy tibbiy xodim ≠ muassasa rahbari. Bu moddalarda subyekt ko‘pincha rahbar bo‘ladi.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MJhK: huquqlarga tajovuz</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22120"/>
            <a:ext cx="0" cy="341376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2212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60960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Tuhmat — 40-modda</a:t>
            </a:r>
          </a:p>
        </p:txBody>
      </p:sp>
      <p:cxnSp>
        <p:nvCxnSpPr>
          <p:cNvPr id="15" name="Connector 14"/>
          <p:cNvCxnSpPr/>
          <p:nvPr/>
        </p:nvCxnSpPr>
        <p:spPr>
          <a:xfrm>
            <a:off x="7612380" y="240487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100072"/>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00072"/>
            <a:ext cx="3779215" cy="60960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Haqorat — 41-modda</a:t>
            </a:r>
          </a:p>
        </p:txBody>
      </p:sp>
      <p:cxnSp>
        <p:nvCxnSpPr>
          <p:cNvPr id="18" name="Connector 17"/>
          <p:cNvCxnSpPr/>
          <p:nvPr/>
        </p:nvCxnSpPr>
        <p:spPr>
          <a:xfrm>
            <a:off x="7612380" y="308762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2782824"/>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2782824"/>
            <a:ext cx="3779215" cy="60960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Davlat tili — 42-modda</a:t>
            </a:r>
          </a:p>
        </p:txBody>
      </p:sp>
      <p:cxnSp>
        <p:nvCxnSpPr>
          <p:cNvPr id="21" name="Connector 20"/>
          <p:cNvCxnSpPr/>
          <p:nvPr/>
        </p:nvCxnSpPr>
        <p:spPr>
          <a:xfrm>
            <a:off x="7612380" y="377037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465576"/>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465576"/>
            <a:ext cx="3779215" cy="60960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Murojaatlar — 43-modda</a:t>
            </a:r>
          </a:p>
        </p:txBody>
      </p:sp>
      <p:cxnSp>
        <p:nvCxnSpPr>
          <p:cNvPr id="24" name="Connector 23"/>
          <p:cNvCxnSpPr/>
          <p:nvPr/>
        </p:nvCxnSpPr>
        <p:spPr>
          <a:xfrm>
            <a:off x="7612380" y="445312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148328"/>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148328"/>
            <a:ext cx="3779215" cy="60960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Mehnat qonuni — 49-modda</a:t>
            </a:r>
          </a:p>
        </p:txBody>
      </p:sp>
      <p:cxnSp>
        <p:nvCxnSpPr>
          <p:cNvPr id="27" name="Connector 26"/>
          <p:cNvCxnSpPr/>
          <p:nvPr/>
        </p:nvCxnSpPr>
        <p:spPr>
          <a:xfrm>
            <a:off x="7612380" y="513588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0" y="483108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4831080"/>
            <a:ext cx="3779215" cy="60960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Majburlash — 51-modda</a:t>
            </a:r>
          </a:p>
        </p:txBody>
      </p:sp>
      <p:sp>
        <p:nvSpPr>
          <p:cNvPr id="30" name="TextBox 29"/>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Ko‘proq muassasa rahbarlari subyekt</a:t>
            </a:r>
          </a:p>
        </p:txBody>
      </p:sp>
      <p:sp>
        <p:nvSpPr>
          <p:cNvPr id="31" name="TextBox 3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Sog‘liqni saqlash sohasidagi huquqbuzarliklar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Aholi salomatligi huquqbuzarliklari MJhK ning VI bobida keltirilgan; subyekt tibbiy xodim ham bo‘lishi mumkin.</a:t>
            </a:r>
          </a:p>
          <a:p>
            <a:pPr>
              <a:spcAft>
                <a:spcPts val="800"/>
              </a:spcAft>
            </a:pPr>
            <a:r>
              <a:rPr sz="1800">
                <a:solidFill>
                  <a:srgbClr val="1F2937"/>
                </a:solidFill>
                <a:latin typeface="Calibri"/>
              </a:rPr>
              <a:t>▸  OITS (immun tanqisligi sindromi) va tanosil kasalliklari bilan bog‘liq: manbani yashirish, tekshiruvni rad etish.</a:t>
            </a:r>
          </a:p>
          <a:p>
            <a:pPr>
              <a:spcAft>
                <a:spcPts val="800"/>
              </a:spcAft>
            </a:pPr>
            <a:r>
              <a:rPr sz="1800">
                <a:solidFill>
                  <a:srgbClr val="1F2937"/>
                </a:solidFill>
                <a:latin typeface="Calibri"/>
              </a:rPr>
              <a:t>▸  Pullik xizmat va xo‘jalik hisobida ishlovchi davlat tibbiy xodimlari ham javobgarlikka tortilishi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MJhK: aholi salomatligi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52–56-moddalar</a:t>
            </a:r>
          </a:p>
          <a:p>
            <a:pPr algn="l">
              <a:spcAft>
                <a:spcPts val="0"/>
              </a:spcAft>
            </a:pPr>
            <a:r>
              <a:rPr sz="1200" b="0">
                <a:solidFill>
                  <a:srgbClr val="1F2937"/>
                </a:solidFill>
                <a:latin typeface="Calibri"/>
              </a:rPr>
              <a:t>Jarohat, sanitariya  ·  Epidemiya, radiatsiya</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57–59-moddalar</a:t>
            </a:r>
          </a:p>
          <a:p>
            <a:pPr algn="l">
              <a:spcAft>
                <a:spcPts val="0"/>
              </a:spcAft>
            </a:pPr>
            <a:r>
              <a:rPr sz="1200" b="0">
                <a:solidFill>
                  <a:srgbClr val="1F2937"/>
                </a:solidFill>
                <a:latin typeface="Calibri"/>
              </a:rPr>
              <a:t>OITS, tanosil kasalliklari  ·  Manbani yashirish, rad etish</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Xususiy amaliyot</a:t>
            </a:r>
          </a:p>
          <a:p>
            <a:pPr algn="l">
              <a:spcAft>
                <a:spcPts val="0"/>
              </a:spcAft>
            </a:pPr>
            <a:r>
              <a:rPr sz="1200" b="0">
                <a:solidFill>
                  <a:srgbClr val="1F2937"/>
                </a:solidFill>
                <a:latin typeface="Calibri"/>
              </a:rPr>
              <a:t>164, 176-moddalar va b.</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Boshqaruv tartibi</a:t>
            </a:r>
          </a:p>
          <a:p>
            <a:pPr algn="l">
              <a:spcAft>
                <a:spcPts val="0"/>
              </a:spcAft>
            </a:pPr>
            <a:r>
              <a:rPr sz="1200" b="0">
                <a:solidFill>
                  <a:srgbClr val="1F2937"/>
                </a:solidFill>
                <a:latin typeface="Calibri"/>
              </a:rPr>
              <a:t>199, 215-moddalar  ·  Tez yordamni aldab chaqirish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Sog‘liqni saqlash sohasidagi huquqbuzarliklar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99-100, 100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tibbiy xodim va ma’muriy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davolash muassasasida epidemiyaga qarshi kurash qoidalari buzildi (MJhK 54-modda). Vakolatli mansabdor shaxs bayonnoma tuzdi.</a:t>
            </a:r>
          </a:p>
          <a:p>
            <a:pPr>
              <a:spcAft>
                <a:spcPts val="1200"/>
              </a:spcAft>
            </a:pPr>
            <a:r>
              <a:rPr sz="2200">
                <a:solidFill>
                  <a:srgbClr val="1F2937"/>
                </a:solidFill>
                <a:latin typeface="Calibri"/>
              </a:rPr>
              <a:t>▸  Bayonnomada sana, joy, huquqbuzarlik mohiyati, me’yoriy hujjat va huquqbuzarning tushuntirish xati ko‘rsatiladi. Shaxsga huquqlari tushuntiriladi.</a:t>
            </a:r>
          </a:p>
          <a:p>
            <a:pPr>
              <a:spcAft>
                <a:spcPts val="1200"/>
              </a:spcAft>
            </a:pPr>
            <a:r>
              <a:rPr sz="2200">
                <a:solidFill>
                  <a:srgbClr val="1F2937"/>
                </a:solidFill>
                <a:latin typeface="Calibri"/>
              </a:rPr>
              <a:t>▸  Ishni davlat sanitariya nazorati kabi vakolatli organlar ko‘radi. Asosiy jazo odatda jarima; fuqaroga eng kam ish haqining 1/50 dan 5 baravarigacha.</a:t>
            </a:r>
          </a:p>
          <a:p>
            <a:pPr>
              <a:spcAft>
                <a:spcPts val="1200"/>
              </a:spcAft>
            </a:pPr>
            <a:r>
              <a:rPr sz="2200">
                <a:solidFill>
                  <a:srgbClr val="1F2937"/>
                </a:solidFill>
                <a:latin typeface="Calibri"/>
              </a:rPr>
              <a:t>▸  Savol: jarima miqdori mansabdor shaxs uchun fuqaroga nisbatan qanday farq qiladi? Oqibati og‘ir bo‘lsa, qilmish qanday baholanishi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97, 99, 97-98, 94-97, 93, 95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Fuqarolik huquqi va delikt javobgarligi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Fuqarolik huquqi fuqaro va tashkilotlarning mulkiy hamda unga bog‘liq nomulkiy munosabatlarini tartibga soladi. Subyekt: jismoniy, yuridik shaxs, davlat.</a:t>
            </a:r>
          </a:p>
          <a:p>
            <a:pPr>
              <a:spcAft>
                <a:spcPts val="800"/>
              </a:spcAft>
            </a:pPr>
            <a:r>
              <a:rPr sz="1600">
                <a:solidFill>
                  <a:srgbClr val="1F2937"/>
                </a:solidFill>
                <a:latin typeface="Calibri"/>
              </a:rPr>
              <a:t>▸  Subyekt bo‘lish uchun huquq layoqati (huquq va burchga ega bo‘lish) va muomala layoqati (o‘z harakati bilan huquq yaratish, javob berish) kerak.</a:t>
            </a:r>
          </a:p>
          <a:p>
            <a:pPr>
              <a:spcAft>
                <a:spcPts val="800"/>
              </a:spcAft>
            </a:pPr>
            <a:r>
              <a:rPr sz="1600">
                <a:solidFill>
                  <a:srgbClr val="1F2937"/>
                </a:solidFill>
                <a:latin typeface="Calibri"/>
              </a:rPr>
              <a:t>▸  Diqqat: delikt ≠ shartnomaviy javobgarlik. Deliktda umumiy obyektiv mezonlar, shartnomaviyda faqat shartnoma buzilishi. Vrachlarda ko‘proq delikt.</a:t>
            </a:r>
          </a:p>
          <a:p>
            <a:pPr>
              <a:spcAft>
                <a:spcPts val="800"/>
              </a:spcAft>
            </a:pPr>
            <a:r>
              <a:rPr sz="1600">
                <a:solidFill>
                  <a:srgbClr val="1F2937"/>
                </a:solidFill>
                <a:latin typeface="Calibri"/>
              </a:rPr>
              <a:t>▸  Zarar ikki xil: haqiqiy zarar (davolanish, dori-darmon xarajatlari) va boy berilgan foyda (bemor ololmay qolgan ish haqi yoki daromad).</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Fuqarolik huquqi va zarar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Subyektlar</a:t>
            </a:r>
          </a:p>
          <a:p>
            <a:pPr algn="l">
              <a:spcAft>
                <a:spcPts val="0"/>
              </a:spcAft>
            </a:pPr>
            <a:r>
              <a:rPr sz="1200" b="0">
                <a:solidFill>
                  <a:srgbClr val="1F2937"/>
                </a:solidFill>
                <a:latin typeface="Calibri"/>
              </a:rPr>
              <a:t>Jismoniy, yuridik shaxs  ·  Davlat</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Layoqat</a:t>
            </a:r>
          </a:p>
          <a:p>
            <a:pPr algn="l">
              <a:spcAft>
                <a:spcPts val="0"/>
              </a:spcAft>
            </a:pPr>
            <a:r>
              <a:rPr sz="1200" b="0">
                <a:solidFill>
                  <a:srgbClr val="1F2937"/>
                </a:solidFill>
                <a:latin typeface="Calibri"/>
              </a:rPr>
              <a:t>Huquq layoqati  ·  Muomala layoqati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Delikt</a:t>
            </a:r>
          </a:p>
          <a:p>
            <a:pPr algn="l">
              <a:spcAft>
                <a:spcPts val="0"/>
              </a:spcAft>
            </a:pPr>
            <a:r>
              <a:rPr sz="1200" b="0">
                <a:solidFill>
                  <a:srgbClr val="1F2937"/>
                </a:solidFill>
                <a:latin typeface="Calibri"/>
              </a:rPr>
              <a:t>Umumiy obyektiv mezonlar  ·  Vrachlarda ko‘proq uchraydi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Zarar turlari</a:t>
            </a:r>
          </a:p>
          <a:p>
            <a:pPr algn="l">
              <a:spcAft>
                <a:spcPts val="0"/>
              </a:spcAft>
            </a:pPr>
            <a:r>
              <a:rPr sz="1200" b="0">
                <a:solidFill>
                  <a:srgbClr val="1F2937"/>
                </a:solidFill>
                <a:latin typeface="Calibri"/>
              </a:rPr>
              <a:t>Haqiqiy zarar  ·  Boy berilgan foyda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Fuqarolik huquqi asoslari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102, 103, 104-105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 uchun javobgarlik vujudga kelish shartlari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Javobgarlik uchun to‘rt shart kerak: zarar, g‘ayriqonuniy harakat, sababiy bog‘liqlik, ayb.</a:t>
            </a:r>
          </a:p>
          <a:p>
            <a:pPr>
              <a:spcAft>
                <a:spcPts val="800"/>
              </a:spcAft>
            </a:pPr>
            <a:r>
              <a:rPr sz="1800">
                <a:solidFill>
                  <a:srgbClr val="1F2937"/>
                </a:solidFill>
                <a:latin typeface="Calibri"/>
              </a:rPr>
              <a:t>▸  Ayb ikki shaklda: qasddan yoki ehtiyotsizlik orqasidan (beparvolik, o‘ziga o‘ta ishonish).</a:t>
            </a:r>
          </a:p>
          <a:p>
            <a:pPr>
              <a:spcAft>
                <a:spcPts val="800"/>
              </a:spcAft>
            </a:pPr>
            <a:r>
              <a:rPr sz="1800">
                <a:solidFill>
                  <a:srgbClr val="1F2937"/>
                </a:solidFill>
                <a:latin typeface="Calibri"/>
              </a:rPr>
              <a:t>▸  Standart, shartnoma yoki odatiy talabga mos kelmagan yordam lozim darajada bo‘lmagan tibbiy yordam hisoblanadi.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etkazilganlik fakti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G‘ayriqonuniy harakat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Sababiy bog‘liqlik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etkazuvchining aybi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Javobgarlik yuzaga keladi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Javobgarlik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Shaxsiy nomulkiy huquqlar va delikt tamoyili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Delikt tamoyili: bir shaxsning boshqasiga zarar yetkazishi o‘zi zararni qoplash majburiyatini yuzaga keltiradi.</a:t>
            </a:r>
          </a:p>
          <a:p>
            <a:pPr>
              <a:spcAft>
                <a:spcPts val="800"/>
              </a:spcAft>
            </a:pPr>
            <a:r>
              <a:rPr sz="1600">
                <a:solidFill>
                  <a:srgbClr val="1F2937"/>
                </a:solidFill>
                <a:latin typeface="Calibri"/>
              </a:rPr>
              <a:t>▸  Shartnomaviy javobgarlikda g‘ayriqonuniy harakat faqat shartnoma talablarining buzilishini anglatadi; hajmi deliktdan kam bo‘lmasligi lozim.</a:t>
            </a:r>
          </a:p>
          <a:p>
            <a:pPr>
              <a:spcAft>
                <a:spcPts val="800"/>
              </a:spcAft>
            </a:pPr>
            <a:r>
              <a:rPr sz="1600">
                <a:solidFill>
                  <a:srgbClr val="1F2937"/>
                </a:solidFill>
                <a:latin typeface="Calibri"/>
              </a:rPr>
              <a:t>▸  Shaxsiy nomulkiy huquqlar: hayot va sog‘liq, sha’n va qadr-qimmat, shaxsiy daxlsizlik, ishchanlik obro‘si, shaxsiy hayot va oilaviy sir.</a:t>
            </a:r>
          </a:p>
          <a:p>
            <a:pPr>
              <a:spcAft>
                <a:spcPts val="800"/>
              </a:spcAft>
            </a:pPr>
            <a:r>
              <a:rPr sz="1600">
                <a:solidFill>
                  <a:srgbClr val="1F2937"/>
                </a:solidFill>
                <a:latin typeface="Calibri"/>
              </a:rPr>
              <a:t>▸  Fuqarolik huquqlarini himoya qilish usullari qatorida zararni to‘lash va ma’naviy ziyonni qoplash bor (FK 15-modda).</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Shaxsiy nomulkiy huquqlar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Hayot va sog‘liq</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Sha’n, qadr-qimmat</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Shaxsiy daxlsizlik</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Ishchanlik obro‘si</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Shaxsiy hayot, oilaviy sir</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Qonunda sanalgan nomulkiy huquqlar</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Tovar, ish va xizmat nuqsonlari zarari (FK 1017–1020)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Konstruktiv, retseptur yoki boshqa nuqson, ma’lumotning noto‘g‘ri yoki yetarli emasligi hayot, sog‘liq yoki mulkka zarar yetkazsa, qoplanadi (FK 1017).</a:t>
            </a:r>
          </a:p>
          <a:p>
            <a:pPr>
              <a:spcAft>
                <a:spcPts val="800"/>
              </a:spcAft>
            </a:pPr>
            <a:r>
              <a:rPr sz="1600">
                <a:solidFill>
                  <a:srgbClr val="1F2937"/>
                </a:solidFill>
                <a:latin typeface="Calibri"/>
              </a:rPr>
              <a:t>▸  Zarar shartnoma bo‘lgan-bo‘lmaganidan qat’i nazar sotuvchi yoki tayyorlovchi (ijrochi) tomonidan qoplanadi.</a:t>
            </a:r>
          </a:p>
          <a:p>
            <a:pPr>
              <a:spcAft>
                <a:spcPts val="800"/>
              </a:spcAft>
            </a:pPr>
            <a:r>
              <a:rPr sz="1600">
                <a:solidFill>
                  <a:srgbClr val="1F2937"/>
                </a:solidFill>
                <a:latin typeface="Calibri"/>
              </a:rPr>
              <a:t>▸  Mahsulot nuqsoni zarari jabrlanuvchi tanloviga ko‘ra sotuvchi yoki tayyorlovchi, xizmat nuqsoni zarari esa ijrochi tomonidan qoplanadi (FK 1018).</a:t>
            </a:r>
          </a:p>
          <a:p>
            <a:pPr>
              <a:spcAft>
                <a:spcPts val="800"/>
              </a:spcAft>
            </a:pPr>
            <a:r>
              <a:rPr sz="1600">
                <a:solidFill>
                  <a:srgbClr val="1F2937"/>
                </a:solidFill>
                <a:latin typeface="Calibri"/>
              </a:rPr>
              <a:t>▸  Engib bo‘lmas kuch yoki iste’molchi qoidalarni buzgani isbotlansa, javobgar ozod bo‘ladi (FK 1020).</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a:solidFill>
                  <a:srgbClr val="FFFFFF"/>
                </a:solidFill>
                <a:latin typeface="Calibri"/>
              </a:rPr>
              <a:t>Mahsulot nuqsoni</a:t>
            </a:r>
          </a:p>
        </p:txBody>
      </p:sp>
      <p:sp>
        <p:nvSpPr>
          <p:cNvPr id="10" name="Rectangle 9"/>
          <p:cNvSpPr/>
          <p:nvPr/>
        </p:nvSpPr>
        <p:spPr>
          <a:xfrm>
            <a:off x="5440680" y="2020824"/>
            <a:ext cx="1945538" cy="378561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Sotuvchi yoki tayyorlovchi</a:t>
            </a:r>
          </a:p>
          <a:p>
            <a:pPr algn="l">
              <a:spcAft>
                <a:spcPts val="700"/>
              </a:spcAft>
            </a:pPr>
            <a:r>
              <a:rPr sz="1500" b="1">
                <a:solidFill>
                  <a:srgbClr val="C9A227"/>
                </a:solidFill>
                <a:latin typeface="Calibri"/>
              </a:rPr>
              <a:t>●  </a:t>
            </a:r>
            <a:r>
              <a:rPr sz="1500" b="0">
                <a:solidFill>
                  <a:srgbClr val="1F2937"/>
                </a:solidFill>
                <a:latin typeface="Calibri"/>
              </a:rPr>
              <a:t>Jabrlanuvchi tanlaydi (dori, texnika)</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Ish/xizmat nuqsoni</a:t>
            </a:r>
          </a:p>
        </p:txBody>
      </p:sp>
      <p:sp>
        <p:nvSpPr>
          <p:cNvPr id="12" name="Rectangle 11"/>
          <p:cNvSpPr/>
          <p:nvPr/>
        </p:nvSpPr>
        <p:spPr>
          <a:xfrm>
            <a:off x="7523378" y="2020824"/>
            <a:ext cx="1945538" cy="378561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Ishni bajargan, xizmat ko‘rsatgan ijrochi</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Javobgarlikdan ozod</a:t>
            </a:r>
          </a:p>
        </p:txBody>
      </p:sp>
      <p:sp>
        <p:nvSpPr>
          <p:cNvPr id="14" name="Rectangle 13"/>
          <p:cNvSpPr/>
          <p:nvPr/>
        </p:nvSpPr>
        <p:spPr>
          <a:xfrm>
            <a:off x="9606076" y="2020824"/>
            <a:ext cx="1945538" cy="378561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Engib bo‘lmas kuch</a:t>
            </a:r>
          </a:p>
          <a:p>
            <a:pPr algn="l">
              <a:spcAft>
                <a:spcPts val="700"/>
              </a:spcAft>
            </a:pPr>
            <a:r>
              <a:rPr sz="1500" b="1">
                <a:solidFill>
                  <a:srgbClr val="C9A227"/>
                </a:solidFill>
                <a:latin typeface="Calibri"/>
              </a:rPr>
              <a:t>●  </a:t>
            </a:r>
            <a:r>
              <a:rPr sz="1500" b="0">
                <a:solidFill>
                  <a:srgbClr val="1F2937"/>
                </a:solidFill>
                <a:latin typeface="Calibri"/>
              </a:rPr>
              <a:t>Iste’molchi qoidani buzgan</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Aybsizlik holatlari va ayb prezumpsiyasi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Ayb faraz qilinadi: jabrlanuvchi aybni va harakat g‘ayriqonuniyligini isbotlashi shart emas. Aybsizligini zarar etkazuvchi isbotlaydi.</a:t>
            </a:r>
          </a:p>
          <a:p>
            <a:pPr>
              <a:spcAft>
                <a:spcPts val="800"/>
              </a:spcAft>
            </a:pPr>
            <a:r>
              <a:rPr sz="1600">
                <a:solidFill>
                  <a:srgbClr val="1F2937"/>
                </a:solidFill>
                <a:latin typeface="Calibri"/>
              </a:rPr>
              <a:t>▸  Bemor vrachni ayblasa, vrach harakati qonuniy va aybsiz ekanini isbotlamaguncha aybdor hisoblanadi.</a:t>
            </a:r>
          </a:p>
          <a:p>
            <a:pPr>
              <a:spcAft>
                <a:spcPts val="800"/>
              </a:spcAft>
            </a:pPr>
            <a:r>
              <a:rPr sz="1600">
                <a:solidFill>
                  <a:srgbClr val="1F2937"/>
                </a:solidFill>
                <a:latin typeface="Calibri"/>
              </a:rPr>
              <a:t>▸  Odatda uch holatda xodim aybsiz topiladi: engib bo‘lmas kuch; zarar bemor iltimosi yoki roziligi bilan etkazilgani; bemorning qo‘pol ehtiyotsizligi.</a:t>
            </a:r>
          </a:p>
          <a:p>
            <a:pPr>
              <a:spcAft>
                <a:spcPts val="800"/>
              </a:spcAft>
            </a:pPr>
            <a:r>
              <a:rPr sz="1600">
                <a:solidFill>
                  <a:srgbClr val="1F2937"/>
                </a:solidFill>
                <a:latin typeface="Calibri"/>
              </a:rPr>
              <a:t>▸  Bunday bahsda tibbiy hujjatlar alohida ahamiyatli: asl nusxa, kundaliklar to‘laligi, to‘g‘rilashlarning yo‘qligi.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Xodim aybsiz topiladi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Engib bo‘lmas kuch</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Bemor roziligi</a:t>
            </a:r>
          </a:p>
          <a:p>
            <a:pPr algn="l">
              <a:spcAft>
                <a:spcPts val="0"/>
              </a:spcAft>
            </a:pPr>
            <a:r>
              <a:rPr sz="1200" b="0">
                <a:solidFill>
                  <a:srgbClr val="1F2937"/>
                </a:solidFill>
                <a:latin typeface="Calibri"/>
              </a:rPr>
              <a:t>Zarar iltimos yoki rozilik bilan</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Bemor ehtiyotsizligi</a:t>
            </a:r>
          </a:p>
          <a:p>
            <a:pPr algn="l">
              <a:spcAft>
                <a:spcPts val="0"/>
              </a:spcAft>
            </a:pPr>
            <a:r>
              <a:rPr sz="1200" b="0">
                <a:solidFill>
                  <a:srgbClr val="1F2937"/>
                </a:solidFill>
                <a:latin typeface="Calibri"/>
              </a:rPr>
              <a:t>Qo‘pol ehtiyotsizlik</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Ayb prezumpsiyasi</a:t>
            </a:r>
          </a:p>
          <a:p>
            <a:pPr algn="l">
              <a:spcAft>
                <a:spcPts val="0"/>
              </a:spcAft>
            </a:pPr>
            <a:r>
              <a:rPr sz="1200" b="0">
                <a:solidFill>
                  <a:srgbClr val="1F2937"/>
                </a:solidFill>
                <a:latin typeface="Calibri"/>
              </a:rPr>
              <a:t>Aybsizlikni zarar etkazuvchi isbotlaydi</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Tibbiy hujjat</a:t>
            </a:r>
          </a:p>
          <a:p>
            <a:pPr algn="l">
              <a:spcAft>
                <a:spcPts val="0"/>
              </a:spcAft>
            </a:pPr>
            <a:r>
              <a:rPr sz="1200" b="0">
                <a:solidFill>
                  <a:srgbClr val="1F2937"/>
                </a:solidFill>
                <a:latin typeface="Calibri"/>
              </a:rPr>
              <a:t>Asl nusxa, to‘liq, to‘g‘rilashsiz</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Aybsizlik holatlari va ayb prezumpsiyasi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104, 105-106, 106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fuqarolik javobgarligi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xodimning kasb huquqbuzarligida ko‘proq qaysi javobgarlik yuzaga keladi: delikt yoki shartnomaviy?</a:t>
            </a:r>
          </a:p>
          <a:p>
            <a:pPr>
              <a:spcAft>
                <a:spcPts val="1200"/>
              </a:spcAft>
            </a:pPr>
            <a:r>
              <a:rPr sz="2200">
                <a:solidFill>
                  <a:srgbClr val="1F2937"/>
                </a:solidFill>
                <a:latin typeface="Calibri"/>
              </a:rPr>
              <a:t>▸  Bemor vrachni ayblaydi. Vrachning aybsizligini kim isbotlashi kerak va nima uchun?</a:t>
            </a:r>
          </a:p>
          <a:p>
            <a:pPr>
              <a:spcAft>
                <a:spcPts val="1200"/>
              </a:spcAft>
            </a:pPr>
            <a:r>
              <a:rPr sz="2200">
                <a:solidFill>
                  <a:srgbClr val="1F2937"/>
                </a:solidFill>
                <a:latin typeface="Calibri"/>
              </a:rPr>
              <a:t>▸  Zarar uchun javobgarlik qaysi to‘rt shart birga mavjud bo‘lganda yuzaga keladi?</a:t>
            </a:r>
          </a:p>
          <a:p>
            <a:pPr>
              <a:spcAft>
                <a:spcPts val="1200"/>
              </a:spcAft>
            </a:pPr>
            <a:r>
              <a:rPr sz="2200">
                <a:solidFill>
                  <a:srgbClr val="1F2937"/>
                </a:solidFill>
                <a:latin typeface="Calibri"/>
              </a:rPr>
              <a:t>▸  Vrach intizomiy, ma’muriy yoki jinoiy javobgarlikka tortilgan. Bu uni zararni qoplashdan ozod qiladimi?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103, 104, 105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Zararni qoplash: regress, sug‘urta, da’vo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Muassasa xodimi vazifada yetkazgan zararni qoplaydi. To‘lagan muassasa regress tartibida mablag‘ni xodimdan talab qilishi mumkin, amalda kam uchraydi.</a:t>
            </a:r>
          </a:p>
          <a:p>
            <a:pPr>
              <a:spcAft>
                <a:spcPts val="800"/>
              </a:spcAft>
            </a:pPr>
            <a:r>
              <a:rPr sz="1600">
                <a:solidFill>
                  <a:srgbClr val="1F2937"/>
                </a:solidFill>
                <a:latin typeface="Calibri"/>
              </a:rPr>
              <a:t>▸  Javobgarlik sug‘urtalangan bo‘lsa, sug‘urta puli zararni to‘liq yopmaganda, farqni sug‘urtalangan shaxs o‘zi to‘laydi.</a:t>
            </a:r>
          </a:p>
          <a:p>
            <a:pPr>
              <a:spcAft>
                <a:spcPts val="800"/>
              </a:spcAft>
            </a:pPr>
            <a:r>
              <a:rPr sz="1600">
                <a:solidFill>
                  <a:srgbClr val="1F2937"/>
                </a:solidFill>
                <a:latin typeface="Calibri"/>
              </a:rPr>
              <a:t>▸  Diqqat: jinoiy qonunchilikda oxirgi zarurat javobgarlikni yo‘qotadi, lekin fuqarolik qonunida zararni qoplashdan ozod qilmaydi.</a:t>
            </a:r>
          </a:p>
          <a:p>
            <a:pPr>
              <a:spcAft>
                <a:spcPts val="800"/>
              </a:spcAft>
            </a:pPr>
            <a:r>
              <a:rPr sz="1600">
                <a:solidFill>
                  <a:srgbClr val="1F2937"/>
                </a:solidFill>
                <a:latin typeface="Calibri"/>
              </a:rPr>
              <a:t>▸  Umumiy da’vo muddati uch yil. U shaxs huquqi buzilganini bilgan yoki bilishi lozim bo‘lgan kundan boshlanadi.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Zararni qoplash</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Muassasa qoplaydi</a:t>
            </a:r>
          </a:p>
          <a:p>
            <a:pPr algn="l">
              <a:spcAft>
                <a:spcPts val="0"/>
              </a:spcAft>
            </a:pPr>
            <a:r>
              <a:rPr sz="1200" b="0">
                <a:solidFill>
                  <a:srgbClr val="1F2937"/>
                </a:solidFill>
                <a:latin typeface="Calibri"/>
              </a:rPr>
              <a:t>Xodim vazifada yetkazgan zarar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Regress</a:t>
            </a:r>
          </a:p>
          <a:p>
            <a:pPr algn="l">
              <a:spcAft>
                <a:spcPts val="0"/>
              </a:spcAft>
            </a:pPr>
            <a:r>
              <a:rPr sz="1200" b="0">
                <a:solidFill>
                  <a:srgbClr val="1F2937"/>
                </a:solidFill>
                <a:latin typeface="Calibri"/>
              </a:rPr>
              <a:t>Muassasa xodimdan talab qiladi  ·  Amalda kam uchraydi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Sug‘urta</a:t>
            </a:r>
          </a:p>
          <a:p>
            <a:pPr algn="l">
              <a:spcAft>
                <a:spcPts val="0"/>
              </a:spcAft>
            </a:pPr>
            <a:r>
              <a:rPr sz="1200" b="0">
                <a:solidFill>
                  <a:srgbClr val="1F2937"/>
                </a:solidFill>
                <a:latin typeface="Calibri"/>
              </a:rPr>
              <a:t>Yetmasa farqni sug‘urtalangan to‘laydi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Da’vo muddati</a:t>
            </a:r>
          </a:p>
          <a:p>
            <a:pPr algn="l">
              <a:spcAft>
                <a:spcPts val="0"/>
              </a:spcAft>
            </a:pPr>
            <a:r>
              <a:rPr sz="1200" b="0">
                <a:solidFill>
                  <a:srgbClr val="1F2937"/>
                </a:solidFill>
                <a:latin typeface="Calibri"/>
              </a:rPr>
              <a:t>3 yil: huquq buzilganini bilgan kundan</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Qoplash, regress, sug‘urta, da’vo</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107, 106-107, 109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Shartnoma asosida tibbiy xizmat ko‘rsatish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Shartnoma — huquq va burchlarni vujudga keltirish, o‘zgartirish yoki bekor qilish haqidagi kelishuv.</a:t>
            </a:r>
          </a:p>
          <a:p>
            <a:pPr>
              <a:spcAft>
                <a:spcPts val="800"/>
              </a:spcAft>
            </a:pPr>
            <a:r>
              <a:rPr sz="1800">
                <a:solidFill>
                  <a:srgbClr val="1F2937"/>
                </a:solidFill>
                <a:latin typeface="Calibri"/>
              </a:rPr>
              <a:t>▸  Tibbiy xizmatda haq evaziga shartnoma tuziladi: ijrochi xizmat ko‘rsatadi, buyurtmachi haq to‘laydi.</a:t>
            </a:r>
          </a:p>
          <a:p>
            <a:pPr>
              <a:spcAft>
                <a:spcPts val="800"/>
              </a:spcAft>
            </a:pPr>
            <a:r>
              <a:rPr sz="1800">
                <a:solidFill>
                  <a:srgbClr val="1F2937"/>
                </a:solidFill>
                <a:latin typeface="Calibri"/>
              </a:rPr>
              <a:t>▸  Ijrochi to‘g‘ri bajarmasa, zararni to‘liq qoplaydi, lekin xizmat bahosining ikki baravaridan oshmaydi.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Ijrochi aybi</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To‘g‘ri bajarmadi</a:t>
            </a:r>
          </a:p>
          <a:p>
            <a:pPr algn="l">
              <a:spcAft>
                <a:spcPts val="700"/>
              </a:spcAft>
            </a:pPr>
            <a:r>
              <a:rPr sz="1500" b="1">
                <a:solidFill>
                  <a:srgbClr val="C9A227"/>
                </a:solidFill>
                <a:latin typeface="Calibri"/>
              </a:rPr>
              <a:t>●  </a:t>
            </a:r>
            <a:r>
              <a:rPr sz="1500" b="0">
                <a:solidFill>
                  <a:srgbClr val="1F2937"/>
                </a:solidFill>
                <a:latin typeface="Calibri"/>
              </a:rPr>
              <a:t>Zarar to‘liq, bahoning 2 baravarigacha</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a:solidFill>
                  <a:srgbClr val="FFFFFF"/>
                </a:solidFill>
                <a:latin typeface="Calibri"/>
              </a:rPr>
              <a:t>Buyurtmachi aybi</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Bajarish mumkin bo‘lmadi</a:t>
            </a:r>
          </a:p>
          <a:p>
            <a:pPr algn="l">
              <a:spcAft>
                <a:spcPts val="700"/>
              </a:spcAft>
            </a:pPr>
            <a:r>
              <a:rPr sz="1500" b="1">
                <a:solidFill>
                  <a:srgbClr val="C9A227"/>
                </a:solidFill>
                <a:latin typeface="Calibri"/>
              </a:rPr>
              <a:t>●  </a:t>
            </a:r>
            <a:r>
              <a:rPr sz="1500" b="0">
                <a:solidFill>
                  <a:srgbClr val="1F2937"/>
                </a:solidFill>
                <a:latin typeface="Calibri"/>
              </a:rPr>
              <a:t>Xizmat bahosi to‘liq to‘lanadi</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Aybsiz tomonlar</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Bajarilmadi</a:t>
            </a:r>
          </a:p>
          <a:p>
            <a:pPr algn="l">
              <a:spcAft>
                <a:spcPts val="700"/>
              </a:spcAft>
            </a:pPr>
            <a:r>
              <a:rPr sz="1500" b="1">
                <a:solidFill>
                  <a:srgbClr val="C9A227"/>
                </a:solidFill>
                <a:latin typeface="Calibri"/>
              </a:rPr>
              <a:t>●  </a:t>
            </a:r>
            <a:r>
              <a:rPr sz="1500" b="0">
                <a:solidFill>
                  <a:srgbClr val="1F2937"/>
                </a:solidFill>
                <a:latin typeface="Calibri"/>
              </a:rPr>
              <a:t>Buyurtmachi ijrochi xarajatini to‘laydi</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Xizmat shartnomasi oqibatlari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109, 109-110, 110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Ma’naviy zarar va iste’molchilar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Ma’naviy zarar — shaxsiy nomulkiy huquqlarga tajovuz natijasidagi jismoniy va ma’naviy azob.</a:t>
            </a:r>
          </a:p>
          <a:p>
            <a:pPr>
              <a:spcAft>
                <a:spcPts val="800"/>
              </a:spcAft>
            </a:pPr>
            <a:r>
              <a:rPr sz="1800">
                <a:solidFill>
                  <a:srgbClr val="1F2937"/>
                </a:solidFill>
                <a:latin typeface="Calibri"/>
              </a:rPr>
              <a:t>▸  Miqdorini sud belgilaydi, oqilonalik va adolatlilik hisobga olinadi; mulkiy zarardan mustaqil to‘lanadi.</a:t>
            </a:r>
          </a:p>
          <a:p>
            <a:pPr>
              <a:spcAft>
                <a:spcPts val="800"/>
              </a:spcAft>
            </a:pPr>
            <a:r>
              <a:rPr sz="1800">
                <a:solidFill>
                  <a:srgbClr val="1F2937"/>
                </a:solidFill>
                <a:latin typeface="Calibri"/>
              </a:rPr>
              <a:t>▸  Bemor — iste’molchi, tibbiy xodim va muassasa — ijrochi. Statsionardagi vasiyatnomani bosh vrach tasdiqlaydi.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Tushuncha</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Ma’naviy zarar</a:t>
                      </a:r>
                    </a:p>
                  </a:txBody>
                  <a:tcPr marL="73152" marR="73152" marT="36576" marB="36576">
                    <a:solidFill>
                      <a:srgbClr val="E8EEF6"/>
                    </a:solidFill>
                  </a:tcPr>
                </a:tc>
                <a:tc>
                  <a:txBody>
                    <a:bodyPr/>
                    <a:lstStyle/>
                    <a:p>
                      <a:r>
                        <a:rPr sz="1700" b="0">
                          <a:solidFill>
                            <a:srgbClr val="1F2937"/>
                          </a:solidFill>
                        </a:rPr>
                        <a:t>Jismoniy va ma’naviy azob; pul bilan</a:t>
                      </a:r>
                    </a:p>
                  </a:txBody>
                  <a:tcPr marL="73152" marR="73152" marT="36576" marB="36576">
                    <a:solidFill>
                      <a:srgbClr val="E8EEF6"/>
                    </a:solidFill>
                  </a:tcPr>
                </a:tc>
              </a:tr>
              <a:tr h="614476">
                <a:tc>
                  <a:txBody>
                    <a:bodyPr/>
                    <a:lstStyle/>
                    <a:p>
                      <a:r>
                        <a:rPr sz="1700" b="0">
                          <a:solidFill>
                            <a:srgbClr val="1F2937"/>
                          </a:solidFill>
                        </a:rPr>
                        <a:t>Iste’molchi huquqi</a:t>
                      </a:r>
                    </a:p>
                  </a:txBody>
                  <a:tcPr marL="73152" marR="73152" marT="36576" marB="36576">
                    <a:solidFill>
                      <a:srgbClr val="FFFFFF"/>
                    </a:solidFill>
                  </a:tcPr>
                </a:tc>
                <a:tc>
                  <a:txBody>
                    <a:bodyPr/>
                    <a:lstStyle/>
                    <a:p>
                      <a:r>
                        <a:rPr sz="1700" b="0">
                          <a:solidFill>
                            <a:srgbClr val="1F2937"/>
                          </a:solidFill>
                        </a:rPr>
                        <a:t>Ma’lumot, tanlov, xavfsizlik, tovon</a:t>
                      </a:r>
                    </a:p>
                  </a:txBody>
                  <a:tcPr marL="73152" marR="73152" marT="36576" marB="36576">
                    <a:solidFill>
                      <a:srgbClr val="FFFFFF"/>
                    </a:solidFill>
                  </a:tcPr>
                </a:tc>
              </a:tr>
              <a:tr h="614476">
                <a:tc>
                  <a:txBody>
                    <a:bodyPr/>
                    <a:lstStyle/>
                    <a:p>
                      <a:r>
                        <a:rPr sz="1700" b="0">
                          <a:solidFill>
                            <a:srgbClr val="1F2937"/>
                          </a:solidFill>
                        </a:rPr>
                        <a:t>Qonun 22-modda</a:t>
                      </a:r>
                    </a:p>
                  </a:txBody>
                  <a:tcPr marL="73152" marR="73152" marT="36576" marB="36576">
                    <a:solidFill>
                      <a:srgbClr val="E8EEF6"/>
                    </a:solidFill>
                  </a:tcPr>
                </a:tc>
                <a:tc>
                  <a:txBody>
                    <a:bodyPr/>
                    <a:lstStyle/>
                    <a:p>
                      <a:r>
                        <a:rPr sz="1700" b="0">
                          <a:solidFill>
                            <a:srgbClr val="1F2937"/>
                          </a:solidFill>
                        </a:rPr>
                        <a:t>Ma’naviy zarar to‘lovini sud aniqlaydi</a:t>
                      </a:r>
                    </a:p>
                  </a:txBody>
                  <a:tcPr marL="73152" marR="73152" marT="36576" marB="36576">
                    <a:solidFill>
                      <a:srgbClr val="E8EEF6"/>
                    </a:solidFill>
                  </a:tcPr>
                </a:tc>
              </a:tr>
              <a:tr h="614476">
                <a:tc>
                  <a:txBody>
                    <a:bodyPr/>
                    <a:lstStyle/>
                    <a:p>
                      <a:r>
                        <a:rPr sz="1700" b="0">
                          <a:solidFill>
                            <a:srgbClr val="1F2937"/>
                          </a:solidFill>
                        </a:rPr>
                        <a:t>FK 1126-modda</a:t>
                      </a:r>
                    </a:p>
                  </a:txBody>
                  <a:tcPr marL="73152" marR="73152" marT="36576" marB="36576">
                    <a:solidFill>
                      <a:srgbClr val="FFFFFF"/>
                    </a:solidFill>
                  </a:tcPr>
                </a:tc>
                <a:tc>
                  <a:txBody>
                    <a:bodyPr/>
                    <a:lstStyle/>
                    <a:p>
                      <a:r>
                        <a:rPr sz="1700" b="0">
                          <a:solidFill>
                            <a:srgbClr val="1F2937"/>
                          </a:solidFill>
                        </a:rPr>
                        <a:t>Vasiyatnoma: bosh vrach tasdig‘i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qoidalar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111, 112-113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Bemor vasiyatnomasi (FK 1126)</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600">
                <a:solidFill>
                  <a:srgbClr val="1F2937"/>
                </a:solidFill>
                <a:latin typeface="Calibri"/>
              </a:rPr>
              <a:t>▸  FK 1126: kasalxona, gospital va boshqa statsionarda davolanayotgan yoki qariyalar va nogironlar uyida yashayotgan fuqaro vasiyatnomalari maxsus tasdiqlanadi.</a:t>
            </a:r>
          </a:p>
          <a:p>
            <a:pPr>
              <a:spcAft>
                <a:spcPts val="800"/>
              </a:spcAft>
            </a:pPr>
            <a:r>
              <a:rPr sz="1600">
                <a:solidFill>
                  <a:srgbClr val="1F2937"/>
                </a:solidFill>
                <a:latin typeface="Calibri"/>
              </a:rPr>
              <a:t>▸  Tasdiqlovchilar: bosh vrach, davolash bo‘yicha o‘rinbosar yoki navbatchi vrach; gospital boshlig‘i; qariyalar va nogironlar uyi direktori yoki bosh vrachi.</a:t>
            </a:r>
          </a:p>
          <a:p>
            <a:pPr>
              <a:spcAft>
                <a:spcPts val="800"/>
              </a:spcAft>
            </a:pPr>
            <a:r>
              <a:rPr sz="1600">
                <a:solidFill>
                  <a:srgbClr val="1F2937"/>
                </a:solidFill>
                <a:latin typeface="Calibri"/>
              </a:rPr>
              <a:t>▸  Shunday tasdiqlangan vasiyatnoma notarial tasdiqlangan vasiyatnomaga tenglashtiriladi.</a:t>
            </a:r>
          </a:p>
          <a:p>
            <a:pPr>
              <a:spcAft>
                <a:spcPts val="800"/>
              </a:spcAft>
            </a:pPr>
            <a:r>
              <a:rPr sz="1600">
                <a:solidFill>
                  <a:srgbClr val="1F2937"/>
                </a:solidFill>
                <a:latin typeface="Calibri"/>
              </a:rPr>
              <a:t>▸  Tibbiy xodim moddiy va ma’naviy zararni qoplash bilan birga vasiyatnomalarga guvohlik berish holatlariga ham duch kelishi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statsionarda yoki qariyalar uyida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Vasiyatnoma tuziladi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Vakolatli shaxs tasdiqlaydi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Notarial tasdiqlanganga tenglashadi</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112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Ma’naviy zararni qoplash: sud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Ma’naviy zarar — shaxsiy nomulkiy huquqlarga yoki nomoddiy ne’matlarga tajovuz oqibatidagi jismoniy va ma’naviy azoblanish (FK 1021).</a:t>
            </a:r>
          </a:p>
          <a:p>
            <a:pPr>
              <a:spcAft>
                <a:spcPts val="800"/>
              </a:spcAft>
            </a:pPr>
            <a:r>
              <a:rPr sz="1600">
                <a:solidFill>
                  <a:srgbClr val="1F2937"/>
                </a:solidFill>
                <a:latin typeface="Calibri"/>
              </a:rPr>
              <a:t>▸  Miqdorni sud azob xarakteri, holat tafsilotlari, jabrlanuvchi xususiyatlari va ayb darajasiga qarab, oqilona va adolatli belgilaydi (FK 1022).</a:t>
            </a:r>
          </a:p>
          <a:p>
            <a:pPr>
              <a:spcAft>
                <a:spcPts val="800"/>
              </a:spcAft>
            </a:pPr>
            <a:r>
              <a:rPr sz="1600">
                <a:solidFill>
                  <a:srgbClr val="1F2937"/>
                </a:solidFill>
                <a:latin typeface="Calibri"/>
              </a:rPr>
              <a:t>▸  Ma’naviy zarar to‘lanishi lozim bo‘lgan mulkiy zarardan qat’i nazar qoplanadi.</a:t>
            </a:r>
          </a:p>
          <a:p>
            <a:pPr>
              <a:spcAft>
                <a:spcPts val="800"/>
              </a:spcAft>
            </a:pPr>
            <a:r>
              <a:rPr sz="1600">
                <a:solidFill>
                  <a:srgbClr val="1F2937"/>
                </a:solidFill>
                <a:latin typeface="Calibri"/>
              </a:rPr>
              <a:t>▸  Bemorga qo‘pollik, hurmatsizlik, shifokor sirini oshkor etish moddiy zarar bo‘lmasa ham ma’naviy zararni qoplashga asos bo‘lishi mumkin.</a:t>
            </a:r>
          </a:p>
        </p:txBody>
      </p:sp>
      <p:sp>
        <p:nvSpPr>
          <p:cNvPr id="9" name="Rounded Rectangle 8"/>
          <p:cNvSpPr/>
          <p:nvPr/>
        </p:nvSpPr>
        <p:spPr>
          <a:xfrm>
            <a:off x="5440680" y="1417320"/>
            <a:ext cx="2973171" cy="137769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7756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37769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Tajovuz</a:t>
            </a:r>
          </a:p>
          <a:p>
            <a:pPr algn="l">
              <a:spcAft>
                <a:spcPts val="200"/>
              </a:spcAft>
            </a:pPr>
            <a:r>
              <a:rPr sz="1400" b="0">
                <a:solidFill>
                  <a:srgbClr val="1F2937"/>
                </a:solidFill>
                <a:latin typeface="Calibri"/>
              </a:rPr>
              <a:t>Nomulkiy huquq yoki nomoddiy ne’mat</a:t>
            </a:r>
          </a:p>
        </p:txBody>
      </p:sp>
      <p:sp>
        <p:nvSpPr>
          <p:cNvPr id="12" name="Rounded Rectangle 11"/>
          <p:cNvSpPr/>
          <p:nvPr/>
        </p:nvSpPr>
        <p:spPr>
          <a:xfrm>
            <a:off x="8578443" y="1417320"/>
            <a:ext cx="2973171" cy="137769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7756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37769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Azoblanish</a:t>
            </a:r>
          </a:p>
          <a:p>
            <a:pPr algn="l">
              <a:spcAft>
                <a:spcPts val="200"/>
              </a:spcAft>
            </a:pPr>
            <a:r>
              <a:rPr sz="1400" b="0">
                <a:solidFill>
                  <a:srgbClr val="1F2937"/>
                </a:solidFill>
                <a:latin typeface="Calibri"/>
              </a:rPr>
              <a:t>Jismoniy va ma’naviy</a:t>
            </a:r>
          </a:p>
        </p:txBody>
      </p:sp>
      <p:sp>
        <p:nvSpPr>
          <p:cNvPr id="15" name="Rounded Rectangle 14"/>
          <p:cNvSpPr/>
          <p:nvPr/>
        </p:nvSpPr>
        <p:spPr>
          <a:xfrm>
            <a:off x="5440680" y="2923032"/>
            <a:ext cx="2973171" cy="137769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38328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923032"/>
            <a:ext cx="2259939" cy="137769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Sud baholaydi</a:t>
            </a:r>
          </a:p>
          <a:p>
            <a:pPr algn="l">
              <a:spcAft>
                <a:spcPts val="200"/>
              </a:spcAft>
            </a:pPr>
            <a:r>
              <a:rPr sz="1400" b="0">
                <a:solidFill>
                  <a:srgbClr val="1F2937"/>
                </a:solidFill>
                <a:latin typeface="Calibri"/>
              </a:rPr>
              <a:t>Xarakter, tafsilot, ayb darajasi</a:t>
            </a:r>
          </a:p>
        </p:txBody>
      </p:sp>
      <p:sp>
        <p:nvSpPr>
          <p:cNvPr id="18" name="Rounded Rectangle 17"/>
          <p:cNvSpPr/>
          <p:nvPr/>
        </p:nvSpPr>
        <p:spPr>
          <a:xfrm>
            <a:off x="8578443" y="2923032"/>
            <a:ext cx="2973171" cy="137769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38328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923032"/>
            <a:ext cx="2259939" cy="137769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Mezon</a:t>
            </a:r>
          </a:p>
          <a:p>
            <a:pPr algn="l">
              <a:spcAft>
                <a:spcPts val="200"/>
              </a:spcAft>
            </a:pPr>
            <a:r>
              <a:rPr sz="1400" b="0">
                <a:solidFill>
                  <a:srgbClr val="1F2937"/>
                </a:solidFill>
                <a:latin typeface="Calibri"/>
              </a:rPr>
              <a:t>Oqilonalik va adolatlilik</a:t>
            </a:r>
          </a:p>
        </p:txBody>
      </p:sp>
      <p:sp>
        <p:nvSpPr>
          <p:cNvPr id="21" name="Rounded Rectangle 20"/>
          <p:cNvSpPr/>
          <p:nvPr/>
        </p:nvSpPr>
        <p:spPr>
          <a:xfrm>
            <a:off x="5440680" y="4428744"/>
            <a:ext cx="2973171" cy="137769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8889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428744"/>
            <a:ext cx="2259939" cy="137769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To‘lov</a:t>
            </a:r>
          </a:p>
          <a:p>
            <a:pPr algn="l">
              <a:spcAft>
                <a:spcPts val="200"/>
              </a:spcAft>
            </a:pPr>
            <a:r>
              <a:rPr sz="1400" b="0">
                <a:solidFill>
                  <a:srgbClr val="1F2937"/>
                </a:solidFill>
                <a:latin typeface="Calibri"/>
              </a:rPr>
              <a:t>Pul bilan; mulkiy zarardan mustaqil</a:t>
            </a:r>
          </a:p>
        </p:txBody>
      </p:sp>
      <p:sp>
        <p:nvSpPr>
          <p:cNvPr id="24" name="TextBox 2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111, 112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bemorga zarar va qoplash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600">
                <a:solidFill>
                  <a:srgbClr val="1F2937"/>
                </a:solidFill>
                <a:latin typeface="Calibri"/>
              </a:rPr>
              <a:t>▸  Vaziyat (o‘quv misoli): bemorga yordam lozim ko‘rsatilmagan, sog‘lig‘iga zarar yetgan. U davolanish xarajatlari va ma’naviy tovonni talab qilmoqda.</a:t>
            </a:r>
          </a:p>
          <a:p>
            <a:pPr>
              <a:spcAft>
                <a:spcPts val="800"/>
              </a:spcAft>
            </a:pPr>
            <a:r>
              <a:rPr sz="1600">
                <a:solidFill>
                  <a:srgbClr val="1F2937"/>
                </a:solidFill>
                <a:latin typeface="Calibri"/>
              </a:rPr>
              <a:t>▸  Xodim xizmat vazifasida zarar yetkazgan bo‘lsa, muassasa qoplaydi. Keyin muassasa to‘langan summani xodimdan qaytarib talab qilishi mumkin (regress).</a:t>
            </a:r>
          </a:p>
          <a:p>
            <a:pPr>
              <a:spcAft>
                <a:spcPts val="800"/>
              </a:spcAft>
            </a:pPr>
            <a:r>
              <a:rPr sz="1600">
                <a:solidFill>
                  <a:srgbClr val="1F2937"/>
                </a:solidFill>
                <a:latin typeface="Calibri"/>
              </a:rPr>
              <a:t>▸  Ayb taxmin qilinadi: bemor aybni isbotlashi shart emas. Aybsizligini xodim yoki muassasa isbotlaydi, masalan hujjatlar to‘laqonligi bilan.</a:t>
            </a:r>
          </a:p>
          <a:p>
            <a:pPr>
              <a:spcAft>
                <a:spcPts val="800"/>
              </a:spcAft>
            </a:pPr>
            <a:r>
              <a:rPr sz="1600">
                <a:solidFill>
                  <a:srgbClr val="1F2937"/>
                </a:solidFill>
                <a:latin typeface="Calibri"/>
              </a:rPr>
              <a:t>▸  Ma’naviy zarar miqdorini sud azob xarakteri va ayb darajasiga qarab aniqlaydi. U mulkiy zarardan qat’iy nazar to‘lanadi.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Yordam lozim ko‘rsatilmadi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Sog‘liqqa zarar yetdi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Muassasa zararni qoplaydi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Muassasa regress talab qilishi mumkin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Ma’naviy zarar alohida to‘lanadi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Bemorga zarar va qoplash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105, 107, 104-106, 111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Intizomiy javobgarlik: hayfsan, o‘rtacha oylik ish haqining 30 foizigacha jarima yoki shartnomani bekor qilish. Jazo bir yil amal qiladi.</a:t>
            </a:r>
          </a:p>
          <a:p>
            <a:pPr>
              <a:spcAft>
                <a:spcPts val="800"/>
              </a:spcAft>
            </a:pPr>
            <a:r>
              <a:rPr sz="1600">
                <a:solidFill>
                  <a:srgbClr val="1F2937"/>
                </a:solidFill>
                <a:latin typeface="Calibri"/>
              </a:rPr>
              <a:t>▸  Ma’muriy javobgarlik: ko‘pincha jarima. 16 yoshga to‘lmaganlar javobgar emas, jazo odatda ikki oy ichida qo‘llanadi.</a:t>
            </a:r>
          </a:p>
          <a:p>
            <a:pPr>
              <a:spcAft>
                <a:spcPts val="800"/>
              </a:spcAft>
            </a:pPr>
            <a:r>
              <a:rPr sz="1600">
                <a:solidFill>
                  <a:srgbClr val="1F2937"/>
                </a:solidFill>
                <a:latin typeface="Calibri"/>
              </a:rPr>
              <a:t>▸  Fuqarolik javobgarlik — zararni qoplash. Boshqa javobgarlikka tortilish zararni qoplashdan ozod etmaydi.</a:t>
            </a:r>
          </a:p>
          <a:p>
            <a:pPr>
              <a:spcAft>
                <a:spcPts val="800"/>
              </a:spcAft>
            </a:pPr>
            <a:r>
              <a:rPr sz="1600">
                <a:solidFill>
                  <a:srgbClr val="1F2937"/>
                </a:solidFill>
                <a:latin typeface="Calibri"/>
              </a:rPr>
              <a:t>▸  Diqqat: ma’muriy jarima davlat hisobiga undiriladi, zararni qoplash esa jabrlanuvchi huquqini tiklaydi. Ular bir-birini almashtirmaydi.</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Intizomiy</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Hayfsan, jarima 30% gacha</a:t>
            </a:r>
          </a:p>
          <a:p>
            <a:pPr algn="l">
              <a:spcAft>
                <a:spcPts val="700"/>
              </a:spcAft>
            </a:pPr>
            <a:r>
              <a:rPr sz="1500" b="1">
                <a:solidFill>
                  <a:srgbClr val="C9A227"/>
                </a:solidFill>
                <a:latin typeface="Calibri"/>
              </a:rPr>
              <a:t>●  </a:t>
            </a:r>
            <a:r>
              <a:rPr sz="1500" b="0">
                <a:solidFill>
                  <a:srgbClr val="1F2937"/>
                </a:solidFill>
                <a:latin typeface="Calibri"/>
              </a:rPr>
              <a:t>Shartnomani bekor qilish</a:t>
            </a:r>
          </a:p>
          <a:p>
            <a:pPr algn="l">
              <a:spcAft>
                <a:spcPts val="700"/>
              </a:spcAft>
            </a:pPr>
            <a:r>
              <a:rPr sz="1500" b="1">
                <a:solidFill>
                  <a:srgbClr val="C9A227"/>
                </a:solidFill>
                <a:latin typeface="Calibri"/>
              </a:rPr>
              <a:t>●  </a:t>
            </a:r>
            <a:r>
              <a:rPr sz="1500" b="0">
                <a:solidFill>
                  <a:srgbClr val="1F2937"/>
                </a:solidFill>
                <a:latin typeface="Calibri"/>
              </a:rPr>
              <a:t>Jazo 1 yil amal qiladi</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Ma’muriy</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Ko‘pincha jarima</a:t>
            </a:r>
          </a:p>
          <a:p>
            <a:pPr algn="l">
              <a:spcAft>
                <a:spcPts val="700"/>
              </a:spcAft>
            </a:pPr>
            <a:r>
              <a:rPr sz="1500" b="1">
                <a:solidFill>
                  <a:srgbClr val="C9A227"/>
                </a:solidFill>
                <a:latin typeface="Calibri"/>
              </a:rPr>
              <a:t>●  </a:t>
            </a:r>
            <a:r>
              <a:rPr sz="1500" b="0">
                <a:solidFill>
                  <a:srgbClr val="1F2937"/>
                </a:solidFill>
                <a:latin typeface="Calibri"/>
              </a:rPr>
              <a:t>16 yoshdan javobgarlik</a:t>
            </a:r>
          </a:p>
          <a:p>
            <a:pPr algn="l">
              <a:spcAft>
                <a:spcPts val="700"/>
              </a:spcAft>
            </a:pPr>
            <a:r>
              <a:rPr sz="1500" b="1">
                <a:solidFill>
                  <a:srgbClr val="C9A227"/>
                </a:solidFill>
                <a:latin typeface="Calibri"/>
              </a:rPr>
              <a:t>●  </a:t>
            </a:r>
            <a:r>
              <a:rPr sz="1500" b="0">
                <a:solidFill>
                  <a:srgbClr val="1F2937"/>
                </a:solidFill>
                <a:latin typeface="Calibri"/>
              </a:rPr>
              <a:t>Jazo odatda 2 oy ichida</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Fuqarolik</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Zararni qoplash</a:t>
            </a:r>
          </a:p>
          <a:p>
            <a:pPr algn="l">
              <a:spcAft>
                <a:spcPts val="700"/>
              </a:spcAft>
            </a:pPr>
            <a:r>
              <a:rPr sz="1500" b="1">
                <a:solidFill>
                  <a:srgbClr val="C9A227"/>
                </a:solidFill>
                <a:latin typeface="Calibri"/>
              </a:rPr>
              <a:t>●  </a:t>
            </a:r>
            <a:r>
              <a:rPr sz="1500" b="0">
                <a:solidFill>
                  <a:srgbClr val="1F2937"/>
                </a:solidFill>
                <a:latin typeface="Calibri"/>
              </a:rPr>
              <a:t>Boshqa javobgarlikdan ozod etmaydi</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javobgarlikni farqlash</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90, 94-96, 104, 95, 104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Ma’muriy huquqbuzarlik jamiyat uchun xavfli deb sanalmaydi, shuning uchun jinoiy javobgarlik yuzaga kelmaydi. Ammo ahamiyati, oqibatining og‘irligi va takrorlanishiga qarab, ayrim qoidabuzarliklar (masalan, epidemiyaga qarshi kurash qoidalari) jinoyat sifatida baholanishi mumkin.</a:t>
            </a:r>
          </a:p>
          <a:p>
            <a:pPr>
              <a:spcAft>
                <a:spcPts val="1200"/>
              </a:spcAft>
            </a:pPr>
            <a:r>
              <a:rPr sz="1800">
                <a:solidFill>
                  <a:srgbClr val="1F2937"/>
                </a:solidFill>
                <a:latin typeface="Calibri"/>
              </a:rPr>
              <a:t>▸  Eslab qolish usuli (jarima chegarasi): mansabdor shaxs uchun chegara har doim yuqoriroq. Fuqaroga eng kam ish haqining 5 baravarigacha, mansabdorga 10 baravarigacha jarima solinadi. Istisno holatlarda bu 100 va 150 baravar. Mahalliy hokimiyat qarorlarida esa 3 va 5 baravar.</a:t>
            </a:r>
          </a:p>
          <a:p>
            <a:pPr>
              <a:spcAft>
                <a:spcPts val="1200"/>
              </a:spcAft>
            </a:pPr>
            <a:r>
              <a:rPr sz="1800">
                <a:solidFill>
                  <a:srgbClr val="1F2937"/>
                </a:solidFill>
                <a:latin typeface="Calibri"/>
              </a:rPr>
              <a:t>▸  Diqqat, muddatlarni adashtirmang: ma’muriy jazo huquqbuzarlik sodir etilgan (davom etayotgan bo‘lsa, aniqlangan) kundan boshlab ikki oydan kechiktirmay qo‘llanadi. Intizomiy jazo esa qilmish aniqlangandan keyin bir oy ichida qo‘llanadi va bir yil amal qiladi. Ma’muriy ≠ intizomiy.</a:t>
            </a:r>
          </a:p>
          <a:p>
            <a:pPr>
              <a:spcAft>
                <a:spcPts val="1200"/>
              </a:spcAft>
            </a:pPr>
            <a:r>
              <a:rPr sz="1800">
                <a:solidFill>
                  <a:srgbClr val="1F2937"/>
                </a:solidFill>
                <a:latin typeface="Calibri"/>
              </a:rPr>
              <a:t>▸  Hodisa tahlili: shifokor bemorni xavfdan qutqarish uchun boshqa yo‘l bo‘lmagani sababli zarar etkazdi. Ma’muriy qonunchilikda oxirgi zarurat huquqbuzarlik sanalmaydi. Fuqarolik qonunchiligida esa bu zararni qoplashdan ozod qilish uchun asos emas. Sud to‘lov majburiyatini zarar manfaati uchun etkazilgan uchinchi shaxsga yuklashi yoki ikkalasini ham qisman yoki to‘liq ozod qilishi mumkin.</a:t>
            </a:r>
          </a:p>
          <a:p>
            <a:pPr>
              <a:spcAft>
                <a:spcPts val="1200"/>
              </a:spcAft>
            </a:pPr>
            <a:r>
              <a:rPr sz="1800">
                <a:solidFill>
                  <a:srgbClr val="1F2937"/>
                </a:solidFill>
                <a:latin typeface="Calibri"/>
              </a:rPr>
              <a:t>▸  Fuqarolik huquqida ayb taxmin qilinadi: jabrlanuvchi vrachning aybini isbotlashi shart emas. Vrachning o‘zi aybsizligini isbotlaydi. Odatda tibbiy xodim aybsiz topiladigan uch holat bor: engib bo‘lmas kuch, bemorning iltimosi yoki roziligi, bemorning qo‘pol ehtiyotsizligi. Shuning uchun tibbiy hujjatlar aniq yuritilishi muhim.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Tibbiy xodimlarning ma’muriy javobgarligi.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Vrach faoliyatining huquqiy asoslari: darslik, Toshkent: Tafakkur-Bo‘stoni. 2012. 6-bob. Mehnat qonunchiligi va tibbiy xodimlar; bet 78-91; 7-bob. Tibbiy xodimlarning ma’muriy javobgarligi; bet 92-101; 8-bob. Tibbiy xodimlarning fuqarolik-huquqiy javobgarligi; bet 102-114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