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2-kurs-bioetika-11-q06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2-kurs-bioetika-11-q07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2-kurs-bioetika-11-q08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2-kurs-bioetika-11-q09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2-kurs-bioetika-11-q10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2-kurs-bioetika-11-q11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2-kurs-bioetika-11-q12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2-kurs-bioetika-11-q13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2-kurs-bioetika-11-q14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2-kurs-bioetika-11-q15 · easy-medium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2-kurs-bioetika-11-q16 · hard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2-kurs-bioetika-11-q17 ·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2-kurs-bioetika-11-q18 · hard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2-kurs-bioetika-11-q19 · hard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2-kurs-bioetika-11-q20 · hard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2-kurs-bioetika-11-q21 · hard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2-kurs-bioetika-11-q22 · hard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2-kurs-bioetika-11-q23 · hard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2-kurs-bioetika-11-q24 · hard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2-kurs-bioetika-11-q25 · hard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2-kurs-bioetika-11-q26 · hard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2-kurs-bioetika-11-q27 · hard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2-kurs-bioetika-11-q28 · hard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2-kurs-bioetika-11-q29 · hard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2-kurs-bioetika-11-q30 · hard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European Convention on Human Rights and Biomedicine (1997); physician–patient and nurse–patient relationship models; clinical risk and patient safety in healthcare (A3)</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Class quiz · 30 questions</a:t>
            </a:r>
          </a:p>
        </p:txBody>
      </p:sp>
      <p:sp>
        <p:nvSpPr>
          <p:cNvPr id="6" name="TextBox 5"/>
          <p:cNvSpPr txBox="1"/>
          <p:nvPr/>
        </p:nvSpPr>
        <p:spPr>
          <a:xfrm>
            <a:off x="640080" y="5029200"/>
            <a:ext cx="10911535" cy="457200"/>
          </a:xfrm>
          <a:prstGeom prst="rect">
            <a:avLst/>
          </a:prstGeom>
          <a:noFill/>
        </p:spPr>
        <p:txBody>
          <a:bodyPr wrap="square">
            <a:spAutoFit/>
          </a:bodyPr>
          <a:lstStyle/>
          <a:p>
            <a:r>
              <a:rPr sz="1600" b="0">
                <a:solidFill>
                  <a:srgbClr val="C9A227"/>
                </a:solidFill>
                <a:latin typeface="Calibri"/>
              </a:rPr>
              <a:t>Automatic translation — unreviewed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R. Veatch's engineering (technical) model, the patient is likened to a complex mechanism and the physician to a specialist in that technology. In which situation of medical practice is this model applied?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When performing procedures based on advanced and complex technologies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When the patient is unconscious and unable to express their will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 long-term treatment of chronic diseases, mainly in competent patients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When the parties conclude a written contract and jointly supervise the process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When performing procedures based on advanced and complex technologies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engineering model the physician relies only on objective data, so it is useful in technologically complex procedures. The sacral model is typical for unconscious patients, the collegial model for chronic diseases, and the contract model for contractual relationships.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53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When analyzing informed consent, what are called its "threshold elements"?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procedure for conveying essential information and making recommendations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Decision-making and approval of a particular plan (authorization)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patient's competence and the voluntariness of decision-making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act of understanding and the form of consent together with making recommendations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patient's competence and the voluntariness of decision-making</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For the consent process, the patient must first be competent and make the decision voluntarily, so these two are the threshold elements. Aspects related to providing information belong to the disclosure elements, while the decision and authorization belong to the consent elements.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47 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setting of clinical risk, what does the principle of "concentration of responsibility" imply?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In risky procedures, placing patient safety before any other clinical considerations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Delegating decisions on risk-related issues solely to the institution's management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Strengthening and concentrating the personal responsibility of medical staff in controlling and reducing the level of risk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Ensuring that the positive outcome of a procedure significantly outweighs the negative consequence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Strengthening and concentrating the personal responsibility of medical staff in controlling and reducing the level of risk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Because medical risk is always an action directed at a person, the personal responsibility of the staff member performing the procedure is concentrated. The first option relates to the priority principle, and the fourth to proportionality in the double effect.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73 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"root cause analysis" method used to study medical errors, why is the "five whys" technique used?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To quickly identify the staff member at fault for the error and determine punitive measures against them</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To evaluate the institution's indicators by comparing them with other medical institutions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To statistically count the number of complaints from patients and their relatives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To identify deep systemic causes by asking "why" several times about each incident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To identify deep systemic causes by asking "why" several times about each incident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Through successive "why" questions, the technique goes from the apparent cause to the systemic factors lying behind it. The aim is to prevent the shortcoming from recurring, not to punish or to compare.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79 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is the first requirement for conducting experiments on humans in the Nuremberg Code (1947)?</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That an ethics committee review and approve the research project involving human subjects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That the person's voluntary consent be obtained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That participants be compensated after the research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That the experiment have been previously tested on animals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5: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That the person's voluntary consent be obtained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Among the Code's requirements, the earliest is the voluntary consent of the subject. Ethics committee review is emphasized in the Declaration of Helsinki, compensation in the Belmont principles, and prior testing on animals in World Medical Association (WMA) documents.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144 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the United Kingdom, according to the concept of "Gillick competence," what does the capacity of a child under 16 to consent to treatment depend on?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On at least one parent being present in the hospital during the procedure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On whether the child has sufficient understanding and intelligence to comprehend the purpose, nature, consequences and risk of the procedure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Only on the child's age in the passport and capacity determined by a court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On whether the same procedure has previously been performed in the child's medical history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On whether the child has sufficient understanding and intelligence to comprehend the purpose, nature, consequences and risk of the procedure</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textbook states that capacity is determined not by a strict age limit but by the child's ability to assess the nature, consequences and risk of the procedure and to analyze medical advice. Chronological age is only one factor; the other options impose no such condition.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20 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which of R. Veatch's models are the physician and patient partners based on equality and mutual trust? This model is mainly applied in patients who are competent to a certain degree, in the treatment of chronic diseases.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Sacral (pastoral) type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Engineering (technical) type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Collegial type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Contract type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Collegial type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collegial model is based on a non-paternalistic approach and presumes equality of the parties. In the sacral and engineering models the patient has no or almost no role in decision-making. The contract model relies on the terms of the agreement between the parties.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53 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physician discusses issues with the patient as a teacher and friend and helps them choose the best option that matches the patient's values as far as possible. According to Emanuel and Emanuel (1992), which model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Paternalistic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Informative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Interpretive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Deliberative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Deliberative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deliberative model, the physician, taking the patient's values into account, helps choose the most suitable option together. In the interpretive model, the physician is an advisor who explains the purpose, risk factors and consequences of the procedure. In the informative model the physician only provides information, while in the paternalistic model the physician makes the decision alone.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54 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In which model of the nurse–patient relationship is the nurse's role limited only to technically performing prescribed procedures?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Technical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Substitute-mother nurse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Contract clinical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Collegial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Technical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technical model, the nurse only performs prescribed procedures. In the substitute-mother model, she is fully responsible for the patient's life and health. In the contract clinical model, the nurse carries out the patient's decisions. The collegial model is Veatch's physician–patient model and is not among the nurse–patient models.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55 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One of the two bases of clinical risk is the risk related to the patient's health condition before the procedure. What is this risk called?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That is, iatrogenic risk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Morbid risk</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Contextual risk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Systemic risk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Morbid risk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risk arising from the health condition before the procedure is called morbid risk. Iatrogenic risk, by contrast, is related to the performance of the procedure itself. Contextual circumstances are a concept in the four-quadrant method, while systemic errors are related to deficiencies in the organization of care delivery.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72 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What does organizational bioethics, one of the branches of modern bioethics, mainly study?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Developing international standards for conducting experiments on animals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historical formation of corporate relations among physicians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impact of organizational conditions of care delivery on quality, and the ethical problems arising from it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procedure for setting the prices of medical services through market mechanisms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The impact of organizational conditions of care delivery on quality, and the ethical problems arising from it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Organizational bioethics analyzes the systemic conditions of medical care delivery, their impact on quality, and the ethical problems related to clinical risk and safety. The other options do not fall within the subject matter of this discipline.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77 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Article 17 of the Council of Europe's 1997 Convention on Human Rights and Biomedicine sets out requirements for the protection of which persons?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Persons who are not able to consent to participation in research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Persons who are organ donors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Persons undergoing genetic testing</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Persons who gave consent and then withdrew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12: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Persons who are not able to consent to participation in research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Article 17 is devoted to the protection of persons who are unable to consent when they participate in research. Article 16, in turn, provides for the protection of research participants, their informed consent, and their right to withdraw it at any time.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147-148 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Although the patient is competent, he entrusts himself to the physician's discretion and follows the physician's instructions unconditionally. According to T. Szasz and M. Hollender (1956), which model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Activity–passivity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Guidance–cooperation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Mutual participation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Collegial model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Guidance–cooperation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guidance–cooperation model, the patient is capable of making decisions but accepts the physician's decision and follows the instructions unconditionally. In the activity–passivity model, the patient's will is not taken into account at all, while in the mutual participation model the patient is relatively independent. The collegial model belongs to Veatch's classification.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52 p.</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addition to providing information, the physician acts as a counselor and explains the purpose of the procedures, the risk factors, and the possible adverse outcomes so that the patient understands them well. According to Emanuel and Emanuel (1992), which model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Paternalistic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Informative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Deliberative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Interpretive model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14: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Interpretive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interpretive model, the physician does not merely provide information but explains its meaning as a counselor. In the informative model, the task is limited to transmitting information. In the deliberative model, the physician, as a teacher and friend, helps the patient choose the option that fits the patient's values.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54 p.</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which model of the nurse–patient relationship does the patient independently determine his own goals and interests, while the nurse carries out the decisions made, respecting the patient's rights?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Contractual clinical model</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Technical model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Surrogate mother nurse model</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Deliberative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Contractual clinical model</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contractual clinical model, the decision rests with the patient, and the nurse is the one who carries it out. In the technical model, the nurse only technically performs the prescribed procedures. In the surrogate model, the nurse is fully responsible for the patient's life and health.</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55 p.</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physician is performing a procedure with good intentions; the act is morally acceptable in its nature, and the negative effect is neither the goal nor the means. However, the expected positive outcome is small, while the expected harm is much more severe. Which requirement of the principle of double effect has been violated?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The moral acceptability of the nature of the act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The good intention of the agent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proportionality of the positive and negative effects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Distinguishing the means from the consequence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16: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The proportionality of the positive and negative effects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scenario, the nature of the act, the intention, and the distinction between the means and the consequence are preserved. What is violated is proportionality: the intended positive outcome must be considerably weightier than the negative consequence. The other three requirements are met in the scenario.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75-76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medical institution, the scope of diagnostic examinations was reduced in order to save funds, and treatment measures became irrational. According to the categories recommended by the British Medical Association, which risk is this?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Risk associated with saving funds allocated to medical services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Risk resulting from systemic errors and deficiencies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Risk arising from the nature of the clinical procedure that cannot be eliminated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Risk associated with the patient's misperception of risk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Risk associated with saving funds allocated to medical services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the scenario, the restriction of the scope of examinations and treatment is presented precisely as a consequence of saving funds. Systemic error arises from problems in how the institution's work is organized. An irreducible risk depends on the nature of the procedure itself, while the patient's perception relates to the patient's excessive expectations.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78 p.</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researcher intends to begin a new medical study involving human participants. According to the World Medical Association's Declaration of Helsinki, how should the research project be handled?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project is submitted to the ethics committee only after the study is completed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The project is approved by the principal investigator himself, and the committee does not oversee 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If the participants' consent has been obtained, committee review is not required</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The project is reviewed and approved by the ethics committee in advance, and the process is also monitored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The project is reviewed and approved by the ethics committee in advance, and the process is also monitored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Declaration, the project must be reviewed and approved by the ethics committee before the study, and the conduct of the study must be under the committee's oversight. Participant consent does not replace committee review, and approval by the researcher himself or submission afterward contradicts the requirement.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145 p.</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who was brought unconscious to the emergency department after a car accident urgently needs medical intervention. There is no legal representative, and the patient cannot express his will. Among his documents, a previously written personal statement was found, in which he clearly stated that in exactly such a situation he would not consent to such an intervention. According to the Declaration of Amsterdam, how should the physician proceed?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Because the situation is urgent, consent is presumed and the intervention is performed anyway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Consent is not presumed, because the patient previously stated that he would not consent in a similar situation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A court decision must certainly be awaited before the intervention, even if life is at risk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decision is handed over to a medical consilium and decided by majority vote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19: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B. Consent is not presumed, because the patient previously stated that he would not consent in a similar situation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Under the Declaration, if the patient cannot express his will and the intervention is urgent, consent is presumed. The exception is when the patient has previously stated that he would not consent in a similar situation. Therefore, the first option is wrong. A court decision or a consilium does not correspond to the substance of this procedure.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311 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following proposals were discussed at a biomedicine workshop. According to the provisions of the Council of Europe's Convention on Human Rights and Biomedicine, which action is permissible?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Specially creating human embryos for scientific research purposes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Intervening in a healthy child's genome to enhance his abilities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Obtaining a living donor's kidney on the condition that it is sold to the patient for payment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Removing an organ from a living donor only with the donor's consent and only for the treatment of the recipient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20: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Removing an organ from a living donor only with the donor's consent and only for the treatment of the recipient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According to the Convention, an organ may be removed from a living donor only with the donor's consent and only for the purpose of treating the recipient. Creating embryos for research is prohibited. Intervention in the genome is possible only for preventive, therapeutic, or diagnostic purposes. The human body and its parts must not be a source of financial gain.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82 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The physiology laboratory of a medical university is adapting its animal experiments to Russell and Burch's "3 Rs" principle. Which of the following changes corresponds specifically to the Refinement requirement?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Using an anesthetic to reduce pain and stress, choosing less traumatic instruments, and improving the housing conditions of the animals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Reducing the number of animals used in the experiment while ensuring that the quality of scientific data does not decline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Using computer programs and virtual models instead of animals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Resubmitting the experimental protocol for independent expert review and publishing the results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21: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Using an anesthetic to reduce pain and stress, choosing less traumatic instruments, and improving the housing conditions of the animals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Refinement means improving the experimental method and reducing the adverse effects on animals (pain, stress). The second option is Reduction, and the third is the Replacement requirement. The fourth is not part of the 3 Rs.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149 p.</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Before an elective operation, a surgeon decided not to tell the patient about a well-known risk of serious injury that has a small probability, because the likelihood is low. According to the view expressed by Lord Bingham in Chester v Afshar (2004), how is this decision assessed?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Not warning is justified because the risk is small, as a warning would needlessly frighten the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is sufficient to disclose the risk only if the patient asks about it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The surgeon must warn, because the patient has the right to be informed of a small but definite risk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 warning is required only when the probability of the risk is high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22: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The surgeon must warn, because the patient has the right to be informed of a small but definite risk</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In Bingham's view, the surgeon must warn the patient of serious risks. Exemption from this is possible only in very exceptional circumstances. In modern law, medical paternalism is not dominant. Even if the risk is small but well known, the patient has the right to be informed of it.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20 p.</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volunteer patient participating in a clinical trial of a new medicinal product developed an abnormal reaction that threatens their health. According to the law of the Republic of Uzbekistan on medicinal products, what must the head of the clinical study do?</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Continue the trial, reduce the dose, and record the situation in the final report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Suspend the trial and notify the Ministry of Health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Notify only the sponsor organization that supplied the medicinal product and wait for instructions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Wait until the end of the trial, then contact the insurance company</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Suspend the trial and notify the Ministry of Health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a volunteer patient in a trial experiences an abnormal reaction that threatens their health or life, the head must suspend the trial and notify the ministry. Continuing, notifying only the sponsor, or waiting contradicts this requirement.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82 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competent adult woman told a doctor that she is a victim of domestic violence. Other people, including children, are not at risk. The doctor thinks that reporting to the police would be in her interest, but the patient does not consent to disclosure. How should the doctor proceed?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Respects her refusal and fully explains why disclosure might be in her interest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Immediately reports to the police because violence is a serious crime</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Tells her relatives and employer so that they can protect her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Considers the duty of confidentiality absolute and does not explain the reasons to the patient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Respects her refusal and fully explains why disclosure might be in her interest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Confidentiality is a fundamental but not absolute duty. A competent patient's refusal to permit disclosure is respected, and only the reasons are explained to her. Disclosure without consent is mainly justified when others are at serious risk. There is no such risk here.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19 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the United Kingdom, while the General Medical Council (GMC) was investigating a complaint against a doctor, the Interim Orders Panel suspended the doctor's registration for 18 months. After the order takes effect, within what period at the latest must it first be reviewed?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Within 3 months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Within 12 months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Within 6 months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After the term expires, i.e. after 18 months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25: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Within 6 months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A panel order is issued for a maximum of 18 months. However, it is reviewed within 6 months of the date it was imposed, and then at intervals not exceeding 6 months. The other options incorrectly lengthen or shorten the review period.</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22 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competent patient firmly demands that the doctor prescribe a certain medication. The doctor, however, believes that this treatment will not benefit the patient at all. According to the stages of consent in Simpson's textbook, how should the doctor proceed?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Is not obliged to provide this treatment, but must explain the reasons to the patient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Because the patient is the decision-maker, must prescribe the treatment unconditionally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May refuse the treatment without giving a reason; explanation is not mandatory</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Must first obtain consent from the patient's relatives, and then provide the treatment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Is not obliged to provide this treatment, but must explain the reasons to the patient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decision belongs to the patient, but the doctor is not obliged to provide a treatment that they believe has no overall benefit. At the same time, they must explain the reasons for refusal to the patient. Therefore, both unconditional compliance and refusal without explanation are wrong.</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20 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Before an intimate breast examination, a doctor offered the patient a chaperone, and the patient declined. Which step should the doctor take so as to be able to justify their actions later?</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Forcibly summoning the patient's relative as a chaperone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Refusing to examine without a chaperone and referring the patient to another doctor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Recording nothing, since this is the patient's personal decision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Recording in the medical record that a chaperone was offered and declined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27: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Recording in the medical record that a chaperone was offered and declined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patient does not want a chaperone, the doctor should record that one was offered and declined. The record later makes it possible to justify the action. Forcibly summoning a relative or refusing the examination is not required, and leaving it unrecorded is risky.</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Payne-James J., Jones R., Karch S.B., Manlove J., Simpson's Forensic Medicine, 16 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non-emergency situation, the legal representative of a minor patient does not consent to a necessary medical intervention. The doctor, however, believes that the intervention is in the patient's best interests. According to the Declaration on the Promotion of Patients' Rights in Europe (Amsterdam Declaration), by whom should the decision be made?</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The doctor independently carries out the intervention, after warning the representative</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A court or other arbitration body decides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The head of the medical institution decides alone</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The intervention is postponed until the patient comes of age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28: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A court or other arbitration body decides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If the representative does not consent but the doctor believes the intervention is in the patient's best interests, the decision is referred to a court or other arbitration body. Acting without the representative's consent is possible only when the situation is urgent and waiting for it is not possible.</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311 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A patient requested a copy of their medical history. The document also contains information about a relative's health. According to the Amsterdam Declaration, which course of action is correct?</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A copy is provided, but information relating to third parties is not disclosed</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It is only shown, and making a copy is not permitted</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Providing the whole document is refused because it contains third-party information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All information is provided in full because the document belongs to the patient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29: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A copy is provided, but information relating to third parties is not disclosed</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The patient has the right to access materials on their diagnosis and treatment and to obtain a copy. However, information relating to a third party must not be given to them. Therefore, both complete refusal and full disclosure are incorrect.</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Muxamedova Z.M., Bioetika, 312 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Question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In a hospital, a doctor saw that a colleague's patients are repeatedly experiencing errors. The colleague is uneducated and poorly qualified, and may harm patients. According to the requirement of collegiality in medical deontology, how should the doctor proceed?</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Supporting the colleague in every situation out of professional solidarity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Making negative remarks about the colleague to the patients' relatives and taking the patient over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Hindering the activity of such a colleague and not allowing harm to come to patients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Not interfering in the colleague's treatment process and saying nothing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Answer 30: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Hindering the activity of such a colleague and not allowing harm to come to patients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Collegiality does not mean blind support. To prevent harm to patients or other staff, the activity of a colleague with poor skills should be hindered. Discrediting a colleague or taking over their patient is contrary to ethics.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Source: G‘iyosov Z.A., Indiaminov S.I., Bioetika, 58 p.</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References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European Convention on Human Rights and Biomedicine (1997); physician–patient an · Automat</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Indiaminov S.I. Bioetika (o‘quv qo‘llanma), Samarqand. 2022. V, VIII, XIV boblar (modellar, klinik xavf, Oviedo), kitob betlari 51-59; 72-80; 143-150</a:t>
            </a:r>
          </a:p>
          <a:p>
            <a:pPr>
              <a:spcAft>
                <a:spcPts val="1200"/>
              </a:spcAft>
            </a:pPr>
            <a:r>
              <a:rPr sz="1800">
                <a:solidFill>
                  <a:srgbClr val="1F2937"/>
                </a:solidFill>
                <a:latin typeface="Calibri"/>
              </a:rPr>
              <a:t>▸  Egasining manba taqdimoti (G‘iyosov Z.A., Indiaminov S.I., Bioetika, Samarqand, 2022 asosida tayyorlangan). Bioetika 3 mavzu taqdimot - manba.pptx (egasining manba taqdimoti, kitob matni EMAS), 15-28-slaydlar. 2026. Slaydlarda ko‘rsatilgan: G‘iyosov va Indiaminov 2022, 51-56 (munosabat modellari), 72-77 (klinik xavf), 147-148 (Oviedo); Council of Europe ETS 164, 5/10/16/17-moddalar</a:t>
            </a:r>
          </a:p>
          <a:p>
            <a:pPr>
              <a:spcAft>
                <a:spcPts val="1200"/>
              </a:spcAft>
            </a:pPr>
            <a:r>
              <a:rPr sz="1800">
                <a:solidFill>
                  <a:srgbClr val="1F2937"/>
                </a:solidFill>
                <a:latin typeface="Calibri"/>
              </a:rPr>
              <a:t>▸  Muxamedova Z.M. Bioetika (darslik), Toshkent. 2021. III bob (47-49); IV bob (67-69, 80-84); 3-ilova (306-313)</a:t>
            </a:r>
          </a:p>
          <a:p>
            <a:pPr>
              <a:spcAft>
                <a:spcPts val="1200"/>
              </a:spcAft>
            </a:pPr>
            <a:r>
              <a:rPr sz="1800">
                <a:solidFill>
                  <a:srgbClr val="1F2937"/>
                </a:solidFill>
                <a:latin typeface="Calibri"/>
              </a:rPr>
              <a:t>▸  Payne-James J., Jones R., Karch S.B., Manlove J. Simpson's Forensic Medicine, 13th ed.. 2011. Chapter 2. The ethics of medical practice, pp. 12–23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