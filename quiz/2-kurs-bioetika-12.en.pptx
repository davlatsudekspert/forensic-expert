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Death and the ethical aspects of dying: clinical, vegetative and brain death, WMA Declaration of Sydney, permanent vegetative state (A5)</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After brain death, some organs and tissues retain signs of viability for a certain period. According to the source, which of the following retains these signs the longest, for several hours?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Heart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Kidneys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Cornea of the eye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Cerebral cortex of the cerebral hemispheres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Cornea of the eye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source states that the heart and kidneys retain signs of viability for 15–20 minutes at most, whereas the cornea of the eye retains them for up to 6–8 hours. The cerebral cortex is the most sensitive structure, and irreversible changes begin there first. This difference is the basis for procuring tissue from a cadaver.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107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term "brain death" was initially used by French scientists to describe which condition?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Extremely deep coma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Persistent vegetative state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Period of clinical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Agonal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Extremely deep coma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source, the term was first used to describe an extremely deep coma. It later developed into the concept of accepting irreversible loss of central nervous system function as the death of a person. The other options refer to other conditions.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108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World Medical Association's Declaration of Sydney, the time of a person's death corresponds to the time of which event?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time of the initial cessation of cardiac contractions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time of the last death of individual tissue cells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time of appearance of the first livor mortis (cadaveric lividity) in the corpse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time of irreversible cessation of integrative functions, including brainstem functions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time of irreversible cessation of integrative functions, including brainstem functions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Declaration emphasizes that the integrity of the person is what matters, not the death of individual cells. Therefore, the time of death corresponds to the irreversible cessation of the integrative functions of the brain, including brainstem functions. Cardiac arrest, cell death and livor mortis are not such a criterion.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109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One of the requirements for criteria used to establish the time of death is "objectivity." According to the source, what does this requirement mean?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That applying the criterion does not require many specialists or a long time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That any appropriately qualified specialist understands and applies the criterion in the same way, and that it can be verified that it was applied correctly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That the criterion conforms to the cultural and moral norms of society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That the criterion reliably distinguishes who can be saved and who cannot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That any appropriately qualified specialist understands and applies the criterion in the same way, and that it can be verified that it was applied correctly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Objectivity means that the criterion is interpreted and applied in the same way, without differing from one specialist to another, and that its application can be verified. The other options are other requirements: practical convenience, cultural and moral conformity, and scientific validity.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109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of the following is among the clinical signs of brain death?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Absence of pupillary reaction to light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Preservation of the sleep–wake cycle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Preservation of response reactions to painful stimuli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Preservation of spontaneous breathing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Absence of pupillary reaction to light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brain death, the following are observed: complete persistent unconsciousness, absence of spontaneous breathing, muscle atony, absence of response to pain, and absence of pupillary reaction to light. Preservation of the sleep–wake cycle is characteristic of the persistent vegetative state. Preserved breathing and response to pain contradict brain death.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109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Simpson's textbook, which cells die the fastest in complete oxygen deprivation, in just 3–7 minutes?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Skin cells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Bone tissue cells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White blood cells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Cortical neurons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Cortical neurons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Cortical neurons are the most sensitive to oxygen deprivation and die within 3–7 minutes. Skin and bone cells remain metabolically active for hours, and white blood cells can retain their motility for up to 12 hours after the heart stops.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24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E. Kübler-Ross's concept, which is the second of the five stages that a dying patient goes through?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Denial stage ("No, not me")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Stage of requesting postponement ("Not now")</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Depression stage ("Yes, I am going to die")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Anger (protest) stage ("Why 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Anger (protest) stage ("Why me?")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concept, the order of the stages is: denial, anger (protest), request for postponement, depression, and acceptance. Anger (protest) is in second place. The other options are other stages in this sequence.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93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According to the guidelines of the Royal College of Physicians in the United Kingdom (2003), how long must a vegetative state last after traumatic brain injury to be considered permanent?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 months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6 months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12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24 months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12 months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vegetative state after traumatic injury is considered permanent if it lasts 12 months. For other causes, this period is 6 months. Therefore, the 6-month option is incorrect for the traumatic case.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26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Simpson's textbook, which combination of brain functions is observed in the vegetative state ("wakefulness without awareness")?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Brainstem function is preserved, cortical function is absent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Cortical function is preserved, brainstem function is absent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Both cortical and brainstem functions are fully preserved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Only spinal cord reflex functions are preserved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Brainstem function is preserved, cortical function is absent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After resuscitation, the brainstem continues to function, but cortical function is lost; therefore the patient is awake but not aware. In brain death, however, brainstem function also ceases irreversibly.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26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British code cited in Simpson's textbook, how many and what kind of doctors must perform the brainstem tests at a minimum?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One neurologist with more than 10 years of experience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 least two doctors registered for more than 2 years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least three, among whom one must be a neurologist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At least two doctors registered for more than 5 years, one of whom is a consultant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At least two doctors registered for more than 5 years, one of whom is a consultant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code requires that the testing be performed by at least two doctors. They must have been registered for more than 5 years and be competent to interpret the tests, and at least one of them must be a consultant. The numbers and experience requirements in the other options are not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25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fatwa of the Muslim Law Council of the United Kingdom, in which situation is a person considered dead from the Islamic point of view?</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Only when the heartbeat has completely stopped, and not in other situations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When reliable physicians confirm brainstem death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When the unconscious state lasts for several weeks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When breathing is supported artificially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When reliable physicians confirm brainstem death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fatwa states that the central role of the heart in life has now been replaced by the brain, especially the brainstem. Therefore, if brainstem death is confirmed, the person is considered dead. The heart-only criterion is the traditional approach and does not match the fatwa.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239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Simpson's textbook, on what principle is cadaveric organ donation carried out in the United Kingdom?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donor must have given active permission during life or not objected, and relatives must also not have objected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organ is taken according to the physician's decision, regardless of the relatives' wishes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If relatives do not object, organs may simply be taken on the basis of presumed consent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organ is taken only if the donor left a notarized written will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The donor must have given active permission during life or not objected, and relatives must also not have objected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United Kingdom uses an "opting in" system: the transplant team must be satisfied that the donor gave permission during life or at least did not object, and that the relatives are not objecting. Presumed consent ("opting out") is the opposite system.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27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Simpson's textbook, which word is key in the definition of somatic death (the death of the person as a whole)?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simultaneity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painlessness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irreversibility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suddenness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irreversibility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somatic death, the person will never again communicate with the environment. There is no communication in deep sleep, anesthesia, or temporary coma either, so it is irreversibility that defines the definition. The other options are not criteria of the definition.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25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various authors, how many patients with persistent vegetative state (PVS) are there per 100 000 population in countries around the world?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From 2 to 13</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From 20 to 30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From 50 to 60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From 100 to 120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From 2 to 13</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textbook states that the number of PVS cases is increasing and indicates that there are approximately 2–13 cases per 100 000 population. The other figures are much higher than this range, so they are wrong.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112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who knows about their terminal illness says to the doctor: "Not now, give me a little more time." Which stage of E. Kübler-Ross's concept does this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Denial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Anger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Acceptance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Bargaining (request for delay)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Bargaining (request for delay)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phrase "Not now, a little more" is given in the book precisely as an example of the bargaining (request for delay) stage. In denial the patient says "No, not me," in anger they say "Why me," and in acceptance they come to terms with the situation.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93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hospital, cardiopulmonary resuscitation was unsuccessful; asystole is visible on the electrocardiogram. According to the British code, what further condition must be met before the time of death is recorded?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Observing the electrocardiogram for at least 30 minutes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Observing the absence of central pulse and heart sounds for at least 5 minutes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Checking for spontaneous breathing with an apnea test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Performing angiography of the cerebral vessels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Observing the absence of central pulse and heart sounds for at least 5 minutes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circulation and breathing have stopped, the person confirming death palpates the central pulse and auscultates heart sounds and observes their absence for at least 5 minutes. The electrocardiogram is only additional evidence. The apnea test and angiography are methods related to brainstem death.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25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Muslim country, a corneal transplantation is being planned from a dying person. The deceased did not object during their lifetime. In which option does the composition of the team confirming death meet the permitted conditions?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Two physicians, including the surgeon who will perform the operation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Three physicians, including the surgeon who will perform the operation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One neurologist and the transplant surgeon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Three physicians, with one neuropathologist; the surgeon is not part of the team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Three physicians, with one neuropathologist; the surgeon is not part of the team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book, death is confirmed by three physicians, including one neuropathologist. The transplant surgeon must not be a member of this team, because they have an interest. The options that include the surgeon contradict this requirement.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239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physician completed Part I of the death certificate as follows: Ia – coma; Ib – subarachnoid hemorrhage; Ic – ruptured congenital aneurysm. In this system, which condition is considered the underlying cause of death and is counted in mortality statistics?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Ia – coma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Ib – subarachnoid hemorrhage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Ic – ruptured congenital aneurysm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Other diseases written in Part II of the certificate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Ic – ruptured congenital aneurysm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conditions in Part I are linked in a causal chain: each is a consequence of the one below it. The lowest condition is the initial pathological condition of the chain, and this is what is used in statistics. Coma is only the mode of dying, and Part II is for other diseases that are not directly related.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28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According to the 1993 instruction of the Russian Federation, the commission determining brain death in the intensive care unit documented its conclusion in a protocol of the prescribed form. The head of the unit is absent. Who must approve the protocol?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neurologist on the commission, alone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transplant surgeon who plans to remove an organ from the cadaver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responsible physician on duty in the intensive care unit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head of the hospital's legal department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responsible physician on duty in the intensive care unit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instruction, the protocol is approved by the head of the intensive care unit, or if they are absent, by the responsible physician on duty. The transplant surgeon is an interested party and may in no way be involved in the commission's work. The neurologist is a member of the commission but is not the one who approves the protocol. A lawyer is not mentioned in such an instruction.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110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kidney transplantation from a cadaver is planned, and the transplant team is deciding when to retrieve the organs. Which approach gives the best result?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Retrieval while circulation is maintained or immediately after it stops, and reducing the warm ischemia time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Retrieval after the body has cooled and the muscles have stiffened, so that tissues are less prone to damage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Waiting several hours after circulation stops and then retrieving, so that the cells stabilize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Waiting until signs of biological death fully appear and only then beginning retrieval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Retrieval while circulation is maintained or immediately after it stops, and reducing the warm ischemia time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best result is achieved when the organ is retrieved while circulation is present or immediately after it stops; the goal is to reduce the warm ischemia time. Waiting, or waiting for cadaveric changes, prolongs ischemia and makes the organ unsuitable.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27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patient whose brainstem function has irreversibly ceased continues to have a heartbeat while supported by artificial ventilation. How is this phenomenon explained?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Under ventilation, the control function of the brainstem is gradually restored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heart works completely independently of the brain, so respiratory support is of no importance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Ventilation restores the damaged areas of the cerebral cortex</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Ventilation breaks the chain of respiratory arrest, myocardial hypoxia and cardiac arrest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Ventilation breaks the chain of respiratory arrest, myocardial hypoxia and cardiac arrest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Previously, brainstem death led to respiratory arrest, which caused myocardial hypoxia and cardiac arrest. Artificial ventilation breaks this chain by supplying oxygen, so the heartbeat continues. The other options claim that brain function is restored, which is incorrect because the changes are irreversible.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25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patient in a deep coma with extensive maxillofacial trauma, testing brainstem reflexes is technically impossible. According to the British code, what is the next step?</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Test only a few reflexes and consider the rest as tested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Use additional investigations such as cerebral angiography, perfusion and neurophysiological studies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Assess the patient as being in a vegetative state and not consider the question of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Record death relying only on the absence of the pupillary light reaction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Use additional investigations such as cerebral angiography, perfusion and neurophysiological studies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brainstem tests cannot be performed, for example in extensive maxillofacial injuries, additional investigations (angiography, perfusion, neurophysiological methods) may be appropriate. Assuming that untested reflexes are present, or relying on a single sign, is not sufficient. A vegetative state, in turn, indicates that brainstem function is preserved.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25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pathologist found traces of leukocyte migration around an injury, while several hours had passed since cardiac arrest. Which conclusion about the forensic significance of this finding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Leukocyte migration may persist after cardiac arrest, so it does not reliably prove that the injury was inflicted during life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This finding shows that somatic death had not occurred even after the person's cardiac arrest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Leukocyte migration is observed only in a living organism, so the injury was certainly inflicted during life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Leukocyte migration indicates that the neurons of the cerebral cortex are also still alive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Leukocyte migration may persist after cardiac arrest, so it does not reliably prove that the injury was inflicted during life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White blood cells may remain motile for up to 12 hours after cardiac arrest, so the reliability of the microscopic 'vital reaction' is questionable. Cortical neurons, however, die in only 3–7 minutes without oxygen, so their condition cannot be judged from leukocytes.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24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criterion of death proposed by an expert group clearly distinguishes who can be saved, but applying it requires many specialists and a long time. Which requirement for a criterion is violated?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Scientific validity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Objectivity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Practical convenience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Compliance with the cultural and moral norms of society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Practical convenience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criterion should not require many specialists and much time, that is, it should be practically convenient. Scientific validity is preserved in the described case, since the criterion clearly distinguishes who can be saved. Nothing is said in the situation about objectivity or compliance with cultural norms.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109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terminally ill patient said in succession: “No, this is not me,” then “Why me?”, and then “Not now, I need a little more time.” Today he quietly said, “Yes, I am going to die.” According to E. Kübler-Ross's concept, which of the five stages is he in now?</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denial stage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anger stage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depression stage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acceptance stage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depression stage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concept, the order of stages is: denial, anger, bargaining (a request for delay), depression, acceptance. The statement “Yes, I am going to die” is characteristic of the fourth stage, depression. The patient has already passed through the stages of denial, anger and bargaining, while acceptance comes after 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93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an intensive care unit, a 6-year-old child is in a deep coma. The doctors intend to form a commission of experienced specialists under the 1993 Russian Federation instruction for determining brain death. According to the source, which conclusion about this plan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If the commission includes an anesthesiologist-resuscitator and a neurologist, the instruction can also be applied to children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instruction is not applied for determining brain death in children, so it cannot serve as a basis in this case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instruction is applied to children only if the commission is formed of members with more than 5 years of work experience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instruction also applies to children, but the protocol must necessarily be approved only by the head of the department personally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instruction is not applied for determining brain death in children, so it cannot serve as a basis in this case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source specifically notes that the instruction is not applied for the purpose of determining brain death in children. The rules on the composition of the commission, the experience of its members and the person approving the protocol exist for adults, but they do not allow the instruction to be applied to children.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110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patients have been in a vegetative state for 8 months. The first (Karim) entered this state after a traumatic brain injury in a car accident, the second (Bahrom) because of oxygen deprivation after cardiac arrest. According to the guidance of the Royal College of Physicians of the United Kingdom (2003), which one is assessed as being in a permanent vegetative state?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Both, because the duration has exceeded 6 months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Only Karim, because a traumatic injury is considered more severe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Neither, because permanence is determined only after 2 years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Only Bahrom, because for non-traumatic causes 6 months is sufficient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Only Bahrom, because for non-traumatic causes 6 months is sufficient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guidance, the state is assessed as permanent if it lasts 12 months after a traumatic injury and 6 months for other causes. For Karim, 8 months is still less than 12 months, while for Bahrom it exceeds 6 months. Therefore only Bahrom is considered to be in a permanent vegetative state.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26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being examined for irreversible cessation of brainstem function was disconnected from the ventilator (apnoea test). According to the British code, which of the following results confirms the absence of spontaneous breathing?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No respiratory movements, and arterial PaCO2 (partial pressure of carbon dioxide) has risen by more than 0.5 kPa above the baseline level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No respiratory movements, but arterial PaCO2 is almost unchanged compared with the baseline level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Cough and corneal reflexes are absent, but arterial blood gases were not tested at all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After disconnection from the ventilator, infrequent, weak respiratory movements appeared, and PaCO2 rose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No respiratory movements, and arterial PaCO2 (partial pressure of carbon dioxide) has risen by more than 0.5 kPa above the baseline level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apnoea test, the absence of breathing must be confirmed by arterial blood gas analysis, that is, PaCO2 must rise by more than 0.5 kPa above baseline. If PaCO2 does not change, the respiratory centre has not been sufficiently stimulated. The absence of reflexes does not replace testing of breathing. The appearance of respiratory movements contradicts brainstem death.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25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resuscitator is assessing a patient according to V.A. Negovskiy's scheme: the stages of the preagonal state, terminal pause and agony have already passed. Which is the next stage of dying that is still potentially reversible?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Preagonal state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pause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Clinical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Biological death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Clinical death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Negovskiy distinguishes five stages of dying: the preagonal state, terminal pause, agony, clinical death and biological death. After agony comes clinical death, which is considered the reversible stage of dying. The preagonal state and terminal pause come before it, while biological death is irreversible.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90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Anglika-Uelsda (England and Wales), a Registrar is considering four cases in which a death certificate is being issued. In which case is referral of the death to the coroner (the official who investigates the circumstances of deaths) mandatory?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patient died on the operating table or without fully recovering from anaesthesia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 patient with known ischaemic heart disease died at home; the doctor writing the certificate had seen him 3 days earlier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 cancer patient in a hospice died; the doctor writing the certificate had treated him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 patient admitted with pneumonia died in hospital; the attending doctor had seen the body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patient died on the operating table or without fully recovering from anaesthesia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registration rules, a death that occurs during an operation or without recovery from anaesthesia must be referred to the coroner. In the other options the death was natural, occurring against the background of a known illness. Also, the doctor writing the certificate had treated the patient and saw him within the last 14 days or after death, so referral is not required.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31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Death and the ethical aspects of dying: clinical, vegetative and brain death, WM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Indiaminov S.I. Bioetika (o‘quv qo‘llanma), Samarqand. 2022. XI bob (o‘lim, transplantatsiya), kitob betlari 105-113</a:t>
            </a:r>
          </a:p>
          <a:p>
            <a:pPr>
              <a:spcAft>
                <a:spcPts val="1200"/>
              </a:spcAft>
            </a:pPr>
            <a:r>
              <a:rPr sz="1800">
                <a:solidFill>
                  <a:srgbClr val="1F2937"/>
                </a:solidFill>
                <a:latin typeface="Calibri"/>
              </a:rPr>
              <a:t>▸  Muxamedova Z.M. Bioetika (darslik), Toshkent. 2021. V bob (88-100); X bob (188-189); XII bob (238-240)</a:t>
            </a:r>
          </a:p>
          <a:p>
            <a:pPr>
              <a:spcAft>
                <a:spcPts val="1200"/>
              </a:spcAft>
            </a:pPr>
            <a:r>
              <a:rPr sz="1800">
                <a:solidFill>
                  <a:srgbClr val="1F2937"/>
                </a:solidFill>
                <a:latin typeface="Calibri"/>
              </a:rPr>
              <a:t>▸  Payne-James J., Jones R., Karch S.B., Manlove J. Simpson's Forensic Medicine, 13th ed.. 2011. Chapter 3. The medical aspects of death, pp. 24–34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