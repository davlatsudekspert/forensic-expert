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2-kurs-bioetika-11-q01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2-kurs-bioetika-11-q02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2-kurs-bioetika-11-q03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2-kurs-bioetika-11-q04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2-kurs-bioetika-11-q05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2-kurs-bioetika-11-q06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2-kurs-bioetika-11-q07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2-kurs-bioetika-11-q08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2-kurs-bioetika-11-q09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2-kurs-bioetika-11-q10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2-kurs-bioetika-11-q11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2-kurs-bioetika-11-q12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2-kurs-bioetika-11-q13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2-kurs-bioetika-11-q14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2-kurs-bioetika-11-q15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2-kurs-bioetika-11-q16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2-kurs-bioetika-11-q17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2-kurs-bioetika-11-q18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2-kurs-bioetika-11-q19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2-kurs-bioetika-11-q20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2-kurs-bioetika-11-q21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2-kurs-bioetika-11-q22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2-kurs-bioetika-11-q23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2-kurs-bioetika-11-q24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2-kurs-bioetika-11-q25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2-kurs-bioetika-11-q26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2-kurs-bioetika-11-q27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2-kurs-bioetika-11-q28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2-kurs-bioetika-11-q29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2-kurs-bioetika-11-q30 · сложный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Европейская конвенция о правах человека и биомедицине (1997); модели отношений врач–пациент и медсестра–пациент; клинический риск и безопасность медицинской помощи (A3)</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Тест для аудитории · 30 вопросов</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Автоматический перевод — не проверен</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инженерной (технической) модели по Р. Витчу пациент уподобляется сложному механизму, а врач — специалисту по этой технике. В какой ситуации медицинской практики применяется эта модель?</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При проведении процедур, основанных на высоких и сложных технологиях</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Когда пациент без сознания и не может выразить свою волю</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В основном у компетентных пациентов при длительном лечении хронических заболеваний</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Когда стороны заключают письменный договор и совместно контролируют процесс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При проведении процедур, основанных на высоких и сложных технологиях</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инженерной модели врач опирается только на объективные данные, поэтому она подходит для технологически сложных процедур. Для пациентов без сознания характерна сакральная модель, для хронических заболеваний — коллегиальная, для договорных отношений — контрактная.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53 стр.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Что при анализе информированного согласия называют его «пороговыми элементами»?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Порядок передачи важной информации и выдача рекомендаций</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Принятие решения и утверждение определённого плана (авторизация)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Компетентность пациента и добровольность принятия решения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Акт понимания и форма согласия вместе с выдачей рекомендаций</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Компетентность пациента и добровольность принятия решения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Для процесса согласия прежде всего необходимо, чтобы пациент был компетентным и принимал решение добровольно, поэтому эти два элемента считаются пороговыми. Аспекты, связанные с предоставлением информации, относятся к элементам информирования, а решение и авторизация — к элементам согласия.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47 стр.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Что предполагает принцип «концентрации ответственности» в условиях клинического риска?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При рискованных процедурах ставить безопасность пациента выше любых других клинических соображений</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Передавать решение по вопросам, связанным с риском, только руководству учреждения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Усиливать и сосредоточивать личную ответственность медицинских работников за контроль и снижение уровня риска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Обеспечивать, чтобы положительный результат процедуры был значительно весомее негативных последствий</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Усиливать и сосредоточивать личную ответственность медицинских работников за контроль и снижение уровня риска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Поскольку медицинский риск всегда связан с действием, направленным на конкретного человека, личная ответственность сосредоточивается на работнике, выполняющем процедуру. Первый вариант относится к принципу приоритетности, четвёртый — к соразмерности при двойном эффекте.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73 стр.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Для чего в методе «анализа первопричин», применяемом при изучении медицинских ошибок, используется техника «пяти почему»?</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Чтобы быстро выявить виновного в ошибке сотрудника и назначить ему меры наказания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Чтобы оценить показатели учреждения в сравнении с другими медицинскими учреждениями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Чтобы статистически подсчитать количество жалоб пациентов и их близких</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Чтобы, многократно задавая вопрос «почему» по каждому случаю, выявить глубинные системные причины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Чтобы, многократно задавая вопрос «почему» по каждому случаю, выявить глубинные системные причины</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Техника с помощью последовательных вопросов «почему» идёт от видимой причины к системным факторам, лежащим за ней. Цель — не допустить повторения недостатка, а не наказание или сравнение.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79 стр.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Какое первое требование к проведению экспериментов на людях установлено в Нюрнбергском кодексе (1947)?</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Рассмотрение и одобрение проекта исследования с участием человека комитетом по этике</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Наличие добровольного согласия человека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Выплата компенсации участникам после исследования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Предварительная проверка эксперимента на животных</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Наличие добровольного согласия человека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Первым среди требований кодекса стоит добровольное согласие субъекта. Экспертиза комитета по этике подчёркивается в Хельсинкской декларации, компенсация — в Бельмонтских принципах, а предварительные испытания на животных — в документах ВМА.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144 стр.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От чего, согласно понятию «компетентность по Гиллику», в Великобритании зависит способность ребёнка младше 16 лет дать согласие на лечение?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От того, что во время процедуры в больнице присутствует хотя бы один из родителей</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От того, обладает ли ребёнок достаточными знаниями и разумом, чтобы понимать цель, суть, последствия и риск процедуры</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Только от возраста ребёнка по паспорту и дееспособности, определённой судом</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От того, что в истории болезни ребёнка ранее проводилась такая же процедура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От того, обладает ли ребёнок достаточными знаниями и разумом, чтобы понимать цель, суть, последствия и риск процедуры</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учебнике сказано, что дееспособность определяется не строгой возрастной границей, а способностью ребёнка оценивать суть, последствия и риск процедуры, анализировать медицинский совет. Хронологический возраст — лишь один из факторов; остальные варианты такого условия не выдвигают.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20 стр.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какой модели по Р. Витчу врач и пациент становятся партнёрами на основе равенства и взаимного доверия? Эта модель применяется в основном у пациентов, в определённой степени компетентных, при лечении хронических заболеваний.</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Модель сакрального (пасторского) типа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Модель инженерного (технического) типа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Модель коллегиального типа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Модель контрактного (договорного) типа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Модель коллегиального типа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Коллегиальная модель основана на непатерналистском подходе и предполагает равенство сторон. В сакральной и инженерной моделях роль пациента в принятии решений отсутствует или почти отсутствует. Контрактная модель опирается на условия договора между сторонами.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53 стр.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Врач обсуждает вопросы с пациентом как наставник и друг и помогает выбрать лучший вариант, максимально соответствующий ценностям пациента. Какая это модель по Эмануэлю и Эмануэлю (1992)?</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Патерналистская модель</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Информативная модель</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Интерпретационная модель</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Совещательная модель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Совещательная модель</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совещательной модели врач, учитывая ценности пациента, помогает совместно выбрать наиболее приемлемый вариант. В интерпретационной модели врач — консультант, разъясняющий цель процедуры, факторы риска и последствия. В информативной модели врач лишь предоставляет информацию, а в патерналистской — принимает решение сам.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54 стр.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В какой модели отношений медсестра–пациент задача медсестры ограничивается лишь техническим выполнением назначенных процедур?</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Техническая модель</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Модель медсестры, заменяющей мать</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Контрактная клиническая модель</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Коллегиальная модель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Техническая модель</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технической модели медсестра выполняет только назначенные процедуры. В модели, заменяющей мать, она полностью отвечает за жизнь и здоровье пациента. В контрактной клинической модели медсестра реализует решения пациента. Коллегиальная модель — это модель врач–пациент по Витчу, и в модели медсестра–пациент она не входит.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55 стр.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Одна из двух основ клинического риска — риск, связанный с состоянием здоровья пациента до процедуры. Как называется этот риск?</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То есть ятрогенный риск</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Морбидный риск</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Контекстуальный риск</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Системный риск</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Морбидный риск</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Риск, обусловленный состоянием здоровья до процедуры, называется морбидным риском. Ятрогенный риск связан с самим проведением процедуры. Контекстуальные обстоятельства — понятие из метода четырёх квадрантов, а системные ошибки связаны с недостатками в организации оказания помощи.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72 стр.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Что в основном изучает организационная биоэтика — одно из направлений современной биоэтики?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Разработку международных стандартов проведения экспериментов на животных</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Историческое формирование корпоративных отношений между врачами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Влияние организационных условий оказания помощи на качество и вытекающие из этого этические проблемы</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Порядок определения стоимости медицинских услуг через рыночные механизмы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Влияние организационных условий оказания помощи на качество и вытекающие из этого этические проблемы</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Организационная биоэтика анализирует системные условия оказания медицинской помощи, их влияние на качество, а также этические проблемы, связанные с клиническим риском и безопасностью. Остальные варианты не входят в предмет этой науки.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77 стр.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Статья 17 Конвенции Совета Европы о биомедицине и правах человека, принятой в 1997 году, устанавливает требования о защите каких лиц?</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Лиц, не способных дать согласие на участие в исследовании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Лиц, являющихся донорами органов</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Лиц, проходящих генетическое тестирование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Лиц, давших согласие, а затем отозвавших его</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Лиц, не способных дать согласие на участие в исследовании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Статья 17 посвящена защите лиц, не способных дать согласие, при их участии в исследованиях. Статья 16 же предусматривает защиту участников исследований, их осознанное согласие и право отозвать его в любое время.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147-148 стр.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Пациент, хотя и компетентен, вверяет себя воле врача и беспрекословно выполняет его указания. Какая это модель по Т. Сасу и М. Холлендеру (1956)?</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Модель «активность–пассивность»</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Модель «руководство–сотрудничество»</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Модель партнёрства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Коллегиальная модель</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Модель «руководство–сотрудничество»</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модели «руководство–сотрудничество» пациент способен принимать решения, но признаёт решение врача и беспрекословно следует его указаниям. В модели «активность–пассивность» воля пациента вообще не учитывается, а в модели партнёрства пациент относительно самостоятелен. Коллегиальная модель относится к классификации Витча.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52 стр.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Врач, наряду с предоставлением информации, выступая в роли консультанта, разъясняет цели процедур, факторы риска и возможные неблагоприятные последствия, чтобы пациент хорошо понял их. Какая это модель по Эмануэлу и Эмануэл (1992)?</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Патерналистская модель</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Информативная модель</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Совещательная модель</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Интерпретационная модель</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Интерпретационная модель</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интерпретационной модели врач не просто даёт информацию, а как консультант разъясняет её смысл. В информативной модели задача ограничивается лишь передачей информации. В совещательной модели врач как наставник и друг помогает выбрать вариант, соответствующий ценностям пациента.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54 стр.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В какой модели отношений медсестры и пациента пациент самостоятельно определяет свои цели и интересы, а медсестра осуществляет принятые решения, соблюдая его права?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Контрактная клиническая модель</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Техническая модель</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Модель медсестры, заменяющей мать</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Совещательная модель</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Контрактная клиническая модель</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контрактной клинической модели решение принадлежит пациенту, а медсестра является его исполнителем. В технической модели медсестра лишь технически выполняет назначенные процедуры. В модели, заменяющей мать, медсестра несёт полную ответственность за жизнь и здоровье пациента.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55 стр.</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Врач проводит процедуру с благим намерением, действие по сути морально допустимо, отрицательный эффект не является ни целью, ни средством. Однако ожидаемый положительный результат невелик, а ожидаемый вред значительно тяжелее. Какое требование принципа двойного эффекта нарушено?</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Моральная допустимость сути действия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Благое намерение субъекта действия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Соразмерность положительного и отрицательного эффектов</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Различение средства и следствия</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Соразмерность положительного и отрицательного эффектов</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условии сохранены суть действия, намерение и различие между средством и следствием. Нарушена соразмерность: преследуемый положительный результат должен быть значительно весомее отрицательного последствия. Остальные три требования в условии выполнены.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75-76 стр.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медицинском учреждении с целью экономии средств сократили объём диагностических обследований, а лечебные меры стали нерациональными. Какой это риск согласно направлениям, рекомендованным Британской медицинской ассоциацией?</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Риск, связанный с экономией средств, выделенных на медицинскую помощь</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Риск вследствие системных ошибок и недостатков</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Неустранимый риск, вытекающий из особенностей клинической процедуры</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Риск, связанный с неверным восприятием риска пациентом</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Риск, связанный с экономией средств, выделенных на медицинскую помощь</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условии ограничение объёма обследований и лечения указано именно как следствие экономии средств. Системная ошибка возникает из-за проблем в организации деятельности учреждения. Неустранимый риск зависит от сути процедуры, а восприятие со стороны пациента связано с его чрезмерными ожиданиями.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78 стр.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Исследователь намерен начать новое медицинское исследование с участием человека. В каком порядке, согласно Хельсинкской декларации Всемирной медицинской ассоциации, следует работать с проектом исследования?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Проект представляется в этический комитет только после завершения исследования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Проект утверждает сам руководитель исследования, комитет не осуществляет контроль</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Если получено согласие участников, рассмотрение комитетом не обязательно</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Проект предварительно рассматривается и одобряется этическим комитетом, процесс исследования также контролируется</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Проект предварительно рассматривается и одобряется этическим комитетом, процесс исследования также контролируется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Согласно Декларации, проект должен быть рассмотрен и одобрен этическим комитетом до начала исследования, а ход исследования должен находиться под контролем комитета. Согласие участников не отменяет экспертизу комитета, а самостоятельное одобрение исследователем или представление проекта впоследствии противоречит требованию.</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145 стр.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После автокатастрофы пациент в бессознательном состоянии доставлен в отделение неотложной помощи, ему требуется срочное медицинское вмешательство. Законного представителя нет, пациент не может выразить свою волю. Среди его документов найдено ранее составленное личное заявление: в нём он чётко указал, что в точно такой же ситуации не согласился бы на такое вмешательство. Как должен поступить врач согласно Амстердамской декларации?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Так как ситуация неотложная, согласие предполагается, и вмешательство всё равно проводится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Согласие не предполагается, поскольку пациент ранее заявил, что в подобной ситуации не дал бы согласия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Перед вмешательством обязательно ожидается решение суда, даже если жизнь находится под угрозой</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Решение передаётся консилиуму врачей и принимается большинством голосов</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Согласие не предполагается, поскольку пациент ранее заявил, что в подобной ситуации не дал бы согласия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Согласно Декларации, если пациент не может выразить свою волю, а вмешательство неотложно, согласие предполагается. Исключение: если пациент ранее заявил, что в подобной ситуации не дал бы согласия. Поэтому первый вариант неверен. Решение суда или консилиум не соответствуют содержанию такого порядка.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311 стр.</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На семинаре по биомедицине обсуждались следующие предложения. Какое действие допустимо согласно положениям Конвенции Совета Европы о правах человека и биомедицине?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Специальное создание эмбрионов человека в целях научного исследования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Вмешательство в геном здорового ребёнка для повышения его способностей</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Получение почки у живого донора при условии продажи её пациенту за плату</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Получение органа у живого донора только с его согласия и только для лечения реципиента</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Получение органа у живого донора только с его согласия и только для лечения реципиента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Согласно Конвенции, орган у живого донора берётся только с его согласия и только с целью лечения реципиента. Создание эмбрионов для исследований запрещено. Вмешательство в геном возможно только в профилактических, терапевтических или диагностических целях. Тело человека и его части не должны быть источником финансовой выгоды.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82 стр.</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Физиологическая лаборатория медицинского университета приводит эксперименты на животных в соответствие с правилом «3 R» Рассела и Берча. Какое из следующих изменений соответствует именно требованию Refinement (улучшение)?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Применение анестетика для уменьшения боли и стресса, выбор менее травматичных инструментов и улучшение условий содержания животных</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Уменьшение числа животных в эксперименте при условии, что качество научных данных не снижается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Использование вместо животных компьютерных программ и виртуальных моделей</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Повторное направление протокола эксперимента на независимую экспертизу и публикация результатов</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Применение анестетика для уменьшения боли и стресса, выбор менее травматичных инструментов и улучшение условий содержания животных</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Refinement означает совершенствование методики эксперимента и уменьшение негативного воздействия на животных (боль, стресс). Второй вариант соответствует требованию Reduction, третий — Replacement. Четвёртый не входит в состав 3 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149 стр.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Хирург перед плановой операцией решил не сообщать пациенту о небольшой вероятности серьёзной травмы, но хорошо известном риске, поскольку вероятность низкая. Как оценивается это решение согласно мнению лорда Бингема в деле Chester v Afshar (2004)?</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Отказ от предупреждения обоснован, поскольку риск мал, а предупреждение излишне напугает пациента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Достаточно сообщить о риске только тогда, когда пациент сам об этом спросит</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Хирург обязан предупредить, поскольку пациент имеет право знать о небольшом, но определённом риске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Предупреждение требуется только при высокой вероятности риска</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Хирург обязан предупредить, поскольку пациент имеет право знать о небольшом, но определённом риске</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 мнению Бингема, хирург обязан предупредить пациента о серьёзных рисках. Освобождение от этой обязанности возможно лишь в очень исключительных случаях. В современном праве медицинский патернализм не является преобладающим. Даже если риск мал, но хорошо известен, пациент имеет право быть об этом осведомлён.</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20 стр.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У пациента-добровольца, участвующего в клиническом испытании нового лекарственного средства, развилась необычная реакция, угрожающая его здоровью. Что обязан сделать руководитель клинического исследования согласно закону Республики Узбекистан о лекарственных средствах?</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Продолжит испытание, снизит дозу и отразит ситуацию в итоговом отчёте</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Приостановит испытание и сообщит об этом в Министерство здравоохранения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Сообщит только организации-спонсору, предоставившей лекарственное средство, и будет ждать указаний</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Дождётся окончания испытания, затем обратится в страховую организацию</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Приостановит испытание и сообщит об этом в Министерство здравоохранения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Если во время испытания у пациента-добровольца возникает необычная реакция, угрожающая его здоровью или жизни, руководитель обязан приостановить испытание и сообщить в министерство. Продолжение испытания, уведомление только спонсора или ожидание противоречат этому требованию.</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82 стр.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Компетентная взрослая женщина сообщила врачу, что является жертвой домашнего насилия. Другие люди, включая детей, не подвергаются опасности. Врач считает, что сообщение в полицию было бы в её интересах, но пациентка не даёт согласия на раскрытие информации. Как должен поступить врач?</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Уважает её отказ и полностью объясняет, почему раскрытие информации может отвечать её интересам</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Поскольку насилие является тяжким преступлением, немедленно сообщает в полицию</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Сообщает информацию её близким и работодателю, чтобы они её защитили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Считая обязанность соблюдения тайны абсолютной, не объясняет пациентке причину</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Уважает её отказ и полностью объясняет, почему раскрытие информации может отвечать её интересам</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Соблюдение тайны — основная, но не абсолютная обязанность. Отказ компетентной пациентки от раскрытия информации уважается, ей лишь разъясняются причины. Раскрытие без согласия оправдано главным образом тогда, когда другие люди подвергаются серьёзной опасности. Здесь такой опасности нет.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19 стр.</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Великобритании во время рассмотрения Генеральным медицинским советом (General Medical Council, GMC) жалобы на врача Комиссия по временным распоряжениям (Interim Orders Panel) приостановила регистрацию врача на срок 18 месяцев. В течение какого максимального срока после вступления распоряжения в силу оно должно быть впервые пересмотрено?</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в течение 3 месяцев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в течение 12 месяцев</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в течение 6 месяцев</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по истечении срока, то есть через 18 месяцев</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в течение 6 месяцев</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Распоряжение комиссии выносится максимум на 18 месяцев. Однако оно пересматривается в течение 6 месяцев со дня вынесения, а затем с интервалами не более 6 месяцев. Остальные варианты неверно удлиняют или сокращают срок пересмотра.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22 стр.</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Компетентный пациент настойчиво требует от врача назначить ему определённое лекарство. Врач же считает, что это лечение не принесёт пациенту никакой пользы. Как, согласно этапам получения согласия по учебнику Симпсона, должен поступить врач?</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Он не обязан назначать это лечение, но обязан объяснить пациенту причины</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Поскольку решение принимает пациент, врач обязан безоговорочно назначить лечение</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Он может отказать в лечении без объяснения причин, объяснение необязательно</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Он должен сначала получить согласие родственников пациента, а затем назначить лечение</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Он не обязан назначать это лечение, но обязан объяснить пациенту причины</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Решение принадлежит пациенту, однако врач не обязан назначать лечение, которое, по его мнению, не приносит общей пользы. Вместе с тем он обязан объяснить пациенту причины отказа. Поэтому ошибочны и безоговорочное выполнение, и отказ без объяснения.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20 стр.</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Перед интимным осмотром молочных желёз врач предложил пациентке сопровождающее лицо (chaperone), а пациентка отказалась. Какой шаг должен выполнить врач, чтобы впоследствии иметь возможность обосновать свои действия?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Принудительно вызвать родственника пациентки в качестве сопровождающего</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Отказаться от осмотра без сопровождающего и направить пациентку к другому врачу</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Ничего не записывать, так как это личное решение пациентки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Зафиксировать в медицинской документации, что сопровождающее лицо было предложено и пациентка отказалась</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Зафиксировать в медицинской документации, что сопровождающее лицо было предложено и пациентка отказалась</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Если пациентка не желает сопровождающего, врач должен записать, что оно было предложено и что пациентка отказалась. Запись впоследствии позволяет обосновать действия. Принудительный вызов родственника или отказ от осмотра не требуются, а оставлять без записи опасно.</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16 стр.</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нессрочной (неэкстренной) ситуации законный представитель несовершеннолетнего пациента не даёт согласия на необходимое медицинское вмешательство. Врач же считает, что вмешательство соответствует интересам пациента. Кем, согласно Декларации о политике обеспечения прав пациентов в Европе (Амстердамская декларация), должно быть принято решение?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Врач самостоятельно, предупредив представителя, проводит вмешательство</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Решение принимает суд или другая арбитражная инстанция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Руководитель лечебного учреждения единолично принимает решение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Вмешательство откладывается до достижения пациентом совершеннолетия</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Решение принимает суд или другая арбитражная инстанция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Если представитель не даёт согласия, а врач считает вмешательство соответствующим интересам пациента, решение передаётся в суд или другую арбитражную инстанцию. Действовать без согласия представителя можно лишь тогда, когда ситуация экстренная и ожидание невозможно.</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311 стр.</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Пациент запросил копию своей истории болезни. В документе есть также сведения о здоровье его родственника. Какой путь правильный согласно Амстердамской декларации?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Копия выдаётся, но сведения, относящиеся к третьему лицу, не предоставляются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Документ только показывается, снимать копию не разрешается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В выдаче всего документа отказывается, поскольку в нём есть сведения о третьем лице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Все сведения предоставляются полностью, поскольку документ принадлежит пациенту</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Копия выдаётся, но сведения, относящиеся к третьему лицу, не предоставляются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Пациент имеет право на доступ к материалам своего диагноза и лечения и на получение их копий. Сведения же, относящиеся к третьему лицу, не должны ему предоставляться. Поэтому и полный отказ, и полная выдача неверны.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Muxamedova Z.M., Bioetika, 312 стр.</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больнице один врач заметил повторяющиеся ошибки в лечении пациентов коллеги. Коллега необразован и малоквалифицирован, пациентам может быть причинён вред. Как, согласно требованию корпоративности в медицинской деонтологии, должен поступить врач?</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Поддерживать коллегу в любой ситуации из корпоративного уважения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Высказать родственникам пациента негативное мнение о коллеге и перевести пациента к себе</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Воспрепятствовать деятельности такого коллеги, не допустив причинения вреда пациенту</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Не вмешиваться в процесс лечения коллеги и ничего не говорить</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30: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Воспрепятствовать деятельности такого коллеги, не допустив причинения вреда пациенту</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Корпоративность не означает слепой поддержки. Чтобы не был причинён вред пациенту или другим сотрудникам, необходимо воспрепятствовать деятельности коллеги с низкими навыками. Дискредитация коллеги или переманивание пациента к себе противоречат этике.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Indiaminov S.I., Bioetika, 58 стр.</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Литература</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Европейская конвенция о правах человека и биомедицине (1997); модели отношений в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Indiaminov S.I. Bioetika (o‘quv qo‘llanma), Samarqand. 2022. V, VIII, XIV boblar (modellar, klinik xavf, Oviedo), kitob betlari 51-59; 72-80; 143-150</a:t>
            </a:r>
          </a:p>
          <a:p>
            <a:pPr>
              <a:spcAft>
                <a:spcPts val="1200"/>
              </a:spcAft>
            </a:pPr>
            <a:r>
              <a:rPr sz="1800">
                <a:solidFill>
                  <a:srgbClr val="1F2937"/>
                </a:solidFill>
                <a:latin typeface="Calibri"/>
              </a:rPr>
              <a:t>▸  Egasining manba taqdimoti (G‘iyosov Z.A., Indiaminov S.I., Bioetika, Samarqand, 2022 asosida tayyorlangan). Bioetika 3 mavzu taqdimot - manba.pptx (egasining manba taqdimoti, kitob matni EMAS), 15-28-slaydlar. 2026. Slaydlarda ko‘rsatilgan: G‘iyosov va Indiaminov 2022, 51-56 (munosabat modellari), 72-77 (klinik xavf), 147-148 (Oviedo); Council of Europe ETS 164, 5/10/16/17-moddalar</a:t>
            </a:r>
          </a:p>
          <a:p>
            <a:pPr>
              <a:spcAft>
                <a:spcPts val="1200"/>
              </a:spcAft>
            </a:pPr>
            <a:r>
              <a:rPr sz="1800">
                <a:solidFill>
                  <a:srgbClr val="1F2937"/>
                </a:solidFill>
                <a:latin typeface="Calibri"/>
              </a:rPr>
              <a:t>▸  Muxamedova Z.M. Bioetika (darslik), Toshkent. 2021. III bob (47-49); IV bob (67-69, 80-84); 3-ilova (306-313)</a:t>
            </a:r>
          </a:p>
          <a:p>
            <a:pPr>
              <a:spcAft>
                <a:spcPts val="1200"/>
              </a:spcAft>
            </a:pPr>
            <a:r>
              <a:rPr sz="1800">
                <a:solidFill>
                  <a:srgbClr val="1F2937"/>
                </a:solidFill>
                <a:latin typeface="Calibri"/>
              </a:rPr>
              <a:t>▸  Payne-James J., Jones R., Karch S.B., Manlove J. Simpson's Forensic Medicine, 13th ed.. 2011. Chapter 2. The ethics of medical practice, pp. 12–23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