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4-kurs-davolash-12-q01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4-kurs-davolash-12-q02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4-kurs-davolash-12-q03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4-kurs-davolash-12-q04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4-kurs-davolash-12-q05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4-kurs-davolash-12-q06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4-kurs-davolash-12-q07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4-kurs-davolash-12-q08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4-kurs-davolash-12-q09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4-kurs-davolash-12-q10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4-kurs-davolash-12-q11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4-kurs-davolash-12-q12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4-kurs-davolash-12-q13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4-kurs-davolash-12-q14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4-kurs-davolash-12-q15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4-kurs-davolash-12-q16 · hard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4-kurs-davolash-12-q17 · hard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4-kurs-davolash-12-q18 · hard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4-kurs-davolash-12-q19 · hard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4-kurs-davolash-12-q20 · hard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4-kurs-davolash-12-q21 · hard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4-kurs-davolash-12-q22 · hard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4-kurs-davolash-12-q23 · hard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4-kurs-davolash-12-q24 · hard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4-kurs-davolash-12-q25 · hard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4-kurs-davolash-12-q26 · hard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4-kurs-davolash-12-q27 · hard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4-kurs-davolash-12-q28 · hard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4-kurs-davolash-12-q29 · hard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4-kurs-davolash-12-q30 · hard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Practical session: Forensic medical examination of living persons.</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Class quiz · 30 questions</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Automatic translation — unreviewed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To be assessed as loss of vision, at what level or below must the irreversible visual acuity be in both eyes?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0,1 or lower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0,04 or lower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0,2 or lower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0,3 or lower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0,04 or lower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Permanent complete blindness in both eyes, or a decrease in visual acuity to 0,04 or lower, is considered loss of vision and is assessed as grave bodily injury. The other values do not correspond to the threshold set by the rule.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281 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As a result of trauma, hearing has been irreversibly lost in only one ear, while the other ear is healthy. What degree of severity is this injury assessed as?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Grave bodily injury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Light bodily injury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Moderately severe bodily injury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Light bodily injury causing a short-term health disorder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Moderately severe bodily injury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Deafness in both ears is required for an injury to be assessed as grave. Loss of one ear results in the loss of less than one third of general working capacity, so the injury is considered moderately severe.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282 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 victim exaggerates the symptoms of an existing disease, and also deliberately fails to follow the physician's recommendations and does not accept treatment procedures. What condition is this?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Simulation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Dissimulation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Self-mutilation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Aggravation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Aggravation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Presenting the signs of an existing disease or trauma as more severe is called aggravation; deliberate refusal of treatment also falls under this condition. In simulation there is no disease at all, in dissimulation the disease is concealed, and in self-mutilation an injury is deliberately inflicted on oneself.</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285 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When determining sexual maturity in girls, what is the minimum standing body height for assessing general physical development?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150 sm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160 sm</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140 sm</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155 sm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150 sm</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cases of sexual maturity, the standing body height is stated to be not less than 150 sm. This indicator is of relative significance and is assessed only together with the whole set of signs.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289 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According to Article 120 of the Criminal Code of the Republic of Uzbekistan, who is held criminally liable for sodomy committed without the use of violence?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Only the active participant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Both the active and the passive participant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Only the passive participant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passive participant is considered a victim and is not liable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Both the active and the passive participant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When sodomy is committed without violence, both participants are considered subjects of the crime. The passive participant is considered a victim only where violence, threats, or exploitation of helplessness are involved (Article 119).</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297 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Which of the following is included among the primary criteria in personal identification?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Clothing and personal belongings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Scars and congenital deformities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Fingerprints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Photographs and the place of discovery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Fingerprints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Primary criteria: fingerprints, DNA, dental status, and unique medical features. Deformities, scars, radiographs, personal belongings, and distinctive clothing are secondary criteria; clothing, photographs, and location have only auxiliary significance.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36 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When distinguishing tears of the hymen from natural notches, in which range on the clock-face are tears most often found?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Between 11–1 (upper segment)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Between 5–7 (lower segment)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Between 2–4 (right lateral segment)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Between 8–10 (left lateral segment)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Between 5–7 (lower segment)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Tears occur mainly in the lower segments, between 5–7 on the clock-face. Natural notches, however, can be located in any segment of the hymen. The other ranges are not typical locations for tears.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292 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How long does semen usually remain in the vagina after sexual intercourse?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up to approximately 12 hours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up to approximately 2 weeks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up to approximately 1 month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up to approximately 3–5 days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up to approximately 3–5 days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Semen usually remains in the vagina for up to 3–5 days, so the sooner the laboratory sample is taken, the more reliable the result. The other time periods do not correspond to the retention period given in the textbook.</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292 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Which article of the Criminal Code of the Republic of Uzbekistan provides for liability for committing depraved (lewd) acts against persons under sixteen years of age?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Article 129</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Article 118</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Article 119</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Article 120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Article 129</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Liability for depraved acts is established in Article 129 of the Code. Article 118 regulates rape, Article 119 regulates satisfaction of sexual desire in an unnatural manner, and Article 120 regulates sodomy.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298 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artificial change appears when poorly absorbable substances such as paraffin or vaseline are injected under the skin with a syringe?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Artificial dermatitis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Artificial abscess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Artificial tumor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Artificial swelling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Artificial tumor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Relatively harmless, non-absorbable substances form an artificial tumor under the skin. Dermatitis results from mechanical, chemical, or thermal action, an abscess from infection or injection of chemical substances, and swelling from tight binding of a limb or repeated blows.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286 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Which of the following actions corresponds to the concept of "torment" (deprivation) as a distinct method of inflicting bodily injury?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Repeatedly striking the body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Burning the body with hot objects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Repeatedly piercing the body with a needle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Depriving a person of food and warmth for a prolonged period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Depriving a person of food and warmth for a prolonged period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Torment (deprivation) is depriving a person of necessary conditions (food, water, air, warmth, light). Burning and needle piercing fall under torture by inflicting pain, while repeated striking falls under beating.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365 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the approximate potassium permanganate (Rapoport) test for alcohol, what is observed if the exhaled air of the person being tested contains alcohol?</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solution turns green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solution remains reddish and unchanged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solution becomes colorless within one minute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yellow precipitate forms in the solution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The solution becomes colorless within one minute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presence of sulfuric acid, alcohol is oxidized, potassium permanganate is reduced, and the solution becomes colorless within the first minute. A change to green is characteristic of the potassium dichromate test. The reddish color is retained in the control tube, i.e., in the absence of alcohol.</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407–408 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At what age do the first molars (large chewing teeth) usually erupt among the permanent teeth?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At 7 years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At 8–8.5 years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At 5–6 years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At 12–13 years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At 5–6 years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first permanent molars erupt at 5–6 years. Age 7 corresponds to the central incisors, 8–8.5 years to the lateral incisors, and 12–13 years to the second molars.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404 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When comparing antemortem and postmortem radiographs of the skull, which feature allows reliable identification of a person because it is unique to each individual?</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contour of the frontal sinus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overall dimensions of the skull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degree of fusion of the cranial sutures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size of the angle of the mandible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The contour of the frontal sinus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According to the source, the contour of the frontal sinus is not identical in any two people, so comparison is reliable. Overall dimensions and the mandibular angle are similar in many people, while suture fusion is mainly used for age estimation.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38 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Before taking a blood sample from a finger for quantitative determination of alcohol, with what agent is the skin wiped?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Cotton moistened with ethyl alcohol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Alcoholic solution of iodine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Gauze moistened with gasoline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Mercuric chloride solution in a 1:1000 ratio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Mercuric chloride solution in a 1:1000 ratio</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skin should be wiped with a mercuric chloride solution. Alcohol, alcoholic iodine solution, and gasoline may adversely affect the result of the determination, so they are not used.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411 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disputed paternity examination, the mother's blood group was found to be O (I), the child's A (II), and the alleged father's O (I). What will the expert's conclusion be?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Paternity cannot be excluded, because the recessive O gene can give the child the A antigen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child cannot be from this father, because the A antigen is absent in both parents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Paternity is conclusively confirmed, because the father's and mother's blood groups are the same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No conclusion can be given, because group antigens change during childhood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The child cannot be from this father, because the A antigen is absent in both parents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If the child has the A antigen, at least one parent must have it. Since both parents are group O, the A antigen cannot be passed to the child, so paternity is excluded. Blood group antigens do not change qualitatively throughout life.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396 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Only one spermatozoon was found when a man's seminal fluid was examined. From a forensic medicine standpoint, what conclusion can the expert draw?</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Concludes that the person is unable to fertilize due to azoospermia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person is deemed infertile due to necrospermia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Finding one spermatozoon is not grounds to say that the person is unable to fertilize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Concludes that the person is unable to have sexual intercourse due to impotence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Finding one spermatozoon is not grounds to say that the person is unable to fertilize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Azoospermia means the complete absence of spermatozoa, whereas here a spermatozoon was found. Even if there is a single spermatozoon, there is no basis to say that the ability to fertilize is absent. Impotence relates to the ability to have sexual intercourse and is not determined from seminal fluid analysis.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381 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The court asked the expert to determine whether a living person is exactly 20 or 21 years old. What is the expert's correct approach?</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To state that this cannot be determined precisely and indicate the probable age range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To rely on X-ray and dental data and establish the age definitively with one-year accuracy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 case of doubt, to adopt the lower age and narrow the age range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 name the most probable age based only on the results of external examination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18: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To state that this cannot be determined precisely and indicate the probable age range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An age estimate of 20 years covers 364 days from the birthday and is only one day away from an estimate of 21 years. Therefore, these two ages cannot be reliably distinguished. In case of doubt, the range is widened, not narrowed.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39 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closed femoral fracture was found in a victim. Treatment was uncomplicated, the health disorder lasted 40 days, and work capacity was partially restored. According to the specific clause of the rules for forensic medical determination of the severity of bodily injuries, how is this injury assessed?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Moderate, because the health disorder lasted more than twenty-one days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Mild, resulting in a short-term health disorder, because there is no sign of danger to life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Severe, because such a fracture leads to loss of more than one third of work capacity, regardless of its actual outcome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Moderate, because severity is determined only by the days on the sick-leave certificate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Severe, because such a fracture leads to loss of more than one third of work capacity, regardless of its actual outcome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rules contain a list of injuries leading to loss of more than one third of general work capacity, which includes open or closed fracture of the femur. Such an injury is considered severe regardless of its actual outcome and of whether medical care was provided. Options based on the number of days do not take this clause into account.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280 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Two bodily injuries were inflicted on one person on two different dates, in different incidents. How does the expert determine the severity?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severity is determined separately for each injury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single overall grade is assigned for the totality of both injuries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grade corresponding to the more severe of the two is applied to the whole case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days of health disorder from both injuries are added together and assessed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20: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The severity is determined separately for each injury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single overall assessment is given only for injuries inflicted at the same time, in the same incident, and which aggravated each other's course. When injuries are inflicted at different times, each of them is assessed separately. The other options violate this rule.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283 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 physician suspects that a healthy person may be simulating (malingering), but the diagnosis has not yet been established. Which tactic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Immediately start a full course of treatment to test the suspicion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Tell the examinee the suspicion openly and urge them to confess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Conduct all examinations once, after agreeing on them in advance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Do not prescribe treatment until the diagnosis is established, because treatment indirectly confirms the disease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21: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Do not prescribe treatment until the diagnosis is established, because treatment indirectly confirms the disease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Prescribed treatment measures indirectly confirm that the disease exists, so no treatment is prescribed until the diagnosis is clear. To detect simulation, the person is observed over a prolonged period, and it is preferable to perform some examinations without warning, suddenly and repeatedly. The remaining options contradict these principles.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285 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During an expert examination, a girl states that she has had sexual intercourse, but no signs of defloration were found on the hymen. In which hymen structure can sexual intercourse occur without defloration?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thick, dense, fleshy hymen of great height without natural notches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An elastic, distensible hymen of low height with many natural notches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thin, dense hymen of great height with a very narrow opening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thick hymen with low distensibility and a single deep notch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22: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An elastic, distensible hymen of low height with many natural notches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some cases, sexual intercourse does not result in defloration; this is typical mainly of hymens that are elastic, distensible, low in height and have many natural notches. Thick, dense or high hymens do not stretch and are more likely to tear.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291 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man suspected of being a passive participant in pederasty has changes in the anal region, but he has suffered from chronic hemorrhoids and proctitis. How should the expert proceed?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Accept the changes as proof of regular passive sexual intercourse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Pay attention to these diseases during the interview and, if necessary, obtain a proctologist's consultation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Stop the examination and return the case without giving any conclusion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Disregard the diseases and make an assessment based solely on the color of the mucous membrane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Pay attention to these diseases during the interview and, if necessary, obtain a proctologist's consultation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Constipation, diarrhea, proctitis, paraproctitis, hemorrhoids or traces of previous surgery may be wrongly interpreted as signs of habitual passive pederasty. Therefore, attention is paid to these issues during the interview, and if necessary a proctologist's consultation is obtained.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298 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Within a criminal case, an age assessment of a living adolescent by skeletal examination is planned. Which statement about this method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It cannot be done visually and relies on technology; because of the radiation risk, it is carried out with informed consent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It can be fully replaced by external examination, so consent is not required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It relies only on intraoral examination and does not require ionizing radiation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It gives the exact calendar age, so comparison with other methods is not necessary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It cannot be done visually and relies on technology; because of the radiation risk, it is carried out with informed consent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Skeletal assessment cannot be performed by eye; it relies on technology. Most of these technologies carry a risk of ionizing radiation, so they are used only with informed consent. The more methods are applied, the closer the result is to the true age.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40 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living person's blood, the child has haptoglobin type 1 (genotype 1-1), and the alleged father has haptoglobin type 2 (genotype 2-2). How is this interpreted in a disputed paternity examination?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Paternity is excluded: the child cannot have the 2 gene, and the father and child are opposite homozygotes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Paternity is confirmed, because both haptoglobin genes are passed from father to child at once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Paternity is not excluded, because the child's genotype is determined only by the mother's gene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question cannot be resolved, because in such a case a silent allele always prevents the exclusion of paternity</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Paternity is excluded: the child cannot have the 2 gene, and the father and child are opposite homozygotes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true father necessarily passes one gene to his child. If the father is a 2-2 homozygote, the child must have a 2 gene, but the child is 1-1. The possibility of a silent allele is considered only in non-homozygous cases, and here it does not apply.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399 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victim has a systolic blood pressure of 60 mm Hg, an Allgöwer shock index above 1.2, a blood loss of approximately 1.8 L, and consciousness at the stupor (sopor) level. Which grade of traumatic shock corresponds to this?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Grade 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Grade III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Grade II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Grade IV (terminal state)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Grade III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grade III, systolic pressure is 50–70 mm Hg, the index is above 1.2, blood loss is 1.5–2 L, and consciousness is at the stupor (sopor) level. In grades I and II, consciousness is preserved, the index is lower, and blood loss is smaller. Grade IV is a terminal state, with systolic pressure even below 50.</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Ромодановский П.О., Баринов Е.Х., Судебная медицина в схемах и рисунках: учебное пособие, 413 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person drank 200 ml of 40% vodka at 20:00. Until approximately what time is the approximate (indicator tube) test for alcohol in exhaled air expected to give a positive result?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Until 21:00–21:30</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Until 23:00–23:30</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Until 02:00–02:30</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Until 05:00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Until 02:00–02:30</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According to the textbook, after drinking 200 ml of 40% vodka, alcohol can be detected in exhaled air for approximately 6–6.5 hours. Adding 6–6.5 hours to 20:00 gives 02:00–02:30. The other options correspond to doses of 50 ml, 100 ml and 250 ml.</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Iskandarov A.I., Qo‘ldoshev D.R., Sud tibbiyoti, 409 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rectal prolapse was detected in a serviceman; there are injuries on the rectal mucosa and in the anal region, and he cannot explain the circumstances of the incident. Which hypothesis will the expert consider first?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True rectal prolapse, with the injuries as its secondary consequence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Aggravation, i.e., exaggeration of the signs of an existing disease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Dissimulation, i.e., an attempt to conceal an existing disease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Rectal prolapse artificially induced by a mechanical method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Rectal prolapse artificially induced by a mechanical method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artificial prolapse, a pouch with a strap containing a swelling substance is inserted into the rectum and pulled. Unlike in true prolapse, injuries remain on the mucous membrane and around the anus. This is a sign specific to an artificially induced (factitious) condition; the other options do not explain this finding.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287 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An expert must perform a forensic medical examination of a patient being treated in a hospital. Which procedure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examination is conducted in any condition with the permission of the head of the institution, and only the expert takes part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examination is conducted only in the presence of the person who ordered the expert examination, and no medical staff take part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examination is conducted regardless of the patient's condition, and the result is recorded only in the expert's document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examination is conducted only if the patient's health permits, in the presence of the person who ordered it or their representative and the head of the department (attending physician), and is recorded in the medical history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29: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The examination is conducted only if the patient's health permits, in the presence of the person who ordered it or their representative and the head of the department (attending physician), and is recorded in the medical history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examination is possible primarily when the patient's health allows it. It is attended by the person who ordered the expert examination or their representative, and by a staff member of the medical institution. The fact that the examination was performed is recorded in the medical history. The other options violate these conditions.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Sud tibbiyoti: darslik, 301 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3-year-old child, 'glove'-shaped burns on both hands were found, with smooth borders sharply demarcated from healthy skin and relatively uniform depth. For which situation are these signs more characteristic?</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drop-and-splash burn formed when boiling liquid accidentally splashed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A burn resulting from a child left without parental supervision accidentally touching a hot vessel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A burn resulting from abuse, with the hands immersed in boiling liquid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Thermal dermatitis from prolonged exposure to sunlight or a heat source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A burn resulting from abuse, with the hands immersed in boiling liquid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burns resulting from abuse, the edge is smooth, sharply demarcated according to the level of immersion (glove or sock shape), and the depth is relatively uniform. In accidental burns, drop-shaped foci with blurred borders, uneven depth and shallow extent are found. The fact of abuse is established by the investigation and the court, while the expert assesses the nature of the injury.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Ромодановский П.О., Баринов Е.Х., Судебная медицина в схемах и рисунках: учебное пособие, 427 p.</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References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Practical session: Forensic medical examination of living persons. · Automatic translation</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12. Tirik shaxslar sud-tibbiy ekspertizasi</a:t>
            </a:r>
          </a:p>
          <a:p>
            <a:pPr>
              <a:spcAft>
                <a:spcPts val="1200"/>
              </a:spcAft>
            </a:pPr>
            <a:r>
              <a:rPr sz="1800">
                <a:solidFill>
                  <a:srgbClr val="1F2937"/>
                </a:solidFill>
                <a:latin typeface="Calibri"/>
              </a:rPr>
              <a:t>▸  Payne-James J., Jones R., Karch S.B., Manlove J. Simpson's Forensic Medicine, 13th ed.. 2011. Chapter 4. Identification of the living and the dead, pp. 35–41</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6-modul. Jabrlanuvchilar va boshqa shaxslar ekspertizasi (og‘irlik, jinsiy holat, yosh); bet 408-459</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VIII-IX bo‘limlar (19-23-boblar). Tirik shaxslar, jinsiy holatlar, identifikatsiya; bet 154-191</a:t>
            </a:r>
          </a:p>
          <a:p>
            <a:pPr>
              <a:spcAft>
                <a:spcPts val="1200"/>
              </a:spcAft>
            </a:pPr>
            <a:r>
              <a:rPr sz="1800">
                <a:solidFill>
                  <a:srgbClr val="1F2937"/>
                </a:solidFill>
                <a:latin typeface="Calibri"/>
              </a:rPr>
              <a:t>▸  Iskandarov A.I., Qo‘ldoshev D.R. Sud tibbiyoti (tibbiyot instituti talabalari uchun), Toshkent (egasi taqdim etgan; yopiq foydalanish). . XIV-bob. Tirik shaxslar ekspertizasi; bet 351-413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