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4-kurs-pediatriya-08-q01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4-kurs-pediatriya-08-q02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4-kurs-pediatriya-08-q03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4-kurs-pediatriya-08-q04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4-kurs-pediatriya-08-q05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4-kurs-pediatriya-08-q06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4-kurs-pediatriya-08-q07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4-kurs-pediatriya-08-q08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4-kurs-pediatriya-08-q09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4-kurs-pediatriya-08-q10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4-kurs-pediatriya-08-q11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4-kurs-pediatriya-08-q12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4-kurs-pediatriya-08-q13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4-kurs-pediatriya-08-q14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4-kurs-pediatriya-08-q15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4-kurs-pediatriya-08-q16 · hard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4-kurs-pediatriya-08-q17 · hard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4-kurs-pediatriya-08-q18 · hard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4-kurs-pediatriya-08-q19 · hard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4-kurs-pediatriya-08-q20 · hard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4-kurs-pediatriya-08-q21 · hard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4-kurs-pediatriya-08-q22 · hard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4-kurs-pediatriya-08-q23 · hard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4-kurs-pediatriya-08-q24 · hard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4-kurs-pediatriya-08-q25 · hard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4-kurs-pediatriya-08-q26 · hard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4-kurs-pediatriya-08-q27 · hard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4-kurs-pediatriya-08-q28 · hard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4-kurs-pediatriya-08-q29 · hard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4-kurs-pediatriya-08-q30 · hard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911535" cy="2560320"/>
          </a:xfrm>
          <a:prstGeom prst="rect">
            <a:avLst/>
          </a:prstGeom>
          <a:noFill/>
        </p:spPr>
        <p:txBody>
          <a:bodyPr wrap="square" anchor="b">
            <a:spAutoFit/>
          </a:bodyPr>
          <a:lstStyle/>
          <a:p>
            <a:r>
              <a:rPr sz="3800" b="1">
                <a:solidFill>
                  <a:srgbClr val="FFFFFF"/>
                </a:solidFill>
                <a:latin typeface="Georgia"/>
              </a:rPr>
              <a:t>Practical session: Forensic medical examination of newborn corpses. Infanticide. Questions resolved by the expert examination. Newborn status, maturity, viability, live birth, signs</a:t>
            </a:r>
          </a:p>
        </p:txBody>
      </p:sp>
      <p:sp>
        <p:nvSpPr>
          <p:cNvPr id="5" name="TextBox 4"/>
          <p:cNvSpPr txBox="1"/>
          <p:nvPr/>
        </p:nvSpPr>
        <p:spPr>
          <a:xfrm>
            <a:off x="640080" y="4343400"/>
            <a:ext cx="10911535" cy="548640"/>
          </a:xfrm>
          <a:prstGeom prst="rect">
            <a:avLst/>
          </a:prstGeom>
          <a:noFill/>
        </p:spPr>
        <p:txBody>
          <a:bodyPr wrap="square">
            <a:spAutoFit/>
          </a:bodyPr>
          <a:lstStyle/>
          <a:p>
            <a:r>
              <a:rPr sz="2200" b="0">
                <a:solidFill>
                  <a:srgbClr val="C9A227"/>
                </a:solidFill>
                <a:latin typeface="Calibri"/>
              </a:rPr>
              <a:t>Class quiz · 30 questions</a:t>
            </a:r>
          </a:p>
        </p:txBody>
      </p:sp>
      <p:sp>
        <p:nvSpPr>
          <p:cNvPr id="6" name="TextBox 5"/>
          <p:cNvSpPr txBox="1"/>
          <p:nvPr/>
        </p:nvSpPr>
        <p:spPr>
          <a:xfrm>
            <a:off x="640080" y="5029200"/>
            <a:ext cx="10911535" cy="457200"/>
          </a:xfrm>
          <a:prstGeom prst="rect">
            <a:avLst/>
          </a:prstGeom>
          <a:noFill/>
        </p:spPr>
        <p:txBody>
          <a:bodyPr wrap="square">
            <a:spAutoFit/>
          </a:bodyPr>
          <a:lstStyle/>
          <a:p>
            <a:r>
              <a:rPr sz="1600" b="0">
                <a:solidFill>
                  <a:srgbClr val="C9A227"/>
                </a:solidFill>
                <a:latin typeface="Calibri"/>
              </a:rPr>
              <a:t>Automatic translation — unreviewed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newborn corpses. Infanticide.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Lanugo hairs were found in the meconium of a newborn's corpse (Shibkov–Markovin sign). This sign indicates that the swallowing reflex had developed in the fetus. In which month of gestation does the swallowing reflex appear?</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In the VI month of gestation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In the VII month of gestation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In the VIII month of gestation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In the IX month of gestation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newborn corpses. Infanticide.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In the VIII month of gestation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swallowing reflex appears in the VIII month of gestation. After that, the fetus swallows amniotic fluid containing lanugo hairs, and the hairs enter the meconium. Other months do not correspond to the time of appearance of the reflex.</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263 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newborn corpses. Infanticide.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Ossification centers are being examined to determine gestational age. In which month of gestation does the ossification center form in the calcaneus?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In the V month of gestation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In the VII month of gestation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In the IX month of gestation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In the X month of gestation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newborn corpses. Infanticide.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In the V month of gestation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center in the calcaneus forms in the V month of gestation and has a diameter of 0,8–1,1 cm. The VII month is characteristic of the talus, and the IX month of the Beclard nucleus in the distal femoral epiphysis. The X month is not the time of appearance of these ossification centers.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263 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newborn corpses. Infanticide.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Hyaline membranes were found on the inner surface of the alveoli in the lungs of a live-born premature newborn. For these membranes to form, how long must the infant have lived outside the mother's body at minimum?</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At least 3 hours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At least 24 hours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At least 5–6 hours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At least 1–2 hours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3: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newborn corpses. Infanticide.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At least 1–2 hours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Hyaline membranes appear after the infant has lived for at least 1–2 hours. 5–6 hours are required for the development of secondary atelectasis of the lung. 3 hours refers to the situation where air is present only in the stomach. 24 hours is the time for formation of the demarcation ring at the umbilicus.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264 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newborn corpses. Infanticide.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By when does the reactive inflammation (demarcation ring) form at the base of the umbilical cord in a live-born infant?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In the first few minutes after birth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By the end of the first day</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On days 5–7 after birth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On days 2–3 of life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4: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newborn corpses. Infanticide.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By the end of the first day</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demarcation ring forms by the end of the first day, that is, at the end of the newborn period. On days 5–7 the umbilical cord stump separates along this line. On days 2–3 the birth swelling (caput succedaneum) is resorbed.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263 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newborn corpses. Infanticide.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According to World Health Organization (WHO) recommendations, delivery in which weeks of pregnancy is considered term delivery?</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28–36 weeks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34–40 weeks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40–46 weeks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37–42 weeks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5: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newborn corpses. Infanticide.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37–42 weeks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According to WHO, term delivery corresponds to 37–42 weeks of pregnancy. Infants born within this period are considered mature (full-term). Other intervals represent premature or post-term delivery.</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261 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newborn corpses. Infanticide.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Fractures of the cranial vault bones were found in a newborn's corpse. Which sign indicates that the fracture resulted from birth trauma, as opposed to postnatal injury?</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No wounds are formed in the external soft tissues of the head</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Wounds and scars are present on the skin of the head</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Only the mandible and facial bones are injured</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Abrasions are found in the neck region together with external wounds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6: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newborn corpses. Infanticide.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No wounds are formed in the external soft tissues of the head</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birth trauma, bones may be fractured, but external injuries, including wounds, do not form. In postnatal injuries, wounds may be present. In birth trauma, the parietal and frontal bones are most often injured, not the facial bones.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265 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newborn corpses. Infanticide.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The length of the fetal body is 30 cm. Using the Balthazard–Dervieu index (5,6), how many days is the gestational age?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168 days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150 days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196 days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210 days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7: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newborn corpses. Infanticide.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168 days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the Balthazard–Dervieu method, the body length is multiplied by 5,6: 30 × 5,6 = 168 days (approximately 6 months of gestation). The other options do not correspond to the result of this multiplication.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262 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newborn corpses. Infanticide.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The placenta and umbilical cord were submitted together with a fetal corpse: umbilical cord length 46 cm, placental weight 410 g. According to the table, which month of gestation do these values correspond to?</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VII month of gestation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VIII month of gestation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IX month of gestation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X month of gestation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8: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newborn corpses. Infanticide.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VIII month of gestation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the table, an umbilical cord length of 46 cm and a placental weight of 410 g correspond to the VIII month of gestation. In the VII month these values are smaller (42 cm, 340 g), and in the IX and X months they are larger.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262 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newborn corpses. Infanticide.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Why is the use of the gastrointestinal (stomach-bowel) test for determining live birth not recommended in a newborn's corpse with putrefactive gases?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The test always gives a false negative result in a putrefied corpse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The gastrointestinal tract cannot be removed en bloc from a putrefied corpse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Because of putrefactive gases, the test may give a false positive result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Putrefactive gases completely absorb the air in the intestines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newborn corpses. Infanticide.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Because of putrefactive gases, the test may give a false positive result</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Putrefactive gases make the stomach and intestines float in water, so a positive result may occur even if breathing did not take place. The other options do not reflect the true limitation of the test.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260 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newborn corpses. Infanticide.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The radiological test is not currently used in forensic medical examination practice. What is its main diagnostic drawback?</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It allows examination of the lung lobes only separately</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It causes loss of part of the air in a lung that has breathed</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It can be performed only after the corpse has been fully opened</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It cannot distinguish a lung that has breathed from artificial ventilation and putrefactive gases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10: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newborn corpses. Infanticide.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It cannot distinguish a lung that has breathed from artificial ventilation and putrefactive gases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On an X-ray, air in the lungs, stomach, and intestines is visible, but its source (own breathing, artificial ventilation, or putrefactive gases) cannot be distinguished. The test is performed before opening the corpse, so the other options are incorrect.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260 p.</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newborn corpses. Infanticide.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The lungs of a newborn who has not breathed weigh 55–60 g. After breathing begins and pulmonary circulation is established, approximately how much will their weight be?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70–75 g</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85–90 g</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100–110 g</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120–130 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newborn corpses. Infanticide.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85–90 g</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With the onset of breathing, pulmonary circulation begins and the weight increases to 85–90 g. The other ranges do not correspond to the value given in the source.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260 p.</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newborn corpses. Infanticide.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a mature fetus, the lumen of the large intestine is wide and filled with meconium. In intrauterine asphyxia, if meconium is completely or partially expelled from the intestine, how does the lumen of the large intestine change?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The lumen widens further and the wall becomes markedly thinner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The lumen does not change; only the color of the meconium changes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The lumen narrows considerably</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The lumen fills with air and the intestine becomes distended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12: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newborn corpses. Infanticide.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The lumen narrows considerably</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intrauterine asphyxia, meconium is expelled from the intestine and the lumen of the large intestine narrows. Together with abundant meconium in the amniotic fluid, this sign confirms asphyxia.</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265 p.</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newborn corpses. Infanticide.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On microscopic examination of the lungs of a newborn's corpse, the alveoli are unexpanded, the interalveolar septa are thick, and there is no blood in the capillaries. What shape is the alveolar epithelium in such a lung?</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Flat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Cuboidal</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Columnar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Stratified squamous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13: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newborn corpses. Infanticide.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Cuboidal</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the lungs of an infant that has not breathed (stillborn), the alveoli are unexpanded and the epithelium remains cuboidal. In a lung that has breathed, because the alveoli are expanded, the epithelium flattens, the septa become thinner, and the capillaries fill with blood. The other options are not characteristic of a lung that has not breathed.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261 p.</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newborn corpses. Infanticide.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Inside the small and medium-caliber arteries of a newborn's lungs, "bud-like" and "cushion-like" protrusions (N.A. Mityaeva sign) were found. For which infant is this sign characteristic?</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An infant who lived for several hours and developed secondary atelectasis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An infant who was artificially ventilated and then died</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 premature, live-born infant with hyaline membranes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 stillborn infant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14: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newborn corpses. Infanticide.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A stillborn infant</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Such protrusions inside the arteries are found in stillborn infants and do not occur in a lung that has breathed. Hyaline membranes, on the contrary, occur in live-born premature infants. Therefore, this sign helps to exclude live birth.</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261 p.</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newborn corpses. Infanticide.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a newborn's corpse, the tympanic cavity was opened under water: no air bubbles emerged, and there is mucus in the cavity. What does this result of the ear (Vent–Vreden) test indicate?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The infant was stillborn, with no respiratory movements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The infant was born alive, and the air was later absorbed</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The infant was born alive but was non-viable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The infant breathed but lived only a few minutes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15: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newborn corpses. Infanticide.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The infant was stillborn, with no respiratory movements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With the first respiratory movements, air enters the tympanic cavity through the auditory tube. If only mucus is found without air, this is considered proof of stillbirth. The other options contradict the logic of the test.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Пиголкин Ю.И., Баринов Е.Х., Богомолов Д.В., Богомолова И.Н., Судебная медицина: учебник для вузов, 33 p.</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newborn corpses. Infanticide.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The corpse of a singleton infant was brought for examination: body length 46 cm, weight 2400 g. According to the maturity criteria, which conclusion is correct?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Mature and full-term, because the body length meets the requirement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Mature, because a weight slightly below 2500 g is not important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Not mature, because the weight is less than 2500 g</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Not mature, because the body length is less than 50 cm</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16: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newborn corpses. Infanticide.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Not mature, because the weight is less than 2500 g</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To be considered mature, the body length must be at least 45 cm and the weight must not be less than 2500 g. In this infant the length is sufficient, but the weight is below the norm, so it is not mature. 50 cm is not the threshold of maturity; it is close to the average value for full-term infants.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262 p.</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newborn corpses. Infanticide.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At autopsy, signs of breathing were found in the infant's lungs. Under the legislation of England and Wales, can the expert conclude on this basis that the infant's "separate existence" is absolutely proven?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Yes, because breathing is absolute proof of separate existence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No, because an infant can breathe after the head and chest are born even without the lower part of the body having been born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No, because having breathed cannot be determined at all in a corpse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Yes, because breathing begins only after the infant has completely separated from the mother</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17: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newborn corpses. Infanticide.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No, because an infant can breathe after the head and chest are born even without the lower part of the body having been born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a cephalic (head-first) delivery, the infant can breathe after the head and chest are born, even when the lower part of the body is still inside the mother's body. Therefore, the sign of breathing alone does not prove complete separation. However, having breathed can be determined in some cases, so the third option is incorrect.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66-67 p.</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newborn corpses. Infanticide.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the lungs of a live-born premature infant, both hyaline membranes and secondary atelectasis were found. Based on these two signs, for at least how long is the infant considered to have lived outside the mother's body?</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At least 30 minutes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At least 1–2 hours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At least 24 hours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At least 5–6 hours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newborn corpses. Infanticide.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At least 5–6 hours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For hyaline membranes to form, survival of at least 1–2 hours is required. Secondary atelectasis develops only after at least 5–6 hours. When both signs are present together, the sign requiring the longer period determines the minimum duration, i.e., 5–6 hours.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264 p.</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newborn corpses. Infanticide.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fetal corpse was brought for examination; the head circumference is 27,2 cm. According to the method of I. Yakupov (1981), which fetal month of gestational age does this correspond to?</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7 fetal months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8 fetal months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9 fetal months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10 fetal months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19: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newborn corpses. Infanticide.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8 fetal months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Yakupov's method, the head circumference is divided by 3,4: 27,2 : 3,4 = 8, i.e., 8 fetal months. The other options do not match the result of this division (for example, 10 months corresponds to a circumference of 34 cm).</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262 p.</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newborn corpses. Infanticide.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a newborn's corpse, the skin is widely detached and pinkish-brown in color, the tissues are soft, slimy and translucent, and the skull bones overlap one another. What conclusion does this picture lead to?</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The infant died during labor; death occurred at the time of birth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The infant lived for a few minutes after birth, and then putrefaction began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The infant was born alive, lived for several days, and died of cold</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The fetus died in the uterus at least several days before delivery</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20: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newborn corpses. Infanticide.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The fetus died in the uterus at least several days before delivery</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described changes are characteristic of maceration, which develops when death occurs several days before delivery, as a result of the dead fetus remaining in fluid. Maceration does not occur in death during labor, and the appearance of an infant that putrefied after live birth differs from this.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65 p.</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newborn corpses. Infanticide.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the corpse of a fetus that died during labor, abrasions and bruises in the face and neck areas and tears at the corners of the mouth were found. To which mechanism can the expert attribute these injuries?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The woman in labor helped with her own hands to speed up delivery</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Prolonged compression of the head in a narrow pelvis, resulting in fractures of the cranial vault bones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Premature placental abruption, resulting in intrauterine asphyxia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Intrauterine asphyxia caused by a true knot in the umbilical cord</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21: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newborn corpses. Infanticide.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The woman in labor helped with her own hands to speed up delivery</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Abrasions of the face and neck and tears at the corners of the mouth are characteristic of the woman assisting herself during delivery. Birth trauma does not produce external injuries, including wounds, and in intrauterine asphyxia only signs of rapid death are found.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265 p.</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newborn corpses. Infanticide.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Under the law of England and Wales, a mother intentionally killed her 9-month-old child; at that time her mental balance was disturbed by the effect of lactation. How is this situation assessed?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It is assessed as ordinary murder, and a mandatory life sentence applies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It is not infanticide, because in forensic medicine such a period is limited to the first 24 hours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It is infanticide under the Infanticide Act 1938, and the penalty is set as for manslaughter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It is registered only as stillbirth and no criminal liability is established</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22: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newborn corpses. Infanticide.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It is infanticide under the Infanticide Act 1938, and the penalty is set as for manslaughter</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Under this law, if a mother intentionally kills her child under one year of age and her mental balance is disturbed as a result of childbirth or lactation, she is liable for infanticide and the penalty is the same as for manslaughter. The 24-hour limit relates to the concept of "newborn" in Uzbekistan's forensic medicine, whereas the English law covers a child up to 12 months.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66 p.</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newborn corpses. Infanticide.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The umbilical cord is wrapped around the neck of a fetal corpse. Which set of the following findings more strongly indicates death from intrauterine asphyxia?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Signs of rapid death, aspiration of amniotic fluid, abundant meconium in the amniotic fluid</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A demarcation ring on the umbilical cord, milk in the stomach, hyaline membranes in the pulmonary alveoli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A wide large intestine filled with meconium, expanded pulmonary alveoli, air in the stomach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Skin maceration, overlapping of the skull bones, absence of amniotic fluid aspiration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23: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newborn corpses. Infanticide.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Signs of rapid death, aspiration of amniotic fluid, abundant meconium in the amniotic fluid</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intrauterine asphyxia, signs of rapid death, aspiration of amniotic fluid and abundant meconium in the fluid are found. The signs in the second and third options are characteristic of live birth and breathing, and those in the fourth of death that occurred days earlier.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264-265 p.</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newborn corpses. Infanticide.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Under the law of England and Wales, a 26-week fetus was completely expelled from the mother, did not breathe and showed no signs of life. A doctor was present at the delivery. Which document is issued?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The doctor issues an ordinary death certificate, because the child was older than 24 weeks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The police open a criminal case for infanticide, and the document is issued on that basis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 doctor or midwife completes a stillbirth certificate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No document is issued, because such a fetus is not considered a "child"</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24: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newborn corpses. Infanticide.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A doctor or midwife completes a stillbirth certificate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By the definition in England and Wales, a child whose gestational age exceeds 24 weeks and who shows no breath or sign of life is considered stillborn. Because in the legal sense it never "lived", a death certificate is not issued; a special stillbirth certificate is completed instead.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65-66 p.</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newborn corpses. Infanticide.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On external examination of the corpse of a live-born infant with a body length of 51 cm and a weight of 3200 g, a cleft lip and a sixth finger were found. What is the expert's correct next action?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Regarding the defects as minor, and limiting the examination to the external one without opening the internal organs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Thoroughly examining the brain and internal organs to exclude internal defects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Regarding the defects as a consequence of birth trauma, and finishing without starting an internal examination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Declaring the infant non-viable and not opening the corpse at all</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newborn corpses. Infanticide.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Thoroughly examining the brain and internal organs to exclude internal defects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External defects often occur together with internal defects, and defects such as anencephaly or a two-chambered heart are incompatible with life. Therefore, examination of the internal organs is mandatory. The infant is full-term and mature, and does not meet the criterion of extreme prematurity (less than 25 cm, 500 g). Birth trauma does not produce such external defects.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263 p.</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newborn corpses. Infanticide.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a corpse, the calcaneus has an ossification nucleus 0.9 cm in diameter and the talus has one of 0.8 cm, while no nucleus was found in the lower femoral epiphysis (Beclard's nucleus). Assuming there were no pathological conditions during pregnancy, which range does the gestational age correspond to?</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IV–V fetal month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V–VI fetal month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VII–VIII fetal month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IX–X fetal month</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26: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newborn corpses. Infanticide.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VII–VIII fetal month</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nucleus in the talus appears in month VII, so the age cannot be less than month VII. The nucleus in the femoral epiphysis forms in month IX, and its absence indicates that the age is less than month IX. Diseases or harmful habits during pregnancy may cause late appearance of the nuclei, so this estimate is approximate.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263 p.</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newborn corpses. Infanticide.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a newborn's corpse there is air in the stomach and small intestine, but no air in the large intestine. No signs of putrefaction or artificial respiration were detected. Approximately how long did the infant live outside the mother's body?</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About 5–6 hours: air has filled the small intestine and has not yet passed into the large intestine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Less than 3 hours: the period when air is present only in the stomach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More than 6 hours: air would already have passed into the large intestine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About 1–2 hours: a sufficient period for hyaline membranes to form</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27: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newborn corpses. Infanticide.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About 5–6 hours: air has filled the small intestine and has not yet passed into the large intestine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Air first accumulates in the stomach, fills the small intestine by 5–6 hours, and passes into the large intestine after 6 hours. The state with a filled small intestine and an empty large intestine corresponds to 5–6 hours. Since these time periods are approximate, they are assessed together with other signs.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264 p.</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newborn corpses. Infanticide.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two-month-old infant slept in good health at night and was found dead in the morning. At autopsy there are small punctate hemorrhages (petechiae) in the pleura, epicardium and thymus, and no other cause of death was identified. What is the correct way to assess these petechiae?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Absolute proof of mechanical asphyxia, so the case is treated as intentional killing</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 definite sign of viral infection, and this infection is the cause of death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 late consequence of birth trauma and the direct cause of death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An agonal phenomenon, not the cause of death; if no cause is found, it is assessed as sudden infant death syndrome (SIDS)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newborn corpses. Infanticide.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D. An agonal phenomenon, not the cause of death; if no cause is found, it is assessed as sudden infant death syndrome (SIDS)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Such petechiae are found in approximately 70% of cases of sudden death syndrome and are now regarded as a perimortem phenomenon. Previously they were mistakenly considered proof of mechanical asphyxia. The diagnosis of SIDS is made when the cause remains undetermined even after a complete autopsy, investigation of the circumstances and review of the medical history.</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68–69 p.</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newborn corpses. Infanticide.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the death of a three-month-old infant, X-ray and autopsy revealed a row of callus resembling a string of beads on the posterior ribs, along a line close to the vertebrae. What is the most reliable interpretation of this finding?</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 usual consequence of chest massage during resuscitation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The sole and usual sign of birth trauma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Repeated episodes of forceful squeezing of the chest with adult hands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An accidental fracture of the anterolateral ribs due to a fall</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newborn corpses. Infanticide.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Repeated episodes of forceful squeezing of the chest with adult hands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Such callus on the posterior ribs appears as a result of forceful compression in the anteroposterior direction, that is, it corresponds to squeezing of the chest by adult hands. Posterior rib fractures from resuscitation are biomechanically unlikely, and anterolateral fractures are rarely seen in resuscitation. Rib fractures are rarely accidental in children.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71 p.</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30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newborn corpses. Infanticide.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Multiple bilateral skull fractures were found in a four-month-old infant. The father says the infant fell from a standard bed (approximately 60 cm in height) onto a carpeted floor. In a study, in passive drops of dead infants onto a carpeted floor, bone fractures were observed only from a height of 80 cm. What is the expert's assessment?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The explanation is fully consistent, because such fractures occur from any height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The explanation is implausible: the height is below 80 cm, and multiple bilateral fractures suggest abuse; additional factors are investigated</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If there is a fracture, brain injury must necessarily be present, so a fall is completely excluded</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In abuse, fractures occur mainly at the base of the skull, so this detail is insignificant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30: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newborn corpses. Infanticide.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The explanation is implausible: the height is below 80 cm, and multiple bilateral fractures suggest abuse; additional factors are investigated</a:t>
            </a:r>
          </a:p>
        </p:txBody>
      </p:sp>
      <p:sp>
        <p:nvSpPr>
          <p:cNvPr id="9" name="TextBox 8"/>
          <p:cNvSpPr txBox="1"/>
          <p:nvPr/>
        </p:nvSpPr>
        <p:spPr>
          <a:xfrm>
            <a:off x="640080" y="2468880"/>
            <a:ext cx="10911535" cy="3291840"/>
          </a:xfrm>
          <a:prstGeom prst="rect">
            <a:avLst/>
          </a:prstGeom>
          <a:noFill/>
        </p:spPr>
        <p:txBody>
          <a:bodyPr wrap="square">
            <a:spAutoFit/>
          </a:bodyPr>
          <a:lstStyle/>
          <a:p>
            <a:r>
              <a:rPr sz="1700" b="0">
                <a:solidFill>
                  <a:srgbClr val="1F2937"/>
                </a:solidFill>
                <a:latin typeface="Calibri"/>
              </a:rPr>
              <a:t>The height of standard furniture (approximately 40–70 cm) is below 80 cm, so a fall from furniture is not a probable cause of skull fracture, even if the furniture is unusually tall or other factors are present. Fractures in abuse are often multiple, bilateral or cross a suture, while skull base fractures are uncommon. A skull fracture does not always come with brain injury. Whether a fall from a short height can lead to death is still debated.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71 p.</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References</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newborn corpses. Infanticide.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62</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1800">
                <a:solidFill>
                  <a:srgbClr val="1F2937"/>
                </a:solidFill>
                <a:latin typeface="Calibri"/>
              </a:rPr>
              <a:t>▸  G‘iyosov Z.A. Sud tibbiyoti: darslik, Toshkent: Global Books nashriyoti. 2018. Bob 10. Homila va yangi tug'ilgan go'daklar murdasi</a:t>
            </a:r>
          </a:p>
          <a:p>
            <a:pPr>
              <a:spcAft>
                <a:spcPts val="1200"/>
              </a:spcAft>
            </a:pPr>
            <a:r>
              <a:rPr sz="1800">
                <a:solidFill>
                  <a:srgbClr val="1F2937"/>
                </a:solidFill>
                <a:latin typeface="Calibri"/>
              </a:rPr>
              <a:t>▸  Payne-James J., Jones R., Karch S.B., Manlove J. Simpson's Forensic Medicine, 13th ed.. 2011. Chapter 7. Deaths and injury in infancy, pp. 65–75</a:t>
            </a:r>
          </a:p>
          <a:p>
            <a:pPr>
              <a:spcAft>
                <a:spcPts val="1200"/>
              </a:spcAft>
            </a:pPr>
            <a:r>
              <a:rPr sz="1800">
                <a:solidFill>
                  <a:srgbClr val="1F2937"/>
                </a:solidFill>
                <a:latin typeface="Calibri"/>
              </a:rPr>
              <a:t>▸  Ромодановский П.О., Баринов Е.Х. Судебная медицина в схемах и рисунках: учебное пособие, М.: Проспект (egasi taqdim etgan; yopiq foydalanish). 2017. 2-modul. Tanatologiya, hodisa joyi, murda ekspertizasi, yangi tug‘ilgan chaqaloq; bet 41-100</a:t>
            </a:r>
          </a:p>
          <a:p>
            <a:pPr>
              <a:spcAft>
                <a:spcPts val="1200"/>
              </a:spcAft>
            </a:pPr>
            <a:r>
              <a:rPr sz="1800">
                <a:solidFill>
                  <a:srgbClr val="1F2937"/>
                </a:solidFill>
                <a:latin typeface="Calibri"/>
              </a:rPr>
              <a:t>▸  Пиголкин Ю.И., Баринов Е.Х., Богомолов Д.В., Богомолова И.Н. Судебная медицина: учебник для вузов, М.: ГЭОТАР-МЕД (egasi taqdim etgan; yopiq foydalanish). 2002. Kirish, 1-5-boblar: fan, protsessual asos, usullar, tarix, ekspertiza ob’ektlari (kitob beti 5-66) (1/2); bet 5-55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