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notesMaster" Target="notesMasters/notesMaster1.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4-kurs-davolash-11-q01 · oson-o‘rta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4-kurs-davolash-11-q02 · oson-o‘rta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4-kurs-davolash-11-q03 · oson-o‘rta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4-kurs-davolash-11-q04 · oson-o‘rta</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4-kurs-davolash-11-q05 · oson-o‘rta</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4-kurs-davolash-11-q06 · oson-o‘rta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4-kurs-davolash-11-q07 · oson-o‘rta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4-kurs-davolash-11-q08 · oson-o‘rta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4-kurs-davolash-11-q09 · oson-o‘rta</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4-kurs-davolash-11-q10 · oson-o‘rta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4-kurs-davolash-11-q11 · oson-o‘rta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4-kurs-davolash-11-q12 · oson-o‘rta</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4-kurs-davolash-11-q13 · oson-o‘rta</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4-kurs-davolash-11-q14 · oson-o‘rta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4-kurs-davolash-11-q15 · oson-o‘rta</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4-kurs-davolash-11-q16 · qiyin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4-kurs-davolash-11-q17 · qiyin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4-kurs-davolash-11-q18 · qiyin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4-kurs-davolash-11-q19 · qiyin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4-kurs-davolash-11-q20 · qiyin</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4-kurs-davolash-11-q21 · qiyin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4-kurs-davolash-11-q22 · qiyin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4-kurs-davolash-11-q23 · qiyin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4-kurs-davolash-11-q24 · qiyin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4-kurs-davolash-11-q25 · qiyin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4-kurs-davolash-11-q26 · qiyin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4-kurs-davolash-11-q27 · qiyin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4-kurs-davolash-11-q28 · qiyin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4-kurs-davolash-11-q29 · qiyin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4-kurs-davolash-11-q30 · qiyin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640080" y="4069080"/>
            <a:ext cx="2743200" cy="73152"/>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1371600"/>
            <a:ext cx="10911535" cy="2560320"/>
          </a:xfrm>
          <a:prstGeom prst="rect">
            <a:avLst/>
          </a:prstGeom>
          <a:noFill/>
        </p:spPr>
        <p:txBody>
          <a:bodyPr wrap="square" anchor="b">
            <a:spAutoFit/>
          </a:bodyPr>
          <a:lstStyle/>
          <a:p>
            <a:r>
              <a:rPr sz="3800" b="1">
                <a:solidFill>
                  <a:srgbClr val="FFFFFF"/>
                </a:solidFill>
                <a:latin typeface="Georgia"/>
              </a:rPr>
              <a:t>Amaliy mashg’ulot: Fizik omillar ta’siridan o‘lim hollarida murdalar sud-tibbiy ekspertizasi.</a:t>
            </a:r>
          </a:p>
        </p:txBody>
      </p:sp>
      <p:sp>
        <p:nvSpPr>
          <p:cNvPr id="5" name="TextBox 4"/>
          <p:cNvSpPr txBox="1"/>
          <p:nvPr/>
        </p:nvSpPr>
        <p:spPr>
          <a:xfrm>
            <a:off x="640080" y="4343400"/>
            <a:ext cx="10911535" cy="548640"/>
          </a:xfrm>
          <a:prstGeom prst="rect">
            <a:avLst/>
          </a:prstGeom>
          <a:noFill/>
        </p:spPr>
        <p:txBody>
          <a:bodyPr wrap="square">
            <a:spAutoFit/>
          </a:bodyPr>
          <a:lstStyle/>
          <a:p>
            <a:r>
              <a:rPr sz="2200" b="0">
                <a:solidFill>
                  <a:srgbClr val="C9A227"/>
                </a:solidFill>
                <a:latin typeface="Calibri"/>
              </a:rPr>
              <a:t>Sinf testi · 30 ta test savoli</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Kuyish kasalligining birinchi davri bo‘lgan kuyish shoki odatda qancha davom etadi?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Odatda 1-2 hafta, ba’zan 3 haftagacha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Odatda bir sutkagacha, ba’zan 2-3 sutkagacha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Odatda 2-3 hafta, ba’zan bir necha oygacha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Odatda 6-8 soat, ba’zan 12 soatgacha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Odatda bir sutkagacha, ba’zan 2-3 sutkagacha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Kuyish shoki kasallikning eng birinchi davri bo‘lib, odatda bir sutkagacha, ba’zan 2-3 sutkagacha cho‘ziladi. 1-2 hafta kuyish toksemiyasiga, 2-3 hafta va undan uzoq muddat septikotoksemiyaga xos. Soatlab hisoblanadigan muddat shok davrining haqiqiy davomiyligiga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188 bet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Alanga tiriklik paytida ta’sir qilganda qovoq terisi yoyilsa, shikastlangan va shikastlanmagan sohalar ketma-ket almashadi. Bu belgi qanday ataladi?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“Bokser pozasi” belgisi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“G‘oz terisi” belgisi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“Marvarid marjonlari” belgisi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“G‘oz panjasi” belgisi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“G‘oz panjasi” belgisi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Tirik odam ko‘zini qisadi. Shuning uchun qovoq burmalarining tubi kuyish va qurumdan himoyalanib qoladi, burmalarning yuqori qismi esa kuyadi. Yoyilganda hosil bo‘ladigan bu manzara “g‘oz panjasi” deyiladi. “Bokser pozasi” murda qotishi bilan, “g‘oz terisi” sovuq ta’siri bilan, “marvarid marjonlari” elektr tokining suyakka ta’siri bilan bog‘liq.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189 bet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Yong‘indan keyin topilgan murdada alanganing o‘limdan keyingi ta’siri natijasida epidural gematoma hosil bo‘lgan. Uning travmatik epidural gematomadan farqi qanday?</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O‘roqsimon shaklda, miyaning qattiq pardasiga birikmagan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Urchuqsimon shaklda, miyaning qattiq pardasiga birikmagan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O‘roqsimon shaklda, miyaning qattiq pardasiga mahkam birikkan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Urchuqsimon shaklda, miyaning qattiq pardasiga mahkam birikkan</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O‘roqsimon shaklda, miyaning qattiq pardasiga birikmagan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Travmadan hosil bo‘lgan epidural gematoma urchuqsimon shaklda va qattiq pardaga birikkan bo‘ladi. O‘limdan keyin alanga ta’sirida paydo bo‘lgani esa o‘roqsimon va qattiq pardaga birikmagan bo‘ladi. Boshqa variantlarda shakl va birikish belgilari noto‘g‘ri aralashtirilgan.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190 bet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Sovuq qotishdan o‘lgan kishining oshqozonida S.M.Vishnevskiy dog‘lari shilliq qavatning qaysi joyida joylashadi?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Burmalar orasidagi chuqurchalarda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Faqat oshqozonning chiqish qismida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Shilliq qavat burmalarining tepa sohasida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oshqozonning mushak qavatida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4: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Shilliq qavat burmalarining tepa sohasida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Bu dog‘lar shilliq qavat burmalarining tepa sohasidagi mayda qon quyilishlardir, diametri 0,5 sm gacha bo‘ladi va pichoq orqasi yoki suv oqimi bilan oson olinadi. Burmalar orasida yoki faqat mushak qavatida joylashishi ularga xos emas. Gematin hosil bo‘lishi ayniqsa kirish qismida yaqqol ko‘rinadi, lekin dog‘lar faqat chiqish qismida bo‘lmaydi.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193 bet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Organizm uchun xavfsiz hisoblangan elektr kuchlanishining xalqaro me’yori qancha?</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12 volt</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36 volt</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42 volt</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24 volt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24 volt</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Xalqaro me’yor bo‘yicha organizm uchun xavfsiz kuchlanish 24 voltga teng. 42 volt boshqa kontekstda uchraydi: 120 voltli o‘zgarmas tok 42 voltli o‘zgaruvchan tokka teng ta’sir ko‘rsatadi. Qolgan raqamlar me’yor sifatida berilmagan.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197 bet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O‘pka barotravmasining o‘tkir davrida o‘lim asosan nimadan sodir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Bosh miya arteriyalarining havo emboliyasidan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Yurak qorinchalarining fibrillyasiyasidan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Ikkilamchi pnevmoniyadan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Kompression asfiksiyadan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6: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Bosh miya arteriyalarining havo emboliyasidan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O‘pka to‘qimasi yorilganda havo o‘pka venalari orqali yurakning chap qismiga o‘tadi va katta qon aylanish doirasida arterial emboliya hosil qiladi. Bosh miya arteriyalarining emboliyasi eng xavfli hisoblanadi. Pnevmoniya keyingi davrda o‘limga olib keladi. Kompression asfiksiya tananing siqilishiga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207 bet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Qaysi chastotali o‘zgaruvchan tok organizm uchun o‘ta xavfli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400–600 gers</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40–60 gers</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4000–6000 gers</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10000 gers va undan baland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7: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40–60 gers</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40–60 gers chastotali o‘zgaruvchan tok eng xavfli hisoblanadi. Chastota ortgan sari tokning xavfliligi pasayadi. 10000 gers va undan yuqori chastotali tok esa fizioterapiyada (diatermiya, yuqori chastotali terapiya) ishlatiladi.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198 bet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O‘limga olib kelmagan elektrotravmada elektrogen nekroz tok ta’siridan qancha vaqt o‘tgach aniqlanadi?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Dastlabki bir necha soat ichida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1–2 sutka o‘tgach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6–9 oy o‘tgach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3–4 hafta o‘tgach</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3–4 hafta o‘tgach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Elektrogen nekroz shikastlanishdan taxminan 3–4 hafta keyin ko‘rinadi va teri, yumshoq to‘qima hamda suyaklarni qamrashi mumkin. Uning asosida tok ta’sirida shikastlangan qon tomirlarning trombozi va qon bilan ta’minlanishning buzilishi yotadi. Shuning uchun nekroz dastlabki soatlarda ko‘rinmaydi.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202 bet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Dekompression kasallikdan o‘lgan kishi murdasini ichki tekshirishda qaysi topilma xos?</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Yurakning o‘ng kameralari va venalarda mayda gaz pufakchali qon laxtalari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Yurak chap kameralari va aortada laxtali qip-qizil qon, oshqozonda mayda qon quyilishlar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Bosh va bo‘yin yumshoq to‘qimalarida diffuz qon quyilish, bosh miyaning keskin to‘laqonligi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Nafas yo‘llari va qizilo‘ngachda qurum, qonda yuqori karboksigemoglobin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19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Yurakning o‘ng kameralari va venalarda mayda gaz pufakchali qon laxtalari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Bosim tez pasayganda qon va to‘qimalarda erigan azot gaz pufaklariga aylanadi va venoz gaz emboliyasi hosil qiladi. Shu sababli o‘ng yurak va venalarda gazli qon laxtalari topiladi. Boshqa variantlar sovuq qotish, g‘avvosning siqilishi va yong‘inda tiriklik belgilariga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210 bet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Kitobga ko‘ra, suv ostida 20 m chuqurlikda bosim atmosfera bosimiga nisbatan necha marta kattaroq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 marta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4 marta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 marta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5 marta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10: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3 marta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Chuqurlik oshgan sari atmosfera bosimiga gidrostatik bosim qo‘shiladi. 10 m chuqurlikda bosim atmosfera bosimiga nisbatan 2 marta, 20 m chuqurlikda esa 3 marta katta bo‘ladi. 2 marta ko‘rsatkichi 10 m ga to‘g‘ri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206 bet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22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Ionlashtiruvchi nurlanishning ichak formasi qaysi doza oralig‘ida rivojlanadi?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20–80 grey</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10–20 grey</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80 greydan katta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greygacha</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11: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10–20 grey</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Nurlanishning formalari doza bo‘yicha farqlanadi: 10 greygacha suyak miya, 10–20 grey ichak, 20–80 grey toksemik (qon tomir), 80 greydan katta bo‘lsa serebral forma rivojlanadi. Boshqa oraliqlar ichak formasiga emas, shu boshqa formalarga tegishli.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212 bet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Elektr toki ta’siridan jabrlanganda o‘limning ishonchli belgilari aniqlanmasa, nima tavsiya etiladi?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Jabrlanuvchini tok manbaidan ajratmay turib, ko‘zdan kechirishni boshlash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Darhol murdani o‘likxonaga yuborib, sud-tibbiy ekspertiza o‘tkazish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kuzatish bilan cheklanib, reanimatsiya muolajalarini o‘tkazmaslik</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Murda dog‘lari paydo bo‘lguniga qadar reanimatsiya muolajalarini o‘tkazish</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Murda dog‘lari paydo bo‘lguniga qadar reanimatsiya muolajalarini o‘tkazish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Elektrotravmada ko‘pincha soxta o‘lim (vita minima) kuzatiladi: yurak-qon tomir va nafas markazlarining tormozlanishi tufayli hayot belgilari bilinmaydi. Shu sababli o‘limning ishonchli belgisi, ya’ni murda dog‘lari paydo bo‘lmaguncha reanimatsiya tavsiya etiladi. Murdani ko‘zdan kechirish ham faqat tokdan ajratilgandan keyin amalga oshiriladi.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204 bet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Elektrotravmada tanadan o‘tayotgan tokning qaysi kuchida o‘lim aksariyat holatlarda sodir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10 milliamper</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50 milliamper</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100 milliamper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25 milliamper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13: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100 milliamper</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100 milliamperli tok ta’sirida ko‘pchilik holatlarda o‘lim yuz beradi. 50 milliamper yurak-qon tomir va nafas yetishmovchiligi orqali hayotga tahdid soladi, lekin aksariyat holatda o‘limga olib kelmaydi. 10-25 milliamper esa asosan mushaklarning ixtiyorsiz qisqarishi va nafas mushaklari talvasasini chaqiradi.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197 bet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28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Elektr tamg‘aning mikroskopik ko‘rinishiga xos belgi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Epidermisning shox va yaltiroq qavatlarida turli shakldagi ko‘plab bo‘shliqlar, bazal hujayralar yadrolarining cho‘tkasimon cho‘zilishi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Epidermisda neytrofil leykotsitlardan iborat keng demarkatsion infiltrat va yallig‘lanish vali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Shox qavatning yupqalashishi, bazal hujayralar yadrolarining teri yuzasiga parallel yumaloq joylashuvi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Dermada kollagen tolalarining erishi, epidermisning esa to‘liq o‘zgarmasdan saqlanishi</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29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Epidermisning shox va yaltiroq qavatlarida turli shakldagi ko‘plab bo‘shliqlar, bazal hujayralar yadrolarining cho‘tkasimon cho‘zilishi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Elektr tamg‘ada shox va yaltiroq qavatlarda bo‘shliqlar hosil bo‘ladi, bazal va o‘siqsimon hujayralar yadrolari esa teri yuzasiga perpendikulyar yoki burchak ostida cho‘zilib supurgisimon ko‘rinish oladi. Yallig‘lanish infiltrati tamg‘a uchun xos emas, chunki atrofda yallig‘lanish alomatlari bo‘lmaydi. Yadrolarning parallel yumaloq joylashuvi esa tamg‘aning aynan teskarisidir.</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202 bet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30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G‘avvos akvalang bilan suv yuzasiga ko‘tarilayotib, 10 m chuqurlikda nafasini to‘xtatdi. Bu nimaga olib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O‘pkadagi havo hajmi kichrayib, o‘pka kollapsi rivojlanadi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Qonda azot ko‘payib, azotning narkotik ta’siri vujudga keladi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Kislorodning parsial bosimi oshib, o‘pkaning kislorod bilan zaharlanishi boshlanadi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O‘pkadagi havo hajmi oshib, o‘pka ichi bosimi keskin ko‘tariladi va o‘pka barotravmasi yuzaga keladi</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15: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31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D. O‘pkadagi havo hajmi oshib, o‘pka ichi bosimi keskin ko‘tariladi va o‘pka barotravmasi yuzaga keladi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Tashqi bosim kamayayotganda nafas to‘xtatilsa, o‘pkadagi havo kengayadi va o‘pka ichi bosimi keskin ko‘tariladi. Natijada bronx va alveolalar yorilib, barotravma rivojlanadi. Havo hajmining kichrayishi suvga sho‘ng‘ish bosqichiga xos. Azot va kislorod ta’siri esa uzoq vaqt yuqori bosimda bo‘lish bilan bog‘liq.</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207 bet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Yadro reaktorida avariya paytida jabrlangan kishi bir marta 1500 rad doza olgan (1 grey = 100 rad). Kitobdagi bo‘linishga ko‘ra nurlanishning qaysi klinik formasi rivojlanadi?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Suyak miya formasi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Ichak formasi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Toksemik (qon tomir) formasi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Serebral forma</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Ichak formasi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1500 rad 15 greyga teng. Bu 10-20 grey oralig‘iga to‘g‘ri keladi, ya’ni ichak formasi. Suyak miya formasi 10 greygacha, toksemik forma 20-80 grey, serebral forma esa 80 greydan yuqori dozada rivojlanadi.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212 bet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34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Ekspert quyidagi jabrlanganlarning qaysi birida tan jarohatlarining og‘irligini aniqlash qoidalariga ko‘ra kuyish hayot uchun xavfli jarohat hisoblanadi?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Tana yuzasining 12 foizi III-IV darajali kuyishga uchragan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Tana yuzasining 8 foizi III-IV darajali kuyishga uchragan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Tana yuzasining 18 foizi II darajali kuyishga uchragan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Tana yuzasining 12 foizi I darajali kuyishga uchragan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17: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Tana yuzasining 12 foizi III-IV darajali kuyishga uchragan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Tananing 10 foizdan ortiq yuzasining III-IV darajali kuyishi hayot uchun xavfli sanaladi, shuning uchun 12 foiz mos keladi. 8 foiz bu chegaraga yetmaydi. II darajali kuyishda chegara 20 foizdan ortiq, 18 foiz esa undan kam. I darajali kuyish yuzaki bo‘lib, bunday mezonga kirmaydi.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187 bet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G‘avvos suv tagida skafandri shikastlanib, shlem ostida bosim keskin pasaygach vafot etdi. Uning murdasini tekshirishda qaysi topilmalar majmuasi tananing siqilishi (objim) tashxisini tasdiqlaydi?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Yurak o‘ng kameralarida mayda gaz pufaklari bor qon laxtalari, jigar kesmasida ko‘pikli suyuqlik</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O‘pka to‘qimasida yorilishlar, pnevmotoraks va bosh miya arteriyalarida havo emboliyasi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Bosh va yuzning kattalashishi va ko‘karishi, yuz va ko‘z shilliq qavatida mayda qon quyilishlar, o‘mrov suyaklari bo‘ylab simmetrik qon quyilishlar</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Burun qo‘shimcha bo‘shliqlari va o‘rta quloqqa qon quyilishlar, nog‘ora pardaning yorilishi</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18: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37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C. Bosh va yuzning kattalashishi va ko‘karishi, yuz va ko‘z shilliq qavatida mayda qon quyilishlar, o‘mrov suyaklari bo‘ylab simmetrik qon quyilishlar</a:t>
            </a:r>
          </a:p>
        </p:txBody>
      </p:sp>
      <p:sp>
        <p:nvSpPr>
          <p:cNvPr id="9" name="TextBox 8"/>
          <p:cNvSpPr txBox="1"/>
          <p:nvPr/>
        </p:nvSpPr>
        <p:spPr>
          <a:xfrm>
            <a:off x="640080" y="2468880"/>
            <a:ext cx="10911535" cy="3291840"/>
          </a:xfrm>
          <a:prstGeom prst="rect">
            <a:avLst/>
          </a:prstGeom>
          <a:noFill/>
        </p:spPr>
        <p:txBody>
          <a:bodyPr wrap="square">
            <a:spAutoFit/>
          </a:bodyPr>
          <a:lstStyle/>
          <a:p>
            <a:r>
              <a:rPr sz="1700" b="0">
                <a:solidFill>
                  <a:srgbClr val="1F2937"/>
                </a:solidFill>
                <a:latin typeface="Calibri"/>
              </a:rPr>
              <a:t>Shlem ostida bosim pasayganda qon boshga qarab intiladi, shuning uchun bosh kattalashadi, yuz ko‘karib shishadi, yuz va ko‘zda mayda qon quyilishlar paydo bo‘ladi. Shlemning pastki chekkasiga mos o‘mrov bo‘ylab simmetrik qon quyilishlar ham topiladi. Gaz pufakli laxtalar dekompression kasallikka, o‘pka yorilishi va havo emboliyasi o‘pka barotravmasiga, quloq va burun o‘zgarishlari esa quloq va burun bo‘shliqlari barotravmasiga xos.</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208 bet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19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Musbat haroratli (+10°S gacha) sharoitda sovuq qotishdan vafot etgan kishining murda dog‘lari ko‘kimtir-binafsha rangda topildi. Manfiy haroratli sharoitda vafot etgan kishida esa murda dog‘lari pushti-qizg‘ish edi. Bu farq qaysi mexanizm bilan tushuntiriladi?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Musbat haroratda to‘qimalar o‘limdan keyin ham qondagi kislorodni sarflab ulguradi, manfiy haroratda esa bu jarayon kuzatilmaydi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Musbat haroratda qonda karboksigemoglobin to‘planadi, manfiy haroratda esa u hosil bo‘lmaydi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Musbat haroratda eritrotsitlar gemolizi kuchayadi va qon pushti rangini yo‘qotadi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Manfiy haroratda murda dog‘lari muzlash tufayli umuman hosil bo‘lmaydi, rang esa teri namligiga bog‘liq</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19: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39 / 62</a:t>
            </a:r>
          </a:p>
        </p:txBody>
      </p:sp>
      <p:sp>
        <p:nvSpPr>
          <p:cNvPr id="8" name="TextBox 7"/>
          <p:cNvSpPr txBox="1"/>
          <p:nvPr/>
        </p:nvSpPr>
        <p:spPr>
          <a:xfrm>
            <a:off x="640080" y="1371600"/>
            <a:ext cx="10911535" cy="1005840"/>
          </a:xfrm>
          <a:prstGeom prst="rect">
            <a:avLst/>
          </a:prstGeom>
          <a:noFill/>
        </p:spPr>
        <p:txBody>
          <a:bodyPr wrap="square">
            <a:spAutoFit/>
          </a:bodyPr>
          <a:lstStyle/>
          <a:p>
            <a:r>
              <a:rPr sz="2000" b="1">
                <a:solidFill>
                  <a:srgbClr val="0B1F3A"/>
                </a:solidFill>
                <a:latin typeface="Calibri"/>
              </a:rPr>
              <a:t>A. Musbat haroratda to‘qimalar o‘limdan keyin ham qondagi kislorodni sarflab ulguradi, manfiy haroratda esa bu jarayon kuzatilmaydi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Sovuq qotganda qon kislorodga boy bo‘ladi. Musbat haroratda to‘qimalar miya o‘limidan keyin ham shu kislorodni utilizatsiya qilib ulguradi, shuning uchun dog‘lar ko‘kimtir-binafsha tusga kiradi. Manfiy haroratda bu holat kuzatilmaydi va dog‘lar pushti-qizg‘ish qoladi. Boshqa variantlar kitobda bunday izohlanmagan.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192-193 bet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Shifokor jabrlanganda tananing 30% yuzasida II-III darajali kuyish, shundan 10% yuzasida chuqurroq kuyish aniqladi. Kitobdagi tavsiyaga ko‘ra, diagnozda bu kuyish qanday kasr shaklida yoziladi?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II-III / 30% (10%)</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30% (10%) / II-III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30% / II-III (10%)</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10% (30%) / II-III</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30% (10%) / II-III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Tavsiyaga ko‘ra kasrning suratiga kuyish yuzasi (qavs ichida chuqurroq kuyish yuzasi), mahrajiga esa kuyish darajalari yoziladi. Shuning uchun to‘g‘ri yozuv 30% (10%) / II-III bo‘ladi. Qolgan variantlarda surat va mahraj o‘rni yoki qavs ichidagi ma’lumot noto‘g‘ri joylashgan.</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188 bet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21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Yuqori kuchlanishli sim yerga uzilib tushgan joyda bir kishi “qadam kuchlanishi”ga uchradi, oyoq mushaklarining talvasasidan yiqildi va vafot etdi. Uning hayotiga aynan nima xavf tug‘dirgan?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Pastki “tok sirtmog‘i”ning o‘zi yurak orqali o‘tib, qorinchalar fibrillyasiyasini chaqirgan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Qadam uzunligi kichik bo‘lgani sababli ikki nuqta orasidagi potensiallar farqi keskin oshgan</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Yiqilish natijasida to‘liq “tok sirtmog‘i” vujudga kelgan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Elektr krateri markazida havo ionizatsiyasi tufayli elektr yoyi hosil bo‘lgan</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21: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Yiqilish natijasida to‘liq “tok sirtmog‘i” vujudga kelgan</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Qadam kuchlanishida hosil bo‘ladigan pastki “tok sirtmog‘i” hayot uchun tahdid yaratmaydi. Xavf oyoq mushaklari talvasasidan yiqilib, tananing boshqa qismlari ham yer bilan kontaktga kirganda, to‘liq “tok sirtmog‘i” vujudga kelishidan tug‘iladi. Qadam qancha uzun bo‘lsa, kuchlanish shuncha katta bo‘lgani uchun ikkinchi variant ham xato.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200 bet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22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Bir xil kuchlanishli elektr toki jabrlanganning ikki xil to‘qimasidan o‘tmoqda. Birinchi to‘qimaning qarshiligi ikkinchisinikidan 2 marta katta. Om qonuniga ko‘ra tok kuchi qanday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Birinchi to‘qimada ikkinchisiga nisbatan 2 marta katta bo‘ladi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Ikkala to‘qimada ham bir xil bo‘ladi, chunki kuchlanish bir xil</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Birinchi to‘qimada ikkinchisiga nisbatan 4 marta kichik bo‘ladi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Birinchi to‘qimada ikkinchisiga nisbatan 2 marta kichik bo‘ladi</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22: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Birinchi to‘qimada ikkinchisiga nisbatan 2 marta kichik bo‘ladi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Tok kuchi kuchlanishga to‘g‘ri, to‘qima qarshiligiga esa teskari proporsional. Kuchlanish bir xil bo‘lib qarshilik 2 marta katta bo‘lsa, tok kuchi 2 marta kichik bo‘ladi. Kuchlanish bir xil bo‘lsa ham tok kuchi to‘qima qarshiligiga qarab o‘zgaradi, shuning uchun ikkinchi variant xato.</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198 bet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23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46 / 62</a:t>
            </a:r>
          </a:p>
        </p:txBody>
      </p:sp>
      <p:sp>
        <p:nvSpPr>
          <p:cNvPr id="8" name="TextBox 7"/>
          <p:cNvSpPr txBox="1"/>
          <p:nvPr/>
        </p:nvSpPr>
        <p:spPr>
          <a:xfrm>
            <a:off x="640080" y="1371600"/>
            <a:ext cx="10911535" cy="1554480"/>
          </a:xfrm>
          <a:prstGeom prst="rect">
            <a:avLst/>
          </a:prstGeom>
          <a:noFill/>
        </p:spPr>
        <p:txBody>
          <a:bodyPr wrap="square">
            <a:spAutoFit/>
          </a:bodyPr>
          <a:lstStyle/>
          <a:p>
            <a:r>
              <a:rPr sz="2400" b="1">
                <a:solidFill>
                  <a:srgbClr val="1F2937"/>
                </a:solidFill>
                <a:latin typeface="Calibri"/>
              </a:rPr>
              <a:t>Yadro reaktoridagi avariyada jabrlangan kishi butun tanasiga bir marta 50 grey dozada nurlandi. Kitobga ko‘ra, o‘lim odatda qachon sodir bo‘ladi?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Nurlanishdan so‘ng to‘rtinchi haftaning oxirida, infeksion asoratlardan</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Dastlabki ikki sutka davomida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Nurlanish paytining o‘zida, bosh miyaning hayotiy markazlari falajidan</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Latent davr tugagach, 2-4 haftada qon ishlab chiqarish buzilishidan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23: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Dastlabki ikki sutka davomida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 marta 50 grey dozada o‘lim odatda dastlabki ikki sutka ichida ro‘y beradi. To‘rtinchi haftadagi o‘lim yaqqol klinik belgilar davridagi infeksion asoratlarga xos. Nurlanish paytidagi o‘lim esa 150 greydan katta dozalarda kuzatiladi.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213 bet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24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G‘avvos tez ko‘tarilgach vafot etdi, kesson kasalligiga shubha bor. Murda ochilganda yurakning o‘ng bo‘lmacha va qorinchasiga hamda chap tomoniga igna sanchilganda gaz pufakchalari topilmadi. Navbatdagi qadam qaysi?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1600" b="0">
                <a:solidFill>
                  <a:srgbClr val="1F2937"/>
                </a:solidFill>
                <a:latin typeface="Calibri"/>
              </a:rPr>
              <a:t>Qorin bo‘shlig‘iga suv quyib, suv tagida pastki kavak venani sanchib gaz pufakchasini izlash</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Yurakning chap tomonini takror sanchib, venoz gaz emboliyasini mutlaqo rad etish</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1600" b="0">
                <a:solidFill>
                  <a:srgbClr val="1F2937"/>
                </a:solidFill>
                <a:latin typeface="Calibri"/>
              </a:rPr>
              <a:t>O‘pkani ko‘krak bo‘shlig‘idan ajratmay suvga solib, unga havo yuborib pufakchalarni kuzatish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Aerotromblarni faqat arteriyalardan izlab, venoz emboliyani rad etish</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24: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49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Qorin bo‘shlig‘iga suv quyib, suv tagida pastki kavak venani sanchib gaz pufakchasini izlash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Kesson kasalligida ko‘pincha venoz emboliya bo‘ladi. Yurak bo‘shliqlarida gaz topilmasa, pastki kavak venada gaz emboliyasi sinamasi o‘tkaziladi: qorin bo‘shlig‘iga suv quyiladi va vena suv tagida sanchiladi. Aerotromblar esa venalarda va yurak bo‘shlig‘ida izlanadi. O‘pkani suvga solib havo yuborish o‘pka barotravmasini tekshirish usuli.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273 bet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25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Tajribada elektr o‘tkazgichda ajraladigan issiqlik miqdori tok kuchining kvadratiga, o‘tkazgich qarshiligiga va ta’sir vaqtiga to‘g‘ri proporsional ekani kuzatildi (Joul–Lents qonuni). Qarshilik va ta’sir vaqti o‘zgarmagan holda tok kuchi 2 marta oshirilsa, ajraladigan issiqlik miqdori qanday o‘zgaradi?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4 marta ortadi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2 marta ortadi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8 marta ortadi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o‘zgarmaydi, chunki qarshilik doimiy qolgan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25: A</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A. 4 marta ortadi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Issiqlik tok kuchining kvadratiga bog‘liq, shuning uchun tok 2 marta oshganda 2² = 4 marta ortadi. Boshqa variantlar kvadratik bog‘liqlikni hisobga olmaydi yoki qarshilikni hal qiluvchi deb noto‘g‘ri hisoblaydi.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261 bet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26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52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Qishda dala chetidan topilgan murdaning tagida qor erib, keyin qayta muzlab muz qatlami hosil bo‘lgan. Ekspert bu topilmani sovuq qotishdan o‘limning tiriklik belgisi sifatida qanday baholashi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past haroratning hayotiy ta’sirini isbotlovchi ishonchli belgi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spetsifik emas: sovub ulgurmagan murda qorga qo‘yilganda ham kuzatiladi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faqat qor ostida sodir bo‘lgan o‘limni ko‘rsatuvchi belgi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faqat kuchli mastlikdagi o‘limga xos belgi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26: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53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spetsifik emas: sovub ulgurmagan murda qorga qo‘yilganda ham kuzatiladi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Murda tagidagi muz qatlami past haroratga xos spetsifik belgi emas. Boshqa sabablardan vafot etgan, hali sovub ulgurmagan murda qorga qo‘yilsa ham xuddi shunday muz hosil bo‘ladi. Shu sababli u sovuq qotishning tiriklik belgisi bo‘la olmaydi.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192 bet</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27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54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Reaktordagi avariyada nurlangan ishchida dastlabki kunlarda ko‘ngil aynishi va qusish bo‘lgan. Nurlanishdan 12 kun o‘tgach u o‘zini yaxshi his qilmoqda, biroq sochlari to‘kila boshlagan va qondagi hujayralar soni kamaygan. Bu holat o‘tkir nur kasalligining qaysi davriga mos keladi?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umumiy birlamchi reaksiya davriga</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yaqqol klinik belgilar davriga</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latent (yashirin) davrga</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surunkali nur kasalligining boshlang‘ich davriga</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27: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55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latent (yashirin) davrga</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Birlamchi reaksiya 3–4 sutkagacha davom etadi, shuning uchun 12-kun unga to‘g‘ri kelmaydi. Latent davr 2–4 hafta davom etadi: ahvol yaxshilangandek bo‘ladi, ammo sochlar to‘kiladi va qondagi hujayralar kamayadi. Yaqqol klinik davrda esa ahvol keskin yomonlashadi va qon quyilishlar paydo bo‘ladi.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213 bet</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28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56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Yong‘indan topilgan murdada kuyish pufagi suyuqligini tekshirishda umumiy oqsil miqdori 4,5% chiqdi. Bu natijani pufakning hosil bo‘lish vaqti bo‘yicha qanday izohlash to‘g‘ri?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pufak o‘limdan keyin hosil bo‘lgan, chunki oqsil miqdori yuqori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pufak o‘limdan keyin hosil bo‘lgan, oqsil miqdori tiriklikdagidan ikki barobar ko‘p</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oqsil miqdori pufak tiriklikda yoki o‘limdan keyin hosil bo‘lganini farqlamaydi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1600" b="0">
                <a:solidFill>
                  <a:srgbClr val="1F2937"/>
                </a:solidFill>
                <a:latin typeface="Calibri"/>
              </a:rPr>
              <a:t>pufak tiriklik davrida hosil bo‘lgan: oqsil o‘limdan keyingisidan taxminan ikki barobar ko‘p</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28: D</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57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D. pufak tiriklik davrida hosil bo‘lgan: oqsil o‘limdan keyingisidan taxminan ikki barobar ko‘p</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Tiriklikdagi kuyish pufagida umumiy oqsil taxminan 4,2–4,9% bo‘ladi. O‘limdan keyin hosil bo‘lganida esa u taxminan ikki barobar kam bo‘ladi. 4,5% tiriklikdagi pufakka mos keladi, boshqa variantlar bu nisbatni teskari qo‘yadi yoki oqsilning diagnostik ahamiyatini inkor etadi.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243-244 bet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29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58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Elektr tokidan vafot etgan kishi murdasida elektr tamg‘a topilmadi. Ekspert kiyimni stereomikroskopda tekshirganda jun va sintetik tolalarda qaysi o‘zgarishni aniqlasa, elektr toki ta’siri tashxisini qo‘llab-quvvatlaydi?</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tolalarning to‘g‘ri chiziq bo‘ylab uzilishi va ipsimon sochilib ketishi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2000" b="0">
                <a:solidFill>
                  <a:srgbClr val="1F2937"/>
                </a:solidFill>
                <a:latin typeface="Calibri"/>
              </a:rPr>
              <a:t>tolalarning yog‘li dog‘lar bilan qoplanishi va bir-biriga yopishishi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tolalarning sharsimon va urchuqsimon yo‘g‘onlashuvi (“qahraboli tasbeh”)</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tolalarning faqat qurum zarrachalari bilan qoplanishi</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29: C</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59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C. tolalarning sharsimon va urchuqsimon yo‘g‘onlashuvi (“qahraboli tasbeh”)</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Elektr toki ta’sirida jun va sintetik tolalarda sharsimon va urchuqsimon yo‘g‘onlashuvlar hosil bo‘ladi. Bu belgi elektr tamg‘a bo‘lmaganda tashxisga yordam beradi. Boshqa variantlar elektr tokiga xos emas va mexanik uzilish, ifloslanish yoki yong‘inga to‘g‘ri keladi.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Iskandarov A.I., Qo‘ldoshev D.R., Sud tibbiyoti, 268 bet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Savol 30 / 30</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60 / 62</a:t>
            </a:r>
          </a:p>
        </p:txBody>
      </p:sp>
      <p:sp>
        <p:nvSpPr>
          <p:cNvPr id="8" name="TextBox 7"/>
          <p:cNvSpPr txBox="1"/>
          <p:nvPr/>
        </p:nvSpPr>
        <p:spPr>
          <a:xfrm>
            <a:off x="640080" y="1371600"/>
            <a:ext cx="10911535" cy="1554480"/>
          </a:xfrm>
          <a:prstGeom prst="rect">
            <a:avLst/>
          </a:prstGeom>
          <a:noFill/>
        </p:spPr>
        <p:txBody>
          <a:bodyPr wrap="square">
            <a:spAutoFit/>
          </a:bodyPr>
          <a:lstStyle/>
          <a:p>
            <a:r>
              <a:rPr sz="2000" b="1">
                <a:solidFill>
                  <a:srgbClr val="1F2937"/>
                </a:solidFill>
                <a:latin typeface="Calibri"/>
              </a:rPr>
              <a:t>Muzlagan murdani sud-tibbiy tekshiruvga tayyorlashda eritish muddatini qisqartirish uchun uni iliq havo yoki +50°S gacha issiq suv yordamida tez eritishga qaror qilindi. Bu qaysi oqibatga olib kelishi mumkin?</a:t>
            </a:r>
          </a:p>
        </p:txBody>
      </p:sp>
      <p:sp>
        <p:nvSpPr>
          <p:cNvPr id="9" name="Rounded Rectangle 8"/>
          <p:cNvSpPr/>
          <p:nvPr/>
        </p:nvSpPr>
        <p:spPr>
          <a:xfrm>
            <a:off x="640080" y="3017520"/>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017520"/>
            <a:ext cx="640080" cy="621792"/>
          </a:xfrm>
          <a:prstGeom prst="rect">
            <a:avLst/>
          </a:prstGeom>
          <a:noFill/>
        </p:spPr>
        <p:txBody>
          <a:bodyPr wrap="square" anchor="ctr">
            <a:spAutoFit/>
          </a:bodyPr>
          <a:lstStyle/>
          <a:p>
            <a:pPr algn="ctr"/>
            <a:r>
              <a:rPr sz="2400" b="1">
                <a:solidFill>
                  <a:srgbClr val="0B1F3A"/>
                </a:solidFill>
                <a:latin typeface="Calibri"/>
              </a:rPr>
              <a:t>A</a:t>
            </a:r>
          </a:p>
        </p:txBody>
      </p:sp>
      <p:sp>
        <p:nvSpPr>
          <p:cNvPr id="11" name="TextBox 10"/>
          <p:cNvSpPr txBox="1"/>
          <p:nvPr/>
        </p:nvSpPr>
        <p:spPr>
          <a:xfrm>
            <a:off x="1463040" y="3017520"/>
            <a:ext cx="10088575" cy="621792"/>
          </a:xfrm>
          <a:prstGeom prst="rect">
            <a:avLst/>
          </a:prstGeom>
          <a:noFill/>
        </p:spPr>
        <p:txBody>
          <a:bodyPr wrap="square" anchor="ctr">
            <a:spAutoFit/>
          </a:bodyPr>
          <a:lstStyle/>
          <a:p>
            <a:r>
              <a:rPr sz="2000" b="0">
                <a:solidFill>
                  <a:srgbClr val="1F2937"/>
                </a:solidFill>
                <a:latin typeface="Calibri"/>
              </a:rPr>
              <a:t>qon gemolizi sustlashadi, to‘qimalarning imbibitsiyasi kamayadi</a:t>
            </a:r>
          </a:p>
        </p:txBody>
      </p:sp>
      <p:sp>
        <p:nvSpPr>
          <p:cNvPr id="12" name="Rounded Rectangle 11"/>
          <p:cNvSpPr/>
          <p:nvPr/>
        </p:nvSpPr>
        <p:spPr>
          <a:xfrm>
            <a:off x="640080" y="3767328"/>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3767328"/>
            <a:ext cx="640080" cy="621792"/>
          </a:xfrm>
          <a:prstGeom prst="rect">
            <a:avLst/>
          </a:prstGeom>
          <a:noFill/>
        </p:spPr>
        <p:txBody>
          <a:bodyPr wrap="square" anchor="ctr">
            <a:spAutoFit/>
          </a:bodyPr>
          <a:lstStyle/>
          <a:p>
            <a:pPr algn="ctr"/>
            <a:r>
              <a:rPr sz="2400" b="1">
                <a:solidFill>
                  <a:srgbClr val="0B1F3A"/>
                </a:solidFill>
                <a:latin typeface="Calibri"/>
              </a:rPr>
              <a:t>B</a:t>
            </a:r>
          </a:p>
        </p:txBody>
      </p:sp>
      <p:sp>
        <p:nvSpPr>
          <p:cNvPr id="14" name="TextBox 13"/>
          <p:cNvSpPr txBox="1"/>
          <p:nvPr/>
        </p:nvSpPr>
        <p:spPr>
          <a:xfrm>
            <a:off x="1463040" y="3767328"/>
            <a:ext cx="10088575" cy="621792"/>
          </a:xfrm>
          <a:prstGeom prst="rect">
            <a:avLst/>
          </a:prstGeom>
          <a:noFill/>
        </p:spPr>
        <p:txBody>
          <a:bodyPr wrap="square" anchor="ctr">
            <a:spAutoFit/>
          </a:bodyPr>
          <a:lstStyle/>
          <a:p>
            <a:r>
              <a:rPr sz="1600" b="0">
                <a:solidFill>
                  <a:srgbClr val="1F2937"/>
                </a:solidFill>
                <a:latin typeface="Calibri"/>
              </a:rPr>
              <a:t>eritrotsitlar gemolizi va to‘qimalarning o‘limdan keyingi imbibitsiyasi kuchayadi</a:t>
            </a:r>
          </a:p>
        </p:txBody>
      </p:sp>
      <p:sp>
        <p:nvSpPr>
          <p:cNvPr id="15" name="Rounded Rectangle 14"/>
          <p:cNvSpPr/>
          <p:nvPr/>
        </p:nvSpPr>
        <p:spPr>
          <a:xfrm>
            <a:off x="640080" y="4517136"/>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517136"/>
            <a:ext cx="640080" cy="621792"/>
          </a:xfrm>
          <a:prstGeom prst="rect">
            <a:avLst/>
          </a:prstGeom>
          <a:noFill/>
        </p:spPr>
        <p:txBody>
          <a:bodyPr wrap="square" anchor="ctr">
            <a:spAutoFit/>
          </a:bodyPr>
          <a:lstStyle/>
          <a:p>
            <a:pPr algn="ctr"/>
            <a:r>
              <a:rPr sz="2400" b="1">
                <a:solidFill>
                  <a:srgbClr val="0B1F3A"/>
                </a:solidFill>
                <a:latin typeface="Calibri"/>
              </a:rPr>
              <a:t>C</a:t>
            </a:r>
          </a:p>
        </p:txBody>
      </p:sp>
      <p:sp>
        <p:nvSpPr>
          <p:cNvPr id="17" name="TextBox 16"/>
          <p:cNvSpPr txBox="1"/>
          <p:nvPr/>
        </p:nvSpPr>
        <p:spPr>
          <a:xfrm>
            <a:off x="1463040" y="4517136"/>
            <a:ext cx="10088575" cy="621792"/>
          </a:xfrm>
          <a:prstGeom prst="rect">
            <a:avLst/>
          </a:prstGeom>
          <a:noFill/>
        </p:spPr>
        <p:txBody>
          <a:bodyPr wrap="square" anchor="ctr">
            <a:spAutoFit/>
          </a:bodyPr>
          <a:lstStyle/>
          <a:p>
            <a:r>
              <a:rPr sz="2000" b="0">
                <a:solidFill>
                  <a:srgbClr val="1F2937"/>
                </a:solidFill>
                <a:latin typeface="Calibri"/>
              </a:rPr>
              <a:t>muzlashdan hosil bo‘lgan mayda yoriqlar butunlay yo‘qoladi</a:t>
            </a:r>
          </a:p>
        </p:txBody>
      </p:sp>
      <p:sp>
        <p:nvSpPr>
          <p:cNvPr id="18" name="Rounded Rectangle 17"/>
          <p:cNvSpPr/>
          <p:nvPr/>
        </p:nvSpPr>
        <p:spPr>
          <a:xfrm>
            <a:off x="640080" y="5266944"/>
            <a:ext cx="640080" cy="621792"/>
          </a:xfrm>
          <a:prstGeom prst="round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266944"/>
            <a:ext cx="640080" cy="621792"/>
          </a:xfrm>
          <a:prstGeom prst="rect">
            <a:avLst/>
          </a:prstGeom>
          <a:noFill/>
        </p:spPr>
        <p:txBody>
          <a:bodyPr wrap="square" anchor="ctr">
            <a:spAutoFit/>
          </a:bodyPr>
          <a:lstStyle/>
          <a:p>
            <a:pPr algn="ctr"/>
            <a:r>
              <a:rPr sz="2400" b="1">
                <a:solidFill>
                  <a:srgbClr val="0B1F3A"/>
                </a:solidFill>
                <a:latin typeface="Calibri"/>
              </a:rPr>
              <a:t>D</a:t>
            </a:r>
          </a:p>
        </p:txBody>
      </p:sp>
      <p:sp>
        <p:nvSpPr>
          <p:cNvPr id="20" name="TextBox 19"/>
          <p:cNvSpPr txBox="1"/>
          <p:nvPr/>
        </p:nvSpPr>
        <p:spPr>
          <a:xfrm>
            <a:off x="1463040" y="5266944"/>
            <a:ext cx="10088575" cy="621792"/>
          </a:xfrm>
          <a:prstGeom prst="rect">
            <a:avLst/>
          </a:prstGeom>
          <a:noFill/>
        </p:spPr>
        <p:txBody>
          <a:bodyPr wrap="square" anchor="ctr">
            <a:spAutoFit/>
          </a:bodyPr>
          <a:lstStyle/>
          <a:p>
            <a:r>
              <a:rPr sz="2000" b="0">
                <a:solidFill>
                  <a:srgbClr val="1F2937"/>
                </a:solidFill>
                <a:latin typeface="Calibri"/>
              </a:rPr>
              <a:t>murda qotishi qayta tiklanib, yanada kuchayadi</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Javob 30: B</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61 / 62</a:t>
            </a:r>
          </a:p>
        </p:txBody>
      </p:sp>
      <p:sp>
        <p:nvSpPr>
          <p:cNvPr id="8" name="TextBox 7"/>
          <p:cNvSpPr txBox="1"/>
          <p:nvPr/>
        </p:nvSpPr>
        <p:spPr>
          <a:xfrm>
            <a:off x="640080" y="1371600"/>
            <a:ext cx="10911535" cy="1005840"/>
          </a:xfrm>
          <a:prstGeom prst="rect">
            <a:avLst/>
          </a:prstGeom>
          <a:noFill/>
        </p:spPr>
        <p:txBody>
          <a:bodyPr wrap="square">
            <a:spAutoFit/>
          </a:bodyPr>
          <a:lstStyle/>
          <a:p>
            <a:r>
              <a:rPr sz="2400" b="1">
                <a:solidFill>
                  <a:srgbClr val="0B1F3A"/>
                </a:solidFill>
                <a:latin typeface="Calibri"/>
              </a:rPr>
              <a:t>B. eritrotsitlar gemolizi va to‘qimalarning o‘limdan keyingi imbibitsiyasi kuchayadi</a:t>
            </a:r>
          </a:p>
        </p:txBody>
      </p:sp>
      <p:sp>
        <p:nvSpPr>
          <p:cNvPr id="9" name="TextBox 8"/>
          <p:cNvSpPr txBox="1"/>
          <p:nvPr/>
        </p:nvSpPr>
        <p:spPr>
          <a:xfrm>
            <a:off x="640080" y="2468880"/>
            <a:ext cx="10911535" cy="3291840"/>
          </a:xfrm>
          <a:prstGeom prst="rect">
            <a:avLst/>
          </a:prstGeom>
          <a:noFill/>
        </p:spPr>
        <p:txBody>
          <a:bodyPr wrap="square">
            <a:spAutoFit/>
          </a:bodyPr>
          <a:lstStyle/>
          <a:p>
            <a:r>
              <a:rPr sz="2000" b="0">
                <a:solidFill>
                  <a:srgbClr val="1F2937"/>
                </a:solidFill>
                <a:latin typeface="Calibri"/>
              </a:rPr>
              <a:t>Murda qanchalik tez eritilsa, eritrotsitlar gemolizi va to‘qimalarning o‘limdan keyingi imbibitsiyasi shunchalik kuchli bo‘ladi. Bu hayotiy va o‘limdan keyingi o‘zgarishlarni farqlashni qiyinlashtiradi, shu sababli sekin eritish afzal. Boshqa variantlar eritishning haqiqiy oqibatiga mos kelmaydi.</a:t>
            </a:r>
          </a:p>
        </p:txBody>
      </p:sp>
      <p:sp>
        <p:nvSpPr>
          <p:cNvPr id="10" name="TextBox 9"/>
          <p:cNvSpPr txBox="1"/>
          <p:nvPr/>
        </p:nvSpPr>
        <p:spPr>
          <a:xfrm>
            <a:off x="640080" y="5852160"/>
            <a:ext cx="10911535" cy="457200"/>
          </a:xfrm>
          <a:prstGeom prst="rect">
            <a:avLst/>
          </a:prstGeom>
          <a:noFill/>
        </p:spPr>
        <p:txBody>
          <a:bodyPr wrap="square">
            <a:spAutoFit/>
          </a:bodyPr>
          <a:lstStyle/>
          <a:p>
            <a:r>
              <a:rPr sz="1100" b="0">
                <a:solidFill>
                  <a:srgbClr val="6B7280"/>
                </a:solidFill>
                <a:latin typeface="Calibri"/>
              </a:rPr>
              <a:t>Manba: G‘iyosov Z.A., Sud tibbiyoti: darslik, 194-195 bet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BF8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143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43000"/>
            <a:ext cx="12191695" cy="54864"/>
          </a:xfrm>
          <a:prstGeom prst="rect">
            <a:avLst/>
          </a:prstGeom>
          <a:solidFill>
            <a:srgbClr val="C9A2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40080" y="109728"/>
            <a:ext cx="10911535" cy="960120"/>
          </a:xfrm>
          <a:prstGeom prst="rect">
            <a:avLst/>
          </a:prstGeom>
          <a:noFill/>
        </p:spPr>
        <p:txBody>
          <a:bodyPr wrap="square" anchor="ctr">
            <a:spAutoFit/>
          </a:bodyPr>
          <a:lstStyle/>
          <a:p>
            <a:r>
              <a:rPr sz="3000" b="1">
                <a:solidFill>
                  <a:srgbClr val="FFFFFF"/>
                </a:solidFill>
                <a:latin typeface="Georgia"/>
              </a:rPr>
              <a:t>Adabiyotlar</a:t>
            </a:r>
          </a:p>
        </p:txBody>
      </p:sp>
      <p:sp>
        <p:nvSpPr>
          <p:cNvPr id="6" name="TextBox 5"/>
          <p:cNvSpPr txBox="1"/>
          <p:nvPr/>
        </p:nvSpPr>
        <p:spPr>
          <a:xfrm>
            <a:off x="640080" y="6400800"/>
            <a:ext cx="8229600" cy="320040"/>
          </a:xfrm>
          <a:prstGeom prst="rect">
            <a:avLst/>
          </a:prstGeom>
          <a:noFill/>
        </p:spPr>
        <p:txBody>
          <a:bodyPr wrap="square">
            <a:spAutoFit/>
          </a:bodyPr>
          <a:lstStyle/>
          <a:p>
            <a:r>
              <a:rPr sz="1100" b="0">
                <a:solidFill>
                  <a:srgbClr val="6B7280"/>
                </a:solidFill>
                <a:latin typeface="Calibri"/>
              </a:rPr>
              <a:t>Amaliy mashg’ulot: Fizik omillar ta’siridan o‘lim hollarida murdalar sud-tibbiy </a:t>
            </a:r>
          </a:p>
        </p:txBody>
      </p:sp>
      <p:sp>
        <p:nvSpPr>
          <p:cNvPr id="7" name="TextBox 6"/>
          <p:cNvSpPr txBox="1"/>
          <p:nvPr/>
        </p:nvSpPr>
        <p:spPr>
          <a:xfrm>
            <a:off x="10180015" y="6400800"/>
            <a:ext cx="1371600" cy="320040"/>
          </a:xfrm>
          <a:prstGeom prst="rect">
            <a:avLst/>
          </a:prstGeom>
          <a:noFill/>
        </p:spPr>
        <p:txBody>
          <a:bodyPr wrap="square">
            <a:spAutoFit/>
          </a:bodyPr>
          <a:lstStyle/>
          <a:p>
            <a:pPr algn="r"/>
            <a:r>
              <a:rPr sz="1100" b="0">
                <a:solidFill>
                  <a:srgbClr val="6B7280"/>
                </a:solidFill>
                <a:latin typeface="Calibri"/>
              </a:rPr>
              <a:t>62 / 62</a:t>
            </a:r>
          </a:p>
        </p:txBody>
      </p:sp>
      <p:sp>
        <p:nvSpPr>
          <p:cNvPr id="8" name="TextBox 7"/>
          <p:cNvSpPr txBox="1"/>
          <p:nvPr/>
        </p:nvSpPr>
        <p:spPr>
          <a:xfrm>
            <a:off x="640080" y="1463040"/>
            <a:ext cx="10911535" cy="4572000"/>
          </a:xfrm>
          <a:prstGeom prst="rect">
            <a:avLst/>
          </a:prstGeom>
          <a:noFill/>
        </p:spPr>
        <p:txBody>
          <a:bodyPr wrap="square">
            <a:spAutoFit/>
          </a:bodyPr>
          <a:lstStyle/>
          <a:p>
            <a:pPr>
              <a:spcAft>
                <a:spcPts val="1200"/>
              </a:spcAft>
            </a:pPr>
            <a:r>
              <a:rPr sz="1800">
                <a:solidFill>
                  <a:srgbClr val="1F2937"/>
                </a:solidFill>
                <a:latin typeface="Calibri"/>
              </a:rPr>
              <a:t>▸  G‘iyosov Z.A. Sud tibbiyoti: darslik, Toshkent: Global Books nashriyoti. 2018. Bob 7. Fizik omillar ta'siri</a:t>
            </a:r>
          </a:p>
          <a:p>
            <a:pPr>
              <a:spcAft>
                <a:spcPts val="1200"/>
              </a:spcAft>
            </a:pPr>
            <a:r>
              <a:rPr sz="1800">
                <a:solidFill>
                  <a:srgbClr val="1F2937"/>
                </a:solidFill>
                <a:latin typeface="Calibri"/>
              </a:rPr>
              <a:t>▸  Iskandarov A.I., Qo‘ldoshev D.R. Sud tibbiyoti (tibbiyot instituti talabalari uchun), Toshkent (egasi taqdim etgan; yopiq foydalanish). . XII-bob. Fizik omillar ta’siri; bet 235-283</a:t>
            </a:r>
          </a:p>
          <a:p>
            <a:pPr>
              <a:spcAft>
                <a:spcPts val="1200"/>
              </a:spcAft>
            </a:pPr>
            <a:r>
              <a:rPr sz="1800">
                <a:solidFill>
                  <a:srgbClr val="1F2937"/>
                </a:solidFill>
                <a:latin typeface="Calibri"/>
              </a:rPr>
              <a:t>▸  Ромодановский П.О., Баринов Е.Х. Судебная медицина в схемах и рисунках: учебное пособие, М.: Проспект (egasi taqdim etgan; yopiq foydalanish). 2017. 4-modul. Kislorod tanqisligi (asfiksiya, cho‘kish), harorat, elektr, bosim, radiatsiya; bet 315-374</a:t>
            </a:r>
          </a:p>
          <a:p>
            <a:pPr>
              <a:spcAft>
                <a:spcPts val="1200"/>
              </a:spcAft>
            </a:pPr>
            <a:r>
              <a:rPr sz="1800">
                <a:solidFill>
                  <a:srgbClr val="1F2937"/>
                </a:solidFill>
                <a:latin typeface="Calibri"/>
              </a:rPr>
              <a:t>▸  Харин Г.М. (Kharin G.M.). Краткий курс судебной медицины: учебное пособие, М.: ГЭОТАР-Медиа (egasi taqdim etgan; yopiq foydalanish). 2006. VI bo‘lim, 14-bob. Harorat, elektr, radiatsiya, bosim ta’siri; bet 118-128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