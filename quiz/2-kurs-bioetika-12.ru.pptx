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2-kurs-bioetika-12-q01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2-kurs-bioetika-12-q02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2-kurs-bioetika-12-q03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2-kurs-bioetika-12-q04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2-kurs-bioetika-12-q05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2-kurs-bioetika-12-q06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2-kurs-bioetika-12-q07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2-kurs-bioetika-12-q08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2-kurs-bioetika-12-q09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2-kurs-bioetika-12-q10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2-kurs-bioetika-12-q11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2-kurs-bioetika-12-q12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2-kurs-bioetika-12-q13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2-kurs-bioetika-12-q14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2-kurs-bioetika-12-q15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2-kurs-bioetika-12-q16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2-kurs-bioetika-12-q17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2-kurs-bioetika-12-q18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2-kurs-bioetika-12-q19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2-kurs-bioetika-12-q20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2-kurs-bioetika-12-q21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2-kurs-bioetika-12-q22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2-kurs-bioetika-12-q23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2-kurs-bioetika-12-q24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2-kurs-bioetika-12-q25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2-kurs-bioetika-12-q26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2-kurs-bioetika-12-q27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2-kurs-bioetika-12-q28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2-kurs-bioetika-12-q29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2-kurs-bioetika-12-q30 · сложный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Этические аспекты смерти и умирания: клиническая, вегетативная смерть и смерть мозга, Сиднейская декларация ВМА, постоянное вегетативное состояние (A5)</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Тест для аудитории · 30 вопросов</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Автоматический перевод — не проверен</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После смерти мозга некоторые органы и ткани в течение определённого времени сохраняют признаки жизнеспособности. Согласно источнику, какие из перечисленных структур сохраняют эти признаки дольше всего — в течение нескольких часов?</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Сердце</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Почки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Роговица глаза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Кора больших полушарий головного мозга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Роговица глаза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источнике указано, что сердце и почки сохраняют признаки жизнеспособности не более 15–20 минут, а роговица глаза — до 6–8 часов. Кора головного мозга — наиболее чувствительная структура, и необратимые изменения начинаются прежде всего в ней. Именно эта разница лежит в основе забора тканей у трупа.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107 стр.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Для описания какого состояния французские учёные первоначально применили термин «смерть мозга»?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Состояние запредельной (терминальной) комы</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Персистирующее вегетативное состояние</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Период клинической смерти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Агональное состояние</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Состояние запредельной (терминальной) комы</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Согласно источнику, сначала этот термин использовался для описания состояния запредельной комы. Позднее он превратился в понятие, в соответствии с которым необратимая утрата деятельности центральной нервной системы признаётся смертью человека. Остальные варианты относятся к другим состояниям.</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108 стр.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Согласно Сиднейской декларации Всемирной медицинской ассоциации, времени наступления какого состояния соответствует момент смерти человека?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Времени первичной остановки сердечных сокращений</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Времени окончательной гибели клеток отдельных тканей</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Времени появления первых трупных пятен на теле умершего</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Времени необратимого прекращения интегративных функций, включая функции ствола мозга</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Времени необратимого прекращения интегративных функций, включая функции ствола мозга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декларации подчёркивается, что важна целостность личности, а не гибель отдельных клеток. Поэтому момент смерти соответствует необратимому прекращению интегративных функций головного мозга, в том числе функций ствола мозга. Остановка сердца, гибель клеток и трупные пятна таким критерием не являются.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109 стр.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Одно из требований к критериям констатации момента смерти — «объективность». Что, согласно источнику, означает это требование?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Для применения критерия не требуется много специалистов и длительного времени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Любой квалифицированный специалист одинаково понимает и применяет критерий, и правильность его применения можно проверить</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Критерий соответствует культурным и духовным нормам общества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Критерий надёжно разделяет тех, кого можно спасти, и тех, кого нельзя</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Любой квалифицированный специалист одинаково понимает и применяет критерий, и правильность его применения можно проверить</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Объективность означает, что критерий трактуется и применяется одинаково, независимо от специалиста, и правильность его применения можно проверить. Остальные варианты — это другие требования: практическое удобство, культурно-духовное соответствие и научная обоснованность.</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109 стр.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Что из перечисленного относится к клиническим признакам смерти мозга?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Отсутствие реакции зрачков на свет</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Сохранение цикла сна и бодрствования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Сохранение ответных реакций на болевое воздействие</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Сохранение самостоятельного дыхания</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Отсутствие реакции зрачков на свет</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смерти мозга наблюдаются полная стойкая утрата сознания, отсутствие самостоятельного дыхания, атония мышц, отсутствие реакции на боль и отсутствие реакции зрачков на свет. Сохранение цикла сна и бодрствования характерно для персистирующего вегетативного состояния. Сохранение дыхания и реакции на боль противоречит смерти мозга.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109 стр.</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Согласно учебнику Симпсона, какие клетки при полном отсутствии кислорода погибают быстрее всего — всего за 3–7 минут?</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Клетки кожи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Клетки костной ткани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Белые клетки крови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Корковые нейроны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6: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Корковые нейроны</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Корковый нейрон наиболее чувствителен к недостатку кислорода и погибает за 3–7 минут. Клетки кожи и кости остаются метаболически активными в течение многих часов, а белые клетки крови могут сохранять подвижность до 12 часов после остановки сердца.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24 стр.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Согласно концепции Э. Кюблер-Росс, какая стадия является второй из пяти стадий, которые проходит приближающийся к смерти больной?</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Стадия отрицания («нет, только не 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Стадия торга («не сейчас»)</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Стадия депрессии («да, я умру»)</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Стадия гнева («почему именно я?»)</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Стадия гнева («почему именно 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Порядок стадий в концепции: отрицание, гнев, торг, депрессия и принятие. На втором месте стоит гнев. Остальные варианты — другие стадии этой последовательности.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Muxamedova Z.M., Bioetika, 93 стр.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Согласно руководству Королевского колледжа врачей Великобритании (2003), как долго должно длиться вегетативное состояние после черепно-мозговой травмы, чтобы оно считалось постоянным?</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3 месяца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6 месяцев</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12 месяцев</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24 месяца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12 месяцев</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Если вегетативное состояние после травматического повреждения длится 12 месяцев, оно считается постоянным. При других причинах этот срок составляет 6 месяцев. Поэтому вариант с 6 месяцами неверен для травматического состояния.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26 стр.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Согласно учебнику Симпсона, какое сочетание функций мозга наблюдается при вегетативном состоянии («бодрствование, но без осознания»)?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Функция ствола мозга сохранена, функция коры отсутствует</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Функция коры сохранена, функция ствола мозга отсутствует</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Функции и коры, и ствола мозга полностью сохранены</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Сохраняются только рефлекторные функции спинного мозга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Функция ствола мозга сохранена, функция коры отсутствует</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После реанимации ствол мозга продолжает работать, но функция коры утрачивается, поэтому больной бодрствует, но не осознаёт происходящего. При смерти мозга функция ствола тоже необратимо прекращается.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26 стр.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Согласно британскому кодексу, приведённому в учебнике Симпсона, сколько и каких врачей должны проводить тесты ствола мозга как минимум?</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Один врач-невролог со стажем более 10 лет</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Не менее двух врачей, зарегистрированных более 2 лет</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Не менее трёх врачей, среди которых обязательно один невролог</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Не менее двух врачей, зарегистрированных более 5 лет, один из них — консультант</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10: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Не менее двух врачей, зарегистрированных более 5 лет, один из них — консультант</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Кодекс требует, чтобы испытание проводили не менее двух врачей. Они должны быть зарегистрированы более 5 лет и быть компетентными в интерпретации тестов, а как минимум один из них должен быть консультантом. Условия о числе и стаже в других вариантах в источнике отсутствуют.</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25 стр.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Согласно фетве Совета мусульманского права Великобритании, в каком случае человек с точки зрения ислама считается умершим?</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Только при полной остановке сердцебиения, и ни в каких других случаях</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Когда надёжные врачи подтверждают смерть ствола мозга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Когда бессознательное состояние продолжается несколько недель</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Когда дыхание поддерживается искусственным путём</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Когда надёжные врачи подтверждают смерть ствола мозга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фетве сказано, что центральная роль сердца в жизни теперь заменена мозгом, особенно стволом мозга. Поэтому, если подтверждена смерть ствола мозга, человек считается умершим. Только сердечный критерий — традиционный подход, он не соответствует фетве.</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Muxamedova Z.M., Bioetika, 239 стр.</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Согласно учебнику Симпсона, на каком принципе основано посмертное донорство в Великобритании?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Донор при жизни должен был дать активное разрешение или не возражать, и близкие также не должны возражать</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Орган изымается по решению врача независимо от желания близких</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Если родственники не возражают, органы изымаются на основании презумпции согласия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Орган изымается только при наличии нотариально заверенного письменного завещания донора</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Донор при жизни должен был дать активное разрешение или не возражать, и близкие также не должны возражать</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Великобритании применяется система «opting in»: трансплантационная группа должна убедиться, что донор при жизни дал разрешение или, по крайней мере, не возражал, и что близкие не возражают. Презумпция согласия («opting out») — противоположная система.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27 стр.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Согласно учебнику Симпсона, какое слово является ключевым в определении соматической смерти (смерти личности как единого целого)?</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одновременность</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безболезненность</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необратимость</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внезапность</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необратимость</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соматической смерти личность никогда больше не вступает во взаимодействие с окружающей средой. При глубоком сне, наркозе или временной коме взаимодействия тоже нет, поэтому определение задаёт именно необратимость. Остальные варианты не являются критерием определения.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25 стр.</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По данным разных авторов, сколько больных персистирующим вегетативным состоянием (ПВС) приходится на каждые 100 000 населения в странах мира?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от 2 до 13</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от 20 до 30</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от 50 до 60</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от 100 до 120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от 2 до 13</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учебнике говорится, что число случаев ПВС растёт, и указано, что на каждые 100 000 населения приходится примерно 2–13 случаев. Остальные цифры значительно выше этого диапазона, поэтому неверны.</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112 стр.</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Пациент, знающий о своём терминальном заболевании, говорит врачу: «Не сейчас, дайте ещё немного времени». Какой стадии это соответствует в концепции Э. Кюблер-Росс?</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Отрицание</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Гнев</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Принятие</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Требование отсрочки</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Требование отсрочки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Фраза «Не сейчас, ещё немного» приведена в книге именно как пример стадии требования отсрочки. При отрицании пациент говорит «нет, не я», при гневе — «почему именно я», а при принятии — примиряется с ситуацией.</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93 стр.</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 больнице сердечно-лёгочная реанимация не дала результата; на электрокардиограмме видна асистолия. Согласно британскому кодексу, какое ещё условие должно быть выполнено перед фиксацией времени смерти?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Наблюдение за электрокардиограммой не менее 30 минут</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Наблюдение за отсутствием центрального пульса и сердечных тонов не менее 5 минут</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Проверка наличия самостоятельного дыхания с помощью апноэ-теста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Проведение ангиографии сосудов мозга</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Наблюдение за отсутствием центрального пульса и сердечных тонов не менее 5 минут</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остановке кровообращения и дыхания лицо, подтверждающее смерть, пальпирует центральный пульс и выслушивает сердечные тоны, наблюдая за их отсутствием не менее 5 минут. Электрокардиограмма — лишь дополнительное доказательство. Апноэ-тест и ангиография — методы, относящиеся к смерти ствола мозга.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25 стр.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 мусульманской стране планируется трансплантация роговицы от умирающего человека. Покойный при жизни не возражал. В каком варианте состав группы, подтверждающей смерть, соответствует разрешённым условиям?</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Два врача, среди которых и хирург, выполняющий операцию</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Три врача, среди которых и хирург, выполняющий операцию</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Один невролог и хирург, выполняющий трансплантацию</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Три врача, с одним нейропатологом; хирург в группу не входит</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Три врача, с одним нейропатологом; хирург в группу не входит</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По книге смерть подтверждают три врача, в том числе один нейропатолог. Хирург, выполняющий трансплантацию, не должен быть членом этой группы, так как у него есть собственный интерес. Варианты с участием хирурга противоречат этому требованию.</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Muxamedova Z.M., Bioetika, 239 стр.</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Врач заполнил часть I свидетельства о смерти следующим образом: Ia – кома; Ib – субарахноидальное кровоизлияние; Ic – разорвавшаяся врождённая аневризма. Какое состояние в этой системе считается основной причиной смерти и учитывается в статистике смертности?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Ia – кома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Ib – субарахноидальное кровоизлияние</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Ic – разорвавшаяся врождённая аневризма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Другие заболевания, указанные в части II свидетельства</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Ic – разорвавшаяся врождённая аневризма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Состояния в части I связаны друг с другом причинно-следственной цепью: каждое является следствием нижележащего. Самое нижнее состояние — исходное патологическое условие цепи, и в статистике используется именно оно. Кома — лишь форма смерти, а часть II предназначена для других заболеваний, не связанных напрямую.</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28 стр.</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Согласно инструкции Российской Федерации 1993 года, комиссия по установлению смерти мозга в отделении реанимации оформила своё заключение протоколом установленной формы. Заведующего отделением на месте нет. Кто должен утвердить протокол?</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Невропатолог, входящий в комиссию, единолично</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Хирург-трансплантолог, планирующий изъятие органа у трупа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Ответственный дежурный врач отделения реанимации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Заведующий юридическим отделом больницы</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Ответственный дежурный врач отделения реанимации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соответствии с инструкцией протокол утверждает заведующий отделением реанимации, а в его отсутствие — ответственный дежурный врач. Трансплантолог как заинтересованное лицо ни в коем случае не может вмешиваться в работу комиссии. Невропатолог — член комиссии, но не утверждает протокол. Юрист в такой инструкции не упоминается.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110 стр.</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Планируется трансплантация почки от трупа, и трансплантационная бригада определяет время изъятия органов. Какой подход даст наилучший результат?</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Изъятие при сохранённом кровообращении или сразу после его остановки и сокращение времени тепловой ишемии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Изъятие после охлаждения трупа и окоченения мышц, так как ткани тогда менее подвержены повреждению</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Ожидание нескольких часов после остановки кровообращения и затем изъятие, так как клетки стабилизируются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Начало изъятия после ожидания полного появления признаков биологической смерти</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Изъятие при сохранённом кровообращении или сразу после его остановки и сокращение времени тепловой ишемии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Наилучший результат достигается при изъятии органа во время кровообращения или сразу после его остановки, цель — сократить время тепловой ишемии. Ожидание или ожидание трупных изменений удлиняет ишемию и делает орган непригодным.</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27 стр.</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У пациента с необратимым прекращением функций ствола мозга сердце продолжает биться на фоне искусственной вентиляции лёгких. Как объясняется это явление?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На фоне вентиляции управляющая функция ствола мозга постепенно восстанавливается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Сердце работает полностью независимо от мозга, поэтому дыхательная поддержка не имеет значения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Вентиляция восстанавливает повреждённые участки коры головного мозга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Вентиляция разрывает цепь: остановка дыхания, гипоксия миокарда, остановка сердца</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Вентиляция разрывает цепь: остановка дыхания, гипоксия миокарда, остановка сердца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Раньше смерть ствола мозга приводила к остановке дыхания, затем к гипоксии миокарда и остановке сердца. Искусственная вентиляция разрывает эту цепь, обеспечивая доставку кислорода, и сердцебиение продолжается. В остальных вариантах говорится о восстановлении функций мозга, что неверно, так как изменения необратимы.</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25 стр.</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У пациента в глубокой коме с обширной челюстно-лицевой травмой проверка рефлексов ствола мозга технически невозможна. Каков следующий шаг согласно британскому кодексу?</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Проверить лишь несколько рефлексов, а остальные считать проверенными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Использовать дополнительные исследования, такие как церебральная ангиография, перфузионные и нейрофизиологические методы</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Оценить пациента как находящегося в вегетативном состоянии и не рассматривать вопрос о смерти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Констатировать смерть, опираясь только на отсутствие реакции зрачков на свет</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Использовать дополнительные исследования, такие как церебральная ангиография, перфузионные и нейрофизиологические методы</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Когда тесты ствола мозга провести невозможно, например при обширных челюстно-лицевых травмах, могут быть уместны дополнительные исследования (ангиография, перфузия, нейрофизиологические методы). Считать непроверенные рефлексы сохранными или опираться на один признак недостаточно. Вегетативное состояние же означает сохранность функций ствола мозга.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25 стр.</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Патолог обнаружил следы движения лейкоцитов вокруг раны, при этом с момента остановки сердца прошло несколько часов. Какой вывод о судебно-медицинском значении этой находки верен?</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Движение лейкоцитов может сохраняться и после остановки сердца, поэтому оно не доказывает достоверно прижизненное причинение раны</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Эта находка показывает, что соматическая смерть не наступила даже после остановки сердца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Движение лейкоцитов наблюдается только в живом организме, поэтому рана обязательно причинена при жизни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Движение лейкоцитов указывает на то, что нейроны коры головного мозга ещё живы</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Движение лейкоцитов может сохраняться и после остановки сердца, поэтому оно не доказывает достоверно прижизненное причинение раны</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Белые кровяные клетки могут оставаться подвижными до 12 часов после остановки сердца, поэтому достоверность микроскопической «жизненной реакции» сомнительна. Нейроны коры при отсутствии кислорода погибают всего за 3–7 минут, поэтому по лейкоцитам об их состоянии судить нельзя.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24 стр.</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Критерий смерти, предложенный одной группой экспертов, точно определяет, кого можно спасти, но для его применения требуется много специалистов и длительное время. Какое требование к критерию нарушено?</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Научная обоснованность</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Объективность</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Практическое удобство</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Соответствие культурным и духовным нормам общества</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Практическое удобство</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Критерий не должен требовать много специалистов и времени, то есть должен быть практически удобным. Научная обоснованность в описанной ситуации соблюдена, поскольку критерий точно определяет, кого можно спасти. Об объективности и соответствии культурным нормам в ситуации ничего не сказано.</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109 стр.</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Пациент с терминальным заболеванием последовательно говорил: «Нет, это не я», затем «Почему именно я?», потом «Не сейчас, мне нужно ещё немного времени». Сегодня он тихо сказал: «Да, я умру». Согласно концепции Э. Кюблер-Росс, на какой из пяти стадий он находится сейчас?</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На стадии отрицания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На стадии гнева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На стадии депрессии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На стадии принятия</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На стадии депрессии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Порядок стадий в концепции: отрицание, гнев, торг (просьба об отсрочке), депрессия, принятие. Фраза «Да, я умру» характерна для четвёртой стадии, депрессии. Пациент уже прошёл стадии отрицания, гнева и торга, а принятие наступает после неё.</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Muxamedova Z.M., Bioetika, 93 стр.</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 отделении реанимации 6-летний ребёнок находится в глубокой коме. Врачи хотят создать комиссию из опытных специалистов согласно инструкции Российской Федерации 1993 года по установлению смерти мозга. Какой вывод об этом плане верен согласно источнику?</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Если в составе комиссии есть анестезиолог-реаниматолог и невролог, инструкцию можно применять и к детям</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Инструкция не применяется для установления смерти мозга у детей, поэтому в этом случае не может быть основанием</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Инструкция применяется к детям только в том случае, если создана комиссия, члены которой имеют стаж работы более 5 лет</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Инструкция применяется и к детям, но протокол обязательно должен утверждаться только самим заведующим отделением</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Инструкция не применяется для установления смерти мозга у детей, поэтому в этом случае не может быть основанием</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источнике особо отмечено, что инструкция не применяется для установления смерти мозга у детей. Правила о составе комиссии, стаже её членов и лице, утверждающем протокол, существуют для взрослых, но они не позволяют применять инструкцию к детям.</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110 стр.</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Два пациента находятся в вегетативном состоянии 8 месяцев. Первый (Карим) перешёл в него после черепно-мозговой травмы в автокатастрофе, второй (Бахром) вследствие кислородной недостаточности после остановки сердца. Согласно руководству Королевского колледжа врачей Великобритании (2003), кто из них оценивается как находящийся в постоянном вегетативном состоянии?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Оба, так как срок превысил 6 месяцев</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Только Карим, так как травматическое повреждение считается более тяжёлым</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Никто, так как постоянство устанавливается только через 2 года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Только Бахром, так как при нетравматических причинах достаточно 6 месяцев</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Только Бахром, так как при нетравматических причинах достаточно 6 месяцев</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Согласно руководству, состояние считается постоянным, если после травматического повреждения оно длится 12 месяцев, а при других причинах 6 месяцев. У Карима 8 месяцев ещё меньше 12 месяцев, а у Бахрома срок превысил 6 месяцев. Поэтому только Бахром считается находящимся в постоянном вегетативном состоянии.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26 стр.</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Пациента, у которого проверяется необратимое прекращение функций ствола мозга, отключили от аппарата ИВЛ (апноэ-тест). Какой из следующих результатов, согласно британскому кодексу, подтверждает отсутствие самостоятельного дыхания?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Дыхательных движений нет, PaCO2 (парциальное давление углекислого газа) в артериальной крови выросло более чем на 0,5 кПа от исходного уровня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Дыхательных движений нет, но PaCO2 в артериальной крови практически не изменилось по сравнению с исходным уровнем</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Кашлевой и роговичный рефлексы отсутствуют, однако газы артериальной крови не исследовались вообще</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После отключения от аппарата ИВЛ появились редкие, слабые дыхательные движения, а PaCO2 выросло</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Дыхательных движений нет, PaCO2 (парциальное давление углекислого газа) в артериальной крови выросло более чем на 0,5 кПа от исходного уровня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апноэ-тесте отсутствие дыхания должно быть подтверждено газами артериальной крови, то есть PaCO2 должно вырасти более чем на 0,5 кПа от исходного. Если PaCO2 не изменилось, дыхательный центр не был достаточно простимулирован. Отсутствие рефлексов не заменяет проверку дыхания. Появление дыхательных движений противоречит смерти ствола мозга.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25 стр.</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Реаниматолог оценивает пациента по схеме В.А. Неговского: стадии преагонального состояния, терминальной паузы и агонии (мучений) пройдены. Какова следующая, ещё обратимая стадия умирания?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Преагональное состояние</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Терминальная пауза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Клиническая смерть</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Биологическая смерть</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Клиническая смерть</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Неговский выделяет пять стадий умирания: преагональное состояние, терминальная пауза, агония, клиническая и биологическая смерть. После агонии наступает клиническая смерть, и она считается обратимой стадией умирания. Преагональное состояние и терминальная пауза предшествуют ей, а биологическая смерть необратима.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Muxamedova Z.M., Bioetika, 90 стр.</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 Англии и Уэльсе (Anglika-Uelsda) регистратор (Registrar) рассматривает четыре случая, в которых оформляется свидетельство о смерти. В каком случае факт смерти обязательно направляется коронеру (должностному лицу, расследующему обстоятельства смерти)?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Пациент умер на операционном столе или не полностью оправившись от наркоза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Пациент с известной ишемической болезнью сердца умер дома; врач, пишущий свидетельство, видел его 3 дня назад</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Умер онкологический пациент в хосписе; врач, пишущий свидетельство, лечил его</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Умер пациент, лежавший в больнице с пневмонией; лечащий врач осмотрел тело</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30: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Пациент умер на операционном столе или не полностью оправившись от наркоза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Согласно правилам регистрации, смерть, наступившая во время операции или до полного выхода из наркоза, должна быть направлена коронеру. В остальных вариантах смерть естественная, наступившая на фоне известного заболевания. Кроме того, врач, пишущий свидетельство, лечил пациента и видел его в последние 14 дней или после смерти, поэтому направление не требуется.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31 стр.</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Литература</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Этические аспекты смерти и умирания: клиническая, вегетативная смерть и смерть м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Indiaminov S.I. Bioetika (o‘quv qo‘llanma), Samarqand. 2022. XI bob (o‘lim, transplantatsiya), kitob betlari 105-113</a:t>
            </a:r>
          </a:p>
          <a:p>
            <a:pPr>
              <a:spcAft>
                <a:spcPts val="1200"/>
              </a:spcAft>
            </a:pPr>
            <a:r>
              <a:rPr sz="1800">
                <a:solidFill>
                  <a:srgbClr val="1F2937"/>
                </a:solidFill>
                <a:latin typeface="Calibri"/>
              </a:rPr>
              <a:t>▸  Muxamedova Z.M. Bioetika (darslik), Toshkent. 2021. V bob (88-100); X bob (188-189); XII bob (238-240)</a:t>
            </a:r>
          </a:p>
          <a:p>
            <a:pPr>
              <a:spcAft>
                <a:spcPts val="1200"/>
              </a:spcAft>
            </a:pPr>
            <a:r>
              <a:rPr sz="1800">
                <a:solidFill>
                  <a:srgbClr val="1F2937"/>
                </a:solidFill>
                <a:latin typeface="Calibri"/>
              </a:rPr>
              <a:t>▸  Payne-James J., Jones R., Karch S.B., Manlove J. Simpson's Forensic Medicine, 13th ed.. 2011. Chapter 3. The medical aspects of death, pp. 24–34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