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4-kurs-davolash-07-q01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4-kurs-davolash-07-q02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4-kurs-davolash-07-q03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4-kurs-davolash-07-q04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4-kurs-davolash-07-q05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4-kurs-davolash-07-q06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4-kurs-davolash-07-q07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4-kurs-davolash-07-q08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4-kurs-davolash-07-q09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4-kurs-davolash-07-q10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4-kurs-davolash-07-q11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4-kurs-davolash-07-q12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4-kurs-davolash-07-q13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4-kurs-davolash-07-q14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4-kurs-davolash-07-q15 · лёгкий-средний</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4-kurs-davolash-07-q16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4-kurs-davolash-07-q17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4-kurs-davolash-07-q18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4-kurs-davolash-07-q19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4-kurs-davolash-07-q20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4-kurs-davolash-07-q21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4-kurs-davolash-07-q22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4-kurs-davolash-07-q23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4-kurs-davolash-07-q24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4-kurs-davolash-07-q25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4-kurs-davolash-07-q26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4-kurs-davolash-07-q27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4-kurs-davolash-07-q28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4-kurs-davolash-07-q29 · сложный</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4-kurs-davolash-07-q30 · сложный</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Практическое занятие: Новорожденный</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Тест для аудитории · 30 вопросов</a:t>
            </a:r>
          </a:p>
        </p:txBody>
      </p:sp>
      <p:sp>
        <p:nvSpPr>
          <p:cNvPr id="6" name="TextBox 5"/>
          <p:cNvSpPr txBox="1"/>
          <p:nvPr/>
        </p:nvSpPr>
        <p:spPr>
          <a:xfrm>
            <a:off x="640080" y="5029200"/>
            <a:ext cx="10911535" cy="457200"/>
          </a:xfrm>
          <a:prstGeom prst="rect">
            <a:avLst/>
          </a:prstGeom>
          <a:noFill/>
        </p:spPr>
        <p:txBody>
          <a:bodyPr wrap="square">
            <a:spAutoFit/>
          </a:bodyPr>
          <a:lstStyle/>
          <a:p>
            <a:r>
              <a:rPr sz="1600" b="0">
                <a:solidFill>
                  <a:srgbClr val="C9A227"/>
                </a:solidFill>
                <a:latin typeface="Calibri"/>
              </a:rPr>
              <a:t>Автоматический перевод — не проверен</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На каком уровне ребер располагается купол диафрагмы при макроскопическом исследовании трупа live-born (живорожденного) новорожденного?</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На уровне IV–V ребер</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На уровне VIII–IX ребер</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На уровне VI–VII ребер</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На уровне II–III ребер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На уровне VI–VII ребер</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Легкие, в которых было дыхание, почти полностью заполняют грудную клетку и смещают диафрагму вниз, поэтому купол стоит на уровне VI–VII ребер. Уровень IV–V ребер характерен для мертворожденного. Остальные варианты в источнике не встречаются.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260 стр.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Когда новорожденный начинает дышать, в легких начинается кровообращение. Какой массы примерно достигают легкие за счет этого?</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До 85–90 г</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До 55–60 г</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До 120–130 г</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До 70–75 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До 85–90 г</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Масса легких, не вдохнувших воздух, составляет 55–60 г; после начала дыхания из-за появления кровообращения она достигает 85–90 г. 55–60 г — показатель легких, в которых дыхания не было. Остальные цифры в источнике не приводятся.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260 стр.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Какое описание верно для легких новорожденного, не дышавшего (мертворожденного), при микроскопическом исследовании?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Альвеолы расправлены, эпителий плоский, капилляры полнокровны</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Альвеолы расправлены, перегородки тонкие, эластические волокна расположены равномерно</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Альвеолы не расправлены, эпителий плоский, перегородки толстые</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Альвеолы не расправлены, эпителий кубический, перегородки толстые, в капиллярах крови нет</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Альвеолы не расправлены, эпителий кубический, перегородки толстые, в капиллярах крови нет</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легких, в которых дыхания не было, альвеолы не расправлены, эпителий кубический, перегородки толстые, эластические волокна пучковидные, а в капиллярах крови нет. Первый и второй варианты характерны для легких, в которых было дыхание. В третьем варианте форма эпителия указана неверно.</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261 стр.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Длина пуповины, присланной вместе с трупом, — 42 см, масса плаценты — 340 г. Какому месяцу внутриутробного развития это соответствует согласно таблице?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VI месяц внутриутробного развития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VII месяц внутриутробного развития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VIII месяц внутриутробного развития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IX месяц внутриутробного развития</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VII месяц внутриутробного развития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таблице для VII месяца внутриутробного развития указаны длина пуповины 42 см и масса плаценты 340 г. В VI месяце эти показатели составляют 38 см и 250 г, в VIII месяце — 46 см и 410 г, в IX месяце — 47 см и 470 г.</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262 стр.</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При переломе костей свода черепа в результате родовой травмы какой признак помогает отличить это повреждение от повреждений другого рода?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Перелом бывает только в лобной кости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Внутричерепные кровоизлияния никогда не наблюдаются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Наружные повреждения, в том числе раны, не образуются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Перелом всегда многооскольчатый и с глубоким вдавлением</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Наружные повреждения, в том числе раны, не образуются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родовой травме кости могут ломаться, но в мягких тканях не появляется ни ран, ни других наружных повреждений. Переломы чаще бывают в теменных костях и могут сопровождаться внутричерепным кровоизлиянием. Поэтому остальные варианты неверны.</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265 стр.</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Согласно Simpson’s Forensic Medicine, какой вывод можно сделать, если при плавательной (гидростатической) пробе легкие или их долька тонут в воде?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Новорожденный не дышал в такой степени, чтобы расправить легкие, и мог быть мертворожденным</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Новорожденный непременно мертворожденный и никогда не дышал</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Новорожденный родился живым, и у него всегда развился вторичный ателектаз</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Проба в этом случае непригодна, так как погружение происходит под действием гнилостных газов</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Новорожденный не дышал в такой степени, чтобы расправить легкие, и мог быть мертворожденным</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Согласно источнику, погружение указывает лишь на то, что новорожденный не дышал в такой степени, чтобы расправить легкие, и соответствует вероятности мертворождения. Обратное не доказано, так как легкие мертворожденных иногда плавают. Поэтому проба считается ненадежной для различения живорожденного и мертворожденного, однако погружение не дает категорического вывода «непременно мертворожденный».</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67 стр.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В каком месяце внутриутробного развития при исследовании трупа плода обычно появляется ядро окостенения (ядро Бекляра) в нижнем эпифизе бедренной кости?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В VII месяце внутриутробного развития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В VIII месяце внутриутробного развития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В IX месяце внутриутробного развития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В X месяце внутриутробного развития</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В IX месяце внутриутробного развития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Ядро окостенения в нижнем эпифизе бедренной кости появляется в IX месяце внутриутробного развития. Ядро в пяточной кости формируется намного раньше (в V месяце), а ядро в таранной кости — в VII месяце, поэтому варианты VII и VIII неверны.</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263 стр.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Что из перечисленного, согласно рекомендациям Всемирной организации здравоохранения (ВОЗ), является критерием живорождения?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Наличие пульсации пуповины</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Наличие сыровидной смазки на поверхности кожи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Сохранение мекония в толстой кишке</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Наличие на теле следов материнской крови</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Наличие пульсации пуповины</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ВОЗ принимает за критерий живорождения дыхание вне организма матери, сердцебиение, пульсацию пуповины или произвольные движения. Сыровидная смазка, меконий и следы крови — это признаки новорожденности, а не живорождения.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259 стр.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В каком из следующих случаев не рекомендуется использовать желудочно-кишечную пробу (пробу Бреслау) для установления живорождения?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Труп хранился на холоде и полностью оттаял</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В желудке обнаружено молоко</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В пупочной области сформировано демаркационное кольцо</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Труп гнилостно изменен, в кишечнике образовались гнилостные газы</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Труп гнилостно изменен, в кишечнике образовались гнилостные газы</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Гнилостные газы заполняют также желудок и кишечник и дают при пробе ложноположительный результат. Поэтому на гнилостно измененном трупе (как и в случае искусственного дыхания) эту пробу не применяют. Остальные варианты проведение пробы не ограничивают.</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260 стр.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Сколько времени минимум должен прожить младенец вне организма матери, чтобы в альвеолах образовались гиалиновые мембраны?</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Не менее 1–2 часов</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Примерно 10–15 минут</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Не менее 5–6 часов</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Не менее одних суток</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Не менее 1–2 часов</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Гиалиновые мембраны обычно обнаруживаются у младенцев, прожививших несколько часов, а для их формирования необходимо не менее 1–2 часов. 5–6 часов — срок, необходимый для развития вторичного ателектаза легких, а одни сутки — период формирования демаркационного кольца.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264 стр.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Почему рентгенологическая проба, предложенная Dillon (1939), не применяется в современной судебно-медицинской экспертной практике?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Проба информативна только для лёгких мертворождённых новорождённых</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Проба не позволяет определить массу лёгких, так как рентгеновские лучи для этого непригодны</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Дышавшее лёгкое невозможно отличить от случаев искусственной вентиляции и от гнилостных газов</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Проба предназначена только для определения гестационного возраста плода</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Дышавшее лёгкое невозможно отличить от случаев искусственной вентиляции и от гнилостных газов</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На рентгенограмме видны воздух в лёгких, желудке и кишечнике, но его нельзя отличить от воздуха при настоящем дыхании, от искусственной вентиляции или от гнилостных газов. К этому добавляются необходимость специального оборудования и ограниченные возможности, поэтому метод перестали использовать.</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260 стр.</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Какая презумпция первоначально применяется по законодательству Англии и Уэльса в отношении найденного мёртвого новорождённого?</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Все умершие новорождённые считаются родившимися живыми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Все умершие новорождённые презюмируются мертворождёнными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Мертворождёнными считаются только умершие после 24 недель</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Факт рождения автоматически определяется показаниями матери</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Все умершие новорождённые презюмируются мертворождёнными</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По законной презумпции умерший новорождённый считается мертворождённым, поэтому бремя доказывания того, что он родился живым и существовал отдельно, ложится на сторону обвинения и патологоанатома. Остальные варианты противоречат этому правилу.</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66 стр.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Согласно Infanticide Act 1938 года (закону об убийстве новорождённого) в законодательстве Англии и Уэльса, каким должен быть возраст ребёнка, чтобы преступление матери квалифицировалось как «infanticide»?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В течение первых 24 часов после рождения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В течение первых 28 дней после рождения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Младше 12 месяцев</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Гестационный возраст более 24 недель</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Младше 12 месяцев</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Закон предусматривает убийство матерью своего ребёнка в возрасте до 12 месяцев. При этом обязательно, чтобы психическое состояние матери было нарушено вследствие родов или под влиянием лактации. 24 недели — граница в определении мертворождения, поэтому её не следует путать с возрастом при infanticide.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66 стр.</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О чём свидетельствует то, что при ушной пробе Vent-Vreden при вскрытии барабанной полости под водой в ней нет воздуха, а обнаружена только слизь?</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О том, что ребёнок родился мёртвым</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О том, что ребёнок прожил несколько часов</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О том, что в трупе образовались гнилостные газы</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О том, что ребёнку проводилось искусственное дыхание</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О том, что ребёнок родился мёртвым</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первых дыхательных движениях воздух через слуховую трубу проходит в барабанную полость. Наличие только слизи без воздуха указывает на то, что дыхания не было, и считается признаком мертворождения. В остальных вариантах предполагалось бы наличие воздуха или газа.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Пиголкин Ю.И., Баринов Е.Х., Богомолов Д.В., Богомолова И.Н., Судебная медицина: учебник для вузов, 33 стр.</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По какой области начинается гниение в трупе новорождённого, родившегося живым и мёртвым, чем они различаются?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В обоих случаях начинается с передней брюшной стенки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При рождении живым — с естественных отверстий, при мертворождении — с органов дыхания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При рождении живым — с остатка пуповины, при мертворождении — с кожи головы</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При рождении живым — с органов дыхания, при мертворождении — с естественных отверстий</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При рождении живым — с органов дыхания, при мертворождении — с естественных отверстий</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У дышавшего новорождённого гниение обычно начинается с органов дыхания. При мертворождении оно начинается с области естественных отверстий. Второй вариант представляет этот порядок в обратном виде, остальных в источнике нет.</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260-261 стр.</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 трупе плода обнаружены ядра окостенения в пяточной и таранной костях, а в нижней эпифизе бедренной кости (ядро Бекляра) ядра нет. Если предположить, что патологических факторов в период беременности не было, какому промежутку соответствует гестационный возраст?</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До V месяца внутриутробного развития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С VII месяца, но до IX месяца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После IX месяца внутриутробного развития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Только X месяц</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С VII месяца, но до IX месяца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Ядро в пяточной кости появляется в V месяце, в таранной кости — в VII месяце, в нижнем эпифизе бедренной кости — в IX месяце. Ядро в таранной кости указывает на возраст не менее VII месяца, а отсутствие ядра в эпифизе бедра — на возраст менее IX месяца. Следует также помнить, что патология может задерживать появление ядер.</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263 стр.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Длина тела плода 35 см. Сколько дней составляет гестационный возраст по индексу Baltazar-Derve (5,6)?</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196 дней</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175 дней</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210 дней</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224 дня</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196 дней</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Индекс равен 5,6 и умножается на длину тела: 35 × 5,6 = 196 дней, то есть 7 месяцев внутриутробного развития. 175 дней получается при умножении на 5, 210 дней — на 6, а 224 дня соответствуют длине 40 см.</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262 стр.</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У трупа новорождённого, найденного при головном предлежании, лёгкие полностью расправлены и заполнены воздухом. Может ли патологоанатом на этом основании категорически заключить, что ребёнок достиг «самостоятельного существования» (то есть отдельной жизни после окончания родов)?</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Да, дыхание считается абсолютным доказательством самостоятельного существования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Нет, самостоятельное существование определяется только по сердцебиению</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Нет, новорождённый может дышать после рождения головы и грудной клетки ещё до рождения нижней части тела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Да, если гестационный возраст превышает 24 недели</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Нет, новорождённый может дышать после рождения головы и грудной клетки ещё до рождения нижней части тела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головном предлежании новорождённый может дышать после выхода головы и грудной клетки, когда нижняя часть тела ещё находится в теле матери. Поэтому факт дыхания не доказывает самостоятельного существования полностью. Гестационный возраст этот вопрос не решает, а сердцебиение не является единственным критерием.</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66-67 стр.</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 Англии и Уэльсе новорождённый, рождённый при сроке беременности 26 недель, не дышал после полного выхода из тела матери, но наблюдалась пульсация пуповины. Оценивается ли этот случай как мертворождение (мортинатальный)?</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Нет, так как пульсация пуповины тоже признак живорождения, поэтому этот случай не входит в определение мертворождения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Да, так как не дышавший ребёнок всегда считается мертворождённым, даже если срок превышает 24 недели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Да, так как живорождение доказывают только дыхание и сердцебиение, пульсация пуповины не учитывается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Нет, так как такой случай не мертворождение, а явление, определяемое только по показаниям родителей</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19: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Нет, так как пульсация пуповины тоже признак живорождения, поэтому этот случай не входит в определение мертворождения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Англии и Уэльсе мертворождённым считается ребёнок старше 24 недель, который после полного выхода не дышал и не проявлял никаких признаков жизни. К признакам жизни, помимо дыхания и сердцебиения, относятся также движения, крик и пульсация пуповины, поэтому этот ребёнок считается родившимся живым.</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65 стр.</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Окружность головы плода 30,6 см. Сколько месяцев внутриутробного развития составляет гестационный возраст по методу И. Якупова (окружность делится на 3,4)?</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8 месяцев внутриутробного развития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9 месяцев внутриутробного развития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10 месяцев внутриутробного развития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7 месяцев внутриутробного развития</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9 месяцев внутриутробного развития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По методу Якупова окружность головы делится на 3,4: 30,6 : 3,4 = 9, то есть 9 месяцев внутриутробного развития. Остальные варианты не соответствуют результату этого деления.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262 стр.</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У трупа новорождённого без признаков гниения и искусственного дыхания желудок и вся тонкая кишка заполнены воздухом, в толстой кишке воздух не обнаружен. Сколько приблизительно прожил ребёнок после рождения?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Менее 3 часов, так как воздух пока находится только в желудке</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Несколько минут, так как лёгкие расправлены лишь частично</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Около 5–6 часов, так как воздух заполнил тонкую кишку, но в толстую ещё не перешёл</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Более суток, так как воздух переходит в кишечник только в конце суток</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Около 5–6 часов, так как воздух заполнил тонкую кишку, но в толстую ещё не перешёл</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Если воздух находится в желудке, ребёнок прожил менее 3 часов; к 5–6 часам воздух заполняет тонкую кишку, а спустя 6 часов переходит в толстую кишку. Поэтому состояние, при котором тонкая кишка заполнена, а толстая пуста, соответствует примерно 5–6 часам.</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264 стр.</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У неподвижного четырёхмесячного младенца обнаружен перелом черепа. Опекуны объясняют, что ребёнок упал со стандартной кровати (высота матраса около 60 см) на пол, покрытый ковром. Как следует оценить это объяснение согласно имеющимся данным исследований?</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Объяснение соответствует: падение с высоты 60 см обычно достаточно для перелома черепа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Объяснение соответствует: ковёр усиливает поверхностный удар и часто вызывает перелом</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Объяснение сомнительно, только если перелом затрагивает много костей; перелом одной кости ему соответствует</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Объяснение, вероятнее всего, не соответствует травме, так как при пассивном падении на ковёр переломы у погибших детей начинаются примерно с 80 см; следует исключить насилие</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Объяснение, вероятнее всего, не соответствует травме, так как при пассивном падении на ковёр переломы у погибших детей начинаются примерно с 80 см; следует исключить насилие</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В эксперименте на трупах младенцев перелом черепа при пассивном падении на пол, покрытый ковром, наблюдался с высоты не менее 80 см, а матрас кровати находится примерно на 60 см. Поэтому такое объяснение маловероятно, и необходимо всесторонне проверить, не является ли ребёнок жертвой насилия.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71 стр.</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Трёхмесячный младенец был уложен вечером здоровым, утром найден мёртвым. При полном вскрытии другой причины не выявлено, только точечные кровоизлияния на поверхности плевры, эпикарда и тимуса. Как трактуется эта находка?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Эти кровоизлияния являются агональным явлением и не доказывают механическую асфиксию; случай с неустановленной причиной рассматривается как синдром внезапной детской смерти (СВДС, SIDS)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Эти кровоизлияния — патогномоничный признак механической асфиксии, поэтому причиной смерти указывается удушение</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Эти кровоизлияния встречаются только у мертворождённых, а если обнаружены у живорождённого ребёнка, указывают на родовую травму</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Эти кровоизлияния при внезапной смерти не наблюдаются, поэтому диагноз СВДС сразу исключается</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Эти кровоизлияния являются агональным явлением и не доказывают механическую асфиксию; случай с неустановленной причиной рассматривается как синдром внезапной детской смерти (СВДС, SIDS)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Примерно в 70 процентах случаев СВДС (SIDS) обнаруживаются точечные внутригрудные кровоизлияния; ранее они ошибочно трактовались как признак удушения, а теперь считаются агональным явлением. Диагноз СВДС (SIDS) ставится, когда причина не установлена даже после полного исследования.</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69 стр.</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Во время экспертизы трупа новорождённого следователь задал эксперту вопрос: «Мать умышленно убила младенца или это несчастный случай?» Как правильно поступить эксперту?</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Категорично подтвердить наличие умысла у матери, исходя из повреждений на трупе</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В письменной форме указать, что этот вопрос выходит за пределы его компетенции, и дать заключение о причине смерти и механизме повреждений</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Ответить на вопрос в вероятностной форме, ориентировочно указав на наличие умысла</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Прекратить экспертизу и потребовать от следователя переформулировать вопрос на медицинском языке</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В письменной форме указать, что этот вопрос выходит за пределы его компетенции, и дать заключение о причине смерти и механизме повреждений</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Род смерти (убийство, самоубийство, несчастный случай) и вопрос об умысле — не медицинские, а юридические вопросы, находящиеся за пределами специальных знаний эксперта. Эксперт письменно сообщает, что не может ответить на такой вопрос, и даёт своё заключение о причине смерти и повреждениях.</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Пиголкин Ю.И., Баринов Е.Х., Богомолов Д.В., Богомолова И.Н., Судебная медицина: учебник для вузов, 10 стр.</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 отдалённой местности найден труп плода. В области лица и шеи имеются ссадины и кровоподтёки, разрывы в углах рта; переломов костей свода черепа и наружных ран не выявлено. Какому механизму наиболее соответствуют эти повреждения?</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Родовая травма в результате длительного сдавления головы в узком тазу</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Внутриутробная асфиксия из-за обвития пуповины вокруг шеи</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Самопомощь рожающей женщины руками для ускорения родов</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Кровопотеря в результате преждевременной отслойки плаценты</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Самопомощь рожающей женщины руками для ускорения родов</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Ссадины и кровоподтёки на лице и шее и разрывы углов рта — типичная картина повреждений, причиняемых плоду при оказании роженицей самопомощи. При родовой травме же бывают переломы костей черепа и внутричерепные кровоизлияния. Внутриутробная асфиксия и отслойка плаценты не оставляют наружных повреждений.</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265 стр.</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В меконии трупа плода обнаружены пушковые волосы (признак Шибкова–Марковина). Какого как минимум месяца внутриутробного развития достиг плод согласно этому признаку?</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VIII месяца внутриутробного развития</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 месяца внутриутробного развития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VII месяца внутриутробного развития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IX месяца внутриутробного развития</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VIII месяца внутриутробного развития</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Наличие пушковых волос в меконии указывает на то, что плод проглотил околоплодные воды с пушковыми волосами. Глотательный рефлекс появляется на VIII месяце внутриутробного развития, следовательно, плод был не моложе этого возраста. V месяц связан с сальными железами кожи, VII месяц — с таранной костью, IX месяц — с ядром окостенения нижнего эпифиза бедра; этот признак их не показывает.</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G‘iyosov Z.A., Sud tibbiyoti: darslik, 263 стр.</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На рентгенограмме трупа пятимесячного младенца в задних отделах рёбер, вдоль линии, прилежащей к позвонкам, обнаружена костная мозоль (след сращения кости) в виде «чёток». Родители говорят, что ребёнка один раз реанимировали. Как оценивается эта находка?</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Результат сдавления грудной клетки в переднебоковых отделах при реанимации</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Признак, соответствующий многократному сильному сдавлению грудной клетки руками взрослого</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Типичное следствие падения ребёнка с кровати на пол, покрытый ковром</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Заживление старой травмы, оставшейся после родовой травмы</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Признак, соответствующий многократному сильному сдавлению грудной клетки руками взрослого</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Картина «чёток» из костной мозоли в задних отделах рёбер указывает на многократное сильное сдавление грудной клетки руками взрослого в переднезаднем направлении. При реанимации такие задние переломы биомеханически маловероятны, а переднебоковые переломы встречаются редко. Падение и родовая травма этой картине не соответствуют.</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71 стр.</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На трупе родившегося плода кожа отслоена на обширной площади, приобрела розово-коричневый цвет, ткани мягкие и скользкие, кости черепа заходят друг на друга. На какое время наступления смерти указывают эти признаки мацерации?</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За несколько часов до начала родов</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В ходе самих родов, при рождении ребёнка</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В первые минуты после рождения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Более чем за два дня до родов, внутриутробно</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Более чем за два дня до родов, внутриутробно</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Мацерация развивается при сочетании раннего гниения и воздействия жидкости, когда плод погибает более чем за два дня до рождения. При смерти во время родов или за несколько часов до них такого признака не бывает. У ребёнка, родившегося живым и умершего позже, гниение выглядит иначе.</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65 стр.</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В судебном случае у младенца выявлены энцефалопатия, субдуральное кровоизлияние и кровоизлияние в сетчатку, следов прямого удара по голове нет. Какой вывод по этой «триаде синдрома встряхнутого ребёнка» правильный?</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Триада сама по себе доказывает травму, причинённую умышленным встряхиванием</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Наличие триады само по себе не даёт вывода; все обстоятельства оцениваются междисциплинарной командой</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Кровоизлияния в сетчатку несущественны, их оценивать не обязательно</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Если следов удара нет, черепная травма считается естественным заболеванием</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29: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Наличие триады само по себе не даёт вывода; все обстоятельства оцениваются междисциплинарной командой</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Триада была признана Апелляционным судом, однако сама по себе она не приводит к выводу о насильственной травме головы. Прежде чем исключать иные объяснения, кроме насилия, все аспекты случая и офтальмологические находки должны быть оценены междисциплинарной командой. Остальные варианты этому противоречат.</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72 стр.</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Вопрос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При исследовании трупа ребёнка в возрасте до двух лет единственной находкой выявлен разрыв уздечки губы (френулюма). Других признаков травмы нет. Как правильно подходить к этой находке?</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Диагноз насилия только на основании разорванной уздечки не ставится; осматриваются ткани полости рта, при аномалиях запрашивается мнение стоматолога</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Этот признак является специфическим признаком насилия, другого исследования не требуется</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Разрыв уздечки бывает только при падении, поэтому насилие исключается</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Эта травма образуется только от введения соски или бутылочки, следовательно, виновен опекун</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Ответ 30: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Диагноз насилия только на основании разорванной уздечки не ставится; осматриваются ткани полости рта, при аномалиях запрашивается мнение стоматолога</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При насилии тангенциальный удар или предмет, засунутый в рот, может порвать уздечку. Однако имеющиеся данные не поддерживают диагноз, основанный на изолированном разрыве уздечки губы. Поэтому исследуются ткани полости рта и при необходимости получается заключение стоматолога.</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Источник: Payne-James J., Jones R., Karch S.B., Manlove J., Simpson's Forensic Medicine, 72 стр.</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Литература</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Практическое занятие: Новорожденный · Автоматический перевод — не проверен</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10. Homila va yangi tug'ilgan go'daklar murdasi</a:t>
            </a:r>
          </a:p>
          <a:p>
            <a:pPr>
              <a:spcAft>
                <a:spcPts val="1200"/>
              </a:spcAft>
            </a:pPr>
            <a:r>
              <a:rPr sz="1800">
                <a:solidFill>
                  <a:srgbClr val="1F2937"/>
                </a:solidFill>
                <a:latin typeface="Calibri"/>
              </a:rPr>
              <a:t>▸  Payne-James J., Jones R., Karch S.B., Manlove J. Simpson's Forensic Medicine, 13th ed.. 2011. Chapter 7. Deaths and injury in infancy, pp. 65–75</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2-modul. Tanatologiya, hodisa joyi, murda ekspertizasi, yangi tug‘ilgan chaqaloq; bet 41-100</a:t>
            </a:r>
          </a:p>
          <a:p>
            <a:pPr>
              <a:spcAft>
                <a:spcPts val="1200"/>
              </a:spcAft>
            </a:pPr>
            <a:r>
              <a:rPr sz="1800">
                <a:solidFill>
                  <a:srgbClr val="1F2937"/>
                </a:solidFill>
                <a:latin typeface="Calibri"/>
              </a:rPr>
              <a:t>▸  Пиголкин Ю.И., Баринов Е.Х., Богомолов Д.В., Богомолова И.Н. Судебная медицина: учебник для вузов, М.: ГЭОТАР-МЕД (egasi taqdim etgan; yopiq foydalanish). 2002. Kirish, 1-5-boblar: fan, protsessual asos, usullar, tarix, ekspertiza ob’ektlari (kitob beti 5-66) (1/2); bet 5-55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